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569" r:id="rId3"/>
    <p:sldId id="565" r:id="rId4"/>
    <p:sldId id="392" r:id="rId5"/>
    <p:sldId id="538" r:id="rId6"/>
    <p:sldId id="539" r:id="rId7"/>
    <p:sldId id="566" r:id="rId8"/>
    <p:sldId id="540" r:id="rId9"/>
    <p:sldId id="541" r:id="rId10"/>
    <p:sldId id="542" r:id="rId11"/>
    <p:sldId id="543" r:id="rId12"/>
    <p:sldId id="544" r:id="rId13"/>
    <p:sldId id="545" r:id="rId14"/>
    <p:sldId id="567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3" r:id="rId30"/>
    <p:sldId id="564" r:id="rId31"/>
    <p:sldId id="560" r:id="rId32"/>
    <p:sldId id="576" r:id="rId33"/>
    <p:sldId id="577" r:id="rId34"/>
    <p:sldId id="578" r:id="rId35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37"/>
      <p:bold r:id="rId38"/>
    </p:embeddedFont>
    <p:embeddedFont>
      <p:font typeface="微软雅黑 Light" panose="020B0502040204020203" pitchFamily="34" charset="-122"/>
      <p:regular r:id="rId39"/>
    </p:embeddedFont>
    <p:embeddedFont>
      <p:font typeface="Arial Black" panose="020B0604020202020204" pitchFamily="34" charset="0"/>
      <p:bold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1768"/>
  </p:normalViewPr>
  <p:slideViewPr>
    <p:cSldViewPr snapToGrid="0">
      <p:cViewPr varScale="1">
        <p:scale>
          <a:sx n="155" d="100"/>
          <a:sy n="155" d="100"/>
        </p:scale>
        <p:origin x="200" y="10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2F2E914E-02E7-27CF-DD2A-26B6F421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04CCDC2-8D03-167D-086F-F3490BCDD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575AA54F-8EB7-A2A0-3AB4-672986F61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16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65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ED1B-418C-AAFF-97CD-CC70390A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AF60E5-B98B-88E3-6200-E738B33B1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45B0E9-0412-419A-B167-52A7DC5CA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039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45C0-1BA9-09B5-1942-421CBEEE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8B67C0-C5C5-CB6B-03E8-096D6081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EA6F2C-F886-73FD-1CAE-607ADE71A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689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A288-7412-F8E7-9B67-E1CCCDA1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E9D4A8-9BB4-67C3-7114-5F982B847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1312CE-99E2-874C-C43C-B9B01D0B1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5586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429DD-8191-0406-9BE6-B7B255BB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872AC-D4DA-8BA9-D7F5-420C55EED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D18CD3-A49C-3513-777D-4D5A2AE8D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8312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95A6-EF9E-2424-D0EA-C18BB671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DBE239-5522-9971-E63A-2BF66DCAE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DC0F5E-1FAA-AF10-C158-C5A6847E1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870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0894-B9B2-C797-E357-558FDB45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727DE-60B7-991E-50B7-A5D2893D3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D084B2-9A0F-BBC8-35FB-1AF08A402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946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A00A-F128-7FB9-B72A-B10C7147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F28577-D85A-6429-A735-FB6041345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0CE5BC-18E5-455D-C4D5-D2235D8D4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452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1C52-2D44-AEF2-2362-85C11C22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4BE1C9-129F-DDB8-094A-30A32AA6C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EA6BE5-4DA2-FF19-0CD7-8E854F9CD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549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958E8-F3E3-B199-A89A-A43E5F73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37D10A-FF2F-2812-0021-40EFA0CCB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95D8E1-2909-695B-E0B1-2DDCF6FCD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0429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BF69-E457-2BF4-8A53-FF135C32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EE5E02-55D3-F0F2-B083-1481B4816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4F9185-129E-593F-B73A-C025B3C79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149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C6EB-3BD4-5952-3B41-6886DEA8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2A3591-6CAC-65C9-9F87-9EE2193A6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B5D9B4-9DA0-275C-1A83-6E6AF0DD1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4941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E948-CB07-9AF9-CB4D-B2D451F9F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91A78A-0B4A-27F4-25B3-6592D0B8D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F523E0-5987-1234-7A77-F1B48EED1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490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C14A-D6FC-EE18-0BB6-E18EE095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3BCA9A-52C5-2290-4070-326AD22C7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4AE7F5-42ED-EF29-0E58-476FE9665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2707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0618-418F-8483-72AF-46AB3BA0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7A8EDB-C9CE-4F76-55A0-8BCCBE637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4E2410-F6CF-02C0-9F91-19F8AEABB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29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F6FD-7B81-FECD-8427-A4492343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A61963-6824-0C2C-227D-D6968574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5F70B4-E763-25B4-04DF-08BC161BC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776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0161-E76C-9CCC-DF15-FE54A431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19D469-BD66-412A-09E6-79904CA0C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185A9A-3D44-8120-BAE1-F4624CD3E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9628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57AD0864-06CC-DA12-75D7-24C9EE44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4A1D378-B840-DF65-74D1-22BF4C7F8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9E169FBC-2039-8856-6355-4E39582B0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095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614E758-9902-B608-863A-20103083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B80CDA1-C7EB-CBAD-1AEA-B20BAF153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D4C66492-3B4C-E7F8-2636-007E6066B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203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6D82B024-F59A-5884-A554-8C878A02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481A5CA-198A-97F0-DA3A-91D91E496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733D30F5-F9D9-48CD-6A72-CE24DFF7A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257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D47F922-6BAD-3C6D-CAF9-D911438D7794}"/>
              </a:ext>
            </a:extLst>
          </p:cNvPr>
          <p:cNvSpPr/>
          <p:nvPr userDrawn="1"/>
        </p:nvSpPr>
        <p:spPr bwMode="auto">
          <a:xfrm>
            <a:off x="0" y="4815069"/>
            <a:ext cx="9144000" cy="328432"/>
          </a:xfrm>
          <a:prstGeom prst="rect">
            <a:avLst/>
          </a:prstGeom>
          <a:solidFill>
            <a:srgbClr val="9D1E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6402" tIns="43201" rIns="86402" bIns="43201" numCol="1" rtlCol="0" anchor="ctr" anchorCtr="0" compatLnSpc="1">
            <a:prstTxWarp prst="textNoShape">
              <a:avLst/>
            </a:prstTxWarp>
          </a:bodyPr>
          <a:lstStyle/>
          <a:p>
            <a:pPr marL="324006" marR="0" indent="-324006" algn="ctr" defTabSz="864017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20927" y="313289"/>
            <a:ext cx="83441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34947" y="101299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pic>
        <p:nvPicPr>
          <p:cNvPr id="2" name="Google Shape;63;p14">
            <a:extLst>
              <a:ext uri="{FF2B5EF4-FFF2-40B4-BE49-F238E27FC236}">
                <a16:creationId xmlns:a16="http://schemas.microsoft.com/office/drawing/2014/main" id="{DE801604-4924-5543-B25D-69CDF7BAABC6}"/>
              </a:ext>
            </a:extLst>
          </p:cNvPr>
          <p:cNvPicPr preferRelativeResize="0"/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361497" y="46299"/>
            <a:ext cx="1644513" cy="392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4;p14">
            <a:extLst>
              <a:ext uri="{FF2B5EF4-FFF2-40B4-BE49-F238E27FC236}">
                <a16:creationId xmlns:a16="http://schemas.microsoft.com/office/drawing/2014/main" id="{F154FF72-11F1-8218-52D5-24006D9CB498}"/>
              </a:ext>
            </a:extLst>
          </p:cNvPr>
          <p:cNvPicPr preferRelativeResize="0"/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127906" y="89616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10FBACD-0AC6-43A3-BC3D-CD483BF29B3B}"/>
              </a:ext>
            </a:extLst>
          </p:cNvPr>
          <p:cNvSpPr/>
          <p:nvPr userDrawn="1"/>
        </p:nvSpPr>
        <p:spPr bwMode="auto">
          <a:xfrm>
            <a:off x="326021" y="266218"/>
            <a:ext cx="136969" cy="671331"/>
          </a:xfrm>
          <a:prstGeom prst="rect">
            <a:avLst/>
          </a:prstGeom>
          <a:solidFill>
            <a:srgbClr val="9D1E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6402" tIns="43201" rIns="86402" bIns="43201" numCol="1" rtlCol="0" anchor="ctr" anchorCtr="0" compatLnSpc="1">
            <a:prstTxWarp prst="textNoShape">
              <a:avLst/>
            </a:prstTxWarp>
          </a:bodyPr>
          <a:lstStyle/>
          <a:p>
            <a:pPr marL="324006" marR="0" indent="-324006" algn="ctr" defTabSz="864017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5C1AA-E809-B8E2-A7B6-5CDE12E19DE3}"/>
              </a:ext>
            </a:extLst>
          </p:cNvPr>
          <p:cNvSpPr txBox="1"/>
          <p:nvPr userDrawn="1"/>
        </p:nvSpPr>
        <p:spPr>
          <a:xfrm>
            <a:off x="115748" y="4804946"/>
            <a:ext cx="2448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高级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FF15E7-E763-7786-CBC4-102E6EB88C30}"/>
              </a:ext>
            </a:extLst>
          </p:cNvPr>
          <p:cNvSpPr txBox="1"/>
          <p:nvPr userDrawn="1"/>
        </p:nvSpPr>
        <p:spPr>
          <a:xfrm>
            <a:off x="8691110" y="4816521"/>
            <a:ext cx="549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2A4D8C0-9B9F-4DD3-9BB8-272581A8B91A}" type="slidenum">
              <a:rPr lang="en-US" altLang="zh-CN" sz="1600" b="1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61BB82-E442-3780-DD56-30A5AFC3E6A5}"/>
              </a:ext>
            </a:extLst>
          </p:cNvPr>
          <p:cNvSpPr txBox="1"/>
          <p:nvPr userDrawn="1"/>
        </p:nvSpPr>
        <p:spPr>
          <a:xfrm>
            <a:off x="4838217" y="4809286"/>
            <a:ext cx="3887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数据分析</a:t>
            </a:r>
            <a:endParaRPr lang="en-US" altLang="zh-CN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6AB55-80C6-28AF-0C73-3819184E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30372"/>
            <a:ext cx="7886700" cy="757238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469E7-ED7E-A1F2-48AF-DF31AAC06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8205"/>
            <a:ext cx="7886700" cy="3263504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C8C0-B4E8-90DD-C729-FCF6095E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47B1A-DA23-745E-2167-51E340B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A8E2B-9E0B-8F82-47F1-FA59F47B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2872EC-81BB-5622-062D-1B604B1CF283}"/>
              </a:ext>
            </a:extLst>
          </p:cNvPr>
          <p:cNvSpPr/>
          <p:nvPr userDrawn="1"/>
        </p:nvSpPr>
        <p:spPr>
          <a:xfrm>
            <a:off x="-10886" y="-10886"/>
            <a:ext cx="9154886" cy="395896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</p:spTree>
    <p:extLst>
      <p:ext uri="{BB962C8B-B14F-4D97-AF65-F5344CB8AC3E}">
        <p14:creationId xmlns:p14="http://schemas.microsoft.com/office/powerpoint/2010/main" val="295803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AF2AC7-64BE-FD7C-863B-7D0594108986}"/>
              </a:ext>
            </a:extLst>
          </p:cNvPr>
          <p:cNvSpPr/>
          <p:nvPr userDrawn="1"/>
        </p:nvSpPr>
        <p:spPr bwMode="auto">
          <a:xfrm>
            <a:off x="0" y="4815069"/>
            <a:ext cx="9144000" cy="328432"/>
          </a:xfrm>
          <a:prstGeom prst="rect">
            <a:avLst/>
          </a:prstGeom>
          <a:solidFill>
            <a:srgbClr val="9D1E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6402" tIns="43201" rIns="86402" bIns="43201" numCol="1" rtlCol="0" anchor="ctr" anchorCtr="0" compatLnSpc="1">
            <a:prstTxWarp prst="textNoShape">
              <a:avLst/>
            </a:prstTxWarp>
          </a:bodyPr>
          <a:lstStyle/>
          <a:p>
            <a:pPr marL="324006" marR="0" indent="-324006" algn="ctr" defTabSz="864017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73306-ED4B-FF7E-61BD-6E043371A111}"/>
              </a:ext>
            </a:extLst>
          </p:cNvPr>
          <p:cNvSpPr txBox="1"/>
          <p:nvPr userDrawn="1"/>
        </p:nvSpPr>
        <p:spPr>
          <a:xfrm>
            <a:off x="115748" y="4804946"/>
            <a:ext cx="2448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高级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1D7A9F-498B-0CDE-6EC3-0437A3437FE6}"/>
              </a:ext>
            </a:extLst>
          </p:cNvPr>
          <p:cNvSpPr txBox="1"/>
          <p:nvPr userDrawn="1"/>
        </p:nvSpPr>
        <p:spPr>
          <a:xfrm>
            <a:off x="8691110" y="4816521"/>
            <a:ext cx="549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2A4D8C0-9B9F-4DD3-9BB8-272581A8B91A}" type="slidenum">
              <a:rPr lang="en-US" altLang="zh-CN" sz="1600" b="1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D3A087-46DD-586A-026E-412CD249853A}"/>
              </a:ext>
            </a:extLst>
          </p:cNvPr>
          <p:cNvSpPr txBox="1"/>
          <p:nvPr userDrawn="1"/>
        </p:nvSpPr>
        <p:spPr>
          <a:xfrm>
            <a:off x="4838217" y="4809286"/>
            <a:ext cx="3887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数据分析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06798" y="1281353"/>
            <a:ext cx="8520600" cy="13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Python</a:t>
            </a:r>
            <a:r>
              <a:rPr lang="zh-CN" altLang="en-US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数据分析</a:t>
            </a:r>
            <a:endParaRPr sz="37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59025" y="3844325"/>
            <a:ext cx="33693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 err="1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高级Python程序设计</a:t>
            </a:r>
            <a:r>
              <a:rPr lang="en" sz="1900" dirty="0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 </a:t>
            </a:r>
            <a:endParaRPr sz="1900" dirty="0">
              <a:solidFill>
                <a:schemeClr val="dk2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2026 </a:t>
            </a:r>
            <a:r>
              <a:rPr lang="en" sz="1900" dirty="0" err="1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春</a:t>
            </a:r>
            <a:endParaRPr sz="1900" dirty="0">
              <a:solidFill>
                <a:schemeClr val="dk2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Lora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927" y="142037"/>
            <a:ext cx="3920462" cy="656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45BE7D0D-1D0A-69D4-C6CB-35CC9B73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FF4F87D-B926-9E33-3D5D-7186714D88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6798" y="1281353"/>
            <a:ext cx="8520600" cy="13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Python</a:t>
            </a:r>
            <a:r>
              <a:rPr lang="zh-CN" altLang="en-US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数据分析</a:t>
            </a:r>
            <a:endParaRPr sz="37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59B2BECD-C49E-35AD-E1D9-F5A95B472BC3}"/>
              </a:ext>
            </a:extLst>
          </p:cNvPr>
          <p:cNvSpPr txBox="1"/>
          <p:nvPr/>
        </p:nvSpPr>
        <p:spPr>
          <a:xfrm>
            <a:off x="2959025" y="3844325"/>
            <a:ext cx="33693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 err="1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高级Python程序设计</a:t>
            </a:r>
            <a:r>
              <a:rPr lang="en" sz="1900" dirty="0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 </a:t>
            </a:r>
            <a:endParaRPr sz="1900" dirty="0">
              <a:solidFill>
                <a:schemeClr val="dk2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2026 </a:t>
            </a:r>
            <a:r>
              <a:rPr lang="en" sz="1900" dirty="0" err="1">
                <a:solidFill>
                  <a:schemeClr val="dk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Lora"/>
              </a:rPr>
              <a:t>春</a:t>
            </a:r>
            <a:endParaRPr sz="1900" dirty="0">
              <a:solidFill>
                <a:schemeClr val="dk2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Lora"/>
            </a:endParaRPr>
          </a:p>
        </p:txBody>
      </p: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ED471D10-2E04-4C05-2133-D7C7D67EEE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>
            <a:extLst>
              <a:ext uri="{FF2B5EF4-FFF2-40B4-BE49-F238E27FC236}">
                <a16:creationId xmlns:a16="http://schemas.microsoft.com/office/drawing/2014/main" id="{6BDFF4EC-D89E-CF01-584A-426F941A7A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927" y="142037"/>
            <a:ext cx="3920462" cy="656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25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D746-6827-E9AF-A870-464A9D86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E8959-C34C-64CA-1033-DDC954F7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3EC84E-A4E1-0C5C-95DB-07A0B987D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8520600" cy="347663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1 </a:t>
            </a:r>
            <a:r>
              <a:rPr lang="zh-CN" altLang="en-US" b="1" dirty="0">
                <a:solidFill>
                  <a:srgbClr val="C00000"/>
                </a:solidFill>
              </a:rPr>
              <a:t>数据分析背景</a:t>
            </a:r>
          </a:p>
          <a:p>
            <a:r>
              <a:rPr lang="en-US" altLang="zh-CN" dirty="0"/>
              <a:t>2 </a:t>
            </a:r>
            <a:r>
              <a:rPr lang="zh-CN" altLang="en-US" dirty="0"/>
              <a:t>为什么用</a:t>
            </a:r>
            <a:r>
              <a:rPr lang="en" altLang="zh-CN" dirty="0"/>
              <a:t>Python</a:t>
            </a:r>
            <a:r>
              <a:rPr lang="zh-CN" altLang="en-US" dirty="0"/>
              <a:t>进行数据分析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数据分析全流程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495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FAF6-2074-49E2-8A83-2775A4A6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D2EF7-5A69-D014-B170-3219597B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lang="zh-CN" altLang="en-US" dirty="0"/>
              <a:t>数据分析的时代背景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650F0-7458-30D9-FEF6-79E854860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信息化社会的数据爆炸</a:t>
            </a:r>
            <a:r>
              <a:rPr lang="zh-CN" altLang="en-US" dirty="0"/>
              <a:t>：互联网、物联网、移动设备的普及使文本、日志、图片、交易记录等数据呈指数级增长，数据已成为重要生产要素</a:t>
            </a:r>
          </a:p>
          <a:p>
            <a:r>
              <a:rPr lang="zh-CN" altLang="en-US" b="1" dirty="0"/>
              <a:t>数据驱动决策成为主流</a:t>
            </a:r>
            <a:r>
              <a:rPr lang="zh-CN" altLang="en-US" dirty="0"/>
              <a:t>：企业和组织逐渐从经验决策转向基于数据证据的理性决策，提高效率和准确性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320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7AC4C-B90B-B5BD-B4AF-BFE4F992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D8232-1E22-1790-03E3-3274C57D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lang="zh-CN" altLang="en-US" dirty="0"/>
              <a:t>什么是数据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F1B7E-66E1-1FBC-7266-6A9561809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数据的定义</a:t>
            </a:r>
            <a:r>
              <a:rPr lang="zh-CN" altLang="en-US" dirty="0"/>
              <a:t>：数据是对客观事物进行记录的符号化表示，可以是数字、文字、图像、音频或结构化记录</a:t>
            </a:r>
          </a:p>
          <a:p>
            <a:r>
              <a:rPr lang="zh-CN" altLang="en-US" b="1" dirty="0"/>
              <a:t>数据的基本特征</a:t>
            </a:r>
            <a:r>
              <a:rPr lang="zh-CN" altLang="en-US" dirty="0"/>
              <a:t>：数据本身不等同于信息，只有经过整理、分析和解释后，才能转化为有价值的信息</a:t>
            </a:r>
          </a:p>
          <a:p>
            <a:pPr marL="114300" indent="0">
              <a:buNone/>
            </a:pPr>
            <a:endParaRPr kumimoji="1" lang="en-US" altLang="zh-CN" sz="1200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结构化数据</a:t>
            </a:r>
            <a:r>
              <a:rPr lang="zh-CN" altLang="en-US" dirty="0"/>
              <a:t>：以固定格式存储的数据，如数据库表、</a:t>
            </a:r>
            <a:r>
              <a:rPr lang="en" altLang="zh-CN" dirty="0"/>
              <a:t>Excel</a:t>
            </a:r>
            <a:r>
              <a:rPr lang="zh-CN" altLang="en-US" dirty="0"/>
              <a:t>表格，便于直接统计和分析</a:t>
            </a:r>
          </a:p>
          <a:p>
            <a:r>
              <a:rPr lang="zh-CN" altLang="en-US" b="1" dirty="0">
                <a:solidFill>
                  <a:schemeClr val="accent1"/>
                </a:solidFill>
              </a:rPr>
              <a:t>非结构化数据</a:t>
            </a:r>
            <a:r>
              <a:rPr lang="zh-CN" altLang="en-US" dirty="0"/>
              <a:t>：没有固定结构的数据，如文本、图片、音频，需要额外处理才能分析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5202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77AD-954F-25D9-CE36-A9B47390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278B7-B1DA-C417-4D71-A43554D3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lang="zh-CN" altLang="en-US" dirty="0"/>
              <a:t>什么是数据分析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33D0B3-3F9A-62EB-9953-570FB9A6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数据分析的概念</a:t>
            </a:r>
            <a:r>
              <a:rPr lang="zh-CN" altLang="en-US" dirty="0"/>
              <a:t>：数据分析是通过统计、计算和建模等方法，从原始数据中提取有价值信息的过程</a:t>
            </a:r>
          </a:p>
          <a:p>
            <a:r>
              <a:rPr lang="zh-CN" altLang="en-US" b="1" dirty="0"/>
              <a:t>数据分析的目标</a:t>
            </a:r>
            <a:r>
              <a:rPr lang="zh-CN" altLang="en-US" dirty="0"/>
              <a:t>：发现规律、解释现象、支持决策和预测未来趋势</a:t>
            </a:r>
            <a:endParaRPr lang="en-US" altLang="zh-CN" dirty="0"/>
          </a:p>
          <a:p>
            <a:endParaRPr lang="en-US" altLang="zh-CN" dirty="0"/>
          </a:p>
          <a:p>
            <a:pPr marL="114300" indent="0" algn="ctr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需要把数据转化为人能看懂、理解的方式！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709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E1FA-4E07-0A23-B535-3DB0A52B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E4CCE-2816-65EF-3779-8D00C2B9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CFF87-E749-D587-F239-A39F22E3A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8520600" cy="3476631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数据分析背景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2 </a:t>
            </a:r>
            <a:r>
              <a:rPr lang="zh-CN" altLang="en-US" b="1" dirty="0">
                <a:solidFill>
                  <a:srgbClr val="C00000"/>
                </a:solidFill>
              </a:rPr>
              <a:t>为什么用</a:t>
            </a:r>
            <a:r>
              <a:rPr lang="en" altLang="zh-CN" b="1" dirty="0">
                <a:solidFill>
                  <a:srgbClr val="C00000"/>
                </a:solidFill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</a:rPr>
              <a:t>进行数据分析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数据分析全流程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05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05B1-DC0C-93C7-CF2B-53FE6213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19657-12A6-4EFF-200A-00394599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zh-CN" altLang="en-US" dirty="0"/>
              <a:t>数据分析语言的选择问题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ACB39-9947-1A1A-E7C1-B2B46C80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数据分析语言选择的核心目标：在保证结果准确性的前提下，提高数据处理、分析建模与结果表达的效率</a:t>
            </a:r>
          </a:p>
          <a:p>
            <a:r>
              <a:rPr lang="zh-CN" altLang="en-US" dirty="0"/>
              <a:t>常见数据分析语言包括 </a:t>
            </a:r>
            <a:r>
              <a:rPr lang="en" altLang="zh-CN" dirty="0"/>
              <a:t>Excel</a:t>
            </a:r>
            <a:r>
              <a:rPr lang="zh-CN" altLang="en" dirty="0"/>
              <a:t>、</a:t>
            </a:r>
            <a:r>
              <a:rPr lang="en" altLang="zh-CN" dirty="0"/>
              <a:t>SQL</a:t>
            </a:r>
            <a:r>
              <a:rPr lang="zh-CN" altLang="en" dirty="0"/>
              <a:t>、</a:t>
            </a:r>
            <a:r>
              <a:rPr lang="en" altLang="zh-CN" dirty="0"/>
              <a:t>R</a:t>
            </a:r>
            <a:r>
              <a:rPr lang="zh-CN" altLang="en" dirty="0"/>
              <a:t>、</a:t>
            </a:r>
            <a:r>
              <a:rPr lang="en" altLang="zh-CN" dirty="0"/>
              <a:t>Python </a:t>
            </a:r>
            <a:r>
              <a:rPr lang="zh-CN" altLang="en-US" dirty="0"/>
              <a:t>等，不同语言在灵活性、自动化和扩展性方面差异明显</a:t>
            </a:r>
          </a:p>
          <a:p>
            <a:endParaRPr kumimoji="1"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537503-B1A1-1963-B376-3ABCBD8CF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916479"/>
              </p:ext>
            </p:extLst>
          </p:nvPr>
        </p:nvGraphicFramePr>
        <p:xfrm>
          <a:off x="1524000" y="2721191"/>
          <a:ext cx="6096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882293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77817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19330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局限性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5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Excel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上手快、直观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自动化能力弱、数据量受限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69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擅长数据查询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统计分析能力有限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96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统计能力强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工程化能力较弱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5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全流程支持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需要一定编程基础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30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38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0BA5-B524-F1ED-305E-B3F1EB31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AC819-E4A1-C02F-F646-D9FF6DF4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zh-CN" altLang="en-US" dirty="0"/>
              <a:t>数据分析语言的选择问题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0FB185-9937-8C26-B874-7CBDFCED9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4810077" cy="3416400"/>
          </a:xfrm>
        </p:spPr>
        <p:txBody>
          <a:bodyPr/>
          <a:lstStyle/>
          <a:p>
            <a:r>
              <a:rPr lang="en" altLang="zh-CN" dirty="0"/>
              <a:t>Python </a:t>
            </a:r>
            <a:r>
              <a:rPr lang="zh-CN" altLang="en-US" dirty="0"/>
              <a:t>逐渐成为通用型数据分析语言，覆盖从数据获取、处理、分析到建模的完整流程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E13925-A4CC-52A3-0C38-BC08F839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12" y="714109"/>
            <a:ext cx="37338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4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6285-0F06-05C4-BFBF-E439E6BF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E7AC4-2CD4-B991-497A-45DFF1BC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en" altLang="zh-CN" dirty="0"/>
              <a:t>Python </a:t>
            </a:r>
            <a:r>
              <a:rPr lang="zh-CN" altLang="en-US" dirty="0"/>
              <a:t>的第三方库生态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864CBA-D4C1-3914-4955-9046178E6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919037" cy="3416400"/>
          </a:xfrm>
        </p:spPr>
        <p:txBody>
          <a:bodyPr/>
          <a:lstStyle/>
          <a:p>
            <a:r>
              <a:rPr lang="en" altLang="zh-CN" dirty="0"/>
              <a:t>Python </a:t>
            </a:r>
            <a:r>
              <a:rPr lang="zh-CN" altLang="en-US" dirty="0"/>
              <a:t>通过第三方库扩展数据分析能力，形成稳定生态体系</a:t>
            </a:r>
          </a:p>
          <a:p>
            <a:r>
              <a:rPr lang="zh-CN" altLang="en-US" dirty="0"/>
              <a:t>各库之间分工明确、接口统一</a:t>
            </a:r>
          </a:p>
          <a:p>
            <a:r>
              <a:rPr lang="zh-CN" altLang="en-US" dirty="0"/>
              <a:t>学习成本低，组合使用灵活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B9CA9DB-054A-2374-1701-7AAF77217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585736"/>
              </p:ext>
            </p:extLst>
          </p:nvPr>
        </p:nvGraphicFramePr>
        <p:xfrm>
          <a:off x="1524000" y="245389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1382607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4509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主要功能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410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数值计算、数组运算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33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表格数据处理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72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基础数据可视化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78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Seaborn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统计图形可视化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61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/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机器学习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577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633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9E0C-DC20-487A-225C-5DB0049E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903FB-8ECA-CA79-B462-9A192082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en" altLang="zh-CN" dirty="0"/>
              <a:t>NumPy——</a:t>
            </a:r>
            <a:r>
              <a:rPr lang="zh-CN" altLang="en-US" dirty="0"/>
              <a:t>高效数值计算基础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20A97C-A050-6983-FE82-AE2821BDD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3605355" cy="3416400"/>
          </a:xfrm>
        </p:spPr>
        <p:txBody>
          <a:bodyPr/>
          <a:lstStyle/>
          <a:p>
            <a:r>
              <a:rPr lang="en" altLang="zh-CN" dirty="0"/>
              <a:t>NumPy </a:t>
            </a:r>
            <a:r>
              <a:rPr lang="zh-CN" altLang="en-US" dirty="0"/>
              <a:t>提供高性能多维数组对象 </a:t>
            </a:r>
            <a:r>
              <a:rPr lang="en-US" altLang="zh-CN"/>
              <a:t>np.</a:t>
            </a:r>
            <a:r>
              <a:rPr lang="en" altLang="zh-CN"/>
              <a:t>array</a:t>
            </a:r>
            <a:endParaRPr lang="en" altLang="zh-CN" dirty="0"/>
          </a:p>
          <a:p>
            <a:r>
              <a:rPr lang="zh-CN" altLang="en-US" dirty="0"/>
              <a:t>支持向量化运算，避免显式循环，提高计算效率</a:t>
            </a:r>
          </a:p>
          <a:p>
            <a:r>
              <a:rPr lang="zh-CN" altLang="en-US" dirty="0"/>
              <a:t>是 </a:t>
            </a:r>
            <a:r>
              <a:rPr lang="en" altLang="zh-CN" dirty="0"/>
              <a:t>Pandas</a:t>
            </a:r>
            <a:r>
              <a:rPr lang="zh-CN" altLang="en" dirty="0"/>
              <a:t>、</a:t>
            </a:r>
            <a:r>
              <a:rPr lang="en" altLang="zh-CN" dirty="0"/>
              <a:t>Scikit-learn </a:t>
            </a:r>
            <a:r>
              <a:rPr lang="zh-CN" altLang="en-US" dirty="0"/>
              <a:t>等库的底层基础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DD3DB2-AEE2-2411-20A2-589DDC238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302" y="1051193"/>
            <a:ext cx="50673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1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A14D-9BFA-C4EA-31F8-15C7CFFA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09567-4CA6-054F-7AE5-839AF9B8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en" altLang="zh-CN" dirty="0"/>
              <a:t>Pandas——</a:t>
            </a:r>
            <a:r>
              <a:rPr lang="zh-CN" altLang="en-US" dirty="0"/>
              <a:t>表格数据分析核心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5B49F-802B-33F4-A5F3-9CA1CC73F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3605355" cy="3416400"/>
          </a:xfrm>
        </p:spPr>
        <p:txBody>
          <a:bodyPr/>
          <a:lstStyle/>
          <a:p>
            <a:r>
              <a:rPr lang="en" altLang="zh-CN" dirty="0"/>
              <a:t>Pandas </a:t>
            </a:r>
            <a:r>
              <a:rPr lang="zh-CN" altLang="en-US" dirty="0"/>
              <a:t>提供 </a:t>
            </a:r>
            <a:r>
              <a:rPr lang="en" altLang="zh-CN" dirty="0" err="1"/>
              <a:t>DataFrame</a:t>
            </a:r>
            <a:r>
              <a:rPr lang="en" altLang="zh-CN" dirty="0"/>
              <a:t> </a:t>
            </a:r>
            <a:r>
              <a:rPr lang="zh-CN" altLang="en-US" dirty="0"/>
              <a:t>数据结构，用于表示二维表格数据</a:t>
            </a:r>
          </a:p>
          <a:p>
            <a:r>
              <a:rPr lang="zh-CN" altLang="en-US" dirty="0"/>
              <a:t>每一列可以是不同类型的数据</a:t>
            </a:r>
          </a:p>
          <a:p>
            <a:r>
              <a:rPr lang="zh-CN" altLang="en-US" dirty="0"/>
              <a:t>非常适合现实世界中的结构化数据分析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994701-89E1-DD7A-8988-47911F2F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0" y="968591"/>
            <a:ext cx="4072217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4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1A715-174C-0941-CCA7-904F6B54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DB0BA-6978-C4A0-10EB-A55FAF70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en" altLang="zh-CN" dirty="0" err="1"/>
              <a:t>DataFrame</a:t>
            </a:r>
            <a:r>
              <a:rPr lang="en" altLang="zh-CN" dirty="0"/>
              <a:t> </a:t>
            </a:r>
            <a:r>
              <a:rPr lang="zh-CN" altLang="en-US" dirty="0"/>
              <a:t>的基本结构理解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B9AC3-C423-BD1E-54D4-B89CC35B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3605355" cy="3416400"/>
          </a:xfrm>
        </p:spPr>
        <p:txBody>
          <a:bodyPr/>
          <a:lstStyle/>
          <a:p>
            <a:r>
              <a:rPr lang="zh-CN" altLang="en-US" dirty="0"/>
              <a:t>行（</a:t>
            </a:r>
            <a:r>
              <a:rPr lang="en" altLang="zh-CN" dirty="0"/>
              <a:t>index</a:t>
            </a:r>
            <a:r>
              <a:rPr lang="zh-CN" altLang="en" dirty="0"/>
              <a:t>）</a:t>
            </a:r>
            <a:r>
              <a:rPr lang="zh-CN" altLang="en-US" dirty="0"/>
              <a:t>表示观测对象</a:t>
            </a:r>
          </a:p>
          <a:p>
            <a:r>
              <a:rPr lang="zh-CN" altLang="en-US" dirty="0"/>
              <a:t>列（</a:t>
            </a:r>
            <a:r>
              <a:rPr lang="en" altLang="zh-CN" dirty="0"/>
              <a:t>columns</a:t>
            </a:r>
            <a:r>
              <a:rPr lang="zh-CN" altLang="en" dirty="0"/>
              <a:t>）</a:t>
            </a:r>
            <a:r>
              <a:rPr lang="zh-CN" altLang="en-US" dirty="0"/>
              <a:t>表示变量</a:t>
            </a:r>
          </a:p>
          <a:p>
            <a:r>
              <a:rPr lang="zh-CN" altLang="en-US" dirty="0"/>
              <a:t>每一列本质上是一个 </a:t>
            </a:r>
            <a:r>
              <a:rPr lang="en" altLang="zh-CN" dirty="0"/>
              <a:t>Series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84530E-E120-32B7-BEB3-ABFAAB2E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0" y="968591"/>
            <a:ext cx="4072217" cy="35052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4B8450A-862A-DD84-1BB2-EFBC20A7E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72066"/>
              </p:ext>
            </p:extLst>
          </p:nvPr>
        </p:nvGraphicFramePr>
        <p:xfrm>
          <a:off x="499783" y="2856230"/>
          <a:ext cx="373084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614">
                  <a:extLst>
                    <a:ext uri="{9D8B030D-6E8A-4147-A177-3AD203B41FA5}">
                      <a16:colId xmlns:a16="http://schemas.microsoft.com/office/drawing/2014/main" val="3704102555"/>
                    </a:ext>
                  </a:extLst>
                </a:gridCol>
                <a:gridCol w="1243614">
                  <a:extLst>
                    <a:ext uri="{9D8B030D-6E8A-4147-A177-3AD203B41FA5}">
                      <a16:colId xmlns:a16="http://schemas.microsoft.com/office/drawing/2014/main" val="1405480099"/>
                    </a:ext>
                  </a:extLst>
                </a:gridCol>
                <a:gridCol w="1243614">
                  <a:extLst>
                    <a:ext uri="{9D8B030D-6E8A-4147-A177-3AD203B41FA5}">
                      <a16:colId xmlns:a16="http://schemas.microsoft.com/office/drawing/2014/main" val="2693930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73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12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05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Cindy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562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824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D1C9-41AD-7B29-8A4C-3C7F41E9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3EC92-AEFE-7178-EAEB-744BA504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104817-52B1-CE66-2C3B-AABD47B9A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8520600" cy="3476631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数据分析背景</a:t>
            </a:r>
          </a:p>
          <a:p>
            <a:r>
              <a:rPr lang="en-US" altLang="zh-CN" dirty="0"/>
              <a:t>2 </a:t>
            </a:r>
            <a:r>
              <a:rPr lang="zh-CN" altLang="en-US" dirty="0"/>
              <a:t>为什么用</a:t>
            </a:r>
            <a:r>
              <a:rPr lang="en" altLang="zh-CN" dirty="0"/>
              <a:t>Python</a:t>
            </a:r>
            <a:r>
              <a:rPr lang="zh-CN" altLang="en-US" dirty="0"/>
              <a:t>进行数据分析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3 </a:t>
            </a:r>
            <a:r>
              <a:rPr lang="zh-CN" altLang="en-US" b="1" dirty="0">
                <a:solidFill>
                  <a:srgbClr val="C00000"/>
                </a:solidFill>
              </a:rPr>
              <a:t>数据分析全流程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504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F193-D3CC-950E-1C9F-130ABD09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410D-1161-F812-6674-11B94C56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5F9D7E-64FF-D246-E909-999254C1C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数据分析是一个“提出问题</a:t>
            </a:r>
            <a:r>
              <a:rPr lang="en-US" altLang="zh-CN" dirty="0"/>
              <a:t>—</a:t>
            </a:r>
            <a:r>
              <a:rPr lang="zh-CN" altLang="en-US" dirty="0"/>
              <a:t>分析</a:t>
            </a:r>
            <a:r>
              <a:rPr lang="en-US" altLang="zh-CN" dirty="0"/>
              <a:t>—</a:t>
            </a:r>
            <a:r>
              <a:rPr lang="zh-CN" altLang="en-US" dirty="0"/>
              <a:t>验证</a:t>
            </a:r>
            <a:r>
              <a:rPr lang="en-US" altLang="zh-CN" dirty="0"/>
              <a:t>—</a:t>
            </a:r>
            <a:r>
              <a:rPr lang="zh-CN" altLang="en-US" dirty="0"/>
              <a:t>再分析”的迭代过程，而不是一次性操作</a:t>
            </a:r>
          </a:p>
          <a:p>
            <a:r>
              <a:rPr lang="zh-CN" altLang="en-US" dirty="0"/>
              <a:t>不同分析目标会触发不同分析路径和方法组合</a:t>
            </a:r>
          </a:p>
          <a:p>
            <a:r>
              <a:rPr lang="en" altLang="zh-CN" dirty="0"/>
              <a:t>Python </a:t>
            </a:r>
            <a:r>
              <a:rPr lang="zh-CN" altLang="en-US" dirty="0"/>
              <a:t>的优势在于支持分析流程的反复调整与快速重跑</a:t>
            </a:r>
          </a:p>
          <a:p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36529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C1ED-3C06-C1A3-25F1-FAC3F135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01EDD-D0E0-E709-CFDE-D5DEFD80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F75B1A-6863-EF31-7CB1-DEA26656E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数据分析应从明确的问题出发，而非直接“看数据”</a:t>
            </a:r>
          </a:p>
          <a:p>
            <a:r>
              <a:rPr lang="zh-CN" altLang="en-US" dirty="0"/>
              <a:t>不同问题决定不同分析方法</a:t>
            </a:r>
          </a:p>
          <a:p>
            <a:r>
              <a:rPr lang="zh-CN" altLang="en-US" dirty="0"/>
              <a:t>示例问题：哪些因素影响学生的综合成绩？</a:t>
            </a:r>
          </a:p>
          <a:p>
            <a:endParaRPr lang="en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E60208F-FDA9-1B50-D346-0450F72EF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298597"/>
              </p:ext>
            </p:extLst>
          </p:nvPr>
        </p:nvGraphicFramePr>
        <p:xfrm>
          <a:off x="2425484" y="2491577"/>
          <a:ext cx="4293031" cy="2064816"/>
        </p:xfrm>
        <a:graphic>
          <a:graphicData uri="http://schemas.openxmlformats.org/drawingml/2006/table">
            <a:tbl>
              <a:tblPr/>
              <a:tblGrid>
                <a:gridCol w="989177">
                  <a:extLst>
                    <a:ext uri="{9D8B030D-6E8A-4147-A177-3AD203B41FA5}">
                      <a16:colId xmlns:a16="http://schemas.microsoft.com/office/drawing/2014/main" val="543679842"/>
                    </a:ext>
                  </a:extLst>
                </a:gridCol>
                <a:gridCol w="672640">
                  <a:extLst>
                    <a:ext uri="{9D8B030D-6E8A-4147-A177-3AD203B41FA5}">
                      <a16:colId xmlns:a16="http://schemas.microsoft.com/office/drawing/2014/main" val="1210853929"/>
                    </a:ext>
                  </a:extLst>
                </a:gridCol>
                <a:gridCol w="534158">
                  <a:extLst>
                    <a:ext uri="{9D8B030D-6E8A-4147-A177-3AD203B41FA5}">
                      <a16:colId xmlns:a16="http://schemas.microsoft.com/office/drawing/2014/main" val="668977363"/>
                    </a:ext>
                  </a:extLst>
                </a:gridCol>
                <a:gridCol w="1068312">
                  <a:extLst>
                    <a:ext uri="{9D8B030D-6E8A-4147-A177-3AD203B41FA5}">
                      <a16:colId xmlns:a16="http://schemas.microsoft.com/office/drawing/2014/main" val="3213399843"/>
                    </a:ext>
                  </a:extLst>
                </a:gridCol>
                <a:gridCol w="1028744">
                  <a:extLst>
                    <a:ext uri="{9D8B030D-6E8A-4147-A177-3AD203B41FA5}">
                      <a16:colId xmlns:a16="http://schemas.microsoft.com/office/drawing/2014/main" val="2822157980"/>
                    </a:ext>
                  </a:extLst>
                </a:gridCol>
              </a:tblGrid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student_id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gender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major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daily_score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final_score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635168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2023001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85760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539008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2023003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34799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2023004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50843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778989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90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93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61635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2023007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84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137203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 dirty="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81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85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30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367C-B551-E70D-C3B8-1B7DD7F4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5A0D-E27F-8591-720A-B277E173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8E46D8-0E33-868A-E6BA-91CC4EA99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数据分析应从明确的问题出发，而非直接“看数据”</a:t>
            </a:r>
          </a:p>
          <a:p>
            <a:r>
              <a:rPr lang="zh-CN" altLang="en-US" dirty="0"/>
              <a:t>不同问题决定不同分析方法</a:t>
            </a:r>
          </a:p>
          <a:p>
            <a:r>
              <a:rPr lang="zh-CN" altLang="en-US" dirty="0"/>
              <a:t>示例问题：哪些因素影响学生的综合成绩？</a:t>
            </a:r>
          </a:p>
          <a:p>
            <a:endParaRPr lang="en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FD57E6B-81B3-563D-4DA1-F54242B7F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76074"/>
              </p:ext>
            </p:extLst>
          </p:nvPr>
        </p:nvGraphicFramePr>
        <p:xfrm>
          <a:off x="520927" y="2491577"/>
          <a:ext cx="4293031" cy="2064816"/>
        </p:xfrm>
        <a:graphic>
          <a:graphicData uri="http://schemas.openxmlformats.org/drawingml/2006/table">
            <a:tbl>
              <a:tblPr/>
              <a:tblGrid>
                <a:gridCol w="989177">
                  <a:extLst>
                    <a:ext uri="{9D8B030D-6E8A-4147-A177-3AD203B41FA5}">
                      <a16:colId xmlns:a16="http://schemas.microsoft.com/office/drawing/2014/main" val="543679842"/>
                    </a:ext>
                  </a:extLst>
                </a:gridCol>
                <a:gridCol w="672640">
                  <a:extLst>
                    <a:ext uri="{9D8B030D-6E8A-4147-A177-3AD203B41FA5}">
                      <a16:colId xmlns:a16="http://schemas.microsoft.com/office/drawing/2014/main" val="1210853929"/>
                    </a:ext>
                  </a:extLst>
                </a:gridCol>
                <a:gridCol w="534158">
                  <a:extLst>
                    <a:ext uri="{9D8B030D-6E8A-4147-A177-3AD203B41FA5}">
                      <a16:colId xmlns:a16="http://schemas.microsoft.com/office/drawing/2014/main" val="668977363"/>
                    </a:ext>
                  </a:extLst>
                </a:gridCol>
                <a:gridCol w="1068312">
                  <a:extLst>
                    <a:ext uri="{9D8B030D-6E8A-4147-A177-3AD203B41FA5}">
                      <a16:colId xmlns:a16="http://schemas.microsoft.com/office/drawing/2014/main" val="3213399843"/>
                    </a:ext>
                  </a:extLst>
                </a:gridCol>
                <a:gridCol w="1028744">
                  <a:extLst>
                    <a:ext uri="{9D8B030D-6E8A-4147-A177-3AD203B41FA5}">
                      <a16:colId xmlns:a16="http://schemas.microsoft.com/office/drawing/2014/main" val="2822157980"/>
                    </a:ext>
                  </a:extLst>
                </a:gridCol>
              </a:tblGrid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student_id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gender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major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daily_score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final_score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635168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2023001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85760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539008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2023003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92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34799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2023004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50843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2023005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778989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90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93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61635"/>
                  </a:ext>
                </a:extLst>
              </a:tr>
              <a:tr h="15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2023007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CS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84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86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137203"/>
                  </a:ext>
                </a:extLst>
              </a:tr>
              <a:tr h="21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2023008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</a:t>
                      </a:r>
                      <a:endParaRPr lang="en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Math</a:t>
                      </a:r>
                      <a:endParaRPr lang="en" sz="1200" dirty="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81</a:t>
                      </a:r>
                      <a:endParaRPr lang="zh-CN" altLang="en-US" sz="120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23272" marR="23272" marT="23272" marB="2327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85972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6B1548E-0774-959D-4F7F-43343627A87A}"/>
              </a:ext>
            </a:extLst>
          </p:cNvPr>
          <p:cNvSpPr txBox="1"/>
          <p:nvPr/>
        </p:nvSpPr>
        <p:spPr>
          <a:xfrm>
            <a:off x="5138928" y="2491577"/>
            <a:ext cx="46207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明确哪些变量是解释变量、响应变量和控制变量</a:t>
            </a:r>
          </a:p>
          <a:p>
            <a:pPr>
              <a:buNone/>
            </a:pPr>
            <a:r>
              <a:rPr lang="zh-CN" altLang="en-US" dirty="0"/>
              <a:t>变量角色划分有助于后续分析建模</a:t>
            </a:r>
          </a:p>
          <a:p>
            <a:r>
              <a:rPr lang="zh-CN" altLang="en-US" dirty="0"/>
              <a:t>是从“描述数据”到“解释数据”的关键一步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F84B9-BBB4-C84B-4F69-B525C3B7F70C}"/>
              </a:ext>
            </a:extLst>
          </p:cNvPr>
          <p:cNvSpPr txBox="1"/>
          <p:nvPr/>
        </p:nvSpPr>
        <p:spPr>
          <a:xfrm>
            <a:off x="5138928" y="3523985"/>
            <a:ext cx="48828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# 响应变量：total_score</a:t>
            </a:r>
          </a:p>
          <a:p>
            <a:r>
              <a:rPr lang="zh-CN" altLang="en-US" dirty="0"/>
              <a:t># 解释变量：daily_score, final_score</a:t>
            </a:r>
          </a:p>
          <a:p>
            <a:r>
              <a:rPr lang="zh-CN" altLang="en-US" dirty="0"/>
              <a:t># 分组变量：gender, major</a:t>
            </a:r>
          </a:p>
        </p:txBody>
      </p:sp>
    </p:spTree>
    <p:extLst>
      <p:ext uri="{BB962C8B-B14F-4D97-AF65-F5344CB8AC3E}">
        <p14:creationId xmlns:p14="http://schemas.microsoft.com/office/powerpoint/2010/main" val="1186408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6384A-AF67-BFB1-4668-C47FC65FE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5A0BA-E34F-8764-A4B0-6D2B9BF2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ED4D77-FED7-B3DB-7A1C-F62D63733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配置环境、加载数据</a:t>
            </a:r>
            <a:endParaRPr lang="en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A1DC18-8885-B7B4-44FC-DE4EB7F9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15710"/>
            <a:ext cx="5629656" cy="33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65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3147-9D48-349F-93F2-2E37E45C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54DD7-E6A1-4B02-623C-C3DD2A57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740162-335A-70FC-3D47-ECE570132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数据理解与质量检查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ECB7AE-0DC3-C355-50CA-FFF62BB5A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5543"/>
            <a:ext cx="7772400" cy="306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11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8EBA-8C95-0E28-F751-E7AE55D7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936BC-3D5B-BA3B-1FEF-271B2022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65D08-5249-DC01-9ED6-8A783CB38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数据理解与质量检查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81BE77-6E90-531C-13B9-D4A1D3AD7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103" y="1549593"/>
            <a:ext cx="6397752" cy="31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09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1C2D-AA5F-205F-1922-46FD076D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93DA2-60CB-557D-F685-2525D387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5CA17C-4B30-67D7-A149-B1BDFD5F9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数据清洗与变量构造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A6578E-FA35-2004-3567-85EB8A087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671169"/>
            <a:ext cx="6202680" cy="298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75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A01B-4186-A1D7-D8AC-C09D41A9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52635-D5B2-971C-1EDC-A0FB7982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23F07B-644B-323C-44E5-88FD69D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变量变换（标准化）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737BF3-6D43-A5C5-FFB1-0C1BEE77E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86114"/>
            <a:ext cx="5775960" cy="29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D332-07CC-6E01-BECD-BF275E9A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83E66-6C6C-E750-1E4C-85FDD846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8C86D-0F02-F775-0331-39190321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探索性数据分析（</a:t>
            </a:r>
            <a:r>
              <a:rPr lang="en" altLang="zh-CN" dirty="0"/>
              <a:t>EDA</a:t>
            </a:r>
            <a:r>
              <a:rPr lang="zh-CN" altLang="en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85564E-2763-BD17-5C75-C8E0F4DF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7932"/>
            <a:ext cx="7772400" cy="24914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DC92428-1410-08A3-D8E5-012CD356B6C5}"/>
              </a:ext>
            </a:extLst>
          </p:cNvPr>
          <p:cNvSpPr txBox="1"/>
          <p:nvPr/>
        </p:nvSpPr>
        <p:spPr>
          <a:xfrm>
            <a:off x="4244263" y="1012991"/>
            <a:ext cx="46207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dirty="0"/>
              <a:t>EDA </a:t>
            </a:r>
            <a:r>
              <a:rPr lang="zh-CN" altLang="en-US" dirty="0"/>
              <a:t>用于理解数据整体结构和潜在规律</a:t>
            </a:r>
          </a:p>
          <a:p>
            <a:pPr>
              <a:buNone/>
            </a:pPr>
            <a:r>
              <a:rPr lang="zh-CN" altLang="en-US" dirty="0"/>
              <a:t>通过统计和可视化发现问题与假设</a:t>
            </a:r>
          </a:p>
          <a:p>
            <a:r>
              <a:rPr lang="zh-CN" altLang="en-US" dirty="0"/>
              <a:t>是正式统计分析和建模的基础</a:t>
            </a:r>
          </a:p>
        </p:txBody>
      </p:sp>
    </p:spTree>
    <p:extLst>
      <p:ext uri="{BB962C8B-B14F-4D97-AF65-F5344CB8AC3E}">
        <p14:creationId xmlns:p14="http://schemas.microsoft.com/office/powerpoint/2010/main" val="2093721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5253-BA8E-C448-3232-667E0E32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11554-EEF9-3D7F-C980-26AA5076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CD1714-4BA2-DC97-7684-589613EAB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探索性数据分析（</a:t>
            </a:r>
            <a:r>
              <a:rPr lang="en" altLang="zh-CN" dirty="0"/>
              <a:t>EDA</a:t>
            </a:r>
            <a:r>
              <a:rPr lang="zh-CN" altLang="en" dirty="0"/>
              <a:t>）</a:t>
            </a:r>
            <a:endParaRPr lang="en-US" altLang="zh-CN" dirty="0"/>
          </a:p>
          <a:p>
            <a:r>
              <a:rPr lang="zh-CN" altLang="en-US" dirty="0"/>
              <a:t>可视化</a:t>
            </a:r>
            <a:endParaRPr lang="zh-CN" altLang="e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F579C7-F621-1D84-530D-CC32DF7D1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155" y="760336"/>
            <a:ext cx="4802597" cy="40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02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5D25-9E22-4D2B-4D23-073383C7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FB1F9-1AA7-FCAB-D52F-1600F550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824B4D-DE63-B1D8-4BFE-7374550F8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对比分析与结构分析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75579E-CDE6-B4FB-1BC1-8C9BBEE99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6668"/>
            <a:ext cx="7772400" cy="296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20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1915-15DD-3F13-8DB9-AE23568B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F74CD-271C-374A-D5A6-211B69AE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954132-9F70-909F-8FE2-406DDEB92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交叉分析与关系分析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6845EB-0D9A-E3F4-6C00-FABD2A93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1526076"/>
            <a:ext cx="7104888" cy="320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24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6A6A-CCFD-301E-4DAA-4D9F36C9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E4B8B-00EC-5C4B-66B7-F9431575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4C99BD-1D8C-C608-C027-AF52ECABA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交叉分析与关系分析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3A9938-0BCA-7B76-2128-1D166C5FA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585" y="506495"/>
            <a:ext cx="5252760" cy="41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57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59920-C521-5F68-5020-FD33AE58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0B0F3-F533-5582-5878-5A95C73B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D91726-6297-7996-72D0-03C2B8AA4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统计检验（诊断分析）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CE203C-B8B3-766E-4A21-665305E55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61" y="1853184"/>
            <a:ext cx="8451278" cy="10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30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0731-05DE-5CBF-0BB0-C2E36CCB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122C4-5796-0E90-B57B-AFA6753E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E8BAB6-C7E1-25C5-D211-99F3C6AB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回归分析（解释型分析）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45BEE3-43C4-9695-5F29-958DD67AA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771" y="400820"/>
            <a:ext cx="4970229" cy="442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3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41CE-C0E2-190B-1740-93C7D9577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9E957-995F-8BE4-4308-14080F02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数据分析全流程</a:t>
            </a:r>
            <a:br>
              <a:rPr lang="zh-CN" altLang="en-US" dirty="0"/>
            </a:b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C2A8F9-D4AF-5AC9-FDE6-25AC03B90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7272861" cy="3416400"/>
          </a:xfrm>
        </p:spPr>
        <p:txBody>
          <a:bodyPr/>
          <a:lstStyle/>
          <a:p>
            <a:r>
              <a:rPr lang="zh-CN" altLang="en-US" dirty="0"/>
              <a:t>新发现的问题可能需要返回前面步骤</a:t>
            </a:r>
          </a:p>
          <a:p>
            <a:r>
              <a:rPr lang="zh-CN" altLang="en-US" dirty="0"/>
              <a:t>数据分析是“不断修正假设”的过程</a:t>
            </a:r>
          </a:p>
          <a:p>
            <a:r>
              <a:rPr lang="en" altLang="zh-CN" dirty="0"/>
              <a:t>Python </a:t>
            </a:r>
            <a:r>
              <a:rPr lang="zh-CN" altLang="en-US" dirty="0"/>
              <a:t>代码化流程非常适合迭代分析</a:t>
            </a:r>
          </a:p>
        </p:txBody>
      </p:sp>
    </p:spTree>
    <p:extLst>
      <p:ext uri="{BB962C8B-B14F-4D97-AF65-F5344CB8AC3E}">
        <p14:creationId xmlns:p14="http://schemas.microsoft.com/office/powerpoint/2010/main" val="2662535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CB6B-FA61-235B-FDE9-48D6F4E4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2B3D9-956A-6871-E88B-7B05F29B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  <a:endParaRPr kumimoji="1"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5CBFF0-2C98-56FB-C18C-16B238C7D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7" y="1012991"/>
            <a:ext cx="8530084" cy="3416400"/>
          </a:xfrm>
        </p:spPr>
        <p:txBody>
          <a:bodyPr/>
          <a:lstStyle/>
          <a:p>
            <a:r>
              <a:rPr lang="zh-CN" altLang="en-US" dirty="0"/>
              <a:t>数据分析是一个以问题为导向、可反复迭代的系统过程，而非简单的数据处理操作，各阶段之间具有明确逻辑关系且相互影响</a:t>
            </a:r>
          </a:p>
          <a:p>
            <a:r>
              <a:rPr lang="zh-CN" altLang="en-US" dirty="0"/>
              <a:t>不同类型的数据分析方法（探索性分析、对比分析、结构分析、关系分析与解释型分析）服务于不同分析目标，应根据问题合理组合使用</a:t>
            </a:r>
          </a:p>
          <a:p>
            <a:r>
              <a:rPr lang="en" altLang="zh-CN" dirty="0"/>
              <a:t>Python </a:t>
            </a:r>
            <a:r>
              <a:rPr lang="zh-CN" altLang="en-US" dirty="0"/>
              <a:t>通过统一的数据结构与分析工具，实现从数据准备到统计分析与模型解释的完整分析闭环，具有良好的可复现性与扩展性</a:t>
            </a:r>
          </a:p>
        </p:txBody>
      </p:sp>
    </p:spTree>
    <p:extLst>
      <p:ext uri="{BB962C8B-B14F-4D97-AF65-F5344CB8AC3E}">
        <p14:creationId xmlns:p14="http://schemas.microsoft.com/office/powerpoint/2010/main" val="1564151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4BDF8272-2BF1-242B-3109-E2D3E677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1131F9A8-D8F4-B750-BCAC-8DD4B0F224A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627342"/>
            <a:ext cx="8520600" cy="13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altLang="zh-CN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Q&amp;A</a:t>
            </a:r>
            <a:endParaRPr sz="37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B704A19D-C2BE-23C5-1B33-069B7CE61E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>
            <a:extLst>
              <a:ext uri="{FF2B5EF4-FFF2-40B4-BE49-F238E27FC236}">
                <a16:creationId xmlns:a16="http://schemas.microsoft.com/office/drawing/2014/main" id="{D0D5BA1A-C2E9-030F-9B32-873D5CDFD8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927" y="142037"/>
            <a:ext cx="3920462" cy="656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6910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02A033E9-653F-BC56-0A8E-2CD96184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61D43BB0-76F4-A047-2C42-FD9F2C208A1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734434"/>
            <a:ext cx="8520600" cy="13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zh-CN" altLang="en-US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  <a:t>期中考试复习</a:t>
            </a:r>
            <a:br>
              <a:rPr lang="en-US" altLang="zh-CN" sz="37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Georgia"/>
              </a:rPr>
            </a:br>
            <a:endParaRPr sz="37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1982D774-895C-DAEC-473E-2334F26394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>
            <a:extLst>
              <a:ext uri="{FF2B5EF4-FFF2-40B4-BE49-F238E27FC236}">
                <a16:creationId xmlns:a16="http://schemas.microsoft.com/office/drawing/2014/main" id="{340384C5-96F2-59D7-03E3-BD42D21C4D0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927" y="142037"/>
            <a:ext cx="3920462" cy="656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591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5C56876B-59E6-4738-DD95-E8A99AF1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E0BD064C-F0AA-6E2C-6F6A-547FE9CFEE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>
            <a:extLst>
              <a:ext uri="{FF2B5EF4-FFF2-40B4-BE49-F238E27FC236}">
                <a16:creationId xmlns:a16="http://schemas.microsoft.com/office/drawing/2014/main" id="{E508B2DD-640D-FBB6-17B6-3D965276C4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927" y="142037"/>
            <a:ext cx="3920462" cy="656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00048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1203</Words>
  <Application>Microsoft Macintosh PowerPoint</Application>
  <PresentationFormat>全屏显示(16:9)</PresentationFormat>
  <Paragraphs>238</Paragraphs>
  <Slides>34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Times New Roman</vt:lpstr>
      <vt:lpstr>微软雅黑</vt:lpstr>
      <vt:lpstr>Wingdings</vt:lpstr>
      <vt:lpstr>Helvetica Neue</vt:lpstr>
      <vt:lpstr>Arial Black</vt:lpstr>
      <vt:lpstr>微软雅黑 Light</vt:lpstr>
      <vt:lpstr>Arial</vt:lpstr>
      <vt:lpstr>Consolas</vt:lpstr>
      <vt:lpstr>Simple Light</vt:lpstr>
      <vt:lpstr>Python数据分析</vt:lpstr>
      <vt:lpstr>Python数据分析</vt:lpstr>
      <vt:lpstr>目录</vt:lpstr>
      <vt:lpstr>1 数据分析的时代背景</vt:lpstr>
      <vt:lpstr>1 什么是数据</vt:lpstr>
      <vt:lpstr>1 什么是数据分析</vt:lpstr>
      <vt:lpstr>目录</vt:lpstr>
      <vt:lpstr>2 数据分析语言的选择问题</vt:lpstr>
      <vt:lpstr>2 数据分析语言的选择问题</vt:lpstr>
      <vt:lpstr>2 Python 的第三方库生态</vt:lpstr>
      <vt:lpstr>2 NumPy——高效数值计算基础</vt:lpstr>
      <vt:lpstr>2 Pandas——表格数据分析核心</vt:lpstr>
      <vt:lpstr>2 DataFrame 的基本结构理解</vt:lpstr>
      <vt:lpstr>目录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3 数据分析全流程 </vt:lpstr>
      <vt:lpstr>小结</vt:lpstr>
      <vt:lpstr>Q&amp;A</vt:lpstr>
      <vt:lpstr>期中考试复习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ZHU Qian</cp:lastModifiedBy>
  <cp:revision>126</cp:revision>
  <dcterms:modified xsi:type="dcterms:W3CDTF">2026-04-27T04:11:51Z</dcterms:modified>
</cp:coreProperties>
</file>