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72" r:id="rId4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</p:sldIdLst>
  <p:sldSz cx="9144000" cy="5143500"/>
  <p:notesSz cx="6858000" cy="9144000"/>
  <p:embeddedFontLst>
    <p:embeddedFont>
      <p:font typeface="Lora"/>
      <p:regular r:id="rId24"/>
    </p:embeddedFont>
    <p:embeddedFont>
      <p:font typeface="Roboto Mono" panose="0000000900000000000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大家好，下面我们进入 Python Web Development 的一个非常实用的主题：</a:t>
            </a:r>
            <a:r>
              <a:rPr lang="en-GB" b="1">
                <a:solidFill>
                  <a:schemeClr val="dk1"/>
                </a:solidFill>
              </a:rPr>
              <a:t>Streamlit Framework</a:t>
            </a:r>
            <a:r>
              <a:rPr lang="en-GB">
                <a:solidFill>
                  <a:schemeClr val="dk1"/>
                </a:solidFill>
              </a:rPr>
              <a:t>。之前我们写 Python 程序，更多是在命令行、Jupyter Notebook 或者脚本里运行。但如果我们想把数据分析结果、机器学习模型、图表、交互按钮展示给别人看，就需要一个 Web 页面。传统做法往往要写 HTML、CSS、JavaScript，对很多 Python 学习者来说门槛比较高。而 Streamlit 的特点就是：</a:t>
            </a:r>
            <a:r>
              <a:rPr lang="en-GB" b="1">
                <a:solidFill>
                  <a:schemeClr val="dk1"/>
                </a:solidFill>
              </a:rPr>
              <a:t>只用 Python，也能快速做出一个交互式网页应用</a:t>
            </a:r>
            <a:r>
              <a:rPr lang="en-GB">
                <a:solidFill>
                  <a:schemeClr val="dk1"/>
                </a:solidFill>
              </a:rPr>
              <a:t>。今天这节课，我们不追求复杂的前端设计，而是重点理解：Streamlit 是什么、怎么安装运行，以及它有哪些常用的基础函数。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afc8aa858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afc8aa858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我们主要分成三个部分。第一，介绍 </a:t>
            </a:r>
            <a:r>
              <a:rPr lang="en-GB" b="1">
                <a:solidFill>
                  <a:schemeClr val="dk1"/>
                </a:solidFill>
              </a:rPr>
              <a:t>Streamlit 是什么，以及为什么适合 Python 开发者使用</a:t>
            </a:r>
            <a:r>
              <a:rPr lang="en-GB">
                <a:solidFill>
                  <a:schemeClr val="dk1"/>
                </a:solidFill>
              </a:rPr>
              <a:t>。大家可以先把它理解成一个“把 Python 程序变成网页应用”的工具。第二，学习 </a:t>
            </a:r>
            <a:r>
              <a:rPr lang="en-GB" b="1">
                <a:solidFill>
                  <a:schemeClr val="dk1"/>
                </a:solidFill>
              </a:rPr>
              <a:t>安装和运行示例</a:t>
            </a:r>
            <a:r>
              <a:rPr lang="en-GB">
                <a:solidFill>
                  <a:schemeClr val="dk1"/>
                </a:solidFill>
              </a:rPr>
              <a:t>。也就是从零开始，怎样安装 Streamlit，怎样用一条命令启动自己的网页。第三，学习 </a:t>
            </a:r>
            <a:r>
              <a:rPr lang="en-GB" b="1">
                <a:solidFill>
                  <a:schemeClr val="dk1"/>
                </a:solidFill>
              </a:rPr>
              <a:t>Streamlit 的基础函数</a:t>
            </a:r>
            <a:r>
              <a:rPr lang="en-GB">
                <a:solidFill>
                  <a:schemeClr val="dk1"/>
                </a:solidFill>
              </a:rPr>
              <a:t>。比如显示标题、文本、图片，添加按钮、复选框、输入框等等。这节课的目标不是让大家立刻写一个大型网站，而是让大家掌握一个快速展示 Python 项目的工具。以后做数据分析、机器学习小项目时，就可以把结果做成一个可交互的小应用。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df5ab6cf6_0_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df5ab6cf6_0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为什么我们要学习 Streamlit？核心原因可以概括成两个字：</a:t>
            </a:r>
            <a:r>
              <a:rPr lang="en-GB" b="1">
                <a:solidFill>
                  <a:schemeClr val="dk1"/>
                </a:solidFill>
              </a:rPr>
              <a:t>快</a:t>
            </a:r>
            <a:r>
              <a:rPr lang="en-GB">
                <a:solidFill>
                  <a:schemeClr val="dk1"/>
                </a:solidFill>
              </a:rPr>
              <a:t>。如果我们已经会用 Pandas 做数据处理，用 NumPy 做计算，用 Matplotlib 做可视化，那么 Streamlit 可以把这些 Python 能力直接搬到网页上。也就是说，我们不需要重新学习一整套前端技术，就能把分析结果展示出来。第二个优势是部署方便。Streamlit 是免费开源的，而且还有 Streamlit Cloud，可以把项目托管到线上。它还能和 GitHub 仓库集成，当代码更新后，应用也可以自动更新。大家可以把 Streamlit 想象成一个“展示橱窗”：Python 负责加工数据，Streamlit 负责把成果包装成一个别人能点击、能查看、能交互的网页。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6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5f06af5a9_0_1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5f06af5a9_0_1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Streamlit 是一个开源 Python 库，它的目标非常直接：</a:t>
            </a:r>
            <a:r>
              <a:rPr lang="en-GB" b="1">
                <a:solidFill>
                  <a:schemeClr val="dk1"/>
                </a:solidFill>
              </a:rPr>
              <a:t>用 Python 代码构建交互式 Web 应用</a:t>
            </a:r>
            <a:r>
              <a:rPr lang="en-GB">
                <a:solidFill>
                  <a:schemeClr val="dk1"/>
                </a:solidFill>
              </a:rPr>
              <a:t>。传统 Web 开发通常需要 HTML 负责结构，CSS 负责样式，JavaScript 负责交互。但在 Streamlit 里，我们主要写 Python 就可以完成页面展示和交互。它特别适合三类场景：第一，数据驱动的 Web 应用；第二，数据分析报告工具；第三，简单的交互式用户界面。安装也非常简单，只需要一行命令：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pip install streamlit</a:t>
            </a:r>
            <a:r>
              <a:rPr lang="en-GB">
                <a:solidFill>
                  <a:schemeClr val="dk1"/>
                </a:solidFill>
              </a:rPr>
              <a:t>。这也体现了 Streamlit 的风格：尽量降低开发门槛，让我们把精力放在数据和逻辑本身，而不是复杂的前端细节上。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6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50">
              <a:solidFill>
                <a:srgbClr val="1A202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5f06af5a9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5f06af5a9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假设我们写好了一个 Python 文件，比如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app.py</a:t>
            </a:r>
            <a:r>
              <a:rPr lang="en-GB">
                <a:solidFill>
                  <a:schemeClr val="dk1"/>
                </a:solidFill>
              </a:rPr>
              <a:t>，只需要打开命令行，输入：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streamlit run app.py</a:t>
            </a:r>
            <a:r>
              <a:rPr lang="en-GB">
                <a:solidFill>
                  <a:schemeClr val="dk1"/>
                </a:solidFill>
              </a:rPr>
              <a:t>。这里课件中写的是通用形式：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streamlit run filename.py</a:t>
            </a:r>
            <a:r>
              <a:rPr lang="en-GB">
                <a:solidFill>
                  <a:schemeClr val="dk1"/>
                </a:solidFill>
              </a:rPr>
              <a:t>。执行以后，Streamlit 会在本地启动一个开发服务器，并给我们一个访问地址，通常是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http://localhost:8501</a:t>
            </a:r>
            <a:r>
              <a:rPr lang="en-GB">
                <a:solidFill>
                  <a:schemeClr val="dk1"/>
                </a:solidFill>
              </a:rPr>
              <a:t>。我们把这个地址复制到浏览器里，就能看到刚才写的网页应用。我们写好代码，Streamlit 负责把它呈现在网页上，并且支持用户交互。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6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5f06af5a9_0_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5f06af5a9_0_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接下来进入基础函数部分。Streamlit 的函数非常像“积木”，每一个函数都能往网页上放一个东西。比如显示文本、添加控件、展示图表、接收用户输入，都可以通过简单函数完成。这一页展示的是第一个函数：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st.title()</a:t>
            </a:r>
            <a:r>
              <a:rPr lang="en-GB">
                <a:solidFill>
                  <a:schemeClr val="dk1"/>
                </a:solidFill>
              </a:rPr>
              <a:t>。它的作用是在页面上显示一个大标题。代码非常短，先导入 Streamlit：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import streamlit as st</a:t>
            </a:r>
            <a:r>
              <a:rPr lang="en-GB">
                <a:solidFill>
                  <a:schemeClr val="dk1"/>
                </a:solidFill>
              </a:rPr>
              <a:t>，然后写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st.title("Hello!")</a:t>
            </a:r>
            <a:r>
              <a:rPr lang="en-GB">
                <a:solidFill>
                  <a:schemeClr val="dk1"/>
                </a:solidFill>
              </a:rPr>
              <a:t>。这里的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</a:t>
            </a:r>
            <a:r>
              <a:rPr lang="en-GB">
                <a:solidFill>
                  <a:schemeClr val="dk1"/>
                </a:solidFill>
              </a:rPr>
              <a:t> 就是我们给 Streamlit 起的简写名字。以后看到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st.xxx()</a:t>
            </a:r>
            <a:r>
              <a:rPr lang="en-GB">
                <a:solidFill>
                  <a:schemeClr val="dk1"/>
                </a:solidFill>
              </a:rPr>
              <a:t>，基本都可以理解成：在网页上添加一个组件。比如这里的 title，就是给网页放一个醒目的标题。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6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5f06af5a9_0_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5f06af5a9_0_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这一页介绍 Streamlit 如何展示不同层级的文本。我们可以使用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st.header()</a:t>
            </a:r>
            <a:r>
              <a:rPr lang="en-GB">
                <a:solidFill>
                  <a:schemeClr val="dk1"/>
                </a:solidFill>
              </a:rPr>
              <a:t> 显示标题，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st.subheader()</a:t>
            </a:r>
            <a:r>
              <a:rPr lang="en-GB">
                <a:solidFill>
                  <a:schemeClr val="dk1"/>
                </a:solidFill>
              </a:rPr>
              <a:t> 显示子标题，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st.text()</a:t>
            </a:r>
            <a:r>
              <a:rPr lang="en-GB">
                <a:solidFill>
                  <a:schemeClr val="dk1"/>
                </a:solidFill>
              </a:rPr>
              <a:t> 显示普通文本，还可以用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st.markdown()</a:t>
            </a:r>
            <a:r>
              <a:rPr lang="en-GB">
                <a:solidFill>
                  <a:schemeClr val="dk1"/>
                </a:solidFill>
              </a:rPr>
              <a:t> 显示 Markdown 格式内容。Markdown 的好处是格式更灵活，比如可以设置标题、加粗、列表、代码块等。这样我们写出来的页面就不像普通文本那么单调，而是更接近一份结构清晰的网页报告。大家可以把这些函数理解成 Word 里的排版功能：有大标题、小标题、正文和特殊格式。只不过在 Streamlit 中，我们是通过 Python 函数来控制页面排版。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6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5f06af5a9_0_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5f06af5a9_0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在一个应用中，光展示普通文本还不够，我们经常需要给用户反馈：操作成功了、需要注意、出错了，或者程序发生异常了。Streamlit 提供了几种常用消息展示函数，比如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st.success()</a:t>
            </a:r>
            <a:r>
              <a:rPr lang="en-GB">
                <a:solidFill>
                  <a:schemeClr val="dk1"/>
                </a:solidFill>
              </a:rPr>
              <a:t> 显示成功信息，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st.info()</a:t>
            </a:r>
            <a:r>
              <a:rPr lang="en-GB">
                <a:solidFill>
                  <a:schemeClr val="dk1"/>
                </a:solidFill>
              </a:rPr>
              <a:t> 显示提示信息，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st.warning()</a:t>
            </a:r>
            <a:r>
              <a:rPr lang="en-GB">
                <a:solidFill>
                  <a:schemeClr val="dk1"/>
                </a:solidFill>
              </a:rPr>
              <a:t> 显示警告，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st.error()</a:t>
            </a:r>
            <a:r>
              <a:rPr lang="en-GB">
                <a:solidFill>
                  <a:schemeClr val="dk1"/>
                </a:solidFill>
              </a:rPr>
              <a:t> 显示错误，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st.exception()</a:t>
            </a:r>
            <a:r>
              <a:rPr lang="en-GB">
                <a:solidFill>
                  <a:schemeClr val="dk1"/>
                </a:solidFill>
              </a:rPr>
              <a:t> 显示异常信息。这些函数的作用就像交通信号灯。绿色表示成功，蓝色表示提示，黄色表示警告，红色表示错误。用户一看颜色和样式，就能快速理解当前状态。在实际项目里，这些提示非常重要。它们可以让应用不只是“能运行”，而是变得更友好、更清楚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6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5f06af5a9_0_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5f06af5a9_0_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这一页介绍两个常见功能：展示图片和使用复选框。展示图片时，可以借助 Pillow 库。先用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Image.open()</a:t>
            </a:r>
            <a:r>
              <a:rPr lang="en-GB">
                <a:solidFill>
                  <a:schemeClr val="dk1"/>
                </a:solidFill>
              </a:rPr>
              <a:t> 打开图片，再用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st.image()</a:t>
            </a:r>
            <a:r>
              <a:rPr lang="en-GB">
                <a:solidFill>
                  <a:schemeClr val="dk1"/>
                </a:solidFill>
              </a:rPr>
              <a:t> 把图片显示到网页上。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width</a:t>
            </a:r>
            <a:r>
              <a:rPr lang="en-GB">
                <a:solidFill>
                  <a:schemeClr val="dk1"/>
                </a:solidFill>
              </a:rPr>
              <a:t> 参数可以控制图片显示的宽度，比如设置成 200，就能让图片按照合适大小展示。这在数据项目中很常见。比如我们想展示一张模型结果图、数据可视化图，或者产品图片，都可以用这种方式。第二个功能是复选框，也就是 checkbox。它适合处理“显示或隐藏”“是否启用”这类二选一逻辑。用户勾选以后，程序就可以根据状态执行不同操作。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6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5f06af5a9_0_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5f06af5a9_0_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这一页重点展示复选框的代码效果。代码里使用了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st.checkbox("Show/Hide")</a:t>
            </a:r>
            <a:r>
              <a:rPr lang="en-GB">
                <a:solidFill>
                  <a:schemeClr val="dk1"/>
                </a:solidFill>
              </a:rPr>
              <a:t>。当用户勾选复选框时，条件判断成立，页面就显示文字：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Showing the widget</a:t>
            </a:r>
            <a:r>
              <a:rPr lang="en-GB">
                <a:solidFill>
                  <a:schemeClr val="dk1"/>
                </a:solidFill>
              </a:rPr>
              <a:t>。如果不勾选，这行文字就不会出现。这其实是 Streamlit 交互的一个典型模式：</a:t>
            </a:r>
            <a:r>
              <a:rPr lang="en-GB" b="1">
                <a:solidFill>
                  <a:schemeClr val="dk1"/>
                </a:solidFill>
              </a:rPr>
              <a:t>用户操作控件，Python 根据控件结果更新页面</a:t>
            </a:r>
            <a:r>
              <a:rPr lang="en-GB">
                <a:solidFill>
                  <a:schemeClr val="dk1"/>
                </a:solidFill>
              </a:rPr>
              <a:t>。它的逻辑很像我们平时写的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if</a:t>
            </a:r>
            <a:r>
              <a:rPr lang="en-GB">
                <a:solidFill>
                  <a:schemeClr val="dk1"/>
                </a:solidFill>
              </a:rPr>
              <a:t> 语句，只不过判断条件来自网页上的用户操作。比如以后我们可以用复选框控制是否显示原始数据、是否显示图表、是否启用某个模型参数。所以从这一页开始，我们的页面就不只是静态展示，而是开始具备交互能力了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6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5f06af5a9_0_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5f06af5a9_0_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这一页介绍两种选择类组件：单选按钮和下拉列表。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st.radio(desc, options)</a:t>
            </a:r>
            <a:r>
              <a:rPr lang="en-GB">
                <a:solidFill>
                  <a:schemeClr val="dk1"/>
                </a:solidFill>
              </a:rPr>
              <a:t> 用来创建单选按钮。它适合选项比较少、希望用户直接看到所有选项的场景。比如性别选择、模型类型选择、是否分类等。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st.selectbox(desc, options)</a:t>
            </a:r>
            <a:r>
              <a:rPr lang="en-GB">
                <a:solidFill>
                  <a:schemeClr val="dk1"/>
                </a:solidFill>
              </a:rPr>
              <a:t> 是下拉列表。它适合选项比较多，但又不想占用太多页面空间的情况。右侧示例中，用户选择 Male 或 Female 后，程序会根据选择结果显示对应提示。这里的重点不是选项本身，而是理解 Streamlit 的交互方式：用户选择一个值，这个值会被保存到变量里，然后我们就可以在 Python 代码中继续使用它。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6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5f06af5a9_0_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5f06af5a9_0_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这一页具体展示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selectbox</a:t>
            </a:r>
            <a:r>
              <a:rPr lang="en-GB">
                <a:solidFill>
                  <a:schemeClr val="dk1"/>
                </a:solidFill>
              </a:rPr>
              <a:t> 的用法。代码中通过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st.selectbox("Select a Hobby:", ['Dancing', 'Reading', 'Sports'])</a:t>
            </a:r>
            <a:r>
              <a:rPr lang="en-GB">
                <a:solidFill>
                  <a:schemeClr val="dk1"/>
                </a:solidFill>
              </a:rPr>
              <a:t> 创建了一个爱好选择框。用户在下拉列表中选择一个选项后，这个结果会被保存到变量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hobby</a:t>
            </a:r>
            <a:r>
              <a:rPr lang="en-GB">
                <a:solidFill>
                  <a:schemeClr val="dk1"/>
                </a:solidFill>
              </a:rPr>
              <a:t> 里。接着用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st.write("Your hobby is:", hobby)</a:t>
            </a:r>
            <a:r>
              <a:rPr lang="en-GB">
                <a:solidFill>
                  <a:schemeClr val="dk1"/>
                </a:solidFill>
              </a:rPr>
              <a:t> 把用户的选择显示出来。这看起来很简单，但它其实是很多交互式应用的基础。比如我们可以让用户选择城市，然后展示对应天气数据；选择股票代码，然后展示价格走势。所以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selectbox</a:t>
            </a:r>
            <a:r>
              <a:rPr lang="en-GB">
                <a:solidFill>
                  <a:schemeClr val="dk1"/>
                </a:solidFill>
              </a:rPr>
              <a:t> 不只是一个下拉框，它是连接用户选择和后台 Python 逻辑的桥梁。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6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5f06af5a9_0_1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5f06af5a9_0_1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这一页介绍真正意义上的按钮：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st.button()</a:t>
            </a:r>
            <a:r>
              <a:rPr lang="en-GB">
                <a:solidFill>
                  <a:schemeClr val="dk1"/>
                </a:solidFill>
              </a:rPr>
              <a:t>。按钮的特点是：用户点击之后，才触发某个操作。比如显示一条消息、运行一个函数、提交一次计算，或者刷新某个结果。示例里有两个按钮。一个按钮只是简单显示在页面上，另一个按钮叫 About。当用户点击 About 时，程序就执行下面的代码，显示欢迎文本。在实际应用中，按钮非常常见。比如“开始预测”“提交表单”“生成报告”“下载结果”等，都可以用按钮来触发。大家可以记住一句话：复选框和下拉框偏向“选择状态”，按钮偏向“触发动作”。这是设计交互页面时很重要的区别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6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5f06af5a9_0_1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5f06af5a9_0_1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这一页介绍文本输入框，也就是让用户自己输入内容。代码中使用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st.text_input()</a:t>
            </a:r>
            <a:r>
              <a:rPr lang="en-GB">
                <a:solidFill>
                  <a:schemeClr val="dk1"/>
                </a:solidFill>
              </a:rPr>
              <a:t> 创建输入框，让用户输入姓名。用户输入以后，点击 Submit 按钮，程序会把输入内容转换成合适的大小写格式，然后用 </a:t>
            </a:r>
            <a:r>
              <a:rPr lang="en-GB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st.success()</a:t>
            </a:r>
            <a:r>
              <a:rPr lang="en-GB">
                <a:solidFill>
                  <a:schemeClr val="dk1"/>
                </a:solidFill>
              </a:rPr>
              <a:t> 显示出来。这个例子模拟了一个最基础的表单交互：输入、提交、处理、反馈。在真实项目中，文本输入框非常有用。比如用户可以输入关键词进行搜索，输入问题让模型回答，输入参数让程序计算结果。到这里，大家已经可以看到，一个简单的 Streamlit 应用其实就是由这些组件组成的：标题负责说明，输入框负责收集信息，按钮负责触发操作，提示框负责反馈结果。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6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5f06af5a9_0_1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5f06af5a9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6000"/>
              </a:lnSpc>
              <a:spcBef>
                <a:spcPts val="6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f19dc35de_0_5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f19dc35de_0_5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33823" y="4758800"/>
            <a:ext cx="9186600" cy="3936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Google Shape;7;p1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00">
                <a:solidFill>
                  <a:srgbClr val="F8F9FA"/>
                </a:solidFill>
              </a:defRPr>
            </a:lvl1pPr>
            <a:lvl2pPr lvl="1" algn="r">
              <a:buNone/>
              <a:defRPr sz="1300">
                <a:solidFill>
                  <a:srgbClr val="F8F9FA"/>
                </a:solidFill>
              </a:defRPr>
            </a:lvl2pPr>
            <a:lvl3pPr lvl="2" algn="r">
              <a:buNone/>
              <a:defRPr sz="1300">
                <a:solidFill>
                  <a:srgbClr val="F8F9FA"/>
                </a:solidFill>
              </a:defRPr>
            </a:lvl3pPr>
            <a:lvl4pPr lvl="3" algn="r">
              <a:buNone/>
              <a:defRPr sz="1300">
                <a:solidFill>
                  <a:srgbClr val="F8F9FA"/>
                </a:solidFill>
              </a:defRPr>
            </a:lvl4pPr>
            <a:lvl5pPr lvl="4" algn="r">
              <a:buNone/>
              <a:defRPr sz="1300">
                <a:solidFill>
                  <a:srgbClr val="F8F9FA"/>
                </a:solidFill>
              </a:defRPr>
            </a:lvl5pPr>
            <a:lvl6pPr lvl="5" algn="r">
              <a:buNone/>
              <a:defRPr sz="1300">
                <a:solidFill>
                  <a:srgbClr val="F8F9FA"/>
                </a:solidFill>
              </a:defRPr>
            </a:lvl6pPr>
            <a:lvl7pPr lvl="6" algn="r">
              <a:buNone/>
              <a:defRPr sz="1300">
                <a:solidFill>
                  <a:srgbClr val="F8F9FA"/>
                </a:solidFill>
              </a:defRPr>
            </a:lvl7pPr>
            <a:lvl8pPr lvl="7" algn="r">
              <a:buNone/>
              <a:defRPr sz="1300">
                <a:solidFill>
                  <a:srgbClr val="F8F9FA"/>
                </a:solidFill>
              </a:defRPr>
            </a:lvl8pPr>
            <a:lvl9pPr lvl="8" algn="r">
              <a:buNone/>
              <a:defRPr sz="1300">
                <a:solidFill>
                  <a:srgbClr val="F8F9FA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8" name="Google Shape;8;p1"/>
          <p:cNvSpPr txBox="1"/>
          <p:nvPr/>
        </p:nvSpPr>
        <p:spPr>
          <a:xfrm>
            <a:off x="-53411" y="4712600"/>
            <a:ext cx="2476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9FA"/>
                </a:solidFill>
                <a:latin typeface="Lora"/>
                <a:ea typeface="Lora"/>
                <a:cs typeface="Lora"/>
                <a:sym typeface="Lora"/>
              </a:rPr>
              <a:t>高级Python程序设计</a:t>
            </a:r>
            <a:endParaRPr sz="500">
              <a:solidFill>
                <a:srgbClr val="F8F9FA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33823" y="4758800"/>
            <a:ext cx="9186600" cy="3936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" name="Google Shape;7;p1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00">
                <a:solidFill>
                  <a:srgbClr val="F8F9FA"/>
                </a:solidFill>
              </a:defRPr>
            </a:lvl1pPr>
            <a:lvl2pPr lvl="1" algn="r">
              <a:buNone/>
              <a:defRPr sz="1300">
                <a:solidFill>
                  <a:srgbClr val="F8F9FA"/>
                </a:solidFill>
              </a:defRPr>
            </a:lvl2pPr>
            <a:lvl3pPr lvl="2" algn="r">
              <a:buNone/>
              <a:defRPr sz="1300">
                <a:solidFill>
                  <a:srgbClr val="F8F9FA"/>
                </a:solidFill>
              </a:defRPr>
            </a:lvl3pPr>
            <a:lvl4pPr lvl="3" algn="r">
              <a:buNone/>
              <a:defRPr sz="1300">
                <a:solidFill>
                  <a:srgbClr val="F8F9FA"/>
                </a:solidFill>
              </a:defRPr>
            </a:lvl4pPr>
            <a:lvl5pPr lvl="4" algn="r">
              <a:buNone/>
              <a:defRPr sz="1300">
                <a:solidFill>
                  <a:srgbClr val="F8F9FA"/>
                </a:solidFill>
              </a:defRPr>
            </a:lvl5pPr>
            <a:lvl6pPr lvl="5" algn="r">
              <a:buNone/>
              <a:defRPr sz="1300">
                <a:solidFill>
                  <a:srgbClr val="F8F9FA"/>
                </a:solidFill>
              </a:defRPr>
            </a:lvl6pPr>
            <a:lvl7pPr lvl="6" algn="r">
              <a:buNone/>
              <a:defRPr sz="1300">
                <a:solidFill>
                  <a:srgbClr val="F8F9FA"/>
                </a:solidFill>
              </a:defRPr>
            </a:lvl7pPr>
            <a:lvl8pPr lvl="7" algn="r">
              <a:buNone/>
              <a:defRPr sz="1300">
                <a:solidFill>
                  <a:srgbClr val="F8F9FA"/>
                </a:solidFill>
              </a:defRPr>
            </a:lvl8pPr>
            <a:lvl9pPr lvl="8" algn="r">
              <a:buNone/>
              <a:defRPr sz="1300">
                <a:solidFill>
                  <a:srgbClr val="F8F9FA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8" name="Google Shape;8;p1"/>
          <p:cNvSpPr txBox="1"/>
          <p:nvPr/>
        </p:nvSpPr>
        <p:spPr>
          <a:xfrm>
            <a:off x="-53411" y="4712600"/>
            <a:ext cx="2476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9FA"/>
                </a:solidFill>
                <a:latin typeface="Lora"/>
                <a:ea typeface="Lora"/>
                <a:cs typeface="Lora"/>
                <a:sym typeface="Lora"/>
              </a:rPr>
              <a:t>高级Python程序设计</a:t>
            </a:r>
            <a:endParaRPr sz="500">
              <a:solidFill>
                <a:srgbClr val="F8F9FA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4.xml"/><Relationship Id="rId5" Type="http://schemas.openxmlformats.org/officeDocument/2006/relationships/hyperlink" Target="https://streamlit.io/components" TargetMode="External"/><Relationship Id="rId4" Type="http://schemas.openxmlformats.org/officeDocument/2006/relationships/hyperlink" Target="https://blog.streamlit.io/" TargetMode="External"/><Relationship Id="rId3" Type="http://schemas.openxmlformats.org/officeDocument/2006/relationships/hyperlink" Target="https://docs.streamlit.io/" TargetMode="Externa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4.xml"/><Relationship Id="rId4" Type="http://schemas.openxmlformats.org/officeDocument/2006/relationships/hyperlink" Target="https://www.geeksforgeeks.org/python/a-beginners-guide-to-streamlit/" TargetMode="External"/><Relationship Id="rId3" Type="http://schemas.openxmlformats.org/officeDocument/2006/relationships/hyperlink" Target="https://ray.so" TargetMode="Externa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496475"/>
            <a:ext cx="8520600" cy="13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1"/>
                </a:solidFill>
                <a:latin typeface="Arial" panose="020B0604020202090204" pitchFamily="34" charset="0"/>
                <a:ea typeface="黑体-简" panose="02000000000000000000" charset="-122"/>
                <a:cs typeface="Georgia" panose="02040502050405090303"/>
                <a:sym typeface="Georgia" panose="02040502050405090303"/>
              </a:rPr>
              <a:t>Python Web Development</a:t>
            </a:r>
            <a:endParaRPr sz="3700">
              <a:solidFill>
                <a:schemeClr val="dk1"/>
              </a:solidFill>
              <a:latin typeface="Arial" panose="020B0604020202090204" pitchFamily="34" charset="0"/>
              <a:ea typeface="黑体-简" panose="02000000000000000000" charset="-122"/>
              <a:cs typeface="Georgia" panose="02040502050405090303"/>
              <a:sym typeface="Georgia" panose="020405020504050903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Arial" panose="020B0604020202090204" pitchFamily="34" charset="0"/>
                <a:ea typeface="黑体-简" panose="02000000000000000000" charset="-122"/>
                <a:cs typeface="Georgia" panose="02040502050405090303"/>
                <a:sym typeface="Georgia" panose="02040502050405090303"/>
              </a:rPr>
              <a:t>Streamlit Framework</a:t>
            </a:r>
            <a:endParaRPr sz="2400">
              <a:solidFill>
                <a:schemeClr val="dk1"/>
              </a:solidFill>
              <a:latin typeface="Arial" panose="020B0604020202090204" pitchFamily="34" charset="0"/>
              <a:ea typeface="黑体-简" panose="02000000000000000000" charset="-122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959025" y="3238175"/>
            <a:ext cx="3369300" cy="11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高级Python程序设计 </a:t>
            </a:r>
            <a:endParaRPr sz="2600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2026 春</a:t>
            </a:r>
            <a:endParaRPr sz="2600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00575" y="141826"/>
            <a:ext cx="2815675" cy="67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282950" y="211487"/>
            <a:ext cx="3175526" cy="53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316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主讲内容</a:t>
            </a:r>
            <a:endParaRPr lang="en-GB"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63" name="Google Shape;63;p14"/>
          <p:cNvSpPr txBox="1"/>
          <p:nvPr>
            <p:ph type="body" idx="1"/>
          </p:nvPr>
        </p:nvSpPr>
        <p:spPr>
          <a:xfrm>
            <a:off x="311700" y="994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</a:rPr>
              <a:t>Streamlit简介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000"/>
              <a:buChar char="●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</a:rPr>
              <a:t>安装和示例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000"/>
              <a:buChar char="●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</a:rPr>
              <a:t>Streamlit基础函数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latin typeface="Arial" panose="020B0604020202090204" pitchFamily="34" charset="0"/>
              <a:ea typeface="黑体-简" panose="02000000000000000000" charset="-122"/>
            </a:endParaRPr>
          </a:p>
        </p:txBody>
      </p:sp>
      <p:sp>
        <p:nvSpPr>
          <p:cNvPr id="64" name="Google Shape;64;p14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510100" y="334350"/>
            <a:ext cx="39918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为什么用Streamlit？</a:t>
            </a:r>
            <a:endParaRPr lang="en-GB"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72450" y="1121175"/>
            <a:ext cx="8399100" cy="3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Streamlit 是一款专为数据科学家设计的演示工具，其最大的优势在于集成了所有一流的 Python 可视化、分析、机器学习和人工智能库：Pandas、Numpy、Matplotlib等其他库/工具。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Streamlit 是免费开源的。Streamlit Cloud 提供便捷的免费托管解决方案，可实现即时部署，无需像发布 Web 应用那样耗时耗力​​。Streamlit 的免费托管平台直接集成了 Git（当项目 GitHub 仓库中的文件提交时，托管的应用会自动更新）。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75" name="Google Shape;75;p15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510100" y="334350"/>
            <a:ext cx="39918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Streamlit简介</a:t>
            </a:r>
            <a:endParaRPr lang="en-GB"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372450" y="1121175"/>
            <a:ext cx="8399100" cy="3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Streamlit 是一个开源的 Python 库，仅需使用 Python 代码即可构建交互式 Web 应用。它非常适合用于创建数据驱动的 Web 应用、报告工具和交互式用户界面，而无需编写 HTML、CSS 或 JavaScript。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90204" pitchFamily="34" charset="0"/>
              <a:buChar char="•"/>
            </a:pP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Streamlit 安装：pip install streamlit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  <a:p>
            <a:pPr marL="342900" lvl="0" indent="-342900" algn="just" rt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84" name="Google Shape;84;p16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510100" y="334350"/>
            <a:ext cx="39918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如何运行Streamlit脚本</a:t>
            </a:r>
            <a:endParaRPr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372450" y="1121175"/>
            <a:ext cx="8399100" cy="3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打开命令行，输入 streamlit run filename.py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90204" pitchFamily="34" charset="0"/>
              <a:buChar char="•"/>
            </a:pP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执行该命令后，Streamlit 会启动一个本地开发服务器，并显示一个 URL（通常是 http://localhost:8501）。在浏览器中打开这个 URL，即可查看和与你的应用进行交互。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93" name="Google Shape;93;p17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510100" y="334350"/>
            <a:ext cx="39918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理解Streamlit基础函数</a:t>
            </a:r>
            <a:endParaRPr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372450" y="1121175"/>
            <a:ext cx="8399100" cy="3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Streamlit 提供了简单易用的内置函数，这些函数可以展示文本、添加组件（控件）、可视化数据以及处理用户输入。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1. title：会在网页上显示一个标题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02" name="Google Shape;102;p18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875750" y="2744820"/>
            <a:ext cx="5084273" cy="141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510100" y="334350"/>
            <a:ext cx="39918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展示文本</a:t>
            </a:r>
            <a:endParaRPr lang="en-GB"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372450" y="1121175"/>
            <a:ext cx="8399100" cy="3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Streamlit 可展示标题、子标题、文本、markdown</a:t>
            </a:r>
            <a:endParaRPr lang="en-GB"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12" name="Google Shape;112;p19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727650" y="1871701"/>
            <a:ext cx="5340948" cy="218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0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/>
        </p:nvSpPr>
        <p:spPr>
          <a:xfrm>
            <a:off x="510100" y="334350"/>
            <a:ext cx="39918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Streamlit消息展示</a:t>
            </a:r>
            <a:endParaRPr lang="en-GB"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372450" y="1121175"/>
            <a:ext cx="8399100" cy="3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在 Streamlit 应用中显示不同类型的消息和提醒。这些函数有助于清晰地向用户传达状态、信息、警告、错误和异常。</a:t>
            </a:r>
            <a:endParaRPr lang="en-GB"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22" name="Google Shape;122;p20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38200" y="2195877"/>
            <a:ext cx="5066977" cy="2325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536773" y="2065725"/>
            <a:ext cx="3170675" cy="26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1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510100" y="334350"/>
            <a:ext cx="39918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展示图片和复选框</a:t>
            </a:r>
            <a:endParaRPr lang="en-GB"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372450" y="1121175"/>
            <a:ext cx="8399100" cy="3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使用 Pillow 库来显示图像。首先通过 Image.open() 打开图像，然后使用 st.image() 显示，其中的 width 参数用于控制图像的尺寸。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选中“显示/隐藏”复选框后，屏幕上会显示一条文本消息。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33" name="Google Shape;133;p21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053450" y="2635950"/>
            <a:ext cx="5189750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510100" y="334350"/>
            <a:ext cx="39918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展示图片和复选框</a:t>
            </a:r>
            <a:endParaRPr lang="en-GB"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42" name="Google Shape;142;p22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64475" y="1084023"/>
            <a:ext cx="7163023" cy="23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198875" y="3548323"/>
            <a:ext cx="311467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811500" y="3310198"/>
            <a:ext cx="3971925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3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510100" y="334350"/>
            <a:ext cx="39918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展示按钮</a:t>
            </a:r>
            <a:endParaRPr lang="en-GB"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372450" y="1121175"/>
            <a:ext cx="8399100" cy="3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单选按钮，st.radio(desc, options)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下拉列表选择：st.selectbox(desc, options)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54" name="Google Shape;154;p23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55" name="Google Shape;155;p2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9375" y="2277587"/>
            <a:ext cx="5746801" cy="225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566863" y="2277575"/>
            <a:ext cx="3453887" cy="22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4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/>
          <p:nvPr/>
        </p:nvSpPr>
        <p:spPr>
          <a:xfrm>
            <a:off x="510100" y="334350"/>
            <a:ext cx="39918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展示按钮</a:t>
            </a:r>
            <a:endParaRPr lang="en-GB"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64" name="Google Shape;164;p24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18975" y="918175"/>
            <a:ext cx="8189727" cy="20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22800" y="2728975"/>
            <a:ext cx="5631300" cy="18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4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245100" y="3454948"/>
            <a:ext cx="5423151" cy="10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5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5"/>
          <p:cNvSpPr txBox="1"/>
          <p:nvPr/>
        </p:nvSpPr>
        <p:spPr>
          <a:xfrm>
            <a:off x="510100" y="334350"/>
            <a:ext cx="39918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展示按钮</a:t>
            </a:r>
            <a:endParaRPr lang="en-GB"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372450" y="1121175"/>
            <a:ext cx="8399100" cy="3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点击按钮可以触发特定操作，例如显示消息或运行函数。</a:t>
            </a:r>
            <a:endParaRPr lang="en-GB"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76" name="Google Shape;176;p25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0" y="1993601"/>
            <a:ext cx="5597624" cy="2293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571150" y="2209763"/>
            <a:ext cx="3200400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6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6"/>
          <p:cNvSpPr txBox="1"/>
          <p:nvPr/>
        </p:nvSpPr>
        <p:spPr>
          <a:xfrm>
            <a:off x="510100" y="334350"/>
            <a:ext cx="39918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文本输入</a:t>
            </a:r>
            <a:endParaRPr lang="en-GB"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372450" y="1121175"/>
            <a:ext cx="8399100" cy="3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文本输入框允许用户输入自定义数据。此示例收集用户的姓名，将其格式化为正确的大小写，并在单击“提交”按钮时显示，从而模拟基本的表单交互。</a:t>
            </a:r>
            <a:endParaRPr lang="en-GB"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87" name="Google Shape;187;p26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88" name="Google Shape;188;p2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3175" y="2571749"/>
            <a:ext cx="5441946" cy="213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535125" y="2231775"/>
            <a:ext cx="3308349" cy="23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7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/>
        </p:nvSpPr>
        <p:spPr>
          <a:xfrm>
            <a:off x="510100" y="334350"/>
            <a:ext cx="39918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更多学习资料</a:t>
            </a:r>
            <a:endParaRPr lang="en-GB" sz="2300" b="1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372450" y="1121175"/>
            <a:ext cx="8399100" cy="3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 u="sng">
                <a:solidFill>
                  <a:schemeClr val="hlink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  <a:hlinkClick r:id="rId3"/>
              </a:rPr>
              <a:t>https://docs.streamlit.io/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 u="sng">
                <a:solidFill>
                  <a:schemeClr val="hlink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  <a:hlinkClick r:id="rId4"/>
              </a:rPr>
              <a:t>https://blog.streamlit.io/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2000"/>
              <a:buFont typeface="Arial" panose="020B0604020202090204" pitchFamily="34" charset="0"/>
              <a:buChar char="•"/>
            </a:pPr>
            <a:r>
              <a:rPr lang="en-GB" sz="2000" u="sng">
                <a:solidFill>
                  <a:schemeClr val="hlink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  <a:hlinkClick r:id="rId5"/>
              </a:rPr>
              <a:t>https://streamlit.io/components</a:t>
            </a:r>
            <a:r>
              <a:rPr lang="en-GB" sz="2000">
                <a:solidFill>
                  <a:srgbClr val="5F5F5F"/>
                </a:solidFill>
                <a:latin typeface="Arial" panose="020B0604020202090204" pitchFamily="34" charset="0"/>
                <a:ea typeface="黑体-简" panose="02000000000000000000" charset="-122"/>
                <a:cs typeface="Lora"/>
                <a:sym typeface="Lora"/>
              </a:rPr>
              <a:t> </a:t>
            </a:r>
            <a:endParaRPr sz="2000">
              <a:solidFill>
                <a:srgbClr val="5F5F5F"/>
              </a:solidFill>
              <a:latin typeface="Arial" panose="020B0604020202090204" pitchFamily="34" charset="0"/>
              <a:ea typeface="黑体-简" panose="02000000000000000000" charset="-122"/>
              <a:cs typeface="Lora"/>
              <a:sym typeface="Lora"/>
            </a:endParaRPr>
          </a:p>
        </p:txBody>
      </p:sp>
      <p:sp>
        <p:nvSpPr>
          <p:cNvPr id="198" name="Google Shape;198;p27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8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6751675" y="141825"/>
            <a:ext cx="2231187" cy="5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445000" y="228513"/>
            <a:ext cx="2140252" cy="35846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8"/>
          <p:cNvSpPr txBox="1"/>
          <p:nvPr/>
        </p:nvSpPr>
        <p:spPr>
          <a:xfrm>
            <a:off x="717700" y="409050"/>
            <a:ext cx="22668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2"/>
                </a:solidFill>
                <a:latin typeface="Arial" panose="020B0604020202090204" pitchFamily="34" charset="0"/>
                <a:ea typeface="黑体-简" panose="02000000000000000000" charset="-122"/>
              </a:rPr>
              <a:t>参考资料</a:t>
            </a:r>
            <a:endParaRPr lang="en-GB" sz="2300">
              <a:solidFill>
                <a:schemeClr val="dk2"/>
              </a:solidFill>
              <a:latin typeface="Arial" panose="020B0604020202090204" pitchFamily="34" charset="0"/>
              <a:ea typeface="黑体-简" panose="02000000000000000000" charset="-122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816200" y="1097975"/>
            <a:ext cx="72096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>
                <a:solidFill>
                  <a:schemeClr val="dk1"/>
                </a:solidFill>
                <a:latin typeface="Arial" panose="020B0604020202090204" pitchFamily="34" charset="0"/>
                <a:ea typeface="黑体-简" panose="02000000000000000000" charset="-122"/>
              </a:rPr>
              <a:t>代码截图制作：Ray.so (</a:t>
            </a:r>
            <a:r>
              <a:rPr lang="en-GB" sz="2000" u="sng">
                <a:solidFill>
                  <a:schemeClr val="hlink"/>
                </a:solidFill>
                <a:latin typeface="Arial" panose="020B0604020202090204" pitchFamily="34" charset="0"/>
                <a:ea typeface="黑体-简" panose="02000000000000000000" charset="-122"/>
                <a:hlinkClick r:id="rId3"/>
              </a:rPr>
              <a:t>https://ray.so</a:t>
            </a:r>
            <a:r>
              <a:rPr lang="en-GB" sz="2000">
                <a:solidFill>
                  <a:schemeClr val="dk1"/>
                </a:solidFill>
                <a:latin typeface="Arial" panose="020B0604020202090204" pitchFamily="34" charset="0"/>
                <a:ea typeface="黑体-简" panose="02000000000000000000" charset="-122"/>
              </a:rPr>
              <a:t>)</a:t>
            </a:r>
            <a:endParaRPr sz="2000">
              <a:solidFill>
                <a:schemeClr val="dk1"/>
              </a:solidFill>
              <a:latin typeface="Arial" panose="020B0604020202090204" pitchFamily="34" charset="0"/>
              <a:ea typeface="黑体-简" panose="02000000000000000000" charset="-122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 u="sng">
                <a:solidFill>
                  <a:schemeClr val="hlink"/>
                </a:solidFill>
                <a:latin typeface="Arial" panose="020B0604020202090204" pitchFamily="34" charset="0"/>
                <a:ea typeface="黑体-简" panose="02000000000000000000" charset="-122"/>
                <a:hlinkClick r:id="rId4"/>
              </a:rPr>
              <a:t>https://www.geeksforgeeks.org/python/a-beginners-guide-to-streamlit/</a:t>
            </a:r>
            <a:r>
              <a:rPr lang="en-GB" sz="2000">
                <a:solidFill>
                  <a:schemeClr val="dk1"/>
                </a:solidFill>
                <a:latin typeface="Arial" panose="020B0604020202090204" pitchFamily="34" charset="0"/>
                <a:ea typeface="黑体-简" panose="02000000000000000000" charset="-122"/>
              </a:rPr>
              <a:t> </a:t>
            </a:r>
            <a:endParaRPr sz="2000">
              <a:solidFill>
                <a:schemeClr val="dk1"/>
              </a:solidFill>
              <a:latin typeface="Arial" panose="020B0604020202090204" pitchFamily="34" charset="0"/>
              <a:ea typeface="黑体-简" panose="02000000000000000000" charset="-122"/>
            </a:endParaRPr>
          </a:p>
        </p:txBody>
      </p:sp>
      <p:sp>
        <p:nvSpPr>
          <p:cNvPr id="207" name="Google Shape;207;p28"/>
          <p:cNvSpPr txBox="1"/>
          <p:nvPr>
            <p:ph type="sldNum" idx="12"/>
          </p:nvPr>
        </p:nvSpPr>
        <p:spPr>
          <a:xfrm>
            <a:off x="8361348" y="4749888"/>
            <a:ext cx="659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 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plate 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1352</Words>
  <Application>WPS 表格</Application>
  <PresentationFormat/>
  <Paragraphs>107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Arial</vt:lpstr>
      <vt:lpstr>Lora</vt:lpstr>
      <vt:lpstr>Georgia</vt:lpstr>
      <vt:lpstr>Roboto Mono</vt:lpstr>
      <vt:lpstr>宋体</vt:lpstr>
      <vt:lpstr>汉仪书宋二KW</vt:lpstr>
      <vt:lpstr>微软雅黑</vt:lpstr>
      <vt:lpstr>汉仪旗黑</vt:lpstr>
      <vt:lpstr>Arial Unicode MS</vt:lpstr>
      <vt:lpstr>黑体-简</vt:lpstr>
      <vt:lpstr>template 1</vt:lpstr>
      <vt:lpstr>1_template 1</vt:lpstr>
      <vt:lpstr>Streamlit Framework</vt:lpstr>
      <vt:lpstr>主讲内容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Web DevelopmentStreamlit Framework</dc:title>
  <dc:creator/>
  <cp:lastModifiedBy>晃晃</cp:lastModifiedBy>
  <cp:revision>12</cp:revision>
  <dcterms:created xsi:type="dcterms:W3CDTF">2026-05-11T04:36:04Z</dcterms:created>
  <dcterms:modified xsi:type="dcterms:W3CDTF">2026-05-11T04:36:04Z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A9BD7301FD896602585C016AAE0D688C_42</vt:lpwstr>
  </property>
  <property fmtid="{D5CDD505-2E9C-101B-9397-08002B2CF9AE}" pid="3" name="KSOProductBuildVer">
    <vt:lpwstr>2052-6.7.1.8828</vt:lpwstr>
  </property>
</Properties>
</file>