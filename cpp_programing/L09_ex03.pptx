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1"/>
  </p:sldMasterIdLst>
  <p:notesMasterIdLst>
    <p:notesMasterId r:id="rId70"/>
  </p:notesMasterIdLst>
  <p:handoutMasterIdLst>
    <p:handoutMasterId r:id="rId71"/>
  </p:handoutMasterIdLst>
  <p:sldIdLst>
    <p:sldId id="1092" r:id="rId2"/>
    <p:sldId id="1221" r:id="rId3"/>
    <p:sldId id="1222" r:id="rId4"/>
    <p:sldId id="673" r:id="rId5"/>
    <p:sldId id="675" r:id="rId6"/>
    <p:sldId id="713" r:id="rId7"/>
    <p:sldId id="677" r:id="rId8"/>
    <p:sldId id="1134" r:id="rId9"/>
    <p:sldId id="1135" r:id="rId10"/>
    <p:sldId id="1136" r:id="rId11"/>
    <p:sldId id="1217" r:id="rId12"/>
    <p:sldId id="1174" r:id="rId13"/>
    <p:sldId id="1183" r:id="rId14"/>
    <p:sldId id="1184" r:id="rId15"/>
    <p:sldId id="1185" r:id="rId16"/>
    <p:sldId id="1186" r:id="rId17"/>
    <p:sldId id="1187" r:id="rId18"/>
    <p:sldId id="1188" r:id="rId19"/>
    <p:sldId id="1189" r:id="rId20"/>
    <p:sldId id="1198" r:id="rId21"/>
    <p:sldId id="1190" r:id="rId22"/>
    <p:sldId id="1201" r:id="rId23"/>
    <p:sldId id="1202" r:id="rId24"/>
    <p:sldId id="1191" r:id="rId25"/>
    <p:sldId id="1192" r:id="rId26"/>
    <p:sldId id="1193" r:id="rId27"/>
    <p:sldId id="1194" r:id="rId28"/>
    <p:sldId id="1195" r:id="rId29"/>
    <p:sldId id="1196" r:id="rId30"/>
    <p:sldId id="1197" r:id="rId31"/>
    <p:sldId id="1204" r:id="rId32"/>
    <p:sldId id="1113" r:id="rId33"/>
    <p:sldId id="1114" r:id="rId34"/>
    <p:sldId id="1115" r:id="rId35"/>
    <p:sldId id="1116" r:id="rId36"/>
    <p:sldId id="1117" r:id="rId37"/>
    <p:sldId id="1118" r:id="rId38"/>
    <p:sldId id="1205" r:id="rId39"/>
    <p:sldId id="1206" r:id="rId40"/>
    <p:sldId id="1207" r:id="rId41"/>
    <p:sldId id="1208" r:id="rId42"/>
    <p:sldId id="1209" r:id="rId43"/>
    <p:sldId id="1210" r:id="rId44"/>
    <p:sldId id="1211" r:id="rId45"/>
    <p:sldId id="1212" r:id="rId46"/>
    <p:sldId id="1213" r:id="rId47"/>
    <p:sldId id="1214" r:id="rId48"/>
    <p:sldId id="1215" r:id="rId49"/>
    <p:sldId id="1130" r:id="rId50"/>
    <p:sldId id="1131" r:id="rId51"/>
    <p:sldId id="1216" r:id="rId52"/>
    <p:sldId id="1219" r:id="rId53"/>
    <p:sldId id="1203" r:id="rId54"/>
    <p:sldId id="1138" r:id="rId55"/>
    <p:sldId id="1139" r:id="rId56"/>
    <p:sldId id="1132" r:id="rId57"/>
    <p:sldId id="1140" r:id="rId58"/>
    <p:sldId id="1133" r:id="rId59"/>
    <p:sldId id="1141" r:id="rId60"/>
    <p:sldId id="1142" r:id="rId61"/>
    <p:sldId id="1143" r:id="rId62"/>
    <p:sldId id="1144" r:id="rId63"/>
    <p:sldId id="1145" r:id="rId64"/>
    <p:sldId id="1146" r:id="rId65"/>
    <p:sldId id="1220" r:id="rId66"/>
    <p:sldId id="1147" r:id="rId67"/>
    <p:sldId id="1218" r:id="rId68"/>
    <p:sldId id="1199" r:id="rId6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8" autoAdjust="0"/>
    <p:restoredTop sz="81552" autoAdjust="0"/>
  </p:normalViewPr>
  <p:slideViewPr>
    <p:cSldViewPr snapToGrid="0">
      <p:cViewPr varScale="1">
        <p:scale>
          <a:sx n="78" d="100"/>
          <a:sy n="78" d="100"/>
        </p:scale>
        <p:origin x="1497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32C656-B4F5-496D-8363-88252277A6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DD45AE-3D94-4FB0-AA1E-B100A0A7EC6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71C8D-3D58-472B-A2FE-61A2020D09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A5F050-4848-4F76-95CF-FC4B8004A1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12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3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10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594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48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9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94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4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7F2607A3-F1BE-4A25-B299-97AFEB1FFB62}"/>
              </a:ext>
            </a:extLst>
          </p:cNvPr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9AF04BF-0727-495F-A094-608DA21B68DA}"/>
              </a:ext>
            </a:extLst>
          </p:cNvPr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4515F67-C18F-4CB9-B75C-1ECF0FA29872}"/>
              </a:ext>
            </a:extLst>
          </p:cNvPr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>
            <a:extLst>
              <a:ext uri="{FF2B5EF4-FFF2-40B4-BE49-F238E27FC236}">
                <a16:creationId xmlns:a16="http://schemas.microsoft.com/office/drawing/2014/main" id="{02941345-94C4-47EE-8B6E-05F86F564B00}"/>
              </a:ext>
            </a:extLst>
          </p:cNvPr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098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395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30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800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834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700" indent="-342900">
              <a:buFont typeface="Wingdings" panose="05000000000000000000" pitchFamily="2" charset="2"/>
              <a:buChar char="§"/>
              <a:defRPr sz="2000"/>
            </a:lvl2pPr>
            <a:lvl3pPr marL="1198350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64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00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911216-E732-4C6D-8C7E-F389B9C2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0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617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07111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9AFFAC0-5E2A-4A96-AA84-E25CC85647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>
            <a:extLst>
              <a:ext uri="{FF2B5EF4-FFF2-40B4-BE49-F238E27FC236}">
                <a16:creationId xmlns:a16="http://schemas.microsoft.com/office/drawing/2014/main" id="{74B02844-8C02-465F-B7DB-AB02B28F9A23}"/>
              </a:ext>
            </a:extLst>
          </p:cNvPr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363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609828-BCC3-4A72-91C7-FC94E006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7969050" cy="4570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4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134B0723-877F-4CEB-B3F0-9557CA8C7B76}"/>
              </a:ext>
            </a:extLst>
          </p:cNvPr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AC5154D5-11EE-423D-9CB9-FE44E555273A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 cap="rnd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2EFB004E-FFA4-4999-88DD-E0F997AEE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D064A42-05FC-484D-98E8-9F09568243FA}" type="datetime1">
              <a:rPr lang="en-US" altLang="zh-CN" smtClean="0"/>
              <a:t>11/11/2025</a:t>
            </a:fld>
            <a:endParaRPr lang="zh-CN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D099190-8FB3-415D-AF42-45E5EC4D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35DA594-928A-4B93-BFF1-D1D998117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8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68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802" r:id="rId11"/>
    <p:sldLayoutId id="214748380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0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4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reference/cstdlib/itoa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>
            <a:extLst>
              <a:ext uri="{FF2B5EF4-FFF2-40B4-BE49-F238E27FC236}">
                <a16:creationId xmlns:a16="http://schemas.microsoft.com/office/drawing/2014/main" id="{23152DE5-977F-4BB9-82A6-4228C3DCD2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873" y="4852219"/>
            <a:ext cx="5429250" cy="44954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授课教师：孙 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6DE7729-5D2F-46D3-930B-9C449DB6BB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8873" y="1773237"/>
            <a:ext cx="7875127" cy="1655763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习题课</a:t>
            </a:r>
            <a:r>
              <a:rPr lang="en-US" altLang="zh-CN" sz="4800" dirty="0"/>
              <a:t>03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34494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35A92-5F2C-4F82-8FCB-C8257DD9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质因数分解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62F11-B383-4375-8131-373CA15D0C23}"/>
              </a:ext>
            </a:extLst>
          </p:cNvPr>
          <p:cNvSpPr/>
          <p:nvPr/>
        </p:nvSpPr>
        <p:spPr>
          <a:xfrm>
            <a:off x="555585" y="1409242"/>
            <a:ext cx="834534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39370"/>
            <a:r>
              <a:rPr lang="zh-CN" altLang="en-US" sz="1600" dirty="0">
                <a:latin typeface="Open Sans"/>
              </a:rPr>
              <a:t>给定一个整数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，请给出它的质因数分解。</a:t>
            </a:r>
          </a:p>
          <a:p>
            <a:pPr marL="266700" indent="39370"/>
            <a:r>
              <a:rPr lang="zh-CN" altLang="en-US" sz="1600" dirty="0">
                <a:latin typeface="Open Sans"/>
              </a:rPr>
              <a:t>如</a:t>
            </a:r>
            <a:r>
              <a:rPr lang="en-US" altLang="zh-CN" sz="1600" dirty="0">
                <a:latin typeface="Open Sans"/>
              </a:rPr>
              <a:t>28</a:t>
            </a:r>
            <a:r>
              <a:rPr lang="zh-CN" altLang="en-US" sz="1600" dirty="0">
                <a:latin typeface="Open Sans"/>
              </a:rPr>
              <a:t>可以如下分解：</a:t>
            </a:r>
            <a:r>
              <a:rPr lang="en-US" altLang="zh-CN" sz="1100" dirty="0">
                <a:latin typeface="Open Sans"/>
              </a:rPr>
              <a:t>28=</a:t>
            </a:r>
            <a:r>
              <a:rPr lang="en-US" altLang="zh-CN" sz="1100" i="1" dirty="0">
                <a:latin typeface="Open Sans"/>
              </a:rPr>
              <a:t>2^2×7</a:t>
            </a:r>
            <a:endParaRPr lang="zh-CN" altLang="en-US" sz="1600" dirty="0">
              <a:latin typeface="Open Sans"/>
            </a:endParaRPr>
          </a:p>
          <a:p>
            <a:pPr marL="266700" indent="39370"/>
            <a:r>
              <a:rPr lang="zh-CN" altLang="en-US" sz="1600" dirty="0">
                <a:latin typeface="Open Sans"/>
              </a:rPr>
              <a:t>请你输出的每个质因数以及该质因数的指数。</a:t>
            </a:r>
          </a:p>
          <a:p>
            <a:endParaRPr lang="en-US" altLang="zh-CN" sz="1600" b="1" dirty="0">
              <a:latin typeface="Lato"/>
            </a:endParaRPr>
          </a:p>
          <a:p>
            <a:r>
              <a:rPr lang="zh-CN" altLang="en-US" sz="1600" b="1" dirty="0">
                <a:latin typeface="Lato"/>
              </a:rPr>
              <a:t>输入格式</a:t>
            </a:r>
          </a:p>
          <a:p>
            <a:r>
              <a:rPr lang="zh-CN" altLang="en-US" sz="1600" dirty="0">
                <a:latin typeface="Open Sans"/>
              </a:rPr>
              <a:t>一行，包含一个整数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（</a:t>
            </a:r>
            <a:r>
              <a:rPr lang="en-US" altLang="zh-CN" sz="1600" dirty="0">
                <a:latin typeface="Open Sans"/>
              </a:rPr>
              <a:t>2≤n≤10000</a:t>
            </a:r>
            <a:r>
              <a:rPr lang="zh-CN" altLang="en-US" sz="1600" dirty="0">
                <a:latin typeface="Open Sans"/>
              </a:rPr>
              <a:t>）。</a:t>
            </a:r>
          </a:p>
          <a:p>
            <a:r>
              <a:rPr lang="zh-CN" altLang="en-US" sz="1600" b="1" dirty="0">
                <a:latin typeface="Lato"/>
              </a:rPr>
              <a:t>输出格式</a:t>
            </a:r>
          </a:p>
          <a:p>
            <a:r>
              <a:rPr lang="zh-CN" altLang="en-US" sz="1600" dirty="0">
                <a:latin typeface="Open Sans"/>
              </a:rPr>
              <a:t>若干行，每行输出整数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的一个质因数，以及该质因数的指数，之间用一个冒号：隔开，且按质因数从小到大的顺序输出。</a:t>
            </a:r>
          </a:p>
          <a:p>
            <a:r>
              <a:rPr lang="zh-CN" altLang="en-US" sz="1600" b="1" dirty="0">
                <a:latin typeface="Lato"/>
              </a:rPr>
              <a:t>输入样例</a:t>
            </a:r>
          </a:p>
          <a:p>
            <a:r>
              <a:rPr lang="en-US" altLang="zh-CN" sz="1600" dirty="0">
                <a:latin typeface="Open Sans"/>
              </a:rPr>
              <a:t>28</a:t>
            </a:r>
          </a:p>
          <a:p>
            <a:r>
              <a:rPr lang="zh-CN" altLang="en-US" sz="1600" b="1" dirty="0">
                <a:latin typeface="Lato"/>
              </a:rPr>
              <a:t>输出样例</a:t>
            </a:r>
          </a:p>
          <a:p>
            <a:r>
              <a:rPr lang="en-US" altLang="zh-CN" sz="1600" dirty="0">
                <a:latin typeface="Open Sans"/>
              </a:rPr>
              <a:t>2:2</a:t>
            </a:r>
          </a:p>
          <a:p>
            <a:r>
              <a:rPr lang="en-US" altLang="zh-CN" sz="1600" dirty="0">
                <a:latin typeface="Open Sans"/>
              </a:rPr>
              <a:t>7:1</a:t>
            </a:r>
          </a:p>
          <a:p>
            <a:r>
              <a:rPr lang="zh-CN" altLang="en-US" sz="1600" b="1" dirty="0">
                <a:latin typeface="Lato"/>
              </a:rPr>
              <a:t>特殊提示</a:t>
            </a:r>
          </a:p>
          <a:p>
            <a:r>
              <a:rPr lang="zh-CN" altLang="en-US" sz="1600" dirty="0">
                <a:latin typeface="Open Sans"/>
              </a:rPr>
              <a:t>输入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2 </a:t>
            </a:r>
          </a:p>
          <a:p>
            <a:r>
              <a:rPr lang="zh-CN" altLang="en-US" sz="1600" dirty="0">
                <a:latin typeface="Open Sans"/>
              </a:rPr>
              <a:t>输出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2:1</a:t>
            </a:r>
            <a:endParaRPr lang="en-US" altLang="zh-CN" sz="16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33541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CFC13-7B29-449D-BC39-768FFC47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考点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40FF0-363F-49FD-A566-67CD71F0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6521956" cy="4764163"/>
          </a:xfrm>
        </p:spPr>
        <p:txBody>
          <a:bodyPr/>
          <a:lstStyle/>
          <a:p>
            <a:r>
              <a:rPr lang="zh-CN" altLang="en-US" dirty="0"/>
              <a:t>素数</a:t>
            </a:r>
            <a:endParaRPr lang="en-US" altLang="zh-CN" dirty="0"/>
          </a:p>
          <a:p>
            <a:pPr lvl="1"/>
            <a:r>
              <a:rPr lang="zh-CN" altLang="en-US" dirty="0"/>
              <a:t>可以提前将可能用到的素数保存为数组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15334DE-9203-429F-9490-FC91E64F74A5}"/>
              </a:ext>
            </a:extLst>
          </p:cNvPr>
          <p:cNvGrpSpPr/>
          <p:nvPr/>
        </p:nvGrpSpPr>
        <p:grpSpPr>
          <a:xfrm>
            <a:off x="826953" y="2879215"/>
            <a:ext cx="8054971" cy="3754874"/>
            <a:chOff x="826953" y="2879215"/>
            <a:chExt cx="8054971" cy="375487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D56781-E0F3-4427-B218-042B196624C5}"/>
                </a:ext>
              </a:extLst>
            </p:cNvPr>
            <p:cNvSpPr/>
            <p:nvPr/>
          </p:nvSpPr>
          <p:spPr>
            <a:xfrm>
              <a:off x="826953" y="3059668"/>
              <a:ext cx="33025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方法</a:t>
              </a:r>
              <a:r>
                <a:rPr lang="en-US" altLang="zh-CN" dirty="0"/>
                <a:t>2</a:t>
              </a:r>
              <a:r>
                <a:rPr lang="zh-CN" altLang="en-US" dirty="0"/>
                <a:t>：不用考虑素数，直接求</a:t>
              </a:r>
              <a:endParaRPr lang="en-US" altLang="zh-CN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43E9F8-3E2D-4E78-AF75-E86DC609E16A}"/>
                </a:ext>
              </a:extLst>
            </p:cNvPr>
            <p:cNvSpPr/>
            <p:nvPr/>
          </p:nvSpPr>
          <p:spPr>
            <a:xfrm>
              <a:off x="4309924" y="2879215"/>
              <a:ext cx="4572000" cy="375487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n, k, divisor,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scanf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&amp;n);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(k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k &lt;= n; k++)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while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 n % k ==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++;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n /= k;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&gt;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"%d:%d\n"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k,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9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234" name="Rectangle 2">
            <a:extLst>
              <a:ext uri="{FF2B5EF4-FFF2-40B4-BE49-F238E27FC236}">
                <a16:creationId xmlns:a16="http://schemas.microsoft.com/office/drawing/2014/main" id="{B0EDBCD9-D463-4C8E-B81E-F7BA6BE0C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算法举例：</a:t>
            </a:r>
            <a:r>
              <a:rPr lang="zh-CN" altLang="en-US" sz="3200" dirty="0">
                <a:solidFill>
                  <a:srgbClr val="00B0F0"/>
                </a:solidFill>
              </a:rPr>
              <a:t>筛法</a:t>
            </a:r>
            <a:r>
              <a:rPr lang="zh-CN" altLang="en-US" sz="3200" dirty="0"/>
              <a:t>求素数</a:t>
            </a:r>
          </a:p>
        </p:txBody>
      </p:sp>
      <p:sp>
        <p:nvSpPr>
          <p:cNvPr id="607235" name="Rectangle 3">
            <a:extLst>
              <a:ext uri="{FF2B5EF4-FFF2-40B4-BE49-F238E27FC236}">
                <a16:creationId xmlns:a16="http://schemas.microsoft.com/office/drawing/2014/main" id="{819BBA49-9548-44F4-A936-7B2537368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想象将</a:t>
            </a:r>
            <a:r>
              <a:rPr lang="en-US" altLang="zh-CN" dirty="0"/>
              <a:t>100</a:t>
            </a:r>
            <a:r>
              <a:rPr lang="zh-CN" altLang="en-US" dirty="0"/>
              <a:t>个数看作</a:t>
            </a:r>
            <a:r>
              <a:rPr lang="zh-CN" altLang="en-US" dirty="0">
                <a:solidFill>
                  <a:srgbClr val="00B050"/>
                </a:solidFill>
              </a:rPr>
              <a:t>沙子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C00000"/>
                </a:solidFill>
              </a:rPr>
              <a:t>小石头</a:t>
            </a:r>
            <a:r>
              <a:rPr lang="zh-CN" altLang="en-US" dirty="0">
                <a:solidFill>
                  <a:srgbClr val="002060"/>
                </a:solidFill>
              </a:rPr>
              <a:t>子</a:t>
            </a:r>
            <a:r>
              <a:rPr lang="zh-CN" altLang="en-US" dirty="0"/>
              <a:t>，让小石头子权称素数；让沙子当作非素数。弄一个筛子，只要将沙子筛走，剩下的就是素数了。</a:t>
            </a:r>
          </a:p>
          <a:p>
            <a:r>
              <a:rPr lang="zh-CN" altLang="en-US" dirty="0"/>
              <a:t>非素数一定是 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 …… </a:t>
            </a:r>
            <a:r>
              <a:rPr lang="zh-CN" altLang="en-US" dirty="0"/>
              <a:t>的倍数。</a:t>
            </a:r>
          </a:p>
          <a:p>
            <a:r>
              <a:rPr lang="zh-CN" altLang="en-US" dirty="0"/>
              <a:t>使用数组，数组下标表示</a:t>
            </a:r>
            <a:r>
              <a:rPr lang="en-US" altLang="zh-CN" dirty="0"/>
              <a:t>100</a:t>
            </a:r>
            <a:r>
              <a:rPr lang="zh-CN" altLang="en-US" dirty="0"/>
              <a:t>以内的数字，数组元素的值作为筛去与否的标志。比如筛去以后让元素值为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endParaRPr lang="en-US" altLang="zh-CN" b="1" i="1" dirty="0"/>
          </a:p>
        </p:txBody>
      </p:sp>
    </p:spTree>
    <p:extLst>
      <p:ext uri="{BB962C8B-B14F-4D97-AF65-F5344CB8AC3E}">
        <p14:creationId xmlns:p14="http://schemas.microsoft.com/office/powerpoint/2010/main" val="298526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>
            <a:extLst>
              <a:ext uri="{FF2B5EF4-FFF2-40B4-BE49-F238E27FC236}">
                <a16:creationId xmlns:a16="http://schemas.microsoft.com/office/drawing/2014/main" id="{AA2E8132-DC37-459E-BDF1-5CF3FF38A1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方法的依据</a:t>
            </a:r>
          </a:p>
        </p:txBody>
      </p:sp>
      <p:sp>
        <p:nvSpPr>
          <p:cNvPr id="608259" name="Rectangle 3">
            <a:extLst>
              <a:ext uri="{FF2B5EF4-FFF2-40B4-BE49-F238E27FC236}">
                <a16:creationId xmlns:a16="http://schemas.microsoft.com/office/drawing/2014/main" id="{34A661D0-D90E-4F2E-A7BC-84F7244ACB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100</a:t>
            </a:r>
            <a:r>
              <a:rPr lang="zh-CN" altLang="en-US" dirty="0"/>
              <a:t>这些自然数可以分为三类：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单位数</a:t>
            </a:r>
            <a:r>
              <a:rPr lang="zh-CN" altLang="en-US" dirty="0"/>
              <a:t>：仅有一个数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素数</a:t>
            </a:r>
            <a:r>
              <a:rPr lang="zh-CN" altLang="en-US" dirty="0"/>
              <a:t>：是这样一个数，它大于</a:t>
            </a:r>
            <a:r>
              <a:rPr lang="en-US" altLang="zh-CN" dirty="0"/>
              <a:t>1</a:t>
            </a:r>
            <a:r>
              <a:rPr lang="zh-CN" altLang="en-US" dirty="0"/>
              <a:t>，且只有</a:t>
            </a:r>
            <a:r>
              <a:rPr lang="en-US" altLang="zh-CN" dirty="0"/>
              <a:t>1         </a:t>
            </a:r>
            <a:r>
              <a:rPr lang="zh-CN" altLang="en-US" dirty="0"/>
              <a:t>和它自身这样两个正因数。</a:t>
            </a:r>
          </a:p>
          <a:p>
            <a:pPr lvl="1"/>
            <a:r>
              <a:rPr lang="zh-CN" altLang="en-US" b="1" dirty="0">
                <a:solidFill>
                  <a:srgbClr val="0099FF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合数</a:t>
            </a:r>
            <a:r>
              <a:rPr lang="zh-CN" altLang="en-US" dirty="0"/>
              <a:t>：除了</a:t>
            </a:r>
            <a:r>
              <a:rPr lang="en-US" altLang="zh-CN" dirty="0"/>
              <a:t>1</a:t>
            </a:r>
            <a:r>
              <a:rPr lang="zh-CN" altLang="en-US" dirty="0"/>
              <a:t>和自身以外，还有其他正因数。</a:t>
            </a:r>
          </a:p>
        </p:txBody>
      </p:sp>
      <p:sp>
        <p:nvSpPr>
          <p:cNvPr id="608260" name="Rectangle 4">
            <a:extLst>
              <a:ext uri="{FF2B5EF4-FFF2-40B4-BE49-F238E27FC236}">
                <a16:creationId xmlns:a16="http://schemas.microsoft.com/office/drawing/2014/main" id="{5743B04C-D27E-4682-9477-97AF0743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776788"/>
            <a:ext cx="7705725" cy="102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58825" indent="-282575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589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9780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397125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8543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3115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7687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225925" indent="-228600" fontAlgn="base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kumimoji="1" lang="zh-CN" altLang="en-US" sz="2600" b="1" dirty="0">
                <a:solidFill>
                  <a:srgbClr val="FF33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1不是素数，除1以外的自然数，当然只有素数与合数。筛法实际上是筛去合数，留下素数。</a:t>
            </a:r>
            <a:r>
              <a:rPr kumimoji="1" lang="zh-CN" altLang="en-US" sz="2600" b="1" dirty="0">
                <a:effectLst>
                  <a:outerShdw blurRad="38100" dist="38100" dir="2700000" algn="tl">
                    <a:srgbClr val="010199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8927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8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B9F-CCC0-4A8A-8219-77AD95DA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效率的考虑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6FEE4-791A-4F11-B888-B0896474B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zh-CN" altLang="en-US" dirty="0"/>
                  <a:t>令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为合数，</a:t>
                </a:r>
                <a:r>
                  <a:rPr lang="en-US" altLang="zh-CN" dirty="0"/>
                  <a:t>c(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e>
                    </m:rad>
                  </m:oMath>
                </a14:m>
                <a:r>
                  <a:rPr lang="en-US" altLang="zh-CN" dirty="0"/>
                  <a:t>) </a:t>
                </a:r>
                <a:r>
                  <a:rPr lang="zh-CN" altLang="en-US" dirty="0"/>
                  <a:t>为 </a:t>
                </a:r>
                <a:r>
                  <a:rPr lang="en-US" altLang="zh-CN" dirty="0"/>
                  <a:t>n </a:t>
                </a:r>
                <a:r>
                  <a:rPr lang="zh-CN" altLang="en-US" dirty="0"/>
                  <a:t>的最小正因数</a:t>
                </a:r>
                <a:r>
                  <a:rPr lang="en-US" altLang="zh-CN" dirty="0"/>
                  <a:t>,</a:t>
                </a:r>
                <a:r>
                  <a:rPr lang="zh-CN" altLang="en-US" dirty="0"/>
                  <a:t>只要找到 </a:t>
                </a:r>
                <a:r>
                  <a:rPr lang="en-US" altLang="zh-CN" dirty="0"/>
                  <a:t>c </a:t>
                </a:r>
                <a:r>
                  <a:rPr lang="zh-CN" altLang="en-US" dirty="0"/>
                  <a:t>就可以确认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为合数，将其筛去</a:t>
                </a:r>
                <a:endParaRPr lang="en-US" altLang="zh-CN" dirty="0"/>
              </a:p>
              <a:p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注意：要进行“筛”的1—100的数字是与数组</a:t>
                </a:r>
                <a:r>
                  <a:rPr kumimoji="1" lang="en-US" altLang="zh-CN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prime[101]</a:t>
                </a:r>
                <a:r>
                  <a:rPr kumimoji="1" lang="zh-CN" altLang="en-US" b="1" dirty="0">
                    <a:solidFill>
                      <a:srgbClr val="0099FF"/>
                    </a:solidFill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的下标相对应的，而每个数组元素的取值只有2个：是0或1，分别代表（标志）与下标相对应的数字是素数或不是素数</a:t>
                </a:r>
              </a:p>
              <a:p>
                <a:endParaRPr lang="zh-CN" alt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26FEE4-791A-4F11-B888-B0896474B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90" t="-4662" r="-1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79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1155" name="Object 3">
            <a:extLst>
              <a:ext uri="{FF2B5EF4-FFF2-40B4-BE49-F238E27FC236}">
                <a16:creationId xmlns:a16="http://schemas.microsoft.com/office/drawing/2014/main" id="{6AA9B762-EE20-4A68-A267-9B8C513F64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043702" y="429582"/>
          <a:ext cx="6121400" cy="609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icture" r:id="rId3" imgW="3800520" imgH="4076640" progId="Word.Picture.8">
                  <p:embed/>
                </p:oleObj>
              </mc:Choice>
              <mc:Fallback>
                <p:oleObj name="Picture" r:id="rId3" imgW="3800520" imgH="4076640" progId="Word.Picture.8">
                  <p:embed/>
                  <p:pic>
                    <p:nvPicPr>
                      <p:cNvPr id="561155" name="Object 3">
                        <a:extLst>
                          <a:ext uri="{FF2B5EF4-FFF2-40B4-BE49-F238E27FC236}">
                            <a16:creationId xmlns:a16="http://schemas.microsoft.com/office/drawing/2014/main" id="{6AA9B762-EE20-4A68-A267-9B8C513F64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702" y="429582"/>
                        <a:ext cx="6121400" cy="609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7" name="Text Box 5">
            <a:extLst>
              <a:ext uri="{FF2B5EF4-FFF2-40B4-BE49-F238E27FC236}">
                <a16:creationId xmlns:a16="http://schemas.microsoft.com/office/drawing/2014/main" id="{804B2260-EF93-4040-B6CE-C30089023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15888"/>
            <a:ext cx="28082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3300"/>
                </a:solidFill>
              </a:rPr>
              <a:t>C</a:t>
            </a:r>
            <a:r>
              <a:rPr lang="zh-CN" altLang="en-US">
                <a:solidFill>
                  <a:srgbClr val="FF3300"/>
                </a:solidFill>
              </a:rPr>
              <a:t>是合数，</a:t>
            </a:r>
            <a:r>
              <a:rPr lang="en-US" altLang="zh-CN">
                <a:solidFill>
                  <a:srgbClr val="FF3300"/>
                </a:solidFill>
              </a:rPr>
              <a:t>d</a:t>
            </a:r>
            <a:r>
              <a:rPr lang="zh-CN" altLang="en-US">
                <a:solidFill>
                  <a:srgbClr val="FF3300"/>
                </a:solidFill>
              </a:rPr>
              <a:t>是正因数</a:t>
            </a:r>
          </a:p>
        </p:txBody>
      </p:sp>
      <p:sp>
        <p:nvSpPr>
          <p:cNvPr id="2" name="Rectangle 1"/>
          <p:cNvSpPr/>
          <p:nvPr/>
        </p:nvSpPr>
        <p:spPr>
          <a:xfrm>
            <a:off x="323528" y="168935"/>
            <a:ext cx="1811714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kumimoji="1"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程序框图如下：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E41482D-44BE-4468-BCB7-B8A9E74FF262}"/>
              </a:ext>
            </a:extLst>
          </p:cNvPr>
          <p:cNvSpPr/>
          <p:nvPr/>
        </p:nvSpPr>
        <p:spPr>
          <a:xfrm>
            <a:off x="4117856" y="6564074"/>
            <a:ext cx="3262432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1600" dirty="0">
                <a:solidFill>
                  <a:srgbClr val="C00000"/>
                </a:solidFill>
              </a:rPr>
              <a:t>课后任务：完成筛法求素数的代码</a:t>
            </a:r>
          </a:p>
        </p:txBody>
      </p:sp>
    </p:spTree>
    <p:extLst>
      <p:ext uri="{BB962C8B-B14F-4D97-AF65-F5344CB8AC3E}">
        <p14:creationId xmlns:p14="http://schemas.microsoft.com/office/powerpoint/2010/main" val="343741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1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7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10AE74-036F-4F2A-A3C6-52C75AA45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习题讲解：博饼游戏</a:t>
            </a:r>
            <a:r>
              <a:rPr lang="en-US" altLang="zh-CN" dirty="0"/>
              <a:t>(636)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F6BE55-9AE6-4E1E-9316-C3830012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4103886" cy="4764163"/>
          </a:xfrm>
        </p:spPr>
        <p:txBody>
          <a:bodyPr>
            <a:normAutofit lnSpcReduction="10000"/>
          </a:bodyPr>
          <a:lstStyle/>
          <a:p>
            <a:r>
              <a:rPr lang="zh-CN" altLang="en-US" sz="1400" dirty="0"/>
              <a:t>博饼是闽南地区盛行的中秋传统民俗活动。游戏时，需要</a:t>
            </a:r>
            <a:r>
              <a:rPr lang="en-US" altLang="zh-CN" sz="1400" dirty="0"/>
              <a:t>6</a:t>
            </a:r>
            <a:r>
              <a:rPr lang="zh-CN" altLang="en-US" sz="1400" dirty="0"/>
              <a:t>个骰子和一个大瓷碗。一般会进行多轮投掷，根据每轮投掷的骰子点数特征累计积分。如果某一轮投掷，出现规定特征以外的点数，那么游戏结束，否则继续进行。多轮投掷结束后，根据累计积分判定奖次。具体的点数特征和积分见图。</a:t>
            </a:r>
          </a:p>
          <a:p>
            <a:r>
              <a:rPr lang="zh-CN" altLang="en-US" sz="1400" dirty="0"/>
              <a:t>任务：编写程序，进行博饼游戏的积分统计。</a:t>
            </a:r>
          </a:p>
          <a:p>
            <a:r>
              <a:rPr lang="en-US" altLang="zh-CN" sz="1400" dirty="0"/>
              <a:t>【</a:t>
            </a:r>
            <a:r>
              <a:rPr lang="zh-CN" altLang="en-US" sz="1400" dirty="0"/>
              <a:t>输入格式</a:t>
            </a:r>
            <a:r>
              <a:rPr lang="en-US" altLang="zh-CN" sz="1400" dirty="0"/>
              <a:t>】</a:t>
            </a:r>
            <a:r>
              <a:rPr lang="zh-CN" altLang="en-US" sz="1400" dirty="0"/>
              <a:t>第一行是一个正整数</a:t>
            </a:r>
            <a:r>
              <a:rPr lang="en-US" altLang="zh-CN" sz="1400" dirty="0"/>
              <a:t>n(1 ≤ n &lt; 256)</a:t>
            </a:r>
            <a:r>
              <a:rPr lang="zh-CN" altLang="en-US" sz="1400" dirty="0"/>
              <a:t>，代表最多进行</a:t>
            </a:r>
            <a:r>
              <a:rPr lang="en-US" altLang="zh-CN" sz="1400" dirty="0"/>
              <a:t>n</a:t>
            </a:r>
            <a:r>
              <a:rPr lang="zh-CN" altLang="en-US" sz="1400" dirty="0"/>
              <a:t>轮投掷；往后至多</a:t>
            </a:r>
            <a:r>
              <a:rPr lang="en-US" altLang="zh-CN" sz="1400" dirty="0"/>
              <a:t>n</a:t>
            </a:r>
            <a:r>
              <a:rPr lang="zh-CN" altLang="en-US" sz="1400" dirty="0"/>
              <a:t>行，每行</a:t>
            </a:r>
            <a:r>
              <a:rPr lang="en-US" altLang="zh-CN" sz="1400" dirty="0"/>
              <a:t>6</a:t>
            </a:r>
            <a:r>
              <a:rPr lang="zh-CN" altLang="en-US" sz="1400" dirty="0"/>
              <a:t>个正整数，代表每个骰子的点数</a:t>
            </a:r>
          </a:p>
          <a:p>
            <a:r>
              <a:rPr lang="en-US" altLang="zh-CN" sz="1400" dirty="0"/>
              <a:t>【</a:t>
            </a:r>
            <a:r>
              <a:rPr lang="zh-CN" altLang="en-US" sz="1400" dirty="0"/>
              <a:t>输出格式</a:t>
            </a:r>
            <a:r>
              <a:rPr lang="en-US" altLang="zh-CN" sz="1400" dirty="0"/>
              <a:t>】</a:t>
            </a:r>
            <a:r>
              <a:rPr lang="zh-CN" altLang="en-US" sz="1400" dirty="0"/>
              <a:t>一个正整数，代表最终累计分（十六进制格式输出，字母小写）</a:t>
            </a:r>
            <a:br>
              <a:rPr lang="zh-CN" altLang="en-US" sz="1400" dirty="0"/>
            </a:b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【</a:t>
            </a:r>
            <a:r>
              <a:rPr lang="zh-CN" altLang="en-US" sz="1400" dirty="0"/>
              <a:t>输入样例</a:t>
            </a:r>
            <a:r>
              <a:rPr lang="en-US" altLang="zh-CN" sz="1400" dirty="0"/>
              <a:t>】</a:t>
            </a:r>
          </a:p>
          <a:p>
            <a:pPr marL="0" indent="0">
              <a:buNone/>
            </a:pPr>
            <a:r>
              <a:rPr lang="en-US" altLang="zh-CN" sz="1400" dirty="0"/>
              <a:t>6</a:t>
            </a:r>
          </a:p>
          <a:p>
            <a:pPr marL="0" indent="0">
              <a:buNone/>
            </a:pPr>
            <a:r>
              <a:rPr lang="en-US" altLang="zh-CN" sz="1400" dirty="0"/>
              <a:t>4 1 4 4 5 4</a:t>
            </a:r>
          </a:p>
          <a:p>
            <a:pPr marL="0" indent="0">
              <a:buNone/>
            </a:pPr>
            <a:r>
              <a:rPr lang="en-US" altLang="zh-CN" sz="1400" dirty="0"/>
              <a:t>5 5 5 6 6 6</a:t>
            </a:r>
            <a:endParaRPr 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E8F53F-A838-4E6E-90C7-9ED93B95D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35837"/>
            <a:ext cx="4103886" cy="4423228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F640C78-A566-420E-B181-FC763F69D062}"/>
              </a:ext>
            </a:extLst>
          </p:cNvPr>
          <p:cNvSpPr/>
          <p:nvPr/>
        </p:nvSpPr>
        <p:spPr>
          <a:xfrm>
            <a:off x="2060294" y="4710896"/>
            <a:ext cx="23496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+mj-ea"/>
                <a:ea typeface="+mj-ea"/>
              </a:rPr>
              <a:t>【</a:t>
            </a:r>
            <a:r>
              <a:rPr lang="zh-CN" altLang="en-US" sz="1400" dirty="0">
                <a:latin typeface="+mj-ea"/>
                <a:ea typeface="+mj-ea"/>
              </a:rPr>
              <a:t>输出样例</a:t>
            </a:r>
            <a:r>
              <a:rPr lang="en-US" altLang="zh-CN" sz="1400" dirty="0">
                <a:latin typeface="+mj-ea"/>
                <a:ea typeface="+mj-ea"/>
              </a:rPr>
              <a:t>】</a:t>
            </a:r>
          </a:p>
          <a:p>
            <a:r>
              <a:rPr lang="en-US" altLang="zh-CN" sz="1200" dirty="0">
                <a:latin typeface="Open Sans"/>
              </a:rPr>
              <a:t>20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52219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1B94C-A98D-4414-BCEC-B81A434EF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CF047-C529-4B7F-9040-3F0FFD24D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本质：分情况讨论</a:t>
            </a:r>
            <a:endParaRPr lang="en-US" altLang="zh-CN" dirty="0"/>
          </a:p>
          <a:p>
            <a:endParaRPr lang="en-US" dirty="0"/>
          </a:p>
          <a:p>
            <a:endParaRPr lang="en-US" altLang="zh-CN" dirty="0"/>
          </a:p>
          <a:p>
            <a:r>
              <a:rPr lang="zh-CN" altLang="en-US" dirty="0"/>
              <a:t>实现难度高</a:t>
            </a:r>
            <a:endParaRPr lang="en-US" altLang="zh-CN" dirty="0"/>
          </a:p>
          <a:p>
            <a:pPr lvl="1"/>
            <a:r>
              <a:rPr lang="zh-CN" altLang="en-US" sz="1600" dirty="0"/>
              <a:t>如何简化？</a:t>
            </a:r>
            <a:endParaRPr lang="en-US" altLang="zh-CN" sz="1600" dirty="0"/>
          </a:p>
          <a:p>
            <a:pPr lvl="1"/>
            <a:r>
              <a:rPr lang="zh-CN" altLang="en-US" sz="1600" dirty="0"/>
              <a:t>有没有做过类似的题目？</a:t>
            </a:r>
            <a:endParaRPr 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59D7F1-40EF-42FD-A5DF-2B00C959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055" y="835228"/>
            <a:ext cx="5334140" cy="5464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8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701D54-98A4-4B14-8609-950FC142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55BE15-62BE-490C-ADC4-9F03F5CCD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55044E-EFED-4E43-8592-DE87FC71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467" y="1009312"/>
            <a:ext cx="4086795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935BFE-696F-40D5-B6C4-75045EC5D7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期中模拟测试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859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450BC3F-8C70-4556-9C1E-4A43D202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14AF23-7A98-47E5-955C-ABC5474DE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双</a:t>
            </a:r>
            <a:r>
              <a:rPr lang="en-US" altLang="zh-CN" dirty="0"/>
              <a:t>11</a:t>
            </a:r>
            <a:r>
              <a:rPr lang="zh-CN" altLang="en-US" dirty="0"/>
              <a:t>购物</a:t>
            </a:r>
            <a:endParaRPr lang="en-US" altLang="zh-CN" dirty="0"/>
          </a:p>
          <a:p>
            <a:r>
              <a:rPr lang="zh-CN" altLang="en-US" dirty="0"/>
              <a:t>数学游戏</a:t>
            </a:r>
            <a:endParaRPr lang="en-US" altLang="zh-CN" dirty="0"/>
          </a:p>
          <a:p>
            <a:r>
              <a:rPr lang="zh-CN" altLang="en-US" dirty="0"/>
              <a:t>上升序列</a:t>
            </a:r>
            <a:endParaRPr lang="en-US" altLang="zh-CN" dirty="0"/>
          </a:p>
          <a:p>
            <a:r>
              <a:rPr lang="zh-CN" altLang="en-US" dirty="0"/>
              <a:t>矩阵元素</a:t>
            </a:r>
            <a:r>
              <a:rPr lang="en-US" altLang="zh-CN" dirty="0"/>
              <a:t>X</a:t>
            </a:r>
            <a:r>
              <a:rPr lang="zh-CN" altLang="en-US" dirty="0"/>
              <a:t>近邻</a:t>
            </a:r>
            <a:endParaRPr lang="en-US" altLang="zh-CN" dirty="0"/>
          </a:p>
          <a:p>
            <a:r>
              <a:rPr lang="zh-CN" altLang="en-US" dirty="0"/>
              <a:t>空间位置搜索</a:t>
            </a:r>
            <a:endParaRPr lang="en-US" altLang="zh-CN" dirty="0"/>
          </a:p>
          <a:p>
            <a:r>
              <a:rPr lang="zh-CN" altLang="en-US" dirty="0"/>
              <a:t>碱基串排序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998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7D026-8F85-41AA-8F76-A8EFD7AA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</a:t>
            </a:r>
            <a:r>
              <a:rPr lang="en-US" altLang="zh-CN" dirty="0"/>
              <a:t>11</a:t>
            </a:r>
            <a:r>
              <a:rPr lang="zh-CN" altLang="en-US" dirty="0"/>
              <a:t>购物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305A7C-CEEF-45DF-A3F8-127A03033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直接模拟即可。分以下四类：</a:t>
            </a:r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不打折；</a:t>
            </a:r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打⼋折；</a:t>
            </a:r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打七折；</a:t>
            </a:r>
          </a:p>
          <a:p>
            <a:pPr lvl="1"/>
            <a:r>
              <a:rPr lang="en-US" altLang="zh-CN" dirty="0"/>
              <a:t>4. </a:t>
            </a:r>
            <a:r>
              <a:rPr lang="zh-CN" altLang="en-US" dirty="0"/>
              <a:t>价格提升； </a:t>
            </a:r>
            <a:br>
              <a:rPr lang="zh-CN" altLang="en-US" dirty="0"/>
            </a:br>
            <a:endParaRPr lang="en-US" altLang="zh-CN" dirty="0"/>
          </a:p>
          <a:p>
            <a:pPr lvl="1"/>
            <a:r>
              <a:rPr lang="zh-CN" altLang="en-US" dirty="0"/>
              <a:t>注意</a:t>
            </a:r>
            <a:r>
              <a:rPr lang="en-US" altLang="zh-CN" dirty="0"/>
              <a:t>: </a:t>
            </a:r>
            <a:r>
              <a:rPr lang="zh-CN" altLang="en-US" dirty="0"/>
              <a:t>输出时要保留两位⼩数（否则会得到 </a:t>
            </a:r>
            <a:r>
              <a:rPr lang="en-US" altLang="zh-CN" dirty="0"/>
              <a:t>0 </a:t>
            </a:r>
            <a:r>
              <a:rPr lang="zh-CN" altLang="en-US" dirty="0"/>
              <a:t>分） </a:t>
            </a:r>
            <a:br>
              <a:rPr lang="zh-CN" altLang="en-US" dirty="0"/>
            </a:b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F21C0F-D90F-452B-AB42-C3BCE98A7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143" y="720324"/>
            <a:ext cx="5614632" cy="189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53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AC025-9012-4D7A-A4CB-46EFE1DC3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9D7BF4-D6EC-47EF-9FDE-12840F20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19" y="1436446"/>
            <a:ext cx="6423907" cy="508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57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87316A-6F5F-4534-95B3-4A146B31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数学游戏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8152AC-3A5E-4094-9A29-E758D8B41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76" y="1481453"/>
            <a:ext cx="7704165" cy="26775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C5158C-0C43-4D25-993A-4D53D7BBF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76" y="4159045"/>
            <a:ext cx="2248172" cy="14895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9D10CCD-46CF-414E-90AD-182D63E02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8" y="5376547"/>
            <a:ext cx="3270437" cy="9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81C5B-8DD9-464E-A2D3-6EB5272C0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208C94-4B85-4D92-AB3F-B6C4A8596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求多项式的值 </a:t>
            </a:r>
            <a:endParaRPr lang="en-US" altLang="zh-CN" dirty="0"/>
          </a:p>
          <a:p>
            <a:pPr lvl="1"/>
            <a:r>
              <a:rPr lang="zh-CN" altLang="en-US" dirty="0"/>
              <a:t>直接计算即可。注意四次项 </a:t>
            </a:r>
            <a:r>
              <a:rPr lang="en-US" dirty="0"/>
              <a:t>ax</a:t>
            </a:r>
            <a:r>
              <a:rPr lang="en-US" baseline="30000" dirty="0"/>
              <a:t>4</a:t>
            </a:r>
            <a:r>
              <a:rPr lang="en-US" dirty="0"/>
              <a:t> ≤ 10</a:t>
            </a:r>
            <a:r>
              <a:rPr lang="en-US" baseline="30000" dirty="0"/>
              <a:t>10 </a:t>
            </a:r>
            <a:r>
              <a:rPr lang="zh-CN" altLang="en-US" dirty="0"/>
              <a:t>会导致 </a:t>
            </a:r>
            <a:r>
              <a:rPr lang="en-US" dirty="0"/>
              <a:t>int </a:t>
            </a:r>
            <a:r>
              <a:rPr lang="zh-CN" altLang="en-US" dirty="0"/>
              <a:t>类型溢出，应当使⽤ </a:t>
            </a:r>
            <a:r>
              <a:rPr lang="en-US" dirty="0"/>
              <a:t>long </a:t>
            </a:r>
            <a:r>
              <a:rPr lang="en-US" dirty="0" err="1"/>
              <a:t>long</a:t>
            </a:r>
            <a:r>
              <a:rPr lang="en-US" dirty="0"/>
              <a:t> 。 </a:t>
            </a:r>
            <a:br>
              <a:rPr lang="en-US" dirty="0"/>
            </a:br>
            <a:endParaRPr lang="en-US" altLang="zh-CN" dirty="0"/>
          </a:p>
          <a:p>
            <a:r>
              <a:rPr lang="zh-CN" altLang="en-US" dirty="0"/>
              <a:t>累计得分</a:t>
            </a:r>
            <a:endParaRPr lang="en-US" altLang="zh-CN" dirty="0"/>
          </a:p>
          <a:p>
            <a:pPr lvl="1"/>
            <a:r>
              <a:rPr lang="zh-CN" altLang="en-US" dirty="0"/>
              <a:t>额外⽤⼀个变量记录连续正确次数。如果本次回答正确，且连续正确次数 </a:t>
            </a:r>
            <a:r>
              <a:rPr lang="en-US" altLang="zh-CN" dirty="0"/>
              <a:t>&gt; k</a:t>
            </a:r>
            <a:r>
              <a:rPr lang="zh-CN" altLang="en-US" dirty="0"/>
              <a:t>，则让分数加上对应值；反之清空连续正确次数。 </a:t>
            </a:r>
            <a:br>
              <a:rPr lang="zh-CN" altLang="en-US" dirty="0"/>
            </a:br>
            <a:br>
              <a:rPr lang="zh-CN" alt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246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8CD724-687C-4BFE-8761-7871188F5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F93FF6-36A3-4AF3-90DC-692E38FE91E2}"/>
              </a:ext>
            </a:extLst>
          </p:cNvPr>
          <p:cNvGrpSpPr/>
          <p:nvPr/>
        </p:nvGrpSpPr>
        <p:grpSpPr>
          <a:xfrm>
            <a:off x="3065484" y="193874"/>
            <a:ext cx="4370395" cy="6664126"/>
            <a:chOff x="3994632" y="0"/>
            <a:chExt cx="4370395" cy="666412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C15683F-38B7-4A08-B26C-7C565326D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94632" y="0"/>
              <a:ext cx="4370395" cy="6426000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13A882A-33AD-46CB-A1BF-267C419C6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94632" y="6397389"/>
              <a:ext cx="333422" cy="2667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0073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C4C9D2-224E-48CD-B482-C3DE084A1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上升序列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FD27F0-F46A-4FEC-8B6B-1B9F849FF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654918"/>
            <a:ext cx="8062259" cy="266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60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10BC42-CBDE-4658-81A0-E6180D773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考点</a:t>
            </a:r>
            <a:r>
              <a:rPr lang="en-US" altLang="zh-CN" dirty="0"/>
              <a:t>&amp;</a:t>
            </a:r>
            <a:r>
              <a:rPr lang="zh-CN" altLang="en-US" dirty="0"/>
              <a:t>解题思路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8BF282-59BB-4CD8-A066-E7669632B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一维数组</a:t>
            </a:r>
            <a:endParaRPr lang="en-US" altLang="zh-CN" dirty="0"/>
          </a:p>
          <a:p>
            <a:r>
              <a:rPr lang="zh-CN" altLang="en-US" dirty="0"/>
              <a:t>思路：</a:t>
            </a:r>
            <a:endParaRPr lang="en-US" altLang="zh-CN" dirty="0"/>
          </a:p>
          <a:p>
            <a:pPr lvl="1"/>
            <a:r>
              <a:rPr lang="zh-CN" altLang="en-US" dirty="0"/>
              <a:t>遍历 </a:t>
            </a:r>
            <a:r>
              <a:rPr lang="en-US" altLang="zh-CN" dirty="0"/>
              <a:t>a2, a3, ⋯ , an</a:t>
            </a:r>
            <a:r>
              <a:rPr lang="zh-CN" altLang="en-US" dirty="0"/>
              <a:t>：</a:t>
            </a:r>
          </a:p>
          <a:p>
            <a:pPr lvl="2"/>
            <a:r>
              <a:rPr lang="zh-CN" altLang="en-US" dirty="0"/>
              <a:t>如果当前的数⼤于前⼀个数，则继续；</a:t>
            </a:r>
          </a:p>
          <a:p>
            <a:pPr lvl="2"/>
            <a:r>
              <a:rPr lang="zh-CN" altLang="en-US" dirty="0"/>
              <a:t>反之，代表原序列不是严格递增的。直接输出 </a:t>
            </a:r>
            <a:r>
              <a:rPr lang="en-US" altLang="zh-CN" dirty="0"/>
              <a:t>a1 </a:t>
            </a:r>
            <a:r>
              <a:rPr lang="zh-CN" altLang="en-US" dirty="0"/>
              <a:t>到前⼀个数并退出。</a:t>
            </a:r>
          </a:p>
          <a:p>
            <a:pPr lvl="1"/>
            <a:r>
              <a:rPr lang="zh-CN" altLang="en-US" dirty="0"/>
              <a:t>如果程序仍未结束，则代表原序列是严格递增的。输出 </a:t>
            </a:r>
            <a:r>
              <a:rPr lang="en-US" altLang="zh-CN" dirty="0"/>
              <a:t>YES </a:t>
            </a:r>
            <a:r>
              <a:rPr lang="zh-CN" altLang="en-US" dirty="0"/>
              <a:t>，注意⼤⼩写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注意：</a:t>
            </a:r>
            <a:endParaRPr lang="en-US" altLang="zh-CN" dirty="0"/>
          </a:p>
          <a:p>
            <a:pPr lvl="1"/>
            <a:r>
              <a:rPr lang="zh-CN" altLang="en-US" dirty="0"/>
              <a:t>对每个数组的处理过程是重复的，可以⽤函数包装。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47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85F13-3D8A-4F76-9DAE-7AADBA9F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A9614E-7590-45C5-92F5-EEBC83B0B1C3}"/>
              </a:ext>
            </a:extLst>
          </p:cNvPr>
          <p:cNvSpPr/>
          <p:nvPr/>
        </p:nvSpPr>
        <p:spPr>
          <a:xfrm>
            <a:off x="3961910" y="117693"/>
            <a:ext cx="5447561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959A8"/>
                </a:solidFill>
                <a:latin typeface="Fira Mono"/>
              </a:rPr>
              <a:t>#include</a:t>
            </a:r>
            <a:r>
              <a:rPr lang="en-US" dirty="0">
                <a:solidFill>
                  <a:srgbClr val="666969"/>
                </a:solidFill>
                <a:latin typeface="Fira Mono"/>
              </a:rPr>
              <a:t> &lt;bits/</a:t>
            </a:r>
            <a:r>
              <a:rPr lang="en-US" dirty="0" err="1">
                <a:solidFill>
                  <a:srgbClr val="666969"/>
                </a:solidFill>
                <a:latin typeface="Fira Mono"/>
              </a:rPr>
              <a:t>stdc</a:t>
            </a:r>
            <a:r>
              <a:rPr lang="en-US" dirty="0">
                <a:solidFill>
                  <a:srgbClr val="666969"/>
                </a:solidFill>
                <a:latin typeface="Fira Mono"/>
              </a:rPr>
              <a:t>++.h&gt;</a:t>
            </a:r>
            <a:endParaRPr lang="en-US" dirty="0">
              <a:solidFill>
                <a:srgbClr val="000000"/>
              </a:solidFill>
              <a:latin typeface="Fira Mono"/>
            </a:endParaRP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8959A8"/>
                </a:solidFill>
                <a:latin typeface="Fira Mono"/>
              </a:rPr>
              <a:t>void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solve()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std::vector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a(n);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n;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if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continue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} 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else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for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++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j)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cout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a[j]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\n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[j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==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i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1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];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cout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"YES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\n</a:t>
            </a:r>
            <a:r>
              <a:rPr lang="en-US" dirty="0">
                <a:solidFill>
                  <a:srgbClr val="718C00"/>
                </a:solidFill>
                <a:latin typeface="Fira Mono"/>
              </a:rPr>
              <a:t>"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A62640-A238-4325-A72C-8F35877B9593}"/>
              </a:ext>
            </a:extLst>
          </p:cNvPr>
          <p:cNvSpPr/>
          <p:nvPr/>
        </p:nvSpPr>
        <p:spPr>
          <a:xfrm>
            <a:off x="619433" y="2241493"/>
            <a:ext cx="30234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main()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int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std::</a:t>
            </a:r>
            <a:r>
              <a:rPr lang="en-US" dirty="0" err="1">
                <a:solidFill>
                  <a:srgbClr val="000000"/>
                </a:solidFill>
                <a:latin typeface="Fira Mono"/>
              </a:rPr>
              <a:t>cin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&gt;&gt;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m;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(m</a:t>
            </a:r>
            <a:r>
              <a:rPr lang="en-US" dirty="0">
                <a:solidFill>
                  <a:srgbClr val="3E999F"/>
                </a:solidFill>
                <a:latin typeface="Fira Mono"/>
              </a:rPr>
              <a:t>--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    solve();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}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    </a:t>
            </a:r>
            <a:r>
              <a:rPr lang="en-US" dirty="0">
                <a:solidFill>
                  <a:srgbClr val="8959A8"/>
                </a:solidFill>
                <a:latin typeface="Fira Mono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 </a:t>
            </a:r>
            <a:r>
              <a:rPr lang="en-US" dirty="0">
                <a:solidFill>
                  <a:srgbClr val="F5871F"/>
                </a:solidFill>
                <a:latin typeface="Fira Mono"/>
              </a:rPr>
              <a:t>0</a:t>
            </a:r>
            <a:r>
              <a:rPr lang="en-US" dirty="0">
                <a:solidFill>
                  <a:srgbClr val="000000"/>
                </a:solidFill>
                <a:latin typeface="Fira Mono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latin typeface="Fira Mono"/>
              </a:rPr>
              <a:t>}</a:t>
            </a:r>
          </a:p>
          <a:p>
            <a:br>
              <a:rPr lang="en-US" dirty="0">
                <a:solidFill>
                  <a:srgbClr val="000000"/>
                </a:solidFill>
                <a:latin typeface="Fira Mono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845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AA1108-19F6-4BD3-82ED-5A5DC522D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矩阵元素</a:t>
            </a:r>
            <a:r>
              <a:rPr lang="en-US" altLang="zh-CN" dirty="0"/>
              <a:t>X</a:t>
            </a:r>
            <a:r>
              <a:rPr lang="zh-CN" altLang="en-US" dirty="0"/>
              <a:t>近邻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1553042-7884-4364-9F94-B9239C189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93" y="1771040"/>
            <a:ext cx="8030894" cy="37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486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BE7BD8-F46A-463A-A078-664D00F6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5B268-7BE6-4980-BA7B-CC616ECA1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二维数组操作</a:t>
            </a:r>
            <a:endParaRPr lang="en-US" altLang="zh-CN" dirty="0"/>
          </a:p>
          <a:p>
            <a:pPr lvl="1"/>
            <a:r>
              <a:rPr lang="zh-CN" altLang="en-US" dirty="0"/>
              <a:t>计算每个位置的</a:t>
            </a:r>
            <a:r>
              <a:rPr lang="zh-CN" altLang="en-US" b="1" dirty="0"/>
              <a:t>数字与其</a:t>
            </a:r>
            <a:r>
              <a:rPr lang="en-US" altLang="zh-CN" b="1" dirty="0"/>
              <a:t>X</a:t>
            </a:r>
            <a:r>
              <a:rPr lang="zh-CN" altLang="en-US" b="1" dirty="0"/>
              <a:t>近邻数字和</a:t>
            </a:r>
            <a:endParaRPr lang="en-US" altLang="zh-CN" b="1" dirty="0"/>
          </a:p>
          <a:p>
            <a:pPr lvl="1"/>
            <a:r>
              <a:rPr lang="zh-CN" altLang="en-US" dirty="0"/>
              <a:t>找最小值</a:t>
            </a:r>
            <a:endParaRPr lang="en-US" altLang="zh-CN" dirty="0"/>
          </a:p>
          <a:p>
            <a:pPr lvl="1"/>
            <a:r>
              <a:rPr lang="zh-CN" altLang="en-US" dirty="0"/>
              <a:t>逆序输出</a:t>
            </a:r>
            <a:r>
              <a:rPr lang="en-US" altLang="zh-CN" dirty="0"/>
              <a:t>——</a:t>
            </a:r>
            <a:r>
              <a:rPr lang="zh-CN" altLang="en-US" dirty="0"/>
              <a:t>遍历顺序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6E62E3-35DE-4939-AF6F-30018ED3DF82}"/>
              </a:ext>
            </a:extLst>
          </p:cNvPr>
          <p:cNvSpPr/>
          <p:nvPr/>
        </p:nvSpPr>
        <p:spPr>
          <a:xfrm>
            <a:off x="2257804" y="3728686"/>
            <a:ext cx="31854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X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近邻数 分情况讨论？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技巧：二维数组外围加上一圈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2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05715A-DF5E-4717-94CB-D99716F09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8D89A8-D7F6-4527-8683-A5C845A5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473" y="483563"/>
            <a:ext cx="5788500" cy="593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3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31BC9-E284-4A17-8E6C-F58270A5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217. </a:t>
            </a:r>
            <a:r>
              <a:rPr lang="zh-CN" altLang="en-US" dirty="0"/>
              <a:t>空间位置搜索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BB8D60-16E8-4746-BC91-F1FFBECF1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457985"/>
            <a:ext cx="8131730" cy="488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8509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007D97-8FD0-4A23-95C0-C0ACB91C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DD9B5D-AFE3-45FF-AF19-D1AAFAB5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枚举</a:t>
            </a:r>
            <a:endParaRPr lang="en-US" altLang="zh-CN" dirty="0"/>
          </a:p>
          <a:p>
            <a:pPr lvl="1"/>
            <a:r>
              <a:rPr lang="zh-CN" altLang="en-US" dirty="0"/>
              <a:t>特定长方体范围内的坐标为整数的点</a:t>
            </a:r>
            <a:endParaRPr lang="en-US" altLang="zh-CN" dirty="0"/>
          </a:p>
          <a:p>
            <a:pPr lvl="1"/>
            <a:r>
              <a:rPr lang="zh-CN" altLang="en-US" dirty="0"/>
              <a:t>求其到</a:t>
            </a:r>
            <a:r>
              <a:rPr lang="en-US" altLang="zh-CN" dirty="0"/>
              <a:t>4</a:t>
            </a:r>
            <a:r>
              <a:rPr lang="zh-CN" altLang="en-US" dirty="0"/>
              <a:t>个顶点的距离和</a:t>
            </a:r>
            <a:endParaRPr lang="en-US" altLang="zh-CN" dirty="0"/>
          </a:p>
          <a:p>
            <a:pPr lvl="1"/>
            <a:r>
              <a:rPr lang="zh-CN" altLang="en-US" dirty="0"/>
              <a:t>找最小</a:t>
            </a:r>
            <a:r>
              <a:rPr lang="en-US" altLang="zh-CN" dirty="0"/>
              <a:t>——</a:t>
            </a:r>
            <a:r>
              <a:rPr lang="zh-CN" altLang="en-US" dirty="0"/>
              <a:t>最小值可能有多个（均需保存）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75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C281C-F114-4F5C-AB08-0C4E2136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CB3D40-B294-4D8A-A6DD-F1AF82FE7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621" y="881825"/>
            <a:ext cx="6057186" cy="527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62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B1F41-9704-4AED-8605-AD171648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碱基串排序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2566B2-3DC1-4E43-9D1B-DCF8FA1EB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5" y="1570881"/>
            <a:ext cx="7901498" cy="4404201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564935C-A347-4935-8299-672500030745}"/>
              </a:ext>
            </a:extLst>
          </p:cNvPr>
          <p:cNvSpPr/>
          <p:nvPr/>
        </p:nvSpPr>
        <p:spPr>
          <a:xfrm>
            <a:off x="5594466" y="259221"/>
            <a:ext cx="165423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【</a:t>
            </a:r>
            <a:r>
              <a:rPr lang="zh-CN" altLang="en-US" sz="1200" dirty="0"/>
              <a:t>样例输入</a:t>
            </a:r>
            <a:r>
              <a:rPr lang="en-US" altLang="zh-CN" sz="1200" dirty="0"/>
              <a:t>2】</a:t>
            </a:r>
          </a:p>
          <a:p>
            <a:r>
              <a:rPr lang="en-US" altLang="zh-CN" sz="1200" dirty="0"/>
              <a:t>5</a:t>
            </a:r>
          </a:p>
          <a:p>
            <a:r>
              <a:rPr lang="en-US" sz="1200" dirty="0"/>
              <a:t>TGCA</a:t>
            </a:r>
          </a:p>
          <a:p>
            <a:r>
              <a:rPr lang="en-US" sz="1200" dirty="0"/>
              <a:t>AAT</a:t>
            </a:r>
          </a:p>
          <a:p>
            <a:r>
              <a:rPr lang="en-US" sz="1200" dirty="0"/>
              <a:t>CAA</a:t>
            </a:r>
          </a:p>
          <a:p>
            <a:r>
              <a:rPr lang="en-US" sz="1200" dirty="0"/>
              <a:t>AGT</a:t>
            </a:r>
          </a:p>
          <a:p>
            <a:r>
              <a:rPr lang="en-US" sz="1200" dirty="0"/>
              <a:t>AGG</a:t>
            </a:r>
          </a:p>
          <a:p>
            <a:r>
              <a:rPr lang="en-US" sz="1200" dirty="0"/>
              <a:t>ACA</a:t>
            </a:r>
          </a:p>
          <a:p>
            <a:endParaRPr lang="en-US" sz="1400" b="0" i="0" dirty="0">
              <a:effectLst/>
              <a:latin typeface="Open San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82273F-CE92-44BA-BB75-10001E1A78D4}"/>
              </a:ext>
            </a:extLst>
          </p:cNvPr>
          <p:cNvSpPr/>
          <p:nvPr/>
        </p:nvSpPr>
        <p:spPr>
          <a:xfrm>
            <a:off x="6880168" y="282753"/>
            <a:ext cx="17923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/>
              <a:t>【</a:t>
            </a:r>
            <a:r>
              <a:rPr lang="zh-CN" altLang="en-US" sz="1200" dirty="0"/>
              <a:t>样例输出</a:t>
            </a:r>
            <a:r>
              <a:rPr lang="en-US" altLang="zh-CN" sz="1200" dirty="0"/>
              <a:t>2】</a:t>
            </a:r>
          </a:p>
          <a:p>
            <a:r>
              <a:rPr lang="en-US" sz="1200" dirty="0"/>
              <a:t>CAA</a:t>
            </a:r>
          </a:p>
          <a:p>
            <a:r>
              <a:rPr lang="en-US" sz="1200" dirty="0"/>
              <a:t>AGT</a:t>
            </a:r>
          </a:p>
          <a:p>
            <a:r>
              <a:rPr lang="en-US" sz="1200" dirty="0"/>
              <a:t>AGG</a:t>
            </a:r>
          </a:p>
          <a:p>
            <a:r>
              <a:rPr lang="en-US" sz="1200" dirty="0"/>
              <a:t>ACA</a:t>
            </a:r>
          </a:p>
          <a:p>
            <a:r>
              <a:rPr lang="en-US" sz="1200" dirty="0"/>
              <a:t>AAT</a:t>
            </a:r>
          </a:p>
        </p:txBody>
      </p:sp>
    </p:spTree>
    <p:extLst>
      <p:ext uri="{BB962C8B-B14F-4D97-AF65-F5344CB8AC3E}">
        <p14:creationId xmlns:p14="http://schemas.microsoft.com/office/powerpoint/2010/main" val="1054555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1A187-53DD-4B37-8C6B-49BFCFAD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7A6F95-6CF8-4385-9A1F-FF8D8C0AB4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与传统排序相比，变了比较规则！</a:t>
            </a:r>
            <a:endParaRPr lang="en-US" altLang="zh-CN" dirty="0"/>
          </a:p>
          <a:p>
            <a:pPr lvl="1"/>
            <a:r>
              <a:rPr lang="zh-CN" altLang="en-US" dirty="0"/>
              <a:t>传统排序：数值大小进行比较</a:t>
            </a:r>
            <a:endParaRPr lang="en-US" altLang="zh-CN" dirty="0"/>
          </a:p>
          <a:p>
            <a:pPr lvl="1"/>
            <a:r>
              <a:rPr lang="zh-CN" altLang="en-US" dirty="0"/>
              <a:t>学生排序：先比较年龄，再比较学号</a:t>
            </a:r>
            <a:endParaRPr lang="en-US" altLang="zh-CN" dirty="0"/>
          </a:p>
          <a:p>
            <a:pPr lvl="1"/>
            <a:r>
              <a:rPr lang="zh-CN" altLang="en-US" dirty="0"/>
              <a:t>基因排序：排序规则由人输入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与传统排序相比，变了数组元素</a:t>
            </a:r>
            <a:endParaRPr lang="en-US" altLang="zh-CN" dirty="0"/>
          </a:p>
          <a:p>
            <a:pPr lvl="1"/>
            <a:r>
              <a:rPr lang="zh-CN" altLang="en-US" dirty="0"/>
              <a:t>传统排序：数组元素为基本数据类型</a:t>
            </a:r>
            <a:endParaRPr lang="en-US" altLang="zh-CN" dirty="0"/>
          </a:p>
          <a:p>
            <a:pPr lvl="1"/>
            <a:r>
              <a:rPr lang="zh-CN" altLang="en-US" dirty="0"/>
              <a:t>基因排序：数组元素为一个字符数组</a:t>
            </a:r>
            <a:endParaRPr lang="en-US" altLang="en-US" dirty="0">
              <a:ea typeface="华文中宋" panose="02010600040101010101" pitchFamily="2" charset="-122"/>
            </a:endParaRPr>
          </a:p>
          <a:p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30B037-13A6-4389-ABE9-42DCF0783EB4}"/>
              </a:ext>
            </a:extLst>
          </p:cNvPr>
          <p:cNvSpPr/>
          <p:nvPr/>
        </p:nvSpPr>
        <p:spPr>
          <a:xfrm>
            <a:off x="5355747" y="55800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透过现象看本质！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5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17DBB-BBCE-4AC3-83E7-9E79C7DBF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《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碱基串排序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》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排序</a:t>
            </a:r>
            <a:r>
              <a:rPr lang="zh-CN" altLang="en-US" dirty="0"/>
              <a:t>部分核心代码参考</a:t>
            </a:r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BFA459B-7047-4B79-8622-E329C1C50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07" y="3287512"/>
            <a:ext cx="8230386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compareTo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g1[], 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g2[], 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p[])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 = 0; i &lt; MAX_LEN; i ++)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(g1[i] == </a:t>
            </a:r>
            <a:r>
              <a:rPr lang="mr-IN" altLang="en-US" b="1" dirty="0">
                <a:solidFill>
                  <a:srgbClr val="2A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'\0'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(g1[i] == g2[i])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 = 0; j &lt; 4; j ++) {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(p[j] == g1[i])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(p[j] == g2[i]) </a:t>
            </a:r>
            <a:r>
              <a:rPr lang="mr-IN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-1;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mr-IN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7F005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5C5DBF-BF18-4BC0-897A-8968AE5300C0}"/>
              </a:ext>
            </a:extLst>
          </p:cNvPr>
          <p:cNvSpPr txBox="1"/>
          <p:nvPr/>
        </p:nvSpPr>
        <p:spPr>
          <a:xfrm>
            <a:off x="629587" y="1514007"/>
            <a:ext cx="82303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//</a:t>
            </a:r>
            <a:r>
              <a:rPr lang="zh-CN" altLang="en-US" sz="1600" dirty="0"/>
              <a:t> </a:t>
            </a:r>
            <a:r>
              <a:rPr lang="en-US" altLang="zh-CN" sz="1600" dirty="0"/>
              <a:t>g1, g2</a:t>
            </a:r>
            <a:r>
              <a:rPr lang="zh-CN" altLang="en-US" sz="1600" dirty="0"/>
              <a:t>是两个待比较的字符数组</a:t>
            </a:r>
            <a:r>
              <a:rPr lang="en-US" altLang="zh-CN" sz="1600" dirty="0"/>
              <a:t>, g1</a:t>
            </a:r>
            <a:r>
              <a:rPr lang="zh-CN" altLang="en-US" sz="1600" dirty="0"/>
              <a:t>、</a:t>
            </a:r>
            <a:r>
              <a:rPr lang="en-US" altLang="zh-CN" sz="1600" dirty="0"/>
              <a:t>g2</a:t>
            </a:r>
            <a:r>
              <a:rPr lang="zh-CN" altLang="en-US" sz="1600" dirty="0"/>
              <a:t>长度相同</a:t>
            </a:r>
            <a:r>
              <a:rPr lang="en-US" altLang="zh-CN" sz="1600" dirty="0"/>
              <a:t>, p</a:t>
            </a:r>
            <a:r>
              <a:rPr lang="zh-CN" altLang="en-US" sz="1600" dirty="0"/>
              <a:t>是输入的优先规则</a:t>
            </a:r>
            <a:endParaRPr lang="en-US" altLang="zh-CN" sz="1600" dirty="0"/>
          </a:p>
          <a:p>
            <a:r>
              <a:rPr lang="en-US" sz="1600" dirty="0"/>
              <a:t>// </a:t>
            </a:r>
            <a:r>
              <a:rPr lang="zh-CN" altLang="en-US" sz="1600" dirty="0"/>
              <a:t>比较思路：比较</a:t>
            </a:r>
            <a:r>
              <a:rPr lang="en-US" altLang="zh-CN" sz="1600" dirty="0"/>
              <a:t>g1/g2</a:t>
            </a:r>
            <a:r>
              <a:rPr lang="zh-CN" altLang="en-US" sz="1600" dirty="0"/>
              <a:t>数组下标</a:t>
            </a:r>
            <a:r>
              <a:rPr lang="en-US" altLang="zh-CN" sz="1600" dirty="0" err="1"/>
              <a:t>i</a:t>
            </a:r>
            <a:r>
              <a:rPr lang="zh-CN" altLang="en-US" sz="1600" dirty="0"/>
              <a:t>的位置（</a:t>
            </a:r>
            <a:r>
              <a:rPr lang="en-US" altLang="zh-CN" sz="1600" dirty="0" err="1"/>
              <a:t>i</a:t>
            </a:r>
            <a:r>
              <a:rPr lang="zh-CN" altLang="en-US" sz="1600" dirty="0"/>
              <a:t>从</a:t>
            </a:r>
            <a:r>
              <a:rPr lang="en-US" altLang="zh-CN" sz="1600" dirty="0"/>
              <a:t>0</a:t>
            </a:r>
            <a:r>
              <a:rPr lang="zh-CN" altLang="en-US" sz="1600" dirty="0"/>
              <a:t>到遇到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]==‘\0’</a:t>
            </a:r>
            <a:r>
              <a:rPr lang="zh-CN" altLang="en-US" sz="1600" dirty="0"/>
              <a:t>退出，返回</a:t>
            </a:r>
            <a:r>
              <a:rPr lang="en-US" altLang="zh-CN" sz="1600" dirty="0"/>
              <a:t>0</a:t>
            </a:r>
            <a:r>
              <a:rPr lang="zh-CN" altLang="en-US" sz="1600" dirty="0"/>
              <a:t>说明相等）</a:t>
            </a:r>
            <a:endParaRPr lang="en-US" altLang="zh-CN" sz="1600" dirty="0"/>
          </a:p>
          <a:p>
            <a:r>
              <a:rPr lang="en-US" sz="1600" dirty="0"/>
              <a:t>// 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 == 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说明该位置两者相同，继续让</a:t>
            </a:r>
            <a:r>
              <a:rPr lang="en-US" altLang="zh-CN" sz="1600" dirty="0" err="1"/>
              <a:t>i</a:t>
            </a:r>
            <a:r>
              <a:rPr lang="zh-CN" altLang="en-US" sz="1600" dirty="0"/>
              <a:t>加</a:t>
            </a:r>
            <a:r>
              <a:rPr lang="en-US" altLang="zh-CN" sz="1600" dirty="0"/>
              <a:t>1</a:t>
            </a:r>
          </a:p>
          <a:p>
            <a:r>
              <a:rPr lang="en-US" sz="1600" dirty="0"/>
              <a:t>// </a:t>
            </a:r>
            <a:r>
              <a:rPr lang="zh-CN" altLang="en-US" sz="1600" dirty="0"/>
              <a:t>当两者不相等时，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和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去与</a:t>
            </a:r>
            <a:r>
              <a:rPr lang="en-US" altLang="zh-CN" sz="1600" dirty="0"/>
              <a:t>p[j]</a:t>
            </a:r>
            <a:r>
              <a:rPr lang="zh-CN" altLang="en-US" sz="1600" dirty="0"/>
              <a:t> 匹配（</a:t>
            </a:r>
            <a:r>
              <a:rPr lang="en-US" altLang="zh-CN" sz="1600" dirty="0"/>
              <a:t>j</a:t>
            </a:r>
            <a:r>
              <a:rPr lang="zh-CN" altLang="en-US" sz="1600" dirty="0"/>
              <a:t>从</a:t>
            </a:r>
            <a:r>
              <a:rPr lang="en-US" altLang="zh-CN" sz="1600" dirty="0"/>
              <a:t>0~3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先用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跟</a:t>
            </a:r>
            <a:r>
              <a:rPr lang="en-US" altLang="zh-CN" sz="1600" dirty="0"/>
              <a:t>p[j]</a:t>
            </a:r>
            <a:r>
              <a:rPr lang="zh-CN" altLang="en-US" sz="1600" dirty="0"/>
              <a:t>匹配，如果</a:t>
            </a:r>
            <a:r>
              <a:rPr lang="en-US" altLang="zh-CN" sz="1600" dirty="0"/>
              <a:t>ok</a:t>
            </a:r>
            <a:r>
              <a:rPr lang="zh-CN" altLang="en-US" sz="1600" dirty="0"/>
              <a:t>，则说明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的优先级高，所以</a:t>
            </a:r>
            <a:r>
              <a:rPr lang="en-US" altLang="zh-CN" sz="1600" dirty="0"/>
              <a:t>g1 &gt; g2</a:t>
            </a:r>
            <a:r>
              <a:rPr lang="zh-CN" altLang="en-US" sz="1600" dirty="0"/>
              <a:t>，返回 </a:t>
            </a:r>
            <a:r>
              <a:rPr lang="en-US" altLang="zh-CN" sz="1600" dirty="0"/>
              <a:t>1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如果</a:t>
            </a:r>
            <a:r>
              <a:rPr lang="en-US" altLang="zh-CN" sz="1600" dirty="0"/>
              <a:t>g1[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跟</a:t>
            </a:r>
            <a:r>
              <a:rPr lang="en-US" altLang="zh-CN" sz="1600" dirty="0"/>
              <a:t>p[j]</a:t>
            </a:r>
            <a:r>
              <a:rPr lang="zh-CN" altLang="en-US" sz="1600" dirty="0"/>
              <a:t>不匹配，而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与</a:t>
            </a:r>
            <a:r>
              <a:rPr lang="en-US" altLang="zh-CN" sz="1600" dirty="0"/>
              <a:t>p[j]</a:t>
            </a:r>
            <a:r>
              <a:rPr lang="zh-CN" altLang="en-US" sz="1600" dirty="0"/>
              <a:t>匹配成功，说明</a:t>
            </a:r>
            <a:r>
              <a:rPr lang="en-US" altLang="zh-CN" sz="1600" dirty="0"/>
              <a:t>g2[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</a:t>
            </a:r>
            <a:r>
              <a:rPr lang="zh-CN" altLang="en-US" sz="1600" dirty="0"/>
              <a:t>的优先级高，即</a:t>
            </a:r>
            <a:r>
              <a:rPr lang="en-US" altLang="zh-CN" sz="1600" dirty="0"/>
              <a:t>g1 &lt; g2</a:t>
            </a:r>
            <a:r>
              <a:rPr lang="zh-CN" altLang="en-US" sz="1600" dirty="0"/>
              <a:t>返回 </a:t>
            </a:r>
            <a:r>
              <a:rPr lang="en-US" altLang="zh-CN" sz="1600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885903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BEF14EB-8C89-4F80-9E10-478A21F41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2301773" cy="57666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参考代码</a:t>
            </a:r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2E3428-57D1-49AA-8147-599183893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68" y="615202"/>
            <a:ext cx="5320285" cy="592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185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D4FB04A-980D-443E-A05A-0005D2EE44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期中练习卷</a:t>
            </a:r>
            <a:r>
              <a:rPr lang="en-US" altLang="zh-CN" dirty="0"/>
              <a:t>05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310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AF587AD-3D1A-4D3F-A916-E47745C9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A923-A3AF-4538-847C-5C346B575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购物陷阱	</a:t>
            </a:r>
          </a:p>
          <a:p>
            <a:r>
              <a:rPr lang="zh-CN" altLang="en-US" sz="2800" dirty="0"/>
              <a:t>最小生成元	</a:t>
            </a:r>
          </a:p>
          <a:p>
            <a:r>
              <a:rPr lang="zh-CN" altLang="en-US" sz="2800" dirty="0"/>
              <a:t>迭代回文	</a:t>
            </a:r>
          </a:p>
          <a:p>
            <a:r>
              <a:rPr lang="zh-CN" altLang="en-US" sz="2800" dirty="0"/>
              <a:t>鹏博士爱数学	</a:t>
            </a:r>
          </a:p>
          <a:p>
            <a:r>
              <a:rPr lang="zh-CN" altLang="en-US" sz="2800" dirty="0"/>
              <a:t>外星成绩单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7594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1F015-426F-40C3-807F-A568D7C6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购物陷阱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E54190-6C7B-4442-8289-08359D3A8D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698"/>
          <a:stretch/>
        </p:blipFill>
        <p:spPr>
          <a:xfrm>
            <a:off x="481613" y="1331650"/>
            <a:ext cx="7645430" cy="14242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F1154C5-EF8E-434A-988B-383B5F466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13" y="2947782"/>
            <a:ext cx="6317094" cy="323711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B69EEB3-0F15-4F44-94A9-46315193714E}"/>
              </a:ext>
            </a:extLst>
          </p:cNvPr>
          <p:cNvSpPr/>
          <p:nvPr/>
        </p:nvSpPr>
        <p:spPr>
          <a:xfrm>
            <a:off x="7019047" y="572083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送分题！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35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B7750B-24B0-40C1-A3AD-B2A5DFFA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送分题要求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7805C4-54FC-4768-B05C-ED2BE3737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注意细节、用最短的时间完成</a:t>
            </a:r>
            <a:endParaRPr lang="en-US" altLang="zh-CN" dirty="0"/>
          </a:p>
          <a:p>
            <a:pPr lvl="1"/>
            <a:r>
              <a:rPr lang="zh-CN" altLang="en-US" dirty="0"/>
              <a:t>写代码前的思考一定不能少！</a:t>
            </a:r>
            <a:endParaRPr lang="en-US" altLang="zh-CN" dirty="0"/>
          </a:p>
          <a:p>
            <a:r>
              <a:rPr lang="zh-CN" altLang="en-US" dirty="0"/>
              <a:t>本题细节：</a:t>
            </a:r>
            <a:endParaRPr lang="en-US" altLang="zh-CN" dirty="0"/>
          </a:p>
          <a:p>
            <a:pPr marL="855000" lvl="1" indent="-457200">
              <a:buFont typeface="+mj-lt"/>
              <a:buAutoNum type="arabicPeriod"/>
            </a:pPr>
            <a:r>
              <a:rPr lang="zh-CN" altLang="en-US" dirty="0"/>
              <a:t>涉及浮点数</a:t>
            </a:r>
            <a:endParaRPr lang="en-US" altLang="zh-CN" dirty="0"/>
          </a:p>
          <a:p>
            <a:pPr marL="855000" lvl="1" indent="-457200">
              <a:buFont typeface="+mj-lt"/>
              <a:buAutoNum type="arabicPeriod"/>
            </a:pPr>
            <a:r>
              <a:rPr lang="en-US" dirty="0"/>
              <a:t>80%</a:t>
            </a:r>
            <a:r>
              <a:rPr lang="zh-CN" altLang="en-US" dirty="0"/>
              <a:t>不超过</a:t>
            </a:r>
            <a:r>
              <a:rPr lang="en-US" altLang="zh-CN" dirty="0"/>
              <a:t>100</a:t>
            </a:r>
            <a:r>
              <a:rPr lang="zh-CN" altLang="en-US" dirty="0"/>
              <a:t>种产品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85A219-3E12-429A-9853-3D4EDDB77AAB}"/>
              </a:ext>
            </a:extLst>
          </p:cNvPr>
          <p:cNvSpPr/>
          <p:nvPr/>
        </p:nvSpPr>
        <p:spPr>
          <a:xfrm>
            <a:off x="3244467" y="2693625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97800" lvl="1"/>
            <a:r>
              <a:rPr lang="en-US" altLang="zh-CN" sz="2400" dirty="0">
                <a:solidFill>
                  <a:srgbClr val="0000FF"/>
                </a:solidFill>
              </a:rPr>
              <a:t>—double</a:t>
            </a:r>
          </a:p>
          <a:p>
            <a:pPr marL="397800" lvl="1"/>
            <a:r>
              <a:rPr lang="en-US" altLang="zh-CN" sz="2400" dirty="0">
                <a:solidFill>
                  <a:srgbClr val="0000FF"/>
                </a:solidFill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</a:rPr>
              <a:t>数组开多大？其他方法？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0526A3-C8D1-4730-BCE5-895257B7F422}"/>
              </a:ext>
            </a:extLst>
          </p:cNvPr>
          <p:cNvSpPr/>
          <p:nvPr/>
        </p:nvSpPr>
        <p:spPr>
          <a:xfrm>
            <a:off x="5802734" y="3429000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此题可以不用数组！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15D1976-4D6E-42D1-BC7F-F818DF924F20}"/>
              </a:ext>
            </a:extLst>
          </p:cNvPr>
          <p:cNvGrpSpPr/>
          <p:nvPr/>
        </p:nvGrpSpPr>
        <p:grpSpPr>
          <a:xfrm>
            <a:off x="1543394" y="3798332"/>
            <a:ext cx="5107639" cy="2955024"/>
            <a:chOff x="1543394" y="3798332"/>
            <a:chExt cx="5107639" cy="295502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BF3BF71D-8488-4E5A-92EB-0D22B2B22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7253" y="3798332"/>
              <a:ext cx="3693780" cy="2955024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2F9FD5B-7606-437C-AE79-46E538C7E100}"/>
                </a:ext>
              </a:extLst>
            </p:cNvPr>
            <p:cNvSpPr/>
            <p:nvPr/>
          </p:nvSpPr>
          <p:spPr>
            <a:xfrm>
              <a:off x="1543394" y="3917918"/>
              <a:ext cx="133882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参考代码：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2691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AAEA471-B5CD-4615-8667-F13263D7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出错代码分析</a:t>
            </a:r>
            <a:endParaRPr lang="en-US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57DADDA-F130-49CF-8DD7-B2457F584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24820"/>
            <a:ext cx="8280000" cy="4764163"/>
          </a:xfrm>
        </p:spPr>
        <p:txBody>
          <a:bodyPr/>
          <a:lstStyle/>
          <a:p>
            <a:r>
              <a:rPr lang="en-US" altLang="zh-CN" dirty="0"/>
              <a:t>80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使用</a:t>
            </a:r>
            <a:r>
              <a:rPr lang="en-US" altLang="zh-CN" dirty="0"/>
              <a:t>float</a:t>
            </a:r>
            <a:r>
              <a:rPr lang="zh-CN" altLang="en-US" dirty="0"/>
              <a:t>导致精度不够，</a:t>
            </a:r>
            <a:r>
              <a:rPr lang="en-US" altLang="zh-CN" dirty="0"/>
              <a:t>2</a:t>
            </a:r>
            <a:r>
              <a:rPr lang="zh-CN" altLang="en-US" dirty="0"/>
              <a:t>点不过</a:t>
            </a:r>
            <a:endParaRPr lang="en-US" altLang="zh-CN" dirty="0"/>
          </a:p>
          <a:p>
            <a:r>
              <a:rPr lang="en-US" altLang="zh-CN" dirty="0"/>
              <a:t>60</a:t>
            </a:r>
            <a:r>
              <a:rPr lang="zh-CN" altLang="en-US" dirty="0"/>
              <a:t>分代码</a:t>
            </a:r>
            <a:endParaRPr lang="en-US" altLang="zh-CN" dirty="0"/>
          </a:p>
          <a:p>
            <a:pPr lvl="1"/>
            <a:r>
              <a:rPr lang="zh-CN" altLang="en-US" dirty="0"/>
              <a:t>保存差值用</a:t>
            </a:r>
            <a:r>
              <a:rPr lang="en-US" altLang="zh-CN" dirty="0"/>
              <a:t>double</a:t>
            </a:r>
          </a:p>
          <a:p>
            <a:pPr lvl="1"/>
            <a:r>
              <a:rPr lang="zh-CN" altLang="en-US" dirty="0"/>
              <a:t>读入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用</a:t>
            </a:r>
            <a:r>
              <a:rPr lang="en-US" altLang="zh-CN" dirty="0"/>
              <a:t>float</a:t>
            </a:r>
          </a:p>
          <a:p>
            <a:pPr lvl="1"/>
            <a:r>
              <a:rPr lang="zh-CN" altLang="en-US" dirty="0"/>
              <a:t>数组开的不够大，</a:t>
            </a:r>
            <a:r>
              <a:rPr lang="en-US" altLang="zh-CN" dirty="0"/>
              <a:t>20%</a:t>
            </a:r>
            <a:r>
              <a:rPr lang="zh-CN" altLang="en-US" dirty="0"/>
              <a:t>的数据是超过</a:t>
            </a:r>
            <a:r>
              <a:rPr lang="en-US" altLang="zh-CN" dirty="0"/>
              <a:t>100</a:t>
            </a:r>
            <a:r>
              <a:rPr lang="zh-CN" altLang="en-US" dirty="0"/>
              <a:t>种商品的</a:t>
            </a:r>
            <a:endParaRPr lang="en-US" altLang="zh-CN" dirty="0"/>
          </a:p>
          <a:p>
            <a:r>
              <a:rPr lang="en-US" altLang="zh-CN" dirty="0"/>
              <a:t>20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百分比计算有问题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0</a:t>
            </a:r>
            <a:r>
              <a:rPr lang="zh-CN" altLang="en-US" dirty="0"/>
              <a:t>分代码</a:t>
            </a:r>
            <a:r>
              <a:rPr lang="en-US" altLang="zh-CN" dirty="0"/>
              <a:t>——</a:t>
            </a:r>
            <a:r>
              <a:rPr lang="zh-CN" altLang="en-US" dirty="0"/>
              <a:t>没有提交记录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0CDE28-B032-4538-9D11-936FD947C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628" y="4224127"/>
            <a:ext cx="4544059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7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038DD-6273-4D63-96FB-69AEF0D7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最小生成元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908F30-8912-4139-9556-75B17243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27" y="1409837"/>
            <a:ext cx="7459969" cy="27789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FDBE6C-F770-46C0-8256-A771C1DA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27" y="4279974"/>
            <a:ext cx="6964118" cy="161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78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646475-79B4-4329-B3AB-5F81534AE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2269D9-8FB3-4600-B1CC-965364BC1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解题思路</a:t>
            </a:r>
            <a:r>
              <a:rPr lang="en-US" altLang="zh-CN" dirty="0"/>
              <a:t>——</a:t>
            </a:r>
            <a:r>
              <a:rPr lang="zh-CN" altLang="en-US" dirty="0"/>
              <a:t>枚举</a:t>
            </a:r>
            <a:endParaRPr lang="en-US" altLang="zh-CN" dirty="0"/>
          </a:p>
          <a:p>
            <a:r>
              <a:rPr lang="zh-CN" altLang="en-US" dirty="0"/>
              <a:t>数位分离</a:t>
            </a:r>
            <a:endParaRPr lang="en-US" altLang="zh-CN" dirty="0"/>
          </a:p>
          <a:p>
            <a:r>
              <a:rPr lang="zh-CN" altLang="en-US" dirty="0"/>
              <a:t>实现细节：</a:t>
            </a:r>
            <a:endParaRPr lang="en-US" altLang="zh-CN" dirty="0"/>
          </a:p>
          <a:p>
            <a:pPr lvl="1"/>
            <a:r>
              <a:rPr lang="zh-CN" altLang="en-US" dirty="0"/>
              <a:t>数字个数不确定？数组开多大？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9D2F6B8-545F-41B3-8D3D-6A815FF2E1DD}"/>
              </a:ext>
            </a:extLst>
          </p:cNvPr>
          <p:cNvGrpSpPr/>
          <p:nvPr/>
        </p:nvGrpSpPr>
        <p:grpSpPr>
          <a:xfrm>
            <a:off x="1825735" y="3760311"/>
            <a:ext cx="2746265" cy="2818689"/>
            <a:chOff x="432000" y="3685498"/>
            <a:chExt cx="2746265" cy="28186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6F8D445-9FDF-4977-98BD-827BCDB39D74}"/>
                </a:ext>
              </a:extLst>
            </p:cNvPr>
            <p:cNvSpPr/>
            <p:nvPr/>
          </p:nvSpPr>
          <p:spPr>
            <a:xfrm>
              <a:off x="432000" y="3685498"/>
              <a:ext cx="2746265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参考代码</a:t>
              </a:r>
              <a:r>
                <a:rPr lang="en-US" altLang="zh-CN" dirty="0"/>
                <a:t>:</a:t>
              </a:r>
            </a:p>
            <a:p>
              <a:r>
                <a:rPr lang="zh-CN" altLang="en-US" dirty="0"/>
                <a:t>求</a:t>
              </a:r>
              <a:r>
                <a:rPr lang="en-US" dirty="0"/>
                <a:t>x</a:t>
              </a:r>
              <a:r>
                <a:rPr lang="zh-CN" altLang="en-US" dirty="0"/>
                <a:t>加上</a:t>
              </a:r>
              <a:r>
                <a:rPr lang="en-US" dirty="0"/>
                <a:t>x</a:t>
              </a:r>
              <a:r>
                <a:rPr lang="zh-CN" altLang="en-US" dirty="0"/>
                <a:t>的各个数字之和</a:t>
              </a:r>
              <a:endParaRPr lang="en-US" dirty="0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5B0C0A44-CB6D-4698-839B-2820F8D22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0007" y="4398868"/>
              <a:ext cx="2400635" cy="2105319"/>
            </a:xfrm>
            <a:prstGeom prst="rect">
              <a:avLst/>
            </a:prstGeom>
          </p:spPr>
        </p:pic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DBD513AA-A699-49EB-B6A2-34460D2FA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75" y="128954"/>
            <a:ext cx="3254649" cy="660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5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EEE43-6FFD-4133-B994-A29546AE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关于数位分离相关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D5DDF4-244E-49DB-8825-6AEEDF831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得到整数每一位上数字</a:t>
            </a:r>
            <a:endParaRPr lang="en-US" altLang="zh-CN" dirty="0"/>
          </a:p>
          <a:p>
            <a:pPr lvl="1"/>
            <a:r>
              <a:rPr lang="zh-CN" altLang="en-US" dirty="0"/>
              <a:t>回文数</a:t>
            </a:r>
            <a:endParaRPr lang="en-US" altLang="zh-CN" dirty="0"/>
          </a:p>
          <a:p>
            <a:pPr lvl="1"/>
            <a:r>
              <a:rPr lang="zh-CN" altLang="en-US" dirty="0"/>
              <a:t>数位和</a:t>
            </a:r>
            <a:endParaRPr lang="en-US" altLang="zh-CN" dirty="0"/>
          </a:p>
          <a:p>
            <a:pPr lvl="1"/>
            <a:r>
              <a:rPr lang="zh-CN" altLang="en-US" dirty="0"/>
              <a:t>求数字位数</a:t>
            </a:r>
            <a:endParaRPr lang="en-US" altLang="zh-CN" dirty="0"/>
          </a:p>
          <a:p>
            <a:pPr lvl="1"/>
            <a:r>
              <a:rPr lang="en-US" altLang="zh-CN" dirty="0"/>
              <a:t>……</a:t>
            </a:r>
          </a:p>
          <a:p>
            <a:endParaRPr 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74146B-1F84-4636-B817-771134F3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29" y="3555051"/>
            <a:ext cx="4461657" cy="309960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1F8C058B-2575-430B-B125-40A29C785EA4}"/>
              </a:ext>
            </a:extLst>
          </p:cNvPr>
          <p:cNvGrpSpPr/>
          <p:nvPr/>
        </p:nvGrpSpPr>
        <p:grpSpPr>
          <a:xfrm>
            <a:off x="4032591" y="2135299"/>
            <a:ext cx="4629796" cy="973862"/>
            <a:chOff x="4032591" y="1886568"/>
            <a:chExt cx="4629796" cy="973862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D6DDAC1-B1B7-4B5A-BF5B-5EEA67376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32591" y="2241219"/>
              <a:ext cx="4629796" cy="61921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77501FE-E3E4-43A6-A27D-50BC5376324B}"/>
                </a:ext>
              </a:extLst>
            </p:cNvPr>
            <p:cNvSpPr/>
            <p:nvPr/>
          </p:nvSpPr>
          <p:spPr>
            <a:xfrm>
              <a:off x="4572000" y="1886568"/>
              <a:ext cx="2157046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使用 </a:t>
              </a:r>
              <a:r>
                <a:rPr lang="en-US" altLang="zh-CN" dirty="0" err="1"/>
                <a:t>sprintf</a:t>
              </a:r>
              <a:r>
                <a:rPr lang="en-US" altLang="zh-CN" dirty="0"/>
                <a:t> :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631733E-AF3F-4274-9FFA-08F55EF73CF0}"/>
              </a:ext>
            </a:extLst>
          </p:cNvPr>
          <p:cNvGrpSpPr/>
          <p:nvPr/>
        </p:nvGrpSpPr>
        <p:grpSpPr>
          <a:xfrm>
            <a:off x="4790078" y="3755685"/>
            <a:ext cx="3403477" cy="1633409"/>
            <a:chOff x="4930755" y="3708623"/>
            <a:chExt cx="3403477" cy="1633409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A98520D-31CD-4A37-80E6-742B60C80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23859" y="4170293"/>
              <a:ext cx="3210373" cy="1171739"/>
            </a:xfrm>
            <a:prstGeom prst="rect">
              <a:avLst/>
            </a:prstGeom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6CD01BE-3F10-4EA3-A4DE-5BA4808C9B4E}"/>
                </a:ext>
              </a:extLst>
            </p:cNvPr>
            <p:cNvSpPr/>
            <p:nvPr/>
          </p:nvSpPr>
          <p:spPr>
            <a:xfrm>
              <a:off x="4930755" y="3708623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直接得到回文数：</a:t>
              </a:r>
              <a:endParaRPr lang="en-US" altLang="zh-CN" dirty="0"/>
            </a:p>
          </p:txBody>
        </p:sp>
      </p:grpSp>
    </p:spTree>
    <p:extLst>
      <p:ext uri="{BB962C8B-B14F-4D97-AF65-F5344CB8AC3E}">
        <p14:creationId xmlns:p14="http://schemas.microsoft.com/office/powerpoint/2010/main" val="54020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87D25-4C55-46B6-88D5-26500EAB1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部分分数代码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BA3299-B54E-4696-B0AB-DD72AB141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超时错误</a:t>
            </a:r>
            <a:endParaRPr lang="en-US" altLang="zh-CN" dirty="0"/>
          </a:p>
          <a:p>
            <a:pPr lvl="1"/>
            <a:r>
              <a:rPr lang="zh-CN" altLang="en-US" dirty="0"/>
              <a:t>过多的枚举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普遍问题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pow</a:t>
            </a:r>
            <a:r>
              <a:rPr lang="zh-CN" altLang="en-US" dirty="0"/>
              <a:t>或者自己写的</a:t>
            </a:r>
            <a:r>
              <a:rPr lang="en-US" altLang="zh-CN" dirty="0"/>
              <a:t>power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87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49900-A178-457F-B60C-03777E8C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迭代回文数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8635283-0BEB-49F3-9D67-C4F7B2B80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85" y="1577834"/>
            <a:ext cx="8945915" cy="3967181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51FD1CB-9680-4434-AAC8-3AAA13FAFA7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14352" y="4231440"/>
          <a:ext cx="4056184" cy="2194560"/>
        </p:xfrm>
        <a:graphic>
          <a:graphicData uri="http://schemas.openxmlformats.org/drawingml/2006/table">
            <a:tbl>
              <a:tblPr firstRow="1" firstCol="1" bandRow="1"/>
              <a:tblGrid>
                <a:gridCol w="2203937">
                  <a:extLst>
                    <a:ext uri="{9D8B030D-6E8A-4147-A177-3AD203B41FA5}">
                      <a16:colId xmlns:a16="http://schemas.microsoft.com/office/drawing/2014/main" val="564268727"/>
                    </a:ext>
                  </a:extLst>
                </a:gridCol>
                <a:gridCol w="1852247">
                  <a:extLst>
                    <a:ext uri="{9D8B030D-6E8A-4147-A177-3AD203B41FA5}">
                      <a16:colId xmlns:a16="http://schemas.microsoft.com/office/drawing/2014/main" val="1639835315"/>
                    </a:ext>
                  </a:extLst>
                </a:gridCol>
              </a:tblGrid>
              <a:tr h="18596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【输入样例】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121 21 12 8 18 28 38 68 78 88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6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en-US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Calibri" panose="020F0502020204030204" pitchFamily="34" charset="0"/>
                        </a:rPr>
                        <a:t>【输出样例】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78 4 4884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68 3 1111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28 2 121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12 1 33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21 1 33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18 1 99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38 1 121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8 0 8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88 0 88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121 0 121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just">
                        <a:spcAft>
                          <a:spcPts val="6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  <a:endParaRPr lang="en-US" sz="105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54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1506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BBAD9-D7A9-4BE4-AB86-EBAD2666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DF576E-7E80-45E2-84E1-B2F5F8749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模拟</a:t>
            </a:r>
            <a:r>
              <a:rPr lang="en-US" altLang="zh-CN" dirty="0"/>
              <a:t>+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模拟</a:t>
            </a:r>
            <a:r>
              <a:rPr lang="zh-CN" altLang="en-US" dirty="0"/>
              <a:t>迭代过程，记录迭代次数</a:t>
            </a:r>
            <a:endParaRPr lang="en-US" altLang="zh-CN" dirty="0"/>
          </a:p>
          <a:p>
            <a:pPr lvl="1"/>
            <a:r>
              <a:rPr lang="zh-CN" altLang="en-US" dirty="0"/>
              <a:t>迭代回文数</a:t>
            </a:r>
            <a:endParaRPr lang="en-US" altLang="zh-CN" dirty="0"/>
          </a:p>
          <a:p>
            <a:r>
              <a:rPr lang="zh-CN" altLang="en-US" dirty="0"/>
              <a:t>结果排序</a:t>
            </a:r>
            <a:endParaRPr lang="en-US" altLang="zh-CN" dirty="0"/>
          </a:p>
          <a:p>
            <a:pPr lvl="1"/>
            <a:r>
              <a:rPr lang="zh-CN" altLang="en-US" dirty="0"/>
              <a:t>按照迭代次数从大到小</a:t>
            </a:r>
            <a:endParaRPr lang="en-US" altLang="zh-CN" dirty="0"/>
          </a:p>
          <a:p>
            <a:pPr lvl="1"/>
            <a:r>
              <a:rPr lang="zh-CN" altLang="en-US" dirty="0"/>
              <a:t>迭代回文数从小到大</a:t>
            </a:r>
            <a:endParaRPr lang="en-US" altLang="zh-CN" dirty="0"/>
          </a:p>
          <a:p>
            <a:pPr lvl="1"/>
            <a:r>
              <a:rPr lang="zh-CN" altLang="en-US" dirty="0"/>
              <a:t>原始数据从小到大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318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3BABA-D0BE-4562-AF12-8CA380A0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核心代码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D151C7-7208-4B27-A8DF-4B65AA4B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224" y="2930642"/>
            <a:ext cx="3315163" cy="23720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64E0667-D7B5-4E5C-94B8-CA4189F68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586" y="359293"/>
            <a:ext cx="2832763" cy="19447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4DC519-0B2E-4016-ACF9-1C668CCAA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51" y="1556127"/>
            <a:ext cx="3529967" cy="512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4409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94F9C2-EDAC-4A30-9B71-0074DE4D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题目讨论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08BFE2-BA8F-4FD9-BC6C-C27B0FA4E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考试现场的拦路虎</a:t>
            </a:r>
            <a:endParaRPr lang="en-US" altLang="zh-CN" dirty="0"/>
          </a:p>
          <a:p>
            <a:pPr lvl="1"/>
            <a:r>
              <a:rPr lang="zh-CN" altLang="en-US" dirty="0"/>
              <a:t>代码复杂</a:t>
            </a:r>
            <a:endParaRPr lang="en-US" altLang="zh-CN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7246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EE475-3255-4DE3-A33B-CD733005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05" y="250801"/>
            <a:ext cx="8230387" cy="899650"/>
          </a:xfrm>
        </p:spPr>
        <p:txBody>
          <a:bodyPr/>
          <a:lstStyle/>
          <a:p>
            <a:r>
              <a:rPr lang="zh-CN" altLang="en-US" dirty="0"/>
              <a:t>鹏博士爱数学</a:t>
            </a:r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A38CF4-11A1-4B37-95FF-94972FBC3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64" y="1239317"/>
            <a:ext cx="8259328" cy="24196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27F10D8-6E80-46A6-8931-CD262547F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897" y="4789674"/>
            <a:ext cx="6322490" cy="189393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377F36-EC83-4F2A-B3CE-EC65AFC5C2F1}"/>
              </a:ext>
            </a:extLst>
          </p:cNvPr>
          <p:cNvSpPr/>
          <p:nvPr/>
        </p:nvSpPr>
        <p:spPr>
          <a:xfrm>
            <a:off x="481613" y="3856420"/>
            <a:ext cx="4661555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【</a:t>
            </a:r>
            <a:r>
              <a:rPr lang="zh-CN" altLang="en-US" sz="1400" dirty="0"/>
              <a:t>输入样例</a:t>
            </a:r>
            <a:r>
              <a:rPr lang="en-US" altLang="zh-CN" sz="1400" dirty="0"/>
              <a:t>】	【</a:t>
            </a:r>
            <a:r>
              <a:rPr lang="zh-CN" altLang="en-US" sz="1400" dirty="0"/>
              <a:t>输入样例</a:t>
            </a:r>
            <a:r>
              <a:rPr lang="en-US" altLang="zh-CN" sz="1400" dirty="0"/>
              <a:t>】</a:t>
            </a:r>
          </a:p>
          <a:p>
            <a:r>
              <a:rPr lang="en-US" altLang="zh-CN" sz="1400" dirty="0"/>
              <a:t>3		9</a:t>
            </a:r>
          </a:p>
          <a:p>
            <a:r>
              <a:rPr lang="en-US" altLang="zh-CN" sz="1400" dirty="0"/>
              <a:t>3 1 4 5</a:t>
            </a:r>
          </a:p>
          <a:p>
            <a:r>
              <a:rPr lang="en-US" altLang="zh-CN" sz="1400" dirty="0"/>
              <a:t>3 2 4 6</a:t>
            </a:r>
          </a:p>
          <a:p>
            <a:r>
              <a:rPr lang="en-US" altLang="zh-CN" sz="1400" dirty="0"/>
              <a:t>2 5 4</a:t>
            </a:r>
            <a:r>
              <a:rPr lang="en-US" altLang="zh-CN" dirty="0"/>
              <a:t>	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C79E78-80A3-4125-9A50-F668CE52F1B7}"/>
              </a:ext>
            </a:extLst>
          </p:cNvPr>
          <p:cNvSpPr/>
          <p:nvPr/>
        </p:nvSpPr>
        <p:spPr>
          <a:xfrm>
            <a:off x="195669" y="3429000"/>
            <a:ext cx="721621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600"/>
              </a:spcAft>
            </a:pPr>
            <a:r>
              <a:rPr lang="zh-CN" altLang="en-US" sz="16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为了减小输出量，只输出一个整数，表示所有满足要求的元素之和。</a:t>
            </a:r>
            <a:endParaRPr lang="en-US" sz="1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37137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558A6-A7B8-4799-8BD7-FAD71950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95BCD-F67D-40AB-A38C-72F84C9F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本质：求集合的对称差（异或）</a:t>
            </a:r>
            <a:endParaRPr lang="en-US" altLang="zh-CN" dirty="0"/>
          </a:p>
          <a:p>
            <a:pPr lvl="1"/>
            <a:r>
              <a:rPr lang="zh-CN" altLang="en-US" dirty="0"/>
              <a:t>只属于其中一个集合而不属于其他集合的元素组成的集合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思路转换</a:t>
            </a:r>
            <a:endParaRPr lang="en-US" altLang="zh-CN" dirty="0"/>
          </a:p>
          <a:p>
            <a:pPr lvl="1"/>
            <a:r>
              <a:rPr lang="zh-CN" altLang="en-US" dirty="0"/>
              <a:t>集合求并</a:t>
            </a:r>
            <a:r>
              <a:rPr lang="en-US" altLang="zh-CN" dirty="0"/>
              <a:t>——</a:t>
            </a:r>
            <a:r>
              <a:rPr lang="zh-CN" altLang="en-US" dirty="0"/>
              <a:t>枚举</a:t>
            </a:r>
            <a:endParaRPr lang="en-US" altLang="zh-CN" dirty="0"/>
          </a:p>
          <a:p>
            <a:pPr lvl="1"/>
            <a:r>
              <a:rPr lang="zh-CN" altLang="en-US" dirty="0"/>
              <a:t>所求集合中的元素出现且只出现</a:t>
            </a:r>
            <a:r>
              <a:rPr lang="en-US" altLang="zh-CN" dirty="0"/>
              <a:t>1</a:t>
            </a:r>
            <a:r>
              <a:rPr lang="zh-CN" altLang="en-US" dirty="0"/>
              <a:t>次</a:t>
            </a:r>
            <a:endParaRPr lang="en-US" altLang="zh-CN" dirty="0"/>
          </a:p>
          <a:p>
            <a:pPr lvl="2"/>
            <a:r>
              <a:rPr lang="zh-CN" altLang="en-US" dirty="0"/>
              <a:t>转换为</a:t>
            </a:r>
            <a:r>
              <a:rPr lang="zh-CN" altLang="en-US" dirty="0">
                <a:solidFill>
                  <a:srgbClr val="FF0000"/>
                </a:solidFill>
              </a:rPr>
              <a:t>统计问题</a:t>
            </a:r>
            <a:r>
              <a:rPr lang="zh-CN" altLang="en-US" dirty="0"/>
              <a:t>，即所有出现</a:t>
            </a:r>
            <a:r>
              <a:rPr lang="en-US" altLang="zh-CN" dirty="0"/>
              <a:t>1</a:t>
            </a:r>
            <a:r>
              <a:rPr lang="zh-CN" altLang="en-US" dirty="0"/>
              <a:t>次的数字</a:t>
            </a:r>
            <a:endParaRPr lang="en-US" altLang="zh-CN" dirty="0"/>
          </a:p>
          <a:p>
            <a:r>
              <a:rPr lang="zh-CN" altLang="en-US" dirty="0"/>
              <a:t>观察数据规模寻找合适的算法</a:t>
            </a:r>
            <a:endParaRPr lang="en-US" altLang="zh-CN" dirty="0"/>
          </a:p>
          <a:p>
            <a:pPr lvl="1"/>
            <a:r>
              <a:rPr lang="zh-CN" altLang="en-US" dirty="0"/>
              <a:t>不考虑数据规模，很多解法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</a:p>
          <a:p>
            <a:pPr lvl="1"/>
            <a:r>
              <a:rPr lang="en-US" altLang="zh-CN" dirty="0"/>
              <a:t>1s</a:t>
            </a:r>
            <a:r>
              <a:rPr lang="zh-CN" altLang="en-US" dirty="0"/>
              <a:t>出结果，</a:t>
            </a:r>
            <a:r>
              <a:rPr lang="en-US" dirty="0"/>
              <a:t>10^7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F188C4-3407-4D32-9D1B-2098723A0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943" y="5004110"/>
            <a:ext cx="4326057" cy="129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7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10AA6-D546-4D07-A1D0-613BC024B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满分解法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909811-3492-4981-9524-D2215FDA4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利用数据下标做映射统计每个数字出现的次数</a:t>
            </a:r>
            <a:endParaRPr lang="en-US" altLang="zh-CN" dirty="0"/>
          </a:p>
          <a:p>
            <a:pPr lvl="1"/>
            <a:r>
              <a:rPr lang="zh-CN" altLang="en-US" dirty="0"/>
              <a:t>大数组？</a:t>
            </a:r>
            <a:r>
              <a:rPr lang="en-US" altLang="zh-CN" dirty="0"/>
              <a:t>RE</a:t>
            </a:r>
            <a:r>
              <a:rPr lang="zh-CN" altLang="en-US" dirty="0"/>
              <a:t>错？</a:t>
            </a:r>
            <a:endParaRPr lang="en-US" altLang="zh-CN" dirty="0"/>
          </a:p>
          <a:p>
            <a:pPr lvl="1"/>
            <a:r>
              <a:rPr lang="zh-CN" altLang="en-US" dirty="0"/>
              <a:t>数据中有负数？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遍历结果数组，找到出现次数为</a:t>
            </a:r>
            <a:r>
              <a:rPr lang="en-US" altLang="zh-CN" dirty="0"/>
              <a:t>1</a:t>
            </a:r>
            <a:r>
              <a:rPr lang="zh-CN" altLang="en-US" dirty="0"/>
              <a:t>的数字进行累加</a:t>
            </a:r>
            <a:endParaRPr lang="en-US" altLang="zh-CN" dirty="0"/>
          </a:p>
          <a:p>
            <a:pPr lvl="1"/>
            <a:r>
              <a:rPr lang="zh-CN" altLang="en-US" dirty="0"/>
              <a:t>结果超过</a:t>
            </a:r>
            <a:r>
              <a:rPr lang="en-US" altLang="zh-CN" dirty="0"/>
              <a:t>int</a:t>
            </a:r>
            <a:r>
              <a:rPr lang="zh-CN" altLang="en-US" dirty="0"/>
              <a:t>范围</a:t>
            </a:r>
            <a:endParaRPr lang="en-US" dirty="0"/>
          </a:p>
          <a:p>
            <a:r>
              <a:rPr lang="zh-CN" altLang="en-US" dirty="0"/>
              <a:t>细节：输入数据量大，</a:t>
            </a:r>
            <a:r>
              <a:rPr lang="en-US" altLang="zh-CN" dirty="0" err="1"/>
              <a:t>cin</a:t>
            </a:r>
            <a:r>
              <a:rPr lang="zh-CN" altLang="en-US" dirty="0"/>
              <a:t>读入会超时，用</a:t>
            </a:r>
            <a:r>
              <a:rPr lang="en-US" altLang="zh-CN" dirty="0" err="1"/>
              <a:t>scanf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CDE15E-2273-4602-8B74-E08F63C65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943" y="4872135"/>
            <a:ext cx="4326057" cy="1295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1424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C8CE6-0A5A-4344-AF62-2A6FA5FAB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其他解法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E9F17D-908A-46F6-A338-47C3C3F48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先排序</a:t>
            </a:r>
            <a:r>
              <a:rPr lang="en-US" altLang="zh-CN" dirty="0"/>
              <a:t>+</a:t>
            </a:r>
            <a:r>
              <a:rPr lang="zh-CN" altLang="en-US" dirty="0"/>
              <a:t>后求和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805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9326E32-2953-42DF-8C7D-05FAAC9AB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48" y="3599096"/>
            <a:ext cx="5560906" cy="1760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ACACD8B-F292-4C63-BE69-95E75B0BA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48" y="1130126"/>
            <a:ext cx="6231706" cy="2538004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74301E47-E223-4818-B2F8-5DCB0123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外星成绩单</a:t>
            </a:r>
            <a:endParaRPr 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B9EFEA-2045-4C99-94F0-75553F87F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0" y="5551782"/>
            <a:ext cx="5460896" cy="100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209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8C343ED-8B33-4167-B435-25614126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AEFA46-8439-4E33-9823-9F82F0E1C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深入理解进制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字符数组的排序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碱基串排序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47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7BE3-998D-4717-A50B-85FF30F07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部分分数做法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AC1456-FE78-4E43-9D52-0DA57B687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按照</a:t>
            </a:r>
            <a:r>
              <a:rPr lang="en-US" altLang="zh-CN" dirty="0"/>
              <a:t>10</a:t>
            </a:r>
            <a:r>
              <a:rPr lang="zh-CN" altLang="en-US" dirty="0"/>
              <a:t>进制数字排序</a:t>
            </a:r>
            <a:endParaRPr lang="en-US" altLang="zh-CN" dirty="0"/>
          </a:p>
          <a:p>
            <a:pPr lvl="1"/>
            <a:r>
              <a:rPr lang="zh-CN" altLang="en-US" dirty="0"/>
              <a:t>符号系统映射到</a:t>
            </a:r>
            <a:r>
              <a:rPr lang="en-US" altLang="zh-CN" dirty="0"/>
              <a:t>10</a:t>
            </a:r>
            <a:r>
              <a:rPr lang="zh-CN" altLang="en-US" dirty="0"/>
              <a:t>进制的数字</a:t>
            </a:r>
            <a:endParaRPr lang="en-US" altLang="zh-CN" dirty="0"/>
          </a:p>
          <a:p>
            <a:pPr lvl="1"/>
            <a:r>
              <a:rPr lang="zh-CN" altLang="en-US" dirty="0"/>
              <a:t>进制转换为</a:t>
            </a:r>
            <a:r>
              <a:rPr lang="en-US" altLang="zh-CN" dirty="0"/>
              <a:t>10</a:t>
            </a:r>
            <a:r>
              <a:rPr lang="zh-CN" altLang="en-US" dirty="0"/>
              <a:t>进制数在排序时直接按照数字比大小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问题：另有</a:t>
            </a:r>
            <a:r>
              <a:rPr lang="en-US" altLang="zh-CN" dirty="0"/>
              <a:t>40%</a:t>
            </a:r>
            <a:r>
              <a:rPr lang="zh-CN" altLang="en-US" dirty="0"/>
              <a:t>的数据超过</a:t>
            </a:r>
            <a:r>
              <a:rPr lang="en-US" altLang="zh-CN" dirty="0"/>
              <a:t>long </a:t>
            </a:r>
            <a:r>
              <a:rPr lang="en-US" altLang="zh-CN" dirty="0" err="1"/>
              <a:t>long</a:t>
            </a:r>
            <a:r>
              <a:rPr lang="zh-CN" altLang="en-US" dirty="0"/>
              <a:t>的范围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1F60ADF-BEEE-4E4D-A05E-9942C23D8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169" y="5598916"/>
            <a:ext cx="5460896" cy="100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2803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C1EA3-933F-4281-B78F-6BE371E4F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06" y="432000"/>
            <a:ext cx="8230387" cy="899650"/>
          </a:xfrm>
        </p:spPr>
        <p:txBody>
          <a:bodyPr/>
          <a:lstStyle/>
          <a:p>
            <a:r>
              <a:rPr lang="zh-CN" altLang="en-US" dirty="0"/>
              <a:t>标准做法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10C058-3C3C-4FFD-9098-7167ED657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字符数组直接比大小</a:t>
            </a:r>
            <a:endParaRPr lang="en-US" altLang="zh-CN" dirty="0"/>
          </a:p>
          <a:p>
            <a:pPr lvl="1"/>
            <a:r>
              <a:rPr lang="zh-CN" altLang="en-US" dirty="0"/>
              <a:t>细节考虑：</a:t>
            </a:r>
            <a:r>
              <a:rPr lang="zh-CN" altLang="en-US" b="1" dirty="0"/>
              <a:t> 外星数字可以用最小的计数符号开头</a:t>
            </a:r>
            <a:endParaRPr lang="en-US" altLang="zh-CN" b="1" dirty="0"/>
          </a:p>
          <a:p>
            <a:pPr lvl="1"/>
            <a:r>
              <a:rPr lang="zh-CN" altLang="en-US" dirty="0"/>
              <a:t>数组比大小的时候需要处理数字开头的最小计数符号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4841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B40B5A8-05F4-4266-9738-10D3BD81FA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期中练习卷</a:t>
            </a:r>
            <a:r>
              <a:rPr lang="en-US" altLang="zh-CN" dirty="0"/>
              <a:t>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1871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F9CBCA2-F724-42E4-863C-55085FEB6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7DC03D-4CE6-476F-98C9-4F1248B21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297	</a:t>
            </a:r>
            <a:r>
              <a:rPr lang="zh-CN" altLang="en-US" dirty="0"/>
              <a:t>星期几</a:t>
            </a:r>
          </a:p>
          <a:p>
            <a:r>
              <a:rPr lang="en-US" altLang="zh-CN" dirty="0"/>
              <a:t>298	</a:t>
            </a:r>
            <a:r>
              <a:rPr lang="zh-CN" altLang="en-US" dirty="0"/>
              <a:t>被整除的数</a:t>
            </a:r>
          </a:p>
          <a:p>
            <a:r>
              <a:rPr lang="en-US" altLang="zh-CN" dirty="0"/>
              <a:t>299	</a:t>
            </a:r>
            <a:r>
              <a:rPr lang="zh-CN" altLang="en-US" dirty="0"/>
              <a:t>质因数分解</a:t>
            </a:r>
          </a:p>
          <a:p>
            <a:r>
              <a:rPr lang="en-US" altLang="zh-CN" dirty="0"/>
              <a:t>300	</a:t>
            </a:r>
            <a:r>
              <a:rPr lang="zh-CN" altLang="en-US" dirty="0"/>
              <a:t>火车票</a:t>
            </a:r>
          </a:p>
          <a:p>
            <a:r>
              <a:rPr lang="en-US" altLang="zh-CN" dirty="0"/>
              <a:t>301	</a:t>
            </a:r>
            <a:r>
              <a:rPr lang="zh-CN" altLang="en-US" dirty="0"/>
              <a:t>成绩统计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060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>
            <a:extLst>
              <a:ext uri="{FF2B5EF4-FFF2-40B4-BE49-F238E27FC236}">
                <a16:creationId xmlns:a16="http://schemas.microsoft.com/office/drawing/2014/main" id="{EC73BEFC-B702-4851-8F32-447CB2F57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星期几</a:t>
            </a:r>
            <a:endParaRPr 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1D18D92-57CD-4D7D-9FAC-D8971E7F5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626586"/>
              </p:ext>
            </p:extLst>
          </p:nvPr>
        </p:nvGraphicFramePr>
        <p:xfrm>
          <a:off x="559321" y="4234408"/>
          <a:ext cx="5514975" cy="2194560"/>
        </p:xfrm>
        <a:graphic>
          <a:graphicData uri="http://schemas.openxmlformats.org/drawingml/2006/table">
            <a:tbl>
              <a:tblPr/>
              <a:tblGrid>
                <a:gridCol w="2609850">
                  <a:extLst>
                    <a:ext uri="{9D8B030D-6E8A-4147-A177-3AD203B41FA5}">
                      <a16:colId xmlns:a16="http://schemas.microsoft.com/office/drawing/2014/main" val="2930919610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4047959502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输入样例</a:t>
                      </a:r>
                      <a:endParaRPr lang="zh-CN" altLang="en-US">
                        <a:effectLst/>
                      </a:endParaRP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输出样例</a:t>
                      </a:r>
                      <a:endParaRPr lang="zh-CN" altLang="en-US">
                        <a:effectLst/>
                      </a:endParaRP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76341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1 2</a:t>
                      </a:r>
                      <a:endParaRPr lang="en-US" dirty="0">
                        <a:effectLst/>
                      </a:endParaRPr>
                    </a:p>
                    <a:p>
                      <a:r>
                        <a:rPr lang="en-US" dirty="0">
                          <a:effectLst/>
                        </a:rPr>
                        <a:t> </a:t>
                      </a:r>
                    </a:p>
                    <a:p>
                      <a:r>
                        <a:rPr lang="en-US" b="1" dirty="0">
                          <a:effectLst/>
                        </a:rPr>
                        <a:t> 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Tuesday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Monday</a:t>
                      </a:r>
                      <a:endParaRPr lang="en-US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069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r>
                        <a:rPr lang="zh-CN" altLang="en-US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输入样例</a:t>
                      </a:r>
                      <a:r>
                        <a:rPr lang="en-US" altLang="zh-CN" dirty="0">
                          <a:effectLst/>
                        </a:rPr>
                        <a:t>2</a:t>
                      </a: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输出样例</a:t>
                      </a: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55213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2 1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Wednesday</a:t>
                      </a:r>
                      <a:endParaRPr lang="en-US" dirty="0">
                        <a:effectLst/>
                      </a:endParaRPr>
                    </a:p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Sunday</a:t>
                      </a:r>
                      <a:endParaRPr lang="en-US" dirty="0">
                        <a:effectLst/>
                      </a:endParaRPr>
                    </a:p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 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107864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972ED335-7876-47F0-86BB-01D8F6E9D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000" y="1580759"/>
            <a:ext cx="792492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给定两个用整数表示的日期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，请你分别输出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后一天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是星期几，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前一天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是星期几？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一行，包含两个整数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d1,d2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7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），分别表示两天是星期几，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表示星期一，以此类推。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输出格式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Open Sans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行，每行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个字符串，第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的后一天，第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行是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d2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的前一天。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注意，输出时输出星期几对应的英文单词，即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{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"Monday"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"Tuesday"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"Wednesday"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"Thursday"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"Friday"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"Saturday"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,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Consolas" panose="020B0609020204030204" pitchFamily="49" charset="0"/>
                <a:ea typeface="Open Sans"/>
              </a:rPr>
              <a:t>"Sunday"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Open Sans"/>
              </a:rPr>
              <a:t>}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55517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340C2E1-E0C6-49EB-800C-40ECADEC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送分题</a:t>
            </a:r>
            <a:r>
              <a:rPr lang="en-US" altLang="zh-CN" dirty="0"/>
              <a:t>——</a:t>
            </a:r>
            <a:r>
              <a:rPr lang="zh-CN" altLang="en-US" dirty="0"/>
              <a:t>但值得讨论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61247A-0B14-443A-BCCC-EF87F12FC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34478338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39051-067A-4429-973C-87C6CF8BE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被整除的数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3A25A3-FF83-4864-94AE-B55E66E05B3B}"/>
              </a:ext>
            </a:extLst>
          </p:cNvPr>
          <p:cNvSpPr/>
          <p:nvPr/>
        </p:nvSpPr>
        <p:spPr>
          <a:xfrm>
            <a:off x="520860" y="1523674"/>
            <a:ext cx="802125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Open Sans"/>
              </a:rPr>
              <a:t>求</a:t>
            </a:r>
            <a:r>
              <a:rPr lang="en-US" altLang="zh-CN" dirty="0">
                <a:latin typeface="Open Sans"/>
              </a:rPr>
              <a:t>[</a:t>
            </a:r>
            <a:r>
              <a:rPr lang="en-US" altLang="zh-CN" dirty="0" err="1">
                <a:latin typeface="Open Sans"/>
              </a:rPr>
              <a:t>a,b</a:t>
            </a:r>
            <a:r>
              <a:rPr lang="en-US" altLang="zh-CN" dirty="0">
                <a:latin typeface="Open Sans"/>
              </a:rPr>
              <a:t>]</a:t>
            </a:r>
            <a:r>
              <a:rPr lang="zh-CN" altLang="en-US" dirty="0">
                <a:latin typeface="Open Sans"/>
              </a:rPr>
              <a:t>之间，能够被</a:t>
            </a:r>
            <a:r>
              <a:rPr lang="en-US" altLang="zh-CN" dirty="0">
                <a:latin typeface="Open Sans"/>
              </a:rPr>
              <a:t>x</a:t>
            </a:r>
            <a:r>
              <a:rPr lang="zh-CN" altLang="en-US" dirty="0">
                <a:latin typeface="Open Sans"/>
              </a:rPr>
              <a:t>和</a:t>
            </a:r>
            <a:r>
              <a:rPr lang="en-US" altLang="zh-CN" dirty="0">
                <a:latin typeface="Open Sans"/>
              </a:rPr>
              <a:t>y</a:t>
            </a:r>
            <a:r>
              <a:rPr lang="zh-CN" altLang="en-US" dirty="0">
                <a:latin typeface="Open Sans"/>
              </a:rPr>
              <a:t>整除，且某一位上含有</a:t>
            </a:r>
            <a:r>
              <a:rPr lang="en-US" altLang="zh-CN" dirty="0">
                <a:latin typeface="Open Sans"/>
              </a:rPr>
              <a:t>z</a:t>
            </a:r>
            <a:r>
              <a:rPr lang="zh-CN" altLang="en-US" dirty="0">
                <a:latin typeface="Open Sans"/>
              </a:rPr>
              <a:t>的整数，按从小到大顺序输出这些整数。</a:t>
            </a:r>
          </a:p>
          <a:p>
            <a:r>
              <a:rPr lang="zh-CN" altLang="en-US" dirty="0">
                <a:latin typeface="Open Sans"/>
              </a:rPr>
              <a:t> 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Open Sans"/>
              </a:rPr>
              <a:t>输入共</a:t>
            </a:r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Open Sans"/>
              </a:rPr>
              <a:t>行，包含</a:t>
            </a:r>
            <a:r>
              <a:rPr lang="en-US" altLang="zh-CN" dirty="0">
                <a:latin typeface="Open Sans"/>
              </a:rPr>
              <a:t>5</a:t>
            </a:r>
            <a:r>
              <a:rPr lang="zh-CN" altLang="en-US" dirty="0">
                <a:latin typeface="Open Sans"/>
              </a:rPr>
              <a:t>个整数</a:t>
            </a:r>
            <a:r>
              <a:rPr lang="zh-CN" altLang="en-US" dirty="0">
                <a:latin typeface="Times New Roman" panose="02020603050405020304" pitchFamily="18" charset="0"/>
              </a:rPr>
              <a:t> </a:t>
            </a:r>
            <a:r>
              <a:rPr lang="en-US" altLang="zh-CN" dirty="0" err="1">
                <a:latin typeface="Calibri" panose="020F0502020204030204" pitchFamily="34" charset="0"/>
              </a:rPr>
              <a:t>a,b,x,y,z</a:t>
            </a:r>
            <a:r>
              <a:rPr lang="zh-CN" altLang="en-US" dirty="0">
                <a:latin typeface="Open Sans"/>
              </a:rPr>
              <a:t>。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输出格式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Open Sans"/>
              </a:rPr>
              <a:t>包含若干行，每行一个整数，为符合条件的整数，按照从小到大的顺序输出。</a:t>
            </a:r>
          </a:p>
          <a:p>
            <a:r>
              <a:rPr lang="zh-CN" altLang="en-US" dirty="0">
                <a:latin typeface="Open Sans"/>
              </a:rPr>
              <a:t>若没有符合条件的整数时，输出“</a:t>
            </a:r>
            <a:r>
              <a:rPr lang="en-US" altLang="zh-CN" dirty="0">
                <a:latin typeface="Times New Roman" panose="02020603050405020304" pitchFamily="18" charset="0"/>
              </a:rPr>
              <a:t>No</a:t>
            </a:r>
            <a:r>
              <a:rPr lang="zh-CN" altLang="en-US" dirty="0">
                <a:latin typeface="Open Sans"/>
              </a:rPr>
              <a:t>”。</a:t>
            </a:r>
            <a:endParaRPr lang="zh-CN" altLang="en-US" b="0" i="0" dirty="0">
              <a:effectLst/>
              <a:latin typeface="Open Sans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DC4AACC-7E0A-47C3-ABCC-7306D38E6E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299752"/>
              </p:ext>
            </p:extLst>
          </p:nvPr>
        </p:nvGraphicFramePr>
        <p:xfrm>
          <a:off x="3284497" y="4220980"/>
          <a:ext cx="5514975" cy="1920240"/>
        </p:xfrm>
        <a:graphic>
          <a:graphicData uri="http://schemas.openxmlformats.org/drawingml/2006/table">
            <a:tbl>
              <a:tblPr/>
              <a:tblGrid>
                <a:gridCol w="3152775">
                  <a:extLst>
                    <a:ext uri="{9D8B030D-6E8A-4147-A177-3AD203B41FA5}">
                      <a16:colId xmlns:a16="http://schemas.microsoft.com/office/drawing/2014/main" val="85160385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099529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输入样例</a:t>
                      </a:r>
                      <a:r>
                        <a:rPr lang="en-US" altLang="zh-CN">
                          <a:effectLst/>
                        </a:rPr>
                        <a:t>1</a:t>
                      </a: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输出样例</a:t>
                      </a: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822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1 50 2 3 4</a:t>
                      </a:r>
                      <a:endParaRPr lang="en-US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24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42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48</a:t>
                      </a:r>
                      <a:endParaRPr lang="en-US">
                        <a:effectLst/>
                      </a:endParaRPr>
                    </a:p>
                    <a:p>
                      <a:r>
                        <a:rPr lang="en-US">
                          <a:effectLst/>
                        </a:rPr>
                        <a:t> </a:t>
                      </a: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30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输入样例</a:t>
                      </a: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输出样例</a:t>
                      </a:r>
                      <a:r>
                        <a:rPr lang="en-US" altLang="zh-CN">
                          <a:effectLst/>
                        </a:rPr>
                        <a:t>2</a:t>
                      </a:r>
                    </a:p>
                  </a:txBody>
                  <a:tcPr marL="66675" marR="66675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379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ourier New" panose="02070309020205020404" pitchFamily="49" charset="0"/>
                        </a:rPr>
                        <a:t>10 20 3 4 5</a:t>
                      </a:r>
                      <a:endParaRPr lang="en-US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Courier New" panose="02070309020205020404" pitchFamily="49" charset="0"/>
                        </a:rPr>
                        <a:t>No</a:t>
                      </a:r>
                      <a:endParaRPr lang="en-US" dirty="0">
                        <a:effectLst/>
                      </a:endParaRPr>
                    </a:p>
                  </a:txBody>
                  <a:tcPr marL="66675" marR="66675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189109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8B97821-2829-44E6-BDCB-CBAC7810A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60" y="4178429"/>
            <a:ext cx="158248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数据规模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kumimoji="0" lang="en-US" altLang="en-US" sz="9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Open Sans"/>
              </a:rPr>
              <a:t>0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b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1,000,000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1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x,y,z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Open Sans"/>
              </a:rPr>
              <a:t>9</a:t>
            </a:r>
            <a:endParaRPr kumimoji="0" lang="en-US" altLang="en-US" sz="9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2203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8C46D-75B3-43FC-9ADE-DA454BE6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0839A-7E21-42C1-AC6E-7A518A2F9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考点：</a:t>
            </a:r>
            <a:endParaRPr lang="en-US" altLang="zh-CN" dirty="0"/>
          </a:p>
          <a:p>
            <a:pPr lvl="1"/>
            <a:r>
              <a:rPr lang="zh-CN" altLang="en-US" dirty="0"/>
              <a:t>枚举</a:t>
            </a:r>
            <a:endParaRPr lang="en-US" altLang="zh-CN" dirty="0"/>
          </a:p>
          <a:p>
            <a:pPr lvl="2"/>
            <a:r>
              <a:rPr lang="zh-CN" altLang="en-US" dirty="0"/>
              <a:t>按照数字从小到大输出</a:t>
            </a:r>
            <a:endParaRPr lang="en-US" altLang="zh-CN" dirty="0"/>
          </a:p>
          <a:p>
            <a:pPr lvl="1"/>
            <a:r>
              <a:rPr lang="zh-CN" altLang="en-US" dirty="0"/>
              <a:t>数位分离</a:t>
            </a:r>
            <a:endParaRPr lang="en-US" altLang="zh-CN" dirty="0"/>
          </a:p>
          <a:p>
            <a:pPr lvl="2"/>
            <a:r>
              <a:rPr lang="en-US" b="1" dirty="0"/>
              <a:t>char *  </a:t>
            </a:r>
            <a:r>
              <a:rPr lang="en-US" b="1" dirty="0" err="1"/>
              <a:t>itoa</a:t>
            </a:r>
            <a:r>
              <a:rPr lang="en-US" b="1" dirty="0"/>
              <a:t> ( int value, char * str, int base );</a:t>
            </a:r>
          </a:p>
          <a:p>
            <a:pPr lvl="2"/>
            <a:r>
              <a:rPr lang="en-US" dirty="0">
                <a:hlinkClick r:id="rId3"/>
              </a:rPr>
              <a:t>https://cplusplus.com/reference/cstdlib/itoa/</a:t>
            </a:r>
            <a:endParaRPr lang="en-US" dirty="0"/>
          </a:p>
          <a:p>
            <a:pPr lvl="3"/>
            <a:r>
              <a:rPr lang="en-US" dirty="0"/>
              <a:t>This function is </a:t>
            </a:r>
            <a:r>
              <a:rPr lang="en-US" b="1" dirty="0"/>
              <a:t>not</a:t>
            </a:r>
            <a:r>
              <a:rPr lang="en-US" dirty="0"/>
              <a:t> defined in ANSI-C and is </a:t>
            </a:r>
            <a:r>
              <a:rPr lang="en-US" b="1" dirty="0"/>
              <a:t>not</a:t>
            </a:r>
            <a:r>
              <a:rPr lang="en-US" dirty="0"/>
              <a:t> part of C++, but is supported by some compilers.</a:t>
            </a:r>
          </a:p>
          <a:p>
            <a:pPr lvl="2"/>
            <a:endParaRPr lang="fr-FR" dirty="0"/>
          </a:p>
          <a:p>
            <a:pPr lvl="2"/>
            <a:r>
              <a:rPr lang="fr-FR" b="1" dirty="0"/>
              <a:t>int atoi (const char * str);</a:t>
            </a:r>
            <a:endParaRPr lang="en-US" b="1" dirty="0">
              <a:hlinkClick r:id="rId3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1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635A92-5F2C-4F82-8FCB-C8257DD9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质因数分解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262F11-B383-4375-8131-373CA15D0C23}"/>
              </a:ext>
            </a:extLst>
          </p:cNvPr>
          <p:cNvSpPr/>
          <p:nvPr/>
        </p:nvSpPr>
        <p:spPr>
          <a:xfrm>
            <a:off x="555585" y="1409242"/>
            <a:ext cx="834534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39370"/>
            <a:r>
              <a:rPr lang="zh-CN" altLang="en-US" sz="1600" dirty="0">
                <a:latin typeface="Open Sans"/>
              </a:rPr>
              <a:t>给定一个整数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，请给出它的质因数分解。</a:t>
            </a:r>
          </a:p>
          <a:p>
            <a:pPr marL="266700" indent="39370"/>
            <a:r>
              <a:rPr lang="zh-CN" altLang="en-US" sz="1600" dirty="0">
                <a:latin typeface="Open Sans"/>
              </a:rPr>
              <a:t>如</a:t>
            </a:r>
            <a:r>
              <a:rPr lang="en-US" altLang="zh-CN" sz="1600" dirty="0">
                <a:latin typeface="Open Sans"/>
              </a:rPr>
              <a:t>28</a:t>
            </a:r>
            <a:r>
              <a:rPr lang="zh-CN" altLang="en-US" sz="1600" dirty="0">
                <a:latin typeface="Open Sans"/>
              </a:rPr>
              <a:t>可以如下分解：</a:t>
            </a:r>
            <a:r>
              <a:rPr lang="en-US" altLang="zh-CN" sz="1100" dirty="0">
                <a:latin typeface="Open Sans"/>
              </a:rPr>
              <a:t>28=</a:t>
            </a:r>
            <a:r>
              <a:rPr lang="en-US" altLang="zh-CN" sz="1100" i="1" dirty="0">
                <a:latin typeface="Open Sans"/>
              </a:rPr>
              <a:t>2^2×7</a:t>
            </a:r>
            <a:endParaRPr lang="zh-CN" altLang="en-US" sz="1600" dirty="0">
              <a:latin typeface="Open Sans"/>
            </a:endParaRPr>
          </a:p>
          <a:p>
            <a:pPr marL="266700" indent="39370"/>
            <a:r>
              <a:rPr lang="zh-CN" altLang="en-US" sz="1600" dirty="0">
                <a:latin typeface="Open Sans"/>
              </a:rPr>
              <a:t>请你输出的每个质因数以及该质因数的指数。</a:t>
            </a:r>
          </a:p>
          <a:p>
            <a:endParaRPr lang="en-US" altLang="zh-CN" sz="1600" b="1" dirty="0">
              <a:latin typeface="Lato"/>
            </a:endParaRPr>
          </a:p>
          <a:p>
            <a:r>
              <a:rPr lang="zh-CN" altLang="en-US" sz="1600" b="1" dirty="0">
                <a:latin typeface="Lato"/>
              </a:rPr>
              <a:t>输入格式</a:t>
            </a:r>
          </a:p>
          <a:p>
            <a:r>
              <a:rPr lang="zh-CN" altLang="en-US" sz="1600" dirty="0">
                <a:latin typeface="Open Sans"/>
              </a:rPr>
              <a:t>一行，包含一个整数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（</a:t>
            </a:r>
            <a:r>
              <a:rPr lang="en-US" altLang="zh-CN" sz="1600" dirty="0">
                <a:latin typeface="Open Sans"/>
              </a:rPr>
              <a:t>2≤n≤10000</a:t>
            </a:r>
            <a:r>
              <a:rPr lang="zh-CN" altLang="en-US" sz="1600" dirty="0">
                <a:latin typeface="Open Sans"/>
              </a:rPr>
              <a:t>）。</a:t>
            </a:r>
          </a:p>
          <a:p>
            <a:r>
              <a:rPr lang="zh-CN" altLang="en-US" sz="1600" b="1" dirty="0">
                <a:latin typeface="Lato"/>
              </a:rPr>
              <a:t>输出格式</a:t>
            </a:r>
          </a:p>
          <a:p>
            <a:r>
              <a:rPr lang="zh-CN" altLang="en-US" sz="1600" dirty="0">
                <a:latin typeface="Open Sans"/>
              </a:rPr>
              <a:t>若干行，每行输出整数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Open Sans"/>
              </a:rPr>
              <a:t>的一个质因数，以及该质因数的指数，之间用一个冒号：隔开，且按质因数从小到大的顺序输出。</a:t>
            </a:r>
          </a:p>
          <a:p>
            <a:r>
              <a:rPr lang="zh-CN" altLang="en-US" sz="1600" b="1" dirty="0">
                <a:latin typeface="Lato"/>
              </a:rPr>
              <a:t>输入样例</a:t>
            </a:r>
          </a:p>
          <a:p>
            <a:r>
              <a:rPr lang="en-US" altLang="zh-CN" sz="1600" dirty="0">
                <a:latin typeface="Open Sans"/>
              </a:rPr>
              <a:t>28</a:t>
            </a:r>
          </a:p>
          <a:p>
            <a:r>
              <a:rPr lang="zh-CN" altLang="en-US" sz="1600" b="1" dirty="0">
                <a:latin typeface="Lato"/>
              </a:rPr>
              <a:t>输出样例</a:t>
            </a:r>
          </a:p>
          <a:p>
            <a:r>
              <a:rPr lang="en-US" altLang="zh-CN" sz="1600" dirty="0">
                <a:latin typeface="Open Sans"/>
              </a:rPr>
              <a:t>2:2</a:t>
            </a:r>
          </a:p>
          <a:p>
            <a:r>
              <a:rPr lang="en-US" altLang="zh-CN" sz="1600" dirty="0">
                <a:latin typeface="Open Sans"/>
              </a:rPr>
              <a:t>7:1</a:t>
            </a:r>
          </a:p>
          <a:p>
            <a:r>
              <a:rPr lang="zh-CN" altLang="en-US" sz="1600" b="1" dirty="0">
                <a:latin typeface="Lato"/>
              </a:rPr>
              <a:t>特殊提示</a:t>
            </a:r>
          </a:p>
          <a:p>
            <a:r>
              <a:rPr lang="zh-CN" altLang="en-US" sz="1600" dirty="0">
                <a:latin typeface="Open Sans"/>
              </a:rPr>
              <a:t>输入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2 </a:t>
            </a:r>
          </a:p>
          <a:p>
            <a:r>
              <a:rPr lang="zh-CN" altLang="en-US" sz="1600" dirty="0">
                <a:latin typeface="Open Sans"/>
              </a:rPr>
              <a:t>输出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Open Sans"/>
              </a:rPr>
              <a:t>： </a:t>
            </a:r>
          </a:p>
          <a:p>
            <a:r>
              <a:rPr lang="en-US" altLang="zh-CN" sz="1600" dirty="0">
                <a:latin typeface="Open Sans"/>
              </a:rPr>
              <a:t>2:1</a:t>
            </a:r>
            <a:endParaRPr lang="en-US" altLang="zh-CN" sz="16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595022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CFC13-7B29-449D-BC39-768FFC47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考点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040FF0-363F-49FD-A566-67CD71F0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35837"/>
            <a:ext cx="6521956" cy="4764163"/>
          </a:xfrm>
        </p:spPr>
        <p:txBody>
          <a:bodyPr/>
          <a:lstStyle/>
          <a:p>
            <a:r>
              <a:rPr lang="zh-CN" altLang="en-US" dirty="0"/>
              <a:t>素数</a:t>
            </a:r>
            <a:endParaRPr lang="en-US" altLang="zh-CN" dirty="0"/>
          </a:p>
          <a:p>
            <a:pPr lvl="1"/>
            <a:r>
              <a:rPr lang="zh-CN" altLang="en-US" dirty="0"/>
              <a:t>可以提前将可能用到的素数保存为数组</a:t>
            </a:r>
            <a:endParaRPr lang="en-US" altLang="zh-CN" dirty="0"/>
          </a:p>
          <a:p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15334DE-9203-429F-9490-FC91E64F74A5}"/>
              </a:ext>
            </a:extLst>
          </p:cNvPr>
          <p:cNvGrpSpPr/>
          <p:nvPr/>
        </p:nvGrpSpPr>
        <p:grpSpPr>
          <a:xfrm>
            <a:off x="826953" y="2879215"/>
            <a:ext cx="8054971" cy="3754874"/>
            <a:chOff x="826953" y="2879215"/>
            <a:chExt cx="8054971" cy="3754874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D56781-E0F3-4427-B218-042B196624C5}"/>
                </a:ext>
              </a:extLst>
            </p:cNvPr>
            <p:cNvSpPr/>
            <p:nvPr/>
          </p:nvSpPr>
          <p:spPr>
            <a:xfrm>
              <a:off x="826953" y="3059668"/>
              <a:ext cx="330250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方法</a:t>
              </a:r>
              <a:r>
                <a:rPr lang="en-US" altLang="zh-CN" dirty="0"/>
                <a:t>2</a:t>
              </a:r>
              <a:r>
                <a:rPr lang="zh-CN" altLang="en-US" dirty="0"/>
                <a:t>：不用考虑素数，直接求</a:t>
              </a:r>
              <a:endParaRPr lang="en-US" altLang="zh-CN" dirty="0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E43E9F8-3E2D-4E78-AF75-E86DC609E16A}"/>
                </a:ext>
              </a:extLst>
            </p:cNvPr>
            <p:cNvSpPr/>
            <p:nvPr/>
          </p:nvSpPr>
          <p:spPr>
            <a:xfrm>
              <a:off x="4309924" y="2879215"/>
              <a:ext cx="4572000" cy="375487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main()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n, k, divisor,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scanf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&amp;n);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for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(k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2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 k &lt;= n; k++)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while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 n % k ==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{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++;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n /= k;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if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(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&gt;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       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printf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(</a:t>
              </a:r>
              <a:r>
                <a:rPr lang="en-US" sz="1400" dirty="0">
                  <a:solidFill>
                    <a:srgbClr val="A31515"/>
                  </a:solidFill>
                  <a:latin typeface="Consolas" panose="020B0609020204030204" pitchFamily="49" charset="0"/>
                </a:rPr>
                <a:t>"%d:%d\n"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, k, </a:t>
              </a:r>
              <a:r>
                <a:rPr lang="en-US" sz="1400" dirty="0" err="1">
                  <a:solidFill>
                    <a:srgbClr val="000000"/>
                  </a:solidFill>
                  <a:latin typeface="Consolas" panose="020B0609020204030204" pitchFamily="49" charset="0"/>
                </a:rPr>
                <a:t>nCount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);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}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   </a:t>
              </a:r>
              <a:r>
                <a:rPr lang="en-US" sz="14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1400" dirty="0">
                  <a:solidFill>
                    <a:srgbClr val="098658"/>
                  </a:solidFill>
                  <a:latin typeface="Consolas" panose="020B0609020204030204" pitchFamily="49" charset="0"/>
                </a:rPr>
                <a:t>0</a:t>
              </a:r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;</a:t>
              </a:r>
            </a:p>
            <a:p>
              <a:r>
                <a:rPr lang="en-US" sz="14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}</a:t>
              </a:r>
              <a:endPara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687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13082-2DFF-493C-B562-01C2AD83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火车票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3661AE-4C64-498E-B642-2CA1F5B4610A}"/>
              </a:ext>
            </a:extLst>
          </p:cNvPr>
          <p:cNvSpPr/>
          <p:nvPr/>
        </p:nvSpPr>
        <p:spPr>
          <a:xfrm>
            <a:off x="456807" y="1568524"/>
            <a:ext cx="82303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有一条火车线路，从</a:t>
            </a:r>
            <a:r>
              <a:rPr lang="en-US" altLang="zh-CN" dirty="0">
                <a:latin typeface="Open Sans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站，经过</a:t>
            </a:r>
            <a:r>
              <a:rPr lang="en-US" altLang="zh-CN" dirty="0">
                <a:latin typeface="Open Sans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Open Sans"/>
              </a:rPr>
              <a:t>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两站，到达</a:t>
            </a:r>
            <a:r>
              <a:rPr lang="en-US" altLang="zh-CN" dirty="0">
                <a:latin typeface="Open Sans"/>
              </a:rPr>
              <a:t>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这趟火车一共有</a:t>
            </a:r>
            <a:r>
              <a:rPr lang="en-US" altLang="zh-CN" dirty="0">
                <a:latin typeface="Open Sans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dirty="0">
                <a:latin typeface="Open Sans"/>
              </a:rPr>
              <a:t>1≤N≤100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）个座位。在有座的前提下，车站可以卖全程票即从</a:t>
            </a:r>
            <a:r>
              <a:rPr lang="en-US" altLang="zh-CN" dirty="0">
                <a:latin typeface="Open Sans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dirty="0">
                <a:latin typeface="Open Sans"/>
              </a:rPr>
              <a:t>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（用</a:t>
            </a:r>
            <a:r>
              <a:rPr lang="en-US" altLang="zh-CN" dirty="0">
                <a:latin typeface="Open Sans"/>
              </a:rPr>
              <a:t>AD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表示），也可以卖区间票，例如从</a:t>
            </a:r>
            <a:r>
              <a:rPr lang="en-US" altLang="zh-CN" dirty="0">
                <a:latin typeface="Open Sans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站到</a:t>
            </a:r>
            <a:r>
              <a:rPr lang="en-US" altLang="zh-CN" dirty="0">
                <a:latin typeface="Open Sans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站（用</a:t>
            </a:r>
            <a:r>
              <a:rPr lang="en-US" altLang="zh-CN" dirty="0">
                <a:latin typeface="Open Sans"/>
              </a:rPr>
              <a:t>AB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表示）、从</a:t>
            </a:r>
            <a:r>
              <a:rPr lang="en-US" altLang="zh-CN" dirty="0">
                <a:latin typeface="Open Sans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站到</a:t>
            </a:r>
            <a:r>
              <a:rPr lang="en-US" altLang="zh-CN" dirty="0">
                <a:latin typeface="Open Sans"/>
              </a:rPr>
              <a:t>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站（用</a:t>
            </a:r>
            <a:r>
              <a:rPr lang="en-US" altLang="zh-CN" dirty="0">
                <a:latin typeface="Open Sans"/>
              </a:rPr>
              <a:t>BD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表示）。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旅客可以买全程票或者区间票，也可以退票。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经过一系列买票、退票操作后，请问还有多少全程票可卖？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第一行包含一个整数</a:t>
            </a:r>
            <a:r>
              <a:rPr lang="en-US" altLang="zh-CN" dirty="0">
                <a:latin typeface="Open Sans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，表示这趟火车的座位数。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第二行开始的若干行，每行</a:t>
            </a:r>
            <a:r>
              <a:rPr lang="en-US" altLang="zh-CN" dirty="0">
                <a:latin typeface="Open Sans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个字符，其中第</a:t>
            </a:r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个字符为</a:t>
            </a:r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dirty="0">
                <a:latin typeface="Open Sans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表示买票操作，</a:t>
            </a:r>
            <a:r>
              <a:rPr lang="en-US" altLang="zh-CN" dirty="0">
                <a:latin typeface="Open Sans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表示退票操作；第</a:t>
            </a:r>
            <a:r>
              <a:rPr lang="en-US" altLang="zh-CN" dirty="0">
                <a:latin typeface="Open Sans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Open Sans"/>
              </a:rPr>
              <a:t>3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个字符为代表车站的字符，例如</a:t>
            </a:r>
            <a:r>
              <a:rPr lang="en-US" altLang="zh-CN" dirty="0">
                <a:latin typeface="Open Sans"/>
              </a:rPr>
              <a:t>AB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lang="en-US" altLang="zh-CN" dirty="0">
                <a:latin typeface="Open Sans"/>
              </a:rPr>
              <a:t>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dirty="0">
                <a:latin typeface="Open Sans"/>
              </a:rPr>
              <a:t>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的票。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最末一行包含一个整数</a:t>
            </a:r>
            <a:r>
              <a:rPr lang="en-US" altLang="zh-CN" dirty="0">
                <a:latin typeface="Open Sans"/>
              </a:rPr>
              <a:t>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，表示输入结束。</a:t>
            </a:r>
            <a:endParaRPr lang="zh-CN" altLang="en-US" dirty="0">
              <a:latin typeface="Open Sans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注意：</a:t>
            </a:r>
            <a:endParaRPr lang="zh-CN" altLang="en-US" dirty="0">
              <a:latin typeface="Open Sans"/>
            </a:endParaRPr>
          </a:p>
          <a:p>
            <a:r>
              <a:rPr lang="en-US" altLang="zh-CN" b="1" dirty="0">
                <a:latin typeface="Open Sans"/>
              </a:rPr>
              <a:t>1</a:t>
            </a:r>
            <a:r>
              <a:rPr lang="zh-CN" altLang="en-US" b="1" dirty="0">
                <a:latin typeface="Open Sans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输入数据保证合法，也保证操作序列合法，比如前面有卖出的票的操作，后面才能有相应的退票操作。</a:t>
            </a:r>
            <a:endParaRPr lang="zh-CN" altLang="en-US" dirty="0">
              <a:latin typeface="Open Sans"/>
            </a:endParaRPr>
          </a:p>
          <a:p>
            <a:r>
              <a:rPr lang="en-US" altLang="zh-CN" b="1" dirty="0">
                <a:latin typeface="Open Sans"/>
              </a:rPr>
              <a:t>2</a:t>
            </a:r>
            <a:r>
              <a:rPr lang="zh-CN" altLang="en-US" b="1" dirty="0">
                <a:latin typeface="Open Sans"/>
              </a:rPr>
              <a:t>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买票、退票最多有</a:t>
            </a:r>
            <a:r>
              <a:rPr lang="en-US" altLang="zh-CN" b="1" dirty="0">
                <a:latin typeface="Open Sans"/>
              </a:rPr>
              <a:t>50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行；可以没有买票，也可以没有退票。</a:t>
            </a:r>
            <a:endParaRPr lang="zh-CN" altLang="en-US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194174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B1A5F-2FA3-486D-8783-5AADC604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911611-3676-4703-9289-8F7E5A2A3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模拟题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如何存储数据？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17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9A28E-8C60-4021-9967-2442EFDD9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成绩统计</a:t>
            </a:r>
            <a:endParaRPr 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E23A0FB-3673-4ED9-9DAF-9087C84707E6}"/>
              </a:ext>
            </a:extLst>
          </p:cNvPr>
          <p:cNvSpPr/>
          <p:nvPr/>
        </p:nvSpPr>
        <p:spPr>
          <a:xfrm>
            <a:off x="431999" y="1407134"/>
            <a:ext cx="787862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问题描述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Open Sans"/>
              </a:rPr>
              <a:t>      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期中考试后，老师需要对班里学生的成绩进行统计分析，了解各个分数段的人数。</a:t>
            </a:r>
            <a:endParaRPr lang="zh-CN" altLang="en-US" dirty="0">
              <a:latin typeface="Open Sans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给定所有学生的成绩和成绩分段方式，请你编程帮忙以下任务：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Open Sans"/>
              </a:rPr>
              <a:t>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统计各个分数段的人数，并按照分数段人数从大到小输出；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Open Sans"/>
              </a:rPr>
              <a:t>2</a:t>
            </a:r>
            <a:r>
              <a:rPr lang="zh-CN" altLang="en-US" dirty="0">
                <a:latin typeface="Open Sans"/>
              </a:rPr>
              <a:t>）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将按分数段统计的结果用模拟的直方图显示出来。</a:t>
            </a:r>
            <a:endParaRPr lang="zh-CN" altLang="en-US" b="0" i="0" dirty="0">
              <a:effectLst/>
              <a:latin typeface="Open San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AC61CE4-949A-4E9B-976B-92F2D925F8FB}"/>
              </a:ext>
            </a:extLst>
          </p:cNvPr>
          <p:cNvSpPr/>
          <p:nvPr/>
        </p:nvSpPr>
        <p:spPr>
          <a:xfrm>
            <a:off x="431999" y="3249932"/>
            <a:ext cx="8279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输入格式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sz="1600" dirty="0">
              <a:latin typeface="Open Sans"/>
            </a:endParaRP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行包含</a:t>
            </a:r>
            <a:r>
              <a:rPr lang="en-US" altLang="zh-CN" sz="1600" dirty="0">
                <a:latin typeface="Open Sans"/>
              </a:rPr>
              <a:t>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个整数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g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，分别表示学生人数、分数段个数、需解决的任务编号。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Open Sans"/>
              </a:rPr>
              <a:t>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表示将成绩区间</a:t>
            </a:r>
            <a:r>
              <a:rPr lang="en-US" altLang="zh-CN" sz="1600" dirty="0">
                <a:latin typeface="Open Sans"/>
              </a:rPr>
              <a:t>[0, 100]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平均分成</a:t>
            </a:r>
            <a:r>
              <a:rPr lang="en-US" altLang="zh-CN" sz="1600" dirty="0">
                <a:latin typeface="Open Sans"/>
              </a:rPr>
              <a:t>m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个分数段。例如</a:t>
            </a:r>
            <a:r>
              <a:rPr lang="en-US" altLang="zh-CN" sz="1600" dirty="0">
                <a:latin typeface="Open Sans"/>
              </a:rPr>
              <a:t>m = 5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表示分为</a:t>
            </a:r>
            <a:r>
              <a:rPr lang="en-US" altLang="zh-CN" sz="1600" dirty="0">
                <a:latin typeface="Open Sans"/>
              </a:rPr>
              <a:t>5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个分数段，分别是</a:t>
            </a:r>
            <a:r>
              <a:rPr lang="en-US" altLang="zh-CN" sz="1600" dirty="0">
                <a:latin typeface="Open Sans"/>
              </a:rPr>
              <a:t>[0, 20)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[20, 40)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[40, 60)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[60, 80)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[80, 100]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Open Sans"/>
              </a:rPr>
              <a:t>g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一共有</a:t>
            </a:r>
            <a:r>
              <a:rPr lang="en-US" altLang="zh-CN" sz="1600" dirty="0">
                <a:latin typeface="Open Sans"/>
              </a:rPr>
              <a:t>3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种取值，分别是</a:t>
            </a:r>
            <a:r>
              <a:rPr lang="en-US" altLang="zh-CN" sz="1600" dirty="0">
                <a:latin typeface="Open Sans"/>
              </a:rPr>
              <a:t>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zh-CN" altLang="en-US" sz="1600" dirty="0">
              <a:latin typeface="Open Sa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Open Sans"/>
              </a:rPr>
              <a:t>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表示任务</a:t>
            </a: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均需完成，且先完成任务</a:t>
            </a: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，再完成任务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sz="1600" dirty="0">
              <a:latin typeface="Open Sa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表示只完成任务</a:t>
            </a:r>
            <a:r>
              <a:rPr lang="en-US" altLang="zh-CN" sz="1600" dirty="0">
                <a:latin typeface="Open Sans"/>
              </a:rPr>
              <a:t>1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sz="1600" dirty="0">
              <a:latin typeface="Open Sa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表示只完成任务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dirty="0">
              <a:latin typeface="Open Sans"/>
            </a:endParaRP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600" dirty="0">
                <a:latin typeface="Open Sans"/>
              </a:rPr>
              <a:t>2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行包含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dirty="0">
                <a:latin typeface="Open Sans"/>
              </a:rPr>
              <a:t>[0, 100]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之间的整数，为</a:t>
            </a:r>
            <a:r>
              <a:rPr lang="en-US" altLang="zh-CN" sz="1600" dirty="0">
                <a:latin typeface="Open Sans"/>
              </a:rPr>
              <a:t>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个学生的期中考试成绩。</a:t>
            </a:r>
            <a:endParaRPr lang="zh-CN" altLang="en-US" sz="1600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138496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40398-40F9-44D3-B256-01D4C2C05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58738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成绩统计</a:t>
            </a:r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59CF6E-77DE-4167-A600-3D2DE1BEA0DD}"/>
              </a:ext>
            </a:extLst>
          </p:cNvPr>
          <p:cNvSpPr/>
          <p:nvPr/>
        </p:nvSpPr>
        <p:spPr>
          <a:xfrm>
            <a:off x="3378776" y="2222835"/>
            <a:ext cx="41515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数据规模说明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Open Sans"/>
              </a:rPr>
              <a:t>100%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</a:t>
            </a:r>
            <a:r>
              <a:rPr lang="en-US" altLang="zh-CN" dirty="0">
                <a:latin typeface="Open Sans"/>
              </a:rPr>
              <a:t>0&lt;n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dirty="0">
                <a:latin typeface="Open Sans"/>
              </a:rPr>
              <a:t>5000</a:t>
            </a:r>
            <a:r>
              <a:rPr lang="zh-CN" altLang="en-US" dirty="0">
                <a:latin typeface="Open Sans"/>
              </a:rPr>
              <a:t>，</a:t>
            </a:r>
            <a:r>
              <a:rPr lang="en-US" altLang="zh-CN" dirty="0">
                <a:latin typeface="Open Sans"/>
              </a:rPr>
              <a:t>2&lt;m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dirty="0">
                <a:latin typeface="Open Sans"/>
              </a:rPr>
              <a:t>10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，且</a:t>
            </a:r>
            <a:r>
              <a:rPr lang="en-US" altLang="zh-CN" dirty="0">
                <a:latin typeface="Open Sans"/>
              </a:rPr>
              <a:t>100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能被</a:t>
            </a:r>
            <a:r>
              <a:rPr lang="en-US" altLang="zh-CN" dirty="0">
                <a:latin typeface="Open Sans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整除。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Open Sans"/>
              </a:rPr>
              <a:t>g = 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Open Sans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Open Sans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的数据比例分别为</a:t>
            </a:r>
            <a:r>
              <a:rPr lang="en-US" altLang="zh-CN" dirty="0">
                <a:latin typeface="Open Sans"/>
              </a:rPr>
              <a:t>20%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Open Sans"/>
              </a:rPr>
              <a:t>40%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dirty="0">
                <a:latin typeface="Open Sans"/>
              </a:rPr>
              <a:t> </a:t>
            </a:r>
            <a:r>
              <a:rPr lang="en-US" altLang="zh-CN" dirty="0">
                <a:latin typeface="Open Sans"/>
              </a:rPr>
              <a:t>40%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Open Sans"/>
              </a:rPr>
              <a:t>20%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</a:t>
            </a:r>
            <a:r>
              <a:rPr lang="en-US" altLang="zh-CN" dirty="0">
                <a:latin typeface="Open Sans"/>
              </a:rPr>
              <a:t>0&lt;n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dirty="0">
                <a:latin typeface="Open Sans"/>
              </a:rPr>
              <a:t>30</a:t>
            </a:r>
          </a:p>
          <a:p>
            <a:r>
              <a:rPr lang="en-US" altLang="zh-CN" dirty="0">
                <a:latin typeface="Open Sans"/>
              </a:rPr>
              <a:t>40%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的数据</a:t>
            </a:r>
            <a:r>
              <a:rPr lang="en-US" altLang="zh-CN" dirty="0">
                <a:latin typeface="Open Sans"/>
              </a:rPr>
              <a:t>0&lt;n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≤</a:t>
            </a:r>
            <a:r>
              <a:rPr lang="en-US" altLang="zh-CN" dirty="0">
                <a:latin typeface="Open Sans"/>
              </a:rPr>
              <a:t>100</a:t>
            </a:r>
            <a:endParaRPr lang="en-US" altLang="zh-CN" b="0" i="0" dirty="0">
              <a:effectLst/>
              <a:latin typeface="Open San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1DF994-6B0D-4E42-BC26-56C72AF01CA0}"/>
              </a:ext>
            </a:extLst>
          </p:cNvPr>
          <p:cNvSpPr/>
          <p:nvPr/>
        </p:nvSpPr>
        <p:spPr>
          <a:xfrm>
            <a:off x="524593" y="1211626"/>
            <a:ext cx="828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输入样例</a:t>
            </a:r>
            <a:r>
              <a:rPr lang="en-US" altLang="zh-CN" dirty="0">
                <a:latin typeface="Open Sans"/>
              </a:rPr>
              <a:t>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Courier New" panose="02070309020205020404" pitchFamily="49" charset="0"/>
              </a:rPr>
              <a:t>20 10 0</a:t>
            </a:r>
            <a:endParaRPr lang="zh-CN" altLang="en-US" dirty="0">
              <a:latin typeface="Open Sans"/>
            </a:endParaRPr>
          </a:p>
          <a:p>
            <a:r>
              <a:rPr lang="en-US" altLang="zh-CN" dirty="0">
                <a:latin typeface="Courier New" panose="02070309020205020404" pitchFamily="49" charset="0"/>
              </a:rPr>
              <a:t>88 90 75 68 77 85 86 99 10095 60 55 32 93 63 60 78 96 70 80</a:t>
            </a:r>
            <a:endParaRPr lang="zh-CN" altLang="en-US" b="0" i="0" dirty="0">
              <a:effectLst/>
              <a:latin typeface="Open Sans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58C18F-878D-41F4-9F03-1A722D45EDDA}"/>
              </a:ext>
            </a:extLst>
          </p:cNvPr>
          <p:cNvSpPr/>
          <p:nvPr/>
        </p:nvSpPr>
        <p:spPr>
          <a:xfrm>
            <a:off x="524593" y="2222835"/>
            <a:ext cx="2274426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输出样例</a:t>
            </a:r>
            <a:r>
              <a:rPr lang="en-US" altLang="zh-CN" dirty="0">
                <a:latin typeface="Open Sans"/>
              </a:rPr>
              <a:t>1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endParaRPr lang="zh-CN" altLang="en-US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[90,100]: 6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[60, 70): 4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[70, 80): 4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[80, 90): 4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[30, 40): 1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[50, 60): 1</a:t>
            </a:r>
            <a:endParaRPr lang="zh-CN" altLang="en-US" sz="1600" dirty="0">
              <a:latin typeface="Open Sans"/>
            </a:endParaRPr>
          </a:p>
          <a:p>
            <a:r>
              <a:rPr lang="zh-CN" altLang="en-US" sz="1600" dirty="0">
                <a:latin typeface="Courier New" panose="02070309020205020404" pitchFamily="49" charset="0"/>
              </a:rPr>
              <a:t> 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[ 0, 10):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[10, 20):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[20, 30):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[30, 40):*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[40, 50):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[50, 60):*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[60, 70):****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[70, 80):****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[80, 90):****</a:t>
            </a:r>
            <a:endParaRPr lang="zh-CN" altLang="en-US" sz="1600" dirty="0">
              <a:latin typeface="Open Sans"/>
            </a:endParaRPr>
          </a:p>
          <a:p>
            <a:r>
              <a:rPr lang="en-US" altLang="zh-CN" sz="1600" dirty="0">
                <a:latin typeface="Courier New" panose="02070309020205020404" pitchFamily="49" charset="0"/>
              </a:rPr>
              <a:t>[90,100]:******</a:t>
            </a:r>
            <a:endParaRPr lang="zh-CN" altLang="en-US" b="0" i="0" dirty="0"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99017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0024B-3CD6-4601-BB0C-31AE629AC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题目分析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0A5D02-7DDD-4BBC-B9EE-8FC164C49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本质：统计</a:t>
            </a:r>
            <a:r>
              <a:rPr lang="en-US" altLang="zh-CN" dirty="0"/>
              <a:t>+</a:t>
            </a:r>
            <a:r>
              <a:rPr lang="zh-CN" altLang="en-US" dirty="0"/>
              <a:t>排序</a:t>
            </a:r>
            <a:endParaRPr lang="en-US" altLang="zh-CN" dirty="0"/>
          </a:p>
          <a:p>
            <a:pPr lvl="1"/>
            <a:r>
              <a:rPr lang="zh-CN" altLang="en-US" dirty="0"/>
              <a:t>数据存储</a:t>
            </a:r>
            <a:endParaRPr lang="en-US" altLang="zh-CN" dirty="0"/>
          </a:p>
          <a:p>
            <a:pPr lvl="1"/>
            <a:r>
              <a:rPr lang="zh-CN" altLang="en-US" dirty="0"/>
              <a:t>结构体排序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直方图输出</a:t>
            </a:r>
            <a:endParaRPr lang="en-US" altLang="zh-CN" dirty="0"/>
          </a:p>
          <a:p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5643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27B7A74-BB63-491D-9AD2-6E77998BE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期中练习卷</a:t>
            </a:r>
            <a:r>
              <a:rPr lang="en-US" altLang="zh-CN" dirty="0"/>
              <a:t>03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921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54C098-58B4-47CF-8B11-1BB5E1CE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题目列表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395B17-A265-4485-844D-ACB9ED0B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分段函数</a:t>
            </a:r>
            <a:r>
              <a:rPr lang="en-US" altLang="zh-CN" dirty="0"/>
              <a:t>2	(</a:t>
            </a:r>
            <a:r>
              <a:rPr lang="zh-CN" altLang="en-US" dirty="0"/>
              <a:t>略）</a:t>
            </a:r>
            <a:endParaRPr lang="en-US" altLang="zh-CN" dirty="0"/>
          </a:p>
          <a:p>
            <a:r>
              <a:rPr lang="zh-CN" altLang="en-US" dirty="0"/>
              <a:t>同构数	</a:t>
            </a:r>
          </a:p>
          <a:p>
            <a:r>
              <a:rPr lang="zh-CN" altLang="en-US" dirty="0"/>
              <a:t>奖金发放	</a:t>
            </a:r>
          </a:p>
          <a:p>
            <a:r>
              <a:rPr lang="zh-CN" altLang="en-US" dirty="0"/>
              <a:t>刷题高手	</a:t>
            </a:r>
          </a:p>
          <a:p>
            <a:r>
              <a:rPr lang="zh-CN" altLang="en-US" dirty="0"/>
              <a:t>相似乐曲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7378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87016-0CCB-45FF-B914-B82390BB6F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/>
          <a:lstStyle/>
          <a:p>
            <a:r>
              <a:rPr lang="zh-CN" altLang="en-US" dirty="0"/>
              <a:t>期中练习卷</a:t>
            </a:r>
            <a:r>
              <a:rPr lang="en-US" altLang="zh-CN" dirty="0"/>
              <a:t>01</a:t>
            </a:r>
            <a:br>
              <a:rPr lang="en-US" altLang="zh-CN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534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1CFD4A8-A50F-4F7E-BAAD-7E8F723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题目列表</a:t>
            </a:r>
            <a:endParaRPr 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839775-CE58-438C-A6BC-EA7F737A2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316		</a:t>
            </a:r>
            <a:r>
              <a:rPr lang="zh-CN" altLang="en-US" dirty="0"/>
              <a:t>判断星期</a:t>
            </a:r>
          </a:p>
          <a:p>
            <a:r>
              <a:rPr lang="en-US" altLang="zh-CN" dirty="0"/>
              <a:t>1027	</a:t>
            </a:r>
            <a:r>
              <a:rPr lang="zh-CN" altLang="en-US" dirty="0"/>
              <a:t>判断闰年</a:t>
            </a:r>
          </a:p>
          <a:p>
            <a:r>
              <a:rPr lang="en-US" altLang="zh-CN" dirty="0"/>
              <a:t>667		</a:t>
            </a:r>
            <a:r>
              <a:rPr lang="zh-CN" altLang="en-US" dirty="0"/>
              <a:t>报数</a:t>
            </a:r>
          </a:p>
          <a:p>
            <a:r>
              <a:rPr lang="en-US" altLang="zh-CN" dirty="0"/>
              <a:t>1219	</a:t>
            </a:r>
            <a:r>
              <a:rPr lang="zh-CN" altLang="en-US" dirty="0"/>
              <a:t>扑克牌</a:t>
            </a:r>
          </a:p>
          <a:p>
            <a:r>
              <a:rPr lang="en-US" altLang="zh-CN" dirty="0"/>
              <a:t>1220	</a:t>
            </a:r>
            <a:r>
              <a:rPr lang="zh-CN" altLang="en-US" dirty="0"/>
              <a:t>绩点排名</a:t>
            </a:r>
          </a:p>
          <a:p>
            <a:r>
              <a:rPr lang="en-US" altLang="zh-CN" dirty="0"/>
              <a:t>1221	</a:t>
            </a:r>
            <a:r>
              <a:rPr lang="zh-CN" altLang="en-US" dirty="0"/>
              <a:t>扑克牌之最大牌型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011535"/>
      </p:ext>
    </p:extLst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课程PPT模板" id="{351F00F9-9781-4493-A8BE-AE75F947CCD5}" vid="{D9AAA92C-2A04-455B-AC88-7D4E4CA3D87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33294</TotalTime>
  <Words>3961</Words>
  <Application>Microsoft Office PowerPoint</Application>
  <PresentationFormat>全屏显示(4:3)</PresentationFormat>
  <Paragraphs>531</Paragraphs>
  <Slides>68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7" baseType="lpstr">
      <vt:lpstr>Fira Mono</vt:lpstr>
      <vt:lpstr>Lato</vt:lpstr>
      <vt:lpstr>Open Sans</vt:lpstr>
      <vt:lpstr>等线</vt:lpstr>
      <vt:lpstr>黑体</vt:lpstr>
      <vt:lpstr>华文中宋</vt:lpstr>
      <vt:lpstr>宋体</vt:lpstr>
      <vt:lpstr>微软雅黑</vt:lpstr>
      <vt:lpstr>微软雅黑 Light</vt:lpstr>
      <vt:lpstr>Arial</vt:lpstr>
      <vt:lpstr>Calibri</vt:lpstr>
      <vt:lpstr>Calibri Light</vt:lpstr>
      <vt:lpstr>Cambria Math</vt:lpstr>
      <vt:lpstr>Consolas</vt:lpstr>
      <vt:lpstr>Courier New</vt:lpstr>
      <vt:lpstr>Times New Roman</vt:lpstr>
      <vt:lpstr>Wingdings</vt:lpstr>
      <vt:lpstr>课程PPT模板</vt:lpstr>
      <vt:lpstr>Picture</vt:lpstr>
      <vt:lpstr>习题课03</vt:lpstr>
      <vt:lpstr>质因数分解</vt:lpstr>
      <vt:lpstr>考点</vt:lpstr>
      <vt:lpstr>算法举例：筛法求素数</vt:lpstr>
      <vt:lpstr>方法的依据</vt:lpstr>
      <vt:lpstr>效率的考虑</vt:lpstr>
      <vt:lpstr>PowerPoint 演示文稿</vt:lpstr>
      <vt:lpstr>习题讲解：博饼游戏(636)</vt:lpstr>
      <vt:lpstr>题目分析</vt:lpstr>
      <vt:lpstr>PowerPoint 演示文稿</vt:lpstr>
      <vt:lpstr>期中模拟测试</vt:lpstr>
      <vt:lpstr>题目列表</vt:lpstr>
      <vt:lpstr>双11购物</vt:lpstr>
      <vt:lpstr>参考代码</vt:lpstr>
      <vt:lpstr>数学游戏</vt:lpstr>
      <vt:lpstr>解题思路</vt:lpstr>
      <vt:lpstr>参考代码</vt:lpstr>
      <vt:lpstr>上升序列</vt:lpstr>
      <vt:lpstr>考点&amp;解题思路</vt:lpstr>
      <vt:lpstr>参考代码</vt:lpstr>
      <vt:lpstr>矩阵元素X近邻</vt:lpstr>
      <vt:lpstr>题目分析</vt:lpstr>
      <vt:lpstr>参考代码</vt:lpstr>
      <vt:lpstr>217. 空间位置搜索</vt:lpstr>
      <vt:lpstr>题目分析</vt:lpstr>
      <vt:lpstr>参考</vt:lpstr>
      <vt:lpstr>碱基串排序</vt:lpstr>
      <vt:lpstr>思路</vt:lpstr>
      <vt:lpstr>《碱基串排序》排序部分核心代码参考</vt:lpstr>
      <vt:lpstr>参考代码</vt:lpstr>
      <vt:lpstr>期中练习卷05</vt:lpstr>
      <vt:lpstr>题目列表</vt:lpstr>
      <vt:lpstr>购物陷阱</vt:lpstr>
      <vt:lpstr>送分题要求</vt:lpstr>
      <vt:lpstr>出错代码分析</vt:lpstr>
      <vt:lpstr>最小生成元</vt:lpstr>
      <vt:lpstr>题目分析</vt:lpstr>
      <vt:lpstr>关于数位分离相关</vt:lpstr>
      <vt:lpstr>部分分数代码</vt:lpstr>
      <vt:lpstr>迭代回文数</vt:lpstr>
      <vt:lpstr>题目分析</vt:lpstr>
      <vt:lpstr>核心代码</vt:lpstr>
      <vt:lpstr>题目讨论</vt:lpstr>
      <vt:lpstr>鹏博士爱数学</vt:lpstr>
      <vt:lpstr>题目分析</vt:lpstr>
      <vt:lpstr>满分解法</vt:lpstr>
      <vt:lpstr>其他解法</vt:lpstr>
      <vt:lpstr>外星成绩单</vt:lpstr>
      <vt:lpstr>题目分析</vt:lpstr>
      <vt:lpstr>部分分数做法</vt:lpstr>
      <vt:lpstr>标准做法</vt:lpstr>
      <vt:lpstr>期中练习卷02</vt:lpstr>
      <vt:lpstr>题目列表</vt:lpstr>
      <vt:lpstr>星期几</vt:lpstr>
      <vt:lpstr>送分题——但值得讨论</vt:lpstr>
      <vt:lpstr>被整除的数</vt:lpstr>
      <vt:lpstr>题目分析</vt:lpstr>
      <vt:lpstr>质因数分解</vt:lpstr>
      <vt:lpstr>考点</vt:lpstr>
      <vt:lpstr>火车票</vt:lpstr>
      <vt:lpstr>题目分析</vt:lpstr>
      <vt:lpstr>成绩统计</vt:lpstr>
      <vt:lpstr>成绩统计</vt:lpstr>
      <vt:lpstr>题目分析</vt:lpstr>
      <vt:lpstr>期中练习卷03 </vt:lpstr>
      <vt:lpstr>题目列表</vt:lpstr>
      <vt:lpstr>期中练习卷01 </vt:lpstr>
      <vt:lpstr>题目列表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Hui Sun</cp:lastModifiedBy>
  <cp:revision>1089</cp:revision>
  <dcterms:created xsi:type="dcterms:W3CDTF">2020-10-14T02:47:39Z</dcterms:created>
  <dcterms:modified xsi:type="dcterms:W3CDTF">2025-11-10T23:53:38Z</dcterms:modified>
</cp:coreProperties>
</file>