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78"/>
  </p:handoutMasterIdLst>
  <p:sldIdLst>
    <p:sldId id="1092" r:id="rId3"/>
    <p:sldId id="863" r:id="rId4"/>
    <p:sldId id="608" r:id="rId6"/>
    <p:sldId id="580" r:id="rId7"/>
    <p:sldId id="576" r:id="rId8"/>
    <p:sldId id="577" r:id="rId9"/>
    <p:sldId id="578" r:id="rId10"/>
    <p:sldId id="623" r:id="rId11"/>
    <p:sldId id="962" r:id="rId12"/>
    <p:sldId id="1107" r:id="rId13"/>
    <p:sldId id="489" r:id="rId14"/>
    <p:sldId id="256" r:id="rId15"/>
    <p:sldId id="537" r:id="rId16"/>
    <p:sldId id="538" r:id="rId17"/>
    <p:sldId id="1093" r:id="rId18"/>
    <p:sldId id="539" r:id="rId19"/>
    <p:sldId id="541" r:id="rId20"/>
    <p:sldId id="1094" r:id="rId21"/>
    <p:sldId id="1095" r:id="rId22"/>
    <p:sldId id="1096" r:id="rId23"/>
    <p:sldId id="1097" r:id="rId24"/>
    <p:sldId id="818" r:id="rId25"/>
    <p:sldId id="540" r:id="rId26"/>
    <p:sldId id="1108" r:id="rId27"/>
    <p:sldId id="1109" r:id="rId28"/>
    <p:sldId id="965" r:id="rId29"/>
    <p:sldId id="1100" r:id="rId30"/>
    <p:sldId id="545" r:id="rId31"/>
    <p:sldId id="947" r:id="rId32"/>
    <p:sldId id="1101" r:id="rId33"/>
    <p:sldId id="824" r:id="rId34"/>
    <p:sldId id="825" r:id="rId35"/>
    <p:sldId id="900" r:id="rId36"/>
    <p:sldId id="663" r:id="rId37"/>
    <p:sldId id="954" r:id="rId38"/>
    <p:sldId id="955" r:id="rId39"/>
    <p:sldId id="957" r:id="rId40"/>
    <p:sldId id="961" r:id="rId41"/>
    <p:sldId id="958" r:id="rId42"/>
    <p:sldId id="830" r:id="rId43"/>
    <p:sldId id="963" r:id="rId44"/>
    <p:sldId id="1110" r:id="rId45"/>
    <p:sldId id="841" r:id="rId46"/>
    <p:sldId id="842" r:id="rId47"/>
    <p:sldId id="923" r:id="rId48"/>
    <p:sldId id="1111" r:id="rId49"/>
    <p:sldId id="924" r:id="rId50"/>
    <p:sldId id="925" r:id="rId51"/>
    <p:sldId id="926" r:id="rId52"/>
    <p:sldId id="1102" r:id="rId53"/>
    <p:sldId id="928" r:id="rId54"/>
    <p:sldId id="1112" r:id="rId55"/>
    <p:sldId id="933" r:id="rId56"/>
    <p:sldId id="1103" r:id="rId57"/>
    <p:sldId id="1104" r:id="rId58"/>
    <p:sldId id="931" r:id="rId59"/>
    <p:sldId id="932" r:id="rId60"/>
    <p:sldId id="1105" r:id="rId61"/>
    <p:sldId id="937" r:id="rId62"/>
    <p:sldId id="938" r:id="rId63"/>
    <p:sldId id="1106" r:id="rId64"/>
    <p:sldId id="966" r:id="rId65"/>
    <p:sldId id="950" r:id="rId66"/>
    <p:sldId id="951" r:id="rId67"/>
    <p:sldId id="952" r:id="rId68"/>
    <p:sldId id="953" r:id="rId69"/>
    <p:sldId id="959" r:id="rId70"/>
    <p:sldId id="960" r:id="rId71"/>
    <p:sldId id="990" r:id="rId72"/>
    <p:sldId id="986" r:id="rId73"/>
    <p:sldId id="910" r:id="rId74"/>
    <p:sldId id="987" r:id="rId75"/>
    <p:sldId id="978" r:id="rId76"/>
    <p:sldId id="988"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700E"/>
    <a:srgbClr val="0000FF"/>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39" autoAdjust="0"/>
    <p:restoredTop sz="74439" autoAdjust="0"/>
  </p:normalViewPr>
  <p:slideViewPr>
    <p:cSldViewPr snapToGrid="0" showGuides="1">
      <p:cViewPr varScale="1">
        <p:scale>
          <a:sx n="80" d="100"/>
          <a:sy n="80" d="100"/>
        </p:scale>
        <p:origin x="2106" y="84"/>
      </p:cViewPr>
      <p:guideLst>
        <p:guide orient="horz" pos="2160"/>
        <p:guide pos="2880"/>
      </p:guideLst>
    </p:cSldViewPr>
  </p:slideViewPr>
  <p:notesTextViewPr>
    <p:cViewPr>
      <p:scale>
        <a:sx n="1" d="1"/>
        <a:sy n="1" d="1"/>
      </p:scale>
      <p:origin x="0" y="0"/>
    </p:cViewPr>
  </p:notesTextViewPr>
  <p:notesViewPr>
    <p:cSldViewPr snapToGrid="0">
      <p:cViewPr varScale="1">
        <p:scale>
          <a:sx n="82" d="100"/>
          <a:sy n="82" d="100"/>
        </p:scale>
        <p:origin x="3954"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5.xml"/><Relationship Id="rId79" Type="http://schemas.openxmlformats.org/officeDocument/2006/relationships/presProps" Target="presProps.xml"/><Relationship Id="rId78" Type="http://schemas.openxmlformats.org/officeDocument/2006/relationships/handoutMaster" Target="handoutMasters/handoutMaster1.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563B7C-F87A-4992-9D16-F63F1FA43DB6}" type="datetimeFigureOut">
              <a:rPr lang="en-US" smtClean="0"/>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05AF18-CFCB-48CD-B900-85FE73933DD2}"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6F8E1-D84A-44BD-AFC6-9B54380022BF}" type="datetimeFigureOut">
              <a:rPr lang="en-US" smtClean="0"/>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B8F7-AA39-458F-B195-A32598CB259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D9CFF2E-A2CA-4571-A11E-49E0A3EA4734}"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eaLnBrk="1" hangingPunct="1">
              <a:lnSpc>
                <a:spcPct val="95000"/>
              </a:lnSpc>
              <a:spcBef>
                <a:spcPct val="5000"/>
              </a:spcBef>
              <a:buFontTx/>
              <a:buNone/>
            </a:pPr>
            <a:r>
              <a:rPr lang="en-US" altLang="zh-CN" dirty="0">
                <a:latin typeface="Consolas" panose="020B0609020204030204" pitchFamily="49" charset="0"/>
              </a:rPr>
              <a:t>int add(int x = 5,int y = 6) {</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	return x + y;</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int main() {</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	add(10,20);//10+20</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	add(10);  //10+6</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	add();  //5+6</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a:t>
            </a:r>
            <a:endParaRPr lang="en-US" altLang="zh-CN" dirty="0">
              <a:latin typeface="Consolas" panose="020B0609020204030204" pitchFamily="49" charset="0"/>
            </a:endParaRPr>
          </a:p>
          <a:p>
            <a:endParaRPr lang="zh-CN" altLang="en-US" dirty="0"/>
          </a:p>
        </p:txBody>
      </p:sp>
      <p:sp>
        <p:nvSpPr>
          <p:cNvPr id="4" name="灯片编号占位符 3"/>
          <p:cNvSpPr>
            <a:spLocks noGrp="1"/>
          </p:cNvSpPr>
          <p:nvPr>
            <p:ph type="sldNum" sz="quarter" idx="10"/>
          </p:nvPr>
        </p:nvSpPr>
        <p:spPr/>
        <p:txBody>
          <a:bodyPr/>
          <a:lstStyle/>
          <a:p>
            <a:fld id="{CD9CFF2E-A2CA-4571-A11E-49E0A3EA4734}"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D9CFF2E-A2CA-4571-A11E-49E0A3EA4734}"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D9CFF2E-A2CA-4571-A11E-49E0A3EA4734}"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 typeface="Arial" panose="020B0604020202090204" pitchFamily="34" charset="0"/>
              <a:buNone/>
              <a:defRPr/>
            </a:pPr>
            <a:fld id="{64AB4B7A-0DCB-4BFB-A3E7-5D2F5611BEBB}" type="slidenum">
              <a:rPr kumimoji="0" lang="en-US" altLang="x-none" sz="1300" b="0" i="0" u="none" strike="noStrike" kern="1200" cap="none" spc="0" normalizeH="0" baseline="0" noProof="1" smtClean="0">
                <a:ln>
                  <a:noFill/>
                </a:ln>
                <a:solidFill>
                  <a:srgbClr val="000000"/>
                </a:solidFill>
                <a:effectLst/>
                <a:uLnTx/>
                <a:uFillTx/>
                <a:latin typeface="Times New Roman" panose="02020503050405090304" pitchFamily="18" charset="0"/>
                <a:ea typeface="隶书" panose="02010509060101010101" pitchFamily="49" charset="-122"/>
                <a:cs typeface="+mn-cs"/>
              </a:rPr>
            </a:fld>
            <a:endParaRPr kumimoji="0" lang="en-US" altLang="x-none" sz="1300" b="0" i="0" u="none" strike="noStrike" kern="1200" cap="none" spc="0" normalizeH="0" baseline="0" noProof="1">
              <a:ln>
                <a:noFill/>
              </a:ln>
              <a:solidFill>
                <a:srgbClr val="000000"/>
              </a:solidFill>
              <a:effectLst/>
              <a:uLnTx/>
              <a:uFillTx/>
              <a:latin typeface="Times New Roman" panose="02020503050405090304" pitchFamily="18" charset="0"/>
              <a:ea typeface="隶书" panose="02010509060101010101" pitchFamily="49"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ChangeArrowheads="1" noTextEdit="1"/>
          </p:cNvSpPr>
          <p:nvPr>
            <p:ph type="sldImg" idx="4294967295"/>
          </p:nvPr>
        </p:nvSpPr>
        <p:spPr/>
      </p:sp>
      <p:sp>
        <p:nvSpPr>
          <p:cNvPr id="70659" name="备注占位符 2"/>
          <p:cNvSpPr>
            <a:spLocks noGrp="1" noChangeArrowheads="1"/>
          </p:cNvSpPr>
          <p:nvPr>
            <p:ph type="body" idx="4294967295"/>
          </p:nvPr>
        </p:nvSpPr>
        <p:spPr/>
        <p:txBody>
          <a:bodyPr/>
          <a:lstStyle/>
          <a:p>
            <a:r>
              <a:rPr lang="zh-CN" altLang="en-US" dirty="0">
                <a:latin typeface="Times New Roman" panose="02020503050405090304" pitchFamily="18" charset="0"/>
              </a:rPr>
              <a:t>可与</a:t>
            </a:r>
            <a:r>
              <a:rPr lang="en-US" altLang="zh-CN" dirty="0">
                <a:latin typeface="Times New Roman" panose="02020503050405090304" pitchFamily="18" charset="0"/>
              </a:rPr>
              <a:t>struct </a:t>
            </a:r>
            <a:r>
              <a:rPr lang="zh-CN" altLang="en-US" dirty="0">
                <a:latin typeface="Times New Roman" panose="02020503050405090304" pitchFamily="18" charset="0"/>
              </a:rPr>
              <a:t>进行对比</a:t>
            </a:r>
            <a:r>
              <a:rPr lang="en-US" altLang="zh-CN" dirty="0">
                <a:latin typeface="Times New Roman" panose="02020503050405090304" pitchFamily="18" charset="0"/>
              </a:rPr>
              <a:t>.struct </a:t>
            </a:r>
            <a:r>
              <a:rPr lang="zh-CN" altLang="en-US" dirty="0">
                <a:latin typeface="Times New Roman" panose="02020503050405090304" pitchFamily="18" charset="0"/>
              </a:rPr>
              <a:t>和 </a:t>
            </a:r>
            <a:r>
              <a:rPr lang="en-US" altLang="zh-CN" dirty="0">
                <a:latin typeface="Times New Roman" panose="02020503050405090304" pitchFamily="18" charset="0"/>
              </a:rPr>
              <a:t>object</a:t>
            </a:r>
            <a:r>
              <a:rPr lang="zh-CN" altLang="en-US" dirty="0">
                <a:latin typeface="Times New Roman" panose="02020503050405090304" pitchFamily="18" charset="0"/>
              </a:rPr>
              <a:t>都是变量类型，</a:t>
            </a:r>
            <a:r>
              <a:rPr lang="en-US" altLang="zh-CN" dirty="0">
                <a:latin typeface="Times New Roman" panose="02020503050405090304" pitchFamily="18" charset="0"/>
              </a:rPr>
              <a:t>struct</a:t>
            </a:r>
            <a:r>
              <a:rPr lang="zh-CN" altLang="en-US" dirty="0">
                <a:latin typeface="Times New Roman" panose="02020503050405090304" pitchFamily="18" charset="0"/>
              </a:rPr>
              <a:t>中只有数据和方法，</a:t>
            </a:r>
            <a:r>
              <a:rPr lang="en-US" altLang="zh-CN" dirty="0">
                <a:latin typeface="Times New Roman" panose="02020503050405090304" pitchFamily="18" charset="0"/>
              </a:rPr>
              <a:t>object</a:t>
            </a:r>
            <a:r>
              <a:rPr lang="zh-CN" altLang="en-US" dirty="0">
                <a:latin typeface="Times New Roman" panose="02020503050405090304" pitchFamily="18" charset="0"/>
              </a:rPr>
              <a:t>里面除了数据和方法，还有封装的规则。</a:t>
            </a:r>
            <a:endParaRPr lang="zh-CN" altLang="en-US" dirty="0">
              <a:latin typeface="Times New Roman" panose="02020503050405090304" pitchFamily="18" charset="0"/>
            </a:endParaRPr>
          </a:p>
        </p:txBody>
      </p:sp>
      <p:sp>
        <p:nvSpPr>
          <p:cNvPr id="7066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en-US" altLang="zh-CN" sz="1300">
                <a:ea typeface="宋体" pitchFamily="2" charset="-122"/>
              </a:rPr>
              <a:t>*</a:t>
            </a:r>
            <a:endParaRPr lang="en-US" altLang="zh-CN" sz="1300">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在类定义中定义的成员函数把函数声明为</a:t>
            </a:r>
            <a:r>
              <a:rPr lang="zh-CN" altLang="en-US" sz="1200" b="1" i="0" kern="1200" dirty="0">
                <a:solidFill>
                  <a:schemeClr val="tx1"/>
                </a:solidFill>
                <a:effectLst/>
                <a:latin typeface="+mn-lt"/>
                <a:ea typeface="+mn-ea"/>
                <a:cs typeface="+mn-cs"/>
              </a:rPr>
              <a:t>内联</a:t>
            </a:r>
            <a:r>
              <a:rPr lang="zh-CN" altLang="en-US" sz="1200" b="0" i="0" kern="1200" dirty="0">
                <a:solidFill>
                  <a:schemeClr val="tx1"/>
                </a:solidFill>
                <a:effectLst/>
                <a:latin typeface="+mn-lt"/>
                <a:ea typeface="+mn-ea"/>
                <a:cs typeface="+mn-cs"/>
              </a:rPr>
              <a:t>的，即便没有使用 </a:t>
            </a:r>
            <a:r>
              <a:rPr lang="en-US" altLang="zh-CN" sz="1200" b="0" i="0" kern="1200" dirty="0">
                <a:solidFill>
                  <a:schemeClr val="tx1"/>
                </a:solidFill>
                <a:effectLst/>
                <a:latin typeface="+mn-lt"/>
                <a:ea typeface="+mn-ea"/>
                <a:cs typeface="+mn-cs"/>
              </a:rPr>
              <a:t>inline </a:t>
            </a:r>
            <a:r>
              <a:rPr lang="zh-CN" altLang="en-US" sz="1200" b="0" i="0" kern="1200" dirty="0">
                <a:solidFill>
                  <a:schemeClr val="tx1"/>
                </a:solidFill>
                <a:effectLst/>
                <a:latin typeface="+mn-lt"/>
                <a:ea typeface="+mn-ea"/>
                <a:cs typeface="+mn-cs"/>
              </a:rPr>
              <a:t>标识符；</a:t>
            </a:r>
            <a:endParaRPr lang="en-US" altLang="zh-CN" sz="1200" b="0" i="0" kern="1200" dirty="0">
              <a:solidFill>
                <a:schemeClr val="tx1"/>
              </a:solidFill>
              <a:effectLst/>
              <a:latin typeface="+mn-lt"/>
              <a:ea typeface="+mn-ea"/>
              <a:cs typeface="+mn-cs"/>
            </a:endParaRPr>
          </a:p>
          <a:p>
            <a:pPr eaLnBrk="1" hangingPunct="1">
              <a:lnSpc>
                <a:spcPct val="90000"/>
              </a:lnSpc>
            </a:pPr>
            <a:r>
              <a:rPr lang="zh-CN" altLang="en-US" dirty="0">
                <a:latin typeface="Consolas" panose="020B0609020204030204" pitchFamily="49" charset="0"/>
              </a:rPr>
              <a:t>目的：</a:t>
            </a:r>
            <a:r>
              <a:rPr lang="zh-CN" altLang="en-US" dirty="0"/>
              <a:t>减少程序的执行时间</a:t>
            </a:r>
            <a:endParaRPr lang="en-US" altLang="zh-CN"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对于一些功能简单、规模较小又频繁使用的函数，可以设计为内联函数。</a:t>
            </a:r>
            <a:endParaRPr lang="en-US" altLang="zh-CN"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声明时使用关键字 </a:t>
            </a:r>
            <a:r>
              <a:rPr lang="en-US" altLang="zh-CN" dirty="0">
                <a:latin typeface="Consolas" panose="020B0609020204030204" pitchFamily="49" charset="0"/>
              </a:rPr>
              <a:t>inline</a:t>
            </a:r>
            <a:r>
              <a:rPr lang="zh-CN" altLang="en-US" dirty="0">
                <a:latin typeface="Consolas" panose="020B0609020204030204" pitchFamily="49" charset="0"/>
              </a:rPr>
              <a:t>。</a:t>
            </a:r>
            <a:endParaRPr lang="zh-CN" altLang="en-US"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编译时在调用处用函数体进行替换</a:t>
            </a:r>
            <a:r>
              <a:rPr lang="en-US" altLang="zh-CN" dirty="0">
                <a:latin typeface="Consolas" panose="020B0609020204030204" pitchFamily="49" charset="0"/>
              </a:rPr>
              <a:t>,</a:t>
            </a:r>
            <a:r>
              <a:rPr lang="zh-CN" altLang="en-US" dirty="0">
                <a:latin typeface="Consolas" panose="020B0609020204030204" pitchFamily="49" charset="0"/>
              </a:rPr>
              <a:t>节省了参数传递、控制转移等开销。</a:t>
            </a:r>
            <a:endParaRPr lang="zh-CN" altLang="en-US"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注意：</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内联函数体内不能有</a:t>
            </a:r>
            <a:r>
              <a:rPr lang="zh-CN" altLang="en-US" dirty="0">
                <a:solidFill>
                  <a:srgbClr val="C00000"/>
                </a:solidFill>
                <a:latin typeface="Consolas" panose="020B0609020204030204" pitchFamily="49" charset="0"/>
              </a:rPr>
              <a:t>循环语句</a:t>
            </a:r>
            <a:r>
              <a:rPr lang="zh-CN" altLang="en-US" dirty="0">
                <a:latin typeface="Consolas" panose="020B0609020204030204" pitchFamily="49" charset="0"/>
              </a:rPr>
              <a:t>和</a:t>
            </a:r>
            <a:r>
              <a:rPr lang="en-US" altLang="zh-CN" dirty="0">
                <a:solidFill>
                  <a:srgbClr val="C00000"/>
                </a:solidFill>
                <a:latin typeface="Consolas" panose="020B0609020204030204" pitchFamily="49" charset="0"/>
              </a:rPr>
              <a:t>switch</a:t>
            </a:r>
            <a:r>
              <a:rPr lang="zh-CN" altLang="en-US" dirty="0">
                <a:latin typeface="Consolas" panose="020B0609020204030204" pitchFamily="49" charset="0"/>
              </a:rPr>
              <a:t>语句。</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内联函数的声明必须出现在内联函数第一次被调用之前。</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对内联函数不能进行异常接口声明。</a:t>
            </a:r>
            <a:endParaRPr lang="en-US" altLang="zh-CN"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编译器并不承诺将</a:t>
            </a:r>
            <a:r>
              <a:rPr lang="en-US" altLang="zh-CN" dirty="0">
                <a:latin typeface="Consolas" panose="020B0609020204030204" pitchFamily="49" charset="0"/>
              </a:rPr>
              <a:t>inline</a:t>
            </a:r>
            <a:r>
              <a:rPr lang="zh-CN" altLang="en-US" dirty="0">
                <a:latin typeface="Consolas" panose="020B0609020204030204" pitchFamily="49" charset="0"/>
              </a:rPr>
              <a:t>修饰的函数作为内联。在现代编译器中，没用</a:t>
            </a:r>
            <a:r>
              <a:rPr lang="en-US" altLang="zh-CN" dirty="0">
                <a:latin typeface="Consolas" panose="020B0609020204030204" pitchFamily="49" charset="0"/>
              </a:rPr>
              <a:t>inline</a:t>
            </a:r>
            <a:r>
              <a:rPr lang="zh-CN" altLang="en-US" dirty="0">
                <a:latin typeface="Consolas" panose="020B0609020204030204" pitchFamily="49" charset="0"/>
              </a:rPr>
              <a:t>修饰的函数也可能被编译为内联。</a:t>
            </a:r>
            <a:endParaRPr lang="zh-CN" altLang="en-US" dirty="0">
              <a:latin typeface="Consolas" panose="020B0609020204030204" pitchFamily="49" charset="0"/>
            </a:endParaRPr>
          </a:p>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ChangeArrowheads="1" noTextEdit="1"/>
          </p:cNvSpPr>
          <p:nvPr>
            <p:ph type="sldImg" idx="4294967295"/>
          </p:nvPr>
        </p:nvSpPr>
        <p:spPr/>
      </p:sp>
      <p:sp>
        <p:nvSpPr>
          <p:cNvPr id="73731" name="备注占位符 2"/>
          <p:cNvSpPr>
            <a:spLocks noGrp="1" noChangeArrowheads="1"/>
          </p:cNvSpPr>
          <p:nvPr>
            <p:ph type="body" idx="4294967295"/>
          </p:nvPr>
        </p:nvSpPr>
        <p:spPr/>
        <p:txBody>
          <a:bodyPr/>
          <a:lstStyle/>
          <a:p>
            <a:r>
              <a:rPr lang="zh-CN" altLang="en-US">
                <a:latin typeface="Times New Roman" panose="02020503050405090304" pitchFamily="18" charset="0"/>
              </a:rPr>
              <a:t>作用域区分符</a:t>
            </a:r>
            <a:endParaRPr lang="en-US" altLang="zh-CN">
              <a:latin typeface="Times New Roman" panose="02020503050405090304" pitchFamily="18" charset="0"/>
            </a:endParaRPr>
          </a:p>
          <a:p>
            <a:r>
              <a:rPr lang="zh-CN" altLang="en-US">
                <a:latin typeface="Times New Roman" panose="02020503050405090304" pitchFamily="18" charset="0"/>
              </a:rPr>
              <a:t>作用域运算符</a:t>
            </a:r>
            <a:endParaRPr lang="en-US" altLang="zh-CN">
              <a:latin typeface="Times New Roman" panose="02020503050405090304" pitchFamily="18" charset="0"/>
            </a:endParaRPr>
          </a:p>
          <a:p>
            <a:r>
              <a:rPr lang="zh-CN" altLang="en-US">
                <a:latin typeface="Times New Roman" panose="02020503050405090304" pitchFamily="18" charset="0"/>
              </a:rPr>
              <a:t>等 </a:t>
            </a:r>
            <a:endParaRPr lang="en-US" altLang="zh-CN">
              <a:latin typeface="Times New Roman" panose="02020503050405090304" pitchFamily="18" charset="0"/>
            </a:endParaRPr>
          </a:p>
          <a:p>
            <a:endParaRPr lang="en-US" altLang="zh-CN">
              <a:latin typeface="Times New Roman" panose="02020503050405090304" pitchFamily="18" charset="0"/>
            </a:endParaRPr>
          </a:p>
          <a:p>
            <a:r>
              <a:rPr lang="zh-CN" altLang="en-US">
                <a:latin typeface="Times New Roman" panose="02020503050405090304" pitchFamily="18" charset="0"/>
              </a:rPr>
              <a:t>要区分成员函数 和 非成员函数。</a:t>
            </a:r>
            <a:endParaRPr lang="zh-CN" altLang="en-US">
              <a:latin typeface="Times New Roman" panose="02020503050405090304" pitchFamily="18" charset="0"/>
            </a:endParaRPr>
          </a:p>
        </p:txBody>
      </p:sp>
      <p:sp>
        <p:nvSpPr>
          <p:cNvPr id="7373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en-US" altLang="zh-CN" sz="1300">
                <a:ea typeface="宋体" pitchFamily="2" charset="-122"/>
              </a:rPr>
              <a:t>*</a:t>
            </a:r>
            <a:endParaRPr lang="en-US" altLang="zh-CN" sz="1300">
              <a:ea typeface="宋体"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idx="4294967295"/>
          </p:nvPr>
        </p:nvSpPr>
        <p:spPr/>
      </p:sp>
      <p:sp>
        <p:nvSpPr>
          <p:cNvPr id="74755" name="备注占位符 2"/>
          <p:cNvSpPr>
            <a:spLocks noGrp="1" noChangeArrowheads="1"/>
          </p:cNvSpPr>
          <p:nvPr>
            <p:ph type="body" idx="4294967295"/>
          </p:nvPr>
        </p:nvSpPr>
        <p:spPr/>
        <p:txBody>
          <a:bodyPr/>
          <a:lstStyle/>
          <a:p>
            <a:r>
              <a:rPr lang="zh-CN" altLang="en-US">
                <a:latin typeface="Times New Roman" panose="02020503050405090304" pitchFamily="18" charset="0"/>
              </a:rPr>
              <a:t>类定义放在 </a:t>
            </a:r>
            <a:r>
              <a:rPr lang="en-US" altLang="zh-CN">
                <a:latin typeface="Times New Roman" panose="02020503050405090304" pitchFamily="18" charset="0"/>
              </a:rPr>
              <a:t>.h</a:t>
            </a:r>
            <a:r>
              <a:rPr lang="zh-CN" altLang="en-US">
                <a:latin typeface="Times New Roman" panose="02020503050405090304" pitchFamily="18" charset="0"/>
              </a:rPr>
              <a:t> </a:t>
            </a:r>
            <a:endParaRPr lang="en-US" altLang="zh-CN">
              <a:latin typeface="Times New Roman" panose="02020503050405090304" pitchFamily="18" charset="0"/>
            </a:endParaRPr>
          </a:p>
          <a:p>
            <a:r>
              <a:rPr lang="zh-CN" altLang="en-US">
                <a:latin typeface="Times New Roman" panose="02020503050405090304" pitchFamily="18" charset="0"/>
              </a:rPr>
              <a:t>函数定义放在</a:t>
            </a:r>
            <a:r>
              <a:rPr lang="en-US" altLang="zh-CN">
                <a:latin typeface="Times New Roman" panose="02020503050405090304" pitchFamily="18" charset="0"/>
              </a:rPr>
              <a:t>.cpp</a:t>
            </a:r>
            <a:endParaRPr lang="en-US" altLang="zh-CN">
              <a:latin typeface="Times New Roman" panose="02020503050405090304" pitchFamily="18" charset="0"/>
            </a:endParaRPr>
          </a:p>
          <a:p>
            <a:r>
              <a:rPr lang="zh-CN" altLang="en-US">
                <a:latin typeface="Times New Roman" panose="02020503050405090304" pitchFamily="18" charset="0"/>
              </a:rPr>
              <a:t>文件</a:t>
            </a:r>
            <a:endParaRPr lang="zh-CN" altLang="en-US">
              <a:latin typeface="Times New Roman" panose="02020503050405090304" pitchFamily="18" charset="0"/>
            </a:endParaRPr>
          </a:p>
        </p:txBody>
      </p:sp>
      <p:sp>
        <p:nvSpPr>
          <p:cNvPr id="7475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en-US" altLang="zh-CN" sz="1300">
                <a:ea typeface="宋体" pitchFamily="2" charset="-122"/>
              </a:rPr>
              <a:t>*</a:t>
            </a:r>
            <a:endParaRPr lang="en-US" altLang="zh-CN" sz="1300">
              <a:ea typeface="宋体"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ChangeArrowheads="1" noTextEdit="1"/>
          </p:cNvSpPr>
          <p:nvPr>
            <p:ph type="sldImg" idx="4294967295"/>
          </p:nvPr>
        </p:nvSpPr>
        <p:spPr/>
      </p:sp>
      <p:sp>
        <p:nvSpPr>
          <p:cNvPr id="75779" name="备注占位符 2"/>
          <p:cNvSpPr>
            <a:spLocks noGrp="1" noChangeArrowheads="1"/>
          </p:cNvSpPr>
          <p:nvPr>
            <p:ph type="body" idx="4294967295"/>
          </p:nvPr>
        </p:nvSpPr>
        <p:spPr/>
        <p:txBody>
          <a:bodyPr/>
          <a:lstStyle/>
          <a:p>
            <a:r>
              <a:rPr lang="zh-CN" altLang="en-US">
                <a:latin typeface="Times New Roman" panose="02020503050405090304" pitchFamily="18" charset="0"/>
              </a:rPr>
              <a:t>这里是特指与前面页内容关联。 并非说上面的代码一定错。 当 </a:t>
            </a:r>
            <a:r>
              <a:rPr lang="en-US" altLang="zh-CN">
                <a:latin typeface="Times New Roman" panose="02020503050405090304" pitchFamily="18" charset="0"/>
              </a:rPr>
              <a:t>Clock::showTime()</a:t>
            </a:r>
            <a:r>
              <a:rPr lang="zh-CN" altLang="en-US">
                <a:latin typeface="Times New Roman" panose="02020503050405090304" pitchFamily="18" charset="0"/>
              </a:rPr>
              <a:t>是静态成员函数时，是可以如此调用的。 </a:t>
            </a:r>
            <a:endParaRPr lang="en-US" altLang="zh-CN">
              <a:latin typeface="Times New Roman" panose="02020503050405090304" pitchFamily="18" charset="0"/>
            </a:endParaRPr>
          </a:p>
          <a:p>
            <a:endParaRPr lang="en-US" altLang="zh-CN">
              <a:latin typeface="Times New Roman" panose="02020503050405090304" pitchFamily="18" charset="0"/>
            </a:endParaRPr>
          </a:p>
          <a:p>
            <a:r>
              <a:rPr lang="zh-CN" altLang="en-US">
                <a:latin typeface="Times New Roman" panose="02020503050405090304" pitchFamily="18" charset="0"/>
              </a:rPr>
              <a:t>如果</a:t>
            </a:r>
            <a:r>
              <a:rPr lang="en-US" altLang="zh-CN">
                <a:latin typeface="Times New Roman" panose="02020503050405090304" pitchFamily="18" charset="0"/>
              </a:rPr>
              <a:t>Clock</a:t>
            </a:r>
            <a:r>
              <a:rPr lang="zh-CN" altLang="en-US">
                <a:latin typeface="Times New Roman" panose="02020503050405090304" pitchFamily="18" charset="0"/>
              </a:rPr>
              <a:t>类如前面的定义。</a:t>
            </a:r>
            <a:endParaRPr lang="en-US" altLang="zh-CN">
              <a:latin typeface="Times New Roman" panose="02020503050405090304" pitchFamily="18" charset="0"/>
            </a:endParaRPr>
          </a:p>
          <a:p>
            <a:endParaRPr lang="en-US" altLang="zh-CN">
              <a:latin typeface="Times New Roman" panose="02020503050405090304" pitchFamily="18" charset="0"/>
            </a:endParaRPr>
          </a:p>
          <a:p>
            <a:r>
              <a:rPr lang="zh-CN" altLang="en-US">
                <a:latin typeface="Times New Roman" panose="02020503050405090304" pitchFamily="18" charset="0"/>
              </a:rPr>
              <a:t>没有生成对象时，事物是不存在的，因此外部不能调用。</a:t>
            </a:r>
            <a:endParaRPr lang="zh-CN" altLang="en-US">
              <a:latin typeface="Times New Roman" panose="02020503050405090304" pitchFamily="18" charset="0"/>
            </a:endParaRPr>
          </a:p>
        </p:txBody>
      </p:sp>
      <p:sp>
        <p:nvSpPr>
          <p:cNvPr id="7578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en-US" altLang="zh-CN" sz="1300">
                <a:ea typeface="宋体" pitchFamily="2" charset="-122"/>
              </a:rPr>
              <a:t>*</a:t>
            </a:r>
            <a:endParaRPr lang="en-US" altLang="zh-CN" sz="1300">
              <a:ea typeface="宋体"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ChangeArrowheads="1" noTextEdit="1"/>
          </p:cNvSpPr>
          <p:nvPr>
            <p:ph type="sldImg" idx="4294967295"/>
          </p:nvPr>
        </p:nvSpPr>
        <p:spPr/>
      </p:sp>
      <p:sp>
        <p:nvSpPr>
          <p:cNvPr id="76803" name="文本占位符 2"/>
          <p:cNvSpPr>
            <a:spLocks noGrp="1" noChangeArrowheads="1"/>
          </p:cNvSpPr>
          <p:nvPr>
            <p:ph type="body" idx="4294967295"/>
          </p:nvPr>
        </p:nvSpPr>
        <p:spPr/>
        <p:txBody>
          <a:bodyPr/>
          <a:lstStyle/>
          <a:p>
            <a:r>
              <a:rPr lang="zh-CN" altLang="en-US">
                <a:latin typeface="Times New Roman" panose="02020503050405090304" pitchFamily="18" charset="0"/>
              </a:rPr>
              <a:t>如何修改前面的例子程序，使用指针来调用函数。</a:t>
            </a:r>
            <a:endParaRPr lang="zh-CN" altLang="en-US">
              <a:latin typeface="Times New Roman" panose="0202050305040509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ChangeArrowheads="1" noTextEdit="1"/>
          </p:cNvSpPr>
          <p:nvPr>
            <p:ph type="sldImg" idx="4294967295"/>
          </p:nvPr>
        </p:nvSpPr>
        <p:spPr/>
      </p:sp>
      <p:sp>
        <p:nvSpPr>
          <p:cNvPr id="77827" name="备注占位符 2"/>
          <p:cNvSpPr>
            <a:spLocks noGrp="1" noChangeArrowheads="1"/>
          </p:cNvSpPr>
          <p:nvPr>
            <p:ph type="body" idx="4294967295"/>
          </p:nvPr>
        </p:nvSpPr>
        <p:spPr/>
        <p:txBody>
          <a:bodyPr/>
          <a:lstStyle/>
          <a:p>
            <a:r>
              <a:rPr lang="zh-CN" altLang="en-US">
                <a:latin typeface="Times New Roman" panose="02020503050405090304" pitchFamily="18" charset="0"/>
              </a:rPr>
              <a:t>数据和成员函数被封装到同一块内存空间</a:t>
            </a:r>
            <a:endParaRPr lang="zh-CN" altLang="en-US">
              <a:latin typeface="Times New Roman" panose="02020503050405090304" pitchFamily="18" charset="0"/>
            </a:endParaRPr>
          </a:p>
        </p:txBody>
      </p:sp>
      <p:sp>
        <p:nvSpPr>
          <p:cNvPr id="7782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en-US" altLang="zh-CN" sz="1300">
                <a:ea typeface="宋体" pitchFamily="2" charset="-122"/>
              </a:rPr>
              <a:t>*</a:t>
            </a:r>
            <a:endParaRPr lang="en-US" altLang="zh-CN" sz="1300">
              <a:ea typeface="宋体"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ChangeArrowheads="1" noTextEdit="1"/>
          </p:cNvSpPr>
          <p:nvPr>
            <p:ph type="sldImg" idx="4294967295"/>
          </p:nvPr>
        </p:nvSpPr>
        <p:spPr/>
      </p:sp>
      <p:sp>
        <p:nvSpPr>
          <p:cNvPr id="78851" name="备注占位符 2"/>
          <p:cNvSpPr>
            <a:spLocks noGrp="1" noChangeArrowheads="1"/>
          </p:cNvSpPr>
          <p:nvPr>
            <p:ph type="body" idx="4294967295"/>
          </p:nvPr>
        </p:nvSpPr>
        <p:spPr/>
        <p:txBody>
          <a:bodyPr/>
          <a:lstStyle/>
          <a:p>
            <a:r>
              <a:rPr lang="zh-CN" altLang="en-US">
                <a:latin typeface="Times New Roman" panose="02020503050405090304" pitchFamily="18" charset="0"/>
              </a:rPr>
              <a:t>不同作用域下的同名函数，不是重载。</a:t>
            </a:r>
            <a:endParaRPr lang="en-US" altLang="zh-CN">
              <a:latin typeface="Times New Roman" panose="02020503050405090304" pitchFamily="18" charset="0"/>
            </a:endParaRPr>
          </a:p>
          <a:p>
            <a:endParaRPr lang="zh-CN" altLang="en-US">
              <a:latin typeface="Times New Roman" panose="02020503050405090304" pitchFamily="18" charset="0"/>
            </a:endParaRPr>
          </a:p>
        </p:txBody>
      </p:sp>
      <p:sp>
        <p:nvSpPr>
          <p:cNvPr id="7885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en-US" altLang="zh-CN" sz="1300">
                <a:ea typeface="宋体" pitchFamily="2" charset="-122"/>
              </a:rPr>
              <a:t>*</a:t>
            </a:r>
            <a:endParaRPr lang="en-US" altLang="zh-CN" sz="1300">
              <a:ea typeface="宋体"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ChangeArrowheads="1" noTextEdit="1"/>
          </p:cNvSpPr>
          <p:nvPr>
            <p:ph type="sldImg" idx="4294967295"/>
          </p:nvPr>
        </p:nvSpPr>
        <p:spPr/>
      </p:sp>
      <p:sp>
        <p:nvSpPr>
          <p:cNvPr id="79875" name="备注占位符 2"/>
          <p:cNvSpPr>
            <a:spLocks noGrp="1" noChangeArrowheads="1"/>
          </p:cNvSpPr>
          <p:nvPr>
            <p:ph type="body" idx="4294967295"/>
          </p:nvPr>
        </p:nvSpPr>
        <p:spPr/>
        <p:txBody>
          <a:bodyPr/>
          <a:lstStyle/>
          <a:p>
            <a:r>
              <a:rPr lang="zh-CN" altLang="en-US">
                <a:latin typeface="Times New Roman" panose="02020503050405090304" pitchFamily="18" charset="0"/>
              </a:rPr>
              <a:t>通过函数名，即可猜其功能。 </a:t>
            </a:r>
            <a:endParaRPr lang="en-US" altLang="zh-CN">
              <a:latin typeface="Times New Roman" panose="02020503050405090304" pitchFamily="18" charset="0"/>
            </a:endParaRPr>
          </a:p>
          <a:p>
            <a:r>
              <a:rPr lang="zh-CN" altLang="en-US">
                <a:latin typeface="Times New Roman" panose="02020503050405090304" pitchFamily="18" charset="0"/>
              </a:rPr>
              <a:t>计算时间差。 </a:t>
            </a:r>
            <a:endParaRPr lang="en-US" altLang="zh-CN">
              <a:latin typeface="Times New Roman" panose="02020503050405090304" pitchFamily="18" charset="0"/>
            </a:endParaRPr>
          </a:p>
          <a:p>
            <a:endParaRPr lang="zh-CN" altLang="en-US">
              <a:latin typeface="Times New Roman" panose="02020503050405090304" pitchFamily="18" charset="0"/>
            </a:endParaRPr>
          </a:p>
        </p:txBody>
      </p:sp>
      <p:sp>
        <p:nvSpPr>
          <p:cNvPr id="7987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en-US" altLang="zh-CN" sz="1300">
                <a:ea typeface="宋体" pitchFamily="2" charset="-122"/>
              </a:rPr>
              <a:t>*</a:t>
            </a:r>
            <a:endParaRPr lang="en-US" altLang="zh-CN" sz="1300">
              <a:ea typeface="宋体"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ChangeArrowheads="1" noTextEdit="1"/>
          </p:cNvSpPr>
          <p:nvPr>
            <p:ph type="sldImg" idx="4294967295"/>
          </p:nvPr>
        </p:nvSpPr>
        <p:spPr/>
      </p:sp>
      <p:sp>
        <p:nvSpPr>
          <p:cNvPr id="80899" name="文本占位符 2"/>
          <p:cNvSpPr>
            <a:spLocks noGrp="1" noChangeArrowheads="1"/>
          </p:cNvSpPr>
          <p:nvPr>
            <p:ph type="body" idx="4294967295"/>
          </p:nvPr>
        </p:nvSpPr>
        <p:spPr/>
        <p:txBody>
          <a:bodyPr/>
          <a:lstStyle/>
          <a:p>
            <a:r>
              <a:rPr lang="zh-CN" altLang="en-US">
                <a:latin typeface="Times New Roman" panose="02020503050405090304" pitchFamily="18" charset="0"/>
              </a:rPr>
              <a:t>构造函数和 </a:t>
            </a:r>
            <a:r>
              <a:rPr lang="en-US" altLang="zh-CN">
                <a:latin typeface="Times New Roman" panose="02020503050405090304" pitchFamily="18" charset="0"/>
              </a:rPr>
              <a:t>setTime </a:t>
            </a:r>
            <a:r>
              <a:rPr lang="zh-CN" altLang="en-US">
                <a:latin typeface="Times New Roman" panose="02020503050405090304" pitchFamily="18" charset="0"/>
              </a:rPr>
              <a:t>函数的区别， 很多时候我们需要生成的对象必须具备部分属性值</a:t>
            </a:r>
            <a:endParaRPr lang="zh-CN" altLang="en-US">
              <a:latin typeface="Times New Roman" panose="0202050305040509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ChangeArrowheads="1" noTextEdit="1"/>
          </p:cNvSpPr>
          <p:nvPr>
            <p:ph type="sldImg" idx="4294967295"/>
          </p:nvPr>
        </p:nvSpPr>
        <p:spPr/>
      </p:sp>
      <p:sp>
        <p:nvSpPr>
          <p:cNvPr id="82947" name="文本占位符 2"/>
          <p:cNvSpPr>
            <a:spLocks noGrp="1" noChangeArrowheads="1"/>
          </p:cNvSpPr>
          <p:nvPr>
            <p:ph type="body" idx="4294967295"/>
          </p:nvPr>
        </p:nvSpPr>
        <p:spPr/>
        <p:txBody>
          <a:bodyPr/>
          <a:lstStyle/>
          <a:p>
            <a:r>
              <a:rPr lang="zh-CN" altLang="en-US" dirty="0">
                <a:latin typeface="Times New Roman" panose="02020503050405090304" pitchFamily="18" charset="0"/>
              </a:rPr>
              <a:t>初始化字符串的时候，可以用一个字符串常量、变量，或者是空的参数</a:t>
            </a:r>
            <a:endParaRPr lang="zh-CN" altLang="en-US" dirty="0">
              <a:latin typeface="Times New Roman" panose="0202050305040509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p:sp>
      <p:sp>
        <p:nvSpPr>
          <p:cNvPr id="84995" name="备注占位符 2"/>
          <p:cNvSpPr>
            <a:spLocks noGrp="1"/>
          </p:cNvSpPr>
          <p:nvPr>
            <p:ph type="body" idx="1"/>
          </p:nvPr>
        </p:nvSpPr>
        <p:spPr>
          <a:noFill/>
        </p:spPr>
        <p:txBody>
          <a:bodyPr/>
          <a:lstStyle/>
          <a:p>
            <a:r>
              <a:rPr lang="zh-CN" altLang="en-US">
                <a:latin typeface="Times New Roman" panose="02020503050405090304" pitchFamily="18" charset="0"/>
              </a:rPr>
              <a:t>类的成员函数中可以访问同类型实例对象的私有成员变量</a:t>
            </a:r>
            <a:endParaRPr lang="zh-CN" altLang="en-US">
              <a:latin typeface="Times New Roman" panose="02020503050405090304" pitchFamily="18" charset="0"/>
            </a:endParaRPr>
          </a:p>
        </p:txBody>
      </p:sp>
      <p:sp>
        <p:nvSpPr>
          <p:cNvPr id="849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fld id="{DD7B46D4-8FE7-414D-BB61-68126E983B46}" type="slidenum">
              <a:rPr altLang="zh-CN" sz="1300"/>
            </a:fld>
            <a:endParaRPr lang="en-US" altLang="zh-CN" sz="13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p:spPr>
        <p:txBody>
          <a:bodyPr/>
          <a:lstStyle/>
          <a:p>
            <a:r>
              <a:rPr lang="en-US" altLang="zh-CN" dirty="0">
                <a:latin typeface="Times New Roman" panose="02020503050405090304" pitchFamily="18" charset="0"/>
              </a:rPr>
              <a:t>RVO(Return Value Optimization)</a:t>
            </a:r>
            <a:r>
              <a:rPr lang="zh-CN" altLang="en-US" dirty="0">
                <a:latin typeface="Times New Roman" panose="02020503050405090304" pitchFamily="18" charset="0"/>
              </a:rPr>
              <a:t>，是一种编译器优化技术，通过该技术，编译器可以减少函数返回时生成临时对象的个数，从某种程度上可以提高程序的运行效率，对需要分配大量内存的类对象其值复制过程十分友好。</a:t>
            </a:r>
            <a:endParaRPr lang="en-US" altLang="zh-CN" dirty="0">
              <a:latin typeface="Times New Roman" panose="02020503050405090304" pitchFamily="18" charset="0"/>
            </a:endParaRPr>
          </a:p>
          <a:p>
            <a:endParaRPr lang="en-US" altLang="zh-CN" dirty="0">
              <a:latin typeface="Times New Roman" panose="02020503050405090304" pitchFamily="18" charset="0"/>
            </a:endParaRPr>
          </a:p>
          <a:p>
            <a:r>
              <a:rPr lang="en-US" altLang="zh-CN" dirty="0">
                <a:solidFill>
                  <a:srgbClr val="FF0000"/>
                </a:solidFill>
                <a:latin typeface="Times New Roman" panose="02020503050405090304" pitchFamily="18" charset="0"/>
              </a:rPr>
              <a:t>g++ main.cpp -</a:t>
            </a:r>
            <a:r>
              <a:rPr lang="en-US" altLang="zh-CN" dirty="0" err="1">
                <a:solidFill>
                  <a:srgbClr val="FF0000"/>
                </a:solidFill>
                <a:latin typeface="Times New Roman" panose="02020503050405090304" pitchFamily="18" charset="0"/>
              </a:rPr>
              <a:t>fno</a:t>
            </a:r>
            <a:r>
              <a:rPr lang="en-US" altLang="zh-CN" dirty="0">
                <a:solidFill>
                  <a:srgbClr val="FF0000"/>
                </a:solidFill>
                <a:latin typeface="Times New Roman" panose="02020503050405090304" pitchFamily="18" charset="0"/>
              </a:rPr>
              <a:t>-elide-constructors</a:t>
            </a:r>
            <a:endParaRPr lang="zh-CN" altLang="en-US" dirty="0">
              <a:solidFill>
                <a:srgbClr val="FF0000"/>
              </a:solidFill>
              <a:latin typeface="Times New Roman" panose="02020503050405090304" pitchFamily="18" charset="0"/>
            </a:endParaRPr>
          </a:p>
        </p:txBody>
      </p:sp>
      <p:sp>
        <p:nvSpPr>
          <p:cNvPr id="860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fld id="{955148F8-E9BD-4E4E-8707-B8EB4AC1F9EE}" type="slidenum">
              <a:rPr altLang="zh-CN" sz="1300"/>
            </a:fld>
            <a:endParaRPr lang="en-US" altLang="zh-CN" sz="13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ChangeArrowheads="1" noTextEdit="1"/>
          </p:cNvSpPr>
          <p:nvPr>
            <p:ph type="sldImg" idx="4294967295"/>
          </p:nvPr>
        </p:nvSpPr>
        <p:spPr/>
      </p:sp>
      <p:sp>
        <p:nvSpPr>
          <p:cNvPr id="87043" name="备注占位符 2"/>
          <p:cNvSpPr>
            <a:spLocks noGrp="1" noChangeArrowheads="1"/>
          </p:cNvSpPr>
          <p:nvPr>
            <p:ph type="body" idx="4294967295"/>
          </p:nvPr>
        </p:nvSpPr>
        <p:spPr/>
        <p:txBody>
          <a:bodyPr/>
          <a:lstStyle/>
          <a:p>
            <a:r>
              <a:rPr lang="zh-CN" altLang="en-US">
                <a:latin typeface="Times New Roman" panose="02020503050405090304" pitchFamily="18" charset="0"/>
              </a:rPr>
              <a:t>容易产生循环依赖。 </a:t>
            </a:r>
            <a:endParaRPr lang="zh-CN" altLang="en-US">
              <a:latin typeface="Times New Roman" panose="02020503050405090304" pitchFamily="18" charset="0"/>
            </a:endParaRPr>
          </a:p>
        </p:txBody>
      </p:sp>
      <p:sp>
        <p:nvSpPr>
          <p:cNvPr id="8704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en-US" altLang="zh-CN" sz="1300">
                <a:ea typeface="宋体" pitchFamily="2" charset="-122"/>
              </a:rPr>
              <a:t>*</a:t>
            </a:r>
            <a:endParaRPr lang="en-US" altLang="zh-CN" sz="1300">
              <a:ea typeface="宋体"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ChangeArrowheads="1" noTextEdit="1"/>
          </p:cNvSpPr>
          <p:nvPr>
            <p:ph type="sldImg" idx="4294967295"/>
          </p:nvPr>
        </p:nvSpPr>
        <p:spPr/>
      </p:sp>
      <p:sp>
        <p:nvSpPr>
          <p:cNvPr id="88067" name="备注占位符 2"/>
          <p:cNvSpPr>
            <a:spLocks noGrp="1" noChangeArrowheads="1"/>
          </p:cNvSpPr>
          <p:nvPr>
            <p:ph type="body" idx="4294967295"/>
          </p:nvPr>
        </p:nvSpPr>
        <p:spPr/>
        <p:txBody>
          <a:bodyPr/>
          <a:lstStyle/>
          <a:p>
            <a:r>
              <a:rPr lang="zh-CN" altLang="en-US">
                <a:latin typeface="Times New Roman" panose="02020503050405090304" pitchFamily="18" charset="0"/>
              </a:rPr>
              <a:t>去除</a:t>
            </a:r>
            <a:r>
              <a:rPr lang="en-US" altLang="zh-CN">
                <a:latin typeface="Times New Roman" panose="02020503050405090304" pitchFamily="18" charset="0"/>
              </a:rPr>
              <a:t>class</a:t>
            </a:r>
            <a:r>
              <a:rPr lang="zh-CN" altLang="en-US">
                <a:latin typeface="Times New Roman" panose="02020503050405090304" pitchFamily="18" charset="0"/>
              </a:rPr>
              <a:t> </a:t>
            </a:r>
            <a:r>
              <a:rPr lang="en-US" altLang="zh-CN">
                <a:latin typeface="Times New Roman" panose="02020503050405090304" pitchFamily="18" charset="0"/>
              </a:rPr>
              <a:t>B;</a:t>
            </a:r>
            <a:r>
              <a:rPr lang="zh-CN" altLang="en-US">
                <a:latin typeface="Times New Roman" panose="02020503050405090304" pitchFamily="18" charset="0"/>
              </a:rPr>
              <a:t> 的前向引用声明后，就造成了循环依赖。 </a:t>
            </a:r>
            <a:endParaRPr lang="en-US" altLang="zh-CN">
              <a:latin typeface="Times New Roman" panose="02020503050405090304" pitchFamily="18" charset="0"/>
            </a:endParaRPr>
          </a:p>
          <a:p>
            <a:endParaRPr lang="en-US" altLang="zh-CN">
              <a:latin typeface="Times New Roman" panose="02020503050405090304" pitchFamily="18" charset="0"/>
            </a:endParaRPr>
          </a:p>
        </p:txBody>
      </p:sp>
      <p:sp>
        <p:nvSpPr>
          <p:cNvPr id="880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en-US" altLang="zh-CN" sz="1300">
                <a:ea typeface="宋体" pitchFamily="2" charset="-122"/>
              </a:rPr>
              <a:t>*</a:t>
            </a:r>
            <a:endParaRPr lang="en-US" altLang="zh-CN" sz="1300">
              <a:ea typeface="宋体"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ChangeArrowheads="1" noTextEdit="1"/>
          </p:cNvSpPr>
          <p:nvPr>
            <p:ph type="sldImg" idx="4294967295"/>
          </p:nvPr>
        </p:nvSpPr>
        <p:spPr/>
      </p:sp>
      <p:sp>
        <p:nvSpPr>
          <p:cNvPr id="89091" name="备注占位符 2"/>
          <p:cNvSpPr>
            <a:spLocks noGrp="1" noChangeArrowheads="1"/>
          </p:cNvSpPr>
          <p:nvPr>
            <p:ph type="body" idx="4294967295"/>
          </p:nvPr>
        </p:nvSpPr>
        <p:spPr/>
        <p:txBody>
          <a:bodyPr/>
          <a:lstStyle/>
          <a:p>
            <a:r>
              <a:rPr lang="zh-CN" altLang="en-US">
                <a:latin typeface="Times New Roman" panose="02020503050405090304" pitchFamily="18" charset="0"/>
              </a:rPr>
              <a:t>内部对象的初始化，因之前没有具体声明，此处将报错。 </a:t>
            </a:r>
            <a:endParaRPr lang="en-US" altLang="zh-CN">
              <a:latin typeface="Times New Roman" panose="02020503050405090304" pitchFamily="18" charset="0"/>
            </a:endParaRPr>
          </a:p>
          <a:p>
            <a:endParaRPr lang="zh-CN" altLang="en-US">
              <a:latin typeface="Times New Roman" panose="02020503050405090304" pitchFamily="18" charset="0"/>
            </a:endParaRPr>
          </a:p>
        </p:txBody>
      </p:sp>
      <p:sp>
        <p:nvSpPr>
          <p:cNvPr id="890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en-US" altLang="zh-CN" sz="1300">
                <a:ea typeface="宋体" pitchFamily="2" charset="-122"/>
              </a:rPr>
              <a:t>*</a:t>
            </a:r>
            <a:endParaRPr lang="en-US" altLang="zh-CN" sz="1300">
              <a:ea typeface="宋体"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B4B4B4"/>
                </a:solidFill>
                <a:effectLst/>
                <a:latin typeface="Consolas" panose="020B0609020204030204" pitchFamily="49" charset="0"/>
              </a:rPr>
              <a:t>#</a:t>
            </a:r>
            <a:r>
              <a:rPr lang="en-US" altLang="zh-CN" b="0" dirty="0">
                <a:solidFill>
                  <a:srgbClr val="9A9A9A"/>
                </a:solidFill>
                <a:effectLst/>
                <a:latin typeface="Consolas" panose="020B0609020204030204" pitchFamily="49" charset="0"/>
              </a:rPr>
              <a:t>include</a:t>
            </a:r>
            <a:r>
              <a:rPr lang="en-US" altLang="zh-CN" b="0" dirty="0">
                <a:solidFill>
                  <a:srgbClr val="C8C8C8"/>
                </a:solidFill>
                <a:effectLst/>
                <a:latin typeface="Consolas" panose="020B0609020204030204" pitchFamily="49" charset="0"/>
              </a:rPr>
              <a:t> </a:t>
            </a:r>
            <a:r>
              <a:rPr lang="en-US" altLang="zh-CN" b="0" dirty="0">
                <a:solidFill>
                  <a:srgbClr val="E8C9BB"/>
                </a:solidFill>
                <a:effectLst/>
                <a:latin typeface="Consolas" panose="020B0609020204030204" pitchFamily="49" charset="0"/>
              </a:rPr>
              <a:t>&lt;</a:t>
            </a:r>
            <a:r>
              <a:rPr lang="en-US" altLang="zh-CN" b="0" dirty="0">
                <a:solidFill>
                  <a:srgbClr val="CE9178"/>
                </a:solidFill>
                <a:effectLst/>
                <a:latin typeface="Consolas" panose="020B0609020204030204" pitchFamily="49" charset="0"/>
              </a:rPr>
              <a:t>iostream</a:t>
            </a:r>
            <a:r>
              <a:rPr lang="en-US" altLang="zh-CN" b="0" dirty="0">
                <a:solidFill>
                  <a:srgbClr val="E8C9BB"/>
                </a:solidFill>
                <a:effectLst/>
                <a:latin typeface="Consolas" panose="020B0609020204030204" pitchFamily="49" charset="0"/>
              </a:rPr>
              <a:t>&gt;</a:t>
            </a:r>
            <a:endParaRPr lang="en-US" altLang="zh-CN" b="0" dirty="0">
              <a:solidFill>
                <a:srgbClr val="DADADA"/>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using</a:t>
            </a:r>
            <a:r>
              <a:rPr lang="en-US" altLang="zh-CN"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namespace</a:t>
            </a:r>
            <a:r>
              <a:rPr lang="en-US" altLang="zh-CN" b="0" dirty="0">
                <a:solidFill>
                  <a:srgbClr val="DADADA"/>
                </a:solidFill>
                <a:effectLst/>
                <a:latin typeface="Consolas" panose="020B0609020204030204" pitchFamily="49" charset="0"/>
              </a:rPr>
              <a:t> </a:t>
            </a:r>
            <a:r>
              <a:rPr lang="en-US" altLang="zh-CN" b="0" dirty="0">
                <a:solidFill>
                  <a:srgbClr val="C8C8C8"/>
                </a:solidFill>
                <a:effectLst/>
                <a:latin typeface="Consolas" panose="020B0609020204030204" pitchFamily="49" charset="0"/>
              </a:rPr>
              <a:t>std</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57A64A"/>
                </a:solidFill>
                <a:effectLst/>
                <a:latin typeface="Consolas" panose="020B0609020204030204" pitchFamily="49" charset="0"/>
              </a:rPr>
              <a:t>// Point </a:t>
            </a:r>
            <a:r>
              <a:rPr lang="zh-CN" altLang="en-US" b="0" dirty="0">
                <a:solidFill>
                  <a:srgbClr val="57A64A"/>
                </a:solidFill>
                <a:effectLst/>
                <a:latin typeface="Consolas" panose="020B0609020204030204" pitchFamily="49" charset="0"/>
              </a:rPr>
              <a:t>类的定义</a:t>
            </a:r>
            <a:endParaRPr lang="zh-CN" altLang="en-US" b="0" dirty="0">
              <a:solidFill>
                <a:srgbClr val="DADADA"/>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class</a:t>
            </a:r>
            <a:r>
              <a:rPr lang="en-US" altLang="zh-CN" b="0" dirty="0">
                <a:solidFill>
                  <a:srgbClr val="DADADA"/>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Point</a:t>
            </a:r>
            <a:endParaRPr lang="en-US" altLang="zh-CN" b="0" dirty="0">
              <a:solidFill>
                <a:srgbClr val="DADADA"/>
              </a:solidFill>
              <a:effectLst/>
              <a:latin typeface="Consolas" panose="020B0609020204030204" pitchFamily="49" charset="0"/>
            </a:endParaRPr>
          </a:p>
          <a:p>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endParaRPr lang="en-US" altLang="zh-CN" b="0" dirty="0">
              <a:solidFill>
                <a:srgbClr val="DADADA"/>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public</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Point</a:t>
            </a:r>
            <a:r>
              <a:rPr lang="en-US" altLang="zh-CN" b="0" dirty="0">
                <a:solidFill>
                  <a:srgbClr val="B4B4B4"/>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int</a:t>
            </a:r>
            <a:r>
              <a:rPr lang="en-US" altLang="zh-CN" b="0" dirty="0">
                <a:solidFill>
                  <a:srgbClr val="DADADA"/>
                </a:solidFill>
                <a:effectLst/>
                <a:latin typeface="Consolas" panose="020B0609020204030204" pitchFamily="49" charset="0"/>
              </a:rPr>
              <a:t> </a:t>
            </a:r>
            <a:r>
              <a:rPr lang="en-US" altLang="zh-CN" b="0" dirty="0">
                <a:solidFill>
                  <a:srgbClr val="9A9A9A"/>
                </a:solidFill>
                <a:effectLst/>
                <a:latin typeface="Consolas" panose="020B0609020204030204" pitchFamily="49" charset="0"/>
              </a:rPr>
              <a:t>xx</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DADADA"/>
                </a:solidFill>
                <a:effectLst/>
                <a:latin typeface="Consolas" panose="020B0609020204030204" pitchFamily="49" charset="0"/>
              </a:rPr>
              <a:t> </a:t>
            </a:r>
            <a:r>
              <a:rPr lang="en-US" altLang="zh-CN" b="0" dirty="0" err="1">
                <a:solidFill>
                  <a:srgbClr val="9A9A9A"/>
                </a:solidFill>
                <a:effectLst/>
                <a:latin typeface="Consolas" panose="020B0609020204030204" pitchFamily="49" charset="0"/>
              </a:rPr>
              <a:t>yy</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57A64A"/>
                </a:solidFill>
                <a:effectLst/>
                <a:latin typeface="Consolas" panose="020B0609020204030204" pitchFamily="49" charset="0"/>
              </a:rPr>
              <a:t>// </a:t>
            </a:r>
            <a:r>
              <a:rPr lang="zh-CN" altLang="en-US" b="0" dirty="0">
                <a:solidFill>
                  <a:srgbClr val="57A64A"/>
                </a:solidFill>
                <a:effectLst/>
                <a:latin typeface="Consolas" panose="020B0609020204030204" pitchFamily="49" charset="0"/>
              </a:rPr>
              <a:t>构造函数，内联</a:t>
            </a:r>
            <a:endParaRPr lang="zh-CN" altLang="en-US" b="0" dirty="0">
              <a:solidFill>
                <a:srgbClr val="DADADA"/>
              </a:solidFill>
              <a:effectLst/>
              <a:latin typeface="Consolas" panose="020B0609020204030204" pitchFamily="49" charset="0"/>
            </a:endParaRPr>
          </a:p>
          <a:p>
            <a:r>
              <a:rPr lang="zh-CN" altLang="en-US" b="0" dirty="0">
                <a:solidFill>
                  <a:srgbClr val="DADADA"/>
                </a:solidFill>
                <a:effectLst/>
                <a:latin typeface="Consolas" panose="020B0609020204030204" pitchFamily="49" charset="0"/>
              </a:rPr>
              <a:t>        </a:t>
            </a:r>
            <a:r>
              <a:rPr lang="en-US" altLang="zh-CN" b="0" dirty="0">
                <a:solidFill>
                  <a:srgbClr val="DADADA"/>
                </a:solidFill>
                <a:effectLst/>
                <a:latin typeface="Consolas" panose="020B0609020204030204" pitchFamily="49" charset="0"/>
              </a:rPr>
              <a:t>x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9A9A9A"/>
                </a:solidFill>
                <a:effectLst/>
                <a:latin typeface="Consolas" panose="020B0609020204030204" pitchFamily="49" charset="0"/>
              </a:rPr>
              <a:t>xx</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y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err="1">
                <a:solidFill>
                  <a:srgbClr val="9A9A9A"/>
                </a:solidFill>
                <a:effectLst/>
                <a:latin typeface="Consolas" panose="020B0609020204030204" pitchFamily="49" charset="0"/>
              </a:rPr>
              <a:t>yy</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Point</a:t>
            </a:r>
            <a:r>
              <a:rPr lang="en-US" altLang="zh-CN" b="0" dirty="0">
                <a:solidFill>
                  <a:srgbClr val="B4B4B4"/>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const</a:t>
            </a:r>
            <a:r>
              <a:rPr lang="en-US" altLang="zh-CN" b="0" dirty="0">
                <a:solidFill>
                  <a:srgbClr val="DADADA"/>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Point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&amp;</a:t>
            </a:r>
            <a:r>
              <a:rPr lang="en-US" altLang="zh-CN" b="0" dirty="0">
                <a:solidFill>
                  <a:srgbClr val="9A9A9A"/>
                </a:solidFill>
                <a:effectLst/>
                <a:latin typeface="Consolas" panose="020B0609020204030204" pitchFamily="49" charset="0"/>
              </a:rPr>
              <a:t>p</a:t>
            </a:r>
            <a:r>
              <a:rPr lang="en-US" altLang="zh-CN" b="0" dirty="0">
                <a:solidFill>
                  <a:srgbClr val="B4B4B4"/>
                </a:solidFill>
                <a:effectLst/>
                <a:latin typeface="Consolas" panose="020B0609020204030204" pitchFamily="49" charset="0"/>
              </a:rPr>
              <a:t>);</a:t>
            </a:r>
            <a:r>
              <a:rPr lang="en-US" altLang="zh-CN" b="0" dirty="0">
                <a:solidFill>
                  <a:srgbClr val="57A64A"/>
                </a:solidFill>
                <a:effectLst/>
                <a:latin typeface="Consolas" panose="020B0609020204030204" pitchFamily="49" charset="0"/>
              </a:rPr>
              <a:t>         // </a:t>
            </a:r>
            <a:r>
              <a:rPr lang="zh-CN" altLang="en-US" b="0" dirty="0">
                <a:solidFill>
                  <a:srgbClr val="57A64A"/>
                </a:solidFill>
                <a:effectLst/>
                <a:latin typeface="Consolas" panose="020B0609020204030204" pitchFamily="49" charset="0"/>
              </a:rPr>
              <a:t>复制构造函数</a:t>
            </a:r>
            <a:endParaRPr lang="zh-CN" altLang="en-US" b="0" dirty="0">
              <a:solidFill>
                <a:srgbClr val="DADADA"/>
              </a:solidFill>
              <a:effectLst/>
              <a:latin typeface="Consolas" panose="020B0609020204030204" pitchFamily="49" charset="0"/>
            </a:endParaRPr>
          </a:p>
          <a:p>
            <a:br>
              <a:rPr lang="zh-CN" altLang="en-US" b="0" dirty="0">
                <a:solidFill>
                  <a:srgbClr val="DADADA"/>
                </a:solidFill>
                <a:effectLst/>
                <a:latin typeface="Consolas" panose="020B0609020204030204" pitchFamily="49" charset="0"/>
              </a:rPr>
            </a:br>
            <a:r>
              <a:rPr lang="zh-CN" altLang="en-US"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void</a:t>
            </a:r>
            <a:r>
              <a:rPr lang="en-US" altLang="zh-CN" b="0" dirty="0">
                <a:solidFill>
                  <a:srgbClr val="DADAD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setX</a:t>
            </a:r>
            <a:r>
              <a:rPr lang="en-US" altLang="zh-CN" b="0" dirty="0">
                <a:solidFill>
                  <a:srgbClr val="B4B4B4"/>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int</a:t>
            </a:r>
            <a:r>
              <a:rPr lang="en-US" altLang="zh-CN" b="0" dirty="0">
                <a:solidFill>
                  <a:srgbClr val="DADADA"/>
                </a:solidFill>
                <a:effectLst/>
                <a:latin typeface="Consolas" panose="020B0609020204030204" pitchFamily="49" charset="0"/>
              </a:rPr>
              <a:t> </a:t>
            </a:r>
            <a:r>
              <a:rPr lang="en-US" altLang="zh-CN" b="0" dirty="0">
                <a:solidFill>
                  <a:srgbClr val="9A9A9A"/>
                </a:solidFill>
                <a:effectLst/>
                <a:latin typeface="Consolas" panose="020B0609020204030204" pitchFamily="49" charset="0"/>
              </a:rPr>
              <a:t>xx</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x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9A9A9A"/>
                </a:solidFill>
                <a:effectLst/>
                <a:latin typeface="Consolas" panose="020B0609020204030204" pitchFamily="49" charset="0"/>
              </a:rPr>
              <a:t>xx</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DADAD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getX</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const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D8A0DF"/>
                </a:solidFill>
                <a:effectLst/>
                <a:latin typeface="Consolas" panose="020B0609020204030204" pitchFamily="49" charset="0"/>
              </a:rPr>
              <a:t>return</a:t>
            </a:r>
            <a:r>
              <a:rPr lang="en-US" altLang="zh-CN" b="0" dirty="0">
                <a:solidFill>
                  <a:srgbClr val="DADADA"/>
                </a:solidFill>
                <a:effectLst/>
                <a:latin typeface="Consolas" panose="020B0609020204030204" pitchFamily="49" charset="0"/>
              </a:rPr>
              <a:t> x</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57A64A"/>
                </a:solidFill>
                <a:effectLst/>
                <a:latin typeface="Consolas" panose="020B0609020204030204" pitchFamily="49" charset="0"/>
              </a:rPr>
              <a:t> // </a:t>
            </a:r>
            <a:r>
              <a:rPr lang="zh-CN" altLang="en-US" b="0" dirty="0">
                <a:solidFill>
                  <a:srgbClr val="57A64A"/>
                </a:solidFill>
                <a:effectLst/>
                <a:latin typeface="Consolas" panose="020B0609020204030204" pitchFamily="49" charset="0"/>
              </a:rPr>
              <a:t>常函数</a:t>
            </a:r>
            <a:endParaRPr lang="zh-CN" altLang="en-US" b="0" dirty="0">
              <a:solidFill>
                <a:srgbClr val="DADADA"/>
              </a:solidFill>
              <a:effectLst/>
              <a:latin typeface="Consolas" panose="020B0609020204030204" pitchFamily="49" charset="0"/>
            </a:endParaRPr>
          </a:p>
          <a:p>
            <a:br>
              <a:rPr lang="zh-CN" altLang="en-US" b="0" dirty="0">
                <a:solidFill>
                  <a:srgbClr val="DADADA"/>
                </a:solidFill>
                <a:effectLst/>
                <a:latin typeface="Consolas" panose="020B0609020204030204" pitchFamily="49" charset="0"/>
              </a:rPr>
            </a:br>
            <a:r>
              <a:rPr lang="zh-CN" altLang="en-US"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void</a:t>
            </a:r>
            <a:r>
              <a:rPr lang="en-US" altLang="zh-CN" b="0" dirty="0">
                <a:solidFill>
                  <a:srgbClr val="DADAD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setY</a:t>
            </a:r>
            <a:r>
              <a:rPr lang="en-US" altLang="zh-CN" b="0" dirty="0">
                <a:solidFill>
                  <a:srgbClr val="B4B4B4"/>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int</a:t>
            </a:r>
            <a:r>
              <a:rPr lang="en-US" altLang="zh-CN" b="0" dirty="0">
                <a:solidFill>
                  <a:srgbClr val="DADADA"/>
                </a:solidFill>
                <a:effectLst/>
                <a:latin typeface="Consolas" panose="020B0609020204030204" pitchFamily="49" charset="0"/>
              </a:rPr>
              <a:t> </a:t>
            </a:r>
            <a:r>
              <a:rPr lang="en-US" altLang="zh-CN" b="0" dirty="0" err="1">
                <a:solidFill>
                  <a:srgbClr val="9A9A9A"/>
                </a:solidFill>
                <a:effectLst/>
                <a:latin typeface="Consolas" panose="020B0609020204030204" pitchFamily="49" charset="0"/>
              </a:rPr>
              <a:t>yy</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y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err="1">
                <a:solidFill>
                  <a:srgbClr val="9A9A9A"/>
                </a:solidFill>
                <a:effectLst/>
                <a:latin typeface="Consolas" panose="020B0609020204030204" pitchFamily="49" charset="0"/>
              </a:rPr>
              <a:t>yy</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DADAD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getY</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const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D8A0DF"/>
                </a:solidFill>
                <a:effectLst/>
                <a:latin typeface="Consolas" panose="020B0609020204030204" pitchFamily="49" charset="0"/>
              </a:rPr>
              <a:t>return</a:t>
            </a:r>
            <a:r>
              <a:rPr lang="en-US" altLang="zh-CN" b="0" dirty="0">
                <a:solidFill>
                  <a:srgbClr val="DADADA"/>
                </a:solidFill>
                <a:effectLst/>
                <a:latin typeface="Consolas" panose="020B0609020204030204" pitchFamily="49" charset="0"/>
              </a:rPr>
              <a:t> y</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57A64A"/>
                </a:solidFill>
                <a:effectLst/>
                <a:latin typeface="Consolas" panose="020B0609020204030204" pitchFamily="49" charset="0"/>
              </a:rPr>
              <a:t> // </a:t>
            </a:r>
            <a:r>
              <a:rPr lang="zh-CN" altLang="en-US" b="0" dirty="0">
                <a:solidFill>
                  <a:srgbClr val="57A64A"/>
                </a:solidFill>
                <a:effectLst/>
                <a:latin typeface="Consolas" panose="020B0609020204030204" pitchFamily="49" charset="0"/>
              </a:rPr>
              <a:t>常函数</a:t>
            </a:r>
            <a:endParaRPr lang="zh-CN" altLang="en-US" b="0" dirty="0">
              <a:solidFill>
                <a:srgbClr val="DADADA"/>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private</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static</a:t>
            </a:r>
            <a:r>
              <a:rPr lang="en-US" altLang="zh-CN"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DADADA"/>
                </a:solidFill>
                <a:effectLst/>
                <a:latin typeface="Consolas" panose="020B0609020204030204" pitchFamily="49" charset="0"/>
              </a:rPr>
              <a:t> count</a:t>
            </a:r>
            <a:r>
              <a:rPr lang="en-US" altLang="zh-CN" b="0" dirty="0">
                <a:solidFill>
                  <a:srgbClr val="B4B4B4"/>
                </a:solidFill>
                <a:effectLst/>
                <a:latin typeface="Consolas" panose="020B0609020204030204" pitchFamily="49" charset="0"/>
              </a:rPr>
              <a:t>;</a:t>
            </a:r>
            <a:r>
              <a:rPr lang="en-US" altLang="zh-CN" b="0" dirty="0">
                <a:solidFill>
                  <a:srgbClr val="57A64A"/>
                </a:solidFill>
                <a:effectLst/>
                <a:latin typeface="Consolas" panose="020B0609020204030204" pitchFamily="49" charset="0"/>
              </a:rPr>
              <a:t>  //【</a:t>
            </a:r>
            <a:r>
              <a:rPr lang="zh-CN" altLang="en-US" b="0" dirty="0">
                <a:solidFill>
                  <a:srgbClr val="57A64A"/>
                </a:solidFill>
                <a:effectLst/>
                <a:latin typeface="Consolas" panose="020B0609020204030204" pitchFamily="49" charset="0"/>
              </a:rPr>
              <a:t>静态</a:t>
            </a:r>
            <a:r>
              <a:rPr lang="en-US" altLang="zh-CN" b="0" dirty="0">
                <a:solidFill>
                  <a:srgbClr val="57A64A"/>
                </a:solidFill>
                <a:effectLst/>
                <a:latin typeface="Consolas" panose="020B0609020204030204" pitchFamily="49" charset="0"/>
              </a:rPr>
              <a:t>】</a:t>
            </a:r>
            <a:r>
              <a:rPr lang="zh-CN" altLang="en-US" b="0" dirty="0">
                <a:solidFill>
                  <a:srgbClr val="57A64A"/>
                </a:solidFill>
                <a:effectLst/>
                <a:latin typeface="Consolas" panose="020B0609020204030204" pitchFamily="49" charset="0"/>
              </a:rPr>
              <a:t>数据成员</a:t>
            </a:r>
            <a:endParaRPr lang="zh-CN" altLang="en-US" b="0" dirty="0">
              <a:solidFill>
                <a:srgbClr val="DADADA"/>
              </a:solidFill>
              <a:effectLst/>
              <a:latin typeface="Consolas" panose="020B0609020204030204" pitchFamily="49" charset="0"/>
            </a:endParaRPr>
          </a:p>
          <a:p>
            <a:br>
              <a:rPr lang="zh-CN" altLang="en-US" b="0" dirty="0">
                <a:solidFill>
                  <a:srgbClr val="DADADA"/>
                </a:solidFill>
                <a:effectLst/>
                <a:latin typeface="Consolas" panose="020B0609020204030204" pitchFamily="49" charset="0"/>
              </a:rPr>
            </a:br>
            <a:r>
              <a:rPr lang="zh-CN" altLang="en-US" b="0" dirty="0">
                <a:solidFill>
                  <a:srgbClr val="DADADA"/>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DADADA"/>
                </a:solidFill>
                <a:effectLst/>
                <a:latin typeface="Consolas" panose="020B0609020204030204" pitchFamily="49" charset="0"/>
              </a:rPr>
              <a:t> x</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y</a:t>
            </a:r>
            <a:r>
              <a:rPr lang="en-US" altLang="zh-CN" b="0" dirty="0">
                <a:solidFill>
                  <a:srgbClr val="B4B4B4"/>
                </a:solidFill>
                <a:effectLst/>
                <a:latin typeface="Consolas" panose="020B0609020204030204" pitchFamily="49" charset="0"/>
              </a:rPr>
              <a:t>;</a:t>
            </a:r>
            <a:r>
              <a:rPr lang="en-US" altLang="zh-CN" b="0" dirty="0">
                <a:solidFill>
                  <a:srgbClr val="57A64A"/>
                </a:solidFill>
                <a:effectLst/>
                <a:latin typeface="Consolas" panose="020B0609020204030204" pitchFamily="49" charset="0"/>
              </a:rPr>
              <a:t> // </a:t>
            </a:r>
            <a:r>
              <a:rPr lang="zh-CN" altLang="en-US" b="0" dirty="0">
                <a:solidFill>
                  <a:srgbClr val="57A64A"/>
                </a:solidFill>
                <a:effectLst/>
                <a:latin typeface="Consolas" panose="020B0609020204030204" pitchFamily="49" charset="0"/>
              </a:rPr>
              <a:t>私有数据</a:t>
            </a:r>
            <a:endParaRPr lang="zh-CN" altLang="en-US" b="0" dirty="0">
              <a:solidFill>
                <a:srgbClr val="DADADA"/>
              </a:solidFill>
              <a:effectLst/>
              <a:latin typeface="Consolas" panose="020B0609020204030204" pitchFamily="49" charset="0"/>
            </a:endParaRPr>
          </a:p>
          <a:p>
            <a:r>
              <a:rPr lang="en-US" altLang="zh-CN" b="0" dirty="0">
                <a:solidFill>
                  <a:srgbClr val="B4B4B4"/>
                </a:solidFill>
                <a:effectLst/>
                <a:latin typeface="Consolas" panose="020B0609020204030204" pitchFamily="49" charset="0"/>
              </a:rPr>
              <a:t>};</a:t>
            </a:r>
            <a:endParaRPr lang="zh-CN" altLang="en-US" b="0" dirty="0">
              <a:solidFill>
                <a:srgbClr val="DADADA"/>
              </a:solidFill>
              <a:effectLst/>
              <a:latin typeface="Consolas" panose="020B0609020204030204" pitchFamily="49" charset="0"/>
            </a:endParaRPr>
          </a:p>
          <a:p>
            <a:br>
              <a:rPr lang="zh-CN" altLang="en-US" b="0" dirty="0">
                <a:solidFill>
                  <a:srgbClr val="DADADA"/>
                </a:solidFill>
                <a:effectLst/>
                <a:latin typeface="Consolas" panose="020B0609020204030204" pitchFamily="49" charset="0"/>
              </a:rPr>
            </a:br>
            <a:r>
              <a:rPr lang="en-US" altLang="zh-CN" b="0" dirty="0">
                <a:solidFill>
                  <a:srgbClr val="569CD6"/>
                </a:solidFill>
                <a:effectLst/>
                <a:latin typeface="Consolas" panose="020B0609020204030204" pitchFamily="49" charset="0"/>
              </a:rPr>
              <a:t>int</a:t>
            </a:r>
            <a:r>
              <a:rPr lang="en-US" altLang="zh-CN" b="0" dirty="0">
                <a:solidFill>
                  <a:srgbClr val="DADADA"/>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Point</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count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B4B4B4"/>
                </a:solidFill>
                <a:effectLst/>
                <a:latin typeface="Consolas" panose="020B0609020204030204" pitchFamily="49" charset="0"/>
              </a:rPr>
              <a:t>;</a:t>
            </a:r>
            <a:r>
              <a:rPr lang="en-US" altLang="zh-CN" b="0" dirty="0">
                <a:solidFill>
                  <a:srgbClr val="57A64A"/>
                </a:solidFill>
                <a:effectLst/>
                <a:latin typeface="Consolas" panose="020B0609020204030204" pitchFamily="49" charset="0"/>
              </a:rPr>
              <a:t> //</a:t>
            </a:r>
            <a:r>
              <a:rPr lang="zh-CN" altLang="en-US" b="0" dirty="0">
                <a:solidFill>
                  <a:srgbClr val="57A64A"/>
                </a:solidFill>
                <a:effectLst/>
                <a:latin typeface="Consolas" panose="020B0609020204030204" pitchFamily="49" charset="0"/>
              </a:rPr>
              <a:t>静态数据成员</a:t>
            </a:r>
            <a:endParaRPr lang="zh-CN" altLang="en-US" b="0" dirty="0">
              <a:solidFill>
                <a:srgbClr val="DADADA"/>
              </a:solidFill>
              <a:effectLst/>
              <a:latin typeface="Consolas" panose="020B0609020204030204" pitchFamily="49" charset="0"/>
            </a:endParaRPr>
          </a:p>
          <a:p>
            <a:r>
              <a:rPr lang="en-US" altLang="zh-CN" b="0" dirty="0">
                <a:solidFill>
                  <a:srgbClr val="57A64A"/>
                </a:solidFill>
                <a:effectLst/>
                <a:latin typeface="Consolas" panose="020B0609020204030204" pitchFamily="49" charset="0"/>
              </a:rPr>
              <a:t>// </a:t>
            </a:r>
            <a:r>
              <a:rPr lang="zh-CN" altLang="en-US" b="0" dirty="0">
                <a:solidFill>
                  <a:srgbClr val="57A64A"/>
                </a:solidFill>
                <a:effectLst/>
                <a:latin typeface="Consolas" panose="020B0609020204030204" pitchFamily="49" charset="0"/>
              </a:rPr>
              <a:t>复制构造函数的实现</a:t>
            </a:r>
            <a:endParaRPr lang="zh-CN" altLang="en-US" b="0" dirty="0">
              <a:solidFill>
                <a:srgbClr val="DADADA"/>
              </a:solidFill>
              <a:effectLst/>
              <a:latin typeface="Consolas" panose="020B0609020204030204" pitchFamily="49" charset="0"/>
            </a:endParaRPr>
          </a:p>
          <a:p>
            <a:r>
              <a:rPr lang="en-US" altLang="zh-CN" b="0" dirty="0">
                <a:solidFill>
                  <a:srgbClr val="4EC9B0"/>
                </a:solidFill>
                <a:effectLst/>
                <a:latin typeface="Consolas" panose="020B0609020204030204" pitchFamily="49" charset="0"/>
              </a:rPr>
              <a:t>Point</a:t>
            </a:r>
            <a:r>
              <a:rPr lang="en-US" altLang="zh-CN" b="0" dirty="0">
                <a:solidFill>
                  <a:srgbClr val="B4B4B4"/>
                </a:solidFill>
                <a:effectLst/>
                <a:latin typeface="Consolas" panose="020B0609020204030204" pitchFamily="49" charset="0"/>
              </a:rPr>
              <a:t>::</a:t>
            </a:r>
            <a:r>
              <a:rPr lang="en-US" altLang="zh-CN" b="0" dirty="0">
                <a:solidFill>
                  <a:srgbClr val="DCDCAA"/>
                </a:solidFill>
                <a:effectLst/>
                <a:latin typeface="Consolas" panose="020B0609020204030204" pitchFamily="49" charset="0"/>
              </a:rPr>
              <a:t>Point</a:t>
            </a:r>
            <a:r>
              <a:rPr lang="en-US" altLang="zh-CN" b="0" dirty="0">
                <a:solidFill>
                  <a:srgbClr val="B4B4B4"/>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const</a:t>
            </a:r>
            <a:r>
              <a:rPr lang="en-US" altLang="zh-CN" b="0" dirty="0">
                <a:solidFill>
                  <a:srgbClr val="DADADA"/>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Point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&amp;</a:t>
            </a:r>
            <a:r>
              <a:rPr lang="en-US" altLang="zh-CN" b="0" dirty="0">
                <a:solidFill>
                  <a:srgbClr val="9A9A9A"/>
                </a:solidFill>
                <a:effectLst/>
                <a:latin typeface="Consolas" panose="020B0609020204030204" pitchFamily="49" charset="0"/>
              </a:rPr>
              <a:t>p</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x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err="1">
                <a:solidFill>
                  <a:srgbClr val="9A9A9A"/>
                </a:solidFill>
                <a:effectLst/>
                <a:latin typeface="Consolas" panose="020B0609020204030204" pitchFamily="49" charset="0"/>
              </a:rPr>
              <a:t>p</a:t>
            </a:r>
            <a:r>
              <a:rPr lang="en-US" altLang="zh-CN" b="0" dirty="0" err="1">
                <a:solidFill>
                  <a:srgbClr val="B4B4B4"/>
                </a:solidFill>
                <a:effectLst/>
                <a:latin typeface="Consolas" panose="020B0609020204030204" pitchFamily="49" charset="0"/>
              </a:rPr>
              <a:t>.</a:t>
            </a:r>
            <a:r>
              <a:rPr lang="en-US" altLang="zh-CN" b="0" dirty="0" err="1">
                <a:solidFill>
                  <a:srgbClr val="DADADA"/>
                </a:solidFill>
                <a:effectLst/>
                <a:latin typeface="Consolas" panose="020B0609020204030204" pitchFamily="49" charset="0"/>
              </a:rPr>
              <a:t>x</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y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err="1">
                <a:solidFill>
                  <a:srgbClr val="9A9A9A"/>
                </a:solidFill>
                <a:effectLst/>
                <a:latin typeface="Consolas" panose="020B0609020204030204" pitchFamily="49" charset="0"/>
              </a:rPr>
              <a:t>p</a:t>
            </a:r>
            <a:r>
              <a:rPr lang="en-US" altLang="zh-CN" b="0" dirty="0" err="1">
                <a:solidFill>
                  <a:srgbClr val="B4B4B4"/>
                </a:solidFill>
                <a:effectLst/>
                <a:latin typeface="Consolas" panose="020B0609020204030204" pitchFamily="49" charset="0"/>
              </a:rPr>
              <a:t>.</a:t>
            </a:r>
            <a:r>
              <a:rPr lang="en-US" altLang="zh-CN" b="0" dirty="0" err="1">
                <a:solidFill>
                  <a:srgbClr val="DADADA"/>
                </a:solidFill>
                <a:effectLst/>
                <a:latin typeface="Consolas" panose="020B0609020204030204" pitchFamily="49" charset="0"/>
              </a:rPr>
              <a:t>y</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err="1">
                <a:solidFill>
                  <a:srgbClr val="C8C8C8"/>
                </a:solidFill>
                <a:effectLst/>
                <a:latin typeface="Consolas" panose="020B0609020204030204" pitchFamily="49" charset="0"/>
              </a:rPr>
              <a:t>cout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&lt;&lt;</a:t>
            </a:r>
            <a:r>
              <a:rPr lang="en-US" altLang="zh-CN" b="0" dirty="0">
                <a:solidFill>
                  <a:srgbClr val="DADADA"/>
                </a:solidFill>
                <a:effectLst/>
                <a:latin typeface="Consolas" panose="020B0609020204030204" pitchFamily="49" charset="0"/>
              </a:rPr>
              <a:t> </a:t>
            </a:r>
            <a:r>
              <a:rPr lang="en-US" altLang="zh-CN" b="0" dirty="0">
                <a:solidFill>
                  <a:srgbClr val="E8C9BB"/>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Calling </a:t>
            </a:r>
            <a:r>
              <a:rPr lang="en-US" altLang="zh-CN" b="0" dirty="0" err="1">
                <a:solidFill>
                  <a:srgbClr val="CE9178"/>
                </a:solidFill>
                <a:effectLst/>
                <a:latin typeface="Consolas" panose="020B0609020204030204" pitchFamily="49" charset="0"/>
              </a:rPr>
              <a:t>CopyConstructor</a:t>
            </a:r>
            <a:r>
              <a:rPr lang="en-US" altLang="zh-CN" b="0" dirty="0">
                <a:solidFill>
                  <a:srgbClr val="CE9178"/>
                </a:solidFill>
                <a:effectLst/>
                <a:latin typeface="Consolas" panose="020B0609020204030204" pitchFamily="49" charset="0"/>
              </a:rPr>
              <a:t> </a:t>
            </a:r>
            <a:r>
              <a:rPr lang="en-US" altLang="zh-CN" b="0" dirty="0">
                <a:solidFill>
                  <a:srgbClr val="E8C9BB"/>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&lt;&lt;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count </a:t>
            </a:r>
            <a:r>
              <a:rPr lang="en-US" altLang="zh-CN" b="0" dirty="0">
                <a:solidFill>
                  <a:srgbClr val="B4B4B4"/>
                </a:solidFill>
                <a:effectLst/>
                <a:latin typeface="Consolas" panose="020B0609020204030204" pitchFamily="49" charset="0"/>
              </a:rPr>
              <a:t>&lt;&lt;</a:t>
            </a:r>
            <a:r>
              <a:rPr lang="en-US" altLang="zh-CN" b="0" dirty="0">
                <a:solidFill>
                  <a:srgbClr val="DADADA"/>
                </a:solidFill>
                <a:effectLst/>
                <a:latin typeface="Consolas" panose="020B0609020204030204" pitchFamily="49" charset="0"/>
              </a:rPr>
              <a:t> </a:t>
            </a:r>
            <a:r>
              <a:rPr lang="en-US" altLang="zh-CN" b="0" dirty="0">
                <a:solidFill>
                  <a:srgbClr val="E8C9BB"/>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 Times.</a:t>
            </a:r>
            <a:r>
              <a:rPr lang="en-US" altLang="zh-CN" b="0" dirty="0">
                <a:solidFill>
                  <a:srgbClr val="E8C9BB"/>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&lt;&lt;</a:t>
            </a:r>
            <a:r>
              <a:rPr lang="en-US" altLang="zh-CN" b="0" dirty="0">
                <a:solidFill>
                  <a:srgbClr val="DADAD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endl</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br>
              <a:rPr lang="en-US" altLang="zh-CN" b="0" dirty="0">
                <a:solidFill>
                  <a:srgbClr val="DADADA"/>
                </a:solidFill>
                <a:effectLst/>
                <a:latin typeface="Consolas" panose="020B0609020204030204" pitchFamily="49" charset="0"/>
              </a:rPr>
            </a:br>
            <a:br>
              <a:rPr lang="en-US" altLang="zh-CN" b="0" dirty="0">
                <a:solidFill>
                  <a:srgbClr val="DADADA"/>
                </a:solidFill>
                <a:effectLst/>
                <a:latin typeface="Consolas" panose="020B0609020204030204" pitchFamily="49" charset="0"/>
              </a:rPr>
            </a:br>
            <a:r>
              <a:rPr lang="en-US" altLang="zh-CN" b="0" dirty="0">
                <a:solidFill>
                  <a:srgbClr val="569CD6"/>
                </a:solidFill>
                <a:effectLst/>
                <a:latin typeface="Consolas" panose="020B0609020204030204" pitchFamily="49" charset="0"/>
              </a:rPr>
              <a:t>void</a:t>
            </a:r>
            <a:r>
              <a:rPr lang="en-US" altLang="zh-CN" b="0" dirty="0">
                <a:solidFill>
                  <a:srgbClr val="DADADA"/>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fun1</a:t>
            </a:r>
            <a:r>
              <a:rPr lang="en-US" altLang="zh-CN" b="0" dirty="0">
                <a:solidFill>
                  <a:srgbClr val="B4B4B4"/>
                </a:solidFill>
                <a:effectLst/>
                <a:latin typeface="Consolas" panose="020B0609020204030204" pitchFamily="49" charset="0"/>
              </a:rPr>
              <a:t>(</a:t>
            </a:r>
            <a:r>
              <a:rPr lang="en-US" altLang="zh-CN" b="0" dirty="0">
                <a:solidFill>
                  <a:srgbClr val="4EC9B0"/>
                </a:solidFill>
                <a:effectLst/>
                <a:latin typeface="Consolas" panose="020B0609020204030204" pitchFamily="49" charset="0"/>
              </a:rPr>
              <a:t>Point</a:t>
            </a:r>
            <a:r>
              <a:rPr lang="en-US" altLang="zh-CN" b="0" dirty="0">
                <a:solidFill>
                  <a:srgbClr val="DADADA"/>
                </a:solidFill>
                <a:effectLst/>
                <a:latin typeface="Consolas" panose="020B0609020204030204" pitchFamily="49" charset="0"/>
              </a:rPr>
              <a:t> </a:t>
            </a:r>
            <a:r>
              <a:rPr lang="en-US" altLang="zh-CN" b="0" dirty="0">
                <a:solidFill>
                  <a:srgbClr val="9A9A9A"/>
                </a:solidFill>
                <a:effectLst/>
                <a:latin typeface="Consolas" panose="020B0609020204030204" pitchFamily="49" charset="0"/>
              </a:rPr>
              <a:t>p</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err="1">
                <a:solidFill>
                  <a:srgbClr val="C8C8C8"/>
                </a:solidFill>
                <a:effectLst/>
                <a:latin typeface="Consolas" panose="020B0609020204030204" pitchFamily="49" charset="0"/>
              </a:rPr>
              <a:t>cout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&lt;&lt;</a:t>
            </a:r>
            <a:r>
              <a:rPr lang="en-US" altLang="zh-CN" b="0" dirty="0">
                <a:solidFill>
                  <a:srgbClr val="DADADA"/>
                </a:solidFill>
                <a:effectLst/>
                <a:latin typeface="Consolas" panose="020B0609020204030204" pitchFamily="49" charset="0"/>
              </a:rPr>
              <a:t> </a:t>
            </a:r>
            <a:r>
              <a:rPr lang="en-US" altLang="zh-CN" b="0" dirty="0" err="1">
                <a:solidFill>
                  <a:srgbClr val="9A9A9A"/>
                </a:solidFill>
                <a:effectLst/>
                <a:latin typeface="Consolas" panose="020B0609020204030204" pitchFamily="49" charset="0"/>
              </a:rPr>
              <a:t>p</a:t>
            </a:r>
            <a:r>
              <a:rPr lang="en-US" altLang="zh-CN" b="0" dirty="0" err="1">
                <a:solidFill>
                  <a:srgbClr val="B4B4B4"/>
                </a:solidFill>
                <a:effectLst/>
                <a:latin typeface="Consolas" panose="020B0609020204030204" pitchFamily="49" charset="0"/>
              </a:rPr>
              <a:t>.</a:t>
            </a:r>
            <a:r>
              <a:rPr lang="en-US" altLang="zh-CN" b="0" dirty="0" err="1">
                <a:solidFill>
                  <a:srgbClr val="DCDCAA"/>
                </a:solidFill>
                <a:effectLst/>
                <a:latin typeface="Consolas" panose="020B0609020204030204" pitchFamily="49" charset="0"/>
              </a:rPr>
              <a:t>getX</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&lt;&lt;</a:t>
            </a:r>
            <a:r>
              <a:rPr lang="en-US" altLang="zh-CN" b="0" dirty="0">
                <a:solidFill>
                  <a:srgbClr val="DADAD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endl</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br>
              <a:rPr lang="en-US" altLang="zh-CN" b="0" dirty="0">
                <a:solidFill>
                  <a:srgbClr val="DADADA"/>
                </a:solidFill>
                <a:effectLst/>
                <a:latin typeface="Consolas" panose="020B0609020204030204" pitchFamily="49" charset="0"/>
              </a:rPr>
            </a:br>
            <a:r>
              <a:rPr lang="en-US" altLang="zh-CN" b="0" dirty="0">
                <a:solidFill>
                  <a:srgbClr val="4EC9B0"/>
                </a:solidFill>
                <a:effectLst/>
                <a:latin typeface="Consolas" panose="020B0609020204030204" pitchFamily="49" charset="0"/>
              </a:rPr>
              <a:t>Point</a:t>
            </a:r>
            <a:r>
              <a:rPr lang="en-US" altLang="zh-CN" b="0" dirty="0">
                <a:solidFill>
                  <a:srgbClr val="DADADA"/>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fun2</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Point</a:t>
            </a:r>
            <a:r>
              <a:rPr lang="en-US" altLang="zh-CN" b="0" dirty="0">
                <a:solidFill>
                  <a:srgbClr val="DADADA"/>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a:t>
            </a:r>
            <a:r>
              <a:rPr lang="en-US" altLang="zh-CN" b="0" dirty="0">
                <a:solidFill>
                  <a:srgbClr val="B4B4B4"/>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2</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D8A0DF"/>
                </a:solidFill>
                <a:effectLst/>
                <a:latin typeface="Consolas" panose="020B0609020204030204" pitchFamily="49" charset="0"/>
              </a:rPr>
              <a:t>return</a:t>
            </a:r>
            <a:r>
              <a:rPr lang="en-US" altLang="zh-CN" b="0" dirty="0">
                <a:solidFill>
                  <a:srgbClr val="DADADA"/>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br>
              <a:rPr lang="en-US" altLang="zh-CN" b="0" dirty="0">
                <a:solidFill>
                  <a:srgbClr val="DADADA"/>
                </a:solidFill>
                <a:effectLst/>
                <a:latin typeface="Consolas" panose="020B0609020204030204" pitchFamily="49" charset="0"/>
              </a:rPr>
            </a:br>
            <a:r>
              <a:rPr lang="en-US" altLang="zh-CN" b="0" dirty="0">
                <a:solidFill>
                  <a:srgbClr val="569CD6"/>
                </a:solidFill>
                <a:effectLst/>
                <a:latin typeface="Consolas" panose="020B0609020204030204" pitchFamily="49" charset="0"/>
              </a:rPr>
              <a:t>int</a:t>
            </a:r>
            <a:r>
              <a:rPr lang="en-US" altLang="zh-CN" b="0" dirty="0">
                <a:solidFill>
                  <a:srgbClr val="DADADA"/>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main</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Point</a:t>
            </a:r>
            <a:r>
              <a:rPr lang="en-US" altLang="zh-CN" b="0" dirty="0">
                <a:solidFill>
                  <a:srgbClr val="DADADA"/>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p1</a:t>
            </a:r>
            <a:r>
              <a:rPr lang="en-US" altLang="zh-CN" b="0" dirty="0">
                <a:solidFill>
                  <a:srgbClr val="B4B4B4"/>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4</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5</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Point</a:t>
            </a:r>
            <a:r>
              <a:rPr lang="en-US" altLang="zh-CN" b="0" dirty="0">
                <a:solidFill>
                  <a:srgbClr val="DADADA"/>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p2</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p1</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br>
              <a:rPr lang="en-US" altLang="zh-CN" b="0" dirty="0">
                <a:solidFill>
                  <a:srgbClr val="DADADA"/>
                </a:solidFill>
                <a:effectLst/>
                <a:latin typeface="Consolas" panose="020B0609020204030204" pitchFamily="49" charset="0"/>
              </a:rPr>
            </a:br>
            <a:r>
              <a:rPr lang="en-US" altLang="zh-CN" b="0" dirty="0">
                <a:solidFill>
                  <a:srgbClr val="DADADA"/>
                </a:solidFill>
                <a:effectLst/>
                <a:latin typeface="Consolas" panose="020B0609020204030204" pitchFamily="49" charset="0"/>
              </a:rPr>
              <a:t>    </a:t>
            </a:r>
            <a:r>
              <a:rPr lang="en-US" altLang="zh-CN" b="0" dirty="0" err="1">
                <a:solidFill>
                  <a:srgbClr val="C8C8C8"/>
                </a:solidFill>
                <a:effectLst/>
                <a:latin typeface="Consolas" panose="020B0609020204030204" pitchFamily="49" charset="0"/>
              </a:rPr>
              <a:t>cout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&lt;&lt;</a:t>
            </a:r>
            <a:r>
              <a:rPr lang="en-US" altLang="zh-CN" b="0" dirty="0">
                <a:solidFill>
                  <a:srgbClr val="DADADA"/>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p2</a:t>
            </a:r>
            <a:r>
              <a:rPr lang="en-US" altLang="zh-CN" b="0" dirty="0">
                <a:solidFill>
                  <a:srgbClr val="B4B4B4"/>
                </a:solidFill>
                <a:effectLst/>
                <a:latin typeface="Consolas" panose="020B0609020204030204" pitchFamily="49" charset="0"/>
              </a:rPr>
              <a:t>.</a:t>
            </a:r>
            <a:r>
              <a:rPr lang="en-US" altLang="zh-CN" b="0" dirty="0">
                <a:solidFill>
                  <a:srgbClr val="DCDCAA"/>
                </a:solidFill>
                <a:effectLst/>
                <a:latin typeface="Consolas" panose="020B0609020204030204" pitchFamily="49" charset="0"/>
              </a:rPr>
              <a:t>getX</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&lt;&lt;</a:t>
            </a:r>
            <a:r>
              <a:rPr lang="en-US" altLang="zh-CN" b="0" dirty="0">
                <a:solidFill>
                  <a:srgbClr val="DADAD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endl</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DADADA"/>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fun1</a:t>
            </a:r>
            <a:r>
              <a:rPr lang="en-US" altLang="zh-CN" b="0" dirty="0">
                <a:solidFill>
                  <a:srgbClr val="B4B4B4"/>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p2</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br>
              <a:rPr lang="en-US" altLang="zh-CN" b="0" dirty="0">
                <a:solidFill>
                  <a:srgbClr val="DADADA"/>
                </a:solidFill>
                <a:effectLst/>
                <a:latin typeface="Consolas" panose="020B0609020204030204" pitchFamily="49" charset="0"/>
              </a:rPr>
            </a:br>
            <a:r>
              <a:rPr lang="en-US" altLang="zh-CN" b="0" dirty="0">
                <a:solidFill>
                  <a:srgbClr val="DADADA"/>
                </a:solidFill>
                <a:effectLst/>
                <a:latin typeface="Consolas" panose="020B0609020204030204" pitchFamily="49" charset="0"/>
              </a:rPr>
              <a:t>    </a:t>
            </a:r>
            <a:r>
              <a:rPr lang="en-US" altLang="zh-CN" b="0" dirty="0" err="1">
                <a:solidFill>
                  <a:srgbClr val="C8C8C8"/>
                </a:solidFill>
                <a:effectLst/>
                <a:latin typeface="Consolas" panose="020B0609020204030204" pitchFamily="49" charset="0"/>
              </a:rPr>
              <a:t>cout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&lt;&lt;</a:t>
            </a:r>
            <a:r>
              <a:rPr lang="en-US" altLang="zh-CN" b="0" dirty="0">
                <a:solidFill>
                  <a:srgbClr val="DADADA"/>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fun2</a:t>
            </a:r>
            <a:r>
              <a:rPr lang="en-US" altLang="zh-CN" b="0" dirty="0">
                <a:solidFill>
                  <a:srgbClr val="B4B4B4"/>
                </a:solidFill>
                <a:effectLst/>
                <a:latin typeface="Consolas" panose="020B0609020204030204" pitchFamily="49" charset="0"/>
              </a:rPr>
              <a:t>().</a:t>
            </a:r>
            <a:r>
              <a:rPr lang="en-US" altLang="zh-CN" b="0" dirty="0" err="1">
                <a:solidFill>
                  <a:srgbClr val="DCDCAA"/>
                </a:solidFill>
                <a:effectLst/>
                <a:latin typeface="Consolas" panose="020B0609020204030204" pitchFamily="49" charset="0"/>
              </a:rPr>
              <a:t>getX</a:t>
            </a:r>
            <a:r>
              <a:rPr lang="en-US" altLang="zh-CN" b="0" dirty="0">
                <a:solidFill>
                  <a:srgbClr val="B4B4B4"/>
                </a:solidFill>
                <a:effectLst/>
                <a:latin typeface="Consolas" panose="020B0609020204030204" pitchFamily="49" charset="0"/>
              </a:rPr>
              <a:t>()</a:t>
            </a:r>
            <a:r>
              <a:rPr lang="en-US" altLang="zh-CN" b="0" dirty="0">
                <a:solidFill>
                  <a:srgbClr val="DADADA"/>
                </a:solidFill>
                <a:effectLst/>
                <a:latin typeface="Consolas" panose="020B0609020204030204" pitchFamily="49" charset="0"/>
              </a:rPr>
              <a:t> </a:t>
            </a:r>
            <a:r>
              <a:rPr lang="en-US" altLang="zh-CN" b="0" dirty="0">
                <a:solidFill>
                  <a:srgbClr val="B4B4B4"/>
                </a:solidFill>
                <a:effectLst/>
                <a:latin typeface="Consolas" panose="020B0609020204030204" pitchFamily="49" charset="0"/>
              </a:rPr>
              <a:t>&lt;&lt;</a:t>
            </a:r>
            <a:r>
              <a:rPr lang="en-US" altLang="zh-CN" b="0" dirty="0">
                <a:solidFill>
                  <a:srgbClr val="DADAD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endl</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br>
              <a:rPr lang="en-US" altLang="zh-CN" b="0" dirty="0">
                <a:solidFill>
                  <a:srgbClr val="DADADA"/>
                </a:solidFill>
                <a:effectLst/>
                <a:latin typeface="Consolas" panose="020B0609020204030204" pitchFamily="49" charset="0"/>
              </a:rPr>
            </a:br>
            <a:r>
              <a:rPr lang="en-US" altLang="zh-CN" b="0" dirty="0">
                <a:solidFill>
                  <a:srgbClr val="DADADA"/>
                </a:solidFill>
                <a:effectLst/>
                <a:latin typeface="Consolas" panose="020B0609020204030204" pitchFamily="49" charset="0"/>
              </a:rPr>
              <a:t>    </a:t>
            </a:r>
            <a:r>
              <a:rPr lang="en-US" altLang="zh-CN" b="0" dirty="0">
                <a:solidFill>
                  <a:srgbClr val="D8A0DF"/>
                </a:solidFill>
                <a:effectLst/>
                <a:latin typeface="Consolas" panose="020B0609020204030204" pitchFamily="49" charset="0"/>
              </a:rPr>
              <a:t>return</a:t>
            </a:r>
            <a:r>
              <a:rPr lang="en-US" altLang="zh-CN" b="0" dirty="0">
                <a:solidFill>
                  <a:srgbClr val="DADADA"/>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r>
              <a:rPr lang="en-US" altLang="zh-CN" b="0" dirty="0">
                <a:solidFill>
                  <a:srgbClr val="B4B4B4"/>
                </a:solidFill>
                <a:effectLst/>
                <a:latin typeface="Consolas" panose="020B0609020204030204" pitchFamily="49" charset="0"/>
              </a:rPr>
              <a:t>}</a:t>
            </a:r>
            <a:endParaRPr lang="en-US" altLang="zh-CN" b="0" dirty="0">
              <a:solidFill>
                <a:srgbClr val="DADADA"/>
              </a:solidFill>
              <a:effectLst/>
              <a:latin typeface="Consolas" panose="020B0609020204030204" pitchFamily="49" charset="0"/>
            </a:endParaRPr>
          </a:p>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幻灯片图像占位符 1"/>
          <p:cNvSpPr>
            <a:spLocks noGrp="1" noRot="1" noChangeAspect="1" noChangeArrowheads="1" noTextEdit="1"/>
          </p:cNvSpPr>
          <p:nvPr>
            <p:ph type="sldImg"/>
          </p:nvPr>
        </p:nvSpPr>
        <p:spPr/>
      </p:sp>
      <p:sp>
        <p:nvSpPr>
          <p:cNvPr id="145410" name="备注占位符 2"/>
          <p:cNvSpPr>
            <a:spLocks noGrp="1" noChangeArrowheads="1"/>
          </p:cNvSpPr>
          <p:nvPr>
            <p:ph type="body" idx="1"/>
          </p:nvPr>
        </p:nvSpPr>
        <p:spPr>
          <a:noFill/>
        </p:spPr>
        <p:txBody>
          <a:bodyPr/>
          <a:lstStyle/>
          <a:p>
            <a:r>
              <a:rPr kumimoji="1" lang="zh-CN" altLang="en-US" dirty="0">
                <a:latin typeface="Times New Roman" panose="02020503050405090304" pitchFamily="18" charset="0"/>
              </a:rPr>
              <a:t>没有此类型的构造函数。默认的复制构造函数是需要</a:t>
            </a:r>
            <a:r>
              <a:rPr kumimoji="1" lang="en-US" altLang="zh-CN" dirty="0">
                <a:latin typeface="Times New Roman" panose="02020503050405090304" pitchFamily="18" charset="0"/>
              </a:rPr>
              <a:t>Point</a:t>
            </a:r>
            <a:r>
              <a:rPr kumimoji="1" lang="zh-CN" altLang="en-US" dirty="0">
                <a:latin typeface="Times New Roman" panose="02020503050405090304" pitchFamily="18" charset="0"/>
              </a:rPr>
              <a:t> </a:t>
            </a:r>
            <a:r>
              <a:rPr kumimoji="1" lang="en-US" altLang="zh-CN" dirty="0">
                <a:latin typeface="Times New Roman" panose="02020503050405090304" pitchFamily="18" charset="0"/>
              </a:rPr>
              <a:t>p1(xp1)</a:t>
            </a:r>
            <a:r>
              <a:rPr kumimoji="1" lang="zh-CN" altLang="en-US" dirty="0">
                <a:latin typeface="Times New Roman" panose="02020503050405090304" pitchFamily="18" charset="0"/>
              </a:rPr>
              <a:t>的方式初始化的。 </a:t>
            </a:r>
            <a:endParaRPr kumimoji="1" lang="en-US" altLang="zh-CN" dirty="0">
              <a:latin typeface="Times New Roman" panose="02020503050405090304" pitchFamily="18" charset="0"/>
            </a:endParaRPr>
          </a:p>
          <a:p>
            <a:endParaRPr kumimoji="1" lang="en-US" altLang="zh-CN" dirty="0">
              <a:latin typeface="Times New Roman" panose="02020503050405090304" pitchFamily="18" charset="0"/>
            </a:endParaRPr>
          </a:p>
          <a:p>
            <a:r>
              <a:rPr kumimoji="1" lang="zh-CN" altLang="en-US" dirty="0">
                <a:latin typeface="Times New Roman" panose="02020503050405090304" pitchFamily="18" charset="0"/>
              </a:rPr>
              <a:t>所以尝试的构造函数是错误的。</a:t>
            </a:r>
            <a:endParaRPr kumimoji="1" lang="en-US" altLang="zh-CN" dirty="0">
              <a:latin typeface="Times New Roman" panose="02020503050405090304" pitchFamily="18" charset="0"/>
            </a:endParaRPr>
          </a:p>
          <a:p>
            <a:endParaRPr kumimoji="1" lang="en-US" altLang="zh-CN" dirty="0">
              <a:latin typeface="Times New Roman" panose="02020503050405090304" pitchFamily="18" charset="0"/>
            </a:endParaRPr>
          </a:p>
          <a:p>
            <a:endParaRPr kumimoji="1" lang="en-US" altLang="zh-CN" dirty="0">
              <a:latin typeface="Times New Roman" panose="02020503050405090304" pitchFamily="18" charset="0"/>
            </a:endParaRPr>
          </a:p>
          <a:p>
            <a:endParaRPr kumimoji="1" lang="en-US" altLang="zh-CN" dirty="0">
              <a:latin typeface="Times New Roman" panose="02020503050405090304" pitchFamily="18" charset="0"/>
            </a:endParaRPr>
          </a:p>
          <a:p>
            <a:endParaRPr kumimoji="1" lang="en-US" altLang="zh-CN" dirty="0">
              <a:latin typeface="Times New Roman" panose="02020503050405090304" pitchFamily="18" charset="0"/>
            </a:endParaRPr>
          </a:p>
        </p:txBody>
      </p:sp>
      <p:sp>
        <p:nvSpPr>
          <p:cNvPr id="14541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defTabSz="990600">
              <a:defRPr sz="2400">
                <a:solidFill>
                  <a:schemeClr val="tx1"/>
                </a:solidFill>
                <a:latin typeface="Times New Roman" panose="02020503050405090304" pitchFamily="18" charset="0"/>
                <a:ea typeface="隶书" panose="02010509060101010101" pitchFamily="49" charset="-122"/>
              </a:defRPr>
            </a:lvl1pPr>
            <a:lvl2pPr marL="742950" indent="-285750" defTabSz="990600">
              <a:defRPr sz="2400">
                <a:solidFill>
                  <a:schemeClr val="tx1"/>
                </a:solidFill>
                <a:latin typeface="Times New Roman" panose="02020503050405090304" pitchFamily="18" charset="0"/>
                <a:ea typeface="隶书" panose="02010509060101010101" pitchFamily="49" charset="-122"/>
              </a:defRPr>
            </a:lvl2pPr>
            <a:lvl3pPr marL="1143000" indent="-228600" defTabSz="990600">
              <a:defRPr sz="2400">
                <a:solidFill>
                  <a:schemeClr val="tx1"/>
                </a:solidFill>
                <a:latin typeface="Times New Roman" panose="02020503050405090304" pitchFamily="18" charset="0"/>
                <a:ea typeface="隶书" panose="02010509060101010101" pitchFamily="49" charset="-122"/>
              </a:defRPr>
            </a:lvl3pPr>
            <a:lvl4pPr marL="1600200" indent="-228600" defTabSz="990600">
              <a:defRPr sz="2400">
                <a:solidFill>
                  <a:schemeClr val="tx1"/>
                </a:solidFill>
                <a:latin typeface="Times New Roman" panose="02020503050405090304" pitchFamily="18" charset="0"/>
                <a:ea typeface="隶书" panose="02010509060101010101" pitchFamily="49" charset="-122"/>
              </a:defRPr>
            </a:lvl4pPr>
            <a:lvl5pPr marL="2057400" indent="-228600" defTabSz="990600">
              <a:defRPr sz="2400">
                <a:solidFill>
                  <a:schemeClr val="tx1"/>
                </a:solidFill>
                <a:latin typeface="Times New Roman" panose="02020503050405090304" pitchFamily="18" charset="0"/>
                <a:ea typeface="隶书" panose="02010509060101010101" pitchFamily="49" charset="-122"/>
              </a:defRPr>
            </a:lvl5pPr>
            <a:lvl6pPr marL="2514600" indent="-228600" defTabSz="990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defTabSz="990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defTabSz="990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defTabSz="990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r" defTabSz="990600" rtl="0" eaLnBrk="1" fontAlgn="base" latinLnBrk="0" hangingPunct="1">
              <a:lnSpc>
                <a:spcPct val="100000"/>
              </a:lnSpc>
              <a:spcBef>
                <a:spcPct val="0"/>
              </a:spcBef>
              <a:spcAft>
                <a:spcPct val="0"/>
              </a:spcAft>
              <a:buClrTx/>
              <a:buSzTx/>
              <a:buFont typeface="Arial" panose="020B0604020202090204" pitchFamily="34" charset="0"/>
              <a:buNone/>
              <a:defRPr/>
            </a:pPr>
            <a:fld id="{07B295A7-7FF3-4358-9BF5-E5A67C3930FB}" type="slidenum">
              <a:rPr kumimoji="0" altLang="zh-CN" sz="1300" b="0" i="0" u="none" strike="noStrike" kern="1200" cap="none" spc="0" normalizeH="0" baseline="0" noProof="1" smtClean="0">
                <a:ln>
                  <a:noFill/>
                </a:ln>
                <a:solidFill>
                  <a:srgbClr val="000000"/>
                </a:solidFill>
                <a:effectLst/>
                <a:uLnTx/>
                <a:uFillTx/>
                <a:latin typeface="Times New Roman" panose="02020503050405090304" pitchFamily="18" charset="0"/>
                <a:ea typeface="隶书" panose="02010509060101010101" pitchFamily="49" charset="-122"/>
                <a:cs typeface="+mn-cs"/>
              </a:rPr>
            </a:fld>
            <a:endParaRPr kumimoji="0" lang="zh-CN" altLang="zh-CN" sz="1300" b="0" i="0" u="none" strike="noStrike" kern="1200" cap="none" spc="0" normalizeH="0" baseline="0" noProof="1">
              <a:ln>
                <a:noFill/>
              </a:ln>
              <a:solidFill>
                <a:srgbClr val="000000"/>
              </a:solidFill>
              <a:effectLst/>
              <a:uLnTx/>
              <a:uFillTx/>
              <a:latin typeface="Times New Roman" panose="02020503050405090304" pitchFamily="18" charset="0"/>
              <a:ea typeface="隶书" panose="02010509060101010101" pitchFamily="49"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r>
              <a:rPr lang="en-US" altLang="zh-CN" sz="1800" b="1" dirty="0">
                <a:solidFill>
                  <a:srgbClr val="8DCBE2"/>
                </a:solidFill>
                <a:effectLst/>
                <a:latin typeface="Consolas" panose="020B0609020204030204" pitchFamily="49" charset="0"/>
              </a:rPr>
              <a:t>#include</a:t>
            </a:r>
            <a:r>
              <a:rPr lang="en-US" altLang="zh-CN" sz="1800" dirty="0">
                <a:solidFill>
                  <a:srgbClr val="D8D8D8"/>
                </a:solidFill>
                <a:effectLst/>
                <a:latin typeface="Consolas" panose="020B0609020204030204" pitchFamily="49" charset="0"/>
              </a:rPr>
              <a:t> </a:t>
            </a:r>
            <a:r>
              <a:rPr lang="en-US" altLang="zh-CN" sz="1800" dirty="0">
                <a:solidFill>
                  <a:srgbClr val="FFC600"/>
                </a:solidFill>
                <a:effectLst/>
                <a:latin typeface="Consolas" panose="020B0609020204030204" pitchFamily="49" charset="0"/>
              </a:rPr>
              <a:t>&lt;iostream&gt;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using</a:t>
            </a:r>
            <a:r>
              <a:rPr lang="en-US" altLang="zh-CN" sz="1800" dirty="0">
                <a:solidFill>
                  <a:srgbClr val="D8D8D8"/>
                </a:solidFill>
                <a:effectLst/>
                <a:latin typeface="Consolas" panose="020B0609020204030204" pitchFamily="49" charset="0"/>
              </a:rPr>
              <a:t> </a:t>
            </a:r>
            <a:r>
              <a:rPr lang="en-US" altLang="zh-CN" sz="1800" b="1" dirty="0">
                <a:solidFill>
                  <a:srgbClr val="8DCBE2"/>
                </a:solidFill>
                <a:effectLst/>
                <a:latin typeface="Consolas" panose="020B0609020204030204" pitchFamily="49" charset="0"/>
              </a:rPr>
              <a:t>namespace</a:t>
            </a:r>
            <a:r>
              <a:rPr lang="en-US" altLang="zh-CN" sz="1800" dirty="0">
                <a:solidFill>
                  <a:srgbClr val="D8D8D8"/>
                </a:solidFill>
                <a:effectLst/>
                <a:latin typeface="Consolas" panose="020B0609020204030204" pitchFamily="49" charset="0"/>
              </a:rPr>
              <a:t> </a:t>
            </a:r>
            <a:r>
              <a:rPr lang="en-US" altLang="zh-CN" sz="1800" dirty="0">
                <a:solidFill>
                  <a:srgbClr val="D197D9"/>
                </a:solidFill>
                <a:effectLst/>
                <a:latin typeface="Consolas" panose="020B0609020204030204" pitchFamily="49" charset="0"/>
              </a:rPr>
              <a:t>std</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00FF00"/>
                </a:solidFill>
                <a:effectLst/>
                <a:latin typeface="Consolas" panose="020B0609020204030204" pitchFamily="49" charset="0"/>
              </a:rPr>
              <a:t>// Point </a:t>
            </a:r>
            <a:r>
              <a:rPr lang="zh-CN" altLang="en-US" sz="1800" dirty="0">
                <a:solidFill>
                  <a:srgbClr val="00FF00"/>
                </a:solidFill>
                <a:effectLst/>
                <a:latin typeface="Consolas" panose="020B0609020204030204" pitchFamily="49" charset="0"/>
              </a:rPr>
              <a:t>类的定义</a:t>
            </a:r>
            <a:endParaRPr lang="zh-CN" altLang="en-US"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class</a:t>
            </a:r>
            <a:r>
              <a:rPr lang="en-US" altLang="zh-CN" sz="1800" dirty="0">
                <a:solidFill>
                  <a:srgbClr val="D8D8D8"/>
                </a:solidFill>
                <a:effectLst/>
                <a:latin typeface="Consolas" panose="020B0609020204030204" pitchFamily="49" charset="0"/>
              </a:rPr>
              <a:t> </a:t>
            </a:r>
            <a:r>
              <a:rPr lang="en-US" altLang="zh-CN" sz="1800" dirty="0">
                <a:solidFill>
                  <a:srgbClr val="D25252"/>
                </a:solidFill>
                <a:effectLst/>
                <a:latin typeface="Consolas" panose="020B0609020204030204" pitchFamily="49" charset="0"/>
              </a:rPr>
              <a:t>Point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public</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BED6FF"/>
                </a:solidFill>
                <a:effectLst/>
                <a:latin typeface="Consolas" panose="020B0609020204030204" pitchFamily="49" charset="0"/>
              </a:rPr>
              <a:t>Point</a:t>
            </a:r>
            <a:r>
              <a:rPr lang="en-US" altLang="zh-CN" sz="1800" dirty="0">
                <a:solidFill>
                  <a:srgbClr val="D8D8D8"/>
                </a:solidFill>
                <a:effectLst/>
                <a:latin typeface="Consolas" panose="020B0609020204030204" pitchFamily="49" charset="0"/>
              </a:rPr>
              <a:t>(</a:t>
            </a:r>
            <a:r>
              <a:rPr lang="en-US" altLang="zh-CN" sz="1800" b="1" dirty="0">
                <a:solidFill>
                  <a:srgbClr val="8DCBE2"/>
                </a:solidFill>
                <a:effectLst/>
                <a:latin typeface="Consolas" panose="020B0609020204030204" pitchFamily="49" charset="0"/>
              </a:rPr>
              <a:t>int</a:t>
            </a:r>
            <a:r>
              <a:rPr lang="en-US" altLang="zh-CN" sz="1800" dirty="0">
                <a:solidFill>
                  <a:srgbClr val="D8D8D8"/>
                </a:solidFill>
                <a:effectLst/>
                <a:latin typeface="Consolas" panose="020B0609020204030204" pitchFamily="49" charset="0"/>
              </a:rPr>
              <a:t> </a:t>
            </a:r>
            <a:r>
              <a:rPr lang="en-US" altLang="zh-CN" sz="1800" dirty="0">
                <a:solidFill>
                  <a:srgbClr val="79ABFF"/>
                </a:solidFill>
                <a:effectLst/>
                <a:latin typeface="Consolas" panose="020B0609020204030204" pitchFamily="49" charset="0"/>
              </a:rPr>
              <a:t>x</a:t>
            </a:r>
            <a:r>
              <a:rPr lang="en-US" altLang="zh-CN" sz="1800" dirty="0">
                <a:solidFill>
                  <a:srgbClr val="D8D8D8"/>
                </a:solidFill>
                <a:effectLst/>
                <a:latin typeface="Consolas" panose="020B0609020204030204" pitchFamily="49" charset="0"/>
              </a:rPr>
              <a:t> = </a:t>
            </a:r>
            <a:r>
              <a:rPr lang="en-US" altLang="zh-CN" sz="1800" dirty="0">
                <a:solidFill>
                  <a:srgbClr val="7FB347"/>
                </a:solidFill>
                <a:effectLst/>
                <a:latin typeface="Consolas" panose="020B0609020204030204" pitchFamily="49" charset="0"/>
              </a:rPr>
              <a:t>0</a:t>
            </a:r>
            <a:r>
              <a:rPr lang="en-US" altLang="zh-CN" sz="1800" dirty="0">
                <a:solidFill>
                  <a:srgbClr val="D8D8D8"/>
                </a:solidFill>
                <a:effectLst/>
                <a:latin typeface="Consolas" panose="020B0609020204030204" pitchFamily="49" charset="0"/>
              </a:rPr>
              <a:t>, </a:t>
            </a:r>
            <a:r>
              <a:rPr lang="en-US" altLang="zh-CN" sz="1800" b="1" dirty="0">
                <a:solidFill>
                  <a:srgbClr val="8DCBE2"/>
                </a:solidFill>
                <a:effectLst/>
                <a:latin typeface="Consolas" panose="020B0609020204030204" pitchFamily="49" charset="0"/>
              </a:rPr>
              <a:t>int</a:t>
            </a:r>
            <a:r>
              <a:rPr lang="en-US" altLang="zh-CN" sz="1800" dirty="0">
                <a:solidFill>
                  <a:srgbClr val="D8D8D8"/>
                </a:solidFill>
                <a:effectLst/>
                <a:latin typeface="Consolas" panose="020B0609020204030204" pitchFamily="49" charset="0"/>
              </a:rPr>
              <a:t> </a:t>
            </a:r>
            <a:r>
              <a:rPr lang="en-US" altLang="zh-CN" sz="1800" dirty="0">
                <a:solidFill>
                  <a:srgbClr val="79ABFF"/>
                </a:solidFill>
                <a:effectLst/>
                <a:latin typeface="Consolas" panose="020B0609020204030204" pitchFamily="49" charset="0"/>
              </a:rPr>
              <a:t>y</a:t>
            </a:r>
            <a:r>
              <a:rPr lang="en-US" altLang="zh-CN" sz="1800" dirty="0">
                <a:solidFill>
                  <a:srgbClr val="D8D8D8"/>
                </a:solidFill>
                <a:effectLst/>
                <a:latin typeface="Consolas" panose="020B0609020204030204" pitchFamily="49" charset="0"/>
              </a:rPr>
              <a:t> = </a:t>
            </a:r>
            <a:r>
              <a:rPr lang="en-US" altLang="zh-CN" sz="1800" dirty="0">
                <a:solidFill>
                  <a:srgbClr val="7FB347"/>
                </a:solidFill>
                <a:effectLst/>
                <a:latin typeface="Consolas" panose="020B0609020204030204" pitchFamily="49" charset="0"/>
              </a:rPr>
              <a:t>0</a:t>
            </a:r>
            <a:r>
              <a:rPr lang="en-US" altLang="zh-CN" sz="1800" dirty="0">
                <a:solidFill>
                  <a:srgbClr val="D8D8D8"/>
                </a:solidFill>
                <a:effectLst/>
                <a:latin typeface="Consolas" panose="020B0609020204030204" pitchFamily="49" charset="0"/>
              </a:rPr>
              <a:t>) :</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BED6FF"/>
                </a:solidFill>
                <a:effectLst/>
                <a:latin typeface="Consolas" panose="020B0609020204030204" pitchFamily="49" charset="0"/>
              </a:rPr>
              <a:t>x</a:t>
            </a:r>
            <a:r>
              <a:rPr lang="en-US" altLang="zh-CN" sz="1800" dirty="0">
                <a:solidFill>
                  <a:srgbClr val="D8D8D8"/>
                </a:solidFill>
                <a:effectLst/>
                <a:latin typeface="Consolas" panose="020B0609020204030204" pitchFamily="49" charset="0"/>
              </a:rPr>
              <a:t>(</a:t>
            </a:r>
            <a:r>
              <a:rPr lang="en-US" altLang="zh-CN" sz="1800" dirty="0">
                <a:solidFill>
                  <a:srgbClr val="79ABFF"/>
                </a:solidFill>
                <a:effectLst/>
                <a:latin typeface="Consolas" panose="020B0609020204030204" pitchFamily="49" charset="0"/>
              </a:rPr>
              <a:t>x</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y</a:t>
            </a:r>
            <a:r>
              <a:rPr lang="en-US" altLang="zh-CN" sz="1800" dirty="0">
                <a:solidFill>
                  <a:srgbClr val="D8D8D8"/>
                </a:solidFill>
                <a:effectLst/>
                <a:latin typeface="Consolas" panose="020B0609020204030204" pitchFamily="49" charset="0"/>
              </a:rPr>
              <a:t>(</a:t>
            </a:r>
            <a:r>
              <a:rPr lang="en-US" altLang="zh-CN" sz="1800" dirty="0">
                <a:solidFill>
                  <a:srgbClr val="79ABFF"/>
                </a:solidFill>
                <a:effectLst/>
                <a:latin typeface="Consolas" panose="020B0609020204030204" pitchFamily="49" charset="0"/>
              </a:rPr>
              <a:t>y</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00FF00"/>
                </a:solidFill>
                <a:effectLst/>
                <a:latin typeface="Consolas" panose="020B0609020204030204" pitchFamily="49" charset="0"/>
              </a:rPr>
              <a:t>//</a:t>
            </a:r>
            <a:r>
              <a:rPr lang="en-US" altLang="zh-CN" sz="1800" b="1" dirty="0">
                <a:solidFill>
                  <a:srgbClr val="CCDF32"/>
                </a:solidFill>
                <a:effectLst/>
                <a:latin typeface="Consolas" panose="020B0609020204030204" pitchFamily="49" charset="0"/>
              </a:rPr>
              <a:t>TODO</a:t>
            </a:r>
            <a:r>
              <a:rPr lang="en-US" altLang="zh-CN" sz="1800" dirty="0">
                <a:solidFill>
                  <a:srgbClr val="00FF00"/>
                </a:solidFill>
                <a:effectLst/>
                <a:latin typeface="Consolas" panose="020B0609020204030204" pitchFamily="49" charset="0"/>
              </a:rPr>
              <a:t> anything but data initializing</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BED6FF"/>
                </a:solidFill>
                <a:effectLst/>
                <a:latin typeface="Consolas" panose="020B0609020204030204" pitchFamily="49" charset="0"/>
              </a:rPr>
              <a:t>Point</a:t>
            </a:r>
            <a:r>
              <a:rPr lang="en-US" altLang="zh-CN" sz="1800" dirty="0">
                <a:solidFill>
                  <a:srgbClr val="D8D8D8"/>
                </a:solidFill>
                <a:effectLst/>
                <a:latin typeface="Consolas" panose="020B0609020204030204" pitchFamily="49" charset="0"/>
              </a:rPr>
              <a:t>(</a:t>
            </a:r>
            <a:r>
              <a:rPr lang="en-US" altLang="zh-CN" sz="1800" b="1" dirty="0">
                <a:solidFill>
                  <a:srgbClr val="8DCBE2"/>
                </a:solidFill>
                <a:effectLst/>
                <a:latin typeface="Consolas" panose="020B0609020204030204" pitchFamily="49" charset="0"/>
              </a:rPr>
              <a:t>const</a:t>
            </a:r>
            <a:r>
              <a:rPr lang="en-US" altLang="zh-CN" sz="1800" dirty="0">
                <a:solidFill>
                  <a:srgbClr val="D8D8D8"/>
                </a:solidFill>
                <a:effectLst/>
                <a:latin typeface="Consolas" panose="020B0609020204030204" pitchFamily="49" charset="0"/>
              </a:rPr>
              <a:t> </a:t>
            </a:r>
            <a:r>
              <a:rPr lang="en-US" altLang="zh-CN" sz="1800" dirty="0">
                <a:solidFill>
                  <a:srgbClr val="D25252"/>
                </a:solidFill>
                <a:effectLst/>
                <a:latin typeface="Consolas" panose="020B0609020204030204" pitchFamily="49" charset="0"/>
              </a:rPr>
              <a:t>Point</a:t>
            </a:r>
            <a:r>
              <a:rPr lang="en-US" altLang="zh-CN" sz="1800" dirty="0">
                <a:solidFill>
                  <a:srgbClr val="D8D8D8"/>
                </a:solidFill>
                <a:effectLst/>
                <a:latin typeface="Consolas" panose="020B0609020204030204" pitchFamily="49" charset="0"/>
              </a:rPr>
              <a:t> &amp;</a:t>
            </a:r>
            <a:r>
              <a:rPr lang="en-US" altLang="zh-CN" sz="1800" dirty="0">
                <a:solidFill>
                  <a:srgbClr val="79ABFF"/>
                </a:solidFill>
                <a:effectLst/>
                <a:latin typeface="Consolas" panose="020B0609020204030204" pitchFamily="49" charset="0"/>
              </a:rPr>
              <a:t>p</a:t>
            </a:r>
            <a:r>
              <a:rPr lang="en-US" altLang="zh-CN" sz="1800" dirty="0">
                <a:solidFill>
                  <a:srgbClr val="D8D8D8"/>
                </a:solidFill>
                <a:effectLst/>
                <a:latin typeface="Consolas" panose="020B0609020204030204" pitchFamily="49" charset="0"/>
              </a:rPr>
              <a:t>); </a:t>
            </a:r>
            <a:r>
              <a:rPr lang="en-US" altLang="zh-CN" sz="1800" dirty="0">
                <a:solidFill>
                  <a:srgbClr val="00FF00"/>
                </a:solidFill>
                <a:effectLst/>
                <a:latin typeface="Consolas" panose="020B0609020204030204" pitchFamily="49" charset="0"/>
              </a:rPr>
              <a:t>// </a:t>
            </a:r>
            <a:r>
              <a:rPr lang="zh-CN" altLang="en-US" sz="1800" dirty="0">
                <a:solidFill>
                  <a:srgbClr val="00FF00"/>
                </a:solidFill>
                <a:effectLst/>
                <a:latin typeface="Consolas" panose="020B0609020204030204" pitchFamily="49" charset="0"/>
              </a:rPr>
              <a:t>复制构造函数</a:t>
            </a:r>
            <a:endParaRPr lang="zh-CN" altLang="en-US"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void</a:t>
            </a:r>
            <a:r>
              <a:rPr lang="en-US" altLang="zh-CN" sz="1800" dirty="0">
                <a:solidFill>
                  <a:srgbClr val="D8D8D8"/>
                </a:solidFill>
                <a:effectLst/>
                <a:latin typeface="Consolas" panose="020B0609020204030204" pitchFamily="49" charset="0"/>
              </a:rPr>
              <a:t> </a:t>
            </a:r>
            <a:r>
              <a:rPr lang="en-US" altLang="zh-CN" sz="1800" dirty="0" err="1">
                <a:solidFill>
                  <a:srgbClr val="BED6FF"/>
                </a:solidFill>
                <a:effectLst/>
                <a:latin typeface="Consolas" panose="020B0609020204030204" pitchFamily="49" charset="0"/>
              </a:rPr>
              <a:t>setX</a:t>
            </a:r>
            <a:r>
              <a:rPr lang="en-US" altLang="zh-CN" sz="1800" dirty="0">
                <a:solidFill>
                  <a:srgbClr val="D8D8D8"/>
                </a:solidFill>
                <a:effectLst/>
                <a:latin typeface="Consolas" panose="020B0609020204030204" pitchFamily="49" charset="0"/>
              </a:rPr>
              <a:t>(</a:t>
            </a:r>
            <a:r>
              <a:rPr lang="en-US" altLang="zh-CN" sz="1800" b="1" dirty="0">
                <a:solidFill>
                  <a:srgbClr val="8DCBE2"/>
                </a:solidFill>
                <a:effectLst/>
                <a:latin typeface="Consolas" panose="020B0609020204030204" pitchFamily="49" charset="0"/>
              </a:rPr>
              <a:t>int</a:t>
            </a:r>
            <a:r>
              <a:rPr lang="en-US" altLang="zh-CN" sz="1800" dirty="0">
                <a:solidFill>
                  <a:srgbClr val="D8D8D8"/>
                </a:solidFill>
                <a:effectLst/>
                <a:latin typeface="Consolas" panose="020B0609020204030204" pitchFamily="49" charset="0"/>
              </a:rPr>
              <a:t> </a:t>
            </a:r>
            <a:r>
              <a:rPr lang="en-US" altLang="zh-CN" sz="1800" dirty="0">
                <a:solidFill>
                  <a:srgbClr val="79ABFF"/>
                </a:solidFill>
                <a:effectLst/>
                <a:latin typeface="Consolas" panose="020B0609020204030204" pitchFamily="49" charset="0"/>
              </a:rPr>
              <a:t>xx</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BED6FF"/>
                </a:solidFill>
                <a:effectLst/>
                <a:latin typeface="Consolas" panose="020B0609020204030204" pitchFamily="49" charset="0"/>
              </a:rPr>
              <a:t>x</a:t>
            </a:r>
            <a:r>
              <a:rPr lang="en-US" altLang="zh-CN" sz="1800" dirty="0">
                <a:solidFill>
                  <a:srgbClr val="D8D8D8"/>
                </a:solidFill>
                <a:effectLst/>
                <a:latin typeface="Consolas" panose="020B0609020204030204" pitchFamily="49" charset="0"/>
              </a:rPr>
              <a:t> = </a:t>
            </a:r>
            <a:r>
              <a:rPr lang="en-US" altLang="zh-CN" sz="1800" dirty="0">
                <a:solidFill>
                  <a:srgbClr val="79ABFF"/>
                </a:solidFill>
                <a:effectLst/>
                <a:latin typeface="Consolas" panose="020B0609020204030204" pitchFamily="49" charset="0"/>
              </a:rPr>
              <a:t>xx</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int</a:t>
            </a:r>
            <a:r>
              <a:rPr lang="en-US" altLang="zh-CN" sz="1800" dirty="0">
                <a:solidFill>
                  <a:srgbClr val="D8D8D8"/>
                </a:solidFill>
                <a:effectLst/>
                <a:latin typeface="Consolas" panose="020B0609020204030204" pitchFamily="49" charset="0"/>
              </a:rPr>
              <a:t> </a:t>
            </a:r>
            <a:r>
              <a:rPr lang="en-US" altLang="zh-CN" sz="1800" dirty="0" err="1">
                <a:solidFill>
                  <a:srgbClr val="BED6FF"/>
                </a:solidFill>
                <a:effectLst/>
                <a:latin typeface="Consolas" panose="020B0609020204030204" pitchFamily="49" charset="0"/>
              </a:rPr>
              <a:t>getX</a:t>
            </a:r>
            <a:r>
              <a:rPr lang="en-US" altLang="zh-CN" sz="1800" dirty="0">
                <a:solidFill>
                  <a:srgbClr val="D8D8D8"/>
                </a:solidFill>
                <a:effectLst/>
                <a:latin typeface="Consolas" panose="020B0609020204030204" pitchFamily="49" charset="0"/>
              </a:rPr>
              <a:t>() </a:t>
            </a:r>
            <a:r>
              <a:rPr lang="en-US" altLang="zh-CN" sz="1800" b="1" dirty="0">
                <a:solidFill>
                  <a:srgbClr val="8DCBE2"/>
                </a:solidFill>
                <a:effectLst/>
                <a:latin typeface="Consolas" panose="020B0609020204030204" pitchFamily="49" charset="0"/>
              </a:rPr>
              <a:t>const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return</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x</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 </a:t>
            </a:r>
            <a:r>
              <a:rPr lang="en-US" altLang="zh-CN" sz="1800" dirty="0">
                <a:solidFill>
                  <a:srgbClr val="00FF00"/>
                </a:solidFill>
                <a:effectLst/>
                <a:latin typeface="Consolas" panose="020B0609020204030204" pitchFamily="49" charset="0"/>
              </a:rPr>
              <a:t>// </a:t>
            </a:r>
            <a:r>
              <a:rPr lang="zh-CN" altLang="en-US" sz="1800" dirty="0">
                <a:solidFill>
                  <a:srgbClr val="00FF00"/>
                </a:solidFill>
                <a:effectLst/>
                <a:latin typeface="Consolas" panose="020B0609020204030204" pitchFamily="49" charset="0"/>
              </a:rPr>
              <a:t>常函数</a:t>
            </a:r>
            <a:endParaRPr lang="zh-CN" altLang="en-US"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void</a:t>
            </a:r>
            <a:r>
              <a:rPr lang="en-US" altLang="zh-CN" sz="1800" dirty="0">
                <a:solidFill>
                  <a:srgbClr val="D8D8D8"/>
                </a:solidFill>
                <a:effectLst/>
                <a:latin typeface="Consolas" panose="020B0609020204030204" pitchFamily="49" charset="0"/>
              </a:rPr>
              <a:t> </a:t>
            </a:r>
            <a:r>
              <a:rPr lang="en-US" altLang="zh-CN" sz="1800" dirty="0" err="1">
                <a:solidFill>
                  <a:srgbClr val="BED6FF"/>
                </a:solidFill>
                <a:effectLst/>
                <a:latin typeface="Consolas" panose="020B0609020204030204" pitchFamily="49" charset="0"/>
              </a:rPr>
              <a:t>setY</a:t>
            </a:r>
            <a:r>
              <a:rPr lang="en-US" altLang="zh-CN" sz="1800" dirty="0">
                <a:solidFill>
                  <a:srgbClr val="D8D8D8"/>
                </a:solidFill>
                <a:effectLst/>
                <a:latin typeface="Consolas" panose="020B0609020204030204" pitchFamily="49" charset="0"/>
              </a:rPr>
              <a:t>(</a:t>
            </a:r>
            <a:r>
              <a:rPr lang="en-US" altLang="zh-CN" sz="1800" b="1" dirty="0">
                <a:solidFill>
                  <a:srgbClr val="8DCBE2"/>
                </a:solidFill>
                <a:effectLst/>
                <a:latin typeface="Consolas" panose="020B0609020204030204" pitchFamily="49" charset="0"/>
              </a:rPr>
              <a:t>int</a:t>
            </a:r>
            <a:r>
              <a:rPr lang="en-US" altLang="zh-CN" sz="1800" dirty="0">
                <a:solidFill>
                  <a:srgbClr val="D8D8D8"/>
                </a:solidFill>
                <a:effectLst/>
                <a:latin typeface="Consolas" panose="020B0609020204030204" pitchFamily="49" charset="0"/>
              </a:rPr>
              <a:t> </a:t>
            </a:r>
            <a:r>
              <a:rPr lang="en-US" altLang="zh-CN" sz="1800" dirty="0" err="1">
                <a:solidFill>
                  <a:srgbClr val="79ABFF"/>
                </a:solidFill>
                <a:effectLst/>
                <a:latin typeface="Consolas" panose="020B0609020204030204" pitchFamily="49" charset="0"/>
              </a:rPr>
              <a:t>yy</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BED6FF"/>
                </a:solidFill>
                <a:effectLst/>
                <a:latin typeface="Consolas" panose="020B0609020204030204" pitchFamily="49" charset="0"/>
              </a:rPr>
              <a:t>y</a:t>
            </a:r>
            <a:r>
              <a:rPr lang="en-US" altLang="zh-CN" sz="1800" dirty="0">
                <a:solidFill>
                  <a:srgbClr val="D8D8D8"/>
                </a:solidFill>
                <a:effectLst/>
                <a:latin typeface="Consolas" panose="020B0609020204030204" pitchFamily="49" charset="0"/>
              </a:rPr>
              <a:t> = </a:t>
            </a:r>
            <a:r>
              <a:rPr lang="en-US" altLang="zh-CN" sz="1800" dirty="0" err="1">
                <a:solidFill>
                  <a:srgbClr val="79ABFF"/>
                </a:solidFill>
                <a:effectLst/>
                <a:latin typeface="Consolas" panose="020B0609020204030204" pitchFamily="49" charset="0"/>
              </a:rPr>
              <a:t>yy</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int</a:t>
            </a:r>
            <a:r>
              <a:rPr lang="en-US" altLang="zh-CN" sz="1800" dirty="0">
                <a:solidFill>
                  <a:srgbClr val="D8D8D8"/>
                </a:solidFill>
                <a:effectLst/>
                <a:latin typeface="Consolas" panose="020B0609020204030204" pitchFamily="49" charset="0"/>
              </a:rPr>
              <a:t> </a:t>
            </a:r>
            <a:r>
              <a:rPr lang="en-US" altLang="zh-CN" sz="1800" dirty="0" err="1">
                <a:solidFill>
                  <a:srgbClr val="BED6FF"/>
                </a:solidFill>
                <a:effectLst/>
                <a:latin typeface="Consolas" panose="020B0609020204030204" pitchFamily="49" charset="0"/>
              </a:rPr>
              <a:t>getY</a:t>
            </a:r>
            <a:r>
              <a:rPr lang="en-US" altLang="zh-CN" sz="1800" dirty="0">
                <a:solidFill>
                  <a:srgbClr val="D8D8D8"/>
                </a:solidFill>
                <a:effectLst/>
                <a:latin typeface="Consolas" panose="020B0609020204030204" pitchFamily="49" charset="0"/>
              </a:rPr>
              <a:t>() </a:t>
            </a:r>
            <a:r>
              <a:rPr lang="en-US" altLang="zh-CN" sz="1800" b="1" dirty="0">
                <a:solidFill>
                  <a:srgbClr val="8DCBE2"/>
                </a:solidFill>
                <a:effectLst/>
                <a:latin typeface="Consolas" panose="020B0609020204030204" pitchFamily="49" charset="0"/>
              </a:rPr>
              <a:t>const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return</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y</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 </a:t>
            </a:r>
            <a:r>
              <a:rPr lang="en-US" altLang="zh-CN" sz="1800" dirty="0">
                <a:solidFill>
                  <a:srgbClr val="00FF00"/>
                </a:solidFill>
                <a:effectLst/>
                <a:latin typeface="Consolas" panose="020B0609020204030204" pitchFamily="49" charset="0"/>
              </a:rPr>
              <a:t>// </a:t>
            </a:r>
            <a:r>
              <a:rPr lang="zh-CN" altLang="en-US" sz="1800" dirty="0">
                <a:solidFill>
                  <a:srgbClr val="00FF00"/>
                </a:solidFill>
                <a:effectLst/>
                <a:latin typeface="Consolas" panose="020B0609020204030204" pitchFamily="49" charset="0"/>
              </a:rPr>
              <a:t>常函数</a:t>
            </a:r>
            <a:endParaRPr lang="zh-CN" altLang="en-US"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private</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static</a:t>
            </a:r>
            <a:r>
              <a:rPr lang="en-US" altLang="zh-CN" sz="1800" dirty="0">
                <a:solidFill>
                  <a:srgbClr val="D8D8D8"/>
                </a:solidFill>
                <a:effectLst/>
                <a:latin typeface="Consolas" panose="020B0609020204030204" pitchFamily="49" charset="0"/>
              </a:rPr>
              <a:t> </a:t>
            </a:r>
            <a:r>
              <a:rPr lang="en-US" altLang="zh-CN" sz="1800" b="1" dirty="0">
                <a:solidFill>
                  <a:srgbClr val="8DCBE2"/>
                </a:solidFill>
                <a:effectLst/>
                <a:latin typeface="Consolas" panose="020B0609020204030204" pitchFamily="49" charset="0"/>
              </a:rPr>
              <a:t>int</a:t>
            </a:r>
            <a:r>
              <a:rPr lang="en-US" altLang="zh-CN" sz="1800" dirty="0">
                <a:solidFill>
                  <a:srgbClr val="D8D8D8"/>
                </a:solidFill>
                <a:effectLst/>
                <a:latin typeface="Consolas" panose="020B0609020204030204" pitchFamily="49" charset="0"/>
              </a:rPr>
              <a:t> </a:t>
            </a:r>
            <a:r>
              <a:rPr lang="en-US" altLang="zh-CN" sz="1800" dirty="0">
                <a:solidFill>
                  <a:srgbClr val="EFC090"/>
                </a:solidFill>
                <a:effectLst/>
                <a:latin typeface="Consolas" panose="020B0609020204030204" pitchFamily="49" charset="0"/>
              </a:rPr>
              <a:t>count</a:t>
            </a:r>
            <a:r>
              <a:rPr lang="en-US" altLang="zh-CN" sz="1800" dirty="0">
                <a:solidFill>
                  <a:srgbClr val="D8D8D8"/>
                </a:solidFill>
                <a:effectLst/>
                <a:latin typeface="Consolas" panose="020B0609020204030204" pitchFamily="49" charset="0"/>
              </a:rPr>
              <a:t>; </a:t>
            </a:r>
            <a:r>
              <a:rPr lang="en-US" altLang="zh-CN" sz="1800" dirty="0">
                <a:solidFill>
                  <a:srgbClr val="00FF00"/>
                </a:solidFill>
                <a:effectLst/>
                <a:latin typeface="Consolas" panose="020B0609020204030204" pitchFamily="49" charset="0"/>
              </a:rPr>
              <a:t>//【</a:t>
            </a:r>
            <a:r>
              <a:rPr lang="zh-CN" altLang="en-US" sz="1800" dirty="0">
                <a:solidFill>
                  <a:srgbClr val="00FF00"/>
                </a:solidFill>
                <a:effectLst/>
                <a:latin typeface="Consolas" panose="020B0609020204030204" pitchFamily="49" charset="0"/>
              </a:rPr>
              <a:t>静态</a:t>
            </a:r>
            <a:r>
              <a:rPr lang="en-US" altLang="zh-CN" sz="1800" dirty="0">
                <a:solidFill>
                  <a:srgbClr val="00FF00"/>
                </a:solidFill>
                <a:effectLst/>
                <a:latin typeface="Consolas" panose="020B0609020204030204" pitchFamily="49" charset="0"/>
              </a:rPr>
              <a:t>】</a:t>
            </a:r>
            <a:r>
              <a:rPr lang="zh-CN" altLang="en-US" sz="1800" dirty="0">
                <a:solidFill>
                  <a:srgbClr val="00FF00"/>
                </a:solidFill>
                <a:effectLst/>
                <a:latin typeface="Consolas" panose="020B0609020204030204" pitchFamily="49" charset="0"/>
              </a:rPr>
              <a:t>数据成员</a:t>
            </a:r>
            <a:endParaRPr lang="zh-CN" altLang="en-US"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int</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x</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y</a:t>
            </a:r>
            <a:r>
              <a:rPr lang="en-US" altLang="zh-CN" sz="1800" dirty="0">
                <a:solidFill>
                  <a:srgbClr val="D8D8D8"/>
                </a:solidFill>
                <a:effectLst/>
                <a:latin typeface="Consolas" panose="020B0609020204030204" pitchFamily="49" charset="0"/>
              </a:rPr>
              <a:t>; </a:t>
            </a:r>
            <a:r>
              <a:rPr lang="en-US" altLang="zh-CN" sz="1800" dirty="0">
                <a:solidFill>
                  <a:srgbClr val="00FF00"/>
                </a:solidFill>
                <a:effectLst/>
                <a:latin typeface="Consolas" panose="020B0609020204030204" pitchFamily="49" charset="0"/>
              </a:rPr>
              <a:t>// </a:t>
            </a:r>
            <a:r>
              <a:rPr lang="zh-CN" altLang="en-US" sz="1800" dirty="0">
                <a:solidFill>
                  <a:srgbClr val="00FF00"/>
                </a:solidFill>
                <a:effectLst/>
                <a:latin typeface="Consolas" panose="020B0609020204030204" pitchFamily="49" charset="0"/>
              </a:rPr>
              <a:t>私有数据</a:t>
            </a:r>
            <a:endParaRPr lang="zh-CN" altLang="en-US"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int</a:t>
            </a:r>
            <a:r>
              <a:rPr lang="en-US" altLang="zh-CN" sz="1800" dirty="0">
                <a:solidFill>
                  <a:srgbClr val="D8D8D8"/>
                </a:solidFill>
                <a:effectLst/>
                <a:latin typeface="Consolas" panose="020B0609020204030204" pitchFamily="49" charset="0"/>
              </a:rPr>
              <a:t> </a:t>
            </a:r>
            <a:r>
              <a:rPr lang="en-US" altLang="zh-CN" sz="1800" dirty="0">
                <a:solidFill>
                  <a:srgbClr val="EFC090"/>
                </a:solidFill>
                <a:effectLst/>
                <a:latin typeface="Consolas" panose="020B0609020204030204" pitchFamily="49" charset="0"/>
              </a:rPr>
              <a:t>Point::count</a:t>
            </a:r>
            <a:r>
              <a:rPr lang="en-US" altLang="zh-CN" sz="1800" dirty="0">
                <a:solidFill>
                  <a:srgbClr val="D8D8D8"/>
                </a:solidFill>
                <a:effectLst/>
                <a:latin typeface="Consolas" panose="020B0609020204030204" pitchFamily="49" charset="0"/>
              </a:rPr>
              <a:t> = </a:t>
            </a:r>
            <a:r>
              <a:rPr lang="en-US" altLang="zh-CN" sz="1800" dirty="0">
                <a:solidFill>
                  <a:srgbClr val="7FB347"/>
                </a:solidFill>
                <a:effectLst/>
                <a:latin typeface="Consolas" panose="020B0609020204030204" pitchFamily="49" charset="0"/>
              </a:rPr>
              <a:t>0</a:t>
            </a:r>
            <a:r>
              <a:rPr lang="en-US" altLang="zh-CN" sz="1800" dirty="0">
                <a:solidFill>
                  <a:srgbClr val="D8D8D8"/>
                </a:solidFill>
                <a:effectLst/>
                <a:latin typeface="Consolas" panose="020B0609020204030204" pitchFamily="49" charset="0"/>
              </a:rPr>
              <a:t>; </a:t>
            </a:r>
            <a:r>
              <a:rPr lang="en-US" altLang="zh-CN" sz="1800" dirty="0">
                <a:solidFill>
                  <a:srgbClr val="00FF00"/>
                </a:solidFill>
                <a:effectLst/>
                <a:latin typeface="Consolas" panose="020B0609020204030204" pitchFamily="49" charset="0"/>
              </a:rPr>
              <a:t>//</a:t>
            </a:r>
            <a:r>
              <a:rPr lang="zh-CN" altLang="en-US" sz="1800" dirty="0">
                <a:solidFill>
                  <a:srgbClr val="00FF00"/>
                </a:solidFill>
                <a:effectLst/>
                <a:latin typeface="Consolas" panose="020B0609020204030204" pitchFamily="49" charset="0"/>
              </a:rPr>
              <a:t>静态数据成员</a:t>
            </a:r>
            <a:r>
              <a:rPr lang="en-US" altLang="zh-CN" sz="1800" dirty="0">
                <a:solidFill>
                  <a:srgbClr val="00FF00"/>
                </a:solidFill>
                <a:effectLst/>
                <a:latin typeface="Consolas" panose="020B0609020204030204" pitchFamily="49" charset="0"/>
              </a:rPr>
              <a:t>, </a:t>
            </a:r>
            <a:r>
              <a:rPr lang="zh-CN" altLang="en-US" sz="1800" dirty="0">
                <a:solidFill>
                  <a:srgbClr val="00FF00"/>
                </a:solidFill>
                <a:effectLst/>
                <a:latin typeface="Consolas" panose="020B0609020204030204" pitchFamily="49" charset="0"/>
              </a:rPr>
              <a:t>创建并初始化</a:t>
            </a:r>
            <a:endParaRPr lang="zh-CN" altLang="en-US" sz="1800" dirty="0">
              <a:solidFill>
                <a:srgbClr val="D8D8D8"/>
              </a:solidFill>
              <a:effectLst/>
              <a:latin typeface="Consolas" panose="020B0609020204030204" pitchFamily="49" charset="0"/>
            </a:endParaRPr>
          </a:p>
          <a:p>
            <a:pPr marL="0" marR="0"/>
            <a:r>
              <a:rPr lang="en-US" altLang="zh-CN" sz="1800" dirty="0">
                <a:solidFill>
                  <a:srgbClr val="BED6FF"/>
                </a:solidFill>
                <a:effectLst/>
                <a:latin typeface="Consolas" panose="020B0609020204030204" pitchFamily="49" charset="0"/>
              </a:rPr>
              <a:t>Point::Point</a:t>
            </a:r>
            <a:r>
              <a:rPr lang="en-US" altLang="zh-CN" sz="1800" dirty="0">
                <a:solidFill>
                  <a:srgbClr val="D8D8D8"/>
                </a:solidFill>
                <a:effectLst/>
                <a:latin typeface="Consolas" panose="020B0609020204030204" pitchFamily="49" charset="0"/>
              </a:rPr>
              <a:t>(</a:t>
            </a:r>
            <a:r>
              <a:rPr lang="en-US" altLang="zh-CN" sz="1800" b="1" dirty="0">
                <a:solidFill>
                  <a:srgbClr val="8DCBE2"/>
                </a:solidFill>
                <a:effectLst/>
                <a:latin typeface="Consolas" panose="020B0609020204030204" pitchFamily="49" charset="0"/>
              </a:rPr>
              <a:t>const</a:t>
            </a:r>
            <a:r>
              <a:rPr lang="en-US" altLang="zh-CN" sz="1800" dirty="0">
                <a:solidFill>
                  <a:srgbClr val="D8D8D8"/>
                </a:solidFill>
                <a:effectLst/>
                <a:latin typeface="Consolas" panose="020B0609020204030204" pitchFamily="49" charset="0"/>
              </a:rPr>
              <a:t> </a:t>
            </a:r>
            <a:r>
              <a:rPr lang="en-US" altLang="zh-CN" sz="1800" dirty="0">
                <a:solidFill>
                  <a:srgbClr val="D25252"/>
                </a:solidFill>
                <a:effectLst/>
                <a:latin typeface="Consolas" panose="020B0609020204030204" pitchFamily="49" charset="0"/>
              </a:rPr>
              <a:t>Point</a:t>
            </a:r>
            <a:r>
              <a:rPr lang="en-US" altLang="zh-CN" sz="1800" dirty="0">
                <a:solidFill>
                  <a:srgbClr val="D8D8D8"/>
                </a:solidFill>
                <a:effectLst/>
                <a:latin typeface="Consolas" panose="020B0609020204030204" pitchFamily="49" charset="0"/>
              </a:rPr>
              <a:t> &amp;</a:t>
            </a:r>
            <a:r>
              <a:rPr lang="en-US" altLang="zh-CN" sz="1800" dirty="0">
                <a:solidFill>
                  <a:srgbClr val="79ABFF"/>
                </a:solidFill>
                <a:effectLst/>
                <a:latin typeface="Consolas" panose="020B0609020204030204" pitchFamily="49" charset="0"/>
              </a:rPr>
              <a:t>p</a:t>
            </a:r>
            <a:r>
              <a:rPr lang="en-US" altLang="zh-CN" sz="1800" dirty="0">
                <a:solidFill>
                  <a:srgbClr val="D8D8D8"/>
                </a:solidFill>
                <a:effectLst/>
                <a:latin typeface="Consolas" panose="020B0609020204030204" pitchFamily="49" charset="0"/>
              </a:rPr>
              <a:t>) :</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BED6FF"/>
                </a:solidFill>
                <a:effectLst/>
                <a:latin typeface="Consolas" panose="020B0609020204030204" pitchFamily="49" charset="0"/>
              </a:rPr>
              <a:t>x</a:t>
            </a:r>
            <a:r>
              <a:rPr lang="en-US" altLang="zh-CN" sz="1800" dirty="0">
                <a:solidFill>
                  <a:srgbClr val="D8D8D8"/>
                </a:solidFill>
                <a:effectLst/>
                <a:latin typeface="Consolas" panose="020B0609020204030204" pitchFamily="49" charset="0"/>
              </a:rPr>
              <a:t>(</a:t>
            </a:r>
            <a:r>
              <a:rPr lang="en-US" altLang="zh-CN" sz="1800" dirty="0" err="1">
                <a:solidFill>
                  <a:srgbClr val="79ABFF"/>
                </a:solidFill>
                <a:effectLst/>
                <a:latin typeface="Consolas" panose="020B0609020204030204" pitchFamily="49" charset="0"/>
              </a:rPr>
              <a:t>p</a:t>
            </a:r>
            <a:r>
              <a:rPr lang="en-US" altLang="zh-CN" sz="1800" dirty="0" err="1">
                <a:solidFill>
                  <a:srgbClr val="D8D8D8"/>
                </a:solidFill>
                <a:effectLst/>
                <a:latin typeface="Consolas" panose="020B0609020204030204" pitchFamily="49" charset="0"/>
              </a:rPr>
              <a:t>.</a:t>
            </a:r>
            <a:r>
              <a:rPr lang="en-US" altLang="zh-CN" sz="1800" dirty="0" err="1">
                <a:solidFill>
                  <a:srgbClr val="BED6FF"/>
                </a:solidFill>
                <a:effectLst/>
                <a:latin typeface="Consolas" panose="020B0609020204030204" pitchFamily="49" charset="0"/>
              </a:rPr>
              <a:t>x</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y</a:t>
            </a:r>
            <a:r>
              <a:rPr lang="en-US" altLang="zh-CN" sz="1800" dirty="0">
                <a:solidFill>
                  <a:srgbClr val="D8D8D8"/>
                </a:solidFill>
                <a:effectLst/>
                <a:latin typeface="Consolas" panose="020B0609020204030204" pitchFamily="49" charset="0"/>
              </a:rPr>
              <a:t>(</a:t>
            </a:r>
            <a:r>
              <a:rPr lang="en-US" altLang="zh-CN" sz="1800" dirty="0" err="1">
                <a:solidFill>
                  <a:srgbClr val="79ABFF"/>
                </a:solidFill>
                <a:effectLst/>
                <a:latin typeface="Consolas" panose="020B0609020204030204" pitchFamily="49" charset="0"/>
              </a:rPr>
              <a:t>p</a:t>
            </a:r>
            <a:r>
              <a:rPr lang="en-US" altLang="zh-CN" sz="1800" dirty="0" err="1">
                <a:solidFill>
                  <a:srgbClr val="D8D8D8"/>
                </a:solidFill>
                <a:effectLst/>
                <a:latin typeface="Consolas" panose="020B0609020204030204" pitchFamily="49" charset="0"/>
              </a:rPr>
              <a:t>.</a:t>
            </a:r>
            <a:r>
              <a:rPr lang="en-US" altLang="zh-CN" sz="1800" dirty="0" err="1">
                <a:solidFill>
                  <a:srgbClr val="BED6FF"/>
                </a:solidFill>
                <a:effectLst/>
                <a:latin typeface="Consolas" panose="020B0609020204030204" pitchFamily="49" charset="0"/>
              </a:rPr>
              <a:t>y</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00FF00"/>
                </a:solidFill>
                <a:effectLst/>
                <a:latin typeface="Consolas" panose="020B0609020204030204" pitchFamily="49" charset="0"/>
              </a:rPr>
              <a:t>//</a:t>
            </a:r>
            <a:r>
              <a:rPr lang="en-US" altLang="zh-CN" sz="1800" b="1" dirty="0">
                <a:solidFill>
                  <a:srgbClr val="CCDF32"/>
                </a:solidFill>
                <a:effectLst/>
                <a:latin typeface="Consolas" panose="020B0609020204030204" pitchFamily="49" charset="0"/>
              </a:rPr>
              <a:t>TODO</a:t>
            </a:r>
            <a:r>
              <a:rPr lang="en-US" altLang="zh-CN" sz="1800" dirty="0">
                <a:solidFill>
                  <a:srgbClr val="00FF00"/>
                </a:solidFill>
                <a:effectLst/>
                <a:latin typeface="Consolas" panose="020B0609020204030204" pitchFamily="49" charset="0"/>
              </a:rPr>
              <a:t> anything but data initializing</a:t>
            </a:r>
            <a:endParaRPr lang="en-US" altLang="zh-CN" sz="1800" dirty="0">
              <a:solidFill>
                <a:srgbClr val="D8D8D8"/>
              </a:solidFill>
              <a:effectLst/>
              <a:latin typeface="Consolas" panose="020B0609020204030204" pitchFamily="49" charset="0"/>
            </a:endParaRPr>
          </a:p>
          <a:p>
            <a:pPr marL="0" marR="0"/>
            <a:r>
              <a:rPr lang="en-US" altLang="zh-CN" sz="1800" dirty="0" err="1">
                <a:solidFill>
                  <a:srgbClr val="D8D8D8"/>
                </a:solidFill>
                <a:effectLst/>
                <a:latin typeface="Consolas" panose="020B0609020204030204" pitchFamily="49" charset="0"/>
              </a:rPr>
              <a:t>cout</a:t>
            </a:r>
            <a:r>
              <a:rPr lang="en-US" altLang="zh-CN" sz="1800" dirty="0">
                <a:solidFill>
                  <a:srgbClr val="D8D8D8"/>
                </a:solidFill>
                <a:effectLst/>
                <a:latin typeface="Consolas" panose="020B0609020204030204" pitchFamily="49" charset="0"/>
              </a:rPr>
              <a:t> &lt;&lt; </a:t>
            </a:r>
            <a:r>
              <a:rPr lang="en-US" altLang="zh-CN" sz="1800" dirty="0">
                <a:solidFill>
                  <a:srgbClr val="FFC600"/>
                </a:solidFill>
                <a:effectLst/>
                <a:latin typeface="Consolas" panose="020B0609020204030204" pitchFamily="49" charset="0"/>
              </a:rPr>
              <a:t>"Calling </a:t>
            </a:r>
            <a:r>
              <a:rPr lang="en-US" altLang="zh-CN" sz="1800" dirty="0" err="1">
                <a:solidFill>
                  <a:srgbClr val="FFC600"/>
                </a:solidFill>
                <a:effectLst/>
                <a:latin typeface="Consolas" panose="020B0609020204030204" pitchFamily="49" charset="0"/>
              </a:rPr>
              <a:t>CopyConstructor</a:t>
            </a:r>
            <a:r>
              <a:rPr lang="en-US" altLang="zh-CN" sz="1800" dirty="0">
                <a:solidFill>
                  <a:srgbClr val="FFC600"/>
                </a:solidFill>
                <a:effectLst/>
                <a:latin typeface="Consolas" panose="020B0609020204030204" pitchFamily="49" charset="0"/>
              </a:rPr>
              <a:t> "</a:t>
            </a:r>
            <a:r>
              <a:rPr lang="en-US" altLang="zh-CN" sz="1800" dirty="0">
                <a:solidFill>
                  <a:srgbClr val="D8D8D8"/>
                </a:solidFill>
                <a:effectLst/>
                <a:latin typeface="Consolas" panose="020B0609020204030204" pitchFamily="49" charset="0"/>
              </a:rPr>
              <a:t> &lt;&lt; ++</a:t>
            </a:r>
            <a:r>
              <a:rPr lang="en-US" altLang="zh-CN" sz="1800" dirty="0">
                <a:solidFill>
                  <a:srgbClr val="EFC090"/>
                </a:solidFill>
                <a:effectLst/>
                <a:latin typeface="Consolas" panose="020B0609020204030204" pitchFamily="49" charset="0"/>
              </a:rPr>
              <a:t>count</a:t>
            </a:r>
            <a:r>
              <a:rPr lang="en-US" altLang="zh-CN" sz="1800" dirty="0">
                <a:solidFill>
                  <a:srgbClr val="D8D8D8"/>
                </a:solidFill>
                <a:effectLst/>
                <a:latin typeface="Consolas" panose="020B0609020204030204" pitchFamily="49" charset="0"/>
              </a:rPr>
              <a:t> &lt;&lt; </a:t>
            </a:r>
            <a:r>
              <a:rPr lang="en-US" altLang="zh-CN" sz="1800" dirty="0">
                <a:solidFill>
                  <a:srgbClr val="FFC600"/>
                </a:solidFill>
                <a:effectLst/>
                <a:latin typeface="Consolas" panose="020B0609020204030204" pitchFamily="49" charset="0"/>
              </a:rPr>
              <a:t>" Times."</a:t>
            </a:r>
            <a:r>
              <a:rPr lang="en-US" altLang="zh-CN" sz="1800" dirty="0">
                <a:solidFill>
                  <a:srgbClr val="D8D8D8"/>
                </a:solidFill>
                <a:effectLst/>
                <a:latin typeface="Consolas" panose="020B0609020204030204" pitchFamily="49" charset="0"/>
              </a:rPr>
              <a:t> &lt;&lt; </a:t>
            </a:r>
            <a:r>
              <a:rPr lang="en-US" altLang="zh-CN" sz="1800" dirty="0" err="1">
                <a:solidFill>
                  <a:srgbClr val="BED6FF"/>
                </a:solidFill>
                <a:effectLst/>
                <a:latin typeface="Consolas" panose="020B0609020204030204" pitchFamily="49" charset="0"/>
              </a:rPr>
              <a:t>endl</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void</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fun1</a:t>
            </a:r>
            <a:r>
              <a:rPr lang="en-US" altLang="zh-CN" sz="1800" dirty="0">
                <a:solidFill>
                  <a:srgbClr val="D8D8D8"/>
                </a:solidFill>
                <a:effectLst/>
                <a:latin typeface="Consolas" panose="020B0609020204030204" pitchFamily="49" charset="0"/>
              </a:rPr>
              <a:t>(</a:t>
            </a:r>
            <a:r>
              <a:rPr lang="en-US" altLang="zh-CN" sz="1800" dirty="0">
                <a:solidFill>
                  <a:srgbClr val="D25252"/>
                </a:solidFill>
                <a:effectLst/>
                <a:latin typeface="Consolas" panose="020B0609020204030204" pitchFamily="49" charset="0"/>
              </a:rPr>
              <a:t>Point</a:t>
            </a:r>
            <a:r>
              <a:rPr lang="en-US" altLang="zh-CN" sz="1800" dirty="0">
                <a:solidFill>
                  <a:srgbClr val="D8D8D8"/>
                </a:solidFill>
                <a:effectLst/>
                <a:latin typeface="Consolas" panose="020B0609020204030204" pitchFamily="49" charset="0"/>
              </a:rPr>
              <a:t> </a:t>
            </a:r>
            <a:r>
              <a:rPr lang="en-US" altLang="zh-CN" sz="1800" dirty="0">
                <a:solidFill>
                  <a:srgbClr val="79ABFF"/>
                </a:solidFill>
                <a:effectLst/>
                <a:latin typeface="Consolas" panose="020B0609020204030204" pitchFamily="49" charset="0"/>
              </a:rPr>
              <a:t>p</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err="1">
                <a:solidFill>
                  <a:srgbClr val="D8D8D8"/>
                </a:solidFill>
                <a:effectLst/>
                <a:latin typeface="Consolas" panose="020B0609020204030204" pitchFamily="49" charset="0"/>
              </a:rPr>
              <a:t>cout</a:t>
            </a:r>
            <a:r>
              <a:rPr lang="en-US" altLang="zh-CN" sz="1800" dirty="0">
                <a:solidFill>
                  <a:srgbClr val="D8D8D8"/>
                </a:solidFill>
                <a:effectLst/>
                <a:latin typeface="Consolas" panose="020B0609020204030204" pitchFamily="49" charset="0"/>
              </a:rPr>
              <a:t> &lt;&lt; </a:t>
            </a:r>
            <a:r>
              <a:rPr lang="en-US" altLang="zh-CN" sz="1800" dirty="0" err="1">
                <a:solidFill>
                  <a:srgbClr val="79ABFF"/>
                </a:solidFill>
                <a:effectLst/>
                <a:latin typeface="Consolas" panose="020B0609020204030204" pitchFamily="49" charset="0"/>
              </a:rPr>
              <a:t>p</a:t>
            </a:r>
            <a:r>
              <a:rPr lang="en-US" altLang="zh-CN" sz="1800" dirty="0" err="1">
                <a:solidFill>
                  <a:srgbClr val="D8D8D8"/>
                </a:solidFill>
                <a:effectLst/>
                <a:latin typeface="Consolas" panose="020B0609020204030204" pitchFamily="49" charset="0"/>
              </a:rPr>
              <a:t>.</a:t>
            </a:r>
            <a:r>
              <a:rPr lang="en-US" altLang="zh-CN" sz="1800" dirty="0" err="1">
                <a:solidFill>
                  <a:srgbClr val="FFFFFF"/>
                </a:solidFill>
                <a:effectLst/>
                <a:latin typeface="Consolas" panose="020B0609020204030204" pitchFamily="49" charset="0"/>
              </a:rPr>
              <a:t>getX</a:t>
            </a:r>
            <a:r>
              <a:rPr lang="en-US" altLang="zh-CN" sz="1800" dirty="0">
                <a:solidFill>
                  <a:srgbClr val="D8D8D8"/>
                </a:solidFill>
                <a:effectLst/>
                <a:latin typeface="Consolas" panose="020B0609020204030204" pitchFamily="49" charset="0"/>
              </a:rPr>
              <a:t>() &lt;&lt; </a:t>
            </a:r>
            <a:r>
              <a:rPr lang="en-US" altLang="zh-CN" sz="1800" dirty="0" err="1">
                <a:solidFill>
                  <a:srgbClr val="BED6FF"/>
                </a:solidFill>
                <a:effectLst/>
                <a:latin typeface="Consolas" panose="020B0609020204030204" pitchFamily="49" charset="0"/>
              </a:rPr>
              <a:t>endl</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25252"/>
                </a:solidFill>
                <a:effectLst/>
                <a:latin typeface="Consolas" panose="020B0609020204030204" pitchFamily="49" charset="0"/>
              </a:rPr>
              <a:t>Point</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fun2</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25252"/>
                </a:solidFill>
                <a:effectLst/>
                <a:latin typeface="Consolas" panose="020B0609020204030204" pitchFamily="49" charset="0"/>
              </a:rPr>
              <a:t>Point</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a</a:t>
            </a:r>
            <a:r>
              <a:rPr lang="en-US" altLang="zh-CN" sz="1800" dirty="0">
                <a:solidFill>
                  <a:srgbClr val="D8D8D8"/>
                </a:solidFill>
                <a:effectLst/>
                <a:latin typeface="Consolas" panose="020B0609020204030204" pitchFamily="49" charset="0"/>
              </a:rPr>
              <a:t>(</a:t>
            </a:r>
            <a:r>
              <a:rPr lang="en-US" altLang="zh-CN" sz="1800" dirty="0">
                <a:solidFill>
                  <a:srgbClr val="7FB347"/>
                </a:solidFill>
                <a:effectLst/>
                <a:latin typeface="Consolas" panose="020B0609020204030204" pitchFamily="49" charset="0"/>
              </a:rPr>
              <a:t>1</a:t>
            </a:r>
            <a:r>
              <a:rPr lang="en-US" altLang="zh-CN" sz="1800" dirty="0">
                <a:solidFill>
                  <a:srgbClr val="D8D8D8"/>
                </a:solidFill>
                <a:effectLst/>
                <a:latin typeface="Consolas" panose="020B0609020204030204" pitchFamily="49" charset="0"/>
              </a:rPr>
              <a:t>, </a:t>
            </a:r>
            <a:r>
              <a:rPr lang="en-US" altLang="zh-CN" sz="1800" dirty="0">
                <a:solidFill>
                  <a:srgbClr val="7FB347"/>
                </a:solidFill>
                <a:effectLst/>
                <a:latin typeface="Consolas" panose="020B0609020204030204" pitchFamily="49" charset="0"/>
              </a:rPr>
              <a:t>2</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return</a:t>
            </a:r>
            <a:r>
              <a:rPr lang="en-US" altLang="zh-CN" sz="1800" dirty="0">
                <a:solidFill>
                  <a:srgbClr val="D8D8D8"/>
                </a:solidFill>
                <a:effectLst/>
                <a:latin typeface="Consolas" panose="020B0609020204030204" pitchFamily="49" charset="0"/>
              </a:rPr>
              <a:t> </a:t>
            </a:r>
            <a:r>
              <a:rPr lang="en-US" altLang="zh-CN" sz="1800" dirty="0">
                <a:solidFill>
                  <a:srgbClr val="79ABFF"/>
                </a:solidFill>
                <a:effectLst/>
                <a:latin typeface="Consolas" panose="020B0609020204030204" pitchFamily="49" charset="0"/>
              </a:rPr>
              <a:t>a</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int</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main</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25252"/>
                </a:solidFill>
                <a:effectLst/>
                <a:latin typeface="Consolas" panose="020B0609020204030204" pitchFamily="49" charset="0"/>
              </a:rPr>
              <a:t>Point</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p1</a:t>
            </a:r>
            <a:r>
              <a:rPr lang="en-US" altLang="zh-CN" sz="1800" dirty="0">
                <a:solidFill>
                  <a:srgbClr val="D8D8D8"/>
                </a:solidFill>
                <a:effectLst/>
                <a:latin typeface="Consolas" panose="020B0609020204030204" pitchFamily="49" charset="0"/>
              </a:rPr>
              <a:t>(</a:t>
            </a:r>
            <a:r>
              <a:rPr lang="en-US" altLang="zh-CN" sz="1800" dirty="0">
                <a:solidFill>
                  <a:srgbClr val="7FB347"/>
                </a:solidFill>
                <a:effectLst/>
                <a:latin typeface="Consolas" panose="020B0609020204030204" pitchFamily="49" charset="0"/>
              </a:rPr>
              <a:t>4</a:t>
            </a:r>
            <a:r>
              <a:rPr lang="en-US" altLang="zh-CN" sz="1800" dirty="0">
                <a:solidFill>
                  <a:srgbClr val="D8D8D8"/>
                </a:solidFill>
                <a:effectLst/>
                <a:latin typeface="Consolas" panose="020B0609020204030204" pitchFamily="49" charset="0"/>
              </a:rPr>
              <a:t>, </a:t>
            </a:r>
            <a:r>
              <a:rPr lang="en-US" altLang="zh-CN" sz="1800" dirty="0">
                <a:solidFill>
                  <a:srgbClr val="7FB347"/>
                </a:solidFill>
                <a:effectLst/>
                <a:latin typeface="Consolas" panose="020B0609020204030204" pitchFamily="49" charset="0"/>
              </a:rPr>
              <a:t>5</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25252"/>
                </a:solidFill>
                <a:effectLst/>
                <a:latin typeface="Consolas" panose="020B0609020204030204" pitchFamily="49" charset="0"/>
              </a:rPr>
              <a:t>Point</a:t>
            </a:r>
            <a:r>
              <a:rPr lang="en-US" altLang="zh-CN" sz="1800" dirty="0">
                <a:solidFill>
                  <a:srgbClr val="D8D8D8"/>
                </a:solidFill>
                <a:effectLst/>
                <a:latin typeface="Consolas" panose="020B0609020204030204" pitchFamily="49" charset="0"/>
              </a:rPr>
              <a:t> </a:t>
            </a:r>
            <a:r>
              <a:rPr lang="en-US" altLang="zh-CN" sz="1800" dirty="0">
                <a:solidFill>
                  <a:srgbClr val="BED6FF"/>
                </a:solidFill>
                <a:effectLst/>
                <a:latin typeface="Consolas" panose="020B0609020204030204" pitchFamily="49" charset="0"/>
              </a:rPr>
              <a:t>p2</a:t>
            </a:r>
            <a:r>
              <a:rPr lang="en-US" altLang="zh-CN" sz="1800" dirty="0">
                <a:solidFill>
                  <a:srgbClr val="D8D8D8"/>
                </a:solidFill>
                <a:effectLst/>
                <a:latin typeface="Consolas" panose="020B0609020204030204" pitchFamily="49" charset="0"/>
              </a:rPr>
              <a:t> = </a:t>
            </a:r>
            <a:r>
              <a:rPr lang="en-US" altLang="zh-CN" sz="1800" dirty="0">
                <a:solidFill>
                  <a:srgbClr val="79ABFF"/>
                </a:solidFill>
                <a:effectLst/>
                <a:latin typeface="Consolas" panose="020B0609020204030204" pitchFamily="49" charset="0"/>
              </a:rPr>
              <a:t>p1</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err="1">
                <a:solidFill>
                  <a:srgbClr val="D8D8D8"/>
                </a:solidFill>
                <a:effectLst/>
                <a:latin typeface="Consolas" panose="020B0609020204030204" pitchFamily="49" charset="0"/>
              </a:rPr>
              <a:t>cout</a:t>
            </a:r>
            <a:r>
              <a:rPr lang="en-US" altLang="zh-CN" sz="1800" dirty="0">
                <a:solidFill>
                  <a:srgbClr val="D8D8D8"/>
                </a:solidFill>
                <a:effectLst/>
                <a:latin typeface="Consolas" panose="020B0609020204030204" pitchFamily="49" charset="0"/>
              </a:rPr>
              <a:t> &lt;&lt; </a:t>
            </a:r>
            <a:r>
              <a:rPr lang="en-US" altLang="zh-CN" sz="1800" dirty="0">
                <a:solidFill>
                  <a:srgbClr val="79ABFF"/>
                </a:solidFill>
                <a:effectLst/>
                <a:latin typeface="Consolas" panose="020B0609020204030204" pitchFamily="49" charset="0"/>
              </a:rPr>
              <a:t>p2</a:t>
            </a:r>
            <a:r>
              <a:rPr lang="en-US" altLang="zh-CN" sz="1800" dirty="0">
                <a:solidFill>
                  <a:srgbClr val="D8D8D8"/>
                </a:solidFill>
                <a:effectLst/>
                <a:latin typeface="Consolas" panose="020B0609020204030204" pitchFamily="49" charset="0"/>
              </a:rPr>
              <a:t>.</a:t>
            </a:r>
            <a:r>
              <a:rPr lang="en-US" altLang="zh-CN" sz="1800" dirty="0">
                <a:solidFill>
                  <a:srgbClr val="FFFFFF"/>
                </a:solidFill>
                <a:effectLst/>
                <a:latin typeface="Consolas" panose="020B0609020204030204" pitchFamily="49" charset="0"/>
              </a:rPr>
              <a:t>getX</a:t>
            </a:r>
            <a:r>
              <a:rPr lang="en-US" altLang="zh-CN" sz="1800" dirty="0">
                <a:solidFill>
                  <a:srgbClr val="D8D8D8"/>
                </a:solidFill>
                <a:effectLst/>
                <a:latin typeface="Consolas" panose="020B0609020204030204" pitchFamily="49" charset="0"/>
              </a:rPr>
              <a:t>() &lt;&lt; </a:t>
            </a:r>
            <a:r>
              <a:rPr lang="en-US" altLang="zh-CN" sz="1800" dirty="0" err="1">
                <a:solidFill>
                  <a:srgbClr val="BED6FF"/>
                </a:solidFill>
                <a:effectLst/>
                <a:latin typeface="Consolas" panose="020B0609020204030204" pitchFamily="49" charset="0"/>
              </a:rPr>
              <a:t>endl</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FFFFFF"/>
                </a:solidFill>
                <a:effectLst/>
                <a:latin typeface="Consolas" panose="020B0609020204030204" pitchFamily="49" charset="0"/>
              </a:rPr>
              <a:t>fun1</a:t>
            </a:r>
            <a:r>
              <a:rPr lang="en-US" altLang="zh-CN" sz="1800" dirty="0">
                <a:solidFill>
                  <a:srgbClr val="D8D8D8"/>
                </a:solidFill>
                <a:effectLst/>
                <a:latin typeface="Consolas" panose="020B0609020204030204" pitchFamily="49" charset="0"/>
              </a:rPr>
              <a:t>(</a:t>
            </a:r>
            <a:r>
              <a:rPr lang="en-US" altLang="zh-CN" sz="1800" dirty="0">
                <a:solidFill>
                  <a:srgbClr val="79ABFF"/>
                </a:solidFill>
                <a:effectLst/>
                <a:latin typeface="Consolas" panose="020B0609020204030204" pitchFamily="49" charset="0"/>
              </a:rPr>
              <a:t>p2</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err="1">
                <a:solidFill>
                  <a:srgbClr val="D8D8D8"/>
                </a:solidFill>
                <a:effectLst/>
                <a:latin typeface="Consolas" panose="020B0609020204030204" pitchFamily="49" charset="0"/>
              </a:rPr>
              <a:t>cout</a:t>
            </a:r>
            <a:r>
              <a:rPr lang="en-US" altLang="zh-CN" sz="1800" dirty="0">
                <a:solidFill>
                  <a:srgbClr val="D8D8D8"/>
                </a:solidFill>
                <a:effectLst/>
                <a:latin typeface="Consolas" panose="020B0609020204030204" pitchFamily="49" charset="0"/>
              </a:rPr>
              <a:t> &lt;&lt; </a:t>
            </a:r>
            <a:r>
              <a:rPr lang="en-US" altLang="zh-CN" sz="1800" dirty="0">
                <a:solidFill>
                  <a:srgbClr val="FFFFFF"/>
                </a:solidFill>
                <a:effectLst/>
                <a:latin typeface="Consolas" panose="020B0609020204030204" pitchFamily="49" charset="0"/>
              </a:rPr>
              <a:t>fun2</a:t>
            </a:r>
            <a:r>
              <a:rPr lang="en-US" altLang="zh-CN" sz="1800" dirty="0">
                <a:solidFill>
                  <a:srgbClr val="D8D8D8"/>
                </a:solidFill>
                <a:effectLst/>
                <a:latin typeface="Consolas" panose="020B0609020204030204" pitchFamily="49" charset="0"/>
              </a:rPr>
              <a:t>().</a:t>
            </a:r>
            <a:r>
              <a:rPr lang="en-US" altLang="zh-CN" sz="1800" dirty="0" err="1">
                <a:solidFill>
                  <a:srgbClr val="FFFFFF"/>
                </a:solidFill>
                <a:effectLst/>
                <a:latin typeface="Consolas" panose="020B0609020204030204" pitchFamily="49" charset="0"/>
              </a:rPr>
              <a:t>getX</a:t>
            </a:r>
            <a:r>
              <a:rPr lang="en-US" altLang="zh-CN" sz="1800" dirty="0">
                <a:solidFill>
                  <a:srgbClr val="D8D8D8"/>
                </a:solidFill>
                <a:effectLst/>
                <a:latin typeface="Consolas" panose="020B0609020204030204" pitchFamily="49" charset="0"/>
              </a:rPr>
              <a:t>() &lt;&lt; </a:t>
            </a:r>
            <a:r>
              <a:rPr lang="en-US" altLang="zh-CN" sz="1800" dirty="0" err="1">
                <a:solidFill>
                  <a:srgbClr val="BED6FF"/>
                </a:solidFill>
                <a:effectLst/>
                <a:latin typeface="Consolas" panose="020B0609020204030204" pitchFamily="49" charset="0"/>
              </a:rPr>
              <a:t>endl</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b="1" dirty="0">
                <a:solidFill>
                  <a:srgbClr val="8DCBE2"/>
                </a:solidFill>
                <a:effectLst/>
                <a:latin typeface="Consolas" panose="020B0609020204030204" pitchFamily="49" charset="0"/>
              </a:rPr>
              <a:t>return</a:t>
            </a:r>
            <a:r>
              <a:rPr lang="en-US" altLang="zh-CN" sz="1800" dirty="0">
                <a:solidFill>
                  <a:srgbClr val="D8D8D8"/>
                </a:solidFill>
                <a:effectLst/>
                <a:latin typeface="Consolas" panose="020B0609020204030204" pitchFamily="49" charset="0"/>
              </a:rPr>
              <a:t> </a:t>
            </a:r>
            <a:r>
              <a:rPr lang="en-US" altLang="zh-CN" sz="1800" dirty="0">
                <a:solidFill>
                  <a:srgbClr val="7FB347"/>
                </a:solidFill>
                <a:effectLst/>
                <a:latin typeface="Consolas" panose="020B0609020204030204" pitchFamily="49" charset="0"/>
              </a:rPr>
              <a:t>0</a:t>
            </a:r>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a:p>
            <a:pPr marL="0" marR="0"/>
            <a:r>
              <a:rPr lang="en-US" altLang="zh-CN" sz="1800" dirty="0">
                <a:solidFill>
                  <a:srgbClr val="D8D8D8"/>
                </a:solidFill>
                <a:effectLst/>
                <a:latin typeface="Consolas" panose="020B0609020204030204" pitchFamily="49" charset="0"/>
              </a:rPr>
              <a:t>}</a:t>
            </a:r>
            <a:endParaRPr lang="en-US" altLang="zh-CN" sz="1800" dirty="0">
              <a:solidFill>
                <a:srgbClr val="D8D8D8"/>
              </a:solidFill>
              <a:effectLst/>
              <a:latin typeface="Consolas" panose="020B0609020204030204" pitchFamily="49"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11" name="椭圆 10"/>
          <p:cNvSpPr/>
          <p:nvPr/>
        </p:nvSpPr>
        <p:spPr>
          <a:xfrm>
            <a:off x="8177483" y="5910463"/>
            <a:ext cx="504000" cy="50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椭圆 11"/>
          <p:cNvSpPr/>
          <p:nvPr/>
        </p:nvSpPr>
        <p:spPr>
          <a:xfrm>
            <a:off x="7414927" y="813765"/>
            <a:ext cx="742237" cy="742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lumMod val="50000"/>
                </a:schemeClr>
              </a:solidFill>
            </a:endParaRPr>
          </a:p>
        </p:txBody>
      </p:sp>
      <p:sp>
        <p:nvSpPr>
          <p:cNvPr id="10" name="椭圆 9"/>
          <p:cNvSpPr/>
          <p:nvPr/>
        </p:nvSpPr>
        <p:spPr>
          <a:xfrm>
            <a:off x="-2459620" y="610564"/>
            <a:ext cx="5400000" cy="5400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Subtitle 2"/>
          <p:cNvSpPr>
            <a:spLocks noGrp="1"/>
          </p:cNvSpPr>
          <p:nvPr>
            <p:ph type="subTitle" idx="1"/>
          </p:nvPr>
        </p:nvSpPr>
        <p:spPr>
          <a:xfrm>
            <a:off x="1268874" y="3811522"/>
            <a:ext cx="5429250" cy="1655762"/>
          </a:xfrm>
        </p:spPr>
        <p:txBody>
          <a:bodyPr/>
          <a:lstStyle>
            <a:lvl1pPr marL="0" indent="0" algn="l">
              <a:buNone/>
              <a:defRPr sz="2400" baseline="0">
                <a:latin typeface="Calibri" panose="020F0502020204030204" pitchFamily="34" charset="0"/>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2" name="Title 1"/>
          <p:cNvSpPr>
            <a:spLocks noGrp="1"/>
          </p:cNvSpPr>
          <p:nvPr>
            <p:ph type="ctrTitle"/>
          </p:nvPr>
        </p:nvSpPr>
        <p:spPr>
          <a:xfrm>
            <a:off x="1268875" y="2063685"/>
            <a:ext cx="6606253" cy="1655763"/>
          </a:xfrm>
        </p:spPr>
        <p:txBody>
          <a:bodyPr anchor="b">
            <a:normAutofit/>
          </a:bodyPr>
          <a:lstStyle>
            <a:lvl1pPr algn="l">
              <a:defRPr sz="5400" b="1"/>
            </a:lvl1pPr>
          </a:lstStyle>
          <a:p>
            <a:r>
              <a:rPr lang="zh-CN" altLang="en-US" dirty="0"/>
              <a:t>单击此处编辑母版标题样式</a:t>
            </a:r>
            <a:endParaRPr lang="en-US" dirty="0"/>
          </a:p>
        </p:txBody>
      </p:sp>
      <p:sp>
        <p:nvSpPr>
          <p:cNvPr id="4" name="弧形 3"/>
          <p:cNvSpPr/>
          <p:nvPr userDrawn="1"/>
        </p:nvSpPr>
        <p:spPr>
          <a:xfrm>
            <a:off x="-1790184" y="-1709103"/>
            <a:ext cx="3960000" cy="3883419"/>
          </a:xfrm>
          <a:prstGeom prst="arc">
            <a:avLst>
              <a:gd name="adj1" fmla="val 21064148"/>
              <a:gd name="adj2" fmla="val 5986293"/>
            </a:avLst>
          </a:prstGeom>
          <a:noFill/>
          <a:ln w="635000">
            <a:solidFill>
              <a:srgbClr val="FFC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节标题">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562471" y="2155124"/>
            <a:ext cx="6711517" cy="1655763"/>
          </a:xfrm>
        </p:spPr>
        <p:txBody>
          <a:bodyPr anchor="t">
            <a:normAutofit/>
          </a:bodyPr>
          <a:lstStyle>
            <a:lvl1pPr algn="l">
              <a:defRPr sz="5400" b="1"/>
            </a:lvl1pPr>
          </a:lstStyle>
          <a:p>
            <a:r>
              <a:rPr lang="zh-CN" altLang="en-US"/>
              <a:t>单击此处编辑母版标题样式</a:t>
            </a:r>
            <a:endParaRPr lang="en-US" dirty="0"/>
          </a:p>
        </p:txBody>
      </p:sp>
      <p:sp>
        <p:nvSpPr>
          <p:cNvPr id="9" name="圆: 空心 8"/>
          <p:cNvSpPr/>
          <p:nvPr/>
        </p:nvSpPr>
        <p:spPr>
          <a:xfrm>
            <a:off x="685564" y="2155124"/>
            <a:ext cx="544750" cy="558709"/>
          </a:xfrm>
          <a:prstGeom prst="donut">
            <a:avLst>
              <a:gd name="adj" fmla="val 34760"/>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2" name="Title 1"/>
          <p:cNvSpPr>
            <a:spLocks noGrp="1"/>
          </p:cNvSpPr>
          <p:nvPr>
            <p:ph type="title"/>
          </p:nvPr>
        </p:nvSpPr>
        <p:spPr>
          <a:xfrm>
            <a:off x="559293" y="431999"/>
            <a:ext cx="8152708" cy="935161"/>
          </a:xfrm>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559292" y="1615736"/>
            <a:ext cx="8152707" cy="4710344"/>
          </a:xfrm>
        </p:spPr>
        <p:txBody>
          <a:bodyPr anchor="t">
            <a:normAutofit/>
          </a:bodyPr>
          <a:lstStyle>
            <a:lvl1pPr marL="514350" indent="-514350">
              <a:lnSpc>
                <a:spcPct val="114000"/>
              </a:lnSpc>
              <a:buFont typeface="+mj-lt"/>
              <a:buAutoNum type="arabicPeriod"/>
              <a:defRPr sz="2800">
                <a:solidFill>
                  <a:schemeClr val="tx1">
                    <a:lumMod val="50000"/>
                    <a:lumOff val="50000"/>
                  </a:schemeClr>
                </a:solidFill>
                <a:latin typeface="+mj-ea"/>
                <a:ea typeface="+mj-ea"/>
              </a:defRPr>
            </a:lvl1pPr>
            <a:lvl2pPr marL="782955" indent="-457200">
              <a:buFont typeface="+mj-lt"/>
              <a:buAutoNum type="arabicPeriod"/>
              <a:defRPr>
                <a:solidFill>
                  <a:schemeClr val="tx1">
                    <a:lumMod val="50000"/>
                    <a:lumOff val="50000"/>
                  </a:schemeClr>
                </a:solidFill>
              </a:defRPr>
            </a:lvl2pPr>
            <a:lvl3pPr marL="1369695" indent="-457200">
              <a:buFont typeface="+mj-lt"/>
              <a:buAutoNum type="arabicPeriod"/>
              <a:defRPr>
                <a:solidFill>
                  <a:schemeClr val="tx1">
                    <a:lumMod val="50000"/>
                    <a:lumOff val="50000"/>
                  </a:schemeClr>
                </a:solidFill>
              </a:defRPr>
            </a:lvl3pPr>
            <a:lvl4pPr marL="1714500" indent="-342900">
              <a:buFont typeface="+mj-lt"/>
              <a:buAutoNum type="arabicPeriod"/>
              <a:defRPr>
                <a:solidFill>
                  <a:schemeClr val="tx1">
                    <a:lumMod val="50000"/>
                    <a:lumOff val="50000"/>
                  </a:schemeClr>
                </a:solidFill>
              </a:defRPr>
            </a:lvl4pPr>
            <a:lvl5pPr marL="2171700" indent="-342900">
              <a:buFont typeface="+mj-lt"/>
              <a:buAutoNum type="arabicPeriod"/>
              <a:defRPr>
                <a:solidFill>
                  <a:schemeClr val="tx1">
                    <a:lumMod val="50000"/>
                    <a:lumOff val="50000"/>
                  </a:schemeClr>
                </a:solidFill>
              </a:defRPr>
            </a:lvl5pPr>
          </a:lstStyle>
          <a:p>
            <a:pPr lvl="0"/>
            <a:r>
              <a:rPr lang="zh-CN" altLang="en-US" dirty="0"/>
              <a:t>目录项目</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32000" y="1535837"/>
            <a:ext cx="8280000" cy="4764163"/>
          </a:xfrm>
        </p:spPr>
        <p:txBody>
          <a:bodyPr/>
          <a:lstStyle>
            <a:lvl1pPr marL="342900" indent="-342900">
              <a:buFont typeface="Wingdings" panose="05000000000000000000" pitchFamily="2" charset="2"/>
              <a:buChar char="§"/>
              <a:defRPr sz="2400"/>
            </a:lvl1pPr>
            <a:lvl2pPr marL="740410" indent="-342900">
              <a:buFont typeface="Wingdings" panose="05000000000000000000" pitchFamily="2" charset="2"/>
              <a:buChar char="§"/>
              <a:defRPr sz="2000"/>
            </a:lvl2pPr>
            <a:lvl3pPr marL="1198245" indent="-285750">
              <a:buFont typeface="Wingdings" panose="05000000000000000000" pitchFamily="2" charset="2"/>
              <a:buChar char="§"/>
              <a:defRPr sz="1800"/>
            </a:lvl3pPr>
            <a:lvl4pPr marL="1657350" indent="-285750">
              <a:buFont typeface="Wingdings" panose="05000000000000000000" pitchFamily="2" charset="2"/>
              <a:buChar char="§"/>
              <a:defRPr sz="1600"/>
            </a:lvl4pPr>
            <a:lvl5pPr marL="2114550" indent="-285750">
              <a:buFont typeface="Wingdings" panose="05000000000000000000" pitchFamily="2" charset="2"/>
              <a:buChar cha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标题 3"/>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432000" y="1260000"/>
            <a:ext cx="4082850" cy="5040000"/>
          </a:xfrm>
        </p:spPr>
        <p:txBody>
          <a:bodyPr/>
          <a:lstStyle>
            <a:lvl1pPr marL="360045">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629150" y="1260000"/>
            <a:ext cx="4082850" cy="5040000"/>
          </a:xfrm>
        </p:spPr>
        <p:txBody>
          <a:bodyPr/>
          <a:lstStyle>
            <a:lvl1pPr marL="360045">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32000" y="1188000"/>
            <a:ext cx="4066182"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432000" y="2037716"/>
            <a:ext cx="4066182" cy="4388285"/>
          </a:xfrm>
        </p:spPr>
        <p:txBody>
          <a:bodyPr/>
          <a:lstStyle>
            <a:lvl1pPr>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Text Placeholder 4"/>
          <p:cNvSpPr>
            <a:spLocks noGrp="1"/>
          </p:cNvSpPr>
          <p:nvPr>
            <p:ph type="body" sz="quarter" idx="3" hasCustomPrompt="1"/>
          </p:nvPr>
        </p:nvSpPr>
        <p:spPr>
          <a:xfrm>
            <a:off x="4629150" y="1188000"/>
            <a:ext cx="4082850"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4629150" y="2037716"/>
            <a:ext cx="4082850" cy="4388285"/>
          </a:xfrm>
        </p:spPr>
        <p:txBody>
          <a:bodyPr>
            <a:normAutofit/>
          </a:bodyPr>
          <a:lstStyle>
            <a:lvl1pPr>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0" name="Title 1"/>
          <p:cNvSpPr>
            <a:spLocks noGrp="1"/>
          </p:cNvSpPr>
          <p:nvPr>
            <p:ph type="title"/>
          </p:nvPr>
        </p:nvSpPr>
        <p:spPr>
          <a:xfrm>
            <a:off x="432000" y="432000"/>
            <a:ext cx="8280000" cy="683692"/>
          </a:xfrm>
        </p:spPr>
        <p:txBody>
          <a:bodyPr anchor="b"/>
          <a:lstStyle/>
          <a:p>
            <a:r>
              <a:rPr lang="zh-CN" altLang="en-US"/>
              <a:t>单击此处编辑母版标题样式</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dirty="0"/>
              <a:t>单击此处编辑母版标题样式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5413374"/>
          </a:xfrm>
        </p:spPr>
        <p:txBody>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Text Placeholder 3"/>
          <p:cNvSpPr>
            <a:spLocks noGrp="1"/>
          </p:cNvSpPr>
          <p:nvPr>
            <p:ph type="body" sz="half" idx="2" hasCustomPrompt="1"/>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541337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结束，致谢">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268875" y="2155125"/>
            <a:ext cx="6606253" cy="1655763"/>
          </a:xfrm>
        </p:spPr>
        <p:txBody>
          <a:bodyPr anchor="b">
            <a:normAutofit/>
          </a:bodyPr>
          <a:lstStyle>
            <a:lvl1pPr algn="ctr">
              <a:defRPr sz="4400" b="1"/>
            </a:lvl1pPr>
          </a:lstStyle>
          <a:p>
            <a:r>
              <a:rPr lang="zh-CN" altLang="en-US" dirty="0"/>
              <a:t>单击此处编辑母版标题样式</a:t>
            </a:r>
            <a:endParaRPr lang="en-US" dirty="0"/>
          </a:p>
        </p:txBody>
      </p:sp>
      <p:sp>
        <p:nvSpPr>
          <p:cNvPr id="9" name="圆: 空心 8"/>
          <p:cNvSpPr/>
          <p:nvPr/>
        </p:nvSpPr>
        <p:spPr>
          <a:xfrm>
            <a:off x="8088487" y="5873868"/>
            <a:ext cx="720000" cy="720000"/>
          </a:xfrm>
          <a:prstGeom prst="donut">
            <a:avLst>
              <a:gd name="adj" fmla="val 24158"/>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7969050" cy="457000"/>
          </a:xfrm>
        </p:spPr>
        <p:txBody>
          <a:bodyPr>
            <a:normAutofit/>
          </a:bodyPr>
          <a:lstStyle>
            <a:lvl1pPr>
              <a:defRPr sz="2400"/>
            </a:lvl1pPr>
          </a:lstStyle>
          <a:p>
            <a:r>
              <a:rPr lang="zh-CN" altLang="en-US" dirty="0"/>
              <a:t>单击此处编辑母版标题样式</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800"/>
            </a:lvl1pPr>
            <a:lvl2pPr>
              <a:defRPr sz="2400"/>
            </a:lvl2pPr>
            <a:lvl3pPr>
              <a:defRPr sz="2000"/>
            </a:lvl3pPr>
            <a:lvl4pPr>
              <a:defRPr sz="1600"/>
            </a:lvl4pPr>
            <a:lvl5pPr>
              <a:defRPr sz="1600"/>
            </a:lvl5p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dirty="0"/>
          </a:p>
        </p:txBody>
      </p:sp>
      <p:sp>
        <p:nvSpPr>
          <p:cNvPr id="7" name="标题 6"/>
          <p:cNvSpPr>
            <a:spLocks noGrp="1"/>
          </p:cNvSpPr>
          <p:nvPr>
            <p:ph type="title"/>
          </p:nvPr>
        </p:nvSpPr>
        <p:spPr/>
        <p:txBody>
          <a:bodyPr>
            <a:normAutofit/>
          </a:bodyPr>
          <a:lstStyle>
            <a:lvl1pPr>
              <a:defRPr sz="4000"/>
            </a:lvl1pPr>
          </a:lstStyle>
          <a:p>
            <a:r>
              <a:rPr lang="zh-CN" altLang="en-US" dirty="0"/>
              <a:t>单击此处编辑母版标题样式</a:t>
            </a:r>
            <a:endParaRPr lang="en-US" dirty="0"/>
          </a:p>
        </p:txBody>
      </p:sp>
      <p:sp>
        <p:nvSpPr>
          <p:cNvPr id="8" name="日期占位符 7"/>
          <p:cNvSpPr>
            <a:spLocks noGrp="1"/>
          </p:cNvSpPr>
          <p:nvPr>
            <p:ph type="dt" sz="half" idx="10"/>
          </p:nvPr>
        </p:nvSpPr>
        <p:spPr/>
        <p:txBody>
          <a:bodyPr/>
          <a:lstStyle/>
          <a:p>
            <a:pPr>
              <a:defRPr/>
            </a:pPr>
            <a:endParaRPr lang="zh-CN" altLang="en-US"/>
          </a:p>
        </p:txBody>
      </p:sp>
      <p:sp>
        <p:nvSpPr>
          <p:cNvPr id="9" name="页脚占位符 8"/>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pPr>
              <a:defRPr/>
            </a:pPr>
            <a:fld id="{1AE995F9-82BC-4AFC-8E20-89426A466BF1}" type="slidenum">
              <a:rPr lang="zh-CN" altLang="en-US" smtClean="0"/>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ltLang="x-none"/>
          </a:p>
        </p:txBody>
      </p:sp>
      <p:sp>
        <p:nvSpPr>
          <p:cNvPr id="3" name="页脚占位符 4"/>
          <p:cNvSpPr>
            <a:spLocks noGrp="1"/>
          </p:cNvSpPr>
          <p:nvPr>
            <p:ph type="ftr" sz="quarter" idx="11"/>
          </p:nvPr>
        </p:nvSpPr>
        <p:spPr/>
        <p:txBody>
          <a:bodyPr/>
          <a:lstStyle>
            <a:lvl1pPr>
              <a:defRPr/>
            </a:lvl1pPr>
          </a:lstStyle>
          <a:p>
            <a:pPr>
              <a:defRPr/>
            </a:pPr>
            <a:endParaRPr lang="en-US" altLang="x-none"/>
          </a:p>
        </p:txBody>
      </p:sp>
      <p:sp>
        <p:nvSpPr>
          <p:cNvPr id="4" name="灯片编号占位符 5"/>
          <p:cNvSpPr>
            <a:spLocks noGrp="1"/>
          </p:cNvSpPr>
          <p:nvPr>
            <p:ph type="sldNum" sz="quarter" idx="12"/>
          </p:nvPr>
        </p:nvSpPr>
        <p:spPr/>
        <p:txBody>
          <a:bodyPr/>
          <a:lstStyle>
            <a:lvl1pPr>
              <a:defRPr/>
            </a:lvl1pPr>
          </a:lstStyle>
          <a:p>
            <a:fld id="{4CAF4090-AE77-4D2C-B7B1-4A0D325AA514}" type="slidenum">
              <a:rPr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emf"/><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000" y="432000"/>
            <a:ext cx="8280000" cy="886662"/>
          </a:xfrm>
          <a:prstGeom prst="rect">
            <a:avLst/>
          </a:prstGeom>
        </p:spPr>
        <p:txBody>
          <a:bodyPr vert="horz" lIns="91440" tIns="45720" rIns="91440" bIns="45720" rtlCol="0" anchor="t">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32000" y="1447062"/>
            <a:ext cx="8280000" cy="470516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360045" indent="-360045" algn="l" defTabSz="914400" rtl="0" eaLnBrk="1" latinLnBrk="0" hangingPunct="1">
        <a:lnSpc>
          <a:spcPct val="100000"/>
        </a:lnSpc>
        <a:spcBef>
          <a:spcPts val="1000"/>
        </a:spcBef>
        <a:buClr>
          <a:schemeClr val="accent4"/>
        </a:buClr>
        <a:buFontTx/>
        <a:buBlip>
          <a:blip r:embed="rId14"/>
        </a:buBlip>
        <a:defRPr sz="2800" kern="1200">
          <a:solidFill>
            <a:schemeClr val="tx1"/>
          </a:solidFill>
          <a:latin typeface="+mj-ea"/>
          <a:ea typeface="+mj-ea"/>
          <a:cs typeface="+mn-cs"/>
        </a:defRPr>
      </a:lvl1pPr>
      <a:lvl2pPr marL="685800" indent="-288290" algn="l" defTabSz="914400" rtl="0" eaLnBrk="1" latinLnBrk="0" hangingPunct="1">
        <a:lnSpc>
          <a:spcPct val="100000"/>
        </a:lnSpc>
        <a:spcBef>
          <a:spcPts val="500"/>
        </a:spcBef>
        <a:buClr>
          <a:schemeClr val="accent4"/>
        </a:buClr>
        <a:buFontTx/>
        <a:buBlip>
          <a:blip r:embed="rId14"/>
        </a:buBlip>
        <a:defRPr sz="2400" kern="1200">
          <a:solidFill>
            <a:schemeClr val="tx1"/>
          </a:solidFill>
          <a:latin typeface="+mn-lt"/>
          <a:ea typeface="+mn-ea"/>
          <a:cs typeface="+mn-cs"/>
        </a:defRPr>
      </a:lvl2pPr>
      <a:lvl3pPr marL="1143000" indent="-230505" algn="l" defTabSz="914400" rtl="0" eaLnBrk="1" latinLnBrk="0" hangingPunct="1">
        <a:lnSpc>
          <a:spcPct val="100000"/>
        </a:lnSpc>
        <a:spcBef>
          <a:spcPts val="500"/>
        </a:spcBef>
        <a:buClr>
          <a:schemeClr val="accent4"/>
        </a:buClr>
        <a:buSzPct val="100000"/>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7.sv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4" Type="http://schemas.openxmlformats.org/officeDocument/2006/relationships/slideLayout" Target="../slideLayouts/slideLayout4.xml"/><Relationship Id="rId13" Type="http://schemas.openxmlformats.org/officeDocument/2006/relationships/image" Target="../media/image27.png"/><Relationship Id="rId12" Type="http://schemas.openxmlformats.org/officeDocument/2006/relationships/image" Target="../media/image26.png"/><Relationship Id="rId11" Type="http://schemas.openxmlformats.org/officeDocument/2006/relationships/image" Target="../media/image25.png"/><Relationship Id="rId10" Type="http://schemas.openxmlformats.org/officeDocument/2006/relationships/image" Target="../media/image24.pn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e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9.png"/><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9.png"/><Relationship Id="rId1" Type="http://schemas.openxmlformats.org/officeDocument/2006/relationships/image" Target="../media/image3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emf"/></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3.xml"/><Relationship Id="rId2" Type="http://schemas.openxmlformats.org/officeDocument/2006/relationships/image" Target="../media/image37.png"/><Relationship Id="rId1" Type="http://schemas.openxmlformats.org/officeDocument/2006/relationships/image" Target="../media/image36.png"/></Relationships>
</file>

<file path=ppt/slides/_rels/slide70.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3.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image" Target="../media/image41.png"/></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3.xml"/><Relationship Id="rId3" Type="http://schemas.openxmlformats.org/officeDocument/2006/relationships/image" Target="../media/image40.png"/><Relationship Id="rId2" Type="http://schemas.openxmlformats.org/officeDocument/2006/relationships/image" Target="../media/image43.png"/><Relationship Id="rId1" Type="http://schemas.openxmlformats.org/officeDocument/2006/relationships/image" Target="../media/image42.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1194229" y="1556237"/>
            <a:ext cx="7875127" cy="1655763"/>
          </a:xfrm>
        </p:spPr>
        <p:txBody>
          <a:bodyPr>
            <a:normAutofit/>
          </a:bodyPr>
          <a:lstStyle/>
          <a:p>
            <a:r>
              <a:rPr lang="en-US" altLang="zh-CN" sz="4800"/>
              <a:t>13.</a:t>
            </a:r>
            <a:r>
              <a:rPr lang="zh-CN" altLang="en-US" sz="4800" dirty="0"/>
              <a:t> 面向对象程序设计</a:t>
            </a:r>
            <a:r>
              <a:rPr lang="en-US" altLang="zh-CN" sz="4800" dirty="0"/>
              <a:t>		</a:t>
            </a:r>
            <a:endParaRPr lang="en-US" sz="4800" dirty="0"/>
          </a:p>
        </p:txBody>
      </p:sp>
      <p:sp>
        <p:nvSpPr>
          <p:cNvPr id="6" name="副标题 5"/>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zh-CN" altLang="en-US" b="1" dirty="0">
                <a:solidFill>
                  <a:schemeClr val="accent2"/>
                </a:solidFill>
              </a:rPr>
              <a:t>新特性</a:t>
            </a:r>
            <a:r>
              <a:rPr lang="zh-CN" altLang="en-US" b="1" dirty="0"/>
              <a:t>：</a:t>
            </a:r>
            <a:r>
              <a:rPr lang="zh-CN" altLang="en-US" dirty="0"/>
              <a:t>函数重载、参数默认值和引用</a:t>
            </a:r>
            <a:endParaRPr lang="en-US" altLang="zh-CN" dirty="0"/>
          </a:p>
          <a:p>
            <a:r>
              <a:rPr lang="zh-CN" altLang="en-US" dirty="0"/>
              <a:t>面向对象的程序设计</a:t>
            </a:r>
            <a:endParaRPr lang="en-US" altLang="zh-CN" dirty="0"/>
          </a:p>
          <a:p>
            <a:r>
              <a:rPr lang="zh-CN" altLang="en-US" dirty="0"/>
              <a:t>基本概念</a:t>
            </a:r>
            <a:endParaRPr lang="en-US" altLang="zh-CN" dirty="0"/>
          </a:p>
          <a:p>
            <a:r>
              <a:rPr lang="zh-CN" altLang="en-US" dirty="0"/>
              <a:t>类与对象</a:t>
            </a:r>
            <a:endParaRPr lang="en-US" altLang="zh-CN" dirty="0"/>
          </a:p>
          <a:p>
            <a:r>
              <a:rPr lang="zh-CN" altLang="en-US" dirty="0"/>
              <a:t>成员函数</a:t>
            </a:r>
            <a:endParaRPr lang="en-US" altLang="zh-CN" dirty="0"/>
          </a:p>
          <a:p>
            <a:r>
              <a:rPr lang="zh-CN" altLang="en-US" dirty="0"/>
              <a:t>保护成员</a:t>
            </a:r>
            <a:endParaRPr lang="en-US" altLang="zh-CN" dirty="0"/>
          </a:p>
          <a:p>
            <a:r>
              <a:rPr lang="zh-CN" altLang="en-US" dirty="0"/>
              <a:t>构造函数</a:t>
            </a:r>
            <a:r>
              <a:rPr lang="en-US" altLang="zh-CN" dirty="0"/>
              <a:t>&amp;</a:t>
            </a:r>
            <a:r>
              <a:rPr lang="zh-CN" altLang="en-US" dirty="0"/>
              <a:t>析构函数</a:t>
            </a:r>
            <a:endParaRPr lang="en-US" altLang="zh-CN" dirty="0"/>
          </a:p>
        </p:txBody>
      </p:sp>
      <p:sp>
        <p:nvSpPr>
          <p:cNvPr id="2" name="Title 1"/>
          <p:cNvSpPr>
            <a:spLocks noGrp="1"/>
          </p:cNvSpPr>
          <p:nvPr>
            <p:ph type="title"/>
          </p:nvPr>
        </p:nvSpPr>
        <p:spPr/>
        <p:txBody>
          <a:bodyPr/>
          <a:lstStyle/>
          <a:p>
            <a:r>
              <a:rPr lang="zh-CN" altLang="en-US" dirty="0"/>
              <a:t>内容</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432000" y="432000"/>
            <a:ext cx="8230387" cy="899650"/>
          </a:xfrm>
        </p:spPr>
        <p:txBody>
          <a:bodyPr/>
          <a:lstStyle/>
          <a:p>
            <a:pPr eaLnBrk="1" fontAlgn="auto" hangingPunct="1">
              <a:spcAft>
                <a:spcPts val="0"/>
              </a:spcAft>
              <a:defRPr/>
            </a:pPr>
            <a:r>
              <a:rPr lang="en-US" altLang="zh-CN" dirty="0"/>
              <a:t>1</a:t>
            </a:r>
            <a:r>
              <a:rPr lang="zh-CN" altLang="en-US" dirty="0"/>
              <a:t>）函数</a:t>
            </a:r>
            <a:r>
              <a:rPr lang="zh-CN" altLang="en-US" dirty="0">
                <a:solidFill>
                  <a:srgbClr val="0070C0"/>
                </a:solidFill>
              </a:rPr>
              <a:t>重载</a:t>
            </a:r>
            <a:endParaRPr lang="zh-CN" altLang="en-US" dirty="0">
              <a:solidFill>
                <a:srgbClr val="0070C0"/>
              </a:solidFill>
            </a:endParaRPr>
          </a:p>
        </p:txBody>
      </p:sp>
      <p:sp>
        <p:nvSpPr>
          <p:cNvPr id="72706" name="内容占位符 2"/>
          <p:cNvSpPr>
            <a:spLocks noGrp="1"/>
          </p:cNvSpPr>
          <p:nvPr>
            <p:ph idx="1"/>
          </p:nvPr>
        </p:nvSpPr>
        <p:spPr>
          <a:xfrm>
            <a:off x="457200" y="1765908"/>
            <a:ext cx="8229600" cy="1608878"/>
          </a:xfrm>
        </p:spPr>
        <p:txBody>
          <a:bodyPr/>
          <a:lstStyle/>
          <a:p>
            <a:pPr eaLnBrk="1" hangingPunct="1"/>
            <a:r>
              <a:rPr lang="zh-CN" altLang="en-US" dirty="0">
                <a:latin typeface="宋体" pitchFamily="2" charset="-122"/>
              </a:rPr>
              <a:t>允许</a:t>
            </a:r>
            <a:r>
              <a:rPr lang="zh-CN" altLang="en-US" b="1" dirty="0">
                <a:latin typeface="宋体" pitchFamily="2" charset="-122"/>
              </a:rPr>
              <a:t>功能相近</a:t>
            </a:r>
            <a:r>
              <a:rPr lang="zh-CN" altLang="en-US" dirty="0">
                <a:latin typeface="宋体" pitchFamily="2" charset="-122"/>
              </a:rPr>
              <a:t>的函数在相同的作用域内以</a:t>
            </a:r>
            <a:r>
              <a:rPr lang="zh-CN" altLang="en-US" b="1" dirty="0">
                <a:solidFill>
                  <a:srgbClr val="0070C0"/>
                </a:solidFill>
                <a:latin typeface="宋体" pitchFamily="2" charset="-122"/>
              </a:rPr>
              <a:t>相同函数名</a:t>
            </a:r>
            <a:r>
              <a:rPr lang="zh-CN" altLang="en-US" dirty="0">
                <a:latin typeface="宋体" pitchFamily="2" charset="-122"/>
              </a:rPr>
              <a:t>声明，从而形成</a:t>
            </a:r>
            <a:r>
              <a:rPr lang="zh-CN" altLang="en-US" dirty="0">
                <a:solidFill>
                  <a:srgbClr val="C00000"/>
                </a:solidFill>
                <a:latin typeface="宋体" pitchFamily="2" charset="-122"/>
              </a:rPr>
              <a:t>重载</a:t>
            </a:r>
            <a:r>
              <a:rPr lang="zh-CN" altLang="en-US" dirty="0">
                <a:latin typeface="宋体" pitchFamily="2" charset="-122"/>
              </a:rPr>
              <a:t>。方便使用便于记忆。</a:t>
            </a:r>
            <a:endParaRPr lang="zh-CN" altLang="en-US" dirty="0">
              <a:latin typeface="宋体" pitchFamily="2" charset="-122"/>
            </a:endParaRPr>
          </a:p>
          <a:p>
            <a:pPr eaLnBrk="1" hangingPunct="1"/>
            <a:r>
              <a:rPr lang="zh-CN" altLang="en-US" dirty="0">
                <a:latin typeface="宋体" pitchFamily="2" charset="-122"/>
              </a:rPr>
              <a:t>例：</a:t>
            </a:r>
            <a:endParaRPr lang="zh-CN" altLang="en-US" dirty="0">
              <a:latin typeface="宋体" pitchFamily="2" charset="-122"/>
            </a:endParaRPr>
          </a:p>
        </p:txBody>
      </p:sp>
      <p:sp>
        <p:nvSpPr>
          <p:cNvPr id="7270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503050405090304" pitchFamily="18" charset="0"/>
              <a:ea typeface="隶书" panose="02010509060101010101" pitchFamily="49" charset="-122"/>
            </a:endParaRPr>
          </a:p>
        </p:txBody>
      </p:sp>
      <p:grpSp>
        <p:nvGrpSpPr>
          <p:cNvPr id="72709" name="Group 4"/>
          <p:cNvGrpSpPr/>
          <p:nvPr/>
        </p:nvGrpSpPr>
        <p:grpSpPr bwMode="auto">
          <a:xfrm>
            <a:off x="1645422" y="3318493"/>
            <a:ext cx="6934200" cy="838200"/>
            <a:chOff x="384" y="2544"/>
            <a:chExt cx="4368" cy="528"/>
          </a:xfrm>
        </p:grpSpPr>
        <p:sp>
          <p:nvSpPr>
            <p:cNvPr id="72714" name="AutoShape 5"/>
            <p:cNvSpPr/>
            <p:nvPr/>
          </p:nvSpPr>
          <p:spPr bwMode="auto">
            <a:xfrm>
              <a:off x="3264" y="2592"/>
              <a:ext cx="80" cy="480"/>
            </a:xfrm>
            <a:prstGeom prst="rightBrace">
              <a:avLst>
                <a:gd name="adj1" fmla="val 5000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en-US" sz="2000">
                <a:latin typeface="Consolas" panose="020B0609020204030204" pitchFamily="49" charset="0"/>
                <a:ea typeface="隶书" panose="02010509060101010101" pitchFamily="49" charset="-122"/>
              </a:endParaRPr>
            </a:p>
          </p:txBody>
        </p:sp>
        <p:sp>
          <p:nvSpPr>
            <p:cNvPr id="72715" name="Text Box 6"/>
            <p:cNvSpPr txBox="1">
              <a:spLocks noChangeArrowheads="1"/>
            </p:cNvSpPr>
            <p:nvPr/>
          </p:nvSpPr>
          <p:spPr bwMode="auto">
            <a:xfrm>
              <a:off x="3408" y="2662"/>
              <a:ext cx="134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50000"/>
                </a:spcBef>
                <a:buClrTx/>
                <a:buSzTx/>
                <a:buFontTx/>
                <a:buNone/>
              </a:pPr>
              <a:r>
                <a:rPr lang="zh-CN" altLang="en-US" sz="2000" dirty="0">
                  <a:latin typeface="Consolas" panose="020B0609020204030204" pitchFamily="49" charset="0"/>
                  <a:ea typeface="宋体" pitchFamily="2" charset="-122"/>
                </a:rPr>
                <a:t>形参</a:t>
              </a:r>
              <a:r>
                <a:rPr lang="zh-CN" altLang="en-US" sz="2000" b="1" dirty="0">
                  <a:solidFill>
                    <a:srgbClr val="800000"/>
                  </a:solidFill>
                  <a:latin typeface="Consolas" panose="020B0609020204030204" pitchFamily="49" charset="0"/>
                  <a:ea typeface="宋体" pitchFamily="2" charset="-122"/>
                </a:rPr>
                <a:t>类型不同</a:t>
              </a:r>
              <a:endParaRPr lang="zh-CN" altLang="en-US" sz="2000" b="1" dirty="0">
                <a:solidFill>
                  <a:srgbClr val="800000"/>
                </a:solidFill>
                <a:latin typeface="Consolas" panose="020B0609020204030204" pitchFamily="49" charset="0"/>
                <a:ea typeface="宋体" pitchFamily="2" charset="-122"/>
              </a:endParaRPr>
            </a:p>
          </p:txBody>
        </p:sp>
        <p:sp>
          <p:nvSpPr>
            <p:cNvPr id="72716" name="Text Box 7"/>
            <p:cNvSpPr txBox="1">
              <a:spLocks noChangeArrowheads="1"/>
            </p:cNvSpPr>
            <p:nvPr/>
          </p:nvSpPr>
          <p:spPr bwMode="auto">
            <a:xfrm>
              <a:off x="384" y="2544"/>
              <a:ext cx="278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algn="l" eaLnBrk="1" hangingPunct="1">
                <a:spcBef>
                  <a:spcPct val="0"/>
                </a:spcBef>
                <a:buClrTx/>
                <a:buSzTx/>
                <a:buFontTx/>
                <a:buNone/>
              </a:pPr>
              <a:r>
                <a:rPr lang="en-US" altLang="zh-CN" sz="2000" dirty="0">
                  <a:latin typeface="Consolas" panose="020B0609020204030204" pitchFamily="49" charset="0"/>
                  <a:ea typeface="宋体" pitchFamily="2" charset="-122"/>
                </a:rPr>
                <a:t>  int add(</a:t>
              </a:r>
              <a:r>
                <a:rPr lang="en-US" altLang="zh-CN" sz="2000" dirty="0">
                  <a:solidFill>
                    <a:srgbClr val="00CC99"/>
                  </a:solidFill>
                  <a:latin typeface="Consolas" panose="020B0609020204030204" pitchFamily="49" charset="0"/>
                  <a:ea typeface="宋体" pitchFamily="2" charset="-122"/>
                </a:rPr>
                <a:t>int </a:t>
              </a:r>
              <a:r>
                <a:rPr lang="en-US" altLang="zh-CN" sz="2000" dirty="0">
                  <a:latin typeface="Consolas" panose="020B0609020204030204" pitchFamily="49" charset="0"/>
                  <a:ea typeface="宋体" pitchFamily="2" charset="-122"/>
                </a:rPr>
                <a:t>x,</a:t>
              </a:r>
              <a:r>
                <a:rPr lang="en-US" altLang="zh-CN" sz="2000" dirty="0">
                  <a:solidFill>
                    <a:srgbClr val="00CC99"/>
                  </a:solidFill>
                  <a:latin typeface="Consolas" panose="020B0609020204030204" pitchFamily="49" charset="0"/>
                  <a:ea typeface="宋体" pitchFamily="2" charset="-122"/>
                </a:rPr>
                <a:t> int </a:t>
              </a:r>
              <a:r>
                <a:rPr lang="en-US" altLang="zh-CN" sz="2000" dirty="0">
                  <a:latin typeface="Consolas" panose="020B0609020204030204" pitchFamily="49" charset="0"/>
                  <a:ea typeface="宋体" pitchFamily="2" charset="-122"/>
                </a:rPr>
                <a:t>y);</a:t>
              </a:r>
              <a:endParaRPr lang="en-US" altLang="zh-CN" sz="2000" dirty="0">
                <a:latin typeface="Consolas" panose="020B0609020204030204" pitchFamily="49" charset="0"/>
                <a:ea typeface="宋体" pitchFamily="2" charset="-122"/>
              </a:endParaRPr>
            </a:p>
            <a:p>
              <a:pPr algn="l" eaLnBrk="1" hangingPunct="1">
                <a:spcBef>
                  <a:spcPct val="0"/>
                </a:spcBef>
                <a:buClrTx/>
                <a:buSzTx/>
                <a:buFontTx/>
                <a:buNone/>
              </a:pPr>
              <a:r>
                <a:rPr lang="en-US" altLang="zh-CN" sz="2000" dirty="0">
                  <a:solidFill>
                    <a:srgbClr val="0070C0"/>
                  </a:solidFill>
                  <a:latin typeface="Consolas" panose="020B0609020204030204" pitchFamily="49" charset="0"/>
                  <a:ea typeface="宋体" pitchFamily="2" charset="-122"/>
                </a:rPr>
                <a:t>float</a:t>
              </a:r>
              <a:r>
                <a:rPr lang="en-US" altLang="zh-CN" sz="2000" dirty="0">
                  <a:latin typeface="Consolas" panose="020B0609020204030204" pitchFamily="49" charset="0"/>
                  <a:ea typeface="宋体" pitchFamily="2" charset="-122"/>
                </a:rPr>
                <a:t> add(</a:t>
              </a:r>
              <a:r>
                <a:rPr lang="en-US" altLang="zh-CN" sz="2000" dirty="0">
                  <a:solidFill>
                    <a:srgbClr val="C00000"/>
                  </a:solidFill>
                  <a:latin typeface="Consolas" panose="020B0609020204030204" pitchFamily="49" charset="0"/>
                  <a:ea typeface="宋体" pitchFamily="2" charset="-122"/>
                </a:rPr>
                <a:t>float </a:t>
              </a:r>
              <a:r>
                <a:rPr lang="en-US" altLang="zh-CN" sz="2000" dirty="0">
                  <a:latin typeface="Consolas" panose="020B0609020204030204" pitchFamily="49" charset="0"/>
                  <a:ea typeface="宋体" pitchFamily="2" charset="-122"/>
                </a:rPr>
                <a:t>x, </a:t>
              </a:r>
              <a:r>
                <a:rPr lang="en-US" altLang="zh-CN" sz="2000" dirty="0">
                  <a:solidFill>
                    <a:srgbClr val="C00000"/>
                  </a:solidFill>
                  <a:latin typeface="Consolas" panose="020B0609020204030204" pitchFamily="49" charset="0"/>
                  <a:ea typeface="宋体" pitchFamily="2" charset="-122"/>
                </a:rPr>
                <a:t>float</a:t>
              </a:r>
              <a:r>
                <a:rPr lang="en-US" altLang="zh-CN" sz="2000" dirty="0">
                  <a:latin typeface="Consolas" panose="020B0609020204030204" pitchFamily="49" charset="0"/>
                  <a:ea typeface="宋体" pitchFamily="2" charset="-122"/>
                </a:rPr>
                <a:t> y);</a:t>
              </a:r>
              <a:endParaRPr lang="en-US" altLang="zh-CN" sz="2000" dirty="0">
                <a:latin typeface="Consolas" panose="020B0609020204030204" pitchFamily="49" charset="0"/>
                <a:ea typeface="宋体" pitchFamily="2" charset="-122"/>
              </a:endParaRPr>
            </a:p>
          </p:txBody>
        </p:sp>
      </p:grpSp>
      <p:grpSp>
        <p:nvGrpSpPr>
          <p:cNvPr id="72710" name="Group 13"/>
          <p:cNvGrpSpPr/>
          <p:nvPr/>
        </p:nvGrpSpPr>
        <p:grpSpPr bwMode="auto">
          <a:xfrm>
            <a:off x="1907704" y="4157276"/>
            <a:ext cx="6927850" cy="914400"/>
            <a:chOff x="912" y="3072"/>
            <a:chExt cx="4364" cy="576"/>
          </a:xfrm>
        </p:grpSpPr>
        <p:sp>
          <p:nvSpPr>
            <p:cNvPr id="72711" name="AutoShape 9"/>
            <p:cNvSpPr/>
            <p:nvPr/>
          </p:nvSpPr>
          <p:spPr bwMode="auto">
            <a:xfrm>
              <a:off x="3801" y="3168"/>
              <a:ext cx="80" cy="480"/>
            </a:xfrm>
            <a:prstGeom prst="rightBrace">
              <a:avLst>
                <a:gd name="adj1" fmla="val 5000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en-US" sz="2000">
                <a:latin typeface="Consolas" panose="020B0609020204030204" pitchFamily="49" charset="0"/>
                <a:ea typeface="隶书" panose="02010509060101010101" pitchFamily="49" charset="-122"/>
              </a:endParaRPr>
            </a:p>
          </p:txBody>
        </p:sp>
        <p:sp>
          <p:nvSpPr>
            <p:cNvPr id="72712" name="Text Box 10"/>
            <p:cNvSpPr txBox="1">
              <a:spLocks noChangeArrowheads="1"/>
            </p:cNvSpPr>
            <p:nvPr/>
          </p:nvSpPr>
          <p:spPr bwMode="auto">
            <a:xfrm>
              <a:off x="3932" y="3264"/>
              <a:ext cx="134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50000"/>
                </a:spcBef>
                <a:buClrTx/>
                <a:buSzTx/>
                <a:buFontTx/>
                <a:buNone/>
              </a:pPr>
              <a:r>
                <a:rPr lang="zh-CN" altLang="en-US" sz="2000" dirty="0">
                  <a:latin typeface="Consolas" panose="020B0609020204030204" pitchFamily="49" charset="0"/>
                  <a:ea typeface="宋体" pitchFamily="2" charset="-122"/>
                </a:rPr>
                <a:t>形参</a:t>
              </a:r>
              <a:r>
                <a:rPr lang="zh-CN" altLang="en-US" sz="2000" b="1" dirty="0">
                  <a:solidFill>
                    <a:srgbClr val="800000"/>
                  </a:solidFill>
                  <a:latin typeface="Consolas" panose="020B0609020204030204" pitchFamily="49" charset="0"/>
                  <a:ea typeface="宋体" pitchFamily="2" charset="-122"/>
                </a:rPr>
                <a:t>个数不同</a:t>
              </a:r>
              <a:endParaRPr lang="zh-CN" altLang="en-US" sz="2000" b="1" dirty="0">
                <a:solidFill>
                  <a:srgbClr val="800000"/>
                </a:solidFill>
                <a:latin typeface="Consolas" panose="020B0609020204030204" pitchFamily="49" charset="0"/>
                <a:ea typeface="宋体" pitchFamily="2" charset="-122"/>
              </a:endParaRPr>
            </a:p>
          </p:txBody>
        </p:sp>
        <p:sp>
          <p:nvSpPr>
            <p:cNvPr id="72713" name="Text Box 11"/>
            <p:cNvSpPr txBox="1">
              <a:spLocks noChangeArrowheads="1"/>
            </p:cNvSpPr>
            <p:nvPr/>
          </p:nvSpPr>
          <p:spPr bwMode="auto">
            <a:xfrm>
              <a:off x="912" y="3072"/>
              <a:ext cx="283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algn="l" eaLnBrk="1" hangingPunct="1">
                <a:spcBef>
                  <a:spcPct val="0"/>
                </a:spcBef>
                <a:buClrTx/>
                <a:buSzTx/>
                <a:buFontTx/>
                <a:buNone/>
              </a:pPr>
              <a:r>
                <a:rPr lang="en-US" altLang="zh-CN" sz="2000" dirty="0">
                  <a:solidFill>
                    <a:srgbClr val="0070C0"/>
                  </a:solidFill>
                  <a:latin typeface="Consolas" panose="020B0609020204030204" pitchFamily="49" charset="0"/>
                  <a:ea typeface="宋体" pitchFamily="2" charset="-122"/>
                </a:rPr>
                <a:t>int</a:t>
              </a:r>
              <a:r>
                <a:rPr lang="en-US" altLang="zh-CN" sz="2000" dirty="0">
                  <a:latin typeface="Consolas" panose="020B0609020204030204" pitchFamily="49" charset="0"/>
                  <a:ea typeface="宋体" pitchFamily="2" charset="-122"/>
                </a:rPr>
                <a:t> add(int x, int y);</a:t>
              </a:r>
              <a:endParaRPr lang="en-US" altLang="zh-CN" sz="2000" dirty="0">
                <a:latin typeface="Consolas" panose="020B0609020204030204" pitchFamily="49" charset="0"/>
                <a:ea typeface="宋体" pitchFamily="2" charset="-122"/>
              </a:endParaRPr>
            </a:p>
            <a:p>
              <a:pPr algn="l" eaLnBrk="1" hangingPunct="1">
                <a:spcBef>
                  <a:spcPct val="0"/>
                </a:spcBef>
                <a:buClrTx/>
                <a:buSzTx/>
                <a:buFontTx/>
                <a:buNone/>
              </a:pPr>
              <a:r>
                <a:rPr lang="en-US" altLang="zh-CN" sz="2000" dirty="0">
                  <a:latin typeface="Consolas" panose="020B0609020204030204" pitchFamily="49" charset="0"/>
                  <a:ea typeface="宋体" pitchFamily="2" charset="-122"/>
                </a:rPr>
                <a:t>int add(int x, int y, </a:t>
              </a:r>
              <a:r>
                <a:rPr lang="en-US" altLang="zh-CN" sz="2000" dirty="0">
                  <a:solidFill>
                    <a:srgbClr val="C00000"/>
                  </a:solidFill>
                  <a:latin typeface="Consolas" panose="020B0609020204030204" pitchFamily="49" charset="0"/>
                  <a:ea typeface="宋体" pitchFamily="2" charset="-122"/>
                </a:rPr>
                <a:t>int z</a:t>
              </a:r>
              <a:r>
                <a:rPr lang="en-US" altLang="zh-CN" sz="2000" dirty="0">
                  <a:latin typeface="Consolas" panose="020B0609020204030204" pitchFamily="49" charset="0"/>
                  <a:ea typeface="宋体" pitchFamily="2" charset="-122"/>
                </a:rPr>
                <a:t>);</a:t>
              </a:r>
              <a:endParaRPr lang="en-US" altLang="zh-CN" sz="2000" dirty="0">
                <a:latin typeface="Consolas" panose="020B0609020204030204" pitchFamily="49" charset="0"/>
                <a:ea typeface="宋体" pitchFamily="2" charset="-122"/>
              </a:endParaRPr>
            </a:p>
          </p:txBody>
        </p:sp>
      </p:grpSp>
      <p:sp>
        <p:nvSpPr>
          <p:cNvPr id="2" name="左大括号 1"/>
          <p:cNvSpPr/>
          <p:nvPr/>
        </p:nvSpPr>
        <p:spPr>
          <a:xfrm>
            <a:off x="1424856" y="3737593"/>
            <a:ext cx="186432" cy="729877"/>
          </a:xfrm>
          <a:prstGeom prst="leftBrace">
            <a:avLst>
              <a:gd name="adj1" fmla="val 32943"/>
              <a:gd name="adj2" fmla="val 50000"/>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p:nvPr/>
        </p:nvSpPr>
        <p:spPr>
          <a:xfrm>
            <a:off x="709419" y="3505818"/>
            <a:ext cx="553998" cy="1607171"/>
          </a:xfrm>
          <a:prstGeom prst="rect">
            <a:avLst/>
          </a:prstGeom>
          <a:noFill/>
        </p:spPr>
        <p:txBody>
          <a:bodyPr vert="eaVert" wrap="none" rtlCol="0">
            <a:spAutoFit/>
          </a:bodyPr>
          <a:lstStyle/>
          <a:p>
            <a:r>
              <a:rPr lang="zh-CN" altLang="en-US" b="1" dirty="0">
                <a:solidFill>
                  <a:schemeClr val="bg2">
                    <a:lumMod val="75000"/>
                  </a:schemeClr>
                </a:solidFill>
              </a:rPr>
              <a:t>返回值类型</a:t>
            </a:r>
            <a:endParaRPr lang="zh-CN" altLang="en-US" b="1" dirty="0">
              <a:solidFill>
                <a:schemeClr val="bg2">
                  <a:lumMod val="7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注意事项</a:t>
            </a:r>
            <a:endParaRPr lang="zh-CN" altLang="en-US" dirty="0"/>
          </a:p>
        </p:txBody>
      </p:sp>
      <p:sp>
        <p:nvSpPr>
          <p:cNvPr id="73730" name="Rectangle 1027"/>
          <p:cNvSpPr>
            <a:spLocks noGrp="1" noChangeArrowheads="1"/>
          </p:cNvSpPr>
          <p:nvPr>
            <p:ph idx="1"/>
          </p:nvPr>
        </p:nvSpPr>
        <p:spPr>
          <a:xfrm>
            <a:off x="395288" y="1524000"/>
            <a:ext cx="8353425" cy="1524000"/>
          </a:xfrm>
        </p:spPr>
        <p:txBody>
          <a:bodyPr/>
          <a:lstStyle/>
          <a:p>
            <a:pPr marL="400050" lvl="1" eaLnBrk="1" hangingPunct="1"/>
            <a:r>
              <a:rPr lang="zh-CN" altLang="en-US" sz="2400" dirty="0">
                <a:latin typeface="宋体" pitchFamily="2" charset="-122"/>
              </a:rPr>
              <a:t>重载函数的</a:t>
            </a:r>
            <a:r>
              <a:rPr lang="zh-CN" altLang="en-US" sz="2400" b="1" dirty="0">
                <a:highlight>
                  <a:srgbClr val="FFFF00"/>
                </a:highlight>
                <a:latin typeface="宋体" pitchFamily="2" charset="-122"/>
              </a:rPr>
              <a:t>形参</a:t>
            </a:r>
            <a:r>
              <a:rPr lang="zh-CN" altLang="en-US" sz="2400" dirty="0">
                <a:solidFill>
                  <a:srgbClr val="0070C0"/>
                </a:solidFill>
                <a:latin typeface="宋体" pitchFamily="2" charset="-122"/>
              </a:rPr>
              <a:t>必须不同</a:t>
            </a:r>
            <a:r>
              <a:rPr lang="en-US" altLang="zh-CN" sz="2400" dirty="0">
                <a:latin typeface="宋体" pitchFamily="2" charset="-122"/>
              </a:rPr>
              <a:t>:</a:t>
            </a:r>
            <a:r>
              <a:rPr kumimoji="1" lang="zh-CN" altLang="en-US" sz="2400" dirty="0">
                <a:solidFill>
                  <a:srgbClr val="FF0000"/>
                </a:solidFill>
                <a:latin typeface="宋体" pitchFamily="2" charset="-122"/>
              </a:rPr>
              <a:t>个数</a:t>
            </a:r>
            <a:r>
              <a:rPr lang="zh-CN" altLang="en-US" sz="2400" dirty="0">
                <a:latin typeface="宋体" pitchFamily="2" charset="-122"/>
              </a:rPr>
              <a:t>不同或</a:t>
            </a:r>
            <a:r>
              <a:rPr kumimoji="1" lang="zh-CN" altLang="en-US" sz="2400" dirty="0">
                <a:solidFill>
                  <a:srgbClr val="FF0000"/>
                </a:solidFill>
                <a:latin typeface="宋体" pitchFamily="2" charset="-122"/>
              </a:rPr>
              <a:t>类型</a:t>
            </a:r>
            <a:r>
              <a:rPr lang="zh-CN" altLang="en-US" sz="2400" dirty="0">
                <a:latin typeface="宋体" pitchFamily="2" charset="-122"/>
              </a:rPr>
              <a:t>不同。</a:t>
            </a:r>
            <a:endParaRPr lang="zh-CN" altLang="en-US" sz="2400" dirty="0">
              <a:latin typeface="宋体" pitchFamily="2" charset="-122"/>
            </a:endParaRPr>
          </a:p>
          <a:p>
            <a:pPr marL="400050" lvl="1" eaLnBrk="1" hangingPunct="1"/>
            <a:r>
              <a:rPr lang="zh-CN" altLang="en-US" sz="2400" dirty="0">
                <a:solidFill>
                  <a:srgbClr val="C00000"/>
                </a:solidFill>
                <a:latin typeface="宋体" pitchFamily="2" charset="-122"/>
              </a:rPr>
              <a:t>编译程序</a:t>
            </a:r>
            <a:r>
              <a:rPr lang="zh-CN" altLang="en-US" sz="2400" dirty="0">
                <a:latin typeface="宋体" pitchFamily="2" charset="-122"/>
              </a:rPr>
              <a:t>将根据实参和形参的类型及个数的最佳匹配来选择调用哪一个函数。</a:t>
            </a:r>
            <a:endParaRPr kumimoji="1" lang="zh-CN" altLang="en-US" sz="2400" dirty="0">
              <a:solidFill>
                <a:srgbClr val="FF0000"/>
              </a:solidFill>
              <a:latin typeface="宋体" pitchFamily="2" charset="-122"/>
            </a:endParaRPr>
          </a:p>
        </p:txBody>
      </p:sp>
      <p:sp>
        <p:nvSpPr>
          <p:cNvPr id="7373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503050405090304" pitchFamily="18" charset="0"/>
              <a:ea typeface="隶书" panose="02010509060101010101" pitchFamily="49" charset="-122"/>
            </a:endParaRPr>
          </a:p>
        </p:txBody>
      </p:sp>
      <p:sp>
        <p:nvSpPr>
          <p:cNvPr id="73734" name="Rectangle 1046"/>
          <p:cNvSpPr>
            <a:spLocks noChangeArrowheads="1"/>
          </p:cNvSpPr>
          <p:nvPr/>
        </p:nvSpPr>
        <p:spPr bwMode="auto">
          <a:xfrm>
            <a:off x="7019925" y="5445125"/>
            <a:ext cx="2016125" cy="10795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en-US" sz="2400">
              <a:latin typeface="Times New Roman" panose="02020503050405090304" pitchFamily="18" charset="0"/>
              <a:ea typeface="隶书" panose="02010509060101010101" pitchFamily="49" charset="-122"/>
            </a:endParaRPr>
          </a:p>
        </p:txBody>
      </p:sp>
      <p:sp>
        <p:nvSpPr>
          <p:cNvPr id="73735" name="Rectangle 1028"/>
          <p:cNvSpPr>
            <a:spLocks noChangeArrowheads="1"/>
          </p:cNvSpPr>
          <p:nvPr/>
        </p:nvSpPr>
        <p:spPr bwMode="auto">
          <a:xfrm>
            <a:off x="482181" y="4464771"/>
            <a:ext cx="8370887"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4000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lvl="1" eaLnBrk="1" hangingPunct="1">
              <a:spcBef>
                <a:spcPct val="20000"/>
              </a:spcBef>
              <a:buClr>
                <a:schemeClr val="accent2"/>
              </a:buClr>
              <a:buFontTx/>
              <a:buChar char="–"/>
            </a:pPr>
            <a:r>
              <a:rPr lang="zh-CN" altLang="en-US" sz="2800" dirty="0">
                <a:solidFill>
                  <a:srgbClr val="002060"/>
                </a:solidFill>
                <a:latin typeface="Arial" panose="020B0604020202090204" pitchFamily="34" charset="0"/>
                <a:ea typeface="宋体" pitchFamily="2" charset="-122"/>
              </a:rPr>
              <a:t>不要将功能截然不同的函数声明为重载函数，以免出现调用结果的</a:t>
            </a:r>
            <a:r>
              <a:rPr lang="zh-CN" altLang="en-US" sz="2800" b="1" dirty="0">
                <a:solidFill>
                  <a:srgbClr val="002060"/>
                </a:solidFill>
                <a:latin typeface="Arial" panose="020B0604020202090204" pitchFamily="34" charset="0"/>
                <a:ea typeface="宋体" pitchFamily="2" charset="-122"/>
              </a:rPr>
              <a:t>误解、混淆</a:t>
            </a:r>
            <a:r>
              <a:rPr lang="zh-CN" altLang="en-US" sz="2800" dirty="0">
                <a:solidFill>
                  <a:srgbClr val="002060"/>
                </a:solidFill>
                <a:latin typeface="Arial" panose="020B0604020202090204" pitchFamily="34" charset="0"/>
                <a:ea typeface="宋体" pitchFamily="2" charset="-122"/>
              </a:rPr>
              <a:t>。不恰当重载函数：</a:t>
            </a:r>
            <a:endParaRPr lang="zh-CN" altLang="en-US" sz="2800" dirty="0">
              <a:solidFill>
                <a:srgbClr val="002060"/>
              </a:solidFill>
              <a:latin typeface="Arial" panose="020B0604020202090204" pitchFamily="34" charset="0"/>
              <a:ea typeface="宋体" pitchFamily="2" charset="-122"/>
            </a:endParaRPr>
          </a:p>
        </p:txBody>
      </p:sp>
      <p:grpSp>
        <p:nvGrpSpPr>
          <p:cNvPr id="73736" name="Group 1029"/>
          <p:cNvGrpSpPr/>
          <p:nvPr/>
        </p:nvGrpSpPr>
        <p:grpSpPr bwMode="auto">
          <a:xfrm>
            <a:off x="1066800" y="2874963"/>
            <a:ext cx="3581400" cy="1458912"/>
            <a:chOff x="672" y="2112"/>
            <a:chExt cx="2256" cy="919"/>
          </a:xfrm>
        </p:grpSpPr>
        <p:sp>
          <p:nvSpPr>
            <p:cNvPr id="73746" name="Text Box 1030"/>
            <p:cNvSpPr txBox="1">
              <a:spLocks noChangeArrowheads="1"/>
            </p:cNvSpPr>
            <p:nvPr/>
          </p:nvSpPr>
          <p:spPr bwMode="auto">
            <a:xfrm>
              <a:off x="672" y="2112"/>
              <a:ext cx="2256" cy="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ct val="90000"/>
                </a:lnSpc>
                <a:spcBef>
                  <a:spcPct val="50000"/>
                </a:spcBef>
                <a:buClrTx/>
                <a:buSzTx/>
                <a:buFontTx/>
                <a:buNone/>
              </a:pPr>
              <a:r>
                <a:rPr lang="en-US" altLang="zh-CN" sz="2400" dirty="0">
                  <a:latin typeface="Consolas" panose="020B0609020204030204" pitchFamily="49" charset="0"/>
                  <a:ea typeface="宋体" pitchFamily="2" charset="-122"/>
                </a:rPr>
                <a:t>int add(int </a:t>
              </a:r>
              <a:r>
                <a:rPr lang="en-US" altLang="zh-CN" sz="2400" dirty="0" err="1">
                  <a:solidFill>
                    <a:srgbClr val="FF0000"/>
                  </a:solidFill>
                  <a:latin typeface="Consolas" panose="020B0609020204030204" pitchFamily="49" charset="0"/>
                  <a:ea typeface="宋体" pitchFamily="2" charset="-122"/>
                </a:rPr>
                <a:t>x</a:t>
              </a:r>
              <a:r>
                <a:rPr lang="en-US" altLang="zh-CN" sz="2400" dirty="0" err="1">
                  <a:latin typeface="Consolas" panose="020B0609020204030204" pitchFamily="49" charset="0"/>
                  <a:ea typeface="宋体" pitchFamily="2" charset="-122"/>
                </a:rPr>
                <a:t>,int</a:t>
              </a:r>
              <a:r>
                <a:rPr lang="en-US" altLang="zh-CN" sz="2400" dirty="0">
                  <a:latin typeface="Consolas" panose="020B0609020204030204" pitchFamily="49" charset="0"/>
                  <a:ea typeface="宋体" pitchFamily="2" charset="-122"/>
                </a:rPr>
                <a:t> </a:t>
              </a:r>
              <a:r>
                <a:rPr lang="en-US" altLang="zh-CN" sz="2400" dirty="0">
                  <a:solidFill>
                    <a:srgbClr val="FF0000"/>
                  </a:solidFill>
                  <a:latin typeface="Consolas" panose="020B0609020204030204" pitchFamily="49" charset="0"/>
                  <a:ea typeface="宋体" pitchFamily="2" charset="-122"/>
                </a:rPr>
                <a:t>y</a:t>
              </a:r>
              <a:r>
                <a:rPr lang="en-US" altLang="zh-CN" sz="2400" dirty="0">
                  <a:latin typeface="Consolas" panose="020B0609020204030204" pitchFamily="49" charset="0"/>
                  <a:ea typeface="宋体" pitchFamily="2" charset="-122"/>
                </a:rPr>
                <a:t>);</a:t>
              </a:r>
              <a:endParaRPr lang="en-US" altLang="zh-CN" sz="2400" dirty="0">
                <a:latin typeface="Consolas" panose="020B0609020204030204" pitchFamily="49" charset="0"/>
                <a:ea typeface="宋体" pitchFamily="2" charset="-122"/>
              </a:endParaRPr>
            </a:p>
            <a:p>
              <a:pPr eaLnBrk="1" hangingPunct="1">
                <a:lnSpc>
                  <a:spcPct val="90000"/>
                </a:lnSpc>
                <a:spcBef>
                  <a:spcPct val="50000"/>
                </a:spcBef>
                <a:buClrTx/>
                <a:buSzTx/>
                <a:buFontTx/>
                <a:buNone/>
              </a:pPr>
              <a:r>
                <a:rPr lang="en-US" altLang="zh-CN" sz="2400" dirty="0">
                  <a:latin typeface="Consolas" panose="020B0609020204030204" pitchFamily="49" charset="0"/>
                  <a:ea typeface="宋体" pitchFamily="2" charset="-122"/>
                </a:rPr>
                <a:t>int add(int </a:t>
              </a:r>
              <a:r>
                <a:rPr lang="en-US" altLang="zh-CN" sz="2400" dirty="0" err="1">
                  <a:solidFill>
                    <a:srgbClr val="FF0000"/>
                  </a:solidFill>
                  <a:latin typeface="Consolas" panose="020B0609020204030204" pitchFamily="49" charset="0"/>
                  <a:ea typeface="宋体" pitchFamily="2" charset="-122"/>
                </a:rPr>
                <a:t>a</a:t>
              </a:r>
              <a:r>
                <a:rPr lang="en-US" altLang="zh-CN" sz="2400" dirty="0" err="1">
                  <a:latin typeface="Consolas" panose="020B0609020204030204" pitchFamily="49" charset="0"/>
                  <a:ea typeface="宋体" pitchFamily="2" charset="-122"/>
                </a:rPr>
                <a:t>,int</a:t>
              </a:r>
              <a:r>
                <a:rPr lang="en-US" altLang="zh-CN" sz="2400" dirty="0">
                  <a:latin typeface="Consolas" panose="020B0609020204030204" pitchFamily="49" charset="0"/>
                  <a:ea typeface="宋体" pitchFamily="2" charset="-122"/>
                </a:rPr>
                <a:t> </a:t>
              </a:r>
              <a:r>
                <a:rPr lang="en-US" altLang="zh-CN" sz="2400" dirty="0">
                  <a:solidFill>
                    <a:srgbClr val="FF0000"/>
                  </a:solidFill>
                  <a:latin typeface="Consolas" panose="020B0609020204030204" pitchFamily="49" charset="0"/>
                  <a:ea typeface="宋体" pitchFamily="2" charset="-122"/>
                </a:rPr>
                <a:t>b</a:t>
              </a:r>
              <a:r>
                <a:rPr lang="en-US" altLang="zh-CN" sz="2400" dirty="0">
                  <a:latin typeface="Consolas" panose="020B0609020204030204" pitchFamily="49" charset="0"/>
                  <a:ea typeface="宋体" pitchFamily="2" charset="-122"/>
                </a:rPr>
                <a:t>);</a:t>
              </a:r>
              <a:endParaRPr lang="en-US" altLang="zh-CN" sz="2400" dirty="0">
                <a:latin typeface="Consolas" panose="020B0609020204030204" pitchFamily="49" charset="0"/>
                <a:ea typeface="宋体" pitchFamily="2" charset="-122"/>
              </a:endParaRPr>
            </a:p>
            <a:p>
              <a:pPr eaLnBrk="1" hangingPunct="1">
                <a:lnSpc>
                  <a:spcPct val="90000"/>
                </a:lnSpc>
                <a:spcBef>
                  <a:spcPct val="50000"/>
                </a:spcBef>
                <a:buClrTx/>
                <a:buSzTx/>
                <a:buFontTx/>
                <a:buNone/>
              </a:pPr>
              <a:r>
                <a:rPr lang="zh-CN" altLang="en-US" sz="2400" dirty="0">
                  <a:latin typeface="Consolas" panose="020B0609020204030204" pitchFamily="49" charset="0"/>
                  <a:ea typeface="宋体" pitchFamily="2" charset="-122"/>
                </a:rPr>
                <a:t>编译器不以</a:t>
              </a:r>
              <a:r>
                <a:rPr lang="zh-CN" altLang="en-US" sz="2400" dirty="0">
                  <a:solidFill>
                    <a:srgbClr val="FF0000"/>
                  </a:solidFill>
                  <a:latin typeface="Consolas" panose="020B0609020204030204" pitchFamily="49" charset="0"/>
                  <a:ea typeface="宋体" pitchFamily="2" charset="-122"/>
                </a:rPr>
                <a:t>形参名</a:t>
              </a:r>
              <a:r>
                <a:rPr lang="zh-CN" altLang="en-US" sz="2400" dirty="0">
                  <a:latin typeface="Consolas" panose="020B0609020204030204" pitchFamily="49" charset="0"/>
                  <a:ea typeface="宋体" pitchFamily="2" charset="-122"/>
                </a:rPr>
                <a:t>来区分</a:t>
              </a:r>
              <a:endParaRPr lang="zh-CN" altLang="en-US" sz="2400" dirty="0">
                <a:latin typeface="Consolas" panose="020B0609020204030204" pitchFamily="49" charset="0"/>
                <a:ea typeface="宋体" pitchFamily="2" charset="-122"/>
              </a:endParaRPr>
            </a:p>
          </p:txBody>
        </p:sp>
        <p:grpSp>
          <p:nvGrpSpPr>
            <p:cNvPr id="73747" name="Group 1031"/>
            <p:cNvGrpSpPr/>
            <p:nvPr/>
          </p:nvGrpSpPr>
          <p:grpSpPr bwMode="auto">
            <a:xfrm>
              <a:off x="2565" y="2236"/>
              <a:ext cx="336" cy="336"/>
              <a:chOff x="2565" y="2236"/>
              <a:chExt cx="336" cy="336"/>
            </a:xfrm>
          </p:grpSpPr>
          <p:sp>
            <p:nvSpPr>
              <p:cNvPr id="73748" name="Line 1032"/>
              <p:cNvSpPr>
                <a:spLocks noChangeShapeType="1"/>
              </p:cNvSpPr>
              <p:nvPr/>
            </p:nvSpPr>
            <p:spPr bwMode="auto">
              <a:xfrm>
                <a:off x="2565" y="2236"/>
                <a:ext cx="336" cy="336"/>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3749" name="Line 1033"/>
              <p:cNvSpPr>
                <a:spLocks noChangeShapeType="1"/>
              </p:cNvSpPr>
              <p:nvPr/>
            </p:nvSpPr>
            <p:spPr bwMode="auto">
              <a:xfrm flipH="1">
                <a:off x="2565" y="2236"/>
                <a:ext cx="336" cy="336"/>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3737" name="Group 1034"/>
          <p:cNvGrpSpPr/>
          <p:nvPr/>
        </p:nvGrpSpPr>
        <p:grpSpPr bwMode="auto">
          <a:xfrm>
            <a:off x="4953000" y="2819400"/>
            <a:ext cx="3833813" cy="1790700"/>
            <a:chOff x="3120" y="2077"/>
            <a:chExt cx="2304" cy="1128"/>
          </a:xfrm>
        </p:grpSpPr>
        <p:sp>
          <p:nvSpPr>
            <p:cNvPr id="73742" name="Text Box 1035"/>
            <p:cNvSpPr txBox="1">
              <a:spLocks noChangeArrowheads="1"/>
            </p:cNvSpPr>
            <p:nvPr/>
          </p:nvSpPr>
          <p:spPr bwMode="auto">
            <a:xfrm>
              <a:off x="3120" y="2077"/>
              <a:ext cx="2256" cy="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ct val="90000"/>
                </a:lnSpc>
                <a:spcBef>
                  <a:spcPct val="50000"/>
                </a:spcBef>
                <a:buClrTx/>
                <a:buSzTx/>
                <a:buFontTx/>
                <a:buNone/>
              </a:pPr>
              <a:r>
                <a:rPr lang="en-US" altLang="zh-CN" sz="2400">
                  <a:solidFill>
                    <a:srgbClr val="FF0000"/>
                  </a:solidFill>
                  <a:latin typeface="Consolas" panose="020B0609020204030204" pitchFamily="49" charset="0"/>
                  <a:ea typeface="宋体" pitchFamily="2" charset="-122"/>
                </a:rPr>
                <a:t>int</a:t>
              </a:r>
              <a:r>
                <a:rPr lang="en-US" altLang="zh-CN" sz="2400">
                  <a:latin typeface="Consolas" panose="020B0609020204030204" pitchFamily="49" charset="0"/>
                  <a:ea typeface="宋体" pitchFamily="2" charset="-122"/>
                </a:rPr>
                <a:t> add(int x,int y);</a:t>
              </a:r>
              <a:endParaRPr lang="en-US" altLang="zh-CN" sz="2400">
                <a:latin typeface="Consolas" panose="020B0609020204030204" pitchFamily="49" charset="0"/>
                <a:ea typeface="宋体" pitchFamily="2" charset="-122"/>
              </a:endParaRPr>
            </a:p>
            <a:p>
              <a:pPr eaLnBrk="1" hangingPunct="1">
                <a:lnSpc>
                  <a:spcPct val="90000"/>
                </a:lnSpc>
                <a:spcBef>
                  <a:spcPct val="50000"/>
                </a:spcBef>
                <a:buClrTx/>
                <a:buSzTx/>
                <a:buFontTx/>
                <a:buNone/>
              </a:pPr>
              <a:r>
                <a:rPr lang="en-US" altLang="zh-CN" sz="2400">
                  <a:solidFill>
                    <a:srgbClr val="FF0000"/>
                  </a:solidFill>
                  <a:latin typeface="Consolas" panose="020B0609020204030204" pitchFamily="49" charset="0"/>
                  <a:ea typeface="宋体" pitchFamily="2" charset="-122"/>
                </a:rPr>
                <a:t>void </a:t>
              </a:r>
              <a:r>
                <a:rPr lang="en-US" altLang="zh-CN" sz="2400">
                  <a:latin typeface="Consolas" panose="020B0609020204030204" pitchFamily="49" charset="0"/>
                  <a:ea typeface="宋体" pitchFamily="2" charset="-122"/>
                </a:rPr>
                <a:t>add(int x,int y);</a:t>
              </a:r>
              <a:endParaRPr lang="en-US" altLang="zh-CN" sz="2400">
                <a:latin typeface="Consolas" panose="020B0609020204030204" pitchFamily="49" charset="0"/>
                <a:ea typeface="宋体" pitchFamily="2" charset="-122"/>
              </a:endParaRPr>
            </a:p>
            <a:p>
              <a:pPr eaLnBrk="1" hangingPunct="1">
                <a:lnSpc>
                  <a:spcPct val="90000"/>
                </a:lnSpc>
                <a:spcBef>
                  <a:spcPct val="50000"/>
                </a:spcBef>
                <a:buClrTx/>
                <a:buSzTx/>
                <a:buFontTx/>
                <a:buNone/>
              </a:pPr>
              <a:r>
                <a:rPr lang="zh-CN" altLang="en-US" sz="2400">
                  <a:latin typeface="Consolas" panose="020B0609020204030204" pitchFamily="49" charset="0"/>
                  <a:ea typeface="宋体" pitchFamily="2" charset="-122"/>
                </a:rPr>
                <a:t>编译器不以</a:t>
              </a:r>
              <a:r>
                <a:rPr lang="zh-CN" altLang="en-US" sz="2400">
                  <a:solidFill>
                    <a:srgbClr val="FF0000"/>
                  </a:solidFill>
                  <a:latin typeface="Consolas" panose="020B0609020204030204" pitchFamily="49" charset="0"/>
                  <a:ea typeface="宋体" pitchFamily="2" charset="-122"/>
                </a:rPr>
                <a:t>返回值</a:t>
              </a:r>
              <a:r>
                <a:rPr lang="zh-CN" altLang="en-US" sz="2400">
                  <a:latin typeface="Consolas" panose="020B0609020204030204" pitchFamily="49" charset="0"/>
                  <a:ea typeface="宋体" pitchFamily="2" charset="-122"/>
                </a:rPr>
                <a:t>来区分</a:t>
              </a:r>
              <a:endParaRPr lang="zh-CN" altLang="en-US" sz="2400">
                <a:latin typeface="Consolas" panose="020B0609020204030204" pitchFamily="49" charset="0"/>
                <a:ea typeface="宋体" pitchFamily="2" charset="-122"/>
              </a:endParaRPr>
            </a:p>
          </p:txBody>
        </p:sp>
        <p:grpSp>
          <p:nvGrpSpPr>
            <p:cNvPr id="73743" name="Group 1036"/>
            <p:cNvGrpSpPr/>
            <p:nvPr/>
          </p:nvGrpSpPr>
          <p:grpSpPr bwMode="auto">
            <a:xfrm>
              <a:off x="5088" y="2291"/>
              <a:ext cx="336" cy="336"/>
              <a:chOff x="5088" y="2291"/>
              <a:chExt cx="336" cy="336"/>
            </a:xfrm>
          </p:grpSpPr>
          <p:sp>
            <p:nvSpPr>
              <p:cNvPr id="73744" name="Line 1037"/>
              <p:cNvSpPr>
                <a:spLocks noChangeShapeType="1"/>
              </p:cNvSpPr>
              <p:nvPr/>
            </p:nvSpPr>
            <p:spPr bwMode="auto">
              <a:xfrm>
                <a:off x="5088" y="2291"/>
                <a:ext cx="336" cy="336"/>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3745" name="Line 1038"/>
              <p:cNvSpPr>
                <a:spLocks noChangeShapeType="1"/>
              </p:cNvSpPr>
              <p:nvPr/>
            </p:nvSpPr>
            <p:spPr bwMode="auto">
              <a:xfrm flipH="1">
                <a:off x="5088" y="2291"/>
                <a:ext cx="336" cy="336"/>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2" name="图片 1"/>
          <p:cNvPicPr>
            <a:picLocks noChangeAspect="1"/>
          </p:cNvPicPr>
          <p:nvPr/>
        </p:nvPicPr>
        <p:blipFill>
          <a:blip r:embed="rId1"/>
          <a:stretch>
            <a:fillRect/>
          </a:stretch>
        </p:blipFill>
        <p:spPr>
          <a:xfrm>
            <a:off x="1040599" y="5586267"/>
            <a:ext cx="2882119" cy="1067044"/>
          </a:xfrm>
          <a:prstGeom prst="roundRect">
            <a:avLst>
              <a:gd name="adj" fmla="val 2231"/>
            </a:avLst>
          </a:prstGeom>
          <a:solidFill>
            <a:srgbClr val="FFFFFF">
              <a:shade val="85000"/>
            </a:srgbClr>
          </a:solidFill>
          <a:ln>
            <a:noFill/>
          </a:ln>
          <a:effectLst/>
        </p:spPr>
      </p:pic>
      <p:pic>
        <p:nvPicPr>
          <p:cNvPr id="3" name="图片 2"/>
          <p:cNvPicPr>
            <a:picLocks noChangeAspect="1"/>
          </p:cNvPicPr>
          <p:nvPr/>
        </p:nvPicPr>
        <p:blipFill>
          <a:blip r:embed="rId2"/>
          <a:stretch>
            <a:fillRect/>
          </a:stretch>
        </p:blipFill>
        <p:spPr>
          <a:xfrm>
            <a:off x="5036563" y="5560547"/>
            <a:ext cx="3470701" cy="1067044"/>
          </a:xfrm>
          <a:prstGeom prst="roundRect">
            <a:avLst>
              <a:gd name="adj" fmla="val 2231"/>
            </a:avLst>
          </a:prstGeom>
          <a:solidFill>
            <a:srgbClr val="FFFFFF">
              <a:shade val="85000"/>
            </a:srgbClr>
          </a:solidFill>
          <a:ln>
            <a:noFill/>
          </a:ln>
          <a:effectLst/>
        </p:spPr>
      </p:pic>
      <p:sp>
        <p:nvSpPr>
          <p:cNvPr id="4" name="矩形 3"/>
          <p:cNvSpPr/>
          <p:nvPr/>
        </p:nvSpPr>
        <p:spPr>
          <a:xfrm>
            <a:off x="1040599" y="3789040"/>
            <a:ext cx="7466665" cy="54483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xfrm>
            <a:off x="432000" y="432000"/>
            <a:ext cx="8230387" cy="899650"/>
          </a:xfrm>
        </p:spPr>
        <p:txBody>
          <a:bodyPr/>
          <a:lstStyle/>
          <a:p>
            <a:pPr eaLnBrk="1" fontAlgn="auto" hangingPunct="1">
              <a:spcAft>
                <a:spcPts val="0"/>
              </a:spcAft>
              <a:defRPr/>
            </a:pPr>
            <a:r>
              <a:rPr lang="en-US" altLang="zh-CN" dirty="0"/>
              <a:t>2</a:t>
            </a:r>
            <a:r>
              <a:rPr lang="zh-CN" altLang="en-US" dirty="0"/>
              <a:t>）带</a:t>
            </a:r>
            <a:r>
              <a:rPr lang="zh-CN" altLang="en-US" dirty="0">
                <a:solidFill>
                  <a:srgbClr val="0070C0"/>
                </a:solidFill>
              </a:rPr>
              <a:t>默认参数值</a:t>
            </a:r>
            <a:r>
              <a:rPr lang="zh-CN" altLang="en-US" dirty="0"/>
              <a:t>的函数</a:t>
            </a:r>
            <a:endParaRPr lang="zh-CN" altLang="en-US" dirty="0"/>
          </a:p>
        </p:txBody>
      </p:sp>
      <p:sp>
        <p:nvSpPr>
          <p:cNvPr id="67586" name="内容占位符 2"/>
          <p:cNvSpPr>
            <a:spLocks noGrp="1"/>
          </p:cNvSpPr>
          <p:nvPr>
            <p:ph idx="1"/>
          </p:nvPr>
        </p:nvSpPr>
        <p:spPr>
          <a:xfrm>
            <a:off x="685800" y="1700808"/>
            <a:ext cx="7772400" cy="4176464"/>
          </a:xfrm>
        </p:spPr>
        <p:txBody>
          <a:bodyPr/>
          <a:lstStyle/>
          <a:p>
            <a:pPr eaLnBrk="1" hangingPunct="1">
              <a:lnSpc>
                <a:spcPct val="95000"/>
              </a:lnSpc>
              <a:spcBef>
                <a:spcPct val="5000"/>
              </a:spcBef>
            </a:pPr>
            <a:r>
              <a:rPr lang="zh-CN" altLang="en-US" dirty="0">
                <a:latin typeface="Consolas" panose="020B0609020204030204" pitchFamily="49" charset="0"/>
              </a:rPr>
              <a:t>函数在声明时可以</a:t>
            </a:r>
            <a:r>
              <a:rPr lang="zh-CN" altLang="en-US" dirty="0">
                <a:solidFill>
                  <a:srgbClr val="0070C0"/>
                </a:solidFill>
                <a:latin typeface="Consolas" panose="020B0609020204030204" pitchFamily="49" charset="0"/>
              </a:rPr>
              <a:t>预先给出默认的形参值</a:t>
            </a:r>
            <a:r>
              <a:rPr lang="zh-CN" altLang="en-US" dirty="0">
                <a:latin typeface="Consolas" panose="020B0609020204030204" pitchFamily="49" charset="0"/>
              </a:rPr>
              <a:t>，调用时如给出实参，则采用实参值，否则采用预先给出的默认参数值。</a:t>
            </a:r>
            <a:endParaRPr lang="zh-CN" altLang="en-US" dirty="0">
              <a:latin typeface="Consolas" panose="020B0609020204030204" pitchFamily="49" charset="0"/>
            </a:endParaRPr>
          </a:p>
          <a:p>
            <a:pPr lvl="1" eaLnBrk="1" hangingPunct="1">
              <a:lnSpc>
                <a:spcPct val="95000"/>
              </a:lnSpc>
              <a:spcBef>
                <a:spcPct val="5000"/>
              </a:spcBef>
            </a:pPr>
            <a:r>
              <a:rPr lang="zh-CN" altLang="en-US" dirty="0">
                <a:latin typeface="Consolas" panose="020B0609020204030204" pitchFamily="49" charset="0"/>
              </a:rPr>
              <a:t>例如：</a:t>
            </a:r>
            <a:endParaRPr lang="zh-CN" altLang="en-US" dirty="0">
              <a:latin typeface="Consolas" panose="020B0609020204030204" pitchFamily="49" charset="0"/>
            </a:endParaRPr>
          </a:p>
        </p:txBody>
      </p:sp>
      <p:sp>
        <p:nvSpPr>
          <p:cNvPr id="6758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503050405090304" pitchFamily="18" charset="0"/>
              <a:ea typeface="隶书" panose="02010509060101010101" pitchFamily="49" charset="-122"/>
            </a:endParaRPr>
          </a:p>
        </p:txBody>
      </p:sp>
      <p:pic>
        <p:nvPicPr>
          <p:cNvPr id="2" name="图片 1"/>
          <p:cNvPicPr>
            <a:picLocks noChangeAspect="1"/>
          </p:cNvPicPr>
          <p:nvPr/>
        </p:nvPicPr>
        <p:blipFill>
          <a:blip r:embed="rId1"/>
          <a:stretch>
            <a:fillRect/>
          </a:stretch>
        </p:blipFill>
        <p:spPr>
          <a:xfrm>
            <a:off x="2987824" y="3305175"/>
            <a:ext cx="4124325" cy="3171825"/>
          </a:xfrm>
          <a:prstGeom prst="roundRect">
            <a:avLst>
              <a:gd name="adj" fmla="val 2231"/>
            </a:avLst>
          </a:prstGeom>
          <a:solidFill>
            <a:srgbClr val="FFFFFF">
              <a:shade val="85000"/>
            </a:srgbClr>
          </a:solidFill>
          <a:ln>
            <a:noFill/>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xfrm>
            <a:off x="457200" y="535781"/>
            <a:ext cx="8229600" cy="1143000"/>
          </a:xfrm>
        </p:spPr>
        <p:txBody>
          <a:bodyPr/>
          <a:lstStyle/>
          <a:p>
            <a:pPr marL="571500" indent="-571500" eaLnBrk="1" fontAlgn="auto" hangingPunct="1">
              <a:spcAft>
                <a:spcPts val="0"/>
              </a:spcAft>
              <a:buFont typeface="Wingdings" panose="05000000000000000000" pitchFamily="2" charset="2"/>
              <a:buChar char="p"/>
              <a:defRPr/>
            </a:pPr>
            <a:r>
              <a:rPr lang="zh-CN" altLang="en-US" sz="3200" dirty="0"/>
              <a:t>默认参数值的说明</a:t>
            </a:r>
            <a:r>
              <a:rPr lang="zh-CN" altLang="en-US" sz="3200" dirty="0">
                <a:solidFill>
                  <a:srgbClr val="0070C0"/>
                </a:solidFill>
              </a:rPr>
              <a:t>次序</a:t>
            </a:r>
            <a:endParaRPr lang="zh-CN" altLang="en-US" sz="3200" dirty="0">
              <a:solidFill>
                <a:srgbClr val="0070C0"/>
              </a:solidFill>
            </a:endParaRPr>
          </a:p>
        </p:txBody>
      </p:sp>
      <p:sp>
        <p:nvSpPr>
          <p:cNvPr id="68610" name="内容占位符 2"/>
          <p:cNvSpPr>
            <a:spLocks noGrp="1"/>
          </p:cNvSpPr>
          <p:nvPr>
            <p:ph idx="1"/>
          </p:nvPr>
        </p:nvSpPr>
        <p:spPr>
          <a:xfrm>
            <a:off x="300037" y="1689100"/>
            <a:ext cx="8543925" cy="4787900"/>
          </a:xfrm>
        </p:spPr>
        <p:txBody>
          <a:bodyPr/>
          <a:lstStyle/>
          <a:p>
            <a:pPr eaLnBrk="1" hangingPunct="1"/>
            <a:r>
              <a:rPr lang="zh-CN" altLang="en-US" dirty="0">
                <a:latin typeface="Consolas" panose="020B0609020204030204" pitchFamily="49" charset="0"/>
              </a:rPr>
              <a:t>有默认参数的形参</a:t>
            </a:r>
            <a:r>
              <a:rPr lang="zh-CN" altLang="en-US" dirty="0">
                <a:solidFill>
                  <a:srgbClr val="0070C0"/>
                </a:solidFill>
                <a:latin typeface="Consolas" panose="020B0609020204030204" pitchFamily="49" charset="0"/>
              </a:rPr>
              <a:t>必须在形参列表的</a:t>
            </a:r>
            <a:r>
              <a:rPr lang="zh-CN" altLang="en-US" dirty="0">
                <a:solidFill>
                  <a:schemeClr val="bg1"/>
                </a:solidFill>
                <a:highlight>
                  <a:srgbClr val="000080"/>
                </a:highlight>
                <a:latin typeface="Consolas" panose="020B0609020204030204" pitchFamily="49" charset="0"/>
              </a:rPr>
              <a:t>最后</a:t>
            </a:r>
            <a:r>
              <a:rPr lang="zh-CN" altLang="en-US" dirty="0">
                <a:latin typeface="Consolas" panose="020B0609020204030204" pitchFamily="49" charset="0"/>
              </a:rPr>
              <a:t>，也就是说默认参数值的 </a:t>
            </a:r>
            <a:r>
              <a:rPr lang="en-US" altLang="zh-CN" dirty="0">
                <a:solidFill>
                  <a:srgbClr val="C00000"/>
                </a:solidFill>
                <a:latin typeface="Consolas" panose="020B0609020204030204" pitchFamily="49" charset="0"/>
              </a:rPr>
              <a:t>#</a:t>
            </a:r>
            <a:r>
              <a:rPr lang="zh-CN" altLang="en-US" dirty="0">
                <a:solidFill>
                  <a:srgbClr val="C00000"/>
                </a:solidFill>
                <a:latin typeface="Consolas" panose="020B0609020204030204" pitchFamily="49" charset="0"/>
              </a:rPr>
              <a:t>右面不能有</a:t>
            </a:r>
            <a:r>
              <a:rPr lang="en-US" altLang="zh-CN" dirty="0">
                <a:solidFill>
                  <a:srgbClr val="C00000"/>
                </a:solidFill>
                <a:latin typeface="Consolas" panose="020B0609020204030204" pitchFamily="49" charset="0"/>
              </a:rPr>
              <a:t># </a:t>
            </a:r>
            <a:r>
              <a:rPr lang="zh-CN" altLang="en-US" dirty="0">
                <a:latin typeface="Consolas" panose="020B0609020204030204" pitchFamily="49" charset="0"/>
              </a:rPr>
              <a:t>无默认值的参数。</a:t>
            </a:r>
            <a:endParaRPr lang="zh-CN" altLang="en-US" dirty="0">
              <a:latin typeface="Consolas" panose="020B0609020204030204" pitchFamily="49" charset="0"/>
            </a:endParaRPr>
          </a:p>
          <a:p>
            <a:pPr marL="109220" indent="0" eaLnBrk="1" hangingPunct="1">
              <a:buNone/>
            </a:pPr>
            <a:r>
              <a:rPr lang="en-US" altLang="zh-CN" dirty="0">
                <a:latin typeface="Consolas" panose="020B0609020204030204" pitchFamily="49" charset="0"/>
              </a:rPr>
              <a:t>  </a:t>
            </a:r>
            <a:r>
              <a:rPr lang="zh-CN" altLang="en-US" dirty="0">
                <a:latin typeface="Consolas" panose="020B0609020204030204" pitchFamily="49" charset="0"/>
              </a:rPr>
              <a:t>例：</a:t>
            </a:r>
            <a:endParaRPr lang="zh-CN" altLang="en-US" dirty="0">
              <a:latin typeface="Consolas" panose="020B0609020204030204" pitchFamily="49" charset="0"/>
            </a:endParaRPr>
          </a:p>
          <a:p>
            <a:pPr lvl="1" eaLnBrk="1" hangingPunct="1">
              <a:buFontTx/>
              <a:buNone/>
            </a:pPr>
            <a:r>
              <a:rPr lang="en-US" altLang="zh-CN" dirty="0">
                <a:latin typeface="Consolas" panose="020B0609020204030204" pitchFamily="49" charset="0"/>
              </a:rPr>
              <a:t>int add(int x, int y = 5, int z = 6);//</a:t>
            </a:r>
            <a:r>
              <a:rPr lang="zh-CN" altLang="en-US" dirty="0">
                <a:latin typeface="Consolas" panose="020B0609020204030204" pitchFamily="49" charset="0"/>
              </a:rPr>
              <a:t>正确</a:t>
            </a:r>
            <a:endParaRPr lang="zh-CN" altLang="en-US" dirty="0">
              <a:latin typeface="Consolas" panose="020B0609020204030204" pitchFamily="49" charset="0"/>
            </a:endParaRPr>
          </a:p>
          <a:p>
            <a:pPr lvl="1" eaLnBrk="1" hangingPunct="1">
              <a:buFontTx/>
              <a:buNone/>
            </a:pPr>
            <a:r>
              <a:rPr lang="en-US" altLang="zh-CN" dirty="0">
                <a:latin typeface="Consolas" panose="020B0609020204030204" pitchFamily="49" charset="0"/>
              </a:rPr>
              <a:t>int add(int x = 1, int y = 5, </a:t>
            </a:r>
            <a:r>
              <a:rPr lang="en-US" altLang="zh-CN" dirty="0">
                <a:solidFill>
                  <a:srgbClr val="C00000"/>
                </a:solidFill>
                <a:latin typeface="Consolas" panose="020B0609020204030204" pitchFamily="49" charset="0"/>
              </a:rPr>
              <a:t>int z</a:t>
            </a:r>
            <a:r>
              <a:rPr lang="en-US" altLang="zh-CN" dirty="0">
                <a:latin typeface="Consolas" panose="020B0609020204030204" pitchFamily="49" charset="0"/>
              </a:rPr>
              <a:t>);//</a:t>
            </a:r>
            <a:r>
              <a:rPr lang="zh-CN" altLang="zh-CN" dirty="0">
                <a:solidFill>
                  <a:srgbClr val="FF0000"/>
                </a:solidFill>
                <a:latin typeface="Consolas" panose="020B0609020204030204" pitchFamily="49" charset="0"/>
              </a:rPr>
              <a:t>错误</a:t>
            </a:r>
            <a:endParaRPr lang="zh-CN" altLang="zh-CN" dirty="0">
              <a:solidFill>
                <a:srgbClr val="FF0000"/>
              </a:solidFill>
              <a:latin typeface="Consolas" panose="020B0609020204030204" pitchFamily="49" charset="0"/>
            </a:endParaRPr>
          </a:p>
          <a:p>
            <a:pPr lvl="1" eaLnBrk="1" hangingPunct="1">
              <a:buFontTx/>
              <a:buNone/>
            </a:pPr>
            <a:r>
              <a:rPr lang="en-US" altLang="zh-CN" dirty="0">
                <a:latin typeface="Consolas" panose="020B0609020204030204" pitchFamily="49" charset="0"/>
              </a:rPr>
              <a:t>int add(int x = 1, </a:t>
            </a:r>
            <a:r>
              <a:rPr lang="en-US" altLang="zh-CN" dirty="0">
                <a:solidFill>
                  <a:srgbClr val="C00000"/>
                </a:solidFill>
                <a:latin typeface="Consolas" panose="020B0609020204030204" pitchFamily="49" charset="0"/>
              </a:rPr>
              <a:t>int y</a:t>
            </a:r>
            <a:r>
              <a:rPr lang="en-US" altLang="zh-CN" dirty="0">
                <a:latin typeface="Consolas" panose="020B0609020204030204" pitchFamily="49" charset="0"/>
              </a:rPr>
              <a:t>, int z = 6);//</a:t>
            </a:r>
            <a:r>
              <a:rPr lang="zh-CN" altLang="zh-CN" dirty="0">
                <a:solidFill>
                  <a:srgbClr val="FF0000"/>
                </a:solidFill>
                <a:latin typeface="Consolas" panose="020B0609020204030204" pitchFamily="49" charset="0"/>
              </a:rPr>
              <a:t>错误</a:t>
            </a:r>
            <a:endParaRPr lang="zh-CN" altLang="en-US" dirty="0">
              <a:solidFill>
                <a:srgbClr val="FF0000"/>
              </a:solidFill>
              <a:latin typeface="Consolas" panose="020B0609020204030204" pitchFamily="49" charset="0"/>
            </a:endParaRPr>
          </a:p>
        </p:txBody>
      </p:sp>
      <p:sp>
        <p:nvSpPr>
          <p:cNvPr id="6861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503050405090304" pitchFamily="18" charset="0"/>
              <a:ea typeface="隶书" panose="020105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xfrm>
            <a:off x="432000" y="432000"/>
            <a:ext cx="8230387" cy="899650"/>
          </a:xfrm>
        </p:spPr>
        <p:txBody>
          <a:bodyPr/>
          <a:lstStyle/>
          <a:p>
            <a:pPr marL="571500" indent="-571500" eaLnBrk="1" fontAlgn="auto" hangingPunct="1">
              <a:spcAft>
                <a:spcPts val="0"/>
              </a:spcAft>
              <a:buFont typeface="Wingdings" panose="05000000000000000000" pitchFamily="2" charset="2"/>
              <a:buChar char="p"/>
              <a:defRPr/>
            </a:pPr>
            <a:r>
              <a:rPr lang="zh-CN" altLang="en-US" sz="3200" dirty="0"/>
              <a:t>默认参数值与函数的</a:t>
            </a:r>
            <a:r>
              <a:rPr lang="zh-CN" altLang="en-US" sz="3200" dirty="0">
                <a:solidFill>
                  <a:srgbClr val="0070C0"/>
                </a:solidFill>
              </a:rPr>
              <a:t>调用位置</a:t>
            </a:r>
            <a:endParaRPr lang="zh-CN" altLang="en-US" sz="3200" dirty="0">
              <a:solidFill>
                <a:srgbClr val="0070C0"/>
              </a:solidFill>
            </a:endParaRPr>
          </a:p>
        </p:txBody>
      </p:sp>
      <p:sp>
        <p:nvSpPr>
          <p:cNvPr id="69634" name="内容占位符 2"/>
          <p:cNvSpPr>
            <a:spLocks noGrp="1"/>
          </p:cNvSpPr>
          <p:nvPr>
            <p:ph idx="1"/>
          </p:nvPr>
        </p:nvSpPr>
        <p:spPr>
          <a:xfrm>
            <a:off x="428487" y="1496963"/>
            <a:ext cx="8585199" cy="2214562"/>
          </a:xfrm>
        </p:spPr>
        <p:txBody>
          <a:bodyPr/>
          <a:lstStyle/>
          <a:p>
            <a:pPr eaLnBrk="1" hangingPunct="1"/>
            <a:r>
              <a:rPr lang="en-US" altLang="zh-CN" sz="2600" dirty="0"/>
              <a:t>1</a:t>
            </a:r>
            <a:r>
              <a:rPr lang="zh-CN" altLang="en-US" sz="2600" dirty="0"/>
              <a:t>）如果一个函数有原型声明，且原型声明在定义之前，则默认参数值必须在函数</a:t>
            </a:r>
            <a:r>
              <a:rPr lang="zh-CN" altLang="en-US" sz="2600" dirty="0">
                <a:solidFill>
                  <a:srgbClr val="C00000"/>
                </a:solidFill>
              </a:rPr>
              <a:t>原型声明中给出</a:t>
            </a:r>
            <a:r>
              <a:rPr lang="zh-CN" altLang="en-US" sz="2600" dirty="0"/>
              <a:t>；</a:t>
            </a:r>
            <a:endParaRPr lang="en-US" altLang="zh-CN" sz="2600" dirty="0"/>
          </a:p>
          <a:p>
            <a:pPr eaLnBrk="1" hangingPunct="1"/>
            <a:r>
              <a:rPr lang="en-US" altLang="zh-CN" sz="2600" dirty="0"/>
              <a:t>2</a:t>
            </a:r>
            <a:r>
              <a:rPr lang="zh-CN" altLang="en-US" sz="2600" dirty="0"/>
              <a:t>）如果只有函数的定义，则默认参数值需在函数定义中给出。</a:t>
            </a:r>
            <a:endParaRPr lang="zh-CN" altLang="en-US" sz="2600" dirty="0"/>
          </a:p>
        </p:txBody>
      </p:sp>
      <p:sp>
        <p:nvSpPr>
          <p:cNvPr id="69635" name="灯片编号占位符 3"/>
          <p:cNvSpPr>
            <a:spLocks noGrp="1"/>
          </p:cNvSpPr>
          <p:nvPr>
            <p:ph type="sldNum" sz="quarter" idx="12"/>
          </p:nvPr>
        </p:nvSpPr>
        <p:spPr bwMode="auto">
          <a:xfrm>
            <a:off x="8647113" y="6520259"/>
            <a:ext cx="3667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fld id="{2A366BE5-EEEB-4814-AAB0-57C414343E39}" type="slidenum">
              <a:rPr lang="en-US" altLang="zh-CN" sz="1000">
                <a:latin typeface="Times New Roman" panose="02020503050405090304" pitchFamily="18" charset="0"/>
                <a:ea typeface="隶书" panose="02010509060101010101" pitchFamily="49" charset="-122"/>
              </a:rPr>
            </a:fld>
            <a:endParaRPr lang="en-US" altLang="zh-CN" sz="1000">
              <a:latin typeface="Times New Roman" panose="02020503050405090304" pitchFamily="18" charset="0"/>
              <a:ea typeface="隶书" panose="02010509060101010101" pitchFamily="49" charset="-122"/>
            </a:endParaRPr>
          </a:p>
        </p:txBody>
      </p:sp>
      <p:sp>
        <p:nvSpPr>
          <p:cNvPr id="5" name="标题 4"/>
          <p:cNvSpPr txBox="1"/>
          <p:nvPr/>
        </p:nvSpPr>
        <p:spPr>
          <a:xfrm>
            <a:off x="214313" y="0"/>
            <a:ext cx="5214937" cy="428625"/>
          </a:xfrm>
          <a:prstGeom prst="rect">
            <a:avLst/>
          </a:prstGeom>
        </p:spPr>
        <p:txBody>
          <a:bodyPr anchor="ctr">
            <a:normAutofit fontScale="92500" lnSpcReduction="20000"/>
          </a:bodyPr>
          <a:lstStyle/>
          <a:p>
            <a:pPr fontAlgn="auto">
              <a:spcAft>
                <a:spcPts val="0"/>
              </a:spcAft>
              <a:defRPr/>
            </a:pPr>
            <a:r>
              <a:rPr kumimoji="0" lang="en-US" altLang="zh-CN" sz="2800">
                <a:solidFill>
                  <a:schemeClr val="bg1"/>
                </a:solidFill>
                <a:latin typeface="+mj-lt"/>
                <a:ea typeface="+mj-ea"/>
                <a:cs typeface="+mj-cs"/>
              </a:rPr>
              <a:t>3.3 </a:t>
            </a:r>
            <a:r>
              <a:rPr kumimoji="0" lang="zh-CN" altLang="en-US" sz="2800">
                <a:solidFill>
                  <a:schemeClr val="bg1"/>
                </a:solidFill>
                <a:latin typeface="+mj-lt"/>
                <a:ea typeface="+mj-ea"/>
                <a:cs typeface="+mj-cs"/>
              </a:rPr>
              <a:t>带默认参数值</a:t>
            </a:r>
            <a:r>
              <a:rPr kumimoji="0" lang="zh-CN" altLang="en-US" sz="2800" dirty="0">
                <a:solidFill>
                  <a:schemeClr val="bg1"/>
                </a:solidFill>
                <a:latin typeface="+mj-lt"/>
                <a:ea typeface="+mj-ea"/>
                <a:cs typeface="+mj-cs"/>
              </a:rPr>
              <a:t>的函数</a:t>
            </a:r>
            <a:endParaRPr kumimoji="0" lang="zh-CN" altLang="en-US" sz="2800" dirty="0">
              <a:solidFill>
                <a:schemeClr val="bg1"/>
              </a:solidFill>
              <a:latin typeface="+mj-lt"/>
              <a:ea typeface="+mj-ea"/>
              <a:cs typeface="+mj-cs"/>
            </a:endParaRPr>
          </a:p>
        </p:txBody>
      </p:sp>
      <p:sp>
        <p:nvSpPr>
          <p:cNvPr id="69638" name="Text Box 5"/>
          <p:cNvSpPr txBox="1">
            <a:spLocks noChangeArrowheads="1"/>
          </p:cNvSpPr>
          <p:nvPr/>
        </p:nvSpPr>
        <p:spPr bwMode="auto">
          <a:xfrm>
            <a:off x="4922170" y="3358498"/>
            <a:ext cx="3810000" cy="3305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algn="l" eaLnBrk="1" hangingPunct="1">
              <a:lnSpc>
                <a:spcPct val="90000"/>
              </a:lnSpc>
              <a:spcBef>
                <a:spcPct val="50000"/>
              </a:spcBef>
              <a:buClrTx/>
              <a:buSzTx/>
              <a:buFontTx/>
              <a:buNone/>
            </a:pPr>
            <a:r>
              <a:rPr lang="en-US" altLang="zh-CN" sz="1800" dirty="0">
                <a:solidFill>
                  <a:srgbClr val="C00000"/>
                </a:solidFill>
                <a:latin typeface="Consolas" panose="020B0609020204030204" pitchFamily="49" charset="0"/>
                <a:ea typeface="宋体" pitchFamily="2" charset="-122"/>
              </a:rPr>
              <a:t>int add(int x = 5, </a:t>
            </a:r>
            <a:r>
              <a:rPr lang="en-US" altLang="zh-CN" sz="1800" dirty="0" err="1">
                <a:solidFill>
                  <a:srgbClr val="C00000"/>
                </a:solidFill>
                <a:latin typeface="Consolas" panose="020B0609020204030204" pitchFamily="49" charset="0"/>
                <a:ea typeface="宋体" pitchFamily="2" charset="-122"/>
              </a:rPr>
              <a:t>int</a:t>
            </a:r>
            <a:r>
              <a:rPr lang="en-US" altLang="zh-CN" sz="1800" dirty="0">
                <a:solidFill>
                  <a:srgbClr val="C00000"/>
                </a:solidFill>
                <a:latin typeface="Consolas" panose="020B0609020204030204" pitchFamily="49" charset="0"/>
                <a:ea typeface="宋体" pitchFamily="2" charset="-122"/>
              </a:rPr>
              <a:t> y = 6) {</a:t>
            </a:r>
            <a:endParaRPr lang="en-US" altLang="zh-CN" sz="1800" dirty="0">
              <a:solidFill>
                <a:srgbClr val="C00000"/>
              </a:solidFill>
              <a:latin typeface="Consolas" panose="020B0609020204030204" pitchFamily="49" charset="0"/>
              <a:ea typeface="宋体" pitchFamily="2" charset="-122"/>
            </a:endParaRPr>
          </a:p>
          <a:p>
            <a:pPr algn="l" eaLnBrk="1" hangingPunct="1">
              <a:lnSpc>
                <a:spcPct val="90000"/>
              </a:lnSpc>
              <a:spcBef>
                <a:spcPct val="50000"/>
              </a:spcBef>
              <a:buClrTx/>
              <a:buSzTx/>
              <a:buFontTx/>
              <a:buNone/>
            </a:pPr>
            <a:r>
              <a:rPr lang="en-US" altLang="zh-CN" sz="1800" dirty="0">
                <a:solidFill>
                  <a:srgbClr val="C00000"/>
                </a:solidFill>
                <a:latin typeface="Consolas" panose="020B0609020204030204" pitchFamily="49" charset="0"/>
                <a:ea typeface="宋体" pitchFamily="2" charset="-122"/>
              </a:rPr>
              <a:t>//</a:t>
            </a:r>
            <a:r>
              <a:rPr lang="zh-CN" altLang="en-US" sz="1800" dirty="0">
                <a:solidFill>
                  <a:srgbClr val="C00000"/>
                </a:solidFill>
                <a:latin typeface="Consolas" panose="020B0609020204030204" pitchFamily="49" charset="0"/>
                <a:ea typeface="宋体" pitchFamily="2" charset="-122"/>
              </a:rPr>
              <a:t>只有定义，没有原型声明</a:t>
            </a:r>
            <a:endParaRPr lang="en-US" altLang="zh-CN" sz="1800" dirty="0">
              <a:solidFill>
                <a:srgbClr val="C00000"/>
              </a:solidFill>
              <a:latin typeface="Consolas" panose="020B0609020204030204" pitchFamily="49" charset="0"/>
              <a:ea typeface="宋体"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itchFamily="2" charset="-122"/>
              </a:rPr>
              <a:t>  return  x + y;</a:t>
            </a:r>
            <a:endParaRPr lang="en-US" altLang="zh-CN" sz="1800" dirty="0">
              <a:latin typeface="Consolas" panose="020B0609020204030204" pitchFamily="49" charset="0"/>
              <a:ea typeface="宋体"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itchFamily="2" charset="-122"/>
              </a:rPr>
              <a:t>}</a:t>
            </a:r>
            <a:endParaRPr lang="en-US" altLang="zh-CN" sz="1800" dirty="0">
              <a:latin typeface="Consolas" panose="020B0609020204030204" pitchFamily="49" charset="0"/>
              <a:ea typeface="宋体"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itchFamily="2" charset="-122"/>
              </a:rPr>
              <a:t>int main() {</a:t>
            </a:r>
            <a:endParaRPr lang="en-US" altLang="zh-CN" sz="1800" dirty="0">
              <a:latin typeface="Consolas" panose="020B0609020204030204" pitchFamily="49" charset="0"/>
              <a:ea typeface="宋体"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itchFamily="2" charset="-122"/>
              </a:rPr>
              <a:t>  add();</a:t>
            </a:r>
            <a:endParaRPr lang="en-US" altLang="zh-CN" sz="1800" dirty="0">
              <a:latin typeface="Consolas" panose="020B0609020204030204" pitchFamily="49" charset="0"/>
              <a:ea typeface="宋体"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itchFamily="2" charset="-122"/>
              </a:rPr>
              <a:t>  return 0;</a:t>
            </a:r>
            <a:endParaRPr lang="zh-CN" altLang="en-US" sz="1800" dirty="0">
              <a:latin typeface="Consolas" panose="020B0609020204030204" pitchFamily="49" charset="0"/>
              <a:ea typeface="宋体"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itchFamily="2" charset="-122"/>
              </a:rPr>
              <a:t>}</a:t>
            </a:r>
            <a:endParaRPr lang="en-US" altLang="zh-CN" sz="1800" dirty="0">
              <a:latin typeface="Consolas" panose="020B0609020204030204" pitchFamily="49" charset="0"/>
              <a:ea typeface="宋体" pitchFamily="2" charset="-122"/>
            </a:endParaRPr>
          </a:p>
        </p:txBody>
      </p:sp>
      <p:sp>
        <p:nvSpPr>
          <p:cNvPr id="69639" name="Line 7"/>
          <p:cNvSpPr>
            <a:spLocks noChangeShapeType="1"/>
          </p:cNvSpPr>
          <p:nvPr/>
        </p:nvSpPr>
        <p:spPr bwMode="auto">
          <a:xfrm>
            <a:off x="4788024" y="3252489"/>
            <a:ext cx="0" cy="3267770"/>
          </a:xfrm>
          <a:prstGeom prst="line">
            <a:avLst/>
          </a:prstGeom>
          <a:noFill/>
          <a:ln w="28575">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640" name="Text Box 4"/>
          <p:cNvSpPr txBox="1">
            <a:spLocks noChangeArrowheads="1"/>
          </p:cNvSpPr>
          <p:nvPr/>
        </p:nvSpPr>
        <p:spPr bwMode="auto">
          <a:xfrm>
            <a:off x="940593" y="3425001"/>
            <a:ext cx="3762375" cy="327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algn="l" eaLnBrk="1" hangingPunct="1">
              <a:lnSpc>
                <a:spcPct val="70000"/>
              </a:lnSpc>
              <a:spcBef>
                <a:spcPct val="50000"/>
              </a:spcBef>
              <a:buClrTx/>
              <a:buSzTx/>
              <a:buFontTx/>
              <a:buNone/>
            </a:pPr>
            <a:r>
              <a:rPr lang="en-US" altLang="zh-CN" sz="1800" dirty="0">
                <a:solidFill>
                  <a:srgbClr val="0070C0"/>
                </a:solidFill>
                <a:latin typeface="Consolas" panose="020B0609020204030204" pitchFamily="49" charset="0"/>
                <a:ea typeface="宋体" pitchFamily="2" charset="-122"/>
              </a:rPr>
              <a:t>int add(int x = 5,int y = 6);</a:t>
            </a:r>
            <a:endParaRPr lang="en-US" altLang="zh-CN" sz="1800" dirty="0">
              <a:solidFill>
                <a:srgbClr val="0070C0"/>
              </a:solidFill>
              <a:latin typeface="Consolas" panose="020B0609020204030204" pitchFamily="49" charset="0"/>
              <a:ea typeface="宋体" pitchFamily="2" charset="-122"/>
            </a:endParaRPr>
          </a:p>
          <a:p>
            <a:pPr algn="l" eaLnBrk="1" hangingPunct="1">
              <a:lnSpc>
                <a:spcPct val="70000"/>
              </a:lnSpc>
              <a:spcBef>
                <a:spcPct val="50000"/>
              </a:spcBef>
              <a:buClrTx/>
              <a:buSzTx/>
              <a:buFontTx/>
              <a:buNone/>
            </a:pPr>
            <a:r>
              <a:rPr lang="en-US" altLang="zh-CN" sz="1800" dirty="0">
                <a:solidFill>
                  <a:srgbClr val="C00000"/>
                </a:solidFill>
                <a:latin typeface="Consolas" panose="020B0609020204030204" pitchFamily="49" charset="0"/>
                <a:ea typeface="宋体" pitchFamily="2" charset="-122"/>
              </a:rPr>
              <a:t>//</a:t>
            </a:r>
            <a:r>
              <a:rPr lang="zh-CN" altLang="en-US" sz="1800" dirty="0">
                <a:solidFill>
                  <a:srgbClr val="C00000"/>
                </a:solidFill>
                <a:latin typeface="Consolas" panose="020B0609020204030204" pitchFamily="49" charset="0"/>
                <a:ea typeface="宋体" pitchFamily="2" charset="-122"/>
              </a:rPr>
              <a:t>原型声明在前</a:t>
            </a:r>
            <a:endParaRPr lang="en-US" altLang="zh-CN" sz="1800" dirty="0">
              <a:solidFill>
                <a:srgbClr val="C00000"/>
              </a:solidFill>
              <a:latin typeface="Consolas" panose="020B0609020204030204" pitchFamily="49" charset="0"/>
              <a:ea typeface="宋体"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itchFamily="2" charset="-122"/>
              </a:rPr>
              <a:t>int main() {</a:t>
            </a:r>
            <a:endParaRPr lang="en-US" altLang="zh-CN" sz="1800" dirty="0">
              <a:latin typeface="Consolas" panose="020B0609020204030204" pitchFamily="49" charset="0"/>
              <a:ea typeface="宋体"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itchFamily="2" charset="-122"/>
              </a:rPr>
              <a:t>  add(); </a:t>
            </a:r>
            <a:endParaRPr lang="en-US" altLang="zh-CN" sz="1800" dirty="0">
              <a:latin typeface="Consolas" panose="020B0609020204030204" pitchFamily="49" charset="0"/>
              <a:ea typeface="宋体"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itchFamily="2" charset="-122"/>
              </a:rPr>
              <a:t>  return 0;</a:t>
            </a:r>
            <a:endParaRPr lang="en-US" altLang="en-US" sz="1800" dirty="0">
              <a:latin typeface="Consolas" panose="020B0609020204030204" pitchFamily="49" charset="0"/>
              <a:ea typeface="宋体" pitchFamily="2" charset="-122"/>
            </a:endParaRPr>
          </a:p>
          <a:p>
            <a:pPr algn="l" eaLnBrk="1" hangingPunct="1">
              <a:lnSpc>
                <a:spcPct val="70000"/>
              </a:lnSpc>
              <a:spcBef>
                <a:spcPct val="50000"/>
              </a:spcBef>
              <a:buClrTx/>
              <a:buSzTx/>
              <a:buFontTx/>
              <a:buNone/>
            </a:pPr>
            <a:r>
              <a:rPr lang="en-US" altLang="en-US" sz="1800" dirty="0">
                <a:latin typeface="Consolas" panose="020B0609020204030204" pitchFamily="49" charset="0"/>
                <a:ea typeface="宋体" pitchFamily="2" charset="-122"/>
              </a:rPr>
              <a:t>}</a:t>
            </a:r>
            <a:endParaRPr lang="en-US" altLang="en-US" sz="1800" dirty="0">
              <a:latin typeface="Consolas" panose="020B0609020204030204" pitchFamily="49" charset="0"/>
              <a:ea typeface="宋体"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itchFamily="2" charset="-122"/>
              </a:rPr>
              <a:t>int </a:t>
            </a:r>
            <a:r>
              <a:rPr lang="en-US" altLang="zh-CN" sz="1800" b="1" dirty="0">
                <a:solidFill>
                  <a:srgbClr val="0070C0"/>
                </a:solidFill>
                <a:latin typeface="Consolas" panose="020B0609020204030204" pitchFamily="49" charset="0"/>
                <a:ea typeface="宋体" pitchFamily="2" charset="-122"/>
              </a:rPr>
              <a:t>add</a:t>
            </a:r>
            <a:r>
              <a:rPr lang="en-US" altLang="zh-CN" sz="1800" dirty="0">
                <a:latin typeface="Consolas" panose="020B0609020204030204" pitchFamily="49" charset="0"/>
                <a:ea typeface="宋体" pitchFamily="2" charset="-122"/>
              </a:rPr>
              <a:t>(int x, </a:t>
            </a:r>
            <a:r>
              <a:rPr lang="en-US" altLang="zh-CN" sz="1800" dirty="0" err="1">
                <a:latin typeface="Consolas" panose="020B0609020204030204" pitchFamily="49" charset="0"/>
                <a:ea typeface="宋体" pitchFamily="2" charset="-122"/>
              </a:rPr>
              <a:t>int</a:t>
            </a:r>
            <a:r>
              <a:rPr lang="en-US" altLang="zh-CN" sz="1800" dirty="0">
                <a:latin typeface="Consolas" panose="020B0609020204030204" pitchFamily="49" charset="0"/>
                <a:ea typeface="宋体" pitchFamily="2" charset="-122"/>
              </a:rPr>
              <a:t> y) {</a:t>
            </a:r>
            <a:endParaRPr lang="en-US" altLang="zh-CN" sz="1800" dirty="0">
              <a:latin typeface="Consolas" panose="020B0609020204030204" pitchFamily="49" charset="0"/>
              <a:ea typeface="宋体" pitchFamily="2" charset="-122"/>
            </a:endParaRPr>
          </a:p>
          <a:p>
            <a:pPr algn="l" eaLnBrk="1" hangingPunct="1">
              <a:lnSpc>
                <a:spcPct val="70000"/>
              </a:lnSpc>
              <a:spcBef>
                <a:spcPct val="50000"/>
              </a:spcBef>
              <a:buClrTx/>
              <a:buSzTx/>
              <a:buFontTx/>
              <a:buNone/>
            </a:pPr>
            <a:r>
              <a:rPr lang="en-US" altLang="zh-CN" sz="1800" dirty="0">
                <a:solidFill>
                  <a:srgbClr val="C00000"/>
                </a:solidFill>
                <a:latin typeface="Consolas" panose="020B0609020204030204" pitchFamily="49" charset="0"/>
                <a:ea typeface="宋体" pitchFamily="2" charset="-122"/>
              </a:rPr>
              <a:t>//</a:t>
            </a:r>
            <a:r>
              <a:rPr lang="zh-CN" altLang="en-US" sz="1800" dirty="0">
                <a:solidFill>
                  <a:srgbClr val="C00000"/>
                </a:solidFill>
                <a:latin typeface="Consolas" panose="020B0609020204030204" pitchFamily="49" charset="0"/>
                <a:ea typeface="宋体" pitchFamily="2" charset="-122"/>
              </a:rPr>
              <a:t>此处不能再指定默认值</a:t>
            </a:r>
            <a:endParaRPr lang="en-US" altLang="zh-CN" sz="1800" dirty="0">
              <a:solidFill>
                <a:srgbClr val="C00000"/>
              </a:solidFill>
              <a:latin typeface="Consolas" panose="020B0609020204030204" pitchFamily="49" charset="0"/>
              <a:ea typeface="宋体"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itchFamily="2" charset="-122"/>
              </a:rPr>
              <a:t>  return x + y;</a:t>
            </a:r>
            <a:endParaRPr lang="en-US" altLang="zh-CN" sz="1800" dirty="0">
              <a:latin typeface="Consolas" panose="020B0609020204030204" pitchFamily="49" charset="0"/>
              <a:ea typeface="宋体"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itchFamily="2" charset="-122"/>
              </a:rPr>
              <a:t>}</a:t>
            </a:r>
            <a:endParaRPr lang="en-US" altLang="zh-CN" sz="1800" dirty="0">
              <a:latin typeface="Consolas" panose="020B0609020204030204" pitchFamily="49" charset="0"/>
              <a:ea typeface="宋体"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432000" y="432000"/>
            <a:ext cx="8230387" cy="899650"/>
          </a:xfrm>
        </p:spPr>
        <p:txBody>
          <a:bodyPr/>
          <a:lstStyle/>
          <a:p>
            <a:pPr eaLnBrk="1" fontAlgn="auto" hangingPunct="1">
              <a:spcAft>
                <a:spcPts val="0"/>
              </a:spcAft>
              <a:defRPr/>
            </a:pPr>
            <a:r>
              <a:rPr lang="en-US" altLang="zh-CN" dirty="0"/>
              <a:t>3) </a:t>
            </a:r>
            <a:r>
              <a:rPr lang="zh-CN" altLang="en-US" dirty="0"/>
              <a:t>引用 </a:t>
            </a:r>
            <a:r>
              <a:rPr lang="en-US" altLang="zh-CN" dirty="0">
                <a:solidFill>
                  <a:srgbClr val="800000"/>
                </a:solidFill>
              </a:rPr>
              <a:t>&amp;</a:t>
            </a:r>
            <a:endParaRPr lang="zh-CN" altLang="en-US" dirty="0">
              <a:solidFill>
                <a:srgbClr val="800000"/>
              </a:solidFill>
            </a:endParaRPr>
          </a:p>
        </p:txBody>
      </p:sp>
      <p:sp>
        <p:nvSpPr>
          <p:cNvPr id="72706" name="内容占位符 2"/>
          <p:cNvSpPr>
            <a:spLocks noGrp="1"/>
          </p:cNvSpPr>
          <p:nvPr>
            <p:ph idx="1"/>
          </p:nvPr>
        </p:nvSpPr>
        <p:spPr>
          <a:xfrm>
            <a:off x="403952" y="2113397"/>
            <a:ext cx="3384376" cy="3394102"/>
          </a:xfrm>
        </p:spPr>
        <p:txBody>
          <a:bodyPr/>
          <a:lstStyle/>
          <a:p>
            <a:r>
              <a:rPr lang="en-US" altLang="zh-CN" sz="2400" dirty="0">
                <a:latin typeface="宋体" pitchFamily="2" charset="-122"/>
              </a:rPr>
              <a:t>C++ </a:t>
            </a:r>
            <a:r>
              <a:rPr lang="zh-CN" altLang="en-US" sz="2400" dirty="0">
                <a:latin typeface="宋体" pitchFamily="2" charset="-122"/>
              </a:rPr>
              <a:t>提供引用机制，通过“别名”操作使用变量、对象，简化数据传递，提升效率。</a:t>
            </a:r>
            <a:endParaRPr lang="en-US" altLang="zh-CN" sz="2400" dirty="0">
              <a:latin typeface="宋体" pitchFamily="2" charset="-122"/>
            </a:endParaRPr>
          </a:p>
          <a:p>
            <a:r>
              <a:rPr lang="zh-CN" altLang="en-US" sz="2400" dirty="0">
                <a:latin typeface="宋体" pitchFamily="2" charset="-122"/>
              </a:rPr>
              <a:t>函数参数可以采用别名方式</a:t>
            </a:r>
            <a:endParaRPr lang="en-US" altLang="zh-CN" sz="2400" dirty="0">
              <a:latin typeface="宋体" pitchFamily="2" charset="-122"/>
            </a:endParaRPr>
          </a:p>
          <a:p>
            <a:r>
              <a:rPr lang="zh-CN" altLang="en-US" sz="2400" dirty="0">
                <a:latin typeface="宋体" pitchFamily="2" charset="-122"/>
              </a:rPr>
              <a:t>别名形参的</a:t>
            </a:r>
            <a:r>
              <a:rPr lang="zh-CN" altLang="en-US" sz="2400" b="1" dirty="0">
                <a:solidFill>
                  <a:srgbClr val="800000"/>
                </a:solidFill>
                <a:latin typeface="宋体" pitchFamily="2" charset="-122"/>
              </a:rPr>
              <a:t>安全保护</a:t>
            </a:r>
            <a:r>
              <a:rPr lang="zh-CN" altLang="en-US" sz="2400" dirty="0">
                <a:latin typeface="宋体" pitchFamily="2" charset="-122"/>
              </a:rPr>
              <a:t>机制</a:t>
            </a:r>
            <a:endParaRPr lang="zh-CN" altLang="en-US" sz="2400" dirty="0">
              <a:latin typeface="宋体" pitchFamily="2" charset="-122"/>
            </a:endParaRPr>
          </a:p>
        </p:txBody>
      </p:sp>
      <p:sp>
        <p:nvSpPr>
          <p:cNvPr id="7270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503050405090304" pitchFamily="18" charset="0"/>
              <a:ea typeface="隶书" panose="02010509060101010101" pitchFamily="49" charset="-122"/>
            </a:endParaRPr>
          </a:p>
        </p:txBody>
      </p:sp>
      <p:pic>
        <p:nvPicPr>
          <p:cNvPr id="5" name="图片 4"/>
          <p:cNvPicPr>
            <a:picLocks noChangeAspect="1"/>
          </p:cNvPicPr>
          <p:nvPr/>
        </p:nvPicPr>
        <p:blipFill>
          <a:blip r:embed="rId1"/>
          <a:stretch>
            <a:fillRect/>
          </a:stretch>
        </p:blipFill>
        <p:spPr>
          <a:xfrm>
            <a:off x="3995936" y="2077106"/>
            <a:ext cx="4744112" cy="3296110"/>
          </a:xfrm>
          <a:prstGeom prst="rect">
            <a:avLst/>
          </a:prstGeom>
          <a:solidFill>
            <a:schemeClr val="bg1">
              <a:lumMod val="65000"/>
            </a:schemeClr>
          </a:solidFill>
          <a:ln>
            <a:solidFill>
              <a:schemeClr val="tx1">
                <a:lumMod val="50000"/>
                <a:lumOff val="50000"/>
              </a:schemeClr>
            </a:solidFill>
          </a:ln>
        </p:spPr>
      </p:pic>
      <p:sp>
        <p:nvSpPr>
          <p:cNvPr id="3" name="箭头: 下 2"/>
          <p:cNvSpPr/>
          <p:nvPr/>
        </p:nvSpPr>
        <p:spPr bwMode="auto">
          <a:xfrm>
            <a:off x="6804248" y="3510741"/>
            <a:ext cx="144016" cy="288032"/>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8" name="箭头: 下 7"/>
          <p:cNvSpPr/>
          <p:nvPr/>
        </p:nvSpPr>
        <p:spPr bwMode="auto">
          <a:xfrm>
            <a:off x="8227196" y="3510741"/>
            <a:ext cx="144016" cy="288032"/>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4" name="箭头: 下 3"/>
          <p:cNvSpPr/>
          <p:nvPr/>
        </p:nvSpPr>
        <p:spPr bwMode="auto">
          <a:xfrm>
            <a:off x="5940152" y="3510741"/>
            <a:ext cx="144016" cy="302523"/>
          </a:xfrm>
          <a:prstGeom prst="downArrow">
            <a:avLst/>
          </a:prstGeom>
          <a:solidFill>
            <a:srgbClr val="FF0000"/>
          </a:solidFill>
          <a:ln w="9525" cap="flat" cmpd="sng" algn="ctr">
            <a:noFill/>
            <a:prstDash val="solid"/>
            <a:round/>
            <a:headEnd type="none" w="med" len="med"/>
            <a:tailEnd type="triangle" w="med" len="med"/>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10" name="箭头: 下 9"/>
          <p:cNvSpPr/>
          <p:nvPr/>
        </p:nvSpPr>
        <p:spPr bwMode="auto">
          <a:xfrm>
            <a:off x="7475875" y="3510741"/>
            <a:ext cx="144016" cy="302523"/>
          </a:xfrm>
          <a:prstGeom prst="downArrow">
            <a:avLst/>
          </a:prstGeom>
          <a:solidFill>
            <a:srgbClr val="FF0000"/>
          </a:solidFill>
          <a:ln w="9525" cap="flat" cmpd="sng" algn="ctr">
            <a:noFill/>
            <a:prstDash val="solid"/>
            <a:round/>
            <a:headEnd type="none" w="med" len="med"/>
            <a:tailEnd type="triangle" w="med" len="med"/>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p:nvPr>
        </p:nvSpPr>
        <p:spPr>
          <a:xfrm>
            <a:off x="432000" y="432000"/>
            <a:ext cx="8230387" cy="899650"/>
          </a:xfrm>
        </p:spPr>
        <p:txBody>
          <a:bodyPr/>
          <a:lstStyle/>
          <a:p>
            <a:r>
              <a:rPr lang="zh-CN" altLang="en-US"/>
              <a:t>关于引用（</a:t>
            </a:r>
            <a:r>
              <a:rPr lang="en-US" altLang="zh-CN"/>
              <a:t>reference</a:t>
            </a:r>
            <a:r>
              <a:rPr lang="zh-CN" altLang="en-US"/>
              <a:t>）</a:t>
            </a:r>
            <a:endParaRPr lang="zh-CN" altLang="en-US"/>
          </a:p>
        </p:txBody>
      </p:sp>
      <p:sp>
        <p:nvSpPr>
          <p:cNvPr id="30723" name="内容占位符 2"/>
          <p:cNvSpPr>
            <a:spLocks noGrp="1" noChangeArrowheads="1"/>
          </p:cNvSpPr>
          <p:nvPr>
            <p:ph idx="1"/>
          </p:nvPr>
        </p:nvSpPr>
        <p:spPr/>
        <p:txBody>
          <a:bodyPr/>
          <a:lstStyle/>
          <a:p>
            <a:r>
              <a:rPr lang="zh-CN" altLang="en-US" sz="2000" dirty="0"/>
              <a:t>例子</a:t>
            </a:r>
            <a:endParaRPr lang="en-US" altLang="zh-CN" sz="2000" dirty="0"/>
          </a:p>
          <a:p>
            <a:pPr lvl="1"/>
            <a:r>
              <a:rPr lang="en-US" altLang="zh-CN" sz="1800" dirty="0"/>
              <a:t>int &amp;y = x;</a:t>
            </a:r>
            <a:endParaRPr lang="en-US" altLang="zh-CN" sz="1800" dirty="0"/>
          </a:p>
          <a:p>
            <a:r>
              <a:rPr lang="zh-CN" altLang="en-US" sz="2000" dirty="0"/>
              <a:t>某个内存的别名</a:t>
            </a:r>
            <a:endParaRPr lang="en-US" altLang="zh-CN" sz="2000" dirty="0"/>
          </a:p>
          <a:p>
            <a:r>
              <a:rPr lang="en-US" altLang="zh-CN" sz="2000" dirty="0"/>
              <a:t>reference</a:t>
            </a:r>
            <a:r>
              <a:rPr lang="zh-CN" altLang="en-US" sz="2000" dirty="0"/>
              <a:t>不需要</a:t>
            </a:r>
            <a:r>
              <a:rPr lang="en-US" altLang="zh-CN" sz="2000" dirty="0"/>
              <a:t>dereference</a:t>
            </a:r>
            <a:r>
              <a:rPr lang="zh-CN" altLang="en-US" sz="2000" dirty="0"/>
              <a:t>即可直接获取到指向的内存空间的值。例如上例中，直接</a:t>
            </a:r>
            <a:r>
              <a:rPr lang="en-US" altLang="zh-CN" sz="2000" dirty="0"/>
              <a:t>y</a:t>
            </a:r>
            <a:r>
              <a:rPr lang="zh-CN" altLang="en-US" sz="2000" dirty="0"/>
              <a:t>就可以获取</a:t>
            </a:r>
            <a:r>
              <a:rPr lang="en-US" altLang="zh-CN" sz="2000" dirty="0"/>
              <a:t>reference y</a:t>
            </a:r>
            <a:r>
              <a:rPr lang="zh-CN" altLang="en-US" sz="2000" dirty="0"/>
              <a:t>所指向的内存空间的值，而不需要*</a:t>
            </a:r>
            <a:r>
              <a:rPr lang="en-US" altLang="zh-CN" sz="2000" dirty="0"/>
              <a:t>y</a:t>
            </a:r>
            <a:r>
              <a:rPr lang="zh-CN" altLang="en-US" sz="2000" dirty="0"/>
              <a:t>来获取。</a:t>
            </a:r>
            <a:endParaRPr lang="en-US" altLang="zh-CN" sz="2000" dirty="0"/>
          </a:p>
          <a:p>
            <a:r>
              <a:rPr lang="en-US" altLang="zh-CN" sz="2000" dirty="0"/>
              <a:t>reference</a:t>
            </a:r>
            <a:r>
              <a:rPr lang="zh-CN" altLang="en-US" sz="2000" dirty="0"/>
              <a:t>的赋值操作也不需要取地址符来赋值，可以直接通过变量名，例如上例中，</a:t>
            </a:r>
            <a:r>
              <a:rPr lang="en-US" altLang="zh-CN" sz="2000" dirty="0"/>
              <a:t>int &amp;y = x, </a:t>
            </a:r>
            <a:r>
              <a:rPr lang="zh-CN" altLang="en-US" sz="2000" dirty="0"/>
              <a:t>而不需要 </a:t>
            </a:r>
            <a:r>
              <a:rPr lang="en-US" altLang="zh-CN" sz="2000" dirty="0"/>
              <a:t>int &amp;y = &amp;x;</a:t>
            </a:r>
            <a:endParaRPr lang="en-US" altLang="zh-CN" sz="2000" dirty="0"/>
          </a:p>
          <a:p>
            <a:r>
              <a:rPr lang="en-US" altLang="zh-CN" sz="2000" b="1" dirty="0"/>
              <a:t>reference </a:t>
            </a:r>
            <a:r>
              <a:rPr lang="zh-CN" altLang="en-US" sz="2000" b="1" dirty="0"/>
              <a:t>在申明的时候就必须要有初始值，而且</a:t>
            </a:r>
            <a:r>
              <a:rPr lang="en-US" altLang="zh-CN" sz="2000" b="1" dirty="0"/>
              <a:t>reference</a:t>
            </a:r>
            <a:r>
              <a:rPr lang="zh-CN" altLang="en-US" sz="2000" b="1" dirty="0"/>
              <a:t>变量指向的内存地址是不能变化的</a:t>
            </a:r>
            <a:r>
              <a:rPr lang="zh-CN" altLang="en-US" sz="2000" dirty="0"/>
              <a:t>，不像</a:t>
            </a:r>
            <a:r>
              <a:rPr lang="en-US" altLang="zh-CN" sz="2000" dirty="0"/>
              <a:t>pointer</a:t>
            </a:r>
            <a:r>
              <a:rPr lang="zh-CN" altLang="en-US" sz="2000" dirty="0"/>
              <a:t>那样可以很灵活的重新指向其他地址。</a:t>
            </a:r>
            <a:endParaRPr lang="zh-CN"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zh-CN" altLang="en-US" b="1" dirty="0">
                <a:solidFill>
                  <a:schemeClr val="accent2"/>
                </a:solidFill>
              </a:rPr>
              <a:t>新特性</a:t>
            </a:r>
            <a:r>
              <a:rPr lang="zh-CN" altLang="en-US" b="1" dirty="0"/>
              <a:t>：</a:t>
            </a:r>
            <a:r>
              <a:rPr lang="zh-CN" altLang="en-US" dirty="0"/>
              <a:t>函数重载、参数默认值和引用</a:t>
            </a:r>
            <a:endParaRPr lang="en-US" altLang="zh-CN" dirty="0"/>
          </a:p>
          <a:p>
            <a:r>
              <a:rPr lang="zh-CN" altLang="en-US" dirty="0"/>
              <a:t>面向对象的程序设计</a:t>
            </a:r>
            <a:endParaRPr lang="en-US" altLang="zh-CN" dirty="0"/>
          </a:p>
          <a:p>
            <a:r>
              <a:rPr lang="zh-CN" altLang="en-US" dirty="0"/>
              <a:t>基本概念</a:t>
            </a:r>
            <a:endParaRPr lang="en-US" altLang="zh-CN" dirty="0"/>
          </a:p>
          <a:p>
            <a:r>
              <a:rPr lang="zh-CN" altLang="en-US" dirty="0"/>
              <a:t>类与对象</a:t>
            </a:r>
            <a:endParaRPr lang="en-US" altLang="zh-CN" dirty="0"/>
          </a:p>
          <a:p>
            <a:r>
              <a:rPr lang="zh-CN" altLang="en-US" dirty="0"/>
              <a:t>成员函数</a:t>
            </a:r>
            <a:endParaRPr lang="en-US" altLang="zh-CN" dirty="0"/>
          </a:p>
          <a:p>
            <a:r>
              <a:rPr lang="zh-CN" altLang="en-US" dirty="0"/>
              <a:t>保护成员</a:t>
            </a:r>
            <a:endParaRPr lang="en-US" altLang="zh-CN" dirty="0"/>
          </a:p>
          <a:p>
            <a:r>
              <a:rPr lang="zh-CN" altLang="en-US" dirty="0"/>
              <a:t>构造函数</a:t>
            </a:r>
            <a:r>
              <a:rPr lang="en-US" altLang="zh-CN" dirty="0"/>
              <a:t>&amp;</a:t>
            </a:r>
            <a:r>
              <a:rPr lang="zh-CN" altLang="en-US" dirty="0"/>
              <a:t>析构函数</a:t>
            </a:r>
            <a:endParaRPr lang="en-US" altLang="zh-CN" dirty="0"/>
          </a:p>
        </p:txBody>
      </p:sp>
      <p:sp>
        <p:nvSpPr>
          <p:cNvPr id="2" name="Title 1"/>
          <p:cNvSpPr>
            <a:spLocks noGrp="1"/>
          </p:cNvSpPr>
          <p:nvPr>
            <p:ph type="title"/>
          </p:nvPr>
        </p:nvSpPr>
        <p:spPr/>
        <p:txBody>
          <a:bodyPr/>
          <a:lstStyle/>
          <a:p>
            <a:r>
              <a:rPr lang="zh-CN" altLang="en-US" dirty="0"/>
              <a:t>内容</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4663" y="608352"/>
            <a:ext cx="7772400" cy="915988"/>
          </a:xfrm>
        </p:spPr>
        <p:txBody>
          <a:bodyPr/>
          <a:lstStyle/>
          <a:p>
            <a:r>
              <a:rPr lang="zh-CN" altLang="en-US" dirty="0"/>
              <a:t>面向对象的</a:t>
            </a:r>
            <a:r>
              <a:rPr lang="zh-CN" altLang="en-US" b="1" dirty="0">
                <a:highlight>
                  <a:srgbClr val="FFFF00"/>
                </a:highlight>
              </a:rPr>
              <a:t>雏形</a:t>
            </a:r>
            <a:r>
              <a:rPr lang="zh-CN" altLang="en-US" dirty="0"/>
              <a:t>：结构体</a:t>
            </a:r>
            <a:endParaRPr lang="zh-CN" altLang="en-US" dirty="0"/>
          </a:p>
        </p:txBody>
      </p:sp>
      <p:sp>
        <p:nvSpPr>
          <p:cNvPr id="3" name="Rectangle 2"/>
          <p:cNvSpPr>
            <a:spLocks noChangeArrowheads="1"/>
          </p:cNvSpPr>
          <p:nvPr/>
        </p:nvSpPr>
        <p:spPr bwMode="auto">
          <a:xfrm>
            <a:off x="2659063" y="1992213"/>
            <a:ext cx="5410200" cy="323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9pPr>
          </a:lstStyle>
          <a:p>
            <a:pPr marL="0" marR="0" lvl="0" indent="0" algn="l" defTabSz="914400" rtl="0" eaLnBrk="0" fontAlgn="base" latinLnBrk="0" hangingPunct="0">
              <a:lnSpc>
                <a:spcPct val="120000"/>
              </a:lnSpc>
              <a:spcBef>
                <a:spcPct val="0"/>
              </a:spcBef>
              <a:spcAft>
                <a:spcPct val="0"/>
              </a:spcAft>
              <a:buClrTx/>
              <a:buSzTx/>
              <a:buFontTx/>
              <a:buNone/>
              <a:defRPr/>
            </a:pPr>
            <a:endParaRPr kumimoji="1" lang="zh-CN" altLang="zh-CN" sz="3600" b="1" i="0" u="none" strike="noStrike" kern="1200" cap="none" spc="0" normalizeH="0" baseline="0" noProof="0">
              <a:ln>
                <a:noFill/>
              </a:ln>
              <a:solidFill>
                <a:srgbClr val="000000"/>
              </a:solidFill>
              <a:effectLst/>
              <a:uLnTx/>
              <a:uFillTx/>
              <a:latin typeface="Times New Roman" panose="02020503050405090304" pitchFamily="18" charset="0"/>
              <a:ea typeface="宋体" pitchFamily="2" charset="-122"/>
              <a:cs typeface="+mn-cs"/>
            </a:endParaRPr>
          </a:p>
        </p:txBody>
      </p:sp>
      <p:sp>
        <p:nvSpPr>
          <p:cNvPr id="4" name="Rectangle 4"/>
          <p:cNvSpPr>
            <a:spLocks noChangeArrowheads="1"/>
          </p:cNvSpPr>
          <p:nvPr/>
        </p:nvSpPr>
        <p:spPr bwMode="auto">
          <a:xfrm>
            <a:off x="685800" y="2204863"/>
            <a:ext cx="7561263" cy="38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38200" indent="-838200">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itchFamily="2" charset="-122"/>
              </a:defRPr>
            </a:lvl1pPr>
            <a:lvl2pPr marL="1143000" indent="-68580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itchFamily="2" charset="-122"/>
              </a:defRPr>
            </a:lvl2pPr>
            <a:lvl3pPr marL="1600200" indent="-6858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itchFamily="2" charset="-122"/>
              </a:defRPr>
            </a:lvl3pPr>
            <a:lvl4pPr marL="2019300" indent="-6477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itchFamily="2" charset="-122"/>
              </a:defRPr>
            </a:lvl4pPr>
            <a:lvl5pPr marL="2438400" indent="-609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5pPr>
            <a:lvl6pPr marL="28956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6pPr>
            <a:lvl7pPr marL="33528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7pPr>
            <a:lvl8pPr marL="38100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8pPr>
            <a:lvl9pPr marL="42672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9pPr>
          </a:lstStyle>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endParaRPr kumimoji="0" lang="zh-CN" altLang="en-US" sz="2400" b="1" i="0" u="sng" strike="noStrike" kern="1200" cap="none" spc="0" normalizeH="0" baseline="0" noProof="0" dirty="0">
              <a:ln>
                <a:noFill/>
              </a:ln>
              <a:solidFill>
                <a:srgbClr val="CC0000"/>
              </a:solidFill>
              <a:effectLst/>
              <a:uLnTx/>
              <a:uFillTx/>
              <a:latin typeface="Times New Roman" panose="02020503050405090304" pitchFamily="18" charset="0"/>
              <a:ea typeface="宋体"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400" b="1" dirty="0">
                <a:solidFill>
                  <a:schemeClr val="accent2"/>
                </a:solidFill>
                <a:effectLst>
                  <a:outerShdw blurRad="38100" dist="38100" dir="2700000" algn="tl">
                    <a:srgbClr val="000000">
                      <a:alpha val="43137"/>
                    </a:srgbClr>
                  </a:outerShdw>
                </a:effectLst>
                <a:latin typeface="Times New Roman" panose="02020503050405090304" pitchFamily="18" charset="0"/>
              </a:rPr>
              <a:t>typedef</a:t>
            </a:r>
            <a:r>
              <a:rPr lang="zh-CN" altLang="en-US" sz="2400" b="1" dirty="0">
                <a:solidFill>
                  <a:srgbClr val="CC0000"/>
                </a:solidFill>
                <a:latin typeface="Times New Roman" panose="0202050305040509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struct</a:t>
            </a:r>
            <a:r>
              <a:rPr kumimoji="0" lang="en-US" altLang="zh-CN" sz="2000" b="0"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rPr>
              <a:t>student</a:t>
            </a:r>
            <a:endPar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1"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a:t>
            </a:r>
            <a:endParaRPr kumimoji="0" lang="en-US" altLang="zh-CN" sz="2000" b="1"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0"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       </a:t>
            </a:r>
            <a:r>
              <a:rPr kumimoji="0" lang="en-US" altLang="zh-CN" sz="2000" b="1"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int</a:t>
            </a:r>
            <a:r>
              <a:rPr kumimoji="0" lang="en-US" altLang="zh-CN" sz="2000" b="0"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rPr>
              <a:t>num; </a:t>
            </a:r>
            <a:endPar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b="1" dirty="0">
                <a:solidFill>
                  <a:srgbClr val="008000"/>
                </a:solidFill>
                <a:latin typeface="Times New Roman" panose="0202050305040509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char</a:t>
            </a:r>
            <a:r>
              <a:rPr kumimoji="0" lang="en-US" altLang="zh-CN" sz="2000" b="0"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rPr>
              <a:t>name[20]; </a:t>
            </a:r>
            <a:endPar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dirty="0">
                <a:solidFill>
                  <a:srgbClr val="800000"/>
                </a:solidFill>
                <a:latin typeface="Times New Roman" panose="0202050305040509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char</a:t>
            </a:r>
            <a:r>
              <a:rPr kumimoji="0" lang="en-US" altLang="zh-CN" sz="2000" b="0"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rPr>
              <a:t>sex;</a:t>
            </a:r>
            <a:endPar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0"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       </a:t>
            </a:r>
            <a:r>
              <a:rPr kumimoji="0" lang="en-US" altLang="zh-CN" sz="2000" b="1"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int</a:t>
            </a:r>
            <a:r>
              <a:rPr kumimoji="0" lang="en-US" altLang="zh-CN" sz="2000" b="0"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rPr>
              <a:t>age; </a:t>
            </a:r>
            <a:endPar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dirty="0">
                <a:solidFill>
                  <a:srgbClr val="800000"/>
                </a:solidFill>
                <a:latin typeface="Times New Roman" panose="0202050305040509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float</a:t>
            </a:r>
            <a:r>
              <a:rPr kumimoji="0" lang="en-US" altLang="zh-CN" sz="2000" b="0"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rPr>
              <a:t>score; </a:t>
            </a:r>
            <a:endPar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dirty="0">
                <a:solidFill>
                  <a:srgbClr val="800000"/>
                </a:solidFill>
                <a:latin typeface="Times New Roman" panose="0202050305040509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char</a:t>
            </a:r>
            <a:r>
              <a:rPr kumimoji="0" lang="en-US" altLang="zh-CN" sz="2000" b="0"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 </a:t>
            </a:r>
            <a:r>
              <a:rPr kumimoji="0" lang="en-US" altLang="zh-CN" sz="2000" b="0" i="0" u="none" strike="noStrike" kern="1200" cap="none" spc="0" normalizeH="0" baseline="0" noProof="0" dirty="0" err="1">
                <a:ln>
                  <a:noFill/>
                </a:ln>
                <a:solidFill>
                  <a:srgbClr val="800000"/>
                </a:solidFill>
                <a:effectLst/>
                <a:uLnTx/>
                <a:uFillTx/>
                <a:latin typeface="Times New Roman" panose="02020503050405090304" pitchFamily="18" charset="0"/>
                <a:ea typeface="宋体" pitchFamily="2" charset="-122"/>
                <a:cs typeface="+mn-cs"/>
              </a:rPr>
              <a:t>addr</a:t>
            </a:r>
            <a:r>
              <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rPr>
              <a:t>[30];</a:t>
            </a:r>
            <a:endParaRPr kumimoji="0" lang="en-US" altLang="zh-CN" sz="2000" b="0" i="0" u="none" strike="noStrike" kern="1200" cap="none" spc="0" normalizeH="0" baseline="0" noProof="0" dirty="0">
              <a:ln>
                <a:noFill/>
              </a:ln>
              <a:solidFill>
                <a:srgbClr val="800000"/>
              </a:solidFill>
              <a:effectLst/>
              <a:uLnTx/>
              <a:uFillTx/>
              <a:latin typeface="Times New Roman" panose="02020503050405090304" pitchFamily="18" charset="0"/>
              <a:ea typeface="宋体"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1" i="0" u="none" strike="noStrike" kern="1200" cap="none" spc="0" normalizeH="0" baseline="0" noProof="0" dirty="0">
                <a:ln>
                  <a:noFill/>
                </a:ln>
                <a:solidFill>
                  <a:srgbClr val="008000"/>
                </a:solidFill>
                <a:effectLst/>
                <a:uLnTx/>
                <a:uFillTx/>
                <a:latin typeface="Times New Roman" panose="02020503050405090304" pitchFamily="18" charset="0"/>
                <a:ea typeface="宋体" pitchFamily="2" charset="-122"/>
                <a:cs typeface="+mn-cs"/>
              </a:rPr>
              <a:t>}</a:t>
            </a:r>
            <a:r>
              <a:rPr kumimoji="0" lang="en-US" altLang="zh-CN" sz="2000" b="1" i="0" u="none" strike="noStrike" kern="1200" cap="none" spc="0" normalizeH="0" baseline="0" noProof="0" dirty="0">
                <a:ln>
                  <a:noFill/>
                </a:ln>
                <a:solidFill>
                  <a:schemeClr val="accent2"/>
                </a:solidFill>
                <a:effectLst/>
                <a:highlight>
                  <a:srgbClr val="FFFF00"/>
                </a:highlight>
                <a:uLnTx/>
                <a:uFillTx/>
                <a:latin typeface="Times New Roman" panose="02020503050405090304" pitchFamily="18" charset="0"/>
                <a:ea typeface="宋体" pitchFamily="2" charset="-122"/>
                <a:cs typeface="+mn-cs"/>
              </a:rPr>
              <a:t>STUDENT</a:t>
            </a:r>
            <a:r>
              <a:rPr kumimoji="0" lang="en-US" altLang="zh-CN" sz="2000" b="1" i="0" u="none" strike="noStrike" kern="1200" cap="none" spc="0" normalizeH="0" baseline="0" noProof="0" dirty="0">
                <a:ln>
                  <a:noFill/>
                </a:ln>
                <a:solidFill>
                  <a:schemeClr val="accent2"/>
                </a:solidFill>
                <a:effectLst/>
                <a:uLnTx/>
                <a:uFillTx/>
                <a:latin typeface="Times New Roman" panose="02020503050405090304" pitchFamily="18" charset="0"/>
                <a:ea typeface="宋体" pitchFamily="2" charset="-122"/>
                <a:cs typeface="+mn-cs"/>
              </a:rPr>
              <a:t> </a:t>
            </a:r>
            <a:r>
              <a:rPr kumimoji="0" lang="en-US" altLang="zh-CN" sz="2000" b="1" i="0" u="none" strike="noStrike" kern="1200" cap="none" spc="0" normalizeH="0" baseline="0" noProof="0" dirty="0">
                <a:ln>
                  <a:noFill/>
                </a:ln>
                <a:solidFill>
                  <a:srgbClr val="C00000"/>
                </a:solidFill>
                <a:effectLst/>
                <a:uLnTx/>
                <a:uFillTx/>
                <a:latin typeface="Times New Roman" panose="02020503050405090304" pitchFamily="18" charset="0"/>
                <a:ea typeface="宋体" pitchFamily="2" charset="-122"/>
                <a:cs typeface="+mn-cs"/>
              </a:rPr>
              <a:t>;</a:t>
            </a:r>
            <a:endParaRPr kumimoji="0" lang="en-US" altLang="zh-CN" sz="2000" b="1" i="0" u="none" strike="noStrike" kern="1200" cap="none" spc="0" normalizeH="0" baseline="0" noProof="0" dirty="0">
              <a:ln>
                <a:noFill/>
              </a:ln>
              <a:solidFill>
                <a:srgbClr val="C00000"/>
              </a:solidFill>
              <a:effectLst/>
              <a:uLnTx/>
              <a:uFillTx/>
              <a:latin typeface="Times New Roman" panose="02020503050405090304" pitchFamily="18" charset="0"/>
              <a:ea typeface="宋体" pitchFamily="2" charset="-122"/>
              <a:cs typeface="+mn-cs"/>
            </a:endParaRPr>
          </a:p>
        </p:txBody>
      </p:sp>
      <p:sp>
        <p:nvSpPr>
          <p:cNvPr id="5" name="AutoShape 5"/>
          <p:cNvSpPr>
            <a:spLocks noChangeArrowheads="1"/>
          </p:cNvSpPr>
          <p:nvPr/>
        </p:nvSpPr>
        <p:spPr bwMode="auto">
          <a:xfrm>
            <a:off x="2534028" y="1808782"/>
            <a:ext cx="1872207" cy="792162"/>
          </a:xfrm>
          <a:prstGeom prst="wedgeEllipseCallout">
            <a:avLst>
              <a:gd name="adj1" fmla="val -33940"/>
              <a:gd name="adj2" fmla="val 70437"/>
            </a:avLst>
          </a:prstGeom>
          <a:solidFill>
            <a:srgbClr val="99CC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lIns="36000" tIns="36000" rIns="36000" bIns="36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Times New Roman" panose="02020503050405090304" pitchFamily="18" charset="0"/>
                <a:ea typeface="宋体" pitchFamily="2" charset="-122"/>
                <a:cs typeface="+mn-cs"/>
              </a:rPr>
              <a:t>结构体名</a:t>
            </a:r>
            <a:endParaRPr kumimoji="0" lang="zh-CN" altLang="en-US" sz="2400" b="0" i="0" u="none" strike="noStrike" kern="0" cap="none" spc="0" normalizeH="0" baseline="0" noProof="0">
              <a:ln>
                <a:noFill/>
              </a:ln>
              <a:solidFill>
                <a:srgbClr val="000000"/>
              </a:solidFill>
              <a:effectLst/>
              <a:uLnTx/>
              <a:uFillTx/>
              <a:latin typeface="Times New Roman" panose="02020503050405090304" pitchFamily="18" charset="0"/>
              <a:ea typeface="宋体" pitchFamily="2" charset="-122"/>
              <a:cs typeface="+mn-cs"/>
            </a:endParaRPr>
          </a:p>
        </p:txBody>
      </p:sp>
      <p:sp>
        <p:nvSpPr>
          <p:cNvPr id="6" name="AutoShape 6"/>
          <p:cNvSpPr>
            <a:spLocks noChangeArrowheads="1"/>
          </p:cNvSpPr>
          <p:nvPr/>
        </p:nvSpPr>
        <p:spPr bwMode="auto">
          <a:xfrm>
            <a:off x="2529909" y="5640904"/>
            <a:ext cx="1440160" cy="714252"/>
          </a:xfrm>
          <a:prstGeom prst="wedgeEllipseCallout">
            <a:avLst>
              <a:gd name="adj1" fmla="val -61916"/>
              <a:gd name="adj2" fmla="val -19024"/>
            </a:avLst>
          </a:prstGeom>
          <a:solidFill>
            <a:srgbClr val="99CC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lIns="36000" tIns="36000" rIns="36000" bIns="36000" anchor="ctr"/>
          <a:lstStyle/>
          <a:p>
            <a:pPr algn="ctr" eaLnBrk="1" fontAlgn="auto" hangingPunct="1">
              <a:spcAft>
                <a:spcPts val="0"/>
              </a:spcAft>
            </a:pPr>
            <a:r>
              <a:rPr lang="zh-CN" altLang="en-US" sz="2400" kern="0" dirty="0">
                <a:solidFill>
                  <a:srgbClr val="000000"/>
                </a:solidFill>
                <a:latin typeface="Times New Roman" panose="02020503050405090304" pitchFamily="18" charset="0"/>
              </a:rPr>
              <a:t>类型名</a:t>
            </a:r>
            <a:endParaRPr lang="zh-CN" altLang="en-US" sz="2400" kern="0" dirty="0">
              <a:solidFill>
                <a:srgbClr val="000000"/>
              </a:solidFill>
              <a:latin typeface="Times New Roman" panose="02020503050405090304" pitchFamily="18" charset="0"/>
            </a:endParaRPr>
          </a:p>
        </p:txBody>
      </p:sp>
      <p:sp>
        <p:nvSpPr>
          <p:cNvPr id="7" name="AutoShape 7"/>
          <p:cNvSpPr>
            <a:spLocks noChangeArrowheads="1"/>
          </p:cNvSpPr>
          <p:nvPr/>
        </p:nvSpPr>
        <p:spPr bwMode="auto">
          <a:xfrm>
            <a:off x="2568154" y="3067569"/>
            <a:ext cx="1995934" cy="936625"/>
          </a:xfrm>
          <a:prstGeom prst="wedgeEllipseCallout">
            <a:avLst>
              <a:gd name="adj1" fmla="val -57261"/>
              <a:gd name="adj2" fmla="val 24988"/>
            </a:avLst>
          </a:prstGeom>
          <a:solidFill>
            <a:srgbClr val="99CC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lIns="36000" tIns="36000" rIns="36000" bIns="36000" anchor="ctr"/>
          <a:lstStyle/>
          <a:p>
            <a:pPr algn="ctr" eaLnBrk="1" fontAlgn="auto" hangingPunct="1">
              <a:spcAft>
                <a:spcPts val="0"/>
              </a:spcAft>
            </a:pPr>
            <a:r>
              <a:rPr lang="zh-CN" altLang="en-US" sz="2400" kern="0" dirty="0">
                <a:solidFill>
                  <a:srgbClr val="000000"/>
                </a:solidFill>
                <a:latin typeface="Times New Roman" panose="02020503050405090304" pitchFamily="18" charset="0"/>
              </a:rPr>
              <a:t>成员类型和名称</a:t>
            </a:r>
            <a:endParaRPr lang="zh-CN" altLang="en-US" sz="2400" kern="0" dirty="0">
              <a:solidFill>
                <a:srgbClr val="000000"/>
              </a:solidFill>
              <a:latin typeface="Times New Roman" panose="02020503050405090304" pitchFamily="18" charset="0"/>
            </a:endParaRPr>
          </a:p>
        </p:txBody>
      </p:sp>
      <p:pic>
        <p:nvPicPr>
          <p:cNvPr id="8" name="图形 7" descr="教室"/>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23376" y="951238"/>
            <a:ext cx="908615" cy="908615"/>
          </a:xfrm>
          <a:prstGeom prst="rect">
            <a:avLst/>
          </a:prstGeom>
        </p:spPr>
      </p:pic>
      <p:sp>
        <p:nvSpPr>
          <p:cNvPr id="10" name="文本框 9"/>
          <p:cNvSpPr txBox="1"/>
          <p:nvPr/>
        </p:nvSpPr>
        <p:spPr>
          <a:xfrm>
            <a:off x="4654997" y="1859853"/>
            <a:ext cx="4309491" cy="4464556"/>
          </a:xfrm>
          <a:prstGeom prst="rect">
            <a:avLst/>
          </a:prstGeom>
          <a:solidFill>
            <a:schemeClr val="accent2"/>
          </a:solidFill>
        </p:spPr>
        <p:txBody>
          <a:bodyPr wrap="square" rtlCol="0">
            <a:spAutoFit/>
          </a:bodyPr>
          <a:lstStyle/>
          <a:p>
            <a:r>
              <a:rPr lang="zh-CN" altLang="en-US" sz="2800" dirty="0">
                <a:solidFill>
                  <a:schemeClr val="bg1"/>
                </a:solidFill>
              </a:rPr>
              <a:t>特点及用途</a:t>
            </a:r>
            <a:endParaRPr lang="en-US" altLang="zh-CN" sz="2800" dirty="0">
              <a:solidFill>
                <a:schemeClr val="bg1"/>
              </a:solidFill>
            </a:endParaRPr>
          </a:p>
          <a:p>
            <a:pPr marL="285750" indent="-285750">
              <a:lnSpc>
                <a:spcPct val="150000"/>
              </a:lnSpc>
              <a:buFont typeface="Wingdings" panose="05000000000000000000" pitchFamily="2" charset="2"/>
              <a:buChar char="ü"/>
            </a:pPr>
            <a:r>
              <a:rPr lang="zh-CN" altLang="en-US" sz="2000" dirty="0">
                <a:solidFill>
                  <a:schemeClr val="bg1"/>
                </a:solidFill>
              </a:rPr>
              <a:t>作为一个整体对待：可作为自定义的</a:t>
            </a:r>
            <a:r>
              <a:rPr lang="zh-CN" altLang="en-US" sz="2000" b="1" dirty="0">
                <a:solidFill>
                  <a:srgbClr val="FFFF66"/>
                </a:solidFill>
              </a:rPr>
              <a:t>数据类型</a:t>
            </a:r>
            <a:endParaRPr lang="en-US" altLang="zh-CN" sz="2000" b="1" dirty="0">
              <a:solidFill>
                <a:srgbClr val="FFFF66"/>
              </a:solidFill>
            </a:endParaRPr>
          </a:p>
          <a:p>
            <a:pPr marL="285750" indent="-285750">
              <a:buFont typeface="Wingdings" panose="05000000000000000000" pitchFamily="2" charset="2"/>
              <a:buChar char="ü"/>
            </a:pPr>
            <a:r>
              <a:rPr lang="zh-CN" altLang="en-US" sz="2000" dirty="0">
                <a:solidFill>
                  <a:schemeClr val="bg1"/>
                </a:solidFill>
              </a:rPr>
              <a:t>有不同类型的</a:t>
            </a:r>
            <a:r>
              <a:rPr lang="zh-CN" altLang="en-US" sz="2000" b="1" dirty="0">
                <a:solidFill>
                  <a:srgbClr val="FFFF66"/>
                </a:solidFill>
              </a:rPr>
              <a:t>数据成员</a:t>
            </a:r>
            <a:endParaRPr lang="en-US" altLang="zh-CN" sz="2000" b="1" dirty="0">
              <a:solidFill>
                <a:srgbClr val="FFFF66"/>
              </a:solidFill>
            </a:endParaRPr>
          </a:p>
          <a:p>
            <a:pPr marL="285750" indent="-285750">
              <a:lnSpc>
                <a:spcPct val="150000"/>
              </a:lnSpc>
              <a:buFont typeface="Wingdings" panose="05000000000000000000" pitchFamily="2" charset="2"/>
              <a:buChar char="ü"/>
            </a:pPr>
            <a:r>
              <a:rPr lang="zh-CN" altLang="en-US" sz="2000" dirty="0">
                <a:solidFill>
                  <a:schemeClr val="bg1"/>
                </a:solidFill>
              </a:rPr>
              <a:t>用于描述某客观实体不同侧面的信息，即成员有内在逻辑关联</a:t>
            </a:r>
            <a:endParaRPr lang="en-US" altLang="zh-CN" sz="2000" dirty="0">
              <a:solidFill>
                <a:schemeClr val="bg1"/>
              </a:solidFill>
            </a:endParaRPr>
          </a:p>
          <a:p>
            <a:pPr marL="285750" indent="-285750">
              <a:lnSpc>
                <a:spcPct val="150000"/>
              </a:lnSpc>
              <a:buFont typeface="Wingdings" panose="05000000000000000000" pitchFamily="2" charset="2"/>
              <a:buChar char="ü"/>
            </a:pPr>
            <a:r>
              <a:rPr lang="zh-CN" altLang="en-US" sz="2000" dirty="0">
                <a:solidFill>
                  <a:schemeClr val="bg1"/>
                </a:solidFill>
              </a:rPr>
              <a:t>自定义</a:t>
            </a:r>
            <a:r>
              <a:rPr lang="zh-CN" altLang="en-US" sz="2000" dirty="0">
                <a:solidFill>
                  <a:srgbClr val="FFFF66"/>
                </a:solidFill>
              </a:rPr>
              <a:t>类型</a:t>
            </a:r>
            <a:r>
              <a:rPr lang="zh-CN" altLang="en-US" sz="2000" dirty="0">
                <a:solidFill>
                  <a:schemeClr val="bg1"/>
                </a:solidFill>
              </a:rPr>
              <a:t>到</a:t>
            </a:r>
            <a:r>
              <a:rPr lang="zh-CN" altLang="en-US" sz="2000" dirty="0">
                <a:solidFill>
                  <a:srgbClr val="FFFF66"/>
                </a:solidFill>
              </a:rPr>
              <a:t>实体</a:t>
            </a:r>
            <a:r>
              <a:rPr lang="zh-CN" altLang="en-US" sz="2000" dirty="0">
                <a:solidFill>
                  <a:schemeClr val="bg1"/>
                </a:solidFill>
              </a:rPr>
              <a:t>：</a:t>
            </a:r>
            <a:r>
              <a:rPr lang="zh-CN" altLang="en-US" sz="2000" dirty="0">
                <a:solidFill>
                  <a:schemeClr val="bg1"/>
                </a:solidFill>
                <a:highlight>
                  <a:srgbClr val="800000"/>
                </a:highlight>
              </a:rPr>
              <a:t>结构体变量</a:t>
            </a:r>
            <a:r>
              <a:rPr lang="en-US" altLang="zh-CN" sz="2000" dirty="0">
                <a:solidFill>
                  <a:schemeClr val="bg1"/>
                </a:solidFill>
              </a:rPr>
              <a:t>,</a:t>
            </a:r>
            <a:r>
              <a:rPr lang="zh-CN" altLang="en-US" sz="2000" dirty="0">
                <a:solidFill>
                  <a:schemeClr val="bg1"/>
                </a:solidFill>
              </a:rPr>
              <a:t> 通过结构体变量，在成员中存取数据，所有成员可访问</a:t>
            </a:r>
            <a:endParaRPr lang="en-US" altLang="zh-CN" sz="2000" dirty="0">
              <a:solidFill>
                <a:schemeClr val="bg1"/>
              </a:solidFill>
            </a:endParaRPr>
          </a:p>
          <a:p>
            <a:pPr marL="285750" indent="-285750">
              <a:lnSpc>
                <a:spcPct val="150000"/>
              </a:lnSpc>
              <a:buFont typeface="Wingdings" panose="05000000000000000000" pitchFamily="2" charset="2"/>
              <a:buChar char="ü"/>
            </a:pPr>
            <a:r>
              <a:rPr lang="zh-CN" altLang="en-US" sz="2000" dirty="0">
                <a:solidFill>
                  <a:schemeClr val="bg1"/>
                </a:solidFill>
              </a:rPr>
              <a:t>直接支持 </a:t>
            </a:r>
            <a:r>
              <a:rPr lang="en-US" altLang="zh-CN" sz="2000" dirty="0">
                <a:solidFill>
                  <a:schemeClr val="bg1"/>
                </a:solidFill>
              </a:rPr>
              <a:t>= </a:t>
            </a:r>
            <a:r>
              <a:rPr lang="zh-CN" altLang="en-US" sz="2000" dirty="0">
                <a:solidFill>
                  <a:schemeClr val="bg1"/>
                </a:solidFill>
              </a:rPr>
              <a:t>运算</a:t>
            </a:r>
            <a:r>
              <a:rPr lang="en-US" altLang="zh-CN" sz="2000" dirty="0">
                <a:solidFill>
                  <a:schemeClr val="bg1"/>
                </a:solidFill>
              </a:rPr>
              <a:t>(</a:t>
            </a:r>
            <a:r>
              <a:rPr lang="zh-CN" altLang="en-US" sz="2000" dirty="0">
                <a:solidFill>
                  <a:schemeClr val="bg1"/>
                </a:solidFill>
              </a:rPr>
              <a:t>整体性的体现</a:t>
            </a:r>
            <a:r>
              <a:rPr lang="en-US" altLang="zh-CN" sz="2000" dirty="0">
                <a:solidFill>
                  <a:schemeClr val="bg1"/>
                </a:solidFill>
              </a:rPr>
              <a:t>)</a:t>
            </a:r>
            <a:endParaRPr lang="zh-CN" altLang="en-US" sz="2000" dirty="0">
              <a:solidFill>
                <a:schemeClr val="bg1"/>
              </a:solidFill>
            </a:endParaRPr>
          </a:p>
        </p:txBody>
      </p:sp>
      <p:sp>
        <p:nvSpPr>
          <p:cNvPr id="11" name="矩形: 圆角 10"/>
          <p:cNvSpPr/>
          <p:nvPr/>
        </p:nvSpPr>
        <p:spPr bwMode="auto">
          <a:xfrm>
            <a:off x="1763838" y="2729300"/>
            <a:ext cx="6055685" cy="2835339"/>
          </a:xfrm>
          <a:prstGeom prst="roundRect">
            <a:avLst>
              <a:gd name="adj" fmla="val 6161"/>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dirty="0">
                <a:ln>
                  <a:noFill/>
                </a:ln>
                <a:solidFill>
                  <a:schemeClr val="tx1"/>
                </a:solidFill>
                <a:effectLst/>
                <a:latin typeface="Times" panose="02020603050405020304" pitchFamily="18" charset="0"/>
              </a:rPr>
              <a:t>主要不足之处：</a:t>
            </a:r>
            <a:endParaRPr kumimoji="0" lang="en-US" altLang="zh-CN" sz="2800" b="0" i="0" u="none" strike="noStrike" cap="none" normalizeH="0" baseline="0" dirty="0">
              <a:ln>
                <a:noFill/>
              </a:ln>
              <a:solidFill>
                <a:schemeClr val="tx1"/>
              </a:solidFill>
              <a:effectLst/>
              <a:latin typeface="Times" panose="02020603050405020304" pitchFamily="18" charset="0"/>
            </a:endParaRPr>
          </a:p>
          <a:p>
            <a:pPr marL="342900" marR="0" indent="-342900" defTabSz="914400" rtl="0" eaLnBrk="0" fontAlgn="base" latinLnBrk="0" hangingPunct="0">
              <a:lnSpc>
                <a:spcPct val="100000"/>
              </a:lnSpc>
              <a:spcBef>
                <a:spcPct val="0"/>
              </a:spcBef>
              <a:spcAft>
                <a:spcPct val="0"/>
              </a:spcAft>
              <a:buClrTx/>
              <a:buSzTx/>
              <a:buFont typeface="Wingdings" panose="05000000000000000000" pitchFamily="2" charset="2"/>
              <a:buChar char="ü"/>
            </a:pPr>
            <a:r>
              <a:rPr kumimoji="0" lang="zh-CN" altLang="en-US" sz="2400" b="0" i="0" u="none" strike="noStrike" cap="none" normalizeH="0" baseline="0" dirty="0">
                <a:ln>
                  <a:noFill/>
                </a:ln>
                <a:solidFill>
                  <a:schemeClr val="tx1"/>
                </a:solidFill>
                <a:effectLst/>
                <a:latin typeface="Times" panose="02020603050405020304" pitchFamily="18" charset="0"/>
              </a:rPr>
              <a:t>不同数据装配在一起了，缺乏必要的保护策略，人名默认公开，但家庭地址默认不公开</a:t>
            </a:r>
            <a:endParaRPr kumimoji="0" lang="en-US" altLang="zh-CN" sz="2400" b="0" i="0" u="none" strike="noStrike" cap="none" normalizeH="0" baseline="0" dirty="0">
              <a:ln>
                <a:noFill/>
              </a:ln>
              <a:solidFill>
                <a:schemeClr val="tx1"/>
              </a:solidFill>
              <a:effectLst/>
              <a:latin typeface="Times" panose="02020603050405020304" pitchFamily="18" charset="0"/>
            </a:endParaRPr>
          </a:p>
          <a:p>
            <a:pPr marL="342900" marR="0" indent="-342900" defTabSz="914400" rtl="0" eaLnBrk="0" fontAlgn="base" latinLnBrk="0" hangingPunct="0">
              <a:lnSpc>
                <a:spcPct val="100000"/>
              </a:lnSpc>
              <a:spcBef>
                <a:spcPct val="0"/>
              </a:spcBef>
              <a:spcAft>
                <a:spcPct val="0"/>
              </a:spcAft>
              <a:buClrTx/>
              <a:buSzTx/>
              <a:buFont typeface="Wingdings" panose="05000000000000000000" pitchFamily="2" charset="2"/>
              <a:buChar char="ü"/>
            </a:pPr>
            <a:r>
              <a:rPr lang="zh-CN" altLang="en-US" sz="2400" dirty="0">
                <a:latin typeface="Times" panose="02020603050405020304" pitchFamily="18" charset="0"/>
              </a:rPr>
              <a:t>缺乏对客观实体</a:t>
            </a:r>
            <a:r>
              <a:rPr lang="en-US" altLang="zh-CN" sz="2400" dirty="0">
                <a:latin typeface="Times" panose="02020603050405020304" pitchFamily="18" charset="0"/>
              </a:rPr>
              <a:t>【</a:t>
            </a:r>
            <a:r>
              <a:rPr lang="zh-CN" altLang="en-US" sz="2400" dirty="0">
                <a:latin typeface="Times" panose="02020603050405020304" pitchFamily="18" charset="0"/>
              </a:rPr>
              <a:t>行为方式</a:t>
            </a:r>
            <a:r>
              <a:rPr lang="en-US" altLang="zh-CN" sz="2400" dirty="0">
                <a:latin typeface="Times" panose="02020603050405020304" pitchFamily="18" charset="0"/>
              </a:rPr>
              <a:t>】</a:t>
            </a:r>
            <a:r>
              <a:rPr lang="zh-CN" altLang="en-US" sz="2400" dirty="0">
                <a:latin typeface="Times" panose="02020603050405020304" pitchFamily="18" charset="0"/>
              </a:rPr>
              <a:t>的体现</a:t>
            </a:r>
            <a:endParaRPr lang="en-US" altLang="zh-CN" sz="2400" dirty="0">
              <a:latin typeface="Times" panose="02020603050405020304" pitchFamily="18" charset="0"/>
            </a:endParaRPr>
          </a:p>
          <a:p>
            <a:pPr marL="342900" marR="0" indent="-342900" defTabSz="914400" rtl="0" eaLnBrk="0" fontAlgn="base" latinLnBrk="0" hangingPunct="0">
              <a:lnSpc>
                <a:spcPct val="100000"/>
              </a:lnSpc>
              <a:spcBef>
                <a:spcPct val="0"/>
              </a:spcBef>
              <a:spcAft>
                <a:spcPct val="0"/>
              </a:spcAft>
              <a:buClrTx/>
              <a:buSzTx/>
              <a:buFont typeface="Wingdings" panose="05000000000000000000" pitchFamily="2" charset="2"/>
              <a:buChar char="ü"/>
            </a:pPr>
            <a:r>
              <a:rPr kumimoji="0" lang="zh-CN" altLang="en-US" sz="2400" b="0" i="0" u="none" strike="noStrike" cap="none" normalizeH="0" baseline="0" dirty="0">
                <a:ln>
                  <a:noFill/>
                </a:ln>
                <a:solidFill>
                  <a:schemeClr val="tx1"/>
                </a:solidFill>
                <a:effectLst/>
                <a:latin typeface="Times" panose="02020603050405020304" pitchFamily="18" charset="0"/>
              </a:rPr>
              <a:t>不能表现不同类型客观实体之间的区别和</a:t>
            </a:r>
            <a:r>
              <a:rPr kumimoji="0" lang="en-US" altLang="zh-CN" sz="2400" b="0" i="0" u="none" strike="noStrike" cap="none" normalizeH="0" baseline="0" dirty="0">
                <a:ln>
                  <a:noFill/>
                </a:ln>
                <a:solidFill>
                  <a:schemeClr val="tx1"/>
                </a:solidFill>
                <a:effectLst/>
                <a:latin typeface="Times" panose="02020603050405020304" pitchFamily="18" charset="0"/>
              </a:rPr>
              <a:t>【</a:t>
            </a:r>
            <a:r>
              <a:rPr kumimoji="0" lang="zh-CN" altLang="en-US" sz="2400" b="0" i="0" u="none" strike="noStrike" cap="none" normalizeH="0" baseline="0" dirty="0">
                <a:ln>
                  <a:noFill/>
                </a:ln>
                <a:solidFill>
                  <a:schemeClr val="tx1"/>
                </a:solidFill>
                <a:effectLst/>
                <a:latin typeface="Times" panose="02020603050405020304" pitchFamily="18" charset="0"/>
              </a:rPr>
              <a:t>联系</a:t>
            </a:r>
            <a:r>
              <a:rPr kumimoji="0" lang="en-US" altLang="zh-CN" sz="2400" b="0" i="0" u="none" strike="noStrike" cap="none" normalizeH="0" baseline="0" dirty="0">
                <a:ln>
                  <a:noFill/>
                </a:ln>
                <a:solidFill>
                  <a:schemeClr val="tx1"/>
                </a:solidFill>
                <a:effectLst/>
                <a:latin typeface="Times" panose="02020603050405020304" pitchFamily="18" charset="0"/>
              </a:rPr>
              <a:t>】</a:t>
            </a:r>
            <a:endParaRPr kumimoji="0" lang="zh-CN" altLang="en-US" sz="2400" b="0" i="0" u="none" strike="noStrike" cap="none" normalizeH="0" baseline="0" dirty="0">
              <a:ln>
                <a:noFill/>
              </a:ln>
              <a:solidFill>
                <a:schemeClr val="tx1"/>
              </a:solidFill>
              <a:effectLst/>
              <a:latin typeface="Times"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vertic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72537" y="733192"/>
            <a:ext cx="595035" cy="584775"/>
          </a:xfrm>
          <a:prstGeom prst="rect">
            <a:avLst/>
          </a:prstGeom>
          <a:noFill/>
        </p:spPr>
        <p:txBody>
          <a:bodyPr wrap="none" rtlCol="0">
            <a:spAutoFit/>
          </a:bodyPr>
          <a:lstStyle/>
          <a:p>
            <a:r>
              <a:rPr lang="zh-CN" altLang="en-US" sz="3200" dirty="0">
                <a:solidFill>
                  <a:schemeClr val="accent2"/>
                </a:solidFill>
                <a:latin typeface="微软雅黑" charset="-122"/>
                <a:ea typeface="微软雅黑" charset="-122"/>
              </a:rPr>
              <a:t>类</a:t>
            </a:r>
            <a:endParaRPr lang="zh-CN" altLang="en-US" sz="3200" dirty="0">
              <a:solidFill>
                <a:schemeClr val="accent2"/>
              </a:solidFill>
              <a:latin typeface="微软雅黑" charset="-122"/>
              <a:ea typeface="微软雅黑" charset="-122"/>
            </a:endParaRPr>
          </a:p>
        </p:txBody>
      </p:sp>
      <p:sp>
        <p:nvSpPr>
          <p:cNvPr id="7" name="文本框 6"/>
          <p:cNvSpPr txBox="1"/>
          <p:nvPr/>
        </p:nvSpPr>
        <p:spPr>
          <a:xfrm>
            <a:off x="1613327" y="1155836"/>
            <a:ext cx="1005403" cy="584775"/>
          </a:xfrm>
          <a:prstGeom prst="rect">
            <a:avLst/>
          </a:prstGeom>
          <a:solidFill>
            <a:schemeClr val="accent2"/>
          </a:solidFill>
        </p:spPr>
        <p:txBody>
          <a:bodyPr wrap="none" rtlCol="0">
            <a:spAutoFit/>
          </a:bodyPr>
          <a:lstStyle/>
          <a:p>
            <a:r>
              <a:rPr lang="zh-CN" altLang="en-US" sz="3200" dirty="0">
                <a:solidFill>
                  <a:schemeClr val="bg1"/>
                </a:solidFill>
              </a:rPr>
              <a:t>对象</a:t>
            </a:r>
            <a:endParaRPr lang="zh-CN" altLang="en-US" sz="3200" dirty="0">
              <a:solidFill>
                <a:schemeClr val="bg1"/>
              </a:solidFill>
            </a:endParaRPr>
          </a:p>
        </p:txBody>
      </p:sp>
      <p:pic>
        <p:nvPicPr>
          <p:cNvPr id="3" name="图片 2"/>
          <p:cNvPicPr>
            <a:picLocks noChangeAspect="1"/>
          </p:cNvPicPr>
          <p:nvPr/>
        </p:nvPicPr>
        <p:blipFill>
          <a:blip r:embed="rId1"/>
          <a:stretch>
            <a:fillRect/>
          </a:stretch>
        </p:blipFill>
        <p:spPr>
          <a:xfrm>
            <a:off x="7663383" y="2688456"/>
            <a:ext cx="1162050" cy="2886075"/>
          </a:xfrm>
          <a:prstGeom prst="rect">
            <a:avLst/>
          </a:prstGeom>
        </p:spPr>
      </p:pic>
      <p:sp>
        <p:nvSpPr>
          <p:cNvPr id="5" name="文本框 4"/>
          <p:cNvSpPr txBox="1"/>
          <p:nvPr/>
        </p:nvSpPr>
        <p:spPr>
          <a:xfrm>
            <a:off x="7998184" y="1801062"/>
            <a:ext cx="543739" cy="523220"/>
          </a:xfrm>
          <a:prstGeom prst="rect">
            <a:avLst/>
          </a:prstGeom>
          <a:noFill/>
        </p:spPr>
        <p:txBody>
          <a:bodyPr wrap="none" rtlCol="0">
            <a:spAutoFit/>
          </a:bodyPr>
          <a:lstStyle/>
          <a:p>
            <a:r>
              <a:rPr lang="zh-CN" altLang="en-US" sz="2800" dirty="0">
                <a:latin typeface="微软雅黑" charset="-122"/>
                <a:ea typeface="微软雅黑" charset="-122"/>
              </a:rPr>
              <a:t>狗</a:t>
            </a:r>
            <a:endParaRPr lang="zh-CN" altLang="en-US" sz="2800" dirty="0">
              <a:latin typeface="微软雅黑" charset="-122"/>
              <a:ea typeface="微软雅黑" charset="-122"/>
            </a:endParaRPr>
          </a:p>
        </p:txBody>
      </p:sp>
      <p:sp>
        <p:nvSpPr>
          <p:cNvPr id="11" name="右大括号 10"/>
          <p:cNvSpPr/>
          <p:nvPr/>
        </p:nvSpPr>
        <p:spPr bwMode="auto">
          <a:xfrm>
            <a:off x="6740345" y="2530893"/>
            <a:ext cx="715119" cy="3098112"/>
          </a:xfrm>
          <a:prstGeom prst="rightBrace">
            <a:avLst>
              <a:gd name="adj1" fmla="val 3292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12" name="文本框 11"/>
          <p:cNvSpPr txBox="1"/>
          <p:nvPr/>
        </p:nvSpPr>
        <p:spPr>
          <a:xfrm>
            <a:off x="5580998" y="2348880"/>
            <a:ext cx="1042273" cy="400110"/>
          </a:xfrm>
          <a:prstGeom prst="rect">
            <a:avLst/>
          </a:prstGeom>
          <a:noFill/>
        </p:spPr>
        <p:txBody>
          <a:bodyPr wrap="none" rtlCol="0">
            <a:spAutoFit/>
          </a:bodyPr>
          <a:lstStyle/>
          <a:p>
            <a:r>
              <a:rPr lang="en-US" altLang="zh-CN" sz="2000" dirty="0"/>
              <a:t>Bulldog</a:t>
            </a:r>
            <a:endParaRPr lang="zh-CN" altLang="en-US" sz="2000" dirty="0"/>
          </a:p>
        </p:txBody>
      </p:sp>
      <p:sp>
        <p:nvSpPr>
          <p:cNvPr id="14" name="文本框 13"/>
          <p:cNvSpPr txBox="1"/>
          <p:nvPr/>
        </p:nvSpPr>
        <p:spPr>
          <a:xfrm>
            <a:off x="5576207" y="3838168"/>
            <a:ext cx="984565" cy="400110"/>
          </a:xfrm>
          <a:prstGeom prst="rect">
            <a:avLst/>
          </a:prstGeom>
          <a:noFill/>
        </p:spPr>
        <p:txBody>
          <a:bodyPr wrap="none" rtlCol="0">
            <a:spAutoFit/>
          </a:bodyPr>
          <a:lstStyle/>
          <a:p>
            <a:r>
              <a:rPr lang="en-US" altLang="zh-CN" sz="2000" dirty="0"/>
              <a:t>Beagle</a:t>
            </a:r>
            <a:endParaRPr lang="zh-CN" altLang="en-US" sz="2000" dirty="0"/>
          </a:p>
        </p:txBody>
      </p:sp>
      <p:sp>
        <p:nvSpPr>
          <p:cNvPr id="15" name="文本框 14"/>
          <p:cNvSpPr txBox="1"/>
          <p:nvPr/>
        </p:nvSpPr>
        <p:spPr>
          <a:xfrm>
            <a:off x="5555261" y="5257036"/>
            <a:ext cx="1320995" cy="707886"/>
          </a:xfrm>
          <a:prstGeom prst="rect">
            <a:avLst/>
          </a:prstGeom>
          <a:noFill/>
        </p:spPr>
        <p:txBody>
          <a:bodyPr wrap="square" rtlCol="0">
            <a:spAutoFit/>
          </a:bodyPr>
          <a:lstStyle/>
          <a:p>
            <a:r>
              <a:rPr lang="en-US" altLang="zh-CN" sz="2000" dirty="0"/>
              <a:t>German Shepherd</a:t>
            </a:r>
            <a:endParaRPr lang="zh-CN" altLang="en-US" sz="2000" dirty="0"/>
          </a:p>
        </p:txBody>
      </p:sp>
      <p:pic>
        <p:nvPicPr>
          <p:cNvPr id="16" name="图片 15"/>
          <p:cNvPicPr>
            <a:picLocks noChangeAspect="1"/>
          </p:cNvPicPr>
          <p:nvPr/>
        </p:nvPicPr>
        <p:blipFill>
          <a:blip r:embed="rId2"/>
          <a:stretch>
            <a:fillRect/>
          </a:stretch>
        </p:blipFill>
        <p:spPr>
          <a:xfrm>
            <a:off x="2326321" y="2216969"/>
            <a:ext cx="2724150" cy="942975"/>
          </a:xfrm>
          <a:prstGeom prst="rect">
            <a:avLst/>
          </a:prstGeom>
        </p:spPr>
      </p:pic>
      <p:pic>
        <p:nvPicPr>
          <p:cNvPr id="18" name="图片 17"/>
          <p:cNvPicPr>
            <a:picLocks noChangeAspect="1"/>
          </p:cNvPicPr>
          <p:nvPr/>
        </p:nvPicPr>
        <p:blipFill>
          <a:blip r:embed="rId3"/>
          <a:stretch>
            <a:fillRect/>
          </a:stretch>
        </p:blipFill>
        <p:spPr>
          <a:xfrm>
            <a:off x="2307271" y="3566566"/>
            <a:ext cx="2762250" cy="1143000"/>
          </a:xfrm>
          <a:prstGeom prst="rect">
            <a:avLst/>
          </a:prstGeom>
        </p:spPr>
      </p:pic>
      <p:pic>
        <p:nvPicPr>
          <p:cNvPr id="20" name="图片 19"/>
          <p:cNvPicPr>
            <a:picLocks noChangeAspect="1"/>
          </p:cNvPicPr>
          <p:nvPr/>
        </p:nvPicPr>
        <p:blipFill>
          <a:blip r:embed="rId4"/>
          <a:stretch>
            <a:fillRect/>
          </a:stretch>
        </p:blipFill>
        <p:spPr>
          <a:xfrm>
            <a:off x="2355388" y="5169105"/>
            <a:ext cx="2724150" cy="1095375"/>
          </a:xfrm>
          <a:prstGeom prst="rect">
            <a:avLst/>
          </a:prstGeom>
        </p:spPr>
      </p:pic>
      <p:pic>
        <p:nvPicPr>
          <p:cNvPr id="22" name="图片 21"/>
          <p:cNvPicPr>
            <a:picLocks noChangeAspect="1"/>
          </p:cNvPicPr>
          <p:nvPr/>
        </p:nvPicPr>
        <p:blipFill>
          <a:blip r:embed="rId5"/>
          <a:stretch>
            <a:fillRect/>
          </a:stretch>
        </p:blipFill>
        <p:spPr>
          <a:xfrm>
            <a:off x="1409271" y="2305945"/>
            <a:ext cx="706758" cy="853999"/>
          </a:xfrm>
          <a:prstGeom prst="rect">
            <a:avLst/>
          </a:prstGeom>
        </p:spPr>
      </p:pic>
      <p:pic>
        <p:nvPicPr>
          <p:cNvPr id="24" name="图片 23"/>
          <p:cNvPicPr>
            <a:picLocks noChangeAspect="1"/>
          </p:cNvPicPr>
          <p:nvPr/>
        </p:nvPicPr>
        <p:blipFill>
          <a:blip r:embed="rId6"/>
          <a:stretch>
            <a:fillRect/>
          </a:stretch>
        </p:blipFill>
        <p:spPr>
          <a:xfrm>
            <a:off x="1355026" y="3690264"/>
            <a:ext cx="790809" cy="982968"/>
          </a:xfrm>
          <a:prstGeom prst="rect">
            <a:avLst/>
          </a:prstGeom>
        </p:spPr>
      </p:pic>
      <p:pic>
        <p:nvPicPr>
          <p:cNvPr id="26" name="图片 25"/>
          <p:cNvPicPr>
            <a:picLocks noChangeAspect="1"/>
          </p:cNvPicPr>
          <p:nvPr/>
        </p:nvPicPr>
        <p:blipFill>
          <a:blip r:embed="rId7"/>
          <a:stretch>
            <a:fillRect/>
          </a:stretch>
        </p:blipFill>
        <p:spPr>
          <a:xfrm>
            <a:off x="1187624" y="5430235"/>
            <a:ext cx="845778" cy="919969"/>
          </a:xfrm>
          <a:prstGeom prst="rect">
            <a:avLst/>
          </a:prstGeom>
        </p:spPr>
      </p:pic>
      <p:pic>
        <p:nvPicPr>
          <p:cNvPr id="28" name="图片 27"/>
          <p:cNvPicPr>
            <a:picLocks noChangeAspect="1"/>
          </p:cNvPicPr>
          <p:nvPr/>
        </p:nvPicPr>
        <p:blipFill>
          <a:blip r:embed="rId7">
            <a:clrChange>
              <a:clrFrom>
                <a:srgbClr val="FFFFFF"/>
              </a:clrFrom>
              <a:clrTo>
                <a:srgbClr val="FFFFFF">
                  <a:alpha val="0"/>
                </a:srgbClr>
              </a:clrTo>
            </a:clrChange>
          </a:blip>
          <a:stretch>
            <a:fillRect/>
          </a:stretch>
        </p:blipFill>
        <p:spPr>
          <a:xfrm>
            <a:off x="883009" y="5610751"/>
            <a:ext cx="845778" cy="919969"/>
          </a:xfrm>
          <a:prstGeom prst="rect">
            <a:avLst/>
          </a:prstGeom>
        </p:spPr>
      </p:pic>
      <p:pic>
        <p:nvPicPr>
          <p:cNvPr id="29" name="图片 28"/>
          <p:cNvPicPr>
            <a:picLocks noChangeAspect="1"/>
          </p:cNvPicPr>
          <p:nvPr/>
        </p:nvPicPr>
        <p:blipFill>
          <a:blip r:embed="rId6">
            <a:clrChange>
              <a:clrFrom>
                <a:srgbClr val="FFFFFF"/>
              </a:clrFrom>
              <a:clrTo>
                <a:srgbClr val="FFFFFF">
                  <a:alpha val="0"/>
                </a:srgbClr>
              </a:clrTo>
            </a:clrChange>
          </a:blip>
          <a:stretch>
            <a:fillRect/>
          </a:stretch>
        </p:blipFill>
        <p:spPr>
          <a:xfrm>
            <a:off x="934249" y="3873562"/>
            <a:ext cx="790809" cy="982968"/>
          </a:xfrm>
          <a:prstGeom prst="rect">
            <a:avLst/>
          </a:prstGeom>
        </p:spPr>
      </p:pic>
      <p:pic>
        <p:nvPicPr>
          <p:cNvPr id="30" name="图片 29"/>
          <p:cNvPicPr>
            <a:picLocks noChangeAspect="1"/>
          </p:cNvPicPr>
          <p:nvPr/>
        </p:nvPicPr>
        <p:blipFill>
          <a:blip r:embed="rId5">
            <a:clrChange>
              <a:clrFrom>
                <a:srgbClr val="FFFFFF"/>
              </a:clrFrom>
              <a:clrTo>
                <a:srgbClr val="FFFFFF">
                  <a:alpha val="0"/>
                </a:srgbClr>
              </a:clrTo>
            </a:clrChange>
          </a:blip>
          <a:stretch>
            <a:fillRect/>
          </a:stretch>
        </p:blipFill>
        <p:spPr>
          <a:xfrm>
            <a:off x="934249" y="2130439"/>
            <a:ext cx="706758" cy="853999"/>
          </a:xfrm>
          <a:prstGeom prst="rect">
            <a:avLst/>
          </a:prstGeom>
        </p:spPr>
      </p:pic>
      <p:sp>
        <p:nvSpPr>
          <p:cNvPr id="27" name="箭头: 左 26"/>
          <p:cNvSpPr/>
          <p:nvPr/>
        </p:nvSpPr>
        <p:spPr bwMode="auto">
          <a:xfrm>
            <a:off x="5148064" y="2530893"/>
            <a:ext cx="265794" cy="178027"/>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32" name="箭头: 左 31"/>
          <p:cNvSpPr/>
          <p:nvPr/>
        </p:nvSpPr>
        <p:spPr bwMode="auto">
          <a:xfrm>
            <a:off x="5155537" y="4003721"/>
            <a:ext cx="265794" cy="178027"/>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33" name="箭头: 左 32"/>
          <p:cNvSpPr/>
          <p:nvPr/>
        </p:nvSpPr>
        <p:spPr bwMode="auto">
          <a:xfrm>
            <a:off x="5148064" y="5610751"/>
            <a:ext cx="265794" cy="178027"/>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31" name="箭头: 下 30"/>
          <p:cNvSpPr/>
          <p:nvPr/>
        </p:nvSpPr>
        <p:spPr bwMode="auto">
          <a:xfrm>
            <a:off x="8172400" y="1436888"/>
            <a:ext cx="144016" cy="233918"/>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p:cNvSpPr>
            <a:spLocks noGrp="1"/>
          </p:cNvSpPr>
          <p:nvPr>
            <p:ph idx="1"/>
          </p:nvPr>
        </p:nvSpPr>
        <p:spPr/>
        <p:txBody>
          <a:bodyPr/>
          <a:lstStyle/>
          <a:p>
            <a:pPr eaLnBrk="1" hangingPunct="1">
              <a:spcBef>
                <a:spcPts val="600"/>
              </a:spcBef>
              <a:spcAft>
                <a:spcPts val="1200"/>
              </a:spcAft>
            </a:pPr>
            <a:r>
              <a:rPr lang="zh-CN" altLang="en-US"/>
              <a:t>将数据及对数据的操作方法封装在一起，作为一个相互依存、不可分离的整体</a:t>
            </a:r>
            <a:r>
              <a:rPr lang="en-US" altLang="zh-CN"/>
              <a:t>——</a:t>
            </a:r>
            <a:r>
              <a:rPr lang="zh-CN" altLang="en-US" b="1">
                <a:solidFill>
                  <a:srgbClr val="FF0000"/>
                </a:solidFill>
              </a:rPr>
              <a:t>对象</a:t>
            </a:r>
            <a:r>
              <a:rPr lang="zh-CN" altLang="en-US"/>
              <a:t>。</a:t>
            </a:r>
            <a:endParaRPr lang="zh-CN" altLang="en-US"/>
          </a:p>
          <a:p>
            <a:pPr eaLnBrk="1" hangingPunct="1">
              <a:spcBef>
                <a:spcPts val="600"/>
              </a:spcBef>
              <a:spcAft>
                <a:spcPts val="1200"/>
              </a:spcAft>
            </a:pPr>
            <a:r>
              <a:rPr lang="zh-CN" altLang="en-US"/>
              <a:t>对同类型对象抽象出其共性，形成</a:t>
            </a:r>
            <a:r>
              <a:rPr lang="zh-CN" altLang="en-US" b="1">
                <a:solidFill>
                  <a:srgbClr val="FF0000"/>
                </a:solidFill>
              </a:rPr>
              <a:t>类</a:t>
            </a:r>
            <a:r>
              <a:rPr lang="zh-CN" altLang="en-US"/>
              <a:t>。</a:t>
            </a:r>
            <a:endParaRPr lang="zh-CN" altLang="en-US"/>
          </a:p>
          <a:p>
            <a:pPr eaLnBrk="1" hangingPunct="1">
              <a:spcBef>
                <a:spcPts val="600"/>
              </a:spcBef>
              <a:spcAft>
                <a:spcPts val="1200"/>
              </a:spcAft>
            </a:pPr>
            <a:r>
              <a:rPr lang="zh-CN" altLang="en-US"/>
              <a:t>类通过一个简单的外部接口，与外界发生关系。</a:t>
            </a:r>
            <a:endParaRPr lang="zh-CN" altLang="en-US"/>
          </a:p>
          <a:p>
            <a:pPr eaLnBrk="1" hangingPunct="1">
              <a:spcBef>
                <a:spcPts val="600"/>
              </a:spcBef>
              <a:spcAft>
                <a:spcPts val="1200"/>
              </a:spcAft>
            </a:pPr>
            <a:r>
              <a:rPr lang="zh-CN" altLang="en-US"/>
              <a:t>对象与对象之间通过消息进行通信。</a:t>
            </a:r>
            <a:endParaRPr lang="zh-CN" altLang="en-US"/>
          </a:p>
          <a:p>
            <a:pPr eaLnBrk="1" hangingPunct="1"/>
            <a:endParaRPr lang="zh-CN" altLang="en-US"/>
          </a:p>
        </p:txBody>
      </p:sp>
      <p:sp>
        <p:nvSpPr>
          <p:cNvPr id="3277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503050405090304" pitchFamily="18" charset="0"/>
              <a:ea typeface="隶书" panose="02010509060101010101" pitchFamily="49" charset="-122"/>
            </a:endParaRPr>
          </a:p>
        </p:txBody>
      </p:sp>
      <p:sp>
        <p:nvSpPr>
          <p:cNvPr id="2"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面向</a:t>
            </a:r>
            <a:r>
              <a:rPr lang="zh-CN" altLang="en-US" dirty="0">
                <a:solidFill>
                  <a:srgbClr val="CC99FF"/>
                </a:solidFill>
              </a:rPr>
              <a:t>对象</a:t>
            </a:r>
            <a:r>
              <a:rPr lang="zh-CN" altLang="en-US" dirty="0"/>
              <a:t>的方法</a:t>
            </a:r>
            <a:endParaRPr lang="zh-CN" altLang="en-US" dirty="0"/>
          </a:p>
        </p:txBody>
      </p:sp>
      <p:sp>
        <p:nvSpPr>
          <p:cNvPr id="32774" name="object 2"/>
          <p:cNvSpPr>
            <a:spLocks noChangeArrowheads="1"/>
          </p:cNvSpPr>
          <p:nvPr/>
        </p:nvSpPr>
        <p:spPr bwMode="auto">
          <a:xfrm>
            <a:off x="765175" y="4432300"/>
            <a:ext cx="1406525" cy="1181100"/>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75" name="object 3"/>
          <p:cNvSpPr>
            <a:spLocks noChangeArrowheads="1"/>
          </p:cNvSpPr>
          <p:nvPr/>
        </p:nvSpPr>
        <p:spPr bwMode="auto">
          <a:xfrm>
            <a:off x="939800" y="4508500"/>
            <a:ext cx="1146175" cy="110807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76" name="object 4"/>
          <p:cNvSpPr>
            <a:spLocks noChangeArrowheads="1"/>
          </p:cNvSpPr>
          <p:nvPr/>
        </p:nvSpPr>
        <p:spPr bwMode="auto">
          <a:xfrm>
            <a:off x="812800" y="4459288"/>
            <a:ext cx="1311275" cy="108743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77" name="object 5"/>
          <p:cNvSpPr txBox="1">
            <a:spLocks noChangeArrowheads="1"/>
          </p:cNvSpPr>
          <p:nvPr/>
        </p:nvSpPr>
        <p:spPr bwMode="auto">
          <a:xfrm>
            <a:off x="812800" y="4459288"/>
            <a:ext cx="1311275" cy="1087437"/>
          </a:xfrm>
          <a:prstGeom prst="rect">
            <a:avLst/>
          </a:prstGeom>
          <a:noFill/>
          <a:ln w="9524">
            <a:solidFill>
              <a:srgbClr val="97B853"/>
            </a:solidFill>
            <a:miter lim="800000"/>
          </a:ln>
          <a:extLst>
            <a:ext uri="{909E8E84-426E-40DD-AFC4-6F175D3DCCD1}">
              <a14:hiddenFill xmlns:a14="http://schemas.microsoft.com/office/drawing/2010/main">
                <a:solidFill>
                  <a:srgbClr val="FFFFFF"/>
                </a:solidFill>
              </a14:hiddenFill>
            </a:ext>
          </a:extLst>
        </p:spPr>
        <p:txBody>
          <a:bodyPr lIns="0" tIns="168910" rIns="0" bIns="0">
            <a:spAutoFit/>
          </a:bodyPr>
          <a:lstStyle>
            <a:lvl1pPr marL="346075"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ts val="1325"/>
              </a:spcBef>
              <a:buClrTx/>
              <a:buSzTx/>
              <a:buFontTx/>
              <a:buNone/>
            </a:pPr>
            <a:r>
              <a:rPr lang="zh-CN" altLang="zh-CN" sz="2400">
                <a:latin typeface="宋体" pitchFamily="2" charset="-122"/>
                <a:ea typeface="宋体" pitchFamily="2" charset="-122"/>
              </a:rPr>
              <a:t>一类 事物</a:t>
            </a:r>
            <a:endParaRPr lang="zh-CN" altLang="zh-CN" sz="2400">
              <a:latin typeface="宋体" pitchFamily="2" charset="-122"/>
              <a:ea typeface="宋体" pitchFamily="2" charset="-122"/>
            </a:endParaRPr>
          </a:p>
        </p:txBody>
      </p:sp>
      <p:sp>
        <p:nvSpPr>
          <p:cNvPr id="32778" name="object 9"/>
          <p:cNvSpPr txBox="1">
            <a:spLocks noChangeArrowheads="1"/>
          </p:cNvSpPr>
          <p:nvPr/>
        </p:nvSpPr>
        <p:spPr bwMode="auto">
          <a:xfrm>
            <a:off x="1973263" y="5707063"/>
            <a:ext cx="8397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ts val="3750"/>
              </a:lnSpc>
              <a:spcBef>
                <a:spcPct val="0"/>
              </a:spcBef>
              <a:buClrTx/>
              <a:buSzTx/>
              <a:buFontTx/>
              <a:buNone/>
            </a:pPr>
            <a:r>
              <a:rPr lang="zh-CN" altLang="zh-CN" sz="3200">
                <a:solidFill>
                  <a:srgbClr val="0000FF"/>
                </a:solidFill>
                <a:latin typeface="宋体" pitchFamily="2" charset="-122"/>
                <a:ea typeface="宋体" pitchFamily="2" charset="-122"/>
              </a:rPr>
              <a:t>抽象</a:t>
            </a:r>
            <a:endParaRPr lang="zh-CN" altLang="zh-CN" sz="3200">
              <a:latin typeface="宋体" pitchFamily="2" charset="-122"/>
              <a:ea typeface="宋体" pitchFamily="2" charset="-122"/>
            </a:endParaRPr>
          </a:p>
        </p:txBody>
      </p:sp>
      <p:sp>
        <p:nvSpPr>
          <p:cNvPr id="32779" name="object 10"/>
          <p:cNvSpPr txBox="1">
            <a:spLocks noChangeArrowheads="1"/>
          </p:cNvSpPr>
          <p:nvPr/>
        </p:nvSpPr>
        <p:spPr bwMode="auto">
          <a:xfrm>
            <a:off x="7086600" y="4752975"/>
            <a:ext cx="43338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ts val="3750"/>
              </a:lnSpc>
              <a:spcBef>
                <a:spcPct val="0"/>
              </a:spcBef>
              <a:buClrTx/>
              <a:buSzTx/>
              <a:buFontTx/>
              <a:buNone/>
            </a:pPr>
            <a:r>
              <a:rPr lang="zh-CN" altLang="zh-CN" sz="3200">
                <a:solidFill>
                  <a:srgbClr val="C00000"/>
                </a:solidFill>
                <a:latin typeface="宋体" pitchFamily="2" charset="-122"/>
                <a:ea typeface="宋体" pitchFamily="2" charset="-122"/>
              </a:rPr>
              <a:t>类</a:t>
            </a:r>
            <a:endParaRPr lang="zh-CN" altLang="zh-CN" sz="3200">
              <a:latin typeface="宋体" pitchFamily="2" charset="-122"/>
              <a:ea typeface="宋体" pitchFamily="2" charset="-122"/>
            </a:endParaRPr>
          </a:p>
        </p:txBody>
      </p:sp>
      <p:sp>
        <p:nvSpPr>
          <p:cNvPr id="32780" name="object 11"/>
          <p:cNvSpPr>
            <a:spLocks noChangeArrowheads="1"/>
          </p:cNvSpPr>
          <p:nvPr/>
        </p:nvSpPr>
        <p:spPr bwMode="auto">
          <a:xfrm>
            <a:off x="755650" y="4422775"/>
            <a:ext cx="1933575" cy="120015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81" name="object 12"/>
          <p:cNvSpPr/>
          <p:nvPr/>
        </p:nvSpPr>
        <p:spPr bwMode="auto">
          <a:xfrm>
            <a:off x="812800" y="4459288"/>
            <a:ext cx="1819275" cy="1087437"/>
          </a:xfrm>
          <a:custGeom>
            <a:avLst/>
            <a:gdLst>
              <a:gd name="T0" fmla="*/ 0 w 1819275"/>
              <a:gd name="T1" fmla="*/ 0 h 1087120"/>
              <a:gd name="T2" fmla="*/ 1320927 w 1819275"/>
              <a:gd name="T3" fmla="*/ 0 h 1087120"/>
              <a:gd name="T4" fmla="*/ 1320927 w 1819275"/>
              <a:gd name="T5" fmla="*/ 407900 h 1087120"/>
              <a:gd name="T6" fmla="*/ 1547114 w 1819275"/>
              <a:gd name="T7" fmla="*/ 407900 h 1087120"/>
              <a:gd name="T8" fmla="*/ 1547114 w 1819275"/>
              <a:gd name="T9" fmla="*/ 272017 h 1087120"/>
              <a:gd name="T10" fmla="*/ 1818894 w 1819275"/>
              <a:gd name="T11" fmla="*/ 543908 h 1087120"/>
              <a:gd name="T12" fmla="*/ 1547114 w 1819275"/>
              <a:gd name="T13" fmla="*/ 815800 h 1087120"/>
              <a:gd name="T14" fmla="*/ 1547114 w 1819275"/>
              <a:gd name="T15" fmla="*/ 679917 h 1087120"/>
              <a:gd name="T16" fmla="*/ 1320927 w 1819275"/>
              <a:gd name="T17" fmla="*/ 679917 h 1087120"/>
              <a:gd name="T18" fmla="*/ 1320927 w 1819275"/>
              <a:gd name="T19" fmla="*/ 1087817 h 1087120"/>
              <a:gd name="T20" fmla="*/ 0 w 1819275"/>
              <a:gd name="T21" fmla="*/ 1087817 h 1087120"/>
              <a:gd name="T22" fmla="*/ 0 w 1819275"/>
              <a:gd name="T23" fmla="*/ 0 h 10871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19275" h="1087120">
                <a:moveTo>
                  <a:pt x="0" y="0"/>
                </a:moveTo>
                <a:lnTo>
                  <a:pt x="1320927" y="0"/>
                </a:lnTo>
                <a:lnTo>
                  <a:pt x="1320927" y="407543"/>
                </a:lnTo>
                <a:lnTo>
                  <a:pt x="1547114" y="407543"/>
                </a:lnTo>
                <a:lnTo>
                  <a:pt x="1547114" y="271780"/>
                </a:lnTo>
                <a:lnTo>
                  <a:pt x="1818894" y="543432"/>
                </a:lnTo>
                <a:lnTo>
                  <a:pt x="1547114" y="815086"/>
                </a:lnTo>
                <a:lnTo>
                  <a:pt x="1547114" y="679323"/>
                </a:lnTo>
                <a:lnTo>
                  <a:pt x="1320927" y="679323"/>
                </a:lnTo>
                <a:lnTo>
                  <a:pt x="1320927" y="1086866"/>
                </a:lnTo>
                <a:lnTo>
                  <a:pt x="0" y="1086866"/>
                </a:lnTo>
                <a:lnTo>
                  <a:pt x="0" y="0"/>
                </a:lnTo>
                <a:close/>
              </a:path>
            </a:pathLst>
          </a:cu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782" name="object 13"/>
          <p:cNvSpPr>
            <a:spLocks noChangeArrowheads="1"/>
          </p:cNvSpPr>
          <p:nvPr/>
        </p:nvSpPr>
        <p:spPr bwMode="auto">
          <a:xfrm>
            <a:off x="2584450" y="4432300"/>
            <a:ext cx="3443288" cy="11811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83" name="object 14"/>
          <p:cNvSpPr>
            <a:spLocks noChangeArrowheads="1"/>
          </p:cNvSpPr>
          <p:nvPr/>
        </p:nvSpPr>
        <p:spPr bwMode="auto">
          <a:xfrm>
            <a:off x="2627313" y="4508500"/>
            <a:ext cx="3441700" cy="1108075"/>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84" name="object 15"/>
          <p:cNvSpPr>
            <a:spLocks noChangeArrowheads="1"/>
          </p:cNvSpPr>
          <p:nvPr/>
        </p:nvSpPr>
        <p:spPr bwMode="auto">
          <a:xfrm>
            <a:off x="2632075" y="4459288"/>
            <a:ext cx="3348038" cy="1087437"/>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85" name="object 16"/>
          <p:cNvSpPr txBox="1">
            <a:spLocks noChangeArrowheads="1"/>
          </p:cNvSpPr>
          <p:nvPr/>
        </p:nvSpPr>
        <p:spPr bwMode="auto">
          <a:xfrm>
            <a:off x="2632075" y="4459288"/>
            <a:ext cx="3348038" cy="1087437"/>
          </a:xfrm>
          <a:prstGeom prst="rect">
            <a:avLst/>
          </a:prstGeom>
          <a:noFill/>
          <a:ln w="9524">
            <a:solidFill>
              <a:srgbClr val="46AAC5"/>
            </a:solidFill>
            <a:miter lim="800000"/>
          </a:ln>
          <a:extLst>
            <a:ext uri="{909E8E84-426E-40DD-AFC4-6F175D3DCCD1}">
              <a14:hiddenFill xmlns:a14="http://schemas.microsoft.com/office/drawing/2010/main">
                <a:solidFill>
                  <a:srgbClr val="FFFFFF"/>
                </a:solidFill>
              </a14:hiddenFill>
            </a:ext>
          </a:extLst>
        </p:spPr>
        <p:txBody>
          <a:bodyPr lIns="0" tIns="168910" rIns="0" bIns="0">
            <a:spAutoFit/>
          </a:bodyPr>
          <a:lstStyle>
            <a:lvl1pPr marL="825500" indent="-6096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ts val="1325"/>
              </a:spcBef>
              <a:buClrTx/>
              <a:buSzTx/>
              <a:buFontTx/>
              <a:buNone/>
            </a:pPr>
            <a:r>
              <a:rPr lang="zh-CN" altLang="zh-CN" sz="2400">
                <a:latin typeface="宋体" pitchFamily="2" charset="-122"/>
                <a:ea typeface="宋体" pitchFamily="2" charset="-122"/>
              </a:rPr>
              <a:t>共同属性 </a:t>
            </a:r>
            <a:r>
              <a:rPr lang="zh-CN" altLang="zh-CN" sz="2400">
                <a:latin typeface="Wingdings" panose="05000000000000000000" pitchFamily="2" charset="2"/>
                <a:ea typeface="隶书" panose="02010509060101010101" pitchFamily="49" charset="-122"/>
              </a:rPr>
              <a:t></a:t>
            </a:r>
            <a:r>
              <a:rPr lang="zh-CN" altLang="zh-CN" sz="2400">
                <a:latin typeface="Times New Roman" panose="02020503050405090304" pitchFamily="18" charset="0"/>
                <a:ea typeface="隶书" panose="02010509060101010101" pitchFamily="49" charset="-122"/>
                <a:cs typeface="Times New Roman" panose="02020503050405090304" pitchFamily="18" charset="0"/>
              </a:rPr>
              <a:t> </a:t>
            </a:r>
            <a:r>
              <a:rPr lang="zh-CN" altLang="zh-CN" sz="2400">
                <a:solidFill>
                  <a:srgbClr val="0000FF"/>
                </a:solidFill>
                <a:latin typeface="宋体" pitchFamily="2" charset="-122"/>
                <a:ea typeface="宋体" pitchFamily="2" charset="-122"/>
              </a:rPr>
              <a:t>数据结构 </a:t>
            </a:r>
            <a:r>
              <a:rPr lang="zh-CN" altLang="zh-CN" sz="2400">
                <a:latin typeface="宋体" pitchFamily="2" charset="-122"/>
                <a:ea typeface="宋体" pitchFamily="2" charset="-122"/>
              </a:rPr>
              <a:t>行为 </a:t>
            </a:r>
            <a:r>
              <a:rPr lang="zh-CN" altLang="zh-CN" sz="2400">
                <a:latin typeface="Wingdings" panose="05000000000000000000" pitchFamily="2" charset="2"/>
                <a:ea typeface="隶书" panose="02010509060101010101" pitchFamily="49" charset="-122"/>
              </a:rPr>
              <a:t></a:t>
            </a:r>
            <a:r>
              <a:rPr lang="zh-CN" altLang="zh-CN" sz="2400">
                <a:latin typeface="Times New Roman" panose="02020503050405090304" pitchFamily="18" charset="0"/>
                <a:ea typeface="隶书" panose="02010509060101010101" pitchFamily="49" charset="-122"/>
              </a:rPr>
              <a:t> </a:t>
            </a:r>
            <a:r>
              <a:rPr lang="zh-CN" altLang="zh-CN" sz="2400">
                <a:solidFill>
                  <a:srgbClr val="0000FF"/>
                </a:solidFill>
                <a:latin typeface="宋体" pitchFamily="2" charset="-122"/>
                <a:ea typeface="宋体" pitchFamily="2" charset="-122"/>
              </a:rPr>
              <a:t>函数</a:t>
            </a:r>
            <a:endParaRPr lang="zh-CN" altLang="zh-CN" sz="2400">
              <a:latin typeface="宋体" pitchFamily="2" charset="-122"/>
              <a:ea typeface="宋体" pitchFamily="2" charset="-122"/>
            </a:endParaRPr>
          </a:p>
        </p:txBody>
      </p:sp>
      <p:sp>
        <p:nvSpPr>
          <p:cNvPr id="32786" name="object 17"/>
          <p:cNvSpPr/>
          <p:nvPr/>
        </p:nvSpPr>
        <p:spPr bwMode="auto">
          <a:xfrm>
            <a:off x="2632075" y="4459288"/>
            <a:ext cx="4222750" cy="1087437"/>
          </a:xfrm>
          <a:custGeom>
            <a:avLst/>
            <a:gdLst>
              <a:gd name="T0" fmla="*/ 0 w 4223384"/>
              <a:gd name="T1" fmla="*/ 0 h 1087120"/>
              <a:gd name="T2" fmla="*/ 3368808 w 4223384"/>
              <a:gd name="T3" fmla="*/ 0 h 1087120"/>
              <a:gd name="T4" fmla="*/ 3368808 w 4223384"/>
              <a:gd name="T5" fmla="*/ 345108 h 1087120"/>
              <a:gd name="T6" fmla="*/ 3704699 w 4223384"/>
              <a:gd name="T7" fmla="*/ 345108 h 1087120"/>
              <a:gd name="T8" fmla="*/ 3704699 w 4223384"/>
              <a:gd name="T9" fmla="*/ 165498 h 1087120"/>
              <a:gd name="T10" fmla="*/ 4221229 w 4223384"/>
              <a:gd name="T11" fmla="*/ 543908 h 1087120"/>
              <a:gd name="T12" fmla="*/ 3704699 w 4223384"/>
              <a:gd name="T13" fmla="*/ 922319 h 1087120"/>
              <a:gd name="T14" fmla="*/ 3704699 w 4223384"/>
              <a:gd name="T15" fmla="*/ 742710 h 1087120"/>
              <a:gd name="T16" fmla="*/ 3368808 w 4223384"/>
              <a:gd name="T17" fmla="*/ 742710 h 1087120"/>
              <a:gd name="T18" fmla="*/ 3368808 w 4223384"/>
              <a:gd name="T19" fmla="*/ 1087817 h 1087120"/>
              <a:gd name="T20" fmla="*/ 0 w 4223384"/>
              <a:gd name="T21" fmla="*/ 1087817 h 1087120"/>
              <a:gd name="T22" fmla="*/ 0 w 4223384"/>
              <a:gd name="T23" fmla="*/ 0 h 10871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223384" h="1087120">
                <a:moveTo>
                  <a:pt x="0" y="0"/>
                </a:moveTo>
                <a:lnTo>
                  <a:pt x="3370326" y="0"/>
                </a:lnTo>
                <a:lnTo>
                  <a:pt x="3370326" y="344805"/>
                </a:lnTo>
                <a:lnTo>
                  <a:pt x="3706367" y="344805"/>
                </a:lnTo>
                <a:lnTo>
                  <a:pt x="3706367" y="165354"/>
                </a:lnTo>
                <a:lnTo>
                  <a:pt x="4223131" y="543432"/>
                </a:lnTo>
                <a:lnTo>
                  <a:pt x="3706367" y="921512"/>
                </a:lnTo>
                <a:lnTo>
                  <a:pt x="3706367" y="742061"/>
                </a:lnTo>
                <a:lnTo>
                  <a:pt x="3370326" y="742061"/>
                </a:lnTo>
                <a:lnTo>
                  <a:pt x="3370326" y="1086866"/>
                </a:lnTo>
                <a:lnTo>
                  <a:pt x="0" y="1086866"/>
                </a:lnTo>
                <a:lnTo>
                  <a:pt x="0" y="0"/>
                </a:lnTo>
                <a:close/>
              </a:path>
            </a:pathLst>
          </a:custGeom>
          <a:noFill/>
          <a:ln w="28575">
            <a:solidFill>
              <a:srgbClr val="C0504D"/>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787" name="object 18"/>
          <p:cNvSpPr txBox="1">
            <a:spLocks noChangeArrowheads="1"/>
          </p:cNvSpPr>
          <p:nvPr/>
        </p:nvSpPr>
        <p:spPr bwMode="auto">
          <a:xfrm>
            <a:off x="5716588" y="5707063"/>
            <a:ext cx="8397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ts val="3750"/>
              </a:lnSpc>
              <a:spcBef>
                <a:spcPct val="0"/>
              </a:spcBef>
              <a:buClrTx/>
              <a:buSzTx/>
              <a:buFontTx/>
              <a:buNone/>
            </a:pPr>
            <a:r>
              <a:rPr lang="zh-CN" altLang="zh-CN" sz="3200">
                <a:solidFill>
                  <a:srgbClr val="C00000"/>
                </a:solidFill>
                <a:latin typeface="宋体" pitchFamily="2" charset="-122"/>
                <a:ea typeface="宋体" pitchFamily="2" charset="-122"/>
              </a:rPr>
              <a:t>封装</a:t>
            </a:r>
            <a:endParaRPr lang="zh-CN" altLang="zh-CN" sz="3200">
              <a:latin typeface="宋体" pitchFamily="2" charset="-122"/>
              <a:ea typeface="宋体" pitchFamily="2" charset="-122"/>
            </a:endParaRPr>
          </a:p>
        </p:txBody>
      </p:sp>
      <p:sp>
        <p:nvSpPr>
          <p:cNvPr id="32788" name="object 19"/>
          <p:cNvSpPr>
            <a:spLocks noChangeArrowheads="1"/>
          </p:cNvSpPr>
          <p:nvPr/>
        </p:nvSpPr>
        <p:spPr bwMode="auto">
          <a:xfrm>
            <a:off x="7089775" y="5273675"/>
            <a:ext cx="1452563" cy="465138"/>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89" name="object 20"/>
          <p:cNvSpPr>
            <a:spLocks noChangeArrowheads="1"/>
          </p:cNvSpPr>
          <p:nvPr/>
        </p:nvSpPr>
        <p:spPr bwMode="auto">
          <a:xfrm>
            <a:off x="7137400" y="5299075"/>
            <a:ext cx="1357313" cy="368300"/>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90" name="object 21"/>
          <p:cNvSpPr/>
          <p:nvPr/>
        </p:nvSpPr>
        <p:spPr bwMode="auto">
          <a:xfrm>
            <a:off x="7137400" y="5299075"/>
            <a:ext cx="1357313" cy="369888"/>
          </a:xfrm>
          <a:custGeom>
            <a:avLst/>
            <a:gdLst>
              <a:gd name="T0" fmla="*/ 0 w 1357629"/>
              <a:gd name="T1" fmla="*/ 370282 h 369570"/>
              <a:gd name="T2" fmla="*/ 1356301 w 1357629"/>
              <a:gd name="T3" fmla="*/ 370282 h 369570"/>
              <a:gd name="T4" fmla="*/ 1356301 w 1357629"/>
              <a:gd name="T5" fmla="*/ 0 h 369570"/>
              <a:gd name="T6" fmla="*/ 0 w 1357629"/>
              <a:gd name="T7" fmla="*/ 0 h 369570"/>
              <a:gd name="T8" fmla="*/ 0 w 1357629"/>
              <a:gd name="T9" fmla="*/ 370282 h 3695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7629" h="369570">
                <a:moveTo>
                  <a:pt x="0" y="369328"/>
                </a:moveTo>
                <a:lnTo>
                  <a:pt x="1357249" y="369328"/>
                </a:lnTo>
                <a:lnTo>
                  <a:pt x="1357249" y="0"/>
                </a:lnTo>
                <a:lnTo>
                  <a:pt x="0" y="0"/>
                </a:lnTo>
                <a:lnTo>
                  <a:pt x="0" y="369328"/>
                </a:lnTo>
                <a:close/>
              </a:path>
            </a:pathLst>
          </a:custGeom>
          <a:noFill/>
          <a:ln w="9525">
            <a:solidFill>
              <a:srgbClr val="BD4A47"/>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791" name="object 22"/>
          <p:cNvSpPr>
            <a:spLocks noChangeArrowheads="1"/>
          </p:cNvSpPr>
          <p:nvPr/>
        </p:nvSpPr>
        <p:spPr bwMode="auto">
          <a:xfrm>
            <a:off x="7089775" y="5640388"/>
            <a:ext cx="1452563" cy="957262"/>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92" name="object 23"/>
          <p:cNvSpPr>
            <a:spLocks noChangeArrowheads="1"/>
          </p:cNvSpPr>
          <p:nvPr/>
        </p:nvSpPr>
        <p:spPr bwMode="auto">
          <a:xfrm>
            <a:off x="7137400" y="5667375"/>
            <a:ext cx="1357313" cy="862013"/>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93" name="object 24"/>
          <p:cNvSpPr/>
          <p:nvPr/>
        </p:nvSpPr>
        <p:spPr bwMode="auto">
          <a:xfrm>
            <a:off x="7137400" y="5667375"/>
            <a:ext cx="1357313" cy="863600"/>
          </a:xfrm>
          <a:custGeom>
            <a:avLst/>
            <a:gdLst>
              <a:gd name="T0" fmla="*/ 0 w 1357629"/>
              <a:gd name="T1" fmla="*/ 865587 h 862329"/>
              <a:gd name="T2" fmla="*/ 1356301 w 1357629"/>
              <a:gd name="T3" fmla="*/ 865587 h 862329"/>
              <a:gd name="T4" fmla="*/ 1356301 w 1357629"/>
              <a:gd name="T5" fmla="*/ 0 h 862329"/>
              <a:gd name="T6" fmla="*/ 0 w 1357629"/>
              <a:gd name="T7" fmla="*/ 0 h 862329"/>
              <a:gd name="T8" fmla="*/ 0 w 1357629"/>
              <a:gd name="T9" fmla="*/ 865587 h 862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7629" h="862329">
                <a:moveTo>
                  <a:pt x="0" y="861771"/>
                </a:moveTo>
                <a:lnTo>
                  <a:pt x="1357249" y="861771"/>
                </a:lnTo>
                <a:lnTo>
                  <a:pt x="1357249" y="0"/>
                </a:lnTo>
                <a:lnTo>
                  <a:pt x="0" y="0"/>
                </a:lnTo>
                <a:lnTo>
                  <a:pt x="0" y="861771"/>
                </a:lnTo>
                <a:close/>
              </a:path>
            </a:pathLst>
          </a:custGeom>
          <a:noFill/>
          <a:ln w="9525">
            <a:solidFill>
              <a:srgbClr val="497DBA"/>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6" name="object 25"/>
          <p:cNvSpPr txBox="1"/>
          <p:nvPr/>
        </p:nvSpPr>
        <p:spPr>
          <a:xfrm>
            <a:off x="7519988" y="5338763"/>
            <a:ext cx="598487" cy="285750"/>
          </a:xfrm>
          <a:prstGeom prst="rect">
            <a:avLst/>
          </a:prstGeom>
        </p:spPr>
        <p:txBody>
          <a:bodyPr lIns="0" tIns="0" rIns="0" bIns="0">
            <a:spAutoFit/>
          </a:bodyPr>
          <a:lstStyle/>
          <a:p>
            <a:pPr marL="12700">
              <a:defRPr/>
            </a:pPr>
            <a:r>
              <a:rPr sz="1800" b="1" dirty="0">
                <a:solidFill>
                  <a:srgbClr val="FFFFFF"/>
                </a:solidFill>
                <a:latin typeface="Arial" panose="020B0604020202090204"/>
                <a:ea typeface="隶书" panose="02010509060101010101" pitchFamily="49" charset="-122"/>
                <a:cs typeface="Arial" panose="020B0604020202090204"/>
              </a:rPr>
              <a:t>cla</a:t>
            </a:r>
            <a:r>
              <a:rPr sz="1800" b="1" spc="-10" dirty="0">
                <a:solidFill>
                  <a:srgbClr val="FFFFFF"/>
                </a:solidFill>
                <a:latin typeface="Arial" panose="020B0604020202090204"/>
                <a:ea typeface="隶书" panose="02010509060101010101" pitchFamily="49" charset="-122"/>
                <a:cs typeface="Arial" panose="020B0604020202090204"/>
              </a:rPr>
              <a:t>s</a:t>
            </a:r>
            <a:r>
              <a:rPr sz="1800" b="1" dirty="0">
                <a:solidFill>
                  <a:srgbClr val="FFFFFF"/>
                </a:solidFill>
                <a:latin typeface="Arial" panose="020B0604020202090204"/>
                <a:ea typeface="隶书" panose="02010509060101010101" pitchFamily="49" charset="-122"/>
                <a:cs typeface="Arial" panose="020B0604020202090204"/>
              </a:rPr>
              <a:t>s</a:t>
            </a:r>
            <a:endParaRPr sz="1800" dirty="0">
              <a:latin typeface="Arial" panose="020B0604020202090204"/>
              <a:ea typeface="隶书" panose="02010509060101010101" pitchFamily="49" charset="-122"/>
              <a:cs typeface="Arial" panose="020B0604020202090204"/>
            </a:endParaRPr>
          </a:p>
        </p:txBody>
      </p:sp>
      <p:sp>
        <p:nvSpPr>
          <p:cNvPr id="32795" name="object 26"/>
          <p:cNvSpPr>
            <a:spLocks noChangeArrowheads="1"/>
          </p:cNvSpPr>
          <p:nvPr/>
        </p:nvSpPr>
        <p:spPr bwMode="auto">
          <a:xfrm>
            <a:off x="7089775" y="5640388"/>
            <a:ext cx="1452563" cy="957262"/>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96" name="object 27"/>
          <p:cNvSpPr>
            <a:spLocks noChangeArrowheads="1"/>
          </p:cNvSpPr>
          <p:nvPr/>
        </p:nvSpPr>
        <p:spPr bwMode="auto">
          <a:xfrm>
            <a:off x="7048500" y="5622925"/>
            <a:ext cx="1298575" cy="1022350"/>
          </a:xfrm>
          <a:prstGeom prst="rect">
            <a:avLst/>
          </a:prstGeom>
          <a:blipFill dpi="0" rotWithShape="1">
            <a:blip r:embed="rId1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97" name="object 28"/>
          <p:cNvSpPr>
            <a:spLocks noChangeArrowheads="1"/>
          </p:cNvSpPr>
          <p:nvPr/>
        </p:nvSpPr>
        <p:spPr bwMode="auto">
          <a:xfrm>
            <a:off x="7137400" y="5667375"/>
            <a:ext cx="1357313" cy="862013"/>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503050405090304" pitchFamily="18" charset="0"/>
              <a:ea typeface="隶书" panose="02010509060101010101" pitchFamily="49" charset="-122"/>
            </a:endParaRPr>
          </a:p>
        </p:txBody>
      </p:sp>
      <p:sp>
        <p:nvSpPr>
          <p:cNvPr id="32798" name="object 29"/>
          <p:cNvSpPr/>
          <p:nvPr/>
        </p:nvSpPr>
        <p:spPr bwMode="auto">
          <a:xfrm>
            <a:off x="7137400" y="5667375"/>
            <a:ext cx="1358900" cy="863600"/>
          </a:xfrm>
          <a:custGeom>
            <a:avLst/>
            <a:gdLst>
              <a:gd name="T0" fmla="*/ 0 w 1357629"/>
              <a:gd name="T1" fmla="*/ 865587 h 862329"/>
              <a:gd name="T2" fmla="*/ 1361065 w 1357629"/>
              <a:gd name="T3" fmla="*/ 865587 h 862329"/>
              <a:gd name="T4" fmla="*/ 1361065 w 1357629"/>
              <a:gd name="T5" fmla="*/ 0 h 862329"/>
              <a:gd name="T6" fmla="*/ 0 w 1357629"/>
              <a:gd name="T7" fmla="*/ 0 h 862329"/>
              <a:gd name="T8" fmla="*/ 0 w 1357629"/>
              <a:gd name="T9" fmla="*/ 865587 h 862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7629" h="862329">
                <a:moveTo>
                  <a:pt x="0" y="861771"/>
                </a:moveTo>
                <a:lnTo>
                  <a:pt x="1357249" y="861771"/>
                </a:lnTo>
                <a:lnTo>
                  <a:pt x="1357249" y="0"/>
                </a:lnTo>
                <a:lnTo>
                  <a:pt x="0" y="0"/>
                </a:lnTo>
                <a:lnTo>
                  <a:pt x="0" y="861771"/>
                </a:lnTo>
                <a:close/>
              </a:path>
            </a:pathLst>
          </a:custGeom>
          <a:noFill/>
          <a:ln w="9525">
            <a:solidFill>
              <a:srgbClr val="BD4A47"/>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799" name="object 30"/>
          <p:cNvSpPr txBox="1">
            <a:spLocks noChangeArrowheads="1"/>
          </p:cNvSpPr>
          <p:nvPr/>
        </p:nvSpPr>
        <p:spPr bwMode="auto">
          <a:xfrm>
            <a:off x="7308850" y="5624513"/>
            <a:ext cx="901700"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ct val="167000"/>
              </a:lnSpc>
              <a:spcBef>
                <a:spcPct val="0"/>
              </a:spcBef>
              <a:buClrTx/>
              <a:buSzTx/>
              <a:buFontTx/>
              <a:buNone/>
            </a:pPr>
            <a:r>
              <a:rPr lang="zh-CN" altLang="zh-CN" sz="1800">
                <a:latin typeface="Arial" panose="020B0604020202090204" pitchFamily="34" charset="0"/>
                <a:ea typeface="隶书" panose="02010509060101010101" pitchFamily="49" charset="-122"/>
                <a:cs typeface="Arial" panose="020B0604020202090204" pitchFamily="34" charset="0"/>
              </a:rPr>
              <a:t>Data Function</a:t>
            </a:r>
            <a:endParaRPr lang="zh-CN" altLang="zh-CN" sz="1800">
              <a:latin typeface="Arial" panose="020B0604020202090204" pitchFamily="34" charset="0"/>
              <a:ea typeface="隶书" panose="02010509060101010101" pitchFamily="49" charset="-122"/>
              <a:cs typeface="Arial" panose="020B060402020209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2"/>
          <p:cNvSpPr>
            <a:spLocks noGrp="1"/>
          </p:cNvSpPr>
          <p:nvPr>
            <p:ph idx="1"/>
          </p:nvPr>
        </p:nvSpPr>
        <p:spPr/>
        <p:txBody>
          <a:bodyPr/>
          <a:lstStyle/>
          <a:p>
            <a:pPr eaLnBrk="1" hangingPunct="1">
              <a:spcBef>
                <a:spcPts val="600"/>
              </a:spcBef>
              <a:spcAft>
                <a:spcPts val="600"/>
              </a:spcAft>
            </a:pPr>
            <a:r>
              <a:rPr lang="zh-CN" altLang="en-US"/>
              <a:t>优点：</a:t>
            </a:r>
            <a:endParaRPr lang="zh-CN" altLang="en-US"/>
          </a:p>
          <a:p>
            <a:pPr lvl="1" eaLnBrk="1" hangingPunct="1">
              <a:spcBef>
                <a:spcPts val="600"/>
              </a:spcBef>
              <a:spcAft>
                <a:spcPts val="600"/>
              </a:spcAft>
            </a:pPr>
            <a:r>
              <a:rPr lang="zh-CN" altLang="en-US"/>
              <a:t>程序模块间的关系更为简单，程序模块的独立性、数据的安全性就有了良好的保障。</a:t>
            </a:r>
            <a:endParaRPr lang="zh-CN" altLang="en-US"/>
          </a:p>
          <a:p>
            <a:pPr lvl="1" eaLnBrk="1" hangingPunct="1">
              <a:spcBef>
                <a:spcPts val="600"/>
              </a:spcBef>
              <a:spcAft>
                <a:spcPts val="600"/>
              </a:spcAft>
            </a:pPr>
            <a:r>
              <a:rPr lang="zh-CN" altLang="en-US"/>
              <a:t>通过继承与多态性，可以大大提高程序的可重用性，使得软件的开发和维护都更为方便。</a:t>
            </a:r>
            <a:endParaRPr lang="zh-CN" altLang="en-US"/>
          </a:p>
        </p:txBody>
      </p:sp>
      <p:sp>
        <p:nvSpPr>
          <p:cNvPr id="3481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503050405090304" pitchFamily="18" charset="0"/>
              <a:ea typeface="隶书" panose="02010509060101010101" pitchFamily="49" charset="-122"/>
            </a:endParaRPr>
          </a:p>
        </p:txBody>
      </p:sp>
      <p:sp>
        <p:nvSpPr>
          <p:cNvPr id="2"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面向</a:t>
            </a:r>
            <a:r>
              <a:rPr lang="zh-CN" altLang="en-US" dirty="0">
                <a:solidFill>
                  <a:srgbClr val="CC99FF"/>
                </a:solidFill>
              </a:rPr>
              <a:t>对象</a:t>
            </a:r>
            <a:r>
              <a:rPr lang="zh-CN" altLang="en-US" dirty="0"/>
              <a:t>的方法（续）</a:t>
            </a:r>
            <a:endParaRPr lang="zh-CN" altLang="en-US" dirty="0"/>
          </a:p>
        </p:txBody>
      </p:sp>
      <p:sp>
        <p:nvSpPr>
          <p:cNvPr id="5" name="标题 4"/>
          <p:cNvSpPr txBox="1"/>
          <p:nvPr/>
        </p:nvSpPr>
        <p:spPr>
          <a:xfrm>
            <a:off x="142875" y="0"/>
            <a:ext cx="8001000" cy="428625"/>
          </a:xfrm>
          <a:prstGeom prst="rect">
            <a:avLst/>
          </a:prstGeom>
        </p:spPr>
        <p:txBody>
          <a:bodyPr anchor="ctr">
            <a:normAutofit fontScale="92500" lnSpcReduction="20000"/>
          </a:bodyPr>
          <a:lstStyle/>
          <a:p>
            <a:pPr fontAlgn="auto">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1.2.1 </a:t>
            </a:r>
            <a:r>
              <a:rPr kumimoji="0" lang="zh-CN" altLang="en-US" sz="2800" dirty="0">
                <a:solidFill>
                  <a:schemeClr val="bg1"/>
                </a:solidFill>
                <a:latin typeface="+mj-lt"/>
                <a:ea typeface="+mj-ea"/>
                <a:cs typeface="+mj-cs"/>
              </a:rPr>
              <a:t>面向对象方法的由来</a:t>
            </a:r>
            <a:endParaRPr kumimoji="0" lang="zh-CN" altLang="en-US" sz="2800" dirty="0">
              <a:solidFill>
                <a:schemeClr val="bg1"/>
              </a:solidFill>
              <a:latin typeface="+mj-lt"/>
              <a:ea typeface="+mj-ea"/>
              <a:cs typeface="+mj-cs"/>
            </a:endParaRPr>
          </a:p>
        </p:txBody>
      </p:sp>
      <p:sp>
        <p:nvSpPr>
          <p:cNvPr id="34822" name="TextBox 5"/>
          <p:cNvSpPr txBox="1">
            <a:spLocks noChangeArrowheads="1"/>
          </p:cNvSpPr>
          <p:nvPr/>
        </p:nvSpPr>
        <p:spPr bwMode="auto">
          <a:xfrm>
            <a:off x="395288" y="4149725"/>
            <a:ext cx="83534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r>
              <a:rPr lang="zh-CN" altLang="en-US" sz="4000" dirty="0">
                <a:latin typeface="Times New Roman" panose="02020503050405090304" pitchFamily="18" charset="0"/>
                <a:ea typeface="隶书" panose="02010509060101010101" pitchFamily="49" charset="-122"/>
              </a:rPr>
              <a:t>对象 </a:t>
            </a:r>
            <a:r>
              <a:rPr lang="en-US" altLang="zh-CN" sz="4000" dirty="0">
                <a:latin typeface="Times New Roman" panose="02020503050405090304" pitchFamily="18" charset="0"/>
                <a:ea typeface="隶书" panose="02010509060101010101" pitchFamily="49" charset="-122"/>
              </a:rPr>
              <a:t>= </a:t>
            </a:r>
            <a:r>
              <a:rPr lang="zh-CN" altLang="en-US" sz="4000" dirty="0">
                <a:latin typeface="Times New Roman" panose="02020503050405090304" pitchFamily="18" charset="0"/>
                <a:ea typeface="隶书" panose="02010509060101010101" pitchFamily="49" charset="-122"/>
              </a:rPr>
              <a:t>数据结构</a:t>
            </a:r>
            <a:r>
              <a:rPr lang="en-US" altLang="zh-CN" sz="4000" dirty="0">
                <a:latin typeface="Times New Roman" panose="02020503050405090304" pitchFamily="18" charset="0"/>
                <a:ea typeface="隶书" panose="02010509060101010101" pitchFamily="49" charset="-122"/>
              </a:rPr>
              <a:t>+</a:t>
            </a:r>
            <a:r>
              <a:rPr lang="zh-CN" altLang="en-US" sz="4000" dirty="0">
                <a:latin typeface="Times New Roman" panose="02020503050405090304" pitchFamily="18" charset="0"/>
                <a:ea typeface="隶书" panose="02010509060101010101" pitchFamily="49" charset="-122"/>
              </a:rPr>
              <a:t>算法</a:t>
            </a:r>
            <a:endParaRPr lang="zh-CN" altLang="en-US" sz="4000" dirty="0">
              <a:latin typeface="Times New Roman" panose="02020503050405090304" pitchFamily="18" charset="0"/>
              <a:ea typeface="隶书" panose="02010509060101010101" pitchFamily="49" charset="-122"/>
            </a:endParaRPr>
          </a:p>
          <a:p>
            <a:pPr eaLnBrk="1" hangingPunct="1">
              <a:spcBef>
                <a:spcPct val="0"/>
              </a:spcBef>
              <a:buClrTx/>
              <a:buSzTx/>
              <a:buFontTx/>
              <a:buNone/>
            </a:pPr>
            <a:r>
              <a:rPr lang="zh-CN" altLang="en-US" sz="4000" dirty="0">
                <a:latin typeface="Times New Roman" panose="02020503050405090304" pitchFamily="18" charset="0"/>
                <a:ea typeface="隶书" panose="02010509060101010101" pitchFamily="49" charset="-122"/>
              </a:rPr>
              <a:t>程序 </a:t>
            </a:r>
            <a:r>
              <a:rPr lang="en-US" altLang="zh-CN" sz="4000" dirty="0">
                <a:latin typeface="Times New Roman" panose="02020503050405090304" pitchFamily="18" charset="0"/>
                <a:ea typeface="隶书" panose="02010509060101010101" pitchFamily="49" charset="-122"/>
              </a:rPr>
              <a:t>=</a:t>
            </a:r>
            <a:r>
              <a:rPr lang="zh-CN" altLang="en-US" sz="4000" dirty="0">
                <a:latin typeface="Times New Roman" panose="02020503050405090304" pitchFamily="18" charset="0"/>
                <a:ea typeface="隶书" panose="02010509060101010101" pitchFamily="49" charset="-122"/>
              </a:rPr>
              <a:t>（对象</a:t>
            </a:r>
            <a:r>
              <a:rPr lang="en-US" altLang="zh-CN" sz="4000" dirty="0">
                <a:latin typeface="Times New Roman" panose="02020503050405090304" pitchFamily="18" charset="0"/>
                <a:ea typeface="隶书" panose="02010509060101010101" pitchFamily="49" charset="-122"/>
              </a:rPr>
              <a:t>+</a:t>
            </a:r>
            <a:r>
              <a:rPr lang="zh-CN" altLang="en-US" sz="4000" dirty="0">
                <a:latin typeface="Times New Roman" panose="02020503050405090304" pitchFamily="18" charset="0"/>
                <a:ea typeface="隶书" panose="02010509060101010101" pitchFamily="49" charset="-122"/>
              </a:rPr>
              <a:t>对象</a:t>
            </a:r>
            <a:r>
              <a:rPr lang="en-US" altLang="zh-CN" sz="4000" dirty="0">
                <a:latin typeface="Times New Roman" panose="02020503050405090304" pitchFamily="18" charset="0"/>
                <a:ea typeface="隶书" panose="02010509060101010101" pitchFamily="49" charset="-122"/>
              </a:rPr>
              <a:t>+…+</a:t>
            </a:r>
            <a:r>
              <a:rPr lang="zh-CN" altLang="en-US" sz="4000" dirty="0">
                <a:latin typeface="Times New Roman" panose="02020503050405090304" pitchFamily="18" charset="0"/>
                <a:ea typeface="隶书" panose="02010509060101010101" pitchFamily="49" charset="-122"/>
              </a:rPr>
              <a:t>对象）</a:t>
            </a:r>
            <a:r>
              <a:rPr lang="en-US" altLang="zh-CN" sz="4000" dirty="0">
                <a:latin typeface="Times New Roman" panose="02020503050405090304" pitchFamily="18" charset="0"/>
                <a:ea typeface="隶书" panose="02010509060101010101" pitchFamily="49" charset="-122"/>
              </a:rPr>
              <a:t>+</a:t>
            </a:r>
            <a:r>
              <a:rPr lang="zh-CN" altLang="en-US" sz="4000" dirty="0">
                <a:latin typeface="Times New Roman" panose="02020503050405090304" pitchFamily="18" charset="0"/>
                <a:ea typeface="隶书" panose="02010509060101010101" pitchFamily="49" charset="-122"/>
              </a:rPr>
              <a:t>消息</a:t>
            </a:r>
            <a:endParaRPr lang="zh-CN" altLang="en-US" sz="4000" dirty="0">
              <a:latin typeface="Times New Roman" panose="02020503050405090304" pitchFamily="18" charset="0"/>
              <a:ea typeface="隶书" panose="020105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r>
              <a:rPr lang="zh-CN" altLang="en-US" dirty="0"/>
              <a:t>最早的程序</a:t>
            </a:r>
            <a:endParaRPr lang="zh-CN" altLang="en-US" dirty="0"/>
          </a:p>
          <a:p>
            <a:pPr lvl="1"/>
            <a:r>
              <a:rPr lang="zh-CN" altLang="en-US" dirty="0"/>
              <a:t>目的：用于数学计算</a:t>
            </a:r>
            <a:endParaRPr lang="zh-CN" altLang="en-US" dirty="0"/>
          </a:p>
          <a:p>
            <a:pPr lvl="1"/>
            <a:r>
              <a:rPr lang="zh-CN" altLang="en-US" dirty="0"/>
              <a:t>主要工作：设计求解问题的过程</a:t>
            </a:r>
            <a:endParaRPr lang="zh-CN" altLang="en-US" dirty="0"/>
          </a:p>
          <a:p>
            <a:pPr lvl="1"/>
            <a:r>
              <a:rPr lang="zh-CN" altLang="en-US" dirty="0"/>
              <a:t>缺点：对于庞大、复杂的程序难以开发和维护</a:t>
            </a:r>
            <a:endParaRPr lang="zh-CN" altLang="en-US" dirty="0"/>
          </a:p>
          <a:p>
            <a:r>
              <a:rPr lang="zh-CN" altLang="en-US" dirty="0"/>
              <a:t>设计思路</a:t>
            </a:r>
            <a:endParaRPr lang="zh-CN" altLang="en-US" dirty="0"/>
          </a:p>
          <a:p>
            <a:pPr lvl="1"/>
            <a:r>
              <a:rPr lang="zh-CN" altLang="en-US" dirty="0"/>
              <a:t>自顶向下、逐步求精。采用模块分解与功能抽象，自顶向下、分而治之。</a:t>
            </a:r>
            <a:endParaRPr lang="zh-CN" altLang="en-US" dirty="0"/>
          </a:p>
          <a:p>
            <a:r>
              <a:rPr lang="zh-CN" altLang="en-US" dirty="0"/>
              <a:t>程序结构：</a:t>
            </a:r>
            <a:endParaRPr lang="zh-CN" altLang="en-US" dirty="0"/>
          </a:p>
          <a:p>
            <a:pPr lvl="1"/>
            <a:r>
              <a:rPr lang="zh-CN" altLang="en-US" dirty="0"/>
              <a:t>按功能划分为若干个基本模块，形成一个树状结构。</a:t>
            </a:r>
            <a:endParaRPr lang="zh-CN" altLang="en-US" dirty="0"/>
          </a:p>
          <a:p>
            <a:pPr lvl="1"/>
            <a:r>
              <a:rPr lang="zh-CN" altLang="en-US" dirty="0"/>
              <a:t>各模块间的关系尽可能简单，功能上相对独立；每一模块内部均是由顺序、选择和循环三种基本结构组成。</a:t>
            </a:r>
            <a:endParaRPr lang="zh-CN" altLang="en-US" dirty="0"/>
          </a:p>
          <a:p>
            <a:pPr lvl="1"/>
            <a:r>
              <a:rPr lang="zh-CN" altLang="en-US" dirty="0"/>
              <a:t>其模块化实现的具体方法是使用子程序。</a:t>
            </a:r>
            <a:endParaRPr lang="zh-CN" altLang="en-US" dirty="0"/>
          </a:p>
          <a:p>
            <a:endParaRPr lang="en-US" dirty="0"/>
          </a:p>
        </p:txBody>
      </p:sp>
      <p:sp>
        <p:nvSpPr>
          <p:cNvPr id="3" name="标题 2"/>
          <p:cNvSpPr>
            <a:spLocks noGrp="1"/>
          </p:cNvSpPr>
          <p:nvPr>
            <p:ph type="title"/>
          </p:nvPr>
        </p:nvSpPr>
        <p:spPr/>
        <p:txBody>
          <a:bodyPr/>
          <a:lstStyle/>
          <a:p>
            <a:r>
              <a:rPr lang="zh-CN" altLang="en-US" dirty="0"/>
              <a:t>面向过程的程序设计方法</a:t>
            </a:r>
            <a:endParaRPr lang="en-US" dirty="0"/>
          </a:p>
        </p:txBody>
      </p:sp>
      <p:sp>
        <p:nvSpPr>
          <p:cNvPr id="4" name="TextBox 15"/>
          <p:cNvSpPr txBox="1">
            <a:spLocks noChangeArrowheads="1"/>
          </p:cNvSpPr>
          <p:nvPr/>
        </p:nvSpPr>
        <p:spPr bwMode="auto">
          <a:xfrm>
            <a:off x="1342475" y="3076369"/>
            <a:ext cx="6459049" cy="1446550"/>
          </a:xfrm>
          <a:prstGeom prst="rect">
            <a:avLst/>
          </a:prstGeom>
          <a:solidFill>
            <a:schemeClr val="accent4">
              <a:lumMod val="60000"/>
              <a:lumOff val="40000"/>
            </a:schemeClr>
          </a:solidFill>
          <a:ln>
            <a:noFill/>
          </a:ln>
        </p:spPr>
        <p:txBody>
          <a:bodyPr wrap="square">
            <a:spAutoFit/>
          </a:bodyPr>
          <a:lstStyle>
            <a:defPPr>
              <a:defRPr lang="zh-CN"/>
            </a:defPPr>
            <a:lvl1pPr algn="l" rtl="0" fontAlgn="base">
              <a:spcBef>
                <a:spcPct val="0"/>
              </a:spcBef>
              <a:spcAft>
                <a:spcPct val="0"/>
              </a:spcAft>
              <a:defRPr kumimoji="1" sz="2400" kern="1200">
                <a:solidFill>
                  <a:schemeClr val="tx1"/>
                </a:solidFill>
                <a:latin typeface="Times New Roman" panose="02020503050405090304"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anose="02020503050405090304"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anose="02020503050405090304"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anose="02020503050405090304"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anose="02020503050405090304"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anose="02020503050405090304"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anose="02020503050405090304"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anose="02020503050405090304" pitchFamily="18" charset="0"/>
                <a:ea typeface="宋体" pitchFamily="2" charset="-122"/>
                <a:cs typeface="+mn-cs"/>
              </a:defRPr>
            </a:lvl9pPr>
          </a:lstStyle>
          <a:p>
            <a:pPr eaLnBrk="1" hangingPunct="1">
              <a:spcBef>
                <a:spcPct val="0"/>
              </a:spcBef>
              <a:buClrTx/>
              <a:buSzTx/>
              <a:buFontTx/>
              <a:buNone/>
            </a:pPr>
            <a:r>
              <a:rPr lang="zh-CN" altLang="en-US" sz="4400" dirty="0">
                <a:latin typeface="Times New Roman" panose="02020503050405090304" pitchFamily="18" charset="0"/>
                <a:ea typeface="隶书" panose="02010509060101010101" pitchFamily="49" charset="-122"/>
              </a:rPr>
              <a:t>程序 </a:t>
            </a:r>
            <a:r>
              <a:rPr lang="en-US" altLang="zh-CN" sz="4400" dirty="0">
                <a:latin typeface="Times New Roman" panose="02020503050405090304" pitchFamily="18" charset="0"/>
                <a:ea typeface="隶书" panose="02010509060101010101" pitchFamily="49" charset="-122"/>
              </a:rPr>
              <a:t>=  </a:t>
            </a:r>
            <a:r>
              <a:rPr lang="zh-CN" altLang="en-US" sz="4400" dirty="0">
                <a:latin typeface="Times New Roman" panose="02020503050405090304" pitchFamily="18" charset="0"/>
                <a:ea typeface="隶书" panose="02010509060101010101" pitchFamily="49" charset="-122"/>
              </a:rPr>
              <a:t>数据结构 </a:t>
            </a:r>
            <a:r>
              <a:rPr lang="en-US" altLang="zh-CN" sz="4400" dirty="0">
                <a:latin typeface="Times New Roman" panose="02020503050405090304" pitchFamily="18" charset="0"/>
                <a:ea typeface="隶书" panose="02010509060101010101" pitchFamily="49" charset="-122"/>
              </a:rPr>
              <a:t>+ </a:t>
            </a:r>
            <a:r>
              <a:rPr lang="zh-CN" altLang="en-US" sz="4400" dirty="0">
                <a:latin typeface="Times New Roman" panose="02020503050405090304" pitchFamily="18" charset="0"/>
                <a:ea typeface="隶书" panose="02010509060101010101" pitchFamily="49" charset="-122"/>
              </a:rPr>
              <a:t>算法</a:t>
            </a:r>
            <a:endParaRPr lang="en-US" altLang="zh-CN" sz="4400" dirty="0">
              <a:latin typeface="Times New Roman" panose="02020503050405090304" pitchFamily="18" charset="0"/>
              <a:ea typeface="隶书" panose="02010509060101010101" pitchFamily="49" charset="-122"/>
            </a:endParaRPr>
          </a:p>
          <a:p>
            <a:pPr eaLnBrk="1" hangingPunct="1">
              <a:spcBef>
                <a:spcPct val="0"/>
              </a:spcBef>
              <a:buClrTx/>
              <a:buSzTx/>
              <a:buFontTx/>
              <a:buNone/>
            </a:pPr>
            <a:r>
              <a:rPr lang="en-US" altLang="zh-CN" sz="4400" dirty="0">
                <a:latin typeface="Times New Roman" panose="02020503050405090304" pitchFamily="18" charset="0"/>
                <a:ea typeface="隶书" panose="02010509060101010101" pitchFamily="49" charset="-122"/>
              </a:rPr>
              <a:t>         =  </a:t>
            </a:r>
            <a:r>
              <a:rPr lang="zh-CN" altLang="en-US" sz="4400" dirty="0">
                <a:latin typeface="Times New Roman" panose="02020503050405090304" pitchFamily="18" charset="0"/>
                <a:ea typeface="隶书" panose="02010509060101010101" pitchFamily="49" charset="-122"/>
              </a:rPr>
              <a:t>变量 </a:t>
            </a:r>
            <a:r>
              <a:rPr lang="en-US" altLang="zh-CN" sz="4400" dirty="0">
                <a:latin typeface="Times New Roman" panose="02020503050405090304" pitchFamily="18" charset="0"/>
                <a:ea typeface="隶书" panose="02010509060101010101" pitchFamily="49" charset="-122"/>
              </a:rPr>
              <a:t>+ </a:t>
            </a:r>
            <a:r>
              <a:rPr lang="zh-CN" altLang="en-US" sz="4400" dirty="0">
                <a:latin typeface="Times New Roman" panose="02020503050405090304" pitchFamily="18" charset="0"/>
                <a:ea typeface="隶书" panose="02010509060101010101" pitchFamily="49" charset="-122"/>
              </a:rPr>
              <a:t>函数</a:t>
            </a:r>
            <a:endParaRPr lang="zh-CN" altLang="en-US" sz="4400" dirty="0">
              <a:latin typeface="Times New Roman" panose="02020503050405090304" pitchFamily="18" charset="0"/>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内容占位符 2"/>
          <p:cNvSpPr>
            <a:spLocks noGrp="1"/>
          </p:cNvSpPr>
          <p:nvPr>
            <p:ph idx="1"/>
          </p:nvPr>
        </p:nvSpPr>
        <p:spPr/>
        <p:txBody>
          <a:bodyPr/>
          <a:lstStyle/>
          <a:p>
            <a:pPr eaLnBrk="1" hangingPunct="1">
              <a:lnSpc>
                <a:spcPct val="110000"/>
              </a:lnSpc>
            </a:pPr>
            <a:r>
              <a:rPr lang="zh-CN" altLang="en-US" dirty="0"/>
              <a:t>一般意义上的对象：</a:t>
            </a:r>
            <a:endParaRPr lang="zh-CN" altLang="en-US" dirty="0"/>
          </a:p>
          <a:p>
            <a:pPr lvl="1" eaLnBrk="1" hangingPunct="1">
              <a:lnSpc>
                <a:spcPct val="110000"/>
              </a:lnSpc>
            </a:pPr>
            <a:r>
              <a:rPr lang="zh-CN" altLang="en-US" dirty="0"/>
              <a:t>现实世界中一个实际存在的事物。</a:t>
            </a:r>
            <a:endParaRPr lang="zh-CN" altLang="en-US" dirty="0"/>
          </a:p>
          <a:p>
            <a:pPr lvl="1" eaLnBrk="1" hangingPunct="1">
              <a:lnSpc>
                <a:spcPct val="110000"/>
              </a:lnSpc>
            </a:pPr>
            <a:r>
              <a:rPr lang="zh-CN" altLang="en-US" dirty="0"/>
              <a:t>可以是有形的（比如一辆汽车），也可以是无形的（比如一项计划）。</a:t>
            </a:r>
            <a:endParaRPr lang="zh-CN" altLang="en-US" dirty="0"/>
          </a:p>
          <a:p>
            <a:pPr lvl="1">
              <a:lnSpc>
                <a:spcPct val="110000"/>
              </a:lnSpc>
            </a:pPr>
            <a:r>
              <a:rPr lang="zh-CN" altLang="en-US" dirty="0"/>
              <a:t>是构成世界的一个独立单位，具有</a:t>
            </a:r>
            <a:endParaRPr lang="zh-CN" altLang="en-US" dirty="0"/>
          </a:p>
          <a:p>
            <a:pPr lvl="2">
              <a:lnSpc>
                <a:spcPct val="110000"/>
              </a:lnSpc>
            </a:pPr>
            <a:r>
              <a:rPr lang="zh-CN" altLang="en-US" dirty="0">
                <a:solidFill>
                  <a:srgbClr val="0070C0"/>
                </a:solidFill>
              </a:rPr>
              <a:t>静态特征</a:t>
            </a:r>
            <a:r>
              <a:rPr lang="zh-CN" altLang="en-US" dirty="0"/>
              <a:t>：可以用某种数据来描述</a:t>
            </a:r>
            <a:endParaRPr lang="zh-CN" altLang="en-US" dirty="0"/>
          </a:p>
          <a:p>
            <a:pPr lvl="2">
              <a:lnSpc>
                <a:spcPct val="110000"/>
              </a:lnSpc>
            </a:pPr>
            <a:r>
              <a:rPr lang="zh-CN" altLang="en-US" dirty="0">
                <a:solidFill>
                  <a:srgbClr val="0070C0"/>
                </a:solidFill>
              </a:rPr>
              <a:t>动态特征</a:t>
            </a:r>
            <a:r>
              <a:rPr lang="zh-CN" altLang="en-US" dirty="0"/>
              <a:t>：对象所表现的行为或具有的功能</a:t>
            </a:r>
            <a:endParaRPr lang="zh-CN" altLang="en-US" dirty="0"/>
          </a:p>
          <a:p>
            <a:pPr lvl="1">
              <a:lnSpc>
                <a:spcPct val="110000"/>
              </a:lnSpc>
            </a:pPr>
            <a:r>
              <a:rPr lang="zh-CN" altLang="en-US" dirty="0"/>
              <a:t>面向对象方法中的对象：</a:t>
            </a:r>
            <a:endParaRPr lang="zh-CN" altLang="en-US" dirty="0"/>
          </a:p>
          <a:p>
            <a:pPr lvl="2">
              <a:lnSpc>
                <a:spcPct val="110000"/>
              </a:lnSpc>
            </a:pPr>
            <a:r>
              <a:rPr lang="zh-CN" altLang="en-US" dirty="0"/>
              <a:t>是系统中用来描述客观事物的一个实体，它是用来构成系统的一个基本单位。对象由一组属性和一组行为构成。</a:t>
            </a:r>
            <a:endParaRPr lang="zh-CN" altLang="en-US" dirty="0"/>
          </a:p>
          <a:p>
            <a:pPr lvl="2">
              <a:lnSpc>
                <a:spcPct val="110000"/>
              </a:lnSpc>
            </a:pPr>
            <a:r>
              <a:rPr lang="zh-CN" altLang="en-US" dirty="0">
                <a:solidFill>
                  <a:srgbClr val="0070C0"/>
                </a:solidFill>
              </a:rPr>
              <a:t>属性：</a:t>
            </a:r>
            <a:r>
              <a:rPr lang="zh-CN" altLang="en-US" dirty="0"/>
              <a:t>用来描述对象静态特征的数据项。</a:t>
            </a:r>
            <a:endParaRPr lang="zh-CN" altLang="en-US" dirty="0"/>
          </a:p>
          <a:p>
            <a:pPr lvl="2">
              <a:lnSpc>
                <a:spcPct val="110000"/>
              </a:lnSpc>
            </a:pPr>
            <a:r>
              <a:rPr lang="zh-CN" altLang="en-US" dirty="0">
                <a:solidFill>
                  <a:srgbClr val="0070C0"/>
                </a:solidFill>
              </a:rPr>
              <a:t>行为：</a:t>
            </a:r>
            <a:r>
              <a:rPr lang="zh-CN" altLang="en-US" dirty="0"/>
              <a:t>用来描述对象动态特征的操作序列。</a:t>
            </a:r>
            <a:endParaRPr lang="zh-CN" altLang="en-US" dirty="0"/>
          </a:p>
          <a:p>
            <a:pPr lvl="1" eaLnBrk="1" hangingPunct="1">
              <a:lnSpc>
                <a:spcPct val="110000"/>
              </a:lnSpc>
            </a:pPr>
            <a:endParaRPr lang="en-US" altLang="zh-CN" dirty="0"/>
          </a:p>
        </p:txBody>
      </p:sp>
      <p:sp>
        <p:nvSpPr>
          <p:cNvPr id="3584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503050405090304" pitchFamily="18" charset="0"/>
              <a:ea typeface="隶书" panose="02010509060101010101" pitchFamily="49" charset="-122"/>
            </a:endParaRPr>
          </a:p>
        </p:txBody>
      </p:sp>
      <p:sp>
        <p:nvSpPr>
          <p:cNvPr id="28674" name="标题 1"/>
          <p:cNvSpPr>
            <a:spLocks noGrp="1"/>
          </p:cNvSpPr>
          <p:nvPr>
            <p:ph type="title"/>
          </p:nvPr>
        </p:nvSpPr>
        <p:spPr>
          <a:xfrm>
            <a:off x="457200" y="274638"/>
            <a:ext cx="8229600" cy="1143000"/>
          </a:xfrm>
        </p:spPr>
        <p:txBody>
          <a:bodyPr>
            <a:normAutofit/>
          </a:bodyPr>
          <a:lstStyle/>
          <a:p>
            <a:pPr eaLnBrk="1" fontAlgn="auto" hangingPunct="1">
              <a:spcAft>
                <a:spcPts val="0"/>
              </a:spcAft>
              <a:defRPr/>
            </a:pPr>
            <a:r>
              <a:rPr lang="zh-CN" altLang="en-US" dirty="0"/>
              <a:t>面向对象的基本概念</a:t>
            </a:r>
            <a:r>
              <a:rPr lang="en-US" altLang="zh-CN" dirty="0"/>
              <a:t>——</a:t>
            </a:r>
            <a:r>
              <a:rPr lang="zh-CN" altLang="en-US" dirty="0"/>
              <a:t>对象</a:t>
            </a:r>
            <a:endParaRPr lang="zh-CN" altLang="en-US" dirty="0"/>
          </a:p>
        </p:txBody>
      </p:sp>
      <p:sp>
        <p:nvSpPr>
          <p:cNvPr id="5" name="标题 4"/>
          <p:cNvSpPr txBox="1"/>
          <p:nvPr/>
        </p:nvSpPr>
        <p:spPr>
          <a:xfrm>
            <a:off x="142875" y="0"/>
            <a:ext cx="8001000" cy="428625"/>
          </a:xfrm>
          <a:prstGeom prst="rect">
            <a:avLst/>
          </a:prstGeom>
        </p:spPr>
        <p:txBody>
          <a:bodyPr anchor="ctr">
            <a:normAutofit fontScale="92500" lnSpcReduction="20000"/>
          </a:bodyPr>
          <a:lstStyle/>
          <a:p>
            <a:pPr fontAlgn="auto">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endParaRPr kumimoji="0" lang="zh-CN" altLang="en-US" sz="2800" dirty="0">
              <a:solidFill>
                <a:schemeClr val="bg1"/>
              </a:solidFill>
              <a:latin typeface="+mj-lt"/>
              <a:ea typeface="+mj-ea"/>
              <a:cs typeface="+mj-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内容占位符 2"/>
          <p:cNvSpPr>
            <a:spLocks noGrp="1"/>
          </p:cNvSpPr>
          <p:nvPr>
            <p:ph idx="1"/>
          </p:nvPr>
        </p:nvSpPr>
        <p:spPr/>
        <p:txBody>
          <a:bodyPr/>
          <a:lstStyle/>
          <a:p>
            <a:pPr>
              <a:lnSpc>
                <a:spcPct val="120000"/>
              </a:lnSpc>
              <a:spcBef>
                <a:spcPts val="600"/>
              </a:spcBef>
              <a:spcAft>
                <a:spcPts val="1200"/>
              </a:spcAft>
            </a:pPr>
            <a:r>
              <a:rPr lang="zh-CN" altLang="en-US" dirty="0"/>
              <a:t>面向对象方法中的</a:t>
            </a:r>
            <a:r>
              <a:rPr lang="en-US" altLang="zh-CN" dirty="0"/>
              <a:t>"</a:t>
            </a:r>
            <a:r>
              <a:rPr lang="zh-CN" altLang="en-US" dirty="0"/>
              <a:t>类</a:t>
            </a:r>
            <a:r>
              <a:rPr lang="en-US" altLang="zh-CN" dirty="0"/>
              <a:t>"</a:t>
            </a:r>
            <a:endParaRPr lang="en-US" altLang="zh-CN" dirty="0"/>
          </a:p>
          <a:p>
            <a:pPr lvl="1">
              <a:lnSpc>
                <a:spcPct val="120000"/>
              </a:lnSpc>
              <a:spcBef>
                <a:spcPts val="600"/>
              </a:spcBef>
              <a:spcAft>
                <a:spcPts val="1200"/>
              </a:spcAft>
            </a:pPr>
            <a:r>
              <a:rPr lang="zh-CN" altLang="en-US" dirty="0"/>
              <a:t>具有相同属性和行为的一组对象的集合</a:t>
            </a:r>
            <a:endParaRPr lang="zh-CN" altLang="en-US" dirty="0"/>
          </a:p>
          <a:p>
            <a:pPr lvl="1">
              <a:lnSpc>
                <a:spcPct val="120000"/>
              </a:lnSpc>
              <a:spcBef>
                <a:spcPts val="600"/>
              </a:spcBef>
              <a:spcAft>
                <a:spcPts val="1200"/>
              </a:spcAft>
            </a:pPr>
            <a:r>
              <a:rPr lang="zh-CN" altLang="en-US" dirty="0"/>
              <a:t>为属于该类的全部对象提供了抽象的描述，包括属性和行为两个主要部分。</a:t>
            </a:r>
            <a:endParaRPr lang="zh-CN" altLang="en-US" dirty="0"/>
          </a:p>
          <a:p>
            <a:pPr lvl="1">
              <a:lnSpc>
                <a:spcPct val="120000"/>
              </a:lnSpc>
              <a:spcBef>
                <a:spcPts val="600"/>
              </a:spcBef>
              <a:spcAft>
                <a:spcPts val="1200"/>
              </a:spcAft>
            </a:pPr>
            <a:r>
              <a:rPr lang="zh-CN" altLang="en-US" dirty="0"/>
              <a:t>类与对象的关系：</a:t>
            </a:r>
            <a:br>
              <a:rPr lang="zh-CN" altLang="en-US" dirty="0"/>
            </a:br>
            <a:r>
              <a:rPr lang="zh-CN" altLang="en-US" dirty="0"/>
              <a:t>犹如模具与铸件之间的关系，一个属于某类的对象称为该类的一个</a:t>
            </a:r>
            <a:r>
              <a:rPr lang="zh-CN" altLang="en-US" dirty="0">
                <a:solidFill>
                  <a:srgbClr val="0070C0"/>
                </a:solidFill>
              </a:rPr>
              <a:t>实例</a:t>
            </a:r>
            <a:r>
              <a:rPr lang="zh-CN" altLang="en-US" dirty="0"/>
              <a:t>。</a:t>
            </a:r>
            <a:endParaRPr lang="zh-CN" altLang="en-US" dirty="0"/>
          </a:p>
        </p:txBody>
      </p:sp>
      <p:sp>
        <p:nvSpPr>
          <p:cNvPr id="3789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503050405090304" pitchFamily="18" charset="0"/>
              <a:ea typeface="隶书" panose="02010509060101010101" pitchFamily="49" charset="-122"/>
            </a:endParaRPr>
          </a:p>
        </p:txBody>
      </p:sp>
      <p:sp>
        <p:nvSpPr>
          <p:cNvPr id="30722"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面向对象的基本概念</a:t>
            </a:r>
            <a:r>
              <a:rPr lang="en-US" altLang="zh-CN" dirty="0"/>
              <a:t>——</a:t>
            </a:r>
            <a:r>
              <a:rPr lang="zh-CN" altLang="en-US" dirty="0"/>
              <a:t>类</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面向对象的特性</a:t>
            </a:r>
            <a:r>
              <a:rPr lang="en-US" altLang="zh-CN" dirty="0"/>
              <a:t>——</a:t>
            </a:r>
            <a:r>
              <a:rPr lang="zh-CN" altLang="en-US" dirty="0"/>
              <a:t>封装</a:t>
            </a:r>
            <a:endParaRPr lang="en-US" dirty="0"/>
          </a:p>
        </p:txBody>
      </p:sp>
      <p:sp>
        <p:nvSpPr>
          <p:cNvPr id="3" name="内容占位符 2"/>
          <p:cNvSpPr>
            <a:spLocks noGrp="1"/>
          </p:cNvSpPr>
          <p:nvPr>
            <p:ph idx="1"/>
          </p:nvPr>
        </p:nvSpPr>
        <p:spPr/>
        <p:txBody>
          <a:bodyPr/>
          <a:lstStyle/>
          <a:p>
            <a:r>
              <a:rPr lang="zh-CN" altLang="en-US" dirty="0"/>
              <a:t>把对象的属性和服务结合成一个独立的系统单元。</a:t>
            </a:r>
            <a:endParaRPr lang="zh-CN" altLang="en-US" dirty="0"/>
          </a:p>
          <a:p>
            <a:r>
              <a:rPr lang="zh-CN" altLang="en-US" dirty="0"/>
              <a:t>尽可能隐蔽对象的内部细节。对外形成一道屏障，只保留有限的对外接口使之与外部发生联系。</a:t>
            </a:r>
            <a:endParaRPr lang="en-US" altLang="zh-CN" dirty="0"/>
          </a:p>
          <a:p>
            <a:endParaRPr lang="zh-CN" altLang="en-US" dirty="0"/>
          </a:p>
          <a:p>
            <a:r>
              <a:rPr lang="zh-CN" altLang="en-US" dirty="0"/>
              <a:t>具体地，即把客观事物封装成抽象的类</a:t>
            </a:r>
            <a:endParaRPr lang="en-US" altLang="zh-CN" dirty="0"/>
          </a:p>
          <a:p>
            <a:pPr lvl="1"/>
            <a:r>
              <a:rPr lang="zh-CN" altLang="en-US" dirty="0"/>
              <a:t>类可以把自己的数据和方法只让可信的类或者对象操作</a:t>
            </a:r>
            <a:endParaRPr lang="en-US" altLang="zh-CN" dirty="0"/>
          </a:p>
          <a:p>
            <a:pPr lvl="1"/>
            <a:r>
              <a:rPr lang="zh-CN" altLang="en-US" dirty="0"/>
              <a:t>对不可信的进行信息隐藏。</a:t>
            </a:r>
            <a:endParaRPr lang="en-US" altLang="zh-CN" dirty="0"/>
          </a:p>
          <a:p>
            <a:pPr lvl="1"/>
            <a:r>
              <a:rPr lang="zh-CN" altLang="en-US" dirty="0"/>
              <a:t>这种机制可以保护对象的数据不被外部随意访问和修改，同时提高代码的可维护性和复用性。</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面向对象的特性</a:t>
            </a:r>
            <a:r>
              <a:rPr lang="en-US" altLang="zh-CN" dirty="0"/>
              <a:t>——</a:t>
            </a:r>
            <a:r>
              <a:rPr lang="zh-CN" altLang="en-US" dirty="0"/>
              <a:t>继承</a:t>
            </a:r>
            <a:endParaRPr lang="en-US" dirty="0"/>
          </a:p>
        </p:txBody>
      </p:sp>
      <p:sp>
        <p:nvSpPr>
          <p:cNvPr id="3" name="内容占位符 2"/>
          <p:cNvSpPr>
            <a:spLocks noGrp="1"/>
          </p:cNvSpPr>
          <p:nvPr>
            <p:ph idx="1"/>
          </p:nvPr>
        </p:nvSpPr>
        <p:spPr/>
        <p:txBody>
          <a:bodyPr/>
          <a:lstStyle/>
          <a:p>
            <a:r>
              <a:rPr lang="zh-CN" altLang="en-US" dirty="0"/>
              <a:t>继承对于软件复用有着重要意义，是面向对象技术能够提高软件开发效率的重要原因之一。</a:t>
            </a:r>
            <a:endParaRPr lang="zh-CN" altLang="en-US" dirty="0"/>
          </a:p>
          <a:p>
            <a:r>
              <a:rPr lang="zh-CN" altLang="en-US" dirty="0"/>
              <a:t>允许创建一个新类（子类）来</a:t>
            </a:r>
            <a:r>
              <a:rPr lang="zh-CN" altLang="en-US" dirty="0">
                <a:solidFill>
                  <a:srgbClr val="FF0000"/>
                </a:solidFill>
              </a:rPr>
              <a:t>继承</a:t>
            </a:r>
            <a:r>
              <a:rPr lang="zh-CN" altLang="en-US" dirty="0"/>
              <a:t>现有类（父类）的属性和方法。</a:t>
            </a:r>
            <a:endParaRPr lang="en-US" altLang="zh-CN" dirty="0"/>
          </a:p>
          <a:p>
            <a:pPr lvl="1"/>
            <a:r>
              <a:rPr lang="zh-CN" altLang="en-US" dirty="0"/>
              <a:t>子类继承了父类的所有非私有属性和方法</a:t>
            </a:r>
            <a:endParaRPr lang="en-US" altLang="zh-CN" dirty="0"/>
          </a:p>
          <a:p>
            <a:pPr lvl="1"/>
            <a:r>
              <a:rPr lang="zh-CN" altLang="en-US" dirty="0"/>
              <a:t>还可以定义自己特有的属性和方法</a:t>
            </a:r>
            <a:endParaRPr lang="en-US" altLang="zh-CN" dirty="0"/>
          </a:p>
          <a:p>
            <a:pPr lvl="1"/>
            <a:r>
              <a:rPr lang="zh-CN" altLang="en-US" dirty="0"/>
              <a:t>例如，轮船可作为一个一般类，客轮是继承于轮船类的是一个特殊类</a:t>
            </a:r>
            <a:r>
              <a:rPr lang="en-US" altLang="zh-CN" dirty="0"/>
              <a:t>(</a:t>
            </a:r>
            <a:r>
              <a:rPr lang="zh-CN" altLang="en-US" dirty="0"/>
              <a:t>子类）。</a:t>
            </a:r>
            <a:endParaRPr lang="zh-CN" altLang="en-US" dirty="0"/>
          </a:p>
          <a:p>
            <a:pPr lvl="1"/>
            <a:endParaRPr lang="en-US" altLang="zh-CN" dirty="0"/>
          </a:p>
          <a:p>
            <a:r>
              <a:rPr lang="zh-CN" altLang="en-US" dirty="0"/>
              <a:t>这种机制可以在已有的代码基础上进行扩展和定制，提高代码的复用性和可维护性。</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面向对象的特性</a:t>
            </a:r>
            <a:r>
              <a:rPr lang="en-US" altLang="zh-CN" dirty="0"/>
              <a:t>——</a:t>
            </a:r>
            <a:r>
              <a:rPr lang="zh-CN" altLang="en-US" dirty="0"/>
              <a:t>多态</a:t>
            </a:r>
            <a:endParaRPr lang="en-US" dirty="0"/>
          </a:p>
        </p:txBody>
      </p:sp>
      <p:sp>
        <p:nvSpPr>
          <p:cNvPr id="3" name="内容占位符 2"/>
          <p:cNvSpPr>
            <a:spLocks noGrp="1"/>
          </p:cNvSpPr>
          <p:nvPr>
            <p:ph idx="1"/>
          </p:nvPr>
        </p:nvSpPr>
        <p:spPr/>
        <p:txBody>
          <a:bodyPr/>
          <a:lstStyle/>
          <a:p>
            <a:r>
              <a:rPr lang="zh-CN" altLang="en-US" dirty="0"/>
              <a:t>多态是指在一般类中定义的属性或行为，被特殊类</a:t>
            </a:r>
            <a:r>
              <a:rPr lang="zh-CN" altLang="en-US" dirty="0">
                <a:solidFill>
                  <a:srgbClr val="FF0000"/>
                </a:solidFill>
              </a:rPr>
              <a:t>继承</a:t>
            </a:r>
            <a:r>
              <a:rPr lang="zh-CN" altLang="en-US" dirty="0"/>
              <a:t>之后，可以具有不同的数据类型或表现出不同的行为。</a:t>
            </a:r>
            <a:endParaRPr lang="en-US" altLang="zh-CN" dirty="0"/>
          </a:p>
          <a:p>
            <a:endParaRPr lang="en-US" altLang="zh-CN" dirty="0"/>
          </a:p>
          <a:p>
            <a:r>
              <a:rPr lang="zh-CN" altLang="en-US" dirty="0"/>
              <a:t>这使得同一个属性或行为在一般类及其各个特殊类中具有不同的语义。</a:t>
            </a:r>
            <a:endParaRPr lang="en-US" altLang="zh-CN" dirty="0"/>
          </a:p>
          <a:p>
            <a:endParaRPr lang="en-US" altLang="zh-CN" dirty="0"/>
          </a:p>
          <a:p>
            <a:r>
              <a:rPr lang="zh-CN" altLang="en-US" dirty="0"/>
              <a:t>例如：</a:t>
            </a:r>
            <a:endParaRPr lang="en-US" altLang="zh-CN" dirty="0"/>
          </a:p>
          <a:p>
            <a:pPr marL="0" indent="0">
              <a:buNone/>
            </a:pPr>
            <a:r>
              <a:rPr lang="en-US" altLang="zh-CN" dirty="0"/>
              <a:t>	</a:t>
            </a:r>
            <a:r>
              <a:rPr lang="zh-CN" altLang="en-US" dirty="0"/>
              <a:t>数的加法 </a:t>
            </a:r>
            <a:r>
              <a:rPr lang="en-US" altLang="zh-CN" dirty="0"/>
              <a:t>-&gt; </a:t>
            </a:r>
            <a:r>
              <a:rPr lang="zh-CN" altLang="en-US" dirty="0"/>
              <a:t>实数的加法</a:t>
            </a:r>
            <a:br>
              <a:rPr lang="zh-CN" altLang="en-US" dirty="0"/>
            </a:br>
            <a:r>
              <a:rPr lang="zh-CN" altLang="en-US" dirty="0"/>
              <a:t>          </a:t>
            </a:r>
            <a:r>
              <a:rPr lang="en-US" altLang="zh-CN" dirty="0"/>
              <a:t>		   </a:t>
            </a:r>
            <a:r>
              <a:rPr lang="zh-CN" altLang="en-US" dirty="0"/>
              <a:t> </a:t>
            </a:r>
            <a:r>
              <a:rPr lang="en-US" altLang="zh-CN" dirty="0"/>
              <a:t>-&gt; </a:t>
            </a:r>
            <a:r>
              <a:rPr lang="zh-CN" altLang="en-US" dirty="0"/>
              <a:t>复数的加法</a:t>
            </a:r>
            <a:endParaRPr lang="zh-CN" altLang="en-US" dirty="0"/>
          </a:p>
          <a:p>
            <a:endParaRPr lang="zh-CN" altLang="en-US"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类</a:t>
            </a:r>
            <a:endParaRPr lang="en-US" dirty="0"/>
          </a:p>
        </p:txBody>
      </p:sp>
      <p:sp>
        <p:nvSpPr>
          <p:cNvPr id="3" name="内容占位符 2"/>
          <p:cNvSpPr>
            <a:spLocks noGrp="1"/>
          </p:cNvSpPr>
          <p:nvPr>
            <p:ph idx="1"/>
          </p:nvPr>
        </p:nvSpPr>
        <p:spPr/>
        <p:txBody>
          <a:bodyPr/>
          <a:lstStyle/>
          <a:p>
            <a:r>
              <a:rPr lang="en-US" altLang="zh-CN" dirty="0"/>
              <a:t>C++</a:t>
            </a:r>
            <a:r>
              <a:rPr lang="zh-CN" altLang="en-US" b="1" dirty="0">
                <a:solidFill>
                  <a:srgbClr val="FF0000"/>
                </a:solidFill>
              </a:rPr>
              <a:t>封装</a:t>
            </a:r>
            <a:r>
              <a:rPr lang="zh-CN" altLang="en-US" dirty="0"/>
              <a:t>的基本单元，将数据和函数封装在一起</a:t>
            </a:r>
            <a:endParaRPr lang="zh-CN" altLang="en-US" dirty="0"/>
          </a:p>
          <a:p>
            <a:endParaRPr lang="en-US" dirty="0"/>
          </a:p>
        </p:txBody>
      </p:sp>
      <p:sp>
        <p:nvSpPr>
          <p:cNvPr id="4" name="内容占位符 2"/>
          <p:cNvSpPr>
            <a:spLocks noGrp="1" noChangeArrowheads="1"/>
          </p:cNvSpPr>
          <p:nvPr/>
        </p:nvSpPr>
        <p:spPr bwMode="auto">
          <a:xfrm>
            <a:off x="719633" y="2477181"/>
            <a:ext cx="7992367" cy="3314019"/>
          </a:xfrm>
          <a:prstGeom prst="rect">
            <a:avLst/>
          </a:prstGeom>
          <a:solidFill>
            <a:schemeClr val="bg2">
              <a:lumMod val="90000"/>
            </a:schemeClr>
          </a:solidFill>
          <a:ln>
            <a:noFill/>
          </a:ln>
        </p:spPr>
        <p:txBody>
          <a:bodyPr/>
          <a:lstStyle>
            <a:lvl1pPr marL="342900" indent="-342900" eaLnBrk="0" hangingPunct="0">
              <a:defRPr sz="2400">
                <a:solidFill>
                  <a:schemeClr val="tx1"/>
                </a:solidFill>
                <a:latin typeface="Times New Roman" panose="02020503050405090304" pitchFamily="18" charset="0"/>
                <a:ea typeface="隶书" panose="02010509060101010101" pitchFamily="49" charset="-122"/>
              </a:defRPr>
            </a:lvl1pPr>
            <a:lvl2pPr marL="1143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lvl="1" eaLnBrk="1" hangingPunct="1">
              <a:lnSpc>
                <a:spcPct val="140000"/>
              </a:lnSpc>
              <a:spcBef>
                <a:spcPts val="325"/>
              </a:spcBef>
              <a:buClr>
                <a:schemeClr val="accent1"/>
              </a:buClr>
              <a:buFont typeface="Georgia" panose="02040502050405090303" pitchFamily="18" charset="0"/>
              <a:buNone/>
            </a:pPr>
            <a:r>
              <a:rPr lang="en-US" altLang="zh-CN" sz="2000" dirty="0">
                <a:latin typeface="Consolas" panose="020B0609020204030204" pitchFamily="49" charset="0"/>
                <a:ea typeface="黑体" panose="02010609060101010101" pitchFamily="49" charset="-122"/>
              </a:rPr>
              <a:t>class  Clock </a:t>
            </a:r>
            <a:r>
              <a:rPr lang="en-US" altLang="zh-CN" sz="2000" dirty="0">
                <a:solidFill>
                  <a:schemeClr val="tx2"/>
                </a:solidFill>
                <a:latin typeface="Consolas" panose="020B0609020204030204" pitchFamily="49" charset="0"/>
                <a:ea typeface="黑体" panose="02010609060101010101" pitchFamily="49" charset="-122"/>
              </a:rPr>
              <a:t>{</a:t>
            </a:r>
            <a:endParaRPr lang="en-US" altLang="zh-CN" sz="20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90303" pitchFamily="18" charset="0"/>
              <a:buNone/>
            </a:pPr>
            <a:r>
              <a:rPr lang="en-US" altLang="zh-CN" sz="2000" dirty="0">
                <a:solidFill>
                  <a:srgbClr val="C00000"/>
                </a:solidFill>
                <a:latin typeface="Consolas" panose="020B0609020204030204" pitchFamily="49" charset="0"/>
                <a:ea typeface="黑体" panose="02010609060101010101" pitchFamily="49" charset="-122"/>
                <a:sym typeface="Arial" panose="020B0604020202090204" pitchFamily="34" charset="0"/>
              </a:rPr>
              <a:t>  public</a:t>
            </a:r>
            <a:r>
              <a:rPr lang="en-US" altLang="zh-CN" sz="2000" dirty="0">
                <a:latin typeface="Consolas" panose="020B0609020204030204" pitchFamily="49" charset="0"/>
                <a:ea typeface="黑体" panose="02010609060101010101" pitchFamily="49" charset="-122"/>
              </a:rPr>
              <a:t>: </a:t>
            </a:r>
            <a:endParaRPr lang="en-US" altLang="zh-CN" sz="20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90303" pitchFamily="18" charset="0"/>
              <a:buNone/>
            </a:pPr>
            <a:r>
              <a:rPr lang="en-US" altLang="zh-CN" sz="2000" dirty="0">
                <a:latin typeface="Consolas" panose="020B0609020204030204" pitchFamily="49" charset="0"/>
                <a:ea typeface="黑体" panose="02010609060101010101" pitchFamily="49" charset="-122"/>
              </a:rPr>
              <a:t>      void </a:t>
            </a:r>
            <a:r>
              <a:rPr lang="en-US" altLang="zh-CN" sz="2000" dirty="0" err="1">
                <a:solidFill>
                  <a:srgbClr val="C00000"/>
                </a:solidFill>
                <a:latin typeface="Consolas" panose="020B0609020204030204" pitchFamily="49" charset="0"/>
                <a:ea typeface="黑体" panose="02010609060101010101" pitchFamily="49" charset="-122"/>
              </a:rPr>
              <a:t>setTime</a:t>
            </a:r>
            <a:r>
              <a:rPr lang="en-US" altLang="zh-CN" sz="2000" dirty="0">
                <a:latin typeface="Consolas" panose="020B0609020204030204" pitchFamily="49" charset="0"/>
                <a:ea typeface="黑体" panose="02010609060101010101" pitchFamily="49" charset="-122"/>
              </a:rPr>
              <a:t>(int </a:t>
            </a:r>
            <a:r>
              <a:rPr lang="en-US" altLang="zh-CN" sz="2000" dirty="0" err="1">
                <a:latin typeface="Consolas" panose="020B0609020204030204" pitchFamily="49" charset="0"/>
                <a:ea typeface="黑体" panose="02010609060101010101" pitchFamily="49" charset="-122"/>
              </a:rPr>
              <a:t>newH</a:t>
            </a:r>
            <a:r>
              <a:rPr lang="en-US" altLang="zh-CN" sz="2000" dirty="0">
                <a:latin typeface="Consolas" panose="020B0609020204030204" pitchFamily="49" charset="0"/>
                <a:ea typeface="黑体" panose="02010609060101010101" pitchFamily="49" charset="-122"/>
              </a:rPr>
              <a:t>, int </a:t>
            </a:r>
            <a:r>
              <a:rPr lang="en-US" altLang="zh-CN" sz="2000" dirty="0" err="1">
                <a:latin typeface="Consolas" panose="020B0609020204030204" pitchFamily="49" charset="0"/>
                <a:ea typeface="黑体" panose="02010609060101010101" pitchFamily="49" charset="-122"/>
              </a:rPr>
              <a:t>newM</a:t>
            </a:r>
            <a:r>
              <a:rPr lang="en-US" altLang="zh-CN" sz="2000" dirty="0">
                <a:latin typeface="Consolas" panose="020B0609020204030204" pitchFamily="49" charset="0"/>
                <a:ea typeface="黑体" panose="02010609060101010101" pitchFamily="49" charset="-122"/>
              </a:rPr>
              <a:t>, int </a:t>
            </a:r>
            <a:r>
              <a:rPr lang="en-US" altLang="zh-CN" sz="2000" dirty="0" err="1">
                <a:latin typeface="Consolas" panose="020B0609020204030204" pitchFamily="49" charset="0"/>
                <a:ea typeface="黑体" panose="02010609060101010101" pitchFamily="49" charset="-122"/>
              </a:rPr>
              <a:t>newS</a:t>
            </a:r>
            <a:r>
              <a:rPr lang="en-US" altLang="zh-CN" sz="2000" dirty="0">
                <a:latin typeface="Consolas" panose="020B0609020204030204" pitchFamily="49" charset="0"/>
                <a:ea typeface="黑体" panose="02010609060101010101" pitchFamily="49" charset="-122"/>
              </a:rPr>
              <a:t>);</a:t>
            </a:r>
            <a:br>
              <a:rPr lang="en-US" altLang="zh-CN" sz="2000" dirty="0">
                <a:latin typeface="Consolas" panose="020B0609020204030204" pitchFamily="49" charset="0"/>
                <a:ea typeface="黑体" panose="02010609060101010101" pitchFamily="49" charset="-122"/>
              </a:rPr>
            </a:br>
            <a:r>
              <a:rPr lang="en-US" altLang="zh-CN" sz="2000" dirty="0">
                <a:latin typeface="Consolas" panose="020B0609020204030204" pitchFamily="49" charset="0"/>
                <a:ea typeface="黑体" panose="02010609060101010101" pitchFamily="49" charset="-122"/>
              </a:rPr>
              <a:t>      void </a:t>
            </a:r>
            <a:r>
              <a:rPr lang="en-US" altLang="zh-CN" sz="2000" dirty="0" err="1">
                <a:solidFill>
                  <a:srgbClr val="C00000"/>
                </a:solidFill>
                <a:latin typeface="Consolas" panose="020B0609020204030204" pitchFamily="49" charset="0"/>
                <a:ea typeface="黑体" panose="02010609060101010101" pitchFamily="49" charset="-122"/>
              </a:rPr>
              <a:t>showTime</a:t>
            </a:r>
            <a:r>
              <a:rPr lang="en-US" altLang="zh-CN" sz="2000" dirty="0">
                <a:latin typeface="Consolas" panose="020B0609020204030204" pitchFamily="49" charset="0"/>
                <a:ea typeface="黑体" panose="02010609060101010101" pitchFamily="49" charset="-122"/>
              </a:rPr>
              <a:t>();</a:t>
            </a:r>
            <a:r>
              <a:rPr lang="zh-CN" altLang="en-US" sz="2000" dirty="0">
                <a:latin typeface="Consolas" panose="020B0609020204030204" pitchFamily="49" charset="0"/>
                <a:ea typeface="黑体" panose="02010609060101010101" pitchFamily="49" charset="-122"/>
              </a:rPr>
              <a:t>//成员函数</a:t>
            </a:r>
            <a:endParaRPr lang="en-US" altLang="zh-CN" sz="20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90303" pitchFamily="18" charset="0"/>
              <a:buNone/>
            </a:pPr>
            <a:r>
              <a:rPr lang="zh-CN" altLang="en-US" sz="2000" dirty="0">
                <a:solidFill>
                  <a:srgbClr val="C00000"/>
                </a:solidFill>
                <a:latin typeface="Consolas" panose="020B0609020204030204" pitchFamily="49" charset="0"/>
                <a:ea typeface="黑体" panose="02010609060101010101" pitchFamily="49" charset="-122"/>
                <a:sym typeface="Arial" panose="020B0604020202090204" pitchFamily="34" charset="0"/>
              </a:rPr>
              <a:t>  pr</a:t>
            </a:r>
            <a:r>
              <a:rPr lang="en-US" altLang="zh-CN" sz="2000" dirty="0" err="1">
                <a:solidFill>
                  <a:srgbClr val="C00000"/>
                </a:solidFill>
                <a:latin typeface="Consolas" panose="020B0609020204030204" pitchFamily="49" charset="0"/>
                <a:ea typeface="黑体" panose="02010609060101010101" pitchFamily="49" charset="-122"/>
                <a:sym typeface="Arial" panose="020B0604020202090204" pitchFamily="34" charset="0"/>
              </a:rPr>
              <a:t>ivate</a:t>
            </a:r>
            <a:r>
              <a:rPr lang="en-US" altLang="zh-CN" sz="2000" dirty="0">
                <a:latin typeface="Consolas" panose="020B0609020204030204" pitchFamily="49" charset="0"/>
                <a:ea typeface="黑体" panose="02010609060101010101" pitchFamily="49" charset="-122"/>
              </a:rPr>
              <a:t>: </a:t>
            </a:r>
            <a:endParaRPr lang="en-US" altLang="zh-CN" sz="20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90303" pitchFamily="18" charset="0"/>
              <a:buNone/>
            </a:pPr>
            <a:r>
              <a:rPr lang="en-US" altLang="zh-CN" sz="2000" dirty="0">
                <a:latin typeface="Consolas" panose="020B0609020204030204" pitchFamily="49" charset="0"/>
                <a:ea typeface="黑体" panose="02010609060101010101" pitchFamily="49" charset="-122"/>
              </a:rPr>
              <a:t>      int </a:t>
            </a:r>
            <a:r>
              <a:rPr lang="en-US" altLang="zh-CN" sz="2000" dirty="0">
                <a:latin typeface="Consolas" panose="020B0609020204030204" pitchFamily="49" charset="0"/>
                <a:ea typeface="黑体" panose="02010609060101010101" pitchFamily="49" charset="-122"/>
                <a:sym typeface="Arial" panose="020B0604020202090204" pitchFamily="34" charset="0"/>
              </a:rPr>
              <a:t>hour</a:t>
            </a:r>
            <a:r>
              <a:rPr lang="en-US" altLang="zh-CN" sz="2000" dirty="0">
                <a:latin typeface="Consolas" panose="020B0609020204030204" pitchFamily="49" charset="0"/>
                <a:ea typeface="黑体" panose="02010609060101010101" pitchFamily="49" charset="-122"/>
              </a:rPr>
              <a:t>, minute, second;</a:t>
            </a:r>
            <a:r>
              <a:rPr lang="zh-CN" altLang="en-US" sz="2000" dirty="0">
                <a:latin typeface="Consolas" panose="020B0609020204030204" pitchFamily="49" charset="0"/>
                <a:ea typeface="黑体" panose="02010609060101010101" pitchFamily="49" charset="-122"/>
              </a:rPr>
              <a:t>//成员数据</a:t>
            </a:r>
            <a:endParaRPr lang="en-US" altLang="zh-CN" sz="20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90303" pitchFamily="18" charset="0"/>
              <a:buNone/>
            </a:pPr>
            <a:r>
              <a:rPr lang="en-US" altLang="zh-CN" sz="2000" dirty="0">
                <a:solidFill>
                  <a:schemeClr val="tx2"/>
                </a:solidFill>
                <a:latin typeface="Consolas" panose="020B0609020204030204" pitchFamily="49" charset="0"/>
                <a:ea typeface="黑体" panose="02010609060101010101" pitchFamily="49" charset="-122"/>
              </a:rPr>
              <a:t>}</a:t>
            </a:r>
            <a:r>
              <a:rPr lang="en-US" altLang="zh-CN" sz="2000" dirty="0">
                <a:latin typeface="Consolas" panose="020B0609020204030204" pitchFamily="49" charset="0"/>
                <a:ea typeface="黑体" panose="02010609060101010101" pitchFamily="49" charset="-122"/>
              </a:rPr>
              <a:t>;</a:t>
            </a:r>
            <a:endParaRPr lang="en-US" altLang="zh-CN" sz="2000" dirty="0">
              <a:latin typeface="Consolas" panose="020B0609020204030204" pitchFamily="49" charset="0"/>
              <a:ea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noChangeArrowheads="1"/>
          </p:cNvSpPr>
          <p:nvPr>
            <p:ph type="title"/>
          </p:nvPr>
        </p:nvSpPr>
        <p:spPr>
          <a:xfrm>
            <a:off x="457200" y="264127"/>
            <a:ext cx="8229600" cy="1143000"/>
          </a:xfrm>
        </p:spPr>
        <p:txBody>
          <a:bodyPr/>
          <a:lstStyle/>
          <a:p>
            <a:r>
              <a:rPr lang="zh-CN" altLang="en-US" dirty="0"/>
              <a:t>类的定义</a:t>
            </a:r>
            <a:endParaRPr lang="zh-CN" altLang="en-US" dirty="0"/>
          </a:p>
        </p:txBody>
      </p:sp>
      <p:sp>
        <p:nvSpPr>
          <p:cNvPr id="7171" name="文本占位符 7170"/>
          <p:cNvSpPr>
            <a:spLocks noGrp="1" noChangeArrowheads="1"/>
          </p:cNvSpPr>
          <p:nvPr>
            <p:ph idx="1"/>
          </p:nvPr>
        </p:nvSpPr>
        <p:spPr>
          <a:xfrm>
            <a:off x="457200" y="1482725"/>
            <a:ext cx="8220075" cy="4525963"/>
          </a:xfrm>
        </p:spPr>
        <p:txBody>
          <a:bodyPr/>
          <a:lstStyle/>
          <a:p>
            <a:r>
              <a:rPr lang="zh-CN" altLang="en-US" dirty="0"/>
              <a:t>语法</a:t>
            </a:r>
            <a:endParaRPr lang="zh-CN" altLang="en-US" dirty="0"/>
          </a:p>
          <a:p>
            <a:pPr lvl="1"/>
            <a:r>
              <a:rPr lang="en-US" altLang="zh-CN" dirty="0">
                <a:solidFill>
                  <a:srgbClr val="FF0000"/>
                </a:solidFill>
              </a:rPr>
              <a:t>class </a:t>
            </a:r>
            <a:r>
              <a:rPr lang="zh-CN" altLang="en-US" dirty="0"/>
              <a:t>类名 </a:t>
            </a:r>
            <a:r>
              <a:rPr lang="en-US" altLang="zh-CN" dirty="0"/>
              <a:t>{ }; </a:t>
            </a:r>
            <a:endParaRPr lang="en-US" altLang="zh-CN" dirty="0"/>
          </a:p>
          <a:p>
            <a:r>
              <a:rPr lang="zh-CN" altLang="en-US" dirty="0"/>
              <a:t>类名</a:t>
            </a:r>
            <a:endParaRPr lang="zh-CN" altLang="en-US" dirty="0"/>
          </a:p>
          <a:p>
            <a:pPr lvl="1"/>
            <a:r>
              <a:rPr lang="zh-CN" altLang="en-US" dirty="0"/>
              <a:t>通常首字母大写，名词</a:t>
            </a:r>
            <a:endParaRPr lang="zh-CN" altLang="en-US" dirty="0"/>
          </a:p>
          <a:p>
            <a:r>
              <a:rPr lang="zh-CN" altLang="en-US" dirty="0"/>
              <a:t>成员函数</a:t>
            </a:r>
            <a:endParaRPr lang="zh-CN" altLang="en-US" dirty="0"/>
          </a:p>
          <a:p>
            <a:pPr lvl="1"/>
            <a:r>
              <a:rPr lang="zh-CN" altLang="en-US" dirty="0"/>
              <a:t>同函数的声明</a:t>
            </a:r>
            <a:endParaRPr lang="zh-CN" altLang="en-US" sz="1900" dirty="0"/>
          </a:p>
          <a:p>
            <a:r>
              <a:rPr lang="zh-CN" altLang="en-US" dirty="0"/>
              <a:t>成员数据</a:t>
            </a:r>
            <a:endParaRPr lang="zh-CN" altLang="en-US" dirty="0"/>
          </a:p>
          <a:p>
            <a:pPr lvl="1"/>
            <a:r>
              <a:rPr lang="zh-CN" altLang="en-US" dirty="0"/>
              <a:t>同变量的声明</a:t>
            </a:r>
            <a:endParaRPr lang="zh-CN" altLang="en-US" sz="1900" dirty="0"/>
          </a:p>
          <a:p>
            <a:r>
              <a:rPr lang="zh-CN" altLang="en-US" dirty="0"/>
              <a:t>存储控制</a:t>
            </a:r>
            <a:endParaRPr lang="zh-CN" altLang="en-US" dirty="0"/>
          </a:p>
          <a:p>
            <a:pPr lvl="1"/>
            <a:r>
              <a:rPr lang="en-US" altLang="zh-CN" dirty="0"/>
              <a:t>public, private, protected</a:t>
            </a:r>
            <a:endParaRPr lang="en-US" altLang="zh-CN" dirty="0"/>
          </a:p>
          <a:p>
            <a:endParaRPr lang="en-US" altLang="zh-CN" dirty="0"/>
          </a:p>
        </p:txBody>
      </p:sp>
      <p:sp>
        <p:nvSpPr>
          <p:cNvPr id="7172" name="内容占位符 2"/>
          <p:cNvSpPr>
            <a:spLocks noGrp="1" noChangeArrowheads="1"/>
          </p:cNvSpPr>
          <p:nvPr/>
        </p:nvSpPr>
        <p:spPr bwMode="auto">
          <a:xfrm>
            <a:off x="4376511" y="3599544"/>
            <a:ext cx="4856515" cy="2593975"/>
          </a:xfrm>
          <a:prstGeom prst="rect">
            <a:avLst/>
          </a:prstGeom>
          <a:solidFill>
            <a:schemeClr val="bg2">
              <a:lumMod val="90000"/>
            </a:schemeClr>
          </a:solidFill>
          <a:ln>
            <a:noFill/>
          </a:ln>
        </p:spPr>
        <p:txBody>
          <a:bodyPr/>
          <a:lstStyle>
            <a:lvl1pPr marL="342900" indent="-342900" eaLnBrk="0" hangingPunct="0">
              <a:defRPr sz="2400">
                <a:solidFill>
                  <a:schemeClr val="tx1"/>
                </a:solidFill>
                <a:latin typeface="Times New Roman" panose="02020503050405090304" pitchFamily="18" charset="0"/>
                <a:ea typeface="隶书" panose="02010509060101010101" pitchFamily="49" charset="-122"/>
              </a:defRPr>
            </a:lvl1pPr>
            <a:lvl2pPr marL="11430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lvl="1" eaLnBrk="1" hangingPunct="1">
              <a:lnSpc>
                <a:spcPct val="140000"/>
              </a:lnSpc>
              <a:spcBef>
                <a:spcPts val="325"/>
              </a:spcBef>
              <a:buClr>
                <a:schemeClr val="accent1"/>
              </a:buClr>
              <a:buFont typeface="Georgia" panose="02040502050405090303" pitchFamily="18" charset="0"/>
              <a:buNone/>
            </a:pPr>
            <a:r>
              <a:rPr lang="en-US" altLang="zh-CN" sz="1400" dirty="0">
                <a:latin typeface="Consolas" panose="020B0609020204030204" pitchFamily="49" charset="0"/>
                <a:ea typeface="黑体" panose="02010609060101010101" pitchFamily="49" charset="-122"/>
              </a:rPr>
              <a:t>class  Clock </a:t>
            </a:r>
            <a:r>
              <a:rPr lang="en-US" altLang="zh-CN" sz="1400" dirty="0">
                <a:solidFill>
                  <a:schemeClr val="tx2"/>
                </a:solidFill>
                <a:latin typeface="Consolas" panose="020B0609020204030204" pitchFamily="49" charset="0"/>
                <a:ea typeface="黑体" panose="02010609060101010101" pitchFamily="49" charset="-122"/>
              </a:rPr>
              <a:t>{</a:t>
            </a:r>
            <a:endParaRPr lang="en-US" altLang="zh-CN" sz="1600" dirty="0">
              <a:solidFill>
                <a:schemeClr val="tx2"/>
              </a:solidFill>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90303" pitchFamily="18" charset="0"/>
              <a:buNone/>
            </a:pPr>
            <a:r>
              <a:rPr lang="en-US" altLang="zh-CN" sz="1400" dirty="0">
                <a:solidFill>
                  <a:srgbClr val="C00000"/>
                </a:solidFill>
                <a:latin typeface="Consolas" panose="020B0609020204030204" pitchFamily="49" charset="0"/>
                <a:ea typeface="黑体" panose="02010609060101010101" pitchFamily="49" charset="-122"/>
                <a:sym typeface="Arial" panose="020B0604020202090204" pitchFamily="34" charset="0"/>
              </a:rPr>
              <a:t>public</a:t>
            </a:r>
            <a:r>
              <a:rPr lang="en-US" altLang="zh-CN" sz="1400" dirty="0">
                <a:latin typeface="Consolas" panose="020B0609020204030204" pitchFamily="49" charset="0"/>
                <a:ea typeface="黑体" panose="02010609060101010101" pitchFamily="49" charset="-122"/>
              </a:rPr>
              <a:t>: </a:t>
            </a:r>
            <a:endParaRPr lang="en-US" altLang="zh-CN" sz="14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90303" pitchFamily="18" charset="0"/>
              <a:buNone/>
            </a:pPr>
            <a:r>
              <a:rPr lang="en-US" altLang="zh-CN" sz="1400" dirty="0">
                <a:latin typeface="Consolas" panose="020B0609020204030204" pitchFamily="49" charset="0"/>
                <a:ea typeface="黑体" panose="02010609060101010101" pitchFamily="49" charset="-122"/>
              </a:rPr>
              <a:t>   void </a:t>
            </a:r>
            <a:r>
              <a:rPr lang="en-US" altLang="zh-CN" sz="1400" dirty="0" err="1">
                <a:solidFill>
                  <a:srgbClr val="C00000"/>
                </a:solidFill>
                <a:latin typeface="Consolas" panose="020B0609020204030204" pitchFamily="49" charset="0"/>
                <a:ea typeface="黑体" panose="02010609060101010101" pitchFamily="49" charset="-122"/>
              </a:rPr>
              <a:t>setTime</a:t>
            </a:r>
            <a:r>
              <a:rPr lang="en-US" altLang="zh-CN" sz="1400" dirty="0">
                <a:latin typeface="Consolas" panose="020B0609020204030204" pitchFamily="49" charset="0"/>
                <a:ea typeface="黑体" panose="02010609060101010101" pitchFamily="49" charset="-122"/>
              </a:rPr>
              <a:t>(int </a:t>
            </a:r>
            <a:r>
              <a:rPr lang="en-US" altLang="zh-CN" sz="1400" dirty="0" err="1">
                <a:latin typeface="Consolas" panose="020B0609020204030204" pitchFamily="49" charset="0"/>
                <a:ea typeface="黑体" panose="02010609060101010101" pitchFamily="49" charset="-122"/>
              </a:rPr>
              <a:t>newH</a:t>
            </a:r>
            <a:r>
              <a:rPr lang="en-US" altLang="zh-CN" sz="1400" dirty="0">
                <a:latin typeface="Consolas" panose="020B0609020204030204" pitchFamily="49" charset="0"/>
                <a:ea typeface="黑体" panose="02010609060101010101" pitchFamily="49" charset="-122"/>
              </a:rPr>
              <a:t>, int </a:t>
            </a:r>
            <a:r>
              <a:rPr lang="en-US" altLang="zh-CN" sz="1400" dirty="0" err="1">
                <a:latin typeface="Consolas" panose="020B0609020204030204" pitchFamily="49" charset="0"/>
                <a:ea typeface="黑体" panose="02010609060101010101" pitchFamily="49" charset="-122"/>
              </a:rPr>
              <a:t>newM</a:t>
            </a:r>
            <a:r>
              <a:rPr lang="en-US" altLang="zh-CN" sz="1400" dirty="0">
                <a:latin typeface="Consolas" panose="020B0609020204030204" pitchFamily="49" charset="0"/>
                <a:ea typeface="黑体" panose="02010609060101010101" pitchFamily="49" charset="-122"/>
              </a:rPr>
              <a:t>, int </a:t>
            </a:r>
            <a:r>
              <a:rPr lang="en-US" altLang="zh-CN" sz="1400" dirty="0" err="1">
                <a:latin typeface="Consolas" panose="020B0609020204030204" pitchFamily="49" charset="0"/>
                <a:ea typeface="黑体" panose="02010609060101010101" pitchFamily="49" charset="-122"/>
              </a:rPr>
              <a:t>newS</a:t>
            </a:r>
            <a:r>
              <a:rPr lang="en-US" altLang="zh-CN" sz="1400" dirty="0">
                <a:latin typeface="Consolas" panose="020B0609020204030204" pitchFamily="49" charset="0"/>
                <a:ea typeface="黑体" panose="02010609060101010101" pitchFamily="49" charset="-122"/>
              </a:rPr>
              <a:t>);</a:t>
            </a:r>
            <a:br>
              <a:rPr lang="en-US" altLang="zh-CN" sz="1400" dirty="0">
                <a:latin typeface="Consolas" panose="020B0609020204030204" pitchFamily="49" charset="0"/>
                <a:ea typeface="黑体" panose="02010609060101010101" pitchFamily="49" charset="-122"/>
              </a:rPr>
            </a:br>
            <a:r>
              <a:rPr lang="en-US" altLang="zh-CN" sz="1400" dirty="0">
                <a:latin typeface="Consolas" panose="020B0609020204030204" pitchFamily="49" charset="0"/>
                <a:ea typeface="黑体" panose="02010609060101010101" pitchFamily="49" charset="-122"/>
              </a:rPr>
              <a:t>   void </a:t>
            </a:r>
            <a:r>
              <a:rPr lang="en-US" altLang="zh-CN" sz="1400" dirty="0" err="1">
                <a:solidFill>
                  <a:srgbClr val="C00000"/>
                </a:solidFill>
                <a:latin typeface="Consolas" panose="020B0609020204030204" pitchFamily="49" charset="0"/>
                <a:ea typeface="黑体" panose="02010609060101010101" pitchFamily="49" charset="-122"/>
              </a:rPr>
              <a:t>showTime</a:t>
            </a:r>
            <a:r>
              <a:rPr lang="en-US" altLang="zh-CN" sz="1400" dirty="0">
                <a:latin typeface="Consolas" panose="020B0609020204030204" pitchFamily="49" charset="0"/>
                <a:ea typeface="黑体" panose="02010609060101010101" pitchFamily="49" charset="-122"/>
              </a:rPr>
              <a:t>();</a:t>
            </a:r>
            <a:endParaRPr lang="en-US" altLang="zh-CN" sz="16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90303" pitchFamily="18" charset="0"/>
              <a:buNone/>
            </a:pPr>
            <a:r>
              <a:rPr lang="zh-CN" altLang="en-US" sz="1400" dirty="0">
                <a:solidFill>
                  <a:srgbClr val="C00000"/>
                </a:solidFill>
                <a:latin typeface="Consolas" panose="020B0609020204030204" pitchFamily="49" charset="0"/>
                <a:ea typeface="黑体" panose="02010609060101010101" pitchFamily="49" charset="-122"/>
                <a:sym typeface="Arial" panose="020B0604020202090204" pitchFamily="34" charset="0"/>
              </a:rPr>
              <a:t>pr</a:t>
            </a:r>
            <a:r>
              <a:rPr lang="en-US" altLang="zh-CN" sz="1400" dirty="0" err="1">
                <a:solidFill>
                  <a:srgbClr val="C00000"/>
                </a:solidFill>
                <a:latin typeface="Consolas" panose="020B0609020204030204" pitchFamily="49" charset="0"/>
                <a:ea typeface="黑体" panose="02010609060101010101" pitchFamily="49" charset="-122"/>
                <a:sym typeface="Arial" panose="020B0604020202090204" pitchFamily="34" charset="0"/>
              </a:rPr>
              <a:t>ivate</a:t>
            </a:r>
            <a:r>
              <a:rPr lang="en-US" altLang="zh-CN" sz="1400" dirty="0">
                <a:latin typeface="Consolas" panose="020B0609020204030204" pitchFamily="49" charset="0"/>
                <a:ea typeface="黑体" panose="02010609060101010101" pitchFamily="49" charset="-122"/>
              </a:rPr>
              <a:t>: </a:t>
            </a:r>
            <a:endParaRPr lang="en-US" altLang="zh-CN" sz="14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90303" pitchFamily="18" charset="0"/>
              <a:buNone/>
            </a:pPr>
            <a:r>
              <a:rPr lang="en-US" altLang="zh-CN" sz="1400" dirty="0">
                <a:latin typeface="Consolas" panose="020B0609020204030204" pitchFamily="49" charset="0"/>
                <a:ea typeface="黑体" panose="02010609060101010101" pitchFamily="49" charset="-122"/>
              </a:rPr>
              <a:t>   int </a:t>
            </a:r>
            <a:r>
              <a:rPr lang="en-US" altLang="zh-CN" sz="1400" dirty="0">
                <a:latin typeface="Consolas" panose="020B0609020204030204" pitchFamily="49" charset="0"/>
                <a:ea typeface="黑体" panose="02010609060101010101" pitchFamily="49" charset="-122"/>
                <a:sym typeface="Arial" panose="020B0604020202090204" pitchFamily="34" charset="0"/>
              </a:rPr>
              <a:t>hour</a:t>
            </a:r>
            <a:r>
              <a:rPr lang="en-US" altLang="zh-CN" sz="1400" dirty="0">
                <a:latin typeface="Consolas" panose="020B0609020204030204" pitchFamily="49" charset="0"/>
                <a:ea typeface="黑体" panose="02010609060101010101" pitchFamily="49" charset="-122"/>
              </a:rPr>
              <a:t>, minute, second;</a:t>
            </a:r>
            <a:endParaRPr lang="en-US" altLang="zh-CN" sz="16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90303" pitchFamily="18" charset="0"/>
              <a:buNone/>
            </a:pPr>
            <a:r>
              <a:rPr lang="en-US" altLang="zh-CN" sz="1400" dirty="0">
                <a:solidFill>
                  <a:schemeClr val="tx2"/>
                </a:solidFill>
                <a:latin typeface="Consolas" panose="020B0609020204030204" pitchFamily="49" charset="0"/>
                <a:ea typeface="黑体" panose="02010609060101010101" pitchFamily="49" charset="-122"/>
              </a:rPr>
              <a:t>}</a:t>
            </a:r>
            <a:r>
              <a:rPr lang="en-US" altLang="zh-CN" sz="1400" dirty="0">
                <a:latin typeface="Consolas" panose="020B0609020204030204" pitchFamily="49" charset="0"/>
                <a:ea typeface="黑体" panose="02010609060101010101" pitchFamily="49" charset="-122"/>
              </a:rPr>
              <a:t>;</a:t>
            </a:r>
            <a:endParaRPr lang="en-US" altLang="zh-CN" sz="1400" dirty="0">
              <a:latin typeface="Consolas" panose="020B0609020204030204" pitchFamily="49" charset="0"/>
              <a:ea typeface="黑体" panose="02010609060101010101" pitchFamily="49" charset="-122"/>
            </a:endParaRPr>
          </a:p>
        </p:txBody>
      </p:sp>
      <p:sp>
        <p:nvSpPr>
          <p:cNvPr id="5" name="内容占位符 2"/>
          <p:cNvSpPr txBox="1">
            <a:spLocks noChangeArrowheads="1"/>
          </p:cNvSpPr>
          <p:nvPr/>
        </p:nvSpPr>
        <p:spPr>
          <a:xfrm>
            <a:off x="4287483" y="664481"/>
            <a:ext cx="4706057" cy="2764745"/>
          </a:xfrm>
          <a:prstGeom prst="rect">
            <a:avLst/>
          </a:prstGeom>
        </p:spPr>
        <p:txBody>
          <a:bodyPr vert="horz" lIns="91440" tIns="45720" rIns="91440" bIns="45720" rtlCol="0">
            <a:normAutofit lnSpcReduction="10000"/>
          </a:bodyPr>
          <a:lstStyle>
            <a:lvl1pPr marL="360045" indent="-360045" algn="l" defTabSz="914400" rtl="0" eaLnBrk="1" latinLnBrk="0" hangingPunct="1">
              <a:lnSpc>
                <a:spcPct val="100000"/>
              </a:lnSpc>
              <a:spcBef>
                <a:spcPts val="1000"/>
              </a:spcBef>
              <a:buClr>
                <a:schemeClr val="accent4"/>
              </a:buClr>
              <a:buFontTx/>
              <a:buBlip>
                <a:blip r:embed="rId1"/>
              </a:buBlip>
              <a:defRPr sz="2800" kern="1200">
                <a:solidFill>
                  <a:schemeClr val="tx1"/>
                </a:solidFill>
                <a:latin typeface="+mj-ea"/>
                <a:ea typeface="+mj-ea"/>
                <a:cs typeface="+mn-cs"/>
              </a:defRPr>
            </a:lvl1pPr>
            <a:lvl2pPr marL="685800" indent="-288290" algn="l" defTabSz="914400" rtl="0" eaLnBrk="1" latinLnBrk="0" hangingPunct="1">
              <a:lnSpc>
                <a:spcPct val="100000"/>
              </a:lnSpc>
              <a:spcBef>
                <a:spcPts val="500"/>
              </a:spcBef>
              <a:buClr>
                <a:schemeClr val="accent4"/>
              </a:buClr>
              <a:buFontTx/>
              <a:buBlip>
                <a:blip r:embed="rId1"/>
              </a:buBlip>
              <a:defRPr sz="2400" kern="1200">
                <a:solidFill>
                  <a:schemeClr val="tx1"/>
                </a:solidFill>
                <a:latin typeface="+mn-lt"/>
                <a:ea typeface="+mn-ea"/>
                <a:cs typeface="+mn-cs"/>
              </a:defRPr>
            </a:lvl2pPr>
            <a:lvl3pPr marL="1143000" indent="-230505" algn="l" defTabSz="914400" rtl="0" eaLnBrk="1" latinLnBrk="0" hangingPunct="1">
              <a:lnSpc>
                <a:spcPct val="100000"/>
              </a:lnSpc>
              <a:spcBef>
                <a:spcPts val="500"/>
              </a:spcBef>
              <a:buClr>
                <a:schemeClr val="accent4"/>
              </a:buClr>
              <a:buSzPct val="100000"/>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ct val="0"/>
              </a:spcBef>
              <a:buClr>
                <a:srgbClr val="EB641B"/>
              </a:buClr>
              <a:buFont typeface="Georgia" panose="02040502050405090303" pitchFamily="18" charset="0"/>
              <a:buNone/>
            </a:pPr>
            <a:r>
              <a:rPr lang="zh-CN" altLang="en-US" sz="2000" dirty="0">
                <a:latin typeface="宋体" pitchFamily="2" charset="-122"/>
              </a:rPr>
              <a:t>类是一种用户自定义类型，声明形式：</a:t>
            </a:r>
            <a:endParaRPr lang="zh-CN" altLang="en-US" sz="2000" dirty="0">
              <a:latin typeface="宋体" pitchFamily="2" charset="-122"/>
            </a:endParaRPr>
          </a:p>
          <a:p>
            <a:pPr marL="400050" lvl="1" indent="-246380">
              <a:buFont typeface="Georgia" panose="02040502050405090303" pitchFamily="18" charset="0"/>
              <a:buNone/>
            </a:pPr>
            <a:r>
              <a:rPr lang="en-US" altLang="zh-CN" sz="1800" dirty="0"/>
              <a:t>class </a:t>
            </a:r>
            <a:r>
              <a:rPr lang="zh-CN" altLang="en-US" sz="1800" dirty="0"/>
              <a:t>类名称</a:t>
            </a:r>
            <a:endParaRPr lang="zh-CN" altLang="en-US" sz="1800" dirty="0"/>
          </a:p>
          <a:p>
            <a:pPr marL="400050" lvl="1" indent="-246380">
              <a:spcBef>
                <a:spcPct val="0"/>
              </a:spcBef>
              <a:buFont typeface="Georgia" panose="02040502050405090303" pitchFamily="18" charset="0"/>
              <a:buNone/>
            </a:pPr>
            <a:r>
              <a:rPr lang="en-US" altLang="zh-CN" sz="1800" dirty="0"/>
              <a:t>{</a:t>
            </a:r>
            <a:endParaRPr lang="en-US" altLang="zh-CN" sz="1800" dirty="0"/>
          </a:p>
          <a:p>
            <a:pPr marL="400050" lvl="1" indent="-246380">
              <a:spcBef>
                <a:spcPct val="0"/>
              </a:spcBef>
              <a:buFont typeface="Georgia" panose="02040502050405090303" pitchFamily="18" charset="0"/>
              <a:buNone/>
            </a:pPr>
            <a:r>
              <a:rPr lang="en-US" altLang="zh-CN" sz="1800" dirty="0"/>
              <a:t> public:</a:t>
            </a:r>
            <a:endParaRPr lang="en-US" altLang="zh-CN" sz="1800" dirty="0"/>
          </a:p>
          <a:p>
            <a:pPr marL="400050" lvl="1" indent="-246380">
              <a:spcBef>
                <a:spcPct val="0"/>
              </a:spcBef>
              <a:buFont typeface="Georgia" panose="02040502050405090303" pitchFamily="18" charset="0"/>
              <a:buNone/>
            </a:pPr>
            <a:r>
              <a:rPr lang="en-US" altLang="zh-CN" sz="1800" dirty="0"/>
              <a:t>             </a:t>
            </a:r>
            <a:r>
              <a:rPr lang="zh-CN" altLang="en-US" sz="1800" dirty="0"/>
              <a:t>公有成员（外部接口）</a:t>
            </a:r>
            <a:endParaRPr lang="zh-CN" altLang="en-US" sz="1800" dirty="0"/>
          </a:p>
          <a:p>
            <a:pPr marL="400050" lvl="1" indent="-246380">
              <a:spcBef>
                <a:spcPct val="0"/>
              </a:spcBef>
              <a:buFont typeface="Georgia" panose="02040502050405090303" pitchFamily="18" charset="0"/>
              <a:buNone/>
            </a:pPr>
            <a:r>
              <a:rPr lang="zh-CN" altLang="en-US" sz="1800" dirty="0"/>
              <a:t> </a:t>
            </a:r>
            <a:r>
              <a:rPr lang="en-US" altLang="zh-CN" sz="1800" dirty="0"/>
              <a:t>private:</a:t>
            </a:r>
            <a:endParaRPr lang="en-US" altLang="zh-CN" sz="1800" dirty="0"/>
          </a:p>
          <a:p>
            <a:pPr marL="400050" lvl="1" indent="-246380">
              <a:spcBef>
                <a:spcPct val="0"/>
              </a:spcBef>
              <a:buFont typeface="Georgia" panose="02040502050405090303" pitchFamily="18" charset="0"/>
              <a:buNone/>
            </a:pPr>
            <a:r>
              <a:rPr lang="en-US" altLang="zh-CN" sz="1800" dirty="0"/>
              <a:t>             </a:t>
            </a:r>
            <a:r>
              <a:rPr lang="zh-CN" altLang="en-US" sz="1800" dirty="0"/>
              <a:t>私有成员</a:t>
            </a:r>
            <a:endParaRPr lang="en-US" altLang="zh-CN" sz="1800" dirty="0"/>
          </a:p>
          <a:p>
            <a:pPr marL="400050" lvl="1" indent="-246380">
              <a:spcBef>
                <a:spcPct val="0"/>
              </a:spcBef>
              <a:buFont typeface="Georgia" panose="02040502050405090303" pitchFamily="18" charset="0"/>
              <a:buNone/>
            </a:pPr>
            <a:r>
              <a:rPr lang="zh-CN" altLang="en-US" sz="1800" dirty="0"/>
              <a:t> </a:t>
            </a:r>
            <a:r>
              <a:rPr lang="en-US" altLang="zh-CN" sz="1800" dirty="0"/>
              <a:t>protected:</a:t>
            </a:r>
            <a:endParaRPr lang="en-US" altLang="zh-CN" sz="1800" dirty="0"/>
          </a:p>
          <a:p>
            <a:pPr marL="400050" lvl="1" indent="-246380">
              <a:spcBef>
                <a:spcPct val="0"/>
              </a:spcBef>
              <a:buFont typeface="Georgia" panose="02040502050405090303" pitchFamily="18" charset="0"/>
              <a:buNone/>
            </a:pPr>
            <a:r>
              <a:rPr lang="en-US" altLang="zh-CN" sz="1800" dirty="0"/>
              <a:t>             </a:t>
            </a:r>
            <a:r>
              <a:rPr lang="zh-CN" altLang="en-US" sz="1800" dirty="0"/>
              <a:t>保护型成员</a:t>
            </a:r>
            <a:endParaRPr lang="zh-CN" altLang="en-US" sz="1800" dirty="0"/>
          </a:p>
          <a:p>
            <a:pPr marL="400050" lvl="1" indent="-246380">
              <a:spcBef>
                <a:spcPct val="0"/>
              </a:spcBef>
              <a:buFont typeface="Georgia" panose="02040502050405090303" pitchFamily="18" charset="0"/>
              <a:buNone/>
            </a:pPr>
            <a:r>
              <a:rPr lang="en-US" altLang="zh-CN" sz="1800" dirty="0"/>
              <a:t>}</a:t>
            </a:r>
            <a:endParaRPr lang="en-US" altLang="zh-CN" sz="1800" dirty="0"/>
          </a:p>
          <a:p>
            <a:pPr marL="0" indent="0">
              <a:buClr>
                <a:srgbClr val="EB641B"/>
              </a:buClr>
              <a:buFont typeface="Georgia" panose="02040502050405090303" pitchFamily="18" charset="0"/>
              <a:buChar char="•"/>
            </a:pP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内容占位符 2"/>
          <p:cNvSpPr>
            <a:spLocks noGrp="1" noChangeArrowheads="1"/>
          </p:cNvSpPr>
          <p:nvPr>
            <p:ph idx="4294967295"/>
          </p:nvPr>
        </p:nvSpPr>
        <p:spPr>
          <a:xfrm>
            <a:off x="417513" y="1556792"/>
            <a:ext cx="8229600" cy="4525962"/>
          </a:xfrm>
        </p:spPr>
        <p:txBody>
          <a:bodyPr/>
          <a:lstStyle/>
          <a:p>
            <a:pPr eaLnBrk="1" hangingPunct="1">
              <a:lnSpc>
                <a:spcPct val="150000"/>
              </a:lnSpc>
              <a:spcBef>
                <a:spcPts val="600"/>
              </a:spcBef>
            </a:pPr>
            <a:r>
              <a:rPr lang="zh-CN" altLang="en-US" dirty="0"/>
              <a:t>在关键字</a:t>
            </a:r>
            <a:r>
              <a:rPr lang="en-US" altLang="zh-CN" dirty="0">
                <a:solidFill>
                  <a:srgbClr val="C00000"/>
                </a:solidFill>
              </a:rPr>
              <a:t>public</a:t>
            </a:r>
            <a:r>
              <a:rPr lang="zh-CN" altLang="en-US" dirty="0"/>
              <a:t>后面声明，它们是类的</a:t>
            </a:r>
            <a:r>
              <a:rPr lang="zh-CN" altLang="en-US" dirty="0">
                <a:highlight>
                  <a:srgbClr val="FFFF00"/>
                </a:highlight>
              </a:rPr>
              <a:t>外部接口</a:t>
            </a:r>
            <a:r>
              <a:rPr lang="zh-CN" altLang="en-US" dirty="0"/>
              <a:t>，任何外部函数都可以访问</a:t>
            </a:r>
            <a:br>
              <a:rPr lang="en-US" altLang="zh-CN" dirty="0"/>
            </a:br>
            <a:r>
              <a:rPr lang="zh-CN" altLang="en-US" dirty="0">
                <a:solidFill>
                  <a:srgbClr val="C00000"/>
                </a:solidFill>
              </a:rPr>
              <a:t>公有类型数据和函数</a:t>
            </a:r>
            <a:r>
              <a:rPr lang="zh-CN" altLang="en-US" dirty="0"/>
              <a:t>。</a:t>
            </a:r>
            <a:endParaRPr lang="zh-CN" altLang="en-US" dirty="0"/>
          </a:p>
        </p:txBody>
      </p:sp>
      <p:sp>
        <p:nvSpPr>
          <p:cNvPr id="46083"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 typeface="Wingdings 3" panose="05040102010807070707" pitchFamily="18" charset="2"/>
              <a:buNone/>
              <a:defRPr/>
            </a:pPr>
            <a:fld id="{720145F6-61B3-407F-B74D-E3E12FEBB060}" type="slidenum">
              <a:rPr kumimoji="0" lang="en-US" altLang="zh-CN" sz="1000" b="0" i="0" u="none" strike="noStrike" kern="1200" cap="none" spc="0" normalizeH="0" baseline="0" noProof="0">
                <a:ln>
                  <a:noFill/>
                </a:ln>
                <a:solidFill>
                  <a:srgbClr val="000000"/>
                </a:solidFill>
                <a:effectLst/>
                <a:uLnTx/>
                <a:uFillTx/>
                <a:latin typeface="Times New Roman" panose="02020503050405090304" pitchFamily="18" charset="0"/>
                <a:ea typeface="隶书" panose="02010509060101010101" pitchFamily="49" charset="-122"/>
                <a:cs typeface="+mn-cs"/>
              </a:rPr>
            </a:fld>
            <a:endParaRPr kumimoji="0" lang="en-US" altLang="zh-CN" sz="1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p:txBody>
      </p:sp>
      <p:sp>
        <p:nvSpPr>
          <p:cNvPr id="46085" name="矩形 13316"/>
          <p:cNvSpPr>
            <a:spLocks noGrp="1" noChangeArrowheads="1"/>
          </p:cNvSpPr>
          <p:nvPr/>
        </p:nvSpPr>
        <p:spPr bwMode="auto">
          <a:xfrm>
            <a:off x="417513" y="54868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4100" b="1" i="0" u="none" strike="noStrike" kern="1200" cap="none" spc="0" normalizeH="0" baseline="0" noProof="0" dirty="0">
                <a:ln>
                  <a:noFill/>
                </a:ln>
                <a:solidFill>
                  <a:srgbClr val="0070C0"/>
                </a:solidFill>
                <a:effectLst/>
                <a:highlight>
                  <a:srgbClr val="FFFF00"/>
                </a:highlight>
                <a:uLnTx/>
                <a:uFillTx/>
                <a:latin typeface="Lucida Sans Unicode" panose="020B0602030504020204" pitchFamily="34" charset="0"/>
                <a:ea typeface="黑体" panose="02010609060101010101" pitchFamily="49" charset="-122"/>
                <a:cs typeface="+mn-cs"/>
              </a:rPr>
              <a:t>公有</a:t>
            </a:r>
            <a:r>
              <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类型成员</a:t>
            </a:r>
            <a:endPar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endParaRPr>
          </a:p>
        </p:txBody>
      </p:sp>
      <p:pic>
        <p:nvPicPr>
          <p:cNvPr id="2" name="图片 1"/>
          <p:cNvPicPr>
            <a:picLocks noChangeAspect="1"/>
          </p:cNvPicPr>
          <p:nvPr/>
        </p:nvPicPr>
        <p:blipFill>
          <a:blip r:embed="rId1"/>
          <a:stretch>
            <a:fillRect/>
          </a:stretch>
        </p:blipFill>
        <p:spPr>
          <a:xfrm>
            <a:off x="5673068" y="3144291"/>
            <a:ext cx="2592288" cy="2592288"/>
          </a:xfrm>
          <a:prstGeom prst="rect">
            <a:avLst/>
          </a:prstGeom>
        </p:spPr>
      </p:pic>
      <p:pic>
        <p:nvPicPr>
          <p:cNvPr id="3" name="图片 2"/>
          <p:cNvPicPr>
            <a:picLocks noChangeAspect="1"/>
          </p:cNvPicPr>
          <p:nvPr/>
        </p:nvPicPr>
        <p:blipFill>
          <a:blip r:embed="rId2"/>
          <a:stretch>
            <a:fillRect/>
          </a:stretch>
        </p:blipFill>
        <p:spPr>
          <a:xfrm>
            <a:off x="899592" y="3575521"/>
            <a:ext cx="4391025" cy="2124075"/>
          </a:xfrm>
          <a:prstGeom prst="roundRect">
            <a:avLst>
              <a:gd name="adj" fmla="val 2231"/>
            </a:avLst>
          </a:prstGeom>
          <a:solidFill>
            <a:srgbClr val="FFFFFF">
              <a:shade val="85000"/>
            </a:srgbClr>
          </a:solidFill>
          <a:ln>
            <a:noFill/>
          </a:ln>
          <a:effectLst/>
        </p:spPr>
      </p:pic>
      <p:sp>
        <p:nvSpPr>
          <p:cNvPr id="4" name="箭头: 左 3"/>
          <p:cNvSpPr/>
          <p:nvPr/>
        </p:nvSpPr>
        <p:spPr bwMode="auto">
          <a:xfrm>
            <a:off x="3645049" y="4252317"/>
            <a:ext cx="432048" cy="216024"/>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Times" panose="02020603050405020304" pitchFamily="18" charset="0"/>
              <a:ea typeface="隶书" panose="02010509060101010101" pitchFamily="49"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2289"/>
          <p:cNvSpPr>
            <a:spLocks noGrp="1" noChangeArrowheads="1"/>
          </p:cNvSpPr>
          <p:nvPr>
            <p:ph type="title"/>
          </p:nvPr>
        </p:nvSpPr>
        <p:spPr>
          <a:xfrm>
            <a:off x="613651" y="592928"/>
            <a:ext cx="7772400" cy="947192"/>
          </a:xfrm>
        </p:spPr>
        <p:txBody>
          <a:bodyPr/>
          <a:lstStyle/>
          <a:p>
            <a:r>
              <a:rPr lang="en-US" altLang="zh-CN" dirty="0">
                <a:solidFill>
                  <a:schemeClr val="accent2"/>
                </a:solidFill>
              </a:rPr>
              <a:t>public, private, protected</a:t>
            </a:r>
            <a:endParaRPr lang="en-US" altLang="zh-CN" dirty="0">
              <a:solidFill>
                <a:schemeClr val="accent2"/>
              </a:solidFill>
            </a:endParaRPr>
          </a:p>
        </p:txBody>
      </p:sp>
      <p:sp>
        <p:nvSpPr>
          <p:cNvPr id="45059" name="文本占位符 12290"/>
          <p:cNvSpPr>
            <a:spLocks noGrp="1" noChangeArrowheads="1"/>
          </p:cNvSpPr>
          <p:nvPr>
            <p:ph idx="1"/>
          </p:nvPr>
        </p:nvSpPr>
        <p:spPr>
          <a:xfrm>
            <a:off x="497982" y="1988840"/>
            <a:ext cx="4461675" cy="4525962"/>
          </a:xfrm>
        </p:spPr>
        <p:txBody>
          <a:bodyPr/>
          <a:lstStyle/>
          <a:p>
            <a:r>
              <a:rPr lang="en-US" altLang="zh-CN" dirty="0">
                <a:solidFill>
                  <a:srgbClr val="C00000"/>
                </a:solidFill>
              </a:rPr>
              <a:t>public</a:t>
            </a:r>
            <a:r>
              <a:rPr lang="en-US" altLang="zh-CN" dirty="0"/>
              <a:t> : </a:t>
            </a:r>
            <a:r>
              <a:rPr lang="zh-CN" altLang="en-US" dirty="0"/>
              <a:t>可以被</a:t>
            </a:r>
            <a:r>
              <a:rPr lang="zh-CN" altLang="en-US" dirty="0">
                <a:solidFill>
                  <a:srgbClr val="C00000"/>
                </a:solidFill>
              </a:rPr>
              <a:t>任意</a:t>
            </a:r>
            <a:r>
              <a:rPr lang="zh-CN" altLang="en-US" dirty="0"/>
              <a:t>实体访问</a:t>
            </a:r>
            <a:endParaRPr lang="zh-CN" altLang="en-US" dirty="0"/>
          </a:p>
          <a:p>
            <a:endParaRPr lang="zh-CN" altLang="en-US" dirty="0"/>
          </a:p>
          <a:p>
            <a:r>
              <a:rPr lang="en-US" altLang="zh-CN" dirty="0">
                <a:solidFill>
                  <a:srgbClr val="C00000"/>
                </a:solidFill>
              </a:rPr>
              <a:t>private</a:t>
            </a:r>
            <a:r>
              <a:rPr lang="en-US" altLang="zh-CN" dirty="0"/>
              <a:t>: </a:t>
            </a:r>
            <a:r>
              <a:rPr lang="zh-CN" altLang="en-US" dirty="0"/>
              <a:t>只允许</a:t>
            </a:r>
            <a:r>
              <a:rPr lang="zh-CN" altLang="en-US" dirty="0">
                <a:solidFill>
                  <a:srgbClr val="C00000"/>
                </a:solidFill>
              </a:rPr>
              <a:t>本类</a:t>
            </a:r>
            <a:r>
              <a:rPr lang="zh-CN" altLang="en-US" dirty="0"/>
              <a:t>的成员函数访问</a:t>
            </a:r>
            <a:endParaRPr lang="en-US" altLang="zh-CN" dirty="0"/>
          </a:p>
          <a:p>
            <a:pPr lvl="1"/>
            <a:endParaRPr lang="zh-CN" altLang="en-US" dirty="0"/>
          </a:p>
          <a:p>
            <a:r>
              <a:rPr lang="en-US" altLang="zh-CN" dirty="0">
                <a:solidFill>
                  <a:srgbClr val="C00000"/>
                </a:solidFill>
              </a:rPr>
              <a:t>protected</a:t>
            </a:r>
            <a:r>
              <a:rPr lang="en-US" altLang="zh-CN" dirty="0"/>
              <a:t>: </a:t>
            </a:r>
            <a:r>
              <a:rPr lang="zh-CN" altLang="en-US" dirty="0"/>
              <a:t>只允许</a:t>
            </a:r>
            <a:r>
              <a:rPr lang="zh-CN" altLang="en-US" dirty="0">
                <a:solidFill>
                  <a:srgbClr val="C00000"/>
                </a:solidFill>
              </a:rPr>
              <a:t>子类及本类</a:t>
            </a:r>
            <a:r>
              <a:rPr lang="zh-CN" altLang="en-US" dirty="0"/>
              <a:t>的成员函数访问</a:t>
            </a:r>
            <a:endParaRPr lang="zh-CN" altLang="en-US" dirty="0"/>
          </a:p>
        </p:txBody>
      </p:sp>
      <p:sp>
        <p:nvSpPr>
          <p:cNvPr id="5" name="灯片编号占位符 3"/>
          <p:cNvSpPr txBox="1">
            <a:spLocks noGrp="1" noChangeArrowheads="1"/>
          </p:cNvSpPr>
          <p:nvPr/>
        </p:nvSpPr>
        <p:spPr bwMode="auto">
          <a:xfrm>
            <a:off x="8380933" y="6039271"/>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 typeface="Wingdings 3" panose="05040102010807070707" pitchFamily="18" charset="2"/>
              <a:buNone/>
              <a:defRPr/>
            </a:pPr>
            <a:fld id="{720145F6-61B3-407F-B74D-E3E12FEBB060}" type="slidenum">
              <a:rPr kumimoji="0" lang="en-US" altLang="zh-CN" sz="1000" b="0" i="0" u="none" strike="noStrike" kern="1200" cap="none" spc="0" normalizeH="0" baseline="0" noProof="0">
                <a:ln>
                  <a:noFill/>
                </a:ln>
                <a:solidFill>
                  <a:srgbClr val="000000"/>
                </a:solidFill>
                <a:effectLst/>
                <a:uLnTx/>
                <a:uFillTx/>
                <a:latin typeface="Times New Roman" panose="02020503050405090304" pitchFamily="18" charset="0"/>
                <a:ea typeface="隶书" panose="02010509060101010101" pitchFamily="49" charset="-122"/>
                <a:cs typeface="+mn-cs"/>
              </a:rPr>
            </a:fld>
            <a:endParaRPr kumimoji="0" lang="en-US" altLang="zh-CN" sz="1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p:txBody>
      </p:sp>
      <p:pic>
        <p:nvPicPr>
          <p:cNvPr id="10" name="图片 9"/>
          <p:cNvPicPr>
            <a:picLocks noChangeAspect="1"/>
          </p:cNvPicPr>
          <p:nvPr/>
        </p:nvPicPr>
        <p:blipFill rotWithShape="1">
          <a:blip r:embed="rId1"/>
          <a:srcRect t="9563" b="5287"/>
          <a:stretch>
            <a:fillRect/>
          </a:stretch>
        </p:blipFill>
        <p:spPr>
          <a:xfrm>
            <a:off x="5077326" y="2074986"/>
            <a:ext cx="3775827" cy="3461980"/>
          </a:xfrm>
          <a:prstGeom prst="roundRect">
            <a:avLst>
              <a:gd name="adj" fmla="val 2231"/>
            </a:avLst>
          </a:prstGeom>
          <a:solidFill>
            <a:srgbClr val="FFFFFF">
              <a:shade val="85000"/>
            </a:srgbClr>
          </a:solidFill>
          <a:ln>
            <a:noFill/>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 typeface="Wingdings 3" panose="05040102010807070707" pitchFamily="18" charset="2"/>
              <a:buNone/>
              <a:defRPr/>
            </a:pPr>
            <a:fld id="{6E3990C5-F594-450D-961F-78CAA9D5EE90}" type="slidenum">
              <a:rPr kumimoji="0" lang="en-US" altLang="zh-CN" sz="1000" b="0" i="0" u="none" strike="noStrike" kern="1200" cap="none" spc="0" normalizeH="0" baseline="0" noProof="0">
                <a:ln>
                  <a:noFill/>
                </a:ln>
                <a:solidFill>
                  <a:srgbClr val="000000"/>
                </a:solidFill>
                <a:effectLst/>
                <a:uLnTx/>
                <a:uFillTx/>
                <a:latin typeface="Times New Roman" panose="02020503050405090304" pitchFamily="18" charset="0"/>
                <a:ea typeface="隶书" panose="02010509060101010101" pitchFamily="49" charset="-122"/>
                <a:cs typeface="+mn-cs"/>
              </a:rPr>
            </a:fld>
            <a:endParaRPr kumimoji="0" lang="en-US" altLang="zh-CN" sz="1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p:txBody>
      </p:sp>
      <p:sp>
        <p:nvSpPr>
          <p:cNvPr id="6" name="矩形 13316"/>
          <p:cNvSpPr>
            <a:spLocks noGrp="1" noChangeArrowheads="1"/>
          </p:cNvSpPr>
          <p:nvPr/>
        </p:nvSpPr>
        <p:spPr bwMode="auto">
          <a:xfrm>
            <a:off x="493419" y="610927"/>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4100" b="1" i="0" u="none" strike="noStrike" kern="1200" cap="none" spc="0" normalizeH="0" baseline="0" noProof="0" dirty="0">
                <a:ln>
                  <a:noFill/>
                </a:ln>
                <a:solidFill>
                  <a:srgbClr val="0070C0"/>
                </a:solidFill>
                <a:effectLst/>
                <a:highlight>
                  <a:srgbClr val="FFFF00"/>
                </a:highlight>
                <a:uLnTx/>
                <a:uFillTx/>
                <a:latin typeface="Lucida Sans Unicode" panose="020B0602030504020204" pitchFamily="34" charset="0"/>
                <a:ea typeface="黑体" panose="02010609060101010101" pitchFamily="49" charset="-122"/>
                <a:cs typeface="+mn-cs"/>
              </a:rPr>
              <a:t>私有</a:t>
            </a:r>
            <a:r>
              <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类型成员</a:t>
            </a:r>
            <a:endPar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endParaRPr>
          </a:p>
        </p:txBody>
      </p:sp>
      <p:sp>
        <p:nvSpPr>
          <p:cNvPr id="7" name="内容占位符 2"/>
          <p:cNvSpPr txBox="1">
            <a:spLocks noChangeArrowheads="1"/>
          </p:cNvSpPr>
          <p:nvPr/>
        </p:nvSpPr>
        <p:spPr bwMode="auto">
          <a:xfrm>
            <a:off x="420981" y="1484784"/>
            <a:ext cx="8229600"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65125" indent="-255905"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lvl="1" indent="-228600" algn="l" rtl="0" eaLnBrk="0" fontAlgn="base" hangingPunct="0">
              <a:spcBef>
                <a:spcPts val="325"/>
              </a:spcBef>
              <a:spcAft>
                <a:spcPct val="0"/>
              </a:spcAft>
              <a:buClr>
                <a:schemeClr val="accent1"/>
              </a:buClr>
              <a:buFont typeface="Verdana" panose="020B0804030504040204" pitchFamily="34" charset="0"/>
              <a:buChar char="◦"/>
              <a:defRPr sz="2300" kern="1200">
                <a:solidFill>
                  <a:schemeClr val="tx1"/>
                </a:solidFill>
                <a:latin typeface="+mn-lt"/>
                <a:ea typeface="+mn-ea"/>
                <a:cs typeface="+mn-cs"/>
              </a:defRPr>
            </a:lvl2pPr>
            <a:lvl3pPr marL="859155" lvl="2" indent="-228600" algn="l" rtl="0" eaLnBrk="0" fontAlgn="base" hangingPunct="0">
              <a:spcBef>
                <a:spcPts val="350"/>
              </a:spcBef>
              <a:spcAft>
                <a:spcPct val="0"/>
              </a:spcAft>
              <a:buClr>
                <a:schemeClr val="accent1"/>
              </a:buClr>
              <a:buSzPct val="100000"/>
              <a:buFont typeface="Wingdings 2" panose="05020102010507070707" pitchFamily="18" charset="2"/>
              <a:buChar char=""/>
              <a:defRPr sz="2100" kern="1200">
                <a:solidFill>
                  <a:schemeClr val="tx1"/>
                </a:solidFill>
                <a:latin typeface="+mn-lt"/>
                <a:ea typeface="+mn-ea"/>
                <a:cs typeface="+mn-cs"/>
              </a:defRPr>
            </a:lvl3pPr>
            <a:lvl4pPr marL="1143000" lvl="3" indent="-228600" algn="l" rtl="0" eaLnBrk="0" fontAlgn="base" hangingPunct="0">
              <a:spcBef>
                <a:spcPts val="350"/>
              </a:spcBef>
              <a:spcAft>
                <a:spcPct val="0"/>
              </a:spcAft>
              <a:buClr>
                <a:schemeClr val="accent1"/>
              </a:buClr>
              <a:buFont typeface="Wingdings 2" panose="05020102010507070707" pitchFamily="18" charset="2"/>
              <a:buChar char=""/>
              <a:defRPr sz="1900" kern="1200">
                <a:solidFill>
                  <a:schemeClr val="tx1"/>
                </a:solidFill>
                <a:latin typeface="+mn-lt"/>
                <a:ea typeface="+mn-ea"/>
                <a:cs typeface="+mn-cs"/>
              </a:defRPr>
            </a:lvl4pPr>
            <a:lvl5pPr marL="1371600" lvl="4" indent="-228600" algn="l" rtl="0" eaLnBrk="0" fontAlgn="base" hangingPunct="0">
              <a:spcBef>
                <a:spcPts val="350"/>
              </a:spcBef>
              <a:spcAft>
                <a:spcPct val="0"/>
              </a:spcAft>
              <a:buClr>
                <a:schemeClr val="accent1"/>
              </a:buClr>
              <a:buFont typeface="Wingdings 2" panose="05020102010507070707" pitchFamily="18" charset="2"/>
              <a:buChar char=""/>
              <a:defRPr kern="1200">
                <a:solidFill>
                  <a:schemeClr val="tx1"/>
                </a:solidFill>
                <a:latin typeface="+mn-lt"/>
                <a:ea typeface="+mn-ea"/>
                <a:cs typeface="+mn-cs"/>
              </a:defRPr>
            </a:lvl5pPr>
            <a:lvl6pPr marL="2514600" lvl="5"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9pPr>
          </a:lstStyle>
          <a:p>
            <a:pPr marL="365125" marR="0" lvl="0" indent="-255905" algn="l" defTabSz="914400" rtl="0" eaLnBrk="1" fontAlgn="base" latinLnBrk="0" hangingPunct="1">
              <a:lnSpc>
                <a:spcPct val="200000"/>
              </a:lnSpc>
              <a:spcBef>
                <a:spcPts val="400"/>
              </a:spcBef>
              <a:spcAft>
                <a:spcPct val="0"/>
              </a:spcAft>
              <a:buClr>
                <a:srgbClr val="0070C0"/>
              </a:buClr>
              <a:buSzPct val="68000"/>
              <a:buFont typeface="Wingdings" panose="05000000000000000000" pitchFamily="2" charset="2"/>
              <a:buChar char="l"/>
              <a:defRPr/>
            </a:pPr>
            <a:r>
              <a:rPr kumimoji="0" lang="zh-CN" altLang="en-US" sz="2700" b="0" i="0" u="none" strike="noStrike" kern="1200" cap="none" spc="0" normalizeH="0" baseline="0" noProof="0" dirty="0">
                <a:ln>
                  <a:noFill/>
                </a:ln>
                <a:solidFill>
                  <a:srgbClr val="000000"/>
                </a:solidFill>
                <a:effectLst/>
                <a:uLnTx/>
                <a:uFillTx/>
                <a:latin typeface="Verdana" panose="020B0804030504040204"/>
                <a:ea typeface="+mn-ea"/>
                <a:cs typeface="+mn-cs"/>
              </a:rPr>
              <a:t>在关键字</a:t>
            </a:r>
            <a:r>
              <a:rPr kumimoji="0" lang="en-US" altLang="zh-CN" sz="2700" b="0" i="0" u="none" strike="noStrike" kern="1200" cap="none" spc="0" normalizeH="0" baseline="0" noProof="0" dirty="0">
                <a:ln>
                  <a:noFill/>
                </a:ln>
                <a:solidFill>
                  <a:srgbClr val="C00000"/>
                </a:solidFill>
                <a:effectLst/>
                <a:uLnTx/>
                <a:uFillTx/>
                <a:latin typeface="Verdana" panose="020B0804030504040204"/>
                <a:ea typeface="+mn-ea"/>
                <a:cs typeface="+mn-cs"/>
              </a:rPr>
              <a:t>private</a:t>
            </a:r>
            <a:r>
              <a:rPr kumimoji="0" lang="zh-CN" altLang="en-US" sz="2700" b="0" i="0" u="none" strike="noStrike" kern="1200" cap="none" spc="0" normalizeH="0" baseline="0" noProof="0" dirty="0">
                <a:ln>
                  <a:noFill/>
                </a:ln>
                <a:solidFill>
                  <a:srgbClr val="000000"/>
                </a:solidFill>
                <a:effectLst/>
                <a:uLnTx/>
                <a:uFillTx/>
                <a:latin typeface="Verdana" panose="020B0804030504040204"/>
                <a:ea typeface="+mn-ea"/>
                <a:cs typeface="+mn-cs"/>
              </a:rPr>
              <a:t>后面声明，只允许本类中的函数访问，而类</a:t>
            </a:r>
            <a:r>
              <a:rPr kumimoji="0" lang="zh-CN" altLang="en-US" sz="2700" b="0" i="0" u="none" strike="noStrike" kern="1200" cap="none" spc="0" normalizeH="0" baseline="0" noProof="0" dirty="0">
                <a:ln>
                  <a:noFill/>
                </a:ln>
                <a:solidFill>
                  <a:srgbClr val="C00000"/>
                </a:solidFill>
                <a:effectLst/>
                <a:uLnTx/>
                <a:uFillTx/>
                <a:latin typeface="Verdana" panose="020B0804030504040204"/>
                <a:ea typeface="+mn-ea"/>
                <a:cs typeface="+mn-cs"/>
              </a:rPr>
              <a:t>外部的</a:t>
            </a:r>
            <a:r>
              <a:rPr kumimoji="0" lang="zh-CN" altLang="en-US" sz="2700" b="0" i="0" u="none" strike="noStrike" kern="1200" cap="none" spc="0" normalizeH="0" baseline="0" noProof="0" dirty="0">
                <a:ln>
                  <a:noFill/>
                </a:ln>
                <a:solidFill>
                  <a:srgbClr val="000000"/>
                </a:solidFill>
                <a:effectLst/>
                <a:uLnTx/>
                <a:uFillTx/>
                <a:latin typeface="Verdana" panose="020B0804030504040204"/>
                <a:ea typeface="+mn-ea"/>
                <a:cs typeface="+mn-cs"/>
              </a:rPr>
              <a:t>任何函数都不能访问。</a:t>
            </a:r>
            <a:endParaRPr kumimoji="0" lang="zh-CN" altLang="en-US" sz="2700" b="0" i="0" u="none" strike="noStrike" kern="1200" cap="none" spc="0" normalizeH="0" baseline="0" noProof="0" dirty="0">
              <a:ln>
                <a:noFill/>
              </a:ln>
              <a:solidFill>
                <a:srgbClr val="000000"/>
              </a:solidFill>
              <a:effectLst/>
              <a:uLnTx/>
              <a:uFillTx/>
              <a:latin typeface="Verdana" panose="020B0804030504040204"/>
              <a:ea typeface="+mn-ea"/>
              <a:cs typeface="+mn-cs"/>
            </a:endParaRPr>
          </a:p>
          <a:p>
            <a:pPr marL="621030" marR="0" lvl="1" indent="-228600" algn="l" defTabSz="914400" rtl="0" eaLnBrk="1" fontAlgn="base" latinLnBrk="0" hangingPunct="1">
              <a:lnSpc>
                <a:spcPct val="200000"/>
              </a:lnSpc>
              <a:spcBef>
                <a:spcPts val="325"/>
              </a:spcBef>
              <a:spcAft>
                <a:spcPct val="0"/>
              </a:spcAft>
              <a:buClr>
                <a:srgbClr val="0070C0"/>
              </a:buClr>
              <a:buSzTx/>
              <a:buFont typeface="Verdana" panose="020B0804030504040204" pitchFamily="34" charset="0"/>
              <a:buChar char="◦"/>
              <a:defRPr/>
            </a:pPr>
            <a:r>
              <a:rPr kumimoji="0" lang="zh-CN" altLang="en-US" sz="2300" b="0" i="0" u="none" strike="noStrike" kern="1200" cap="none" spc="0" normalizeH="0" baseline="0" noProof="0" dirty="0">
                <a:ln>
                  <a:noFill/>
                </a:ln>
                <a:solidFill>
                  <a:srgbClr val="000000"/>
                </a:solidFill>
                <a:effectLst/>
                <a:uLnTx/>
                <a:uFillTx/>
                <a:latin typeface="Verdana" panose="020B0804030504040204"/>
                <a:ea typeface="+mn-ea"/>
                <a:cs typeface="+mn-cs"/>
              </a:rPr>
              <a:t>如果紧跟在类名称的后面声明私有成员，</a:t>
            </a:r>
            <a:br>
              <a:rPr kumimoji="0" lang="en-US" altLang="zh-CN" sz="2300" b="0" i="0" u="none" strike="noStrike" kern="1200" cap="none" spc="0" normalizeH="0" baseline="0" noProof="0" dirty="0">
                <a:ln>
                  <a:noFill/>
                </a:ln>
                <a:solidFill>
                  <a:srgbClr val="000000"/>
                </a:solidFill>
                <a:effectLst/>
                <a:uLnTx/>
                <a:uFillTx/>
                <a:latin typeface="Verdana" panose="020B0804030504040204"/>
                <a:ea typeface="+mn-ea"/>
                <a:cs typeface="+mn-cs"/>
              </a:rPr>
            </a:br>
            <a:r>
              <a:rPr kumimoji="0" lang="zh-CN" altLang="en-US" sz="2300" b="0" i="0" u="none" strike="noStrike" kern="1200" cap="none" spc="0" normalizeH="0" baseline="0" noProof="0" dirty="0">
                <a:ln>
                  <a:noFill/>
                </a:ln>
                <a:solidFill>
                  <a:srgbClr val="000000"/>
                </a:solidFill>
                <a:effectLst/>
                <a:uLnTx/>
                <a:uFillTx/>
                <a:latin typeface="Verdana" panose="020B0804030504040204"/>
                <a:ea typeface="+mn-ea"/>
                <a:cs typeface="+mn-cs"/>
              </a:rPr>
              <a:t>则关键字</a:t>
            </a:r>
            <a:r>
              <a:rPr kumimoji="0" lang="en-US" altLang="zh-CN" sz="2300" b="0" i="0" u="none" strike="noStrike" kern="1200" cap="none" spc="0" normalizeH="0" baseline="0" noProof="0" dirty="0">
                <a:ln>
                  <a:noFill/>
                </a:ln>
                <a:solidFill>
                  <a:srgbClr val="C00000"/>
                </a:solidFill>
                <a:effectLst/>
                <a:uLnTx/>
                <a:uFillTx/>
                <a:latin typeface="Verdana" panose="020B0804030504040204"/>
                <a:ea typeface="+mn-ea"/>
                <a:cs typeface="+mn-cs"/>
              </a:rPr>
              <a:t>private</a:t>
            </a:r>
            <a:r>
              <a:rPr kumimoji="0" lang="zh-CN" altLang="en-US" sz="2300" b="0" i="0" u="none" strike="noStrike" kern="1200" cap="none" spc="0" normalizeH="0" baseline="0" noProof="0" dirty="0">
                <a:ln>
                  <a:noFill/>
                </a:ln>
                <a:solidFill>
                  <a:srgbClr val="000000"/>
                </a:solidFill>
                <a:effectLst/>
                <a:uLnTx/>
                <a:uFillTx/>
                <a:latin typeface="Verdana" panose="020B0804030504040204"/>
                <a:ea typeface="+mn-ea"/>
                <a:cs typeface="+mn-cs"/>
              </a:rPr>
              <a:t>可以省略（</a:t>
            </a:r>
            <a:r>
              <a:rPr kumimoji="0" lang="zh-CN" altLang="en-US" sz="2300" b="0" i="0" u="none" strike="noStrike" kern="1200" cap="none" spc="0" normalizeH="0" baseline="0" noProof="0" dirty="0">
                <a:ln>
                  <a:noFill/>
                </a:ln>
                <a:solidFill>
                  <a:srgbClr val="C00000"/>
                </a:solidFill>
                <a:effectLst/>
                <a:uLnTx/>
                <a:uFillTx/>
                <a:latin typeface="Verdana" panose="020B0804030504040204"/>
                <a:ea typeface="+mn-ea"/>
                <a:cs typeface="+mn-cs"/>
              </a:rPr>
              <a:t>默认</a:t>
            </a:r>
            <a:r>
              <a:rPr kumimoji="0" lang="zh-CN" altLang="en-US" sz="2300" b="0" i="0" u="none" strike="noStrike" kern="1200" cap="none" spc="0" normalizeH="0" baseline="0" noProof="0" dirty="0">
                <a:ln>
                  <a:noFill/>
                </a:ln>
                <a:solidFill>
                  <a:srgbClr val="000000"/>
                </a:solidFill>
                <a:effectLst/>
                <a:uLnTx/>
                <a:uFillTx/>
                <a:latin typeface="Verdana" panose="020B0804030504040204"/>
                <a:ea typeface="+mn-ea"/>
                <a:cs typeface="+mn-cs"/>
              </a:rPr>
              <a:t>）。</a:t>
            </a:r>
            <a:endParaRPr kumimoji="0" lang="en-US" altLang="zh-CN" sz="2300" b="0" i="0" u="none" strike="noStrike" kern="1200" cap="none" spc="0" normalizeH="0" baseline="0" noProof="0" dirty="0">
              <a:ln>
                <a:noFill/>
              </a:ln>
              <a:solidFill>
                <a:srgbClr val="000000"/>
              </a:solidFill>
              <a:effectLst/>
              <a:uLnTx/>
              <a:uFillTx/>
              <a:latin typeface="Verdana" panose="020B0804030504040204"/>
              <a:ea typeface="+mn-ea"/>
              <a:cs typeface="+mn-cs"/>
            </a:endParaRPr>
          </a:p>
          <a:p>
            <a:pPr marL="621030" marR="0" lvl="1" indent="-228600" algn="l" defTabSz="914400" rtl="0" eaLnBrk="1" fontAlgn="base" latinLnBrk="0" hangingPunct="1">
              <a:lnSpc>
                <a:spcPct val="200000"/>
              </a:lnSpc>
              <a:spcBef>
                <a:spcPts val="325"/>
              </a:spcBef>
              <a:spcAft>
                <a:spcPct val="0"/>
              </a:spcAft>
              <a:buClr>
                <a:srgbClr val="0070C0"/>
              </a:buClr>
              <a:buSzTx/>
              <a:buFont typeface="Verdana" panose="020B0804030504040204" pitchFamily="34" charset="0"/>
              <a:buChar char="◦"/>
              <a:defRPr/>
            </a:pPr>
            <a:r>
              <a:rPr kumimoji="0" lang="zh-CN" altLang="en-US" sz="2300" b="0" i="0" u="none" strike="noStrike" kern="1200" cap="none" spc="0" normalizeH="0" baseline="0" noProof="0" dirty="0">
                <a:ln>
                  <a:noFill/>
                </a:ln>
                <a:solidFill>
                  <a:srgbClr val="000000"/>
                </a:solidFill>
                <a:effectLst/>
                <a:uLnTx/>
                <a:uFillTx/>
                <a:latin typeface="Verdana" panose="020B0804030504040204"/>
                <a:ea typeface="+mn-ea"/>
                <a:cs typeface="+mn-cs"/>
              </a:rPr>
              <a:t>通过</a:t>
            </a:r>
            <a:r>
              <a:rPr kumimoji="0" lang="en-US" altLang="zh-CN" sz="2300" b="0" i="0" u="none" strike="noStrike" kern="1200" cap="none" spc="0" normalizeH="0" baseline="0" noProof="0" dirty="0">
                <a:ln>
                  <a:noFill/>
                </a:ln>
                <a:solidFill>
                  <a:srgbClr val="000000"/>
                </a:solidFill>
                <a:effectLst/>
                <a:uLnTx/>
                <a:uFillTx/>
                <a:latin typeface="Verdana" panose="020B0804030504040204"/>
                <a:ea typeface="+mn-ea"/>
                <a:cs typeface="+mn-cs"/>
              </a:rPr>
              <a:t>getter/setter </a:t>
            </a:r>
            <a:r>
              <a:rPr kumimoji="0" lang="zh-CN" altLang="en-US" sz="2300" b="0" i="0" u="none" strike="noStrike" kern="1200" cap="none" spc="0" normalizeH="0" baseline="0" noProof="0" dirty="0">
                <a:ln>
                  <a:noFill/>
                </a:ln>
                <a:solidFill>
                  <a:srgbClr val="000000"/>
                </a:solidFill>
                <a:effectLst/>
                <a:uLnTx/>
                <a:uFillTx/>
                <a:latin typeface="Verdana" panose="020B0804030504040204"/>
                <a:ea typeface="+mn-ea"/>
                <a:cs typeface="+mn-cs"/>
              </a:rPr>
              <a:t>方法操作</a:t>
            </a:r>
            <a:r>
              <a:rPr kumimoji="0" lang="zh-CN" altLang="en-US" sz="2300" b="0" i="0" u="none" strike="noStrike" kern="1200" cap="none" spc="0" normalizeH="0" baseline="0" noProof="0" dirty="0">
                <a:ln>
                  <a:noFill/>
                </a:ln>
                <a:solidFill>
                  <a:srgbClr val="000000"/>
                </a:solidFill>
                <a:effectLst/>
                <a:highlight>
                  <a:srgbClr val="FFFF00"/>
                </a:highlight>
                <a:uLnTx/>
                <a:uFillTx/>
                <a:latin typeface="Verdana" panose="020B0804030504040204"/>
                <a:ea typeface="+mn-ea"/>
                <a:cs typeface="+mn-cs"/>
              </a:rPr>
              <a:t>私有数据</a:t>
            </a:r>
            <a:endParaRPr kumimoji="0" lang="zh-CN" altLang="en-US" sz="2300" b="0" i="0" u="none" strike="noStrike" kern="1200" cap="none" spc="0" normalizeH="0" baseline="0" noProof="0" dirty="0">
              <a:ln>
                <a:noFill/>
              </a:ln>
              <a:solidFill>
                <a:srgbClr val="000000"/>
              </a:solidFill>
              <a:effectLst/>
              <a:highlight>
                <a:srgbClr val="FFFF00"/>
              </a:highlight>
              <a:uLnTx/>
              <a:uFillTx/>
              <a:latin typeface="Verdana" panose="020B0804030504040204"/>
              <a:ea typeface="+mn-ea"/>
              <a:cs typeface="+mn-cs"/>
            </a:endParaRPr>
          </a:p>
        </p:txBody>
      </p:sp>
      <p:pic>
        <p:nvPicPr>
          <p:cNvPr id="2" name="图片 1"/>
          <p:cNvPicPr>
            <a:picLocks noChangeAspect="1"/>
          </p:cNvPicPr>
          <p:nvPr/>
        </p:nvPicPr>
        <p:blipFill>
          <a:blip r:embed="rId1"/>
          <a:stretch>
            <a:fillRect/>
          </a:stretch>
        </p:blipFill>
        <p:spPr>
          <a:xfrm>
            <a:off x="6444208" y="3200614"/>
            <a:ext cx="2016224" cy="2604650"/>
          </a:xfrm>
          <a:prstGeom prst="roundRect">
            <a:avLst>
              <a:gd name="adj" fmla="val 2231"/>
            </a:avLst>
          </a:prstGeom>
          <a:solidFill>
            <a:srgbClr val="FFFFFF">
              <a:shade val="85000"/>
            </a:srgbClr>
          </a:solidFill>
          <a:ln>
            <a:noFill/>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 typeface="Wingdings 3" panose="05040102010807070707" pitchFamily="18" charset="2"/>
              <a:buNone/>
              <a:defRPr/>
            </a:pPr>
            <a:fld id="{6E3990C5-F594-450D-961F-78CAA9D5EE90}" type="slidenum">
              <a:rPr kumimoji="0" lang="en-US" altLang="zh-CN" sz="1000" b="0" i="0" u="none" strike="noStrike" kern="1200" cap="none" spc="0" normalizeH="0" baseline="0" noProof="0">
                <a:ln>
                  <a:noFill/>
                </a:ln>
                <a:solidFill>
                  <a:srgbClr val="000000"/>
                </a:solidFill>
                <a:effectLst/>
                <a:uLnTx/>
                <a:uFillTx/>
                <a:latin typeface="Times New Roman" panose="02020503050405090304" pitchFamily="18" charset="0"/>
                <a:ea typeface="隶书" panose="02010509060101010101" pitchFamily="49" charset="-122"/>
                <a:cs typeface="+mn-cs"/>
              </a:rPr>
            </a:fld>
            <a:endParaRPr kumimoji="0" lang="en-US" altLang="zh-CN" sz="1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p:txBody>
      </p:sp>
      <p:sp>
        <p:nvSpPr>
          <p:cNvPr id="6" name="矩形 13316"/>
          <p:cNvSpPr>
            <a:spLocks noGrp="1" noChangeArrowheads="1"/>
          </p:cNvSpPr>
          <p:nvPr/>
        </p:nvSpPr>
        <p:spPr bwMode="auto">
          <a:xfrm>
            <a:off x="539552" y="692696"/>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4100" b="1" i="0" u="none" strike="noStrike" kern="1200" cap="none" spc="0" normalizeH="0" baseline="0" noProof="0" dirty="0">
                <a:ln>
                  <a:noFill/>
                </a:ln>
                <a:solidFill>
                  <a:srgbClr val="0070C0"/>
                </a:solidFill>
                <a:effectLst/>
                <a:highlight>
                  <a:srgbClr val="FFFF00"/>
                </a:highlight>
                <a:uLnTx/>
                <a:uFillTx/>
                <a:latin typeface="Lucida Sans Unicode" panose="020B0602030504020204" pitchFamily="34" charset="0"/>
                <a:ea typeface="黑体" panose="02010609060101010101" pitchFamily="49" charset="-122"/>
                <a:cs typeface="+mn-cs"/>
              </a:rPr>
              <a:t>保护</a:t>
            </a:r>
            <a:r>
              <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类型成员</a:t>
            </a:r>
            <a:endPar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endParaRPr>
          </a:p>
        </p:txBody>
      </p:sp>
      <p:sp>
        <p:nvSpPr>
          <p:cNvPr id="7" name="内容占位符 2"/>
          <p:cNvSpPr txBox="1">
            <a:spLocks noChangeArrowheads="1"/>
          </p:cNvSpPr>
          <p:nvPr/>
        </p:nvSpPr>
        <p:spPr bwMode="auto">
          <a:xfrm>
            <a:off x="457200" y="1412776"/>
            <a:ext cx="8229600" cy="44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65125" indent="-255905"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lvl="1" indent="-228600" algn="l" rtl="0" eaLnBrk="0" fontAlgn="base" hangingPunct="0">
              <a:spcBef>
                <a:spcPts val="325"/>
              </a:spcBef>
              <a:spcAft>
                <a:spcPct val="0"/>
              </a:spcAft>
              <a:buClr>
                <a:schemeClr val="accent1"/>
              </a:buClr>
              <a:buFont typeface="Verdana" panose="020B0804030504040204" pitchFamily="34" charset="0"/>
              <a:buChar char="◦"/>
              <a:defRPr sz="2300" kern="1200">
                <a:solidFill>
                  <a:schemeClr val="tx1"/>
                </a:solidFill>
                <a:latin typeface="+mn-lt"/>
                <a:ea typeface="+mn-ea"/>
                <a:cs typeface="+mn-cs"/>
              </a:defRPr>
            </a:lvl2pPr>
            <a:lvl3pPr marL="859155" lvl="2" indent="-228600" algn="l" rtl="0" eaLnBrk="0" fontAlgn="base" hangingPunct="0">
              <a:spcBef>
                <a:spcPts val="350"/>
              </a:spcBef>
              <a:spcAft>
                <a:spcPct val="0"/>
              </a:spcAft>
              <a:buClr>
                <a:schemeClr val="accent1"/>
              </a:buClr>
              <a:buSzPct val="100000"/>
              <a:buFont typeface="Wingdings 2" panose="05020102010507070707" pitchFamily="18" charset="2"/>
              <a:buChar char=""/>
              <a:defRPr sz="2100" kern="1200">
                <a:solidFill>
                  <a:schemeClr val="tx1"/>
                </a:solidFill>
                <a:latin typeface="+mn-lt"/>
                <a:ea typeface="+mn-ea"/>
                <a:cs typeface="+mn-cs"/>
              </a:defRPr>
            </a:lvl3pPr>
            <a:lvl4pPr marL="1143000" lvl="3" indent="-228600" algn="l" rtl="0" eaLnBrk="0" fontAlgn="base" hangingPunct="0">
              <a:spcBef>
                <a:spcPts val="350"/>
              </a:spcBef>
              <a:spcAft>
                <a:spcPct val="0"/>
              </a:spcAft>
              <a:buClr>
                <a:schemeClr val="accent1"/>
              </a:buClr>
              <a:buFont typeface="Wingdings 2" panose="05020102010507070707" pitchFamily="18" charset="2"/>
              <a:buChar char=""/>
              <a:defRPr sz="1900" kern="1200">
                <a:solidFill>
                  <a:schemeClr val="tx1"/>
                </a:solidFill>
                <a:latin typeface="+mn-lt"/>
                <a:ea typeface="+mn-ea"/>
                <a:cs typeface="+mn-cs"/>
              </a:defRPr>
            </a:lvl4pPr>
            <a:lvl5pPr marL="1371600" lvl="4" indent="-228600" algn="l" rtl="0" eaLnBrk="0" fontAlgn="base" hangingPunct="0">
              <a:spcBef>
                <a:spcPts val="350"/>
              </a:spcBef>
              <a:spcAft>
                <a:spcPct val="0"/>
              </a:spcAft>
              <a:buClr>
                <a:schemeClr val="accent1"/>
              </a:buClr>
              <a:buFont typeface="Wingdings 2" panose="05020102010507070707" pitchFamily="18" charset="2"/>
              <a:buChar char=""/>
              <a:defRPr kern="1200">
                <a:solidFill>
                  <a:schemeClr val="tx1"/>
                </a:solidFill>
                <a:latin typeface="+mn-lt"/>
                <a:ea typeface="+mn-ea"/>
                <a:cs typeface="+mn-cs"/>
              </a:defRPr>
            </a:lvl5pPr>
            <a:lvl6pPr marL="2514600" lvl="5"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9pPr>
          </a:lstStyle>
          <a:p>
            <a:pPr marL="365125" marR="0" lvl="0" indent="-255905" algn="l" defTabSz="914400" rtl="0" eaLnBrk="1" fontAlgn="base" latinLnBrk="0" hangingPunct="1">
              <a:lnSpc>
                <a:spcPct val="200000"/>
              </a:lnSpc>
              <a:spcBef>
                <a:spcPts val="400"/>
              </a:spcBef>
              <a:spcAft>
                <a:spcPct val="0"/>
              </a:spcAft>
              <a:buClr>
                <a:srgbClr val="0070C0"/>
              </a:buClr>
              <a:buSzPct val="68000"/>
              <a:buFont typeface="Wingdings" panose="05000000000000000000" pitchFamily="2" charset="2"/>
              <a:buChar char="l"/>
              <a:defRPr/>
            </a:pPr>
            <a:r>
              <a:rPr kumimoji="0" lang="zh-CN" altLang="en-US" sz="2700" b="0" i="0" u="none" strike="noStrike" kern="1200" cap="none" spc="0" normalizeH="0" baseline="0" noProof="0" dirty="0">
                <a:ln>
                  <a:noFill/>
                </a:ln>
                <a:solidFill>
                  <a:srgbClr val="000000"/>
                </a:solidFill>
                <a:effectLst/>
                <a:uLnTx/>
                <a:uFillTx/>
                <a:latin typeface="Verdana" panose="020B0804030504040204"/>
                <a:ea typeface="+mn-ea"/>
                <a:cs typeface="+mn-cs"/>
              </a:rPr>
              <a:t>在关键字</a:t>
            </a:r>
            <a:r>
              <a:rPr kumimoji="0" lang="en-US" altLang="zh-CN" sz="2700" b="1" i="0" u="none" strike="noStrike" kern="1200" cap="none" spc="0" normalizeH="0" baseline="0" noProof="0" dirty="0">
                <a:ln>
                  <a:noFill/>
                </a:ln>
                <a:solidFill>
                  <a:srgbClr val="C00000"/>
                </a:solidFill>
                <a:effectLst/>
                <a:uLnTx/>
                <a:uFillTx/>
                <a:latin typeface="Verdana" panose="020B0804030504040204"/>
                <a:ea typeface="+mn-ea"/>
                <a:cs typeface="+mn-cs"/>
              </a:rPr>
              <a:t>protected</a:t>
            </a:r>
            <a:r>
              <a:rPr kumimoji="0" lang="zh-CN" altLang="en-US" sz="2700" b="0" i="0" u="none" strike="noStrike" kern="1200" cap="none" spc="0" normalizeH="0" baseline="0" noProof="0" dirty="0">
                <a:ln>
                  <a:noFill/>
                </a:ln>
                <a:solidFill>
                  <a:srgbClr val="000000"/>
                </a:solidFill>
                <a:effectLst/>
                <a:uLnTx/>
                <a:uFillTx/>
                <a:latin typeface="Verdana" panose="020B0804030504040204"/>
                <a:ea typeface="+mn-ea"/>
                <a:cs typeface="+mn-cs"/>
              </a:rPr>
              <a:t>后面声明，</a:t>
            </a:r>
            <a:endParaRPr kumimoji="0" lang="en-US" altLang="zh-CN" sz="2700" b="0" i="0" u="none" strike="noStrike" kern="1200" cap="none" spc="0" normalizeH="0" baseline="0" noProof="0" dirty="0">
              <a:ln>
                <a:noFill/>
              </a:ln>
              <a:solidFill>
                <a:srgbClr val="000000"/>
              </a:solidFill>
              <a:effectLst/>
              <a:uLnTx/>
              <a:uFillTx/>
              <a:latin typeface="Verdana" panose="020B0804030504040204"/>
              <a:ea typeface="+mn-ea"/>
              <a:cs typeface="+mn-cs"/>
            </a:endParaRPr>
          </a:p>
          <a:p>
            <a:pPr marL="365125" marR="0" lvl="0" indent="-255905" algn="l" defTabSz="914400" rtl="0" eaLnBrk="1" fontAlgn="base" latinLnBrk="0" hangingPunct="1">
              <a:lnSpc>
                <a:spcPct val="200000"/>
              </a:lnSpc>
              <a:spcBef>
                <a:spcPts val="400"/>
              </a:spcBef>
              <a:spcAft>
                <a:spcPct val="0"/>
              </a:spcAft>
              <a:buClr>
                <a:srgbClr val="0070C0"/>
              </a:buClr>
              <a:buSzPct val="68000"/>
              <a:buFont typeface="Wingdings" panose="05000000000000000000" pitchFamily="2" charset="2"/>
              <a:buChar char="l"/>
              <a:defRPr/>
            </a:pPr>
            <a:r>
              <a:rPr kumimoji="0" lang="zh-CN" altLang="en-US" sz="2700" b="0" i="0" u="none" strike="noStrike" kern="1200" cap="none" spc="0" normalizeH="0" baseline="0" noProof="0" dirty="0">
                <a:ln>
                  <a:noFill/>
                </a:ln>
                <a:solidFill>
                  <a:srgbClr val="000000"/>
                </a:solidFill>
                <a:effectLst/>
                <a:uLnTx/>
                <a:uFillTx/>
                <a:latin typeface="Verdana" panose="020B0804030504040204"/>
                <a:ea typeface="+mn-ea"/>
                <a:cs typeface="+mn-cs"/>
              </a:rPr>
              <a:t>与</a:t>
            </a:r>
            <a:r>
              <a:rPr kumimoji="0" lang="en-US" altLang="zh-CN" sz="2700" b="0" i="0" u="none" strike="noStrike" kern="1200" cap="none" spc="0" normalizeH="0" baseline="0" noProof="0" dirty="0">
                <a:ln>
                  <a:noFill/>
                </a:ln>
                <a:solidFill>
                  <a:srgbClr val="000000"/>
                </a:solidFill>
                <a:effectLst/>
                <a:uLnTx/>
                <a:uFillTx/>
                <a:latin typeface="Verdana" panose="020B0804030504040204"/>
                <a:ea typeface="+mn-ea"/>
                <a:cs typeface="+mn-cs"/>
              </a:rPr>
              <a:t>private</a:t>
            </a:r>
            <a:r>
              <a:rPr kumimoji="0" lang="zh-CN" altLang="en-US" sz="2700" b="0" i="0" u="none" strike="noStrike" kern="1200" cap="none" spc="0" normalizeH="0" baseline="0" noProof="0" dirty="0">
                <a:ln>
                  <a:noFill/>
                </a:ln>
                <a:solidFill>
                  <a:srgbClr val="000000"/>
                </a:solidFill>
                <a:effectLst/>
                <a:uLnTx/>
                <a:uFillTx/>
                <a:latin typeface="Verdana" panose="020B0804030504040204"/>
                <a:ea typeface="+mn-ea"/>
                <a:cs typeface="+mn-cs"/>
              </a:rPr>
              <a:t>类似，</a:t>
            </a:r>
            <a:r>
              <a:rPr kumimoji="0" lang="zh-CN" altLang="en-US" sz="27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其</a:t>
            </a:r>
            <a:r>
              <a:rPr kumimoji="0" lang="zh-CN" altLang="en-US" sz="2700" b="0" i="0" u="none" strike="noStrike" kern="1200" cap="none" spc="0" normalizeH="0" baseline="0" noProof="0" dirty="0">
                <a:ln>
                  <a:noFill/>
                </a:ln>
                <a:solidFill>
                  <a:srgbClr val="C00000"/>
                </a:solidFill>
                <a:effectLst/>
                <a:uLnTx/>
                <a:uFillTx/>
                <a:latin typeface="楷体" panose="02010609060101010101" pitchFamily="49" charset="-122"/>
                <a:ea typeface="楷体" panose="02010609060101010101" pitchFamily="49" charset="-122"/>
                <a:cs typeface="+mn-cs"/>
              </a:rPr>
              <a:t>差别表现</a:t>
            </a:r>
            <a:r>
              <a:rPr kumimoji="0" lang="zh-CN" altLang="en-US" sz="27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在</a:t>
            </a:r>
            <a:r>
              <a:rPr kumimoji="0" lang="zh-CN" altLang="en-US" sz="27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继承与派生</a:t>
            </a:r>
            <a:r>
              <a:rPr kumimoji="0" lang="zh-CN" altLang="en-US" sz="27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时对派生类的影响不同</a:t>
            </a:r>
            <a:r>
              <a:rPr kumimoji="0" lang="zh-CN" altLang="en-US" sz="2700" b="0" i="0" u="none" strike="noStrike" kern="1200" cap="none" spc="0" normalizeH="0" baseline="0" noProof="0" dirty="0">
                <a:ln>
                  <a:noFill/>
                </a:ln>
                <a:solidFill>
                  <a:srgbClr val="000000"/>
                </a:solidFill>
                <a:effectLst/>
                <a:uLnTx/>
                <a:uFillTx/>
                <a:latin typeface="Verdana" panose="020B0804030504040204"/>
                <a:ea typeface="+mn-ea"/>
                <a:cs typeface="+mn-cs"/>
              </a:rPr>
              <a:t>。</a:t>
            </a:r>
            <a:endParaRPr kumimoji="0" lang="zh-CN" altLang="en-US" sz="2700" b="0" i="0" u="none" strike="noStrike" kern="1200" cap="none" spc="0" normalizeH="0" baseline="0" noProof="0" dirty="0">
              <a:ln>
                <a:noFill/>
              </a:ln>
              <a:solidFill>
                <a:srgbClr val="000000"/>
              </a:solidFill>
              <a:effectLst/>
              <a:uLnTx/>
              <a:uFillTx/>
              <a:latin typeface="Verdana" panose="020B0804030504040204"/>
              <a:ea typeface="+mn-ea"/>
              <a:cs typeface="+mn-cs"/>
            </a:endParaRPr>
          </a:p>
        </p:txBody>
      </p:sp>
      <p:pic>
        <p:nvPicPr>
          <p:cNvPr id="2" name="图片 1"/>
          <p:cNvPicPr>
            <a:picLocks noChangeAspect="1"/>
          </p:cNvPicPr>
          <p:nvPr/>
        </p:nvPicPr>
        <p:blipFill>
          <a:blip r:embed="rId1"/>
          <a:stretch>
            <a:fillRect/>
          </a:stretch>
        </p:blipFill>
        <p:spPr>
          <a:xfrm>
            <a:off x="3923928" y="3508676"/>
            <a:ext cx="4454277" cy="2934787"/>
          </a:xfrm>
          <a:prstGeom prst="roundRect">
            <a:avLst>
              <a:gd name="adj" fmla="val 2231"/>
            </a:avLst>
          </a:prstGeom>
          <a:solidFill>
            <a:srgbClr val="FFFFFF">
              <a:shade val="85000"/>
            </a:srgbClr>
          </a:solidFill>
          <a:ln>
            <a:noFill/>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类与对象</a:t>
            </a:r>
            <a:endParaRPr lang="en-US" dirty="0"/>
          </a:p>
        </p:txBody>
      </p:sp>
      <p:sp>
        <p:nvSpPr>
          <p:cNvPr id="3" name="内容占位符 2"/>
          <p:cNvSpPr>
            <a:spLocks noGrp="1"/>
          </p:cNvSpPr>
          <p:nvPr>
            <p:ph idx="1"/>
          </p:nvPr>
        </p:nvSpPr>
        <p:spPr/>
        <p:txBody>
          <a:bodyPr/>
          <a:lstStyle/>
          <a:p>
            <a:r>
              <a:rPr lang="zh-CN" altLang="en-US" dirty="0"/>
              <a:t>类</a:t>
            </a:r>
            <a:endParaRPr lang="en-US" altLang="zh-CN" dirty="0"/>
          </a:p>
          <a:p>
            <a:pPr lvl="1"/>
            <a:r>
              <a:rPr lang="zh-CN" altLang="en-US" dirty="0"/>
              <a:t>具有相同属性和行为的一组对象的集合，它为属于该类的全部对象提供了统一的抽象描述，其内部包括属性和行为两个主要部分。</a:t>
            </a:r>
            <a:endParaRPr lang="zh-CN" altLang="en-US" dirty="0"/>
          </a:p>
          <a:p>
            <a:pPr lvl="1"/>
            <a:endParaRPr lang="en-US" dirty="0"/>
          </a:p>
          <a:p>
            <a:r>
              <a:rPr lang="zh-CN" altLang="en-US" dirty="0"/>
              <a:t>对象</a:t>
            </a:r>
            <a:endParaRPr lang="en-US" altLang="zh-CN" dirty="0"/>
          </a:p>
          <a:p>
            <a:pPr lvl="1"/>
            <a:r>
              <a:rPr lang="zh-CN" altLang="en-US" dirty="0">
                <a:latin typeface="宋体" pitchFamily="2" charset="-122"/>
              </a:rPr>
              <a:t>类的对象是该类的某一特定实体，可以理解为</a:t>
            </a:r>
            <a:r>
              <a:rPr lang="zh-CN" altLang="en-US" dirty="0">
                <a:solidFill>
                  <a:srgbClr val="FF0000"/>
                </a:solidFill>
                <a:latin typeface="宋体" pitchFamily="2" charset="-122"/>
              </a:rPr>
              <a:t>类类型的变量</a:t>
            </a:r>
            <a:r>
              <a:rPr lang="zh-CN" altLang="en-US" dirty="0">
                <a:latin typeface="宋体" pitchFamily="2" charset="-122"/>
              </a:rPr>
              <a:t>。</a:t>
            </a:r>
            <a:endParaRPr lang="zh-CN" altLang="en-US" dirty="0">
              <a:latin typeface="宋体" pitchFamily="2" charset="-122"/>
            </a:endParaRPr>
          </a:p>
          <a:p>
            <a:pPr lvl="1"/>
            <a:r>
              <a:rPr lang="zh-CN" altLang="en-US" dirty="0"/>
              <a:t>声明对象的形式：</a:t>
            </a:r>
            <a:endParaRPr lang="en-US" altLang="zh-CN" dirty="0"/>
          </a:p>
          <a:p>
            <a:pPr marL="912495" lvl="2" indent="0">
              <a:buNone/>
            </a:pPr>
            <a:r>
              <a:rPr lang="zh-CN" altLang="en-US" dirty="0"/>
              <a:t>类名  对象名；</a:t>
            </a:r>
            <a:endParaRPr lang="zh-CN" altLang="en-US" dirty="0"/>
          </a:p>
          <a:p>
            <a:pPr marL="912495" lvl="2" indent="0">
              <a:buNone/>
            </a:pPr>
            <a:r>
              <a:rPr lang="zh-CN" altLang="en-US" dirty="0"/>
              <a:t>例：</a:t>
            </a:r>
            <a:r>
              <a:rPr lang="en-US" dirty="0"/>
              <a:t>Clock  </a:t>
            </a:r>
            <a:r>
              <a:rPr lang="en-US" dirty="0" err="1"/>
              <a:t>myClock</a:t>
            </a:r>
            <a:r>
              <a:rPr lang="en-US" dirty="0"/>
              <a:t>;</a:t>
            </a:r>
            <a:endParaRPr lang="en-US" dirty="0"/>
          </a:p>
          <a:p>
            <a:pPr lvl="1"/>
            <a:r>
              <a:rPr lang="zh-CN" altLang="en-US" dirty="0"/>
              <a:t>类中成员互相访问：直接使用成员名</a:t>
            </a:r>
            <a:endParaRPr lang="en-US" altLang="zh-CN" dirty="0"/>
          </a:p>
          <a:p>
            <a:pPr lvl="1"/>
            <a:r>
              <a:rPr lang="zh-CN" altLang="en-US" dirty="0"/>
              <a:t>从类外访问：</a:t>
            </a:r>
            <a:endParaRPr lang="en-US" altLang="zh-CN" dirty="0"/>
          </a:p>
          <a:p>
            <a:pPr lvl="2"/>
            <a:r>
              <a:rPr lang="zh-CN" altLang="en-US" dirty="0"/>
              <a:t>使用“</a:t>
            </a:r>
            <a:r>
              <a:rPr lang="zh-CN" altLang="en-US" dirty="0">
                <a:solidFill>
                  <a:srgbClr val="C00000"/>
                </a:solidFill>
              </a:rPr>
              <a:t>对象名</a:t>
            </a:r>
            <a:r>
              <a:rPr lang="en-US" altLang="zh-CN" dirty="0">
                <a:solidFill>
                  <a:srgbClr val="C00000"/>
                </a:solidFill>
              </a:rPr>
              <a:t>.</a:t>
            </a:r>
            <a:r>
              <a:rPr lang="zh-CN" altLang="en-US" dirty="0">
                <a:solidFill>
                  <a:srgbClr val="C00000"/>
                </a:solidFill>
              </a:rPr>
              <a:t>成员名</a:t>
            </a:r>
            <a:r>
              <a:rPr lang="zh-CN" altLang="en-US" dirty="0"/>
              <a:t>”方式访问</a:t>
            </a:r>
            <a:r>
              <a:rPr lang="zh-CN" altLang="en-US" dirty="0">
                <a:solidFill>
                  <a:srgbClr val="CCFFFF"/>
                </a:solidFill>
              </a:rPr>
              <a:t> </a:t>
            </a:r>
            <a:r>
              <a:rPr lang="en-US" altLang="zh-CN" dirty="0">
                <a:solidFill>
                  <a:srgbClr val="C00000"/>
                </a:solidFill>
              </a:rPr>
              <a:t>public </a:t>
            </a:r>
            <a:r>
              <a:rPr lang="zh-CN" altLang="en-US" dirty="0"/>
              <a:t>属性的成员</a:t>
            </a:r>
            <a:endParaRPr lang="zh-CN" altLang="en-US" dirty="0"/>
          </a:p>
          <a:p>
            <a:pPr lvl="2"/>
            <a:endParaRPr lang="en-US" dirty="0"/>
          </a:p>
          <a:p>
            <a:pPr lvl="1"/>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2"/>
          <p:cNvSpPr>
            <a:spLocks noGrp="1" noChangeArrowheads="1"/>
          </p:cNvSpPr>
          <p:nvPr>
            <p:ph idx="4294967295"/>
          </p:nvPr>
        </p:nvSpPr>
        <p:spPr>
          <a:xfrm>
            <a:off x="457200" y="1538935"/>
            <a:ext cx="8686800" cy="4787900"/>
          </a:xfrm>
        </p:spPr>
        <p:txBody>
          <a:bodyPr/>
          <a:lstStyle/>
          <a:p>
            <a:pPr marL="457200" indent="-457200" eaLnBrk="1" hangingPunct="1">
              <a:buClr>
                <a:srgbClr val="EB641B"/>
              </a:buClr>
              <a:buFont typeface="Georgia" panose="02040502050405090303" pitchFamily="18" charset="0"/>
              <a:buChar char="•"/>
            </a:pPr>
            <a:r>
              <a:rPr lang="zh-CN" altLang="en-US" dirty="0">
                <a:solidFill>
                  <a:srgbClr val="0070C0"/>
                </a:solidFill>
                <a:latin typeface="宋体" pitchFamily="2" charset="-122"/>
              </a:rPr>
              <a:t>类的对</a:t>
            </a:r>
            <a:r>
              <a:rPr lang="zh-CN" altLang="en-US" dirty="0">
                <a:latin typeface="宋体" pitchFamily="2" charset="-122"/>
              </a:rPr>
              <a:t>象是该类某一特定实体，即类似</a:t>
            </a:r>
            <a:r>
              <a:rPr lang="zh-CN" altLang="en-US" dirty="0">
                <a:solidFill>
                  <a:srgbClr val="0070C0"/>
                </a:solidFill>
                <a:latin typeface="宋体" pitchFamily="2" charset="-122"/>
              </a:rPr>
              <a:t>类型的变量</a:t>
            </a:r>
            <a:r>
              <a:rPr lang="zh-CN" altLang="en-US" dirty="0">
                <a:latin typeface="宋体" pitchFamily="2" charset="-122"/>
              </a:rPr>
              <a:t>。</a:t>
            </a:r>
            <a:endParaRPr lang="zh-CN" altLang="en-US" dirty="0">
              <a:latin typeface="宋体" pitchFamily="2" charset="-122"/>
            </a:endParaRPr>
          </a:p>
          <a:p>
            <a:pPr marL="457200" indent="-457200" eaLnBrk="1" hangingPunct="1">
              <a:lnSpc>
                <a:spcPct val="120000"/>
              </a:lnSpc>
              <a:buClr>
                <a:srgbClr val="EB641B"/>
              </a:buClr>
              <a:buFont typeface="Georgia" panose="02040502050405090303" pitchFamily="18" charset="0"/>
              <a:buChar char="•"/>
            </a:pPr>
            <a:r>
              <a:rPr lang="zh-CN" altLang="en-US" dirty="0">
                <a:latin typeface="宋体" pitchFamily="2" charset="-122"/>
              </a:rPr>
              <a:t>声明形式：</a:t>
            </a:r>
            <a:br>
              <a:rPr lang="zh-CN" altLang="en-US" dirty="0">
                <a:latin typeface="宋体" pitchFamily="2" charset="-122"/>
              </a:rPr>
            </a:br>
            <a:r>
              <a:rPr lang="zh-CN" altLang="en-US" dirty="0">
                <a:latin typeface="宋体" pitchFamily="2" charset="-122"/>
              </a:rPr>
              <a:t>     </a:t>
            </a:r>
            <a:r>
              <a:rPr lang="zh-CN" altLang="en-US" dirty="0">
                <a:solidFill>
                  <a:srgbClr val="0070C0"/>
                </a:solidFill>
                <a:latin typeface="宋体" pitchFamily="2" charset="-122"/>
              </a:rPr>
              <a:t>类名 </a:t>
            </a:r>
            <a:r>
              <a:rPr lang="zh-CN" altLang="en-US" dirty="0">
                <a:solidFill>
                  <a:srgbClr val="C00000"/>
                </a:solidFill>
                <a:latin typeface="楷体" panose="02010609060101010101" pitchFamily="49" charset="-122"/>
                <a:ea typeface="楷体" panose="02010609060101010101" pitchFamily="49" charset="-122"/>
              </a:rPr>
              <a:t>对象名</a:t>
            </a:r>
            <a:r>
              <a:rPr lang="zh-CN" altLang="en-US" dirty="0">
                <a:latin typeface="宋体" pitchFamily="2" charset="-122"/>
              </a:rPr>
              <a:t>；</a:t>
            </a:r>
            <a:endParaRPr lang="zh-CN" altLang="en-US" dirty="0">
              <a:latin typeface="宋体" pitchFamily="2" charset="-122"/>
            </a:endParaRPr>
          </a:p>
          <a:p>
            <a:pPr marL="457200" indent="-457200" eaLnBrk="1" hangingPunct="1">
              <a:lnSpc>
                <a:spcPct val="150000"/>
              </a:lnSpc>
              <a:spcBef>
                <a:spcPts val="1200"/>
              </a:spcBef>
              <a:buClr>
                <a:srgbClr val="EB641B"/>
              </a:buClr>
              <a:buFont typeface="Georgia" panose="02040502050405090303" pitchFamily="18" charset="0"/>
              <a:buChar char="•"/>
            </a:pPr>
            <a:r>
              <a:rPr lang="zh-CN" altLang="en-US" dirty="0">
                <a:latin typeface="宋体" pitchFamily="2" charset="-122"/>
              </a:rPr>
              <a:t>例：</a:t>
            </a:r>
            <a:r>
              <a:rPr lang="en-US" altLang="zh-CN" sz="2400" dirty="0"/>
              <a:t>Clock  </a:t>
            </a:r>
            <a:r>
              <a:rPr lang="en-US" altLang="zh-CN" sz="2400" dirty="0" err="1"/>
              <a:t>myClock</a:t>
            </a:r>
            <a:r>
              <a:rPr lang="en-US" altLang="zh-CN" sz="2400" dirty="0"/>
              <a:t>;</a:t>
            </a:r>
            <a:endParaRPr lang="en-US" altLang="zh-CN" sz="2400" dirty="0"/>
          </a:p>
          <a:p>
            <a:pPr marL="457200" indent="-457200" eaLnBrk="1" hangingPunct="1">
              <a:lnSpc>
                <a:spcPct val="120000"/>
              </a:lnSpc>
              <a:buClr>
                <a:srgbClr val="EB641B"/>
              </a:buClr>
              <a:buFont typeface="Georgia" panose="02040502050405090303" pitchFamily="18" charset="0"/>
              <a:buChar char="•"/>
            </a:pPr>
            <a:r>
              <a:rPr lang="zh-CN" altLang="en-US" sz="2000" dirty="0">
                <a:solidFill>
                  <a:srgbClr val="0070C0"/>
                </a:solidFill>
              </a:rPr>
              <a:t>类中访问</a:t>
            </a:r>
            <a:endParaRPr lang="zh-CN" altLang="en-US" sz="2000" dirty="0">
              <a:solidFill>
                <a:srgbClr val="C00000"/>
              </a:solidFill>
            </a:endParaRPr>
          </a:p>
          <a:p>
            <a:pPr marL="657225" lvl="1" indent="-246380">
              <a:lnSpc>
                <a:spcPct val="120000"/>
              </a:lnSpc>
              <a:buFont typeface="Georgia" panose="02040502050405090303" pitchFamily="18" charset="0"/>
              <a:buChar char="▫"/>
            </a:pPr>
            <a:r>
              <a:rPr lang="zh-CN" altLang="en-US" sz="1800" dirty="0"/>
              <a:t>成员间直接互访</a:t>
            </a:r>
            <a:endParaRPr lang="en-US" altLang="zh-CN" sz="1800" dirty="0"/>
          </a:p>
          <a:p>
            <a:pPr marL="657225" lvl="1" indent="-246380">
              <a:lnSpc>
                <a:spcPct val="120000"/>
              </a:lnSpc>
              <a:buFont typeface="Georgia" panose="02040502050405090303" pitchFamily="18" charset="0"/>
              <a:buChar char="▫"/>
            </a:pPr>
            <a:r>
              <a:rPr lang="zh-CN" altLang="en-US" sz="1800" dirty="0"/>
              <a:t>成员函数访问</a:t>
            </a:r>
            <a:r>
              <a:rPr lang="zh-CN" altLang="en-US" sz="1800" dirty="0">
                <a:highlight>
                  <a:srgbClr val="FFFF00"/>
                </a:highlight>
              </a:rPr>
              <a:t>同类对象</a:t>
            </a:r>
            <a:r>
              <a:rPr lang="zh-CN" altLang="en-US" sz="1800" dirty="0"/>
              <a:t>的</a:t>
            </a:r>
            <a:br>
              <a:rPr lang="en-US" altLang="zh-CN" sz="1800" dirty="0"/>
            </a:br>
            <a:r>
              <a:rPr lang="zh-CN" altLang="en-US" sz="1800" dirty="0"/>
              <a:t>私有成员</a:t>
            </a:r>
            <a:r>
              <a:rPr lang="en-US" altLang="zh-CN" sz="1800" dirty="0"/>
              <a:t>:</a:t>
            </a:r>
            <a:endParaRPr lang="zh-CN" altLang="en-US" sz="1800" dirty="0"/>
          </a:p>
          <a:p>
            <a:pPr marL="457200" indent="-457200" eaLnBrk="1" hangingPunct="1">
              <a:lnSpc>
                <a:spcPct val="120000"/>
              </a:lnSpc>
              <a:buClr>
                <a:srgbClr val="EB641B"/>
              </a:buClr>
              <a:buFont typeface="Georgia" panose="02040502050405090303" pitchFamily="18" charset="0"/>
              <a:buChar char="•"/>
            </a:pPr>
            <a:r>
              <a:rPr lang="zh-CN" altLang="en-US" sz="2400" dirty="0">
                <a:solidFill>
                  <a:srgbClr val="0070C0"/>
                </a:solidFill>
              </a:rPr>
              <a:t>类外</a:t>
            </a:r>
            <a:r>
              <a:rPr lang="zh-CN" altLang="en-US" sz="2400" dirty="0"/>
              <a:t>访问</a:t>
            </a:r>
            <a:r>
              <a:rPr lang="en-US" altLang="zh-CN" sz="2400" dirty="0"/>
              <a:t>:  </a:t>
            </a:r>
            <a:r>
              <a:rPr lang="zh-CN" altLang="en-US" sz="1800" dirty="0"/>
              <a:t>使用“</a:t>
            </a:r>
            <a:r>
              <a:rPr lang="zh-CN" altLang="en-US" sz="1800" dirty="0">
                <a:solidFill>
                  <a:srgbClr val="C00000"/>
                </a:solidFill>
              </a:rPr>
              <a:t>对象名</a:t>
            </a:r>
            <a:r>
              <a:rPr lang="en-US" altLang="zh-CN" sz="1800" dirty="0">
                <a:solidFill>
                  <a:srgbClr val="C00000"/>
                </a:solidFill>
              </a:rPr>
              <a:t>.</a:t>
            </a:r>
            <a:r>
              <a:rPr lang="zh-CN" altLang="en-US" sz="1800" dirty="0">
                <a:solidFill>
                  <a:srgbClr val="C00000"/>
                </a:solidFill>
                <a:latin typeface="楷体" panose="02010609060101010101" pitchFamily="49" charset="-122"/>
                <a:ea typeface="楷体" panose="02010609060101010101" pitchFamily="49" charset="-122"/>
              </a:rPr>
              <a:t>成员名</a:t>
            </a:r>
            <a:r>
              <a:rPr lang="zh-CN" altLang="en-US" sz="1800" dirty="0"/>
              <a:t>”方式访问</a:t>
            </a:r>
            <a:r>
              <a:rPr lang="zh-CN" altLang="en-US" sz="1800" dirty="0">
                <a:solidFill>
                  <a:srgbClr val="CCFFFF"/>
                </a:solidFill>
              </a:rPr>
              <a:t> </a:t>
            </a:r>
            <a:r>
              <a:rPr lang="en-US" altLang="zh-CN" sz="1800" dirty="0">
                <a:solidFill>
                  <a:srgbClr val="C00000"/>
                </a:solidFill>
              </a:rPr>
              <a:t>public </a:t>
            </a:r>
            <a:r>
              <a:rPr lang="zh-CN" altLang="en-US" sz="1800" dirty="0"/>
              <a:t>属性的成员</a:t>
            </a:r>
            <a:endParaRPr lang="zh-CN" altLang="en-US" sz="1800" dirty="0"/>
          </a:p>
        </p:txBody>
      </p:sp>
      <p:sp>
        <p:nvSpPr>
          <p:cNvPr id="49155" name="灯片编号占位符 3"/>
          <p:cNvSpPr txBox="1">
            <a:spLocks noGrp="1" noChangeArrowheads="1"/>
          </p:cNvSpPr>
          <p:nvPr/>
        </p:nvSpPr>
        <p:spPr bwMode="auto">
          <a:xfrm>
            <a:off x="8503444" y="627678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 typeface="Wingdings 3" panose="05040102010807070707" pitchFamily="18" charset="2"/>
              <a:buNone/>
              <a:defRPr/>
            </a:pPr>
            <a:fld id="{AA19FE2B-2270-40BD-9BE7-9DD64445D37A}" type="slidenum">
              <a:rPr kumimoji="0" lang="en-US" altLang="zh-CN" sz="1000" b="0" i="0" u="none" strike="noStrike" kern="1200" cap="none" spc="0" normalizeH="0" baseline="0" noProof="0">
                <a:ln>
                  <a:noFill/>
                </a:ln>
                <a:solidFill>
                  <a:srgbClr val="000000"/>
                </a:solidFill>
                <a:effectLst/>
                <a:uLnTx/>
                <a:uFillTx/>
                <a:latin typeface="Times New Roman" panose="02020503050405090304" pitchFamily="18" charset="0"/>
                <a:ea typeface="隶书" panose="02010509060101010101" pitchFamily="49" charset="-122"/>
                <a:cs typeface="+mn-cs"/>
              </a:rPr>
            </a:fld>
            <a:endParaRPr kumimoji="0" lang="en-US" altLang="zh-CN" sz="1000" b="0" i="0" u="none" strike="noStrike" kern="1200" cap="none" spc="0" normalizeH="0" baseline="0" noProof="0">
              <a:ln>
                <a:noFill/>
              </a:ln>
              <a:solidFill>
                <a:srgbClr val="000000"/>
              </a:solidFill>
              <a:effectLst/>
              <a:uLnTx/>
              <a:uFillTx/>
              <a:latin typeface="Times New Roman" panose="02020503050405090304" pitchFamily="18" charset="0"/>
              <a:ea typeface="隶书" panose="02010509060101010101" pitchFamily="49" charset="-122"/>
              <a:cs typeface="+mn-cs"/>
            </a:endParaRPr>
          </a:p>
        </p:txBody>
      </p:sp>
      <p:sp>
        <p:nvSpPr>
          <p:cNvPr id="49157" name="矩形 16388"/>
          <p:cNvSpPr>
            <a:spLocks noGrp="1" noChangeArrowheads="1"/>
          </p:cNvSpPr>
          <p:nvPr/>
        </p:nvSpPr>
        <p:spPr bwMode="auto">
          <a:xfrm>
            <a:off x="457200" y="48618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对象</a:t>
            </a:r>
            <a:endPar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endParaRPr>
          </a:p>
        </p:txBody>
      </p:sp>
      <p:sp>
        <p:nvSpPr>
          <p:cNvPr id="4" name="箭头: 下 3"/>
          <p:cNvSpPr/>
          <p:nvPr/>
        </p:nvSpPr>
        <p:spPr bwMode="auto">
          <a:xfrm>
            <a:off x="2051720" y="3140968"/>
            <a:ext cx="216024" cy="288032"/>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Times" panose="02020603050405020304" pitchFamily="18" charset="0"/>
              <a:ea typeface="隶书" panose="02010509060101010101" pitchFamily="49" charset="-122"/>
              <a:cs typeface="+mn-cs"/>
            </a:endParaRPr>
          </a:p>
        </p:txBody>
      </p:sp>
      <p:sp>
        <p:nvSpPr>
          <p:cNvPr id="9" name="箭头: 下 8"/>
          <p:cNvSpPr/>
          <p:nvPr/>
        </p:nvSpPr>
        <p:spPr bwMode="auto">
          <a:xfrm>
            <a:off x="3131840" y="3140968"/>
            <a:ext cx="216024" cy="288032"/>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Times" panose="02020603050405020304" pitchFamily="18" charset="0"/>
              <a:ea typeface="隶书" panose="02010509060101010101" pitchFamily="49" charset="-122"/>
              <a:cs typeface="+mn-cs"/>
            </a:endParaRPr>
          </a:p>
        </p:txBody>
      </p:sp>
      <p:pic>
        <p:nvPicPr>
          <p:cNvPr id="5" name="图片 4"/>
          <p:cNvPicPr>
            <a:picLocks noChangeAspect="1"/>
          </p:cNvPicPr>
          <p:nvPr/>
        </p:nvPicPr>
        <p:blipFill>
          <a:blip r:embed="rId1"/>
          <a:stretch>
            <a:fillRect/>
          </a:stretch>
        </p:blipFill>
        <p:spPr>
          <a:xfrm>
            <a:off x="4384011" y="2186025"/>
            <a:ext cx="3844574" cy="1909885"/>
          </a:xfrm>
          <a:prstGeom prst="roundRect">
            <a:avLst>
              <a:gd name="adj" fmla="val 2231"/>
            </a:avLst>
          </a:prstGeom>
          <a:solidFill>
            <a:srgbClr val="FFFFFF">
              <a:shade val="85000"/>
            </a:srgbClr>
          </a:solidFill>
          <a:ln>
            <a:noFill/>
          </a:ln>
          <a:effectLst/>
        </p:spPr>
      </p:pic>
      <p:pic>
        <p:nvPicPr>
          <p:cNvPr id="11" name="图片 10"/>
          <p:cNvPicPr>
            <a:picLocks noChangeAspect="1"/>
          </p:cNvPicPr>
          <p:nvPr/>
        </p:nvPicPr>
        <p:blipFill>
          <a:blip r:embed="rId2"/>
          <a:stretch>
            <a:fillRect/>
          </a:stretch>
        </p:blipFill>
        <p:spPr>
          <a:xfrm>
            <a:off x="5408614" y="3659415"/>
            <a:ext cx="3508717" cy="1697276"/>
          </a:xfrm>
          <a:prstGeom prst="roundRect">
            <a:avLst>
              <a:gd name="adj" fmla="val 3198"/>
            </a:avLst>
          </a:prstGeom>
          <a:ln w="12700">
            <a:solidFill>
              <a:schemeClr val="bg1"/>
            </a:solidFill>
          </a:ln>
          <a:effectLst/>
        </p:spPr>
      </p:pic>
      <p:sp>
        <p:nvSpPr>
          <p:cNvPr id="6" name="文本框 5"/>
          <p:cNvSpPr txBox="1"/>
          <p:nvPr/>
        </p:nvSpPr>
        <p:spPr>
          <a:xfrm>
            <a:off x="2288743" y="5121390"/>
            <a:ext cx="3042687" cy="349702"/>
          </a:xfrm>
          <a:prstGeom prst="rect">
            <a:avLst/>
          </a:prstGeom>
          <a:solidFill>
            <a:schemeClr val="accent2"/>
          </a:solidFill>
        </p:spPr>
        <p:txBody>
          <a:bodyPr wrap="none" lIns="36000" tIns="36000" rIns="0" bIns="36000"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b="1" i="0" u="none" strike="noStrike" kern="1200" cap="none" spc="0" normalizeH="0" baseline="0" noProof="0" dirty="0" err="1">
                <a:ln>
                  <a:noFill/>
                </a:ln>
                <a:solidFill>
                  <a:srgbClr val="FFFF00"/>
                </a:solidFill>
                <a:effectLst/>
                <a:uLnTx/>
                <a:uFillTx/>
                <a:latin typeface="Times New Roman" panose="02020503050405090304" pitchFamily="18" charset="0"/>
                <a:ea typeface="隶书" panose="02010509060101010101" pitchFamily="49" charset="-122"/>
                <a:cs typeface="+mn-cs"/>
              </a:rPr>
              <a:t>distTo</a:t>
            </a:r>
            <a:r>
              <a:rPr kumimoji="0" lang="zh-CN" altLang="en-US" b="1" i="0" u="none" strike="noStrike" kern="1200" cap="none" spc="0" normalizeH="0" baseline="0" noProof="0" dirty="0">
                <a:ln>
                  <a:noFill/>
                </a:ln>
                <a:solidFill>
                  <a:srgbClr val="FFFF00"/>
                </a:solidFill>
                <a:effectLst/>
                <a:uLnTx/>
                <a:uFillTx/>
                <a:latin typeface="Times New Roman" panose="02020503050405090304" pitchFamily="18" charset="0"/>
                <a:ea typeface="隶书" panose="02010509060101010101" pitchFamily="49" charset="-122"/>
                <a:cs typeface="+mn-cs"/>
              </a:rPr>
              <a:t>函数 </a:t>
            </a:r>
            <a:r>
              <a:rPr kumimoji="0" lang="zh-CN" altLang="en-US" b="0" i="0" u="none" strike="noStrike" kern="1200" cap="none" spc="0" normalizeH="0" baseline="0" noProof="0" dirty="0">
                <a:ln>
                  <a:noFill/>
                </a:ln>
                <a:solidFill>
                  <a:schemeClr val="bg1"/>
                </a:solidFill>
                <a:effectLst/>
                <a:uLnTx/>
                <a:uFillTx/>
                <a:latin typeface="Times New Roman" panose="02020503050405090304" pitchFamily="18" charset="0"/>
                <a:ea typeface="隶书" panose="02010509060101010101" pitchFamily="49" charset="-122"/>
                <a:cs typeface="+mn-cs"/>
              </a:rPr>
              <a:t>中使用 </a:t>
            </a:r>
            <a:r>
              <a:rPr kumimoji="0" lang="en-US" altLang="zh-CN" b="0" i="0" u="none" strike="noStrike" kern="1200" cap="none" spc="0" normalizeH="0" baseline="0" noProof="0" dirty="0" err="1">
                <a:ln>
                  <a:noFill/>
                </a:ln>
                <a:solidFill>
                  <a:schemeClr val="bg1"/>
                </a:solidFill>
                <a:effectLst/>
                <a:uLnTx/>
                <a:uFillTx/>
                <a:latin typeface="Times New Roman" panose="02020503050405090304" pitchFamily="18" charset="0"/>
                <a:ea typeface="隶书" panose="02010509060101010101" pitchFamily="49" charset="-122"/>
                <a:cs typeface="+mn-cs"/>
              </a:rPr>
              <a:t>p.</a:t>
            </a:r>
            <a:r>
              <a:rPr kumimoji="0" lang="en-US" altLang="zh-CN" b="0" i="0" u="none" strike="noStrike" kern="1200" cap="none" spc="0" normalizeH="0" baseline="0" noProof="0" dirty="0" err="1">
                <a:ln>
                  <a:noFill/>
                </a:ln>
                <a:solidFill>
                  <a:srgbClr val="FFC000"/>
                </a:solidFill>
                <a:effectLst/>
                <a:uLnTx/>
                <a:uFillTx/>
                <a:latin typeface="Times New Roman" panose="02020503050405090304" pitchFamily="18" charset="0"/>
                <a:ea typeface="隶书" panose="02010509060101010101" pitchFamily="49" charset="-122"/>
                <a:cs typeface="+mn-cs"/>
              </a:rPr>
              <a:t>x</a:t>
            </a:r>
            <a:r>
              <a:rPr kumimoji="0" lang="en-US" altLang="zh-CN" b="0" i="0" u="none" strike="noStrike" kern="1200" cap="none" spc="0" normalizeH="0" baseline="0" noProof="0" dirty="0">
                <a:ln>
                  <a:noFill/>
                </a:ln>
                <a:solidFill>
                  <a:schemeClr val="bg1"/>
                </a:solidFill>
                <a:effectLst/>
                <a:uLnTx/>
                <a:uFillTx/>
                <a:latin typeface="Times New Roman" panose="02020503050405090304" pitchFamily="18" charset="0"/>
                <a:ea typeface="隶书" panose="02010509060101010101" pitchFamily="49" charset="-122"/>
                <a:cs typeface="+mn-cs"/>
              </a:rPr>
              <a:t>, </a:t>
            </a:r>
            <a:r>
              <a:rPr kumimoji="0" lang="en-US" altLang="zh-CN" b="0" i="0" u="none" strike="noStrike" kern="1200" cap="none" spc="0" normalizeH="0" baseline="0" noProof="0" dirty="0" err="1">
                <a:ln>
                  <a:noFill/>
                </a:ln>
                <a:solidFill>
                  <a:schemeClr val="bg1"/>
                </a:solidFill>
                <a:effectLst/>
                <a:uLnTx/>
                <a:uFillTx/>
                <a:latin typeface="Times New Roman" panose="02020503050405090304" pitchFamily="18" charset="0"/>
                <a:ea typeface="隶书" panose="02010509060101010101" pitchFamily="49" charset="-122"/>
                <a:cs typeface="+mn-cs"/>
              </a:rPr>
              <a:t>p.</a:t>
            </a:r>
            <a:r>
              <a:rPr kumimoji="0" lang="en-US" altLang="zh-CN" b="0" i="0" u="none" strike="noStrike" kern="1200" cap="none" spc="0" normalizeH="0" baseline="0" noProof="0" dirty="0" err="1">
                <a:ln>
                  <a:noFill/>
                </a:ln>
                <a:solidFill>
                  <a:srgbClr val="FFC000"/>
                </a:solidFill>
                <a:effectLst/>
                <a:uLnTx/>
                <a:uFillTx/>
                <a:latin typeface="Times New Roman" panose="02020503050405090304" pitchFamily="18" charset="0"/>
                <a:ea typeface="隶书" panose="02010509060101010101" pitchFamily="49" charset="-122"/>
                <a:cs typeface="+mn-cs"/>
              </a:rPr>
              <a:t>y</a:t>
            </a:r>
            <a:r>
              <a:rPr kumimoji="0" lang="en-US" altLang="zh-CN" b="0" i="0" u="none" strike="noStrike" kern="1200" cap="none" spc="0" normalizeH="0" baseline="0" noProof="0" dirty="0">
                <a:ln>
                  <a:noFill/>
                </a:ln>
                <a:solidFill>
                  <a:schemeClr val="bg1"/>
                </a:solidFill>
                <a:effectLst/>
                <a:uLnTx/>
                <a:uFillTx/>
                <a:latin typeface="Times New Roman" panose="02020503050405090304" pitchFamily="18" charset="0"/>
                <a:ea typeface="隶书" panose="02010509060101010101" pitchFamily="49" charset="-122"/>
                <a:cs typeface="+mn-cs"/>
              </a:rPr>
              <a:t>, </a:t>
            </a:r>
            <a:r>
              <a:rPr kumimoji="0" lang="en-US" altLang="zh-CN" b="0" i="0" u="none" strike="noStrike" kern="1200" cap="none" spc="0" normalizeH="0" baseline="0" noProof="0" dirty="0" err="1">
                <a:ln>
                  <a:noFill/>
                </a:ln>
                <a:solidFill>
                  <a:schemeClr val="bg1"/>
                </a:solidFill>
                <a:effectLst/>
                <a:uLnTx/>
                <a:uFillTx/>
                <a:latin typeface="Times New Roman" panose="02020503050405090304" pitchFamily="18" charset="0"/>
                <a:ea typeface="隶书" panose="02010509060101010101" pitchFamily="49" charset="-122"/>
                <a:cs typeface="+mn-cs"/>
              </a:rPr>
              <a:t>p.</a:t>
            </a:r>
            <a:r>
              <a:rPr kumimoji="0" lang="en-US" altLang="zh-CN" b="0" i="0" u="none" strike="noStrike" kern="1200" cap="none" spc="0" normalizeH="0" baseline="0" noProof="0" dirty="0" err="1">
                <a:ln>
                  <a:noFill/>
                </a:ln>
                <a:solidFill>
                  <a:srgbClr val="FFC000"/>
                </a:solidFill>
                <a:effectLst/>
                <a:uLnTx/>
                <a:uFillTx/>
                <a:latin typeface="Times New Roman" panose="02020503050405090304" pitchFamily="18" charset="0"/>
                <a:ea typeface="隶书" panose="02010509060101010101" pitchFamily="49" charset="-122"/>
                <a:cs typeface="+mn-cs"/>
              </a:rPr>
              <a:t>z</a:t>
            </a:r>
            <a:r>
              <a:rPr kumimoji="0" lang="en-US" altLang="zh-CN" b="0" i="0" u="none" strike="noStrike" kern="1200" cap="none" spc="0" normalizeH="0" baseline="0" noProof="0" dirty="0">
                <a:ln>
                  <a:noFill/>
                </a:ln>
                <a:solidFill>
                  <a:schemeClr val="bg1"/>
                </a:solidFill>
                <a:effectLst/>
                <a:uLnTx/>
                <a:uFillTx/>
                <a:latin typeface="Times New Roman" panose="02020503050405090304" pitchFamily="18" charset="0"/>
                <a:ea typeface="隶书" panose="02010509060101010101" pitchFamily="49" charset="-122"/>
                <a:cs typeface="+mn-cs"/>
              </a:rPr>
              <a:t> </a:t>
            </a:r>
            <a:endParaRPr kumimoji="0" lang="zh-CN" altLang="en-US" b="0" i="0" u="none" strike="noStrike" kern="1200" cap="none" spc="0" normalizeH="0" baseline="0" noProof="0" dirty="0">
              <a:ln>
                <a:noFill/>
              </a:ln>
              <a:solidFill>
                <a:schemeClr val="bg1"/>
              </a:solidFill>
              <a:effectLst/>
              <a:uLnTx/>
              <a:uFillTx/>
              <a:latin typeface="Times New Roman" panose="02020503050405090304" pitchFamily="18" charset="0"/>
              <a:ea typeface="隶书" panose="02010509060101010101" pitchFamily="49" charset="-122"/>
              <a:cs typeface="+mn-cs"/>
            </a:endParaRPr>
          </a:p>
        </p:txBody>
      </p:sp>
      <p:sp>
        <p:nvSpPr>
          <p:cNvPr id="7" name="对话气泡: 圆角矩形 6"/>
          <p:cNvSpPr/>
          <p:nvPr/>
        </p:nvSpPr>
        <p:spPr bwMode="auto">
          <a:xfrm>
            <a:off x="3347864" y="3933686"/>
            <a:ext cx="1670273" cy="732814"/>
          </a:xfrm>
          <a:prstGeom prst="wedgeRoundRectCallout">
            <a:avLst>
              <a:gd name="adj1" fmla="val 38687"/>
              <a:gd name="adj2" fmla="val -72581"/>
              <a:gd name="adj3" fmla="val 16667"/>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err="1">
                <a:ln>
                  <a:noFill/>
                </a:ln>
                <a:solidFill>
                  <a:srgbClr val="000000"/>
                </a:solidFill>
                <a:effectLst/>
                <a:uLnTx/>
                <a:uFillTx/>
                <a:latin typeface="Times" panose="02020603050405020304" pitchFamily="18" charset="0"/>
                <a:ea typeface="隶书" panose="02010509060101010101" pitchFamily="49" charset="-122"/>
                <a:cs typeface="+mn-cs"/>
              </a:rPr>
              <a:t>distTo</a:t>
            </a:r>
            <a:r>
              <a:rPr kumimoji="0" lang="zh-CN" altLang="en-US" sz="2000" b="0" i="0" u="none" strike="noStrike" kern="1200" cap="none" spc="0" normalizeH="0" baseline="0" noProof="0" dirty="0">
                <a:ln>
                  <a:noFill/>
                </a:ln>
                <a:solidFill>
                  <a:srgbClr val="000000"/>
                </a:solidFill>
                <a:effectLst/>
                <a:uLnTx/>
                <a:uFillTx/>
                <a:latin typeface="Times" panose="02020603050405020304" pitchFamily="18" charset="0"/>
                <a:ea typeface="隶书" panose="02010509060101010101" pitchFamily="49" charset="-122"/>
                <a:cs typeface="+mn-cs"/>
              </a:rPr>
              <a:t>中访问 </a:t>
            </a:r>
            <a:r>
              <a:rPr kumimoji="0" lang="en-US" altLang="zh-CN" sz="2000" b="0" i="0" u="none" strike="noStrike" kern="1200" cap="none" spc="0" normalizeH="0" baseline="0" noProof="0" dirty="0">
                <a:ln>
                  <a:noFill/>
                </a:ln>
                <a:solidFill>
                  <a:srgbClr val="000000"/>
                </a:solidFill>
                <a:effectLst/>
                <a:uLnTx/>
                <a:uFillTx/>
                <a:latin typeface="Times" panose="02020603050405020304" pitchFamily="18" charset="0"/>
                <a:ea typeface="隶书" panose="02010509060101010101" pitchFamily="49" charset="-122"/>
                <a:cs typeface="+mn-cs"/>
              </a:rPr>
              <a:t>x, y, z</a:t>
            </a:r>
            <a:endParaRPr kumimoji="0" lang="zh-CN" altLang="en-US" sz="2000" b="0" i="0" u="none" strike="noStrike" kern="1200" cap="none" spc="0" normalizeH="0" baseline="0" noProof="0" dirty="0">
              <a:ln>
                <a:noFill/>
              </a:ln>
              <a:solidFill>
                <a:srgbClr val="000000"/>
              </a:solidFill>
              <a:effectLst/>
              <a:uLnTx/>
              <a:uFillTx/>
              <a:latin typeface="Times" panose="02020603050405020304" pitchFamily="18" charset="0"/>
              <a:ea typeface="隶书" panose="02010509060101010101" pitchFamily="49" charset="-122"/>
              <a:cs typeface="+mn-cs"/>
            </a:endParaRPr>
          </a:p>
        </p:txBody>
      </p:sp>
      <p:sp>
        <p:nvSpPr>
          <p:cNvPr id="8" name="箭头: 上 7"/>
          <p:cNvSpPr/>
          <p:nvPr/>
        </p:nvSpPr>
        <p:spPr bwMode="auto">
          <a:xfrm>
            <a:off x="7308304" y="5088358"/>
            <a:ext cx="216024" cy="414191"/>
          </a:xfrm>
          <a:prstGeom prst="up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Times" panose="02020603050405020304" pitchFamily="18" charset="0"/>
              <a:ea typeface="隶书"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47700" y="1318662"/>
            <a:ext cx="7848600" cy="5034708"/>
          </a:xfrm>
          <a:prstGeom prst="rect">
            <a:avLst/>
          </a:prstGeom>
          <a:solidFill>
            <a:schemeClr val="bg2">
              <a:lumMod val="90000"/>
            </a:schemeClr>
          </a:solidFill>
          <a:ln>
            <a:noFill/>
          </a:ln>
        </p:spPr>
        <p:txBody>
          <a:bodyPr/>
          <a:lstStyle/>
          <a:p>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Clock</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public:</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void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setTime</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newH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newM</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newS</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hour = </a:t>
            </a:r>
            <a:r>
              <a:rPr lang="en-US" sz="1600" dirty="0" err="1">
                <a:solidFill>
                  <a:srgbClr val="000000"/>
                </a:solidFill>
                <a:latin typeface="Consolas" panose="020B0609020204030204" pitchFamily="49" charset="0"/>
              </a:rPr>
              <a:t>newH</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minute = </a:t>
            </a:r>
            <a:r>
              <a:rPr lang="en-US" sz="1600" dirty="0" err="1">
                <a:solidFill>
                  <a:srgbClr val="000000"/>
                </a:solidFill>
                <a:latin typeface="Consolas" panose="020B0609020204030204" pitchFamily="49" charset="0"/>
              </a:rPr>
              <a:t>newM</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second = </a:t>
            </a:r>
            <a:r>
              <a:rPr lang="en-US" sz="1600" dirty="0" err="1">
                <a:solidFill>
                  <a:srgbClr val="000000"/>
                </a:solidFill>
                <a:latin typeface="Consolas" panose="020B0609020204030204" pitchFamily="49" charset="0"/>
              </a:rPr>
              <a:t>newS</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endParaRPr lang="en-US" sz="1600" dirty="0">
              <a:solidFill>
                <a:srgbClr val="000000"/>
              </a:solidFill>
              <a:latin typeface="Consolas" panose="020B0609020204030204" pitchFamily="49" charset="0"/>
            </a:endParaRPr>
          </a:p>
          <a:p>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private:</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hour, minute, second;</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main()</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Clock</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myClock</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myClock.setTime</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8</a:t>
            </a: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30</a:t>
            </a: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30</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br>
              <a:rPr lang="en-US" sz="1600" dirty="0">
                <a:solidFill>
                  <a:srgbClr val="000000"/>
                </a:solidFill>
                <a:latin typeface="Consolas" panose="020B0609020204030204" pitchFamily="49" charset="0"/>
              </a:rPr>
            </a:br>
            <a:endParaRPr lang="en-US" sz="1600" dirty="0">
              <a:solidFill>
                <a:srgbClr val="000000"/>
              </a:solidFill>
              <a:latin typeface="Consolas" panose="020B0609020204030204" pitchFamily="49" charset="0"/>
            </a:endParaRPr>
          </a:p>
          <a:p>
            <a:pPr marL="365125" indent="-255905">
              <a:lnSpc>
                <a:spcPct val="110000"/>
              </a:lnSpc>
              <a:spcBef>
                <a:spcPts val="400"/>
              </a:spcBef>
              <a:buClr>
                <a:srgbClr val="EB641B"/>
              </a:buClr>
              <a:buSzPct val="68000"/>
              <a:buFont typeface="Georgia" panose="02040502050405090303" pitchFamily="18" charset="0"/>
              <a:buNone/>
              <a:defRPr/>
            </a:pPr>
            <a:endParaRPr lang="en-US" altLang="zh-CN" sz="1600" dirty="0">
              <a:latin typeface="Consolas" panose="020B0609020204030204" pitchFamily="49" charset="0"/>
              <a:ea typeface="+mn-ea"/>
              <a:sym typeface="+mn-ea"/>
            </a:endParaRPr>
          </a:p>
        </p:txBody>
      </p:sp>
      <p:sp>
        <p:nvSpPr>
          <p:cNvPr id="3" name="标题 2"/>
          <p:cNvSpPr>
            <a:spLocks noGrp="1"/>
          </p:cNvSpPr>
          <p:nvPr>
            <p:ph type="title"/>
          </p:nvPr>
        </p:nvSpPr>
        <p:spPr/>
        <p:txBody>
          <a:bodyPr/>
          <a:lstStyle/>
          <a:p>
            <a:r>
              <a:rPr lang="zh-CN" altLang="en-US" dirty="0"/>
              <a:t>举例：</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32000" y="432000"/>
            <a:ext cx="8230387" cy="899650"/>
          </a:xfrm>
        </p:spPr>
        <p:txBody>
          <a:bodyPr/>
          <a:lstStyle/>
          <a:p>
            <a:r>
              <a:rPr lang="zh-CN" altLang="en-US" dirty="0"/>
              <a:t>类的成员函数</a:t>
            </a:r>
            <a:endParaRPr lang="en-US" dirty="0"/>
          </a:p>
        </p:txBody>
      </p:sp>
      <p:sp>
        <p:nvSpPr>
          <p:cNvPr id="6" name="内容占位符 5"/>
          <p:cNvSpPr>
            <a:spLocks noGrp="1"/>
          </p:cNvSpPr>
          <p:nvPr>
            <p:ph idx="1"/>
          </p:nvPr>
        </p:nvSpPr>
        <p:spPr/>
        <p:txBody>
          <a:bodyPr/>
          <a:lstStyle/>
          <a:p>
            <a:r>
              <a:rPr lang="zh-CN" altLang="en-US" dirty="0"/>
              <a:t>在类中说明原型，可以在类外给出函数体实现，并在函数名前使用</a:t>
            </a:r>
            <a:r>
              <a:rPr lang="zh-CN" altLang="en-US" dirty="0">
                <a:solidFill>
                  <a:srgbClr val="FF0000"/>
                </a:solidFill>
              </a:rPr>
              <a:t>类名加以限定</a:t>
            </a:r>
            <a:r>
              <a:rPr lang="zh-CN" altLang="en-US" dirty="0"/>
              <a:t>。</a:t>
            </a:r>
            <a:endParaRPr lang="zh-CN" altLang="en-US" dirty="0"/>
          </a:p>
          <a:p>
            <a:r>
              <a:rPr lang="zh-CN" altLang="en-US" dirty="0"/>
              <a:t>或者直接在类中给出函数体，形成</a:t>
            </a:r>
            <a:r>
              <a:rPr lang="zh-CN" altLang="en-US" dirty="0">
                <a:solidFill>
                  <a:srgbClr val="FF0000"/>
                </a:solidFill>
              </a:rPr>
              <a:t>内联</a:t>
            </a:r>
            <a:r>
              <a:rPr lang="zh-CN" altLang="en-US" dirty="0"/>
              <a:t>成员函数。</a:t>
            </a:r>
            <a:endParaRPr lang="zh-CN" altLang="en-US" dirty="0"/>
          </a:p>
          <a:p>
            <a:endParaRPr lang="en-US" dirty="0"/>
          </a:p>
        </p:txBody>
      </p:sp>
      <p:sp>
        <p:nvSpPr>
          <p:cNvPr id="7" name="TextBox 1"/>
          <p:cNvSpPr txBox="1">
            <a:spLocks noChangeArrowheads="1"/>
          </p:cNvSpPr>
          <p:nvPr/>
        </p:nvSpPr>
        <p:spPr bwMode="auto">
          <a:xfrm>
            <a:off x="4717234" y="2726028"/>
            <a:ext cx="38782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zh-CN" altLang="en-US" dirty="0"/>
              <a:t>常规：类内声明，类外实现</a:t>
            </a:r>
            <a:endParaRPr lang="en-US" altLang="zh-CN" dirty="0"/>
          </a:p>
          <a:p>
            <a:pPr eaLnBrk="1" hangingPunct="1"/>
            <a:r>
              <a:rPr lang="zh-CN" altLang="en-US" dirty="0"/>
              <a:t>高效：类内声明，类内实现</a:t>
            </a:r>
            <a:endParaRPr lang="zh-CN" altLang="en-US" dirty="0"/>
          </a:p>
        </p:txBody>
      </p:sp>
      <p:sp>
        <p:nvSpPr>
          <p:cNvPr id="10" name="矩形 9"/>
          <p:cNvSpPr/>
          <p:nvPr/>
        </p:nvSpPr>
        <p:spPr>
          <a:xfrm>
            <a:off x="626848" y="2980015"/>
            <a:ext cx="6067029" cy="3877985"/>
          </a:xfrm>
          <a:prstGeom prst="rect">
            <a:avLst/>
          </a:prstGeom>
        </p:spPr>
        <p:txBody>
          <a:bodyPr wrap="square">
            <a:spAutoFit/>
          </a:bodyPr>
          <a:lstStyle/>
          <a:p>
            <a:r>
              <a:rPr lang="en-US" sz="1200" dirty="0">
                <a:solidFill>
                  <a:srgbClr val="0000FF"/>
                </a:solidFill>
                <a:latin typeface="Consolas" panose="020B0609020204030204" pitchFamily="49" charset="0"/>
              </a:rPr>
              <a:t>class</a:t>
            </a:r>
            <a:r>
              <a:rPr lang="en-US" sz="1200" dirty="0">
                <a:solidFill>
                  <a:srgbClr val="000000"/>
                </a:solidFill>
                <a:latin typeface="Consolas" panose="020B0609020204030204" pitchFamily="49" charset="0"/>
              </a:rPr>
              <a:t> Clock</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public:</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setTime</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newH</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newM</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newS</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hour = </a:t>
            </a:r>
            <a:r>
              <a:rPr lang="en-US" sz="1200" dirty="0" err="1">
                <a:solidFill>
                  <a:srgbClr val="000000"/>
                </a:solidFill>
                <a:latin typeface="Consolas" panose="020B0609020204030204" pitchFamily="49" charset="0"/>
              </a:rPr>
              <a:t>newH</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minute = </a:t>
            </a:r>
            <a:r>
              <a:rPr lang="en-US" sz="1200" dirty="0" err="1">
                <a:solidFill>
                  <a:srgbClr val="000000"/>
                </a:solidFill>
                <a:latin typeface="Consolas" panose="020B0609020204030204" pitchFamily="49" charset="0"/>
              </a:rPr>
              <a:t>newM</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second = </a:t>
            </a:r>
            <a:r>
              <a:rPr lang="en-US" sz="1200" dirty="0" err="1">
                <a:solidFill>
                  <a:srgbClr val="000000"/>
                </a:solidFill>
                <a:latin typeface="Consolas" panose="020B0609020204030204" pitchFamily="49" charset="0"/>
              </a:rPr>
              <a:t>newS</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showTime</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private: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hour, minute, second;</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Clock::</a:t>
            </a:r>
            <a:r>
              <a:rPr lang="en-US" sz="1200" dirty="0" err="1">
                <a:solidFill>
                  <a:srgbClr val="000000"/>
                </a:solidFill>
                <a:latin typeface="Consolas" panose="020B0609020204030204" pitchFamily="49" charset="0"/>
              </a:rPr>
              <a:t>showTime</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&lt;&lt; hour &lt;&lt; </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&lt;&lt; minute &lt;&lt; </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&lt;&lt; second &lt;&lt; </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11" name="矩形 10"/>
          <p:cNvSpPr/>
          <p:nvPr/>
        </p:nvSpPr>
        <p:spPr>
          <a:xfrm>
            <a:off x="4912083" y="3810278"/>
            <a:ext cx="3994765" cy="1600438"/>
          </a:xfrm>
          <a:prstGeom prst="rect">
            <a:avLst/>
          </a:prstGeom>
        </p:spPr>
        <p:txBody>
          <a:bodyPr wrap="square">
            <a:spAutoFit/>
          </a:bodyPr>
          <a:lstStyle/>
          <a:p>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main()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Clock </a:t>
            </a:r>
            <a:r>
              <a:rPr lang="en-US" sz="1400" dirty="0" err="1">
                <a:solidFill>
                  <a:srgbClr val="000000"/>
                </a:solidFill>
                <a:latin typeface="Consolas" panose="020B0609020204030204" pitchFamily="49" charset="0"/>
              </a:rPr>
              <a:t>myClock</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myClock.setTime</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8</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30</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30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myClock.showTime</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12" name="TextBox 5"/>
          <p:cNvSpPr txBox="1">
            <a:spLocks noChangeArrowheads="1"/>
          </p:cNvSpPr>
          <p:nvPr/>
        </p:nvSpPr>
        <p:spPr bwMode="auto">
          <a:xfrm>
            <a:off x="6211648" y="5433184"/>
            <a:ext cx="2305504" cy="64633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zh-CN" altLang="en-US" sz="1800"/>
              <a:t>运行结果：</a:t>
            </a:r>
            <a:endParaRPr lang="en-US" altLang="zh-CN" sz="1800"/>
          </a:p>
          <a:p>
            <a:pPr eaLnBrk="1" hangingPunct="1"/>
            <a:r>
              <a:rPr lang="en-US" altLang="zh-CN" sz="1800"/>
              <a:t>8:30:30</a:t>
            </a:r>
            <a:endParaRPr lang="zh-CN" altLang="en-US" sz="1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1505"/>
          <p:cNvSpPr>
            <a:spLocks noGrp="1" noChangeArrowheads="1"/>
          </p:cNvSpPr>
          <p:nvPr>
            <p:ph type="title"/>
          </p:nvPr>
        </p:nvSpPr>
        <p:spPr>
          <a:xfrm>
            <a:off x="432000" y="432000"/>
            <a:ext cx="8230387" cy="899650"/>
          </a:xfrm>
        </p:spPr>
        <p:txBody>
          <a:bodyPr/>
          <a:lstStyle/>
          <a:p>
            <a:r>
              <a:rPr lang="zh-CN" altLang="en-US" dirty="0"/>
              <a:t>成员函数说明</a:t>
            </a:r>
            <a:endParaRPr lang="zh-CN" altLang="en-US" dirty="0"/>
          </a:p>
        </p:txBody>
      </p:sp>
      <p:sp>
        <p:nvSpPr>
          <p:cNvPr id="22531" name="文本占位符 21506"/>
          <p:cNvSpPr>
            <a:spLocks noGrp="1" noChangeArrowheads="1"/>
          </p:cNvSpPr>
          <p:nvPr>
            <p:ph idx="1"/>
          </p:nvPr>
        </p:nvSpPr>
        <p:spPr/>
        <p:txBody>
          <a:bodyPr/>
          <a:lstStyle/>
          <a:p>
            <a:pPr>
              <a:lnSpc>
                <a:spcPct val="90000"/>
              </a:lnSpc>
            </a:pPr>
            <a:r>
              <a:rPr lang="zh-CN" altLang="en-US" dirty="0"/>
              <a:t>函数</a:t>
            </a:r>
            <a:r>
              <a:rPr lang="en-US" altLang="zh-CN" dirty="0" err="1"/>
              <a:t>showTime</a:t>
            </a:r>
            <a:r>
              <a:rPr lang="en-US" altLang="zh-CN" dirty="0"/>
              <a:t>() </a:t>
            </a:r>
            <a:r>
              <a:rPr lang="zh-CN" altLang="en-US" dirty="0"/>
              <a:t>全名是 </a:t>
            </a:r>
            <a:r>
              <a:rPr lang="en-US" altLang="zh-CN" dirty="0"/>
              <a:t>Clock::</a:t>
            </a:r>
            <a:r>
              <a:rPr lang="en-US" altLang="zh-CN" dirty="0" err="1"/>
              <a:t>showTime</a:t>
            </a:r>
            <a:r>
              <a:rPr lang="en-US" altLang="zh-CN" dirty="0"/>
              <a:t>()</a:t>
            </a:r>
            <a:endParaRPr lang="en-US" altLang="zh-CN" dirty="0"/>
          </a:p>
          <a:p>
            <a:pPr lvl="1">
              <a:lnSpc>
                <a:spcPct val="90000"/>
              </a:lnSpc>
            </a:pPr>
            <a:r>
              <a:rPr lang="zh-CN" altLang="en-US" dirty="0"/>
              <a:t>类名的用处是指出</a:t>
            </a:r>
            <a:r>
              <a:rPr lang="en-US" altLang="zh-CN" dirty="0" err="1"/>
              <a:t>showTime</a:t>
            </a:r>
            <a:r>
              <a:rPr lang="en-US" altLang="zh-CN" dirty="0"/>
              <a:t>()</a:t>
            </a:r>
            <a:r>
              <a:rPr lang="zh-CN" altLang="en-US" dirty="0"/>
              <a:t>是类 </a:t>
            </a:r>
            <a:r>
              <a:rPr lang="en-US" altLang="zh-CN" dirty="0"/>
              <a:t>Clock</a:t>
            </a:r>
            <a:r>
              <a:rPr lang="zh-CN" altLang="en-US" dirty="0"/>
              <a:t>的一个成员函数</a:t>
            </a:r>
            <a:endParaRPr lang="zh-CN" altLang="en-US" dirty="0"/>
          </a:p>
          <a:p>
            <a:pPr lvl="1">
              <a:lnSpc>
                <a:spcPct val="90000"/>
              </a:lnSpc>
            </a:pPr>
            <a:r>
              <a:rPr lang="zh-CN" altLang="en-US" dirty="0"/>
              <a:t>没有类名的函数称为非成员函数</a:t>
            </a:r>
            <a:endParaRPr lang="zh-CN" altLang="en-US" dirty="0"/>
          </a:p>
          <a:p>
            <a:pPr lvl="1">
              <a:lnSpc>
                <a:spcPct val="90000"/>
              </a:lnSpc>
            </a:pPr>
            <a:r>
              <a:rPr lang="en-US" altLang="zh-CN" dirty="0"/>
              <a:t>:: </a:t>
            </a:r>
            <a:r>
              <a:rPr lang="zh-CN" altLang="en-US" dirty="0"/>
              <a:t>叫</a:t>
            </a:r>
            <a:r>
              <a:rPr lang="zh-CN" altLang="en-US" dirty="0">
                <a:solidFill>
                  <a:srgbClr val="FF0000"/>
                </a:solidFill>
              </a:rPr>
              <a:t>作用域区分符</a:t>
            </a:r>
            <a:endParaRPr lang="zh-CN" altLang="en-US" dirty="0">
              <a:solidFill>
                <a:srgbClr val="FF0000"/>
              </a:solidFill>
            </a:endParaRPr>
          </a:p>
          <a:p>
            <a:pPr>
              <a:lnSpc>
                <a:spcPct val="90000"/>
              </a:lnSpc>
            </a:pPr>
            <a:endParaRPr lang="zh-CN" altLang="en-US" dirty="0"/>
          </a:p>
          <a:p>
            <a:pPr lvl="1">
              <a:lnSpc>
                <a:spcPct val="90000"/>
              </a:lnSpc>
            </a:pPr>
            <a:endParaRPr lang="zh-CN" altLang="en-US" dirty="0"/>
          </a:p>
          <a:p>
            <a:pPr lvl="2">
              <a:lnSpc>
                <a:spcPct val="90000"/>
              </a:lnSpc>
            </a:pP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2529"/>
          <p:cNvSpPr>
            <a:spLocks noGrp="1" noChangeArrowheads="1"/>
          </p:cNvSpPr>
          <p:nvPr>
            <p:ph type="title"/>
          </p:nvPr>
        </p:nvSpPr>
        <p:spPr>
          <a:xfrm>
            <a:off x="432000" y="432000"/>
            <a:ext cx="8230387" cy="899650"/>
          </a:xfrm>
        </p:spPr>
        <p:txBody>
          <a:bodyPr/>
          <a:lstStyle/>
          <a:p>
            <a:r>
              <a:rPr lang="zh-CN" altLang="en-US"/>
              <a:t>成员函数的位置</a:t>
            </a:r>
            <a:endParaRPr lang="zh-CN" altLang="en-US"/>
          </a:p>
        </p:txBody>
      </p:sp>
      <p:sp>
        <p:nvSpPr>
          <p:cNvPr id="23555" name="文本占位符 22530"/>
          <p:cNvSpPr>
            <a:spLocks noGrp="1" noChangeArrowheads="1"/>
          </p:cNvSpPr>
          <p:nvPr>
            <p:ph idx="1"/>
          </p:nvPr>
        </p:nvSpPr>
        <p:spPr>
          <a:xfrm>
            <a:off x="432000" y="1535837"/>
            <a:ext cx="8280000" cy="4207417"/>
          </a:xfrm>
          <a:ln>
            <a:solidFill>
              <a:schemeClr val="accent1"/>
            </a:solidFill>
            <a:miter lim="800000"/>
          </a:ln>
        </p:spPr>
        <p:txBody>
          <a:bodyPr/>
          <a:lstStyle/>
          <a:p>
            <a:r>
              <a:rPr lang="zh-CN" altLang="en-US" sz="2300" dirty="0"/>
              <a:t>定义在类中</a:t>
            </a:r>
            <a:endParaRPr lang="zh-CN" altLang="en-US" sz="2300" dirty="0"/>
          </a:p>
          <a:p>
            <a:pPr lvl="1"/>
            <a:r>
              <a:rPr lang="zh-CN" altLang="en-US" sz="1900" dirty="0"/>
              <a:t>一般规模较小，不允许使用</a:t>
            </a:r>
            <a:r>
              <a:rPr lang="en-US" altLang="zh-CN" sz="1900" dirty="0" err="1"/>
              <a:t>swtich</a:t>
            </a:r>
            <a:r>
              <a:rPr lang="zh-CN" altLang="en-US" sz="1900" dirty="0"/>
              <a:t>语句，常常是内联函数（后面马上介绍）</a:t>
            </a:r>
            <a:endParaRPr lang="zh-CN" altLang="en-US" sz="1900" dirty="0"/>
          </a:p>
          <a:p>
            <a:pPr lvl="1"/>
            <a:r>
              <a:rPr lang="zh-CN" altLang="en-US" sz="1900" dirty="0"/>
              <a:t>此时成员函数前面</a:t>
            </a:r>
            <a:r>
              <a:rPr lang="zh-CN" altLang="en-US" sz="1900" dirty="0">
                <a:solidFill>
                  <a:srgbClr val="FF0000"/>
                </a:solidFill>
              </a:rPr>
              <a:t>不加类名和</a:t>
            </a:r>
            <a:r>
              <a:rPr lang="en-US" altLang="zh-CN" sz="1900" dirty="0">
                <a:solidFill>
                  <a:srgbClr val="FF0000"/>
                </a:solidFill>
              </a:rPr>
              <a:t>::</a:t>
            </a:r>
            <a:endParaRPr lang="en-US" altLang="zh-CN" sz="1900" dirty="0">
              <a:solidFill>
                <a:srgbClr val="FF0000"/>
              </a:solidFill>
            </a:endParaRPr>
          </a:p>
          <a:p>
            <a:r>
              <a:rPr lang="zh-CN" altLang="en-US" sz="2300" dirty="0"/>
              <a:t>定义在类外部</a:t>
            </a:r>
            <a:endParaRPr lang="zh-CN" altLang="en-US" sz="2300" dirty="0"/>
          </a:p>
          <a:p>
            <a:pPr lvl="1"/>
            <a:r>
              <a:rPr lang="zh-CN" altLang="en-US" sz="1900" dirty="0"/>
              <a:t>对于较大的成员函数，通常放在类之后，其他的文件中定义。 </a:t>
            </a:r>
            <a:endParaRPr lang="zh-CN" altLang="en-US" sz="1900" dirty="0"/>
          </a:p>
          <a:p>
            <a:pPr lvl="1"/>
            <a:r>
              <a:rPr lang="en-US" altLang="zh-CN" sz="1900" dirty="0"/>
              <a:t>C++</a:t>
            </a:r>
            <a:r>
              <a:rPr lang="zh-CN" altLang="en-US" sz="1900" dirty="0"/>
              <a:t>中，</a:t>
            </a:r>
            <a:r>
              <a:rPr lang="zh-CN" altLang="en-US" sz="1900" dirty="0">
                <a:solidFill>
                  <a:srgbClr val="00B0F0"/>
                </a:solidFill>
              </a:rPr>
              <a:t>类的定义通常在头文件</a:t>
            </a:r>
            <a:r>
              <a:rPr lang="zh-CN" altLang="en-US" sz="1900" dirty="0"/>
              <a:t>中，而将</a:t>
            </a:r>
            <a:r>
              <a:rPr lang="zh-CN" altLang="en-US" sz="1900" dirty="0">
                <a:solidFill>
                  <a:srgbClr val="00B0F0"/>
                </a:solidFill>
              </a:rPr>
              <a:t>函数的定义放在其他文件</a:t>
            </a:r>
            <a:r>
              <a:rPr lang="zh-CN" altLang="en-US" sz="1900" dirty="0"/>
              <a:t>中。以避免函数的定义被编译多次</a:t>
            </a:r>
            <a:endParaRPr lang="zh-CN" altLang="en-US" sz="1900" dirty="0"/>
          </a:p>
          <a:p>
            <a:pPr lvl="1"/>
            <a:r>
              <a:rPr lang="zh-CN" altLang="en-US" sz="1900" dirty="0"/>
              <a:t>可以将</a:t>
            </a:r>
            <a:r>
              <a:rPr lang="zh-CN" altLang="en-US" sz="1900" b="1" dirty="0"/>
              <a:t>类的定义看作是类的外部接口</a:t>
            </a:r>
            <a:r>
              <a:rPr lang="zh-CN" altLang="en-US" sz="1900" dirty="0"/>
              <a:t>，而成员函数的定义看作是类的内部实现</a:t>
            </a:r>
            <a:endParaRPr lang="zh-CN" altLang="en-US" sz="1900" dirty="0"/>
          </a:p>
          <a:p>
            <a:pPr lvl="1"/>
            <a:r>
              <a:rPr lang="zh-CN" altLang="en-US" sz="1900" dirty="0"/>
              <a:t>此时成员函数前面</a:t>
            </a:r>
            <a:r>
              <a:rPr lang="zh-CN" altLang="en-US" sz="1900" dirty="0">
                <a:solidFill>
                  <a:srgbClr val="FF0000"/>
                </a:solidFill>
              </a:rPr>
              <a:t>需要加类名 和  </a:t>
            </a:r>
            <a:r>
              <a:rPr lang="en-US" altLang="zh-CN" sz="1900" dirty="0">
                <a:solidFill>
                  <a:srgbClr val="FF0000"/>
                </a:solidFill>
              </a:rPr>
              <a:t>::</a:t>
            </a:r>
            <a:endParaRPr lang="en-US" altLang="zh-CN"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内容占位符 2"/>
          <p:cNvSpPr>
            <a:spLocks noGrp="1" noChangeArrowheads="1"/>
          </p:cNvSpPr>
          <p:nvPr>
            <p:ph idx="1"/>
          </p:nvPr>
        </p:nvSpPr>
        <p:spPr/>
        <p:txBody>
          <a:bodyPr/>
          <a:lstStyle/>
          <a:p>
            <a:pPr eaLnBrk="1" hangingPunct="1">
              <a:lnSpc>
                <a:spcPct val="90000"/>
              </a:lnSpc>
            </a:pPr>
            <a:r>
              <a:rPr lang="zh-CN" altLang="en-US">
                <a:latin typeface="Consolas" panose="020B0609020204030204" pitchFamily="49" charset="0"/>
              </a:rPr>
              <a:t>对于一些功能简单、规模较小又频繁使用的函数，可以设计为内联函数。</a:t>
            </a:r>
            <a:endParaRPr lang="en-US" altLang="zh-CN">
              <a:latin typeface="Consolas" panose="020B0609020204030204" pitchFamily="49" charset="0"/>
            </a:endParaRPr>
          </a:p>
          <a:p>
            <a:pPr eaLnBrk="1" hangingPunct="1">
              <a:lnSpc>
                <a:spcPct val="90000"/>
              </a:lnSpc>
            </a:pPr>
            <a:r>
              <a:rPr lang="zh-CN" altLang="en-US">
                <a:latin typeface="Consolas" panose="020B0609020204030204" pitchFamily="49" charset="0"/>
              </a:rPr>
              <a:t>声明时使用关键字 </a:t>
            </a:r>
            <a:r>
              <a:rPr lang="en-US" altLang="zh-CN">
                <a:latin typeface="Consolas" panose="020B0609020204030204" pitchFamily="49" charset="0"/>
              </a:rPr>
              <a:t>inline</a:t>
            </a:r>
            <a:r>
              <a:rPr lang="zh-CN" altLang="en-US">
                <a:latin typeface="Consolas" panose="020B0609020204030204" pitchFamily="49" charset="0"/>
              </a:rPr>
              <a:t>。</a:t>
            </a:r>
            <a:endParaRPr lang="zh-CN" altLang="en-US">
              <a:latin typeface="Consolas" panose="020B0609020204030204" pitchFamily="49" charset="0"/>
            </a:endParaRPr>
          </a:p>
          <a:p>
            <a:pPr eaLnBrk="1" hangingPunct="1">
              <a:lnSpc>
                <a:spcPct val="90000"/>
              </a:lnSpc>
            </a:pPr>
            <a:r>
              <a:rPr lang="zh-CN" altLang="en-US">
                <a:latin typeface="Consolas" panose="020B0609020204030204" pitchFamily="49" charset="0"/>
              </a:rPr>
              <a:t>编译时在调用处用函数体进行替换</a:t>
            </a:r>
            <a:r>
              <a:rPr lang="en-US" altLang="zh-CN">
                <a:latin typeface="Consolas" panose="020B0609020204030204" pitchFamily="49" charset="0"/>
              </a:rPr>
              <a:t>,</a:t>
            </a:r>
            <a:r>
              <a:rPr lang="zh-CN" altLang="en-US">
                <a:latin typeface="Consolas" panose="020B0609020204030204" pitchFamily="49" charset="0"/>
              </a:rPr>
              <a:t>节省了参数传递、控制转移等开销。</a:t>
            </a:r>
            <a:endParaRPr lang="zh-CN" altLang="en-US">
              <a:latin typeface="Consolas" panose="020B0609020204030204" pitchFamily="49" charset="0"/>
            </a:endParaRPr>
          </a:p>
          <a:p>
            <a:pPr eaLnBrk="1" hangingPunct="1">
              <a:lnSpc>
                <a:spcPct val="90000"/>
              </a:lnSpc>
            </a:pPr>
            <a:r>
              <a:rPr lang="zh-CN" altLang="en-US">
                <a:latin typeface="Consolas" panose="020B0609020204030204" pitchFamily="49" charset="0"/>
              </a:rPr>
              <a:t>注意：</a:t>
            </a:r>
            <a:endParaRPr lang="zh-CN" altLang="en-US">
              <a:latin typeface="Consolas" panose="020B0609020204030204" pitchFamily="49" charset="0"/>
            </a:endParaRPr>
          </a:p>
          <a:p>
            <a:pPr lvl="1" eaLnBrk="1" hangingPunct="1">
              <a:lnSpc>
                <a:spcPct val="90000"/>
              </a:lnSpc>
            </a:pPr>
            <a:r>
              <a:rPr lang="zh-CN" altLang="en-US">
                <a:latin typeface="Consolas" panose="020B0609020204030204" pitchFamily="49" charset="0"/>
              </a:rPr>
              <a:t>内联函数体内不能有</a:t>
            </a:r>
            <a:r>
              <a:rPr lang="zh-CN" altLang="en-US">
                <a:solidFill>
                  <a:srgbClr val="C00000"/>
                </a:solidFill>
                <a:latin typeface="Consolas" panose="020B0609020204030204" pitchFamily="49" charset="0"/>
              </a:rPr>
              <a:t>循环语句</a:t>
            </a:r>
            <a:r>
              <a:rPr lang="zh-CN" altLang="en-US">
                <a:latin typeface="Consolas" panose="020B0609020204030204" pitchFamily="49" charset="0"/>
              </a:rPr>
              <a:t>和</a:t>
            </a:r>
            <a:r>
              <a:rPr lang="en-US" altLang="zh-CN">
                <a:solidFill>
                  <a:srgbClr val="C00000"/>
                </a:solidFill>
                <a:latin typeface="Consolas" panose="020B0609020204030204" pitchFamily="49" charset="0"/>
              </a:rPr>
              <a:t>switch</a:t>
            </a:r>
            <a:r>
              <a:rPr lang="zh-CN" altLang="en-US">
                <a:latin typeface="Consolas" panose="020B0609020204030204" pitchFamily="49" charset="0"/>
              </a:rPr>
              <a:t>语句。</a:t>
            </a:r>
            <a:endParaRPr lang="zh-CN" altLang="en-US">
              <a:latin typeface="Consolas" panose="020B0609020204030204" pitchFamily="49" charset="0"/>
            </a:endParaRPr>
          </a:p>
          <a:p>
            <a:pPr lvl="1" eaLnBrk="1" hangingPunct="1">
              <a:lnSpc>
                <a:spcPct val="90000"/>
              </a:lnSpc>
            </a:pPr>
            <a:r>
              <a:rPr lang="zh-CN" altLang="en-US">
                <a:latin typeface="Consolas" panose="020B0609020204030204" pitchFamily="49" charset="0"/>
              </a:rPr>
              <a:t>内联函数的声明必须出现在内联函数第一次被调用之前。</a:t>
            </a:r>
            <a:endParaRPr lang="zh-CN" altLang="en-US">
              <a:latin typeface="Consolas" panose="020B0609020204030204" pitchFamily="49" charset="0"/>
            </a:endParaRPr>
          </a:p>
          <a:p>
            <a:pPr lvl="1" eaLnBrk="1" hangingPunct="1">
              <a:lnSpc>
                <a:spcPct val="90000"/>
              </a:lnSpc>
            </a:pPr>
            <a:r>
              <a:rPr lang="zh-CN" altLang="en-US">
                <a:latin typeface="Consolas" panose="020B0609020204030204" pitchFamily="49" charset="0"/>
              </a:rPr>
              <a:t>对内联函数不能进行异常接口声明。</a:t>
            </a:r>
            <a:endParaRPr lang="en-US" altLang="zh-CN">
              <a:latin typeface="Consolas" panose="020B0609020204030204" pitchFamily="49" charset="0"/>
            </a:endParaRPr>
          </a:p>
          <a:p>
            <a:pPr lvl="1" eaLnBrk="1" hangingPunct="1">
              <a:lnSpc>
                <a:spcPct val="90000"/>
              </a:lnSpc>
            </a:pPr>
            <a:r>
              <a:rPr lang="zh-CN" altLang="en-US">
                <a:latin typeface="Consolas" panose="020B0609020204030204" pitchFamily="49" charset="0"/>
              </a:rPr>
              <a:t>编译器并不承诺将</a:t>
            </a:r>
            <a:r>
              <a:rPr lang="en-US" altLang="zh-CN">
                <a:latin typeface="Consolas" panose="020B0609020204030204" pitchFamily="49" charset="0"/>
              </a:rPr>
              <a:t>inline</a:t>
            </a:r>
            <a:r>
              <a:rPr lang="zh-CN" altLang="en-US">
                <a:latin typeface="Consolas" panose="020B0609020204030204" pitchFamily="49" charset="0"/>
              </a:rPr>
              <a:t>修饰的函数作为内联。在现代编译器中，没用</a:t>
            </a:r>
            <a:r>
              <a:rPr lang="en-US" altLang="zh-CN">
                <a:latin typeface="Consolas" panose="020B0609020204030204" pitchFamily="49" charset="0"/>
              </a:rPr>
              <a:t>inline</a:t>
            </a:r>
            <a:r>
              <a:rPr lang="zh-CN" altLang="en-US">
                <a:latin typeface="Consolas" panose="020B0609020204030204" pitchFamily="49" charset="0"/>
              </a:rPr>
              <a:t>修饰的函数也可能被编译为内联。</a:t>
            </a:r>
            <a:endParaRPr lang="zh-CN" altLang="en-US">
              <a:latin typeface="Consolas" panose="020B0609020204030204" pitchFamily="49" charset="0"/>
            </a:endParaRPr>
          </a:p>
          <a:p>
            <a:pPr eaLnBrk="1" hangingPunct="1"/>
            <a:endParaRPr lang="zh-CN" altLang="en-US">
              <a:latin typeface="Consolas" panose="020B0609020204030204" pitchFamily="49" charset="0"/>
            </a:endParaRPr>
          </a:p>
        </p:txBody>
      </p:sp>
      <p:sp>
        <p:nvSpPr>
          <p:cNvPr id="25603" name="灯片编号占位符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buSzPct val="68000"/>
            </a:pPr>
            <a:endParaRPr lang="en-US" altLang="zh-CN" sz="1000" dirty="0"/>
          </a:p>
        </p:txBody>
      </p:sp>
      <p:sp>
        <p:nvSpPr>
          <p:cNvPr id="2" name="标题 1"/>
          <p:cNvSpPr>
            <a:spLocks noGrp="1"/>
          </p:cNvSpPr>
          <p:nvPr>
            <p:ph type="title"/>
          </p:nvPr>
        </p:nvSpPr>
        <p:spPr>
          <a:xfrm>
            <a:off x="432000" y="432000"/>
            <a:ext cx="8230387" cy="899650"/>
          </a:xfrm>
        </p:spPr>
        <p:txBody>
          <a:bodyPr>
            <a:scene3d>
              <a:camera prst="orthographicFront"/>
              <a:lightRig rig="soft" dir="t"/>
            </a:scene3d>
          </a:bodyPr>
          <a:lstStyle/>
          <a:p>
            <a:pPr eaLnBrk="1" fontAlgn="auto" hangingPunct="1">
              <a:spcAft>
                <a:spcPts val="0"/>
              </a:spcAft>
              <a:defRPr/>
            </a:pPr>
            <a:r>
              <a:rPr lang="en-US" altLang="zh-CN" noProof="1"/>
              <a:t> </a:t>
            </a:r>
            <a:r>
              <a:rPr lang="zh-CN" altLang="en-US" noProof="1"/>
              <a:t>内联函数</a:t>
            </a:r>
            <a:r>
              <a:rPr lang="en-US" altLang="zh-CN" noProof="1"/>
              <a:t>*</a:t>
            </a:r>
            <a:endParaRPr lang="zh-CN" altLang="en-US" noProof="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p:cNvSpPr>
            <a:spLocks noGrp="1" noChangeArrowheads="1"/>
          </p:cNvSpPr>
          <p:nvPr>
            <p:ph idx="4294967295"/>
          </p:nvPr>
        </p:nvSpPr>
        <p:spPr>
          <a:xfrm>
            <a:off x="323850" y="696913"/>
            <a:ext cx="8496300" cy="1439862"/>
          </a:xfrm>
          <a:solidFill>
            <a:schemeClr val="bg2">
              <a:lumMod val="90000"/>
            </a:schemeClr>
          </a:solidFill>
        </p:spPr>
        <p:txBody>
          <a:bodyPr/>
          <a:lstStyle/>
          <a:p>
            <a:pPr eaLnBrk="1" hangingPunct="1">
              <a:lnSpc>
                <a:spcPct val="120000"/>
              </a:lnSpc>
              <a:buClr>
                <a:srgbClr val="EB641B"/>
              </a:buClr>
              <a:buFont typeface="Georgia" panose="02040502050405090303" pitchFamily="18" charset="0"/>
              <a:buNone/>
            </a:pPr>
            <a:r>
              <a:rPr lang="en-US" altLang="zh-CN" sz="2000">
                <a:solidFill>
                  <a:srgbClr val="FF0000"/>
                </a:solidFill>
                <a:latin typeface="Consolas" panose="020B0609020204030204" pitchFamily="49" charset="0"/>
              </a:rPr>
              <a:t>inline</a:t>
            </a:r>
            <a:r>
              <a:rPr lang="en-US" altLang="zh-CN" sz="2000">
                <a:latin typeface="Consolas" panose="020B0609020204030204" pitchFamily="49" charset="0"/>
              </a:rPr>
              <a:t> void Clock::showTime() {</a:t>
            </a:r>
            <a:endParaRPr lang="en-US" altLang="zh-CN" sz="2000">
              <a:latin typeface="Consolas" panose="020B0609020204030204" pitchFamily="49" charset="0"/>
            </a:endParaRPr>
          </a:p>
          <a:p>
            <a:pPr eaLnBrk="1" hangingPunct="1">
              <a:lnSpc>
                <a:spcPct val="120000"/>
              </a:lnSpc>
              <a:buClr>
                <a:srgbClr val="EB641B"/>
              </a:buClr>
              <a:buFont typeface="Georgia" panose="02040502050405090303" pitchFamily="18" charset="0"/>
              <a:buNone/>
            </a:pPr>
            <a:r>
              <a:rPr lang="en-US" altLang="zh-CN" sz="2000">
                <a:latin typeface="Consolas" panose="020B0609020204030204" pitchFamily="49" charset="0"/>
              </a:rPr>
              <a:t>   cout &lt;&lt; hour &lt;&lt; ":" &lt;&lt; minute &lt;&lt; ":" &lt;&lt; second;</a:t>
            </a:r>
            <a:endParaRPr lang="en-US" altLang="zh-CN" sz="2000">
              <a:latin typeface="Consolas" panose="020B0609020204030204" pitchFamily="49" charset="0"/>
            </a:endParaRPr>
          </a:p>
          <a:p>
            <a:pPr eaLnBrk="1" hangingPunct="1">
              <a:lnSpc>
                <a:spcPct val="120000"/>
              </a:lnSpc>
              <a:buClr>
                <a:srgbClr val="EB641B"/>
              </a:buClr>
              <a:buFont typeface="Georgia" panose="02040502050405090303" pitchFamily="18" charset="0"/>
              <a:buNone/>
            </a:pPr>
            <a:r>
              <a:rPr lang="en-US" altLang="zh-CN" sz="2000">
                <a:latin typeface="Consolas" panose="020B0609020204030204" pitchFamily="49" charset="0"/>
              </a:rPr>
              <a:t>}</a:t>
            </a:r>
            <a:endParaRPr lang="en-US" altLang="zh-CN" sz="2000">
              <a:latin typeface="Consolas" panose="020B0609020204030204" pitchFamily="49" charset="0"/>
            </a:endParaRPr>
          </a:p>
        </p:txBody>
      </p:sp>
      <p:sp>
        <p:nvSpPr>
          <p:cNvPr id="26627" name="灯片编号占位符 3"/>
          <p:cNvSpPr txBox="1">
            <a:spLocks noGrp="1" noChangeArrowheads="1"/>
          </p:cNvSpPr>
          <p:nvPr/>
        </p:nvSpPr>
        <p:spPr bwMode="auto">
          <a:xfrm>
            <a:off x="8647113" y="626586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26628" name="标题 4"/>
          <p:cNvSpPr txBox="1">
            <a:spLocks noChangeArrowheads="1"/>
          </p:cNvSpPr>
          <p:nvPr/>
        </p:nvSpPr>
        <p:spPr bwMode="auto">
          <a:xfrm>
            <a:off x="214313" y="0"/>
            <a:ext cx="76438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80000"/>
              </a:lnSpc>
            </a:pPr>
            <a:r>
              <a:rPr lang="en-US" altLang="zh-CN" sz="2600">
                <a:solidFill>
                  <a:schemeClr val="bg1"/>
                </a:solidFill>
                <a:latin typeface="Lucida Sans Unicode" panose="020B0602030504020204" pitchFamily="34" charset="0"/>
                <a:ea typeface="黑体" panose="02010609060101010101" pitchFamily="49" charset="-122"/>
              </a:rPr>
              <a:t>4.2 </a:t>
            </a:r>
            <a:r>
              <a:rPr lang="zh-CN" altLang="en-US" sz="2600">
                <a:solidFill>
                  <a:schemeClr val="bg1"/>
                </a:solidFill>
                <a:latin typeface="Lucida Sans Unicode" panose="020B0602030504020204" pitchFamily="34" charset="0"/>
                <a:ea typeface="黑体" panose="02010609060101010101" pitchFamily="49" charset="-122"/>
              </a:rPr>
              <a:t> 类和对象 </a:t>
            </a:r>
            <a:r>
              <a:rPr lang="en-US" altLang="zh-CN" sz="2600">
                <a:solidFill>
                  <a:schemeClr val="bg1"/>
                </a:solidFill>
                <a:latin typeface="Lucida Sans Unicode" panose="020B0602030504020204" pitchFamily="34" charset="0"/>
                <a:ea typeface="黑体" panose="02010609060101010101" pitchFamily="49" charset="-122"/>
              </a:rPr>
              <a:t>—— 4.2.2 </a:t>
            </a:r>
            <a:r>
              <a:rPr lang="zh-CN" altLang="en-US" sz="2600">
                <a:solidFill>
                  <a:schemeClr val="bg1"/>
                </a:solidFill>
                <a:latin typeface="Lucida Sans Unicode" panose="020B0602030504020204" pitchFamily="34" charset="0"/>
                <a:ea typeface="黑体" panose="02010609060101010101" pitchFamily="49" charset="-122"/>
              </a:rPr>
              <a:t>类成员的访问控制</a:t>
            </a:r>
            <a:endParaRPr lang="zh-CN" altLang="en-US" sz="2600">
              <a:solidFill>
                <a:schemeClr val="bg1"/>
              </a:solidFill>
              <a:latin typeface="Lucida Sans Unicode" panose="020B0602030504020204" pitchFamily="34" charset="0"/>
              <a:ea typeface="黑体" panose="02010609060101010101" pitchFamily="49" charset="-122"/>
            </a:endParaRPr>
          </a:p>
        </p:txBody>
      </p:sp>
      <p:sp>
        <p:nvSpPr>
          <p:cNvPr id="26629" name="TextBox 1"/>
          <p:cNvSpPr txBox="1">
            <a:spLocks noChangeArrowheads="1"/>
          </p:cNvSpPr>
          <p:nvPr/>
        </p:nvSpPr>
        <p:spPr bwMode="auto">
          <a:xfrm>
            <a:off x="395288" y="2338388"/>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buFont typeface="Wingdings 3" panose="05040102010807070707" pitchFamily="18" charset="2"/>
              <a:buNone/>
            </a:pPr>
            <a:r>
              <a:rPr lang="zh-CN" altLang="en-US">
                <a:latin typeface="宋体" pitchFamily="2" charset="-122"/>
                <a:ea typeface="宋体" pitchFamily="2" charset="-122"/>
              </a:rPr>
              <a:t>或者：</a:t>
            </a:r>
            <a:endParaRPr lang="zh-CN" altLang="en-US">
              <a:latin typeface="宋体" pitchFamily="2" charset="-122"/>
              <a:ea typeface="宋体" pitchFamily="2" charset="-122"/>
            </a:endParaRPr>
          </a:p>
        </p:txBody>
      </p:sp>
      <p:sp>
        <p:nvSpPr>
          <p:cNvPr id="26630" name="内容占位符 2"/>
          <p:cNvSpPr txBox="1">
            <a:spLocks noChangeArrowheads="1"/>
          </p:cNvSpPr>
          <p:nvPr/>
        </p:nvSpPr>
        <p:spPr bwMode="auto">
          <a:xfrm>
            <a:off x="323850" y="2855913"/>
            <a:ext cx="8496300" cy="2720975"/>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marL="365125" indent="-255905"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90303" pitchFamily="18" charset="0"/>
              <a:buNone/>
            </a:pPr>
            <a:r>
              <a:rPr lang="en-US" altLang="zh-CN" sz="1700">
                <a:latin typeface="Consolas" panose="020B0609020204030204" pitchFamily="49" charset="0"/>
                <a:ea typeface="黑体" panose="02010609060101010101" pitchFamily="49" charset="-122"/>
              </a:rPr>
              <a:t>class Clock{</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1700">
                <a:latin typeface="Consolas" panose="020B0609020204030204" pitchFamily="49" charset="0"/>
                <a:ea typeface="黑体" panose="02010609060101010101" pitchFamily="49" charset="-122"/>
              </a:rPr>
              <a:t>public:		</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	</a:t>
            </a:r>
            <a:r>
              <a:rPr lang="en-US" altLang="zh-CN" sz="1700">
                <a:latin typeface="Consolas" panose="020B0609020204030204" pitchFamily="49" charset="0"/>
                <a:ea typeface="黑体" panose="02010609060101010101" pitchFamily="49" charset="-122"/>
              </a:rPr>
              <a:t>void setTime(int newH = 0, int newM = 0, int newS = 0);</a:t>
            </a:r>
            <a:endParaRPr lang="en-US" altLang="zh-CN"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1700">
                <a:latin typeface="Consolas" panose="020B0609020204030204" pitchFamily="49" charset="0"/>
                <a:ea typeface="黑体" panose="02010609060101010101" pitchFamily="49" charset="-122"/>
              </a:rPr>
              <a:t>	void showTime() </a:t>
            </a:r>
            <a:r>
              <a:rPr lang="en-US" altLang="zh-CN" sz="1700">
                <a:solidFill>
                  <a:srgbClr val="FF0000"/>
                </a:solidFill>
                <a:latin typeface="Consolas" panose="020B0609020204030204" pitchFamily="49" charset="0"/>
                <a:ea typeface="黑体" panose="02010609060101010101" pitchFamily="49" charset="-122"/>
              </a:rPr>
              <a:t>{ cout &lt;&lt; hour &lt;&lt; ":" &lt;&lt; minute &lt;&lt; ":" &lt;&lt; second; }</a:t>
            </a:r>
            <a:endParaRPr lang="en-US" altLang="zh-CN" sz="1700">
              <a:solidFill>
                <a:srgbClr val="FF0000"/>
              </a:solidFill>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1700">
                <a:latin typeface="Consolas" panose="020B0609020204030204" pitchFamily="49" charset="0"/>
                <a:ea typeface="黑体" panose="02010609060101010101" pitchFamily="49" charset="-122"/>
              </a:rPr>
              <a:t>private:	</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	</a:t>
            </a:r>
            <a:r>
              <a:rPr lang="en-US" altLang="zh-CN" sz="1700">
                <a:latin typeface="Consolas" panose="020B0609020204030204" pitchFamily="49" charset="0"/>
                <a:ea typeface="黑体" panose="02010609060101010101" pitchFamily="49" charset="-122"/>
              </a:rPr>
              <a:t>int hour, minute, second;</a:t>
            </a:r>
            <a:endParaRPr lang="en-US" altLang="zh-CN"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1700">
                <a:latin typeface="Consolas" panose="020B0609020204030204" pitchFamily="49" charset="0"/>
                <a:ea typeface="黑体" panose="02010609060101010101" pitchFamily="49" charset="-122"/>
              </a:rPr>
              <a:t>}</a:t>
            </a:r>
            <a:endParaRPr lang="en-US" altLang="zh-CN" sz="1700">
              <a:latin typeface="Consolas" panose="020B0609020204030204" pitchFamily="49" charset="0"/>
              <a:ea typeface="黑体" panose="02010609060101010101" pitchFamily="49" charset="-122"/>
            </a:endParaRPr>
          </a:p>
          <a:p>
            <a:pPr lvl="1" eaLnBrk="1" hangingPunct="1">
              <a:lnSpc>
                <a:spcPct val="120000"/>
              </a:lnSpc>
              <a:spcBef>
                <a:spcPts val="325"/>
              </a:spcBef>
              <a:buClr>
                <a:srgbClr val="EB641B"/>
              </a:buClr>
              <a:buFont typeface="Georgia" panose="02040502050405090303" pitchFamily="18" charset="0"/>
              <a:buNone/>
            </a:pPr>
            <a:endParaRPr lang="en-US" altLang="zh-CN" sz="1700">
              <a:latin typeface="Consolas" panose="020B0609020204030204" pitchFamily="49" charset="0"/>
              <a:ea typeface="黑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31745"/>
          <p:cNvSpPr>
            <a:spLocks noGrp="1" noChangeArrowheads="1"/>
          </p:cNvSpPr>
          <p:nvPr>
            <p:ph type="title"/>
          </p:nvPr>
        </p:nvSpPr>
        <p:spPr>
          <a:xfrm>
            <a:off x="432000" y="432000"/>
            <a:ext cx="8230387" cy="899650"/>
          </a:xfrm>
        </p:spPr>
        <p:txBody>
          <a:bodyPr/>
          <a:lstStyle/>
          <a:p>
            <a:r>
              <a:rPr lang="zh-CN" altLang="en-US" dirty="0"/>
              <a:t>调用成员函数</a:t>
            </a:r>
            <a:endParaRPr lang="zh-CN" altLang="en-US" dirty="0"/>
          </a:p>
        </p:txBody>
      </p:sp>
      <p:sp>
        <p:nvSpPr>
          <p:cNvPr id="27651" name="文本占位符 31746"/>
          <p:cNvSpPr>
            <a:spLocks noGrp="1" noChangeArrowheads="1"/>
          </p:cNvSpPr>
          <p:nvPr>
            <p:ph idx="1"/>
          </p:nvPr>
        </p:nvSpPr>
        <p:spPr/>
        <p:txBody>
          <a:bodyPr/>
          <a:lstStyle/>
          <a:p>
            <a:r>
              <a:rPr lang="zh-CN" altLang="en-US" dirty="0"/>
              <a:t>必须指明</a:t>
            </a:r>
            <a:r>
              <a:rPr lang="zh-CN" altLang="en-US" dirty="0">
                <a:solidFill>
                  <a:schemeClr val="accent2"/>
                </a:solidFill>
              </a:rPr>
              <a:t>对象</a:t>
            </a:r>
            <a:r>
              <a:rPr lang="zh-CN" altLang="en-US" dirty="0"/>
              <a:t>和成员名</a:t>
            </a:r>
            <a:endParaRPr lang="zh-CN" altLang="en-US" dirty="0"/>
          </a:p>
          <a:p>
            <a:endParaRPr lang="zh-CN" altLang="en-US" dirty="0"/>
          </a:p>
        </p:txBody>
      </p:sp>
      <p:sp>
        <p:nvSpPr>
          <p:cNvPr id="2" name="矩形 1"/>
          <p:cNvSpPr/>
          <p:nvPr/>
        </p:nvSpPr>
        <p:spPr>
          <a:xfrm>
            <a:off x="4140000" y="342798"/>
            <a:ext cx="4572000" cy="5262979"/>
          </a:xfrm>
          <a:prstGeom prst="rect">
            <a:avLst/>
          </a:prstGeom>
        </p:spPr>
        <p:txBody>
          <a:bodyPr>
            <a:spAutoFit/>
          </a:bodyPr>
          <a:lstStyle/>
          <a:p>
            <a:r>
              <a:rPr lang="en-US" sz="1200" dirty="0">
                <a:solidFill>
                  <a:srgbClr val="0000FF"/>
                </a:solidFill>
                <a:latin typeface="Consolas" panose="020B0609020204030204" pitchFamily="49" charset="0"/>
              </a:rPr>
              <a:t>class</a:t>
            </a:r>
            <a:r>
              <a:rPr lang="en-US" sz="1200" dirty="0">
                <a:solidFill>
                  <a:srgbClr val="000000"/>
                </a:solidFill>
                <a:latin typeface="Consolas" panose="020B0609020204030204" pitchFamily="49" charset="0"/>
              </a:rPr>
              <a:t> Clock</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public:</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setTime</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newH</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newM</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newS</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hour = </a:t>
            </a:r>
            <a:r>
              <a:rPr lang="en-US" sz="1200" dirty="0" err="1">
                <a:solidFill>
                  <a:srgbClr val="000000"/>
                </a:solidFill>
                <a:latin typeface="Consolas" panose="020B0609020204030204" pitchFamily="49" charset="0"/>
              </a:rPr>
              <a:t>newH</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minute = </a:t>
            </a:r>
            <a:r>
              <a:rPr lang="en-US" sz="1200" dirty="0" err="1">
                <a:solidFill>
                  <a:srgbClr val="000000"/>
                </a:solidFill>
                <a:latin typeface="Consolas" panose="020B0609020204030204" pitchFamily="49" charset="0"/>
              </a:rPr>
              <a:t>newM</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second = </a:t>
            </a:r>
            <a:r>
              <a:rPr lang="en-US" sz="1200" dirty="0" err="1">
                <a:solidFill>
                  <a:srgbClr val="000000"/>
                </a:solidFill>
                <a:latin typeface="Consolas" panose="020B0609020204030204" pitchFamily="49" charset="0"/>
              </a:rPr>
              <a:t>newS</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showTime</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private: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hour, minute, second;</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Clock::</a:t>
            </a:r>
            <a:r>
              <a:rPr lang="en-US" sz="1200" dirty="0" err="1">
                <a:solidFill>
                  <a:srgbClr val="000000"/>
                </a:solidFill>
                <a:latin typeface="Consolas" panose="020B0609020204030204" pitchFamily="49" charset="0"/>
              </a:rPr>
              <a:t>showTime</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&lt;&lt; hour &lt;&lt; </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&lt;&lt; minute &lt;&lt; </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&lt;&lt; second &lt;&lt; </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main()</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Clock </a:t>
            </a:r>
            <a:r>
              <a:rPr lang="en-US" sz="1200" dirty="0" err="1">
                <a:solidFill>
                  <a:srgbClr val="000000"/>
                </a:solidFill>
                <a:latin typeface="Consolas" panose="020B0609020204030204" pitchFamily="49" charset="0"/>
              </a:rPr>
              <a:t>myClock</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myClock.setTime</a:t>
            </a:r>
            <a:r>
              <a:rPr lang="en-US" sz="1200" dirty="0">
                <a:solidFill>
                  <a:srgbClr val="000000"/>
                </a:solidFill>
                <a:latin typeface="Consolas" panose="020B0609020204030204" pitchFamily="49" charset="0"/>
              </a:rPr>
              <a:t>(</a:t>
            </a:r>
            <a:r>
              <a:rPr lang="en-US" sz="1200" dirty="0">
                <a:solidFill>
                  <a:srgbClr val="098658"/>
                </a:solidFill>
                <a:latin typeface="Consolas" panose="020B0609020204030204" pitchFamily="49" charset="0"/>
              </a:rPr>
              <a:t>8</a:t>
            </a:r>
            <a:r>
              <a:rPr lang="en-US" sz="1200" dirty="0">
                <a:solidFill>
                  <a:srgbClr val="000000"/>
                </a:solidFill>
                <a:latin typeface="Consolas" panose="020B0609020204030204" pitchFamily="49" charset="0"/>
              </a:rPr>
              <a:t>, </a:t>
            </a:r>
            <a:r>
              <a:rPr lang="en-US" sz="1200" dirty="0">
                <a:solidFill>
                  <a:srgbClr val="098658"/>
                </a:solidFill>
                <a:latin typeface="Consolas" panose="020B0609020204030204" pitchFamily="49" charset="0"/>
              </a:rPr>
              <a:t>30</a:t>
            </a:r>
            <a:r>
              <a:rPr lang="en-US" sz="1200" dirty="0">
                <a:solidFill>
                  <a:srgbClr val="000000"/>
                </a:solidFill>
                <a:latin typeface="Consolas" panose="020B0609020204030204" pitchFamily="49" charset="0"/>
              </a:rPr>
              <a:t>, </a:t>
            </a:r>
            <a:r>
              <a:rPr lang="en-US" sz="1200" dirty="0">
                <a:solidFill>
                  <a:srgbClr val="098658"/>
                </a:solidFill>
                <a:latin typeface="Consolas" panose="020B0609020204030204" pitchFamily="49" charset="0"/>
              </a:rPr>
              <a:t>30</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myClock.showTime</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p:txBody>
      </p:sp>
      <p:sp>
        <p:nvSpPr>
          <p:cNvPr id="3" name="矩形 2"/>
          <p:cNvSpPr/>
          <p:nvPr/>
        </p:nvSpPr>
        <p:spPr>
          <a:xfrm>
            <a:off x="677609" y="2417788"/>
            <a:ext cx="3123829" cy="1168397"/>
          </a:xfrm>
          <a:prstGeom prst="rect">
            <a:avLst/>
          </a:prstGeom>
        </p:spPr>
        <p:txBody>
          <a:bodyPr wrap="square">
            <a:spAutoFit/>
          </a:bodyPr>
          <a:lstStyle/>
          <a:p>
            <a:pPr>
              <a:lnSpc>
                <a:spcPct val="120000"/>
              </a:lnSpc>
              <a:spcBef>
                <a:spcPts val="400"/>
              </a:spcBef>
              <a:buClr>
                <a:srgbClr val="EB641B"/>
              </a:buClr>
              <a:buSzPct val="68000"/>
            </a:pPr>
            <a:r>
              <a:rPr lang="zh-CN" altLang="en-US" dirty="0">
                <a:latin typeface="Consolas" panose="020B0609020204030204" pitchFamily="49" charset="0"/>
                <a:ea typeface="黑体" panose="02010609060101010101" pitchFamily="49" charset="-122"/>
              </a:rPr>
              <a:t>如此调用，可否？</a:t>
            </a:r>
            <a:endParaRPr lang="en-US" altLang="zh-CN" dirty="0">
              <a:latin typeface="Consolas" panose="020B0609020204030204" pitchFamily="49" charset="0"/>
              <a:ea typeface="黑体" panose="02010609060101010101" pitchFamily="49" charset="-122"/>
            </a:endParaRPr>
          </a:p>
          <a:p>
            <a:pPr>
              <a:lnSpc>
                <a:spcPct val="120000"/>
              </a:lnSpc>
              <a:spcBef>
                <a:spcPts val="400"/>
              </a:spcBef>
              <a:buClr>
                <a:srgbClr val="EB641B"/>
              </a:buClr>
              <a:buSzPct val="68000"/>
            </a:pPr>
            <a:r>
              <a:rPr lang="zh-CN" altLang="en-US" dirty="0">
                <a:latin typeface="Consolas" panose="020B0609020204030204" pitchFamily="49" charset="0"/>
                <a:ea typeface="黑体" panose="02010609060101010101" pitchFamily="49" charset="-122"/>
              </a:rPr>
              <a:t>showTime(); </a:t>
            </a:r>
            <a:endParaRPr lang="en-US" altLang="zh-CN" dirty="0">
              <a:latin typeface="Consolas" panose="020B0609020204030204" pitchFamily="49" charset="0"/>
              <a:ea typeface="黑体" panose="02010609060101010101" pitchFamily="49" charset="-122"/>
            </a:endParaRPr>
          </a:p>
          <a:p>
            <a:pPr>
              <a:lnSpc>
                <a:spcPct val="120000"/>
              </a:lnSpc>
              <a:spcBef>
                <a:spcPts val="400"/>
              </a:spcBef>
              <a:buClr>
                <a:srgbClr val="EB641B"/>
              </a:buClr>
              <a:buSzPct val="68000"/>
            </a:pPr>
            <a:r>
              <a:rPr lang="zh-CN" altLang="en-US" dirty="0">
                <a:latin typeface="Consolas" panose="020B0609020204030204" pitchFamily="49" charset="0"/>
                <a:ea typeface="黑体" panose="02010609060101010101" pitchFamily="49" charset="-122"/>
              </a:rPr>
              <a:t>Clock::showTime();</a:t>
            </a:r>
            <a:endParaRPr lang="en-US" altLang="zh-CN" dirty="0">
              <a:latin typeface="Consolas" panose="020B0609020204030204" pitchFamily="49" charset="0"/>
              <a:ea typeface="黑体" panose="02010609060101010101" pitchFamily="49" charset="-122"/>
            </a:endParaRPr>
          </a:p>
        </p:txBody>
      </p:sp>
      <p:sp>
        <p:nvSpPr>
          <p:cNvPr id="4" name="矩形 3"/>
          <p:cNvSpPr/>
          <p:nvPr/>
        </p:nvSpPr>
        <p:spPr>
          <a:xfrm>
            <a:off x="539393" y="3917918"/>
            <a:ext cx="3262045" cy="1445396"/>
          </a:xfrm>
          <a:prstGeom prst="rect">
            <a:avLst/>
          </a:prstGeom>
        </p:spPr>
        <p:txBody>
          <a:bodyPr wrap="square">
            <a:spAutoFit/>
          </a:bodyPr>
          <a:lstStyle/>
          <a:p>
            <a:pPr>
              <a:lnSpc>
                <a:spcPct val="120000"/>
              </a:lnSpc>
              <a:spcBef>
                <a:spcPts val="400"/>
              </a:spcBef>
              <a:buClr>
                <a:srgbClr val="EB641B"/>
              </a:buClr>
              <a:buSzPct val="68000"/>
            </a:pPr>
            <a:r>
              <a:rPr lang="zh-CN" altLang="en-US" dirty="0">
                <a:latin typeface="Consolas" panose="020B0609020204030204" pitchFamily="49" charset="0"/>
                <a:ea typeface="黑体" panose="02010609060101010101" pitchFamily="49" charset="-122"/>
              </a:rPr>
              <a:t>//</a:t>
            </a:r>
            <a:r>
              <a:rPr lang="zh-CN" altLang="en-US" dirty="0">
                <a:solidFill>
                  <a:schemeClr val="accent2"/>
                </a:solidFill>
                <a:latin typeface="Consolas" panose="020B0609020204030204" pitchFamily="49" charset="0"/>
                <a:ea typeface="黑体" panose="02010609060101010101" pitchFamily="49" charset="-122"/>
              </a:rPr>
              <a:t>错误！</a:t>
            </a:r>
            <a:r>
              <a:rPr lang="zh-CN" altLang="en-US" dirty="0">
                <a:latin typeface="Consolas" panose="020B0609020204030204" pitchFamily="49" charset="0"/>
                <a:ea typeface="黑体" panose="02010609060101010101" pitchFamily="49" charset="-122"/>
              </a:rPr>
              <a:t>showTime() 是哪个类的成员？</a:t>
            </a:r>
            <a:endParaRPr lang="zh-CN" altLang="en-US" dirty="0">
              <a:latin typeface="Consolas" panose="020B0609020204030204" pitchFamily="49" charset="0"/>
              <a:ea typeface="黑体" panose="02010609060101010101" pitchFamily="49" charset="-122"/>
            </a:endParaRPr>
          </a:p>
          <a:p>
            <a:pPr>
              <a:lnSpc>
                <a:spcPct val="120000"/>
              </a:lnSpc>
              <a:spcBef>
                <a:spcPts val="400"/>
              </a:spcBef>
              <a:buClr>
                <a:srgbClr val="EB641B"/>
              </a:buClr>
              <a:buSzPct val="68000"/>
            </a:pPr>
            <a:r>
              <a:rPr lang="zh-CN" altLang="en-US" dirty="0">
                <a:latin typeface="Consolas" panose="020B0609020204030204" pitchFamily="49" charset="0"/>
                <a:ea typeface="黑体" panose="02010609060101010101" pitchFamily="49" charset="-122"/>
              </a:rPr>
              <a:t>//</a:t>
            </a:r>
            <a:r>
              <a:rPr lang="zh-CN" altLang="en-US" dirty="0">
                <a:solidFill>
                  <a:schemeClr val="accent2"/>
                </a:solidFill>
                <a:latin typeface="Consolas" panose="020B0609020204030204" pitchFamily="49" charset="0"/>
                <a:ea typeface="黑体" panose="02010609060101010101" pitchFamily="49" charset="-122"/>
              </a:rPr>
              <a:t>错误！</a:t>
            </a:r>
            <a:r>
              <a:rPr lang="zh-CN" altLang="en-US" dirty="0">
                <a:latin typeface="Consolas" panose="020B0609020204030204" pitchFamily="49" charset="0"/>
                <a:ea typeface="黑体" panose="02010609060101010101" pitchFamily="49" charset="-122"/>
              </a:rPr>
              <a:t>应调用具体某个对象的成员，而不是类	 </a:t>
            </a:r>
            <a:endParaRPr lang="zh-CN" altLang="en-US" dirty="0">
              <a:latin typeface="Consolas" panose="020B0609020204030204" pitchFamily="49"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32769"/>
          <p:cNvSpPr>
            <a:spLocks noGrp="1" noChangeArrowheads="1"/>
          </p:cNvSpPr>
          <p:nvPr>
            <p:ph type="title"/>
          </p:nvPr>
        </p:nvSpPr>
        <p:spPr>
          <a:xfrm>
            <a:off x="432000" y="432000"/>
            <a:ext cx="8230387" cy="899650"/>
          </a:xfrm>
        </p:spPr>
        <p:txBody>
          <a:bodyPr/>
          <a:lstStyle/>
          <a:p>
            <a:r>
              <a:rPr lang="zh-CN" altLang="en-US"/>
              <a:t>用指针调用成员函数</a:t>
            </a:r>
            <a:endParaRPr lang="zh-CN" altLang="en-US"/>
          </a:p>
        </p:txBody>
      </p:sp>
      <p:sp>
        <p:nvSpPr>
          <p:cNvPr id="28675" name="文本占位符 32770"/>
          <p:cNvSpPr>
            <a:spLocks noGrp="1" noChangeArrowheads="1"/>
          </p:cNvSpPr>
          <p:nvPr>
            <p:ph idx="1"/>
          </p:nvPr>
        </p:nvSpPr>
        <p:spPr/>
        <p:txBody>
          <a:bodyPr/>
          <a:lstStyle/>
          <a:p>
            <a:r>
              <a:rPr lang="zh-CN" altLang="en-US"/>
              <a:t>对象可以用指针来引导</a:t>
            </a:r>
            <a:endParaRPr lang="zh-CN" altLang="en-US"/>
          </a:p>
        </p:txBody>
      </p:sp>
      <p:sp>
        <p:nvSpPr>
          <p:cNvPr id="28676" name="内容占位符 2"/>
          <p:cNvSpPr txBox="1">
            <a:spLocks noChangeArrowheads="1"/>
          </p:cNvSpPr>
          <p:nvPr/>
        </p:nvSpPr>
        <p:spPr bwMode="auto">
          <a:xfrm>
            <a:off x="396875" y="2062163"/>
            <a:ext cx="8496300" cy="3744912"/>
          </a:xfrm>
          <a:prstGeom prst="rect">
            <a:avLst/>
          </a:prstGeom>
          <a:solidFill>
            <a:schemeClr val="bg2"/>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#include "Clock.h"</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void func(Clock * ps){</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	</a:t>
            </a:r>
            <a:r>
              <a:rPr lang="zh-CN" altLang="en-US" sz="1700">
                <a:solidFill>
                  <a:schemeClr val="accent2"/>
                </a:solidFill>
                <a:latin typeface="Consolas" panose="020B0609020204030204" pitchFamily="49" charset="0"/>
                <a:ea typeface="黑体" panose="02010609060101010101" pitchFamily="49" charset="-122"/>
              </a:rPr>
              <a:t>ps -&gt;showTime(); </a:t>
            </a:r>
            <a:r>
              <a:rPr lang="zh-CN" altLang="en-US" sz="1700">
                <a:latin typeface="Consolas" panose="020B0609020204030204" pitchFamily="49" charset="0"/>
                <a:ea typeface="黑体" panose="02010609060101010101" pitchFamily="49" charset="-122"/>
              </a:rPr>
              <a:t>	 </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endParaRPr lang="en-US" altLang="zh-CN"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void main(){</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	Clock myClock; //声明一个对象，属于Clock类</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	func(&amp;myClock);//将对象的地址传递给函数的参数</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a:t>
            </a:r>
            <a:endParaRPr lang="en-US" altLang="zh-CN" sz="1700">
              <a:latin typeface="Consolas" panose="020B0609020204030204" pitchFamily="49" charset="0"/>
              <a:ea typeface="黑体" panose="02010609060101010101"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34817"/>
          <p:cNvSpPr>
            <a:spLocks noGrp="1" noChangeArrowheads="1"/>
          </p:cNvSpPr>
          <p:nvPr>
            <p:ph type="title"/>
          </p:nvPr>
        </p:nvSpPr>
        <p:spPr>
          <a:xfrm>
            <a:off x="432000" y="432000"/>
            <a:ext cx="8230387" cy="899650"/>
          </a:xfrm>
        </p:spPr>
        <p:txBody>
          <a:bodyPr/>
          <a:lstStyle/>
          <a:p>
            <a:r>
              <a:rPr lang="zh-CN" altLang="en-US"/>
              <a:t>用引用传递来访问成员函数</a:t>
            </a:r>
            <a:endParaRPr lang="zh-CN" altLang="en-US"/>
          </a:p>
        </p:txBody>
      </p:sp>
      <p:sp>
        <p:nvSpPr>
          <p:cNvPr id="29699" name="文本占位符 34818"/>
          <p:cNvSpPr>
            <a:spLocks noGrp="1" noChangeArrowheads="1"/>
          </p:cNvSpPr>
          <p:nvPr>
            <p:ph idx="1"/>
          </p:nvPr>
        </p:nvSpPr>
        <p:spPr/>
        <p:txBody>
          <a:bodyPr/>
          <a:lstStyle/>
          <a:p>
            <a:r>
              <a:rPr lang="zh-CN" altLang="en-US"/>
              <a:t>采用对象的引用来调用成员函数，形式和使用对象来调用一致。</a:t>
            </a:r>
            <a:endParaRPr lang="zh-CN" altLang="en-US"/>
          </a:p>
        </p:txBody>
      </p:sp>
      <p:sp>
        <p:nvSpPr>
          <p:cNvPr id="29700" name="内容占位符 2"/>
          <p:cNvSpPr txBox="1">
            <a:spLocks noChangeArrowheads="1"/>
          </p:cNvSpPr>
          <p:nvPr/>
        </p:nvSpPr>
        <p:spPr bwMode="auto">
          <a:xfrm>
            <a:off x="396875" y="2420938"/>
            <a:ext cx="8496300" cy="3744912"/>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#include "Clock.h"</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void func(</a:t>
            </a:r>
            <a:r>
              <a:rPr lang="zh-CN" altLang="en-US" sz="1700">
                <a:solidFill>
                  <a:srgbClr val="FF0000"/>
                </a:solidFill>
                <a:latin typeface="Consolas" panose="020B0609020204030204" pitchFamily="49" charset="0"/>
                <a:ea typeface="黑体" panose="02010609060101010101" pitchFamily="49" charset="-122"/>
              </a:rPr>
              <a:t>Clock&amp; </a:t>
            </a:r>
            <a:r>
              <a:rPr lang="zh-CN" altLang="en-US" sz="1700">
                <a:latin typeface="Consolas" panose="020B0609020204030204" pitchFamily="49" charset="0"/>
                <a:ea typeface="黑体" panose="02010609060101010101" pitchFamily="49" charset="-122"/>
              </a:rPr>
              <a:t>refsClock){</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	</a:t>
            </a:r>
            <a:r>
              <a:rPr lang="zh-CN" altLang="en-US" sz="1700">
                <a:solidFill>
                  <a:schemeClr val="accent2"/>
                </a:solidFill>
                <a:latin typeface="Consolas" panose="020B0609020204030204" pitchFamily="49" charset="0"/>
                <a:ea typeface="黑体" panose="02010609060101010101" pitchFamily="49" charset="-122"/>
              </a:rPr>
              <a:t>refsClock.showTime(); </a:t>
            </a:r>
            <a:r>
              <a:rPr lang="zh-CN" altLang="en-US" sz="1700">
                <a:latin typeface="Consolas" panose="020B0609020204030204" pitchFamily="49" charset="0"/>
                <a:ea typeface="黑体" panose="02010609060101010101" pitchFamily="49" charset="-122"/>
              </a:rPr>
              <a:t>	 </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endParaRPr lang="en-US" altLang="zh-CN"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void main(){</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	Clock myClock; //声明一个对象，属于Clock类</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	func(myClock);//相当于 对</a:t>
            </a:r>
            <a:r>
              <a:rPr lang="en-US" altLang="zh-CN" sz="1700">
                <a:latin typeface="Consolas" panose="020B0609020204030204" pitchFamily="49" charset="0"/>
                <a:ea typeface="黑体" panose="02010609060101010101" pitchFamily="49" charset="-122"/>
              </a:rPr>
              <a:t>myClock</a:t>
            </a:r>
            <a:r>
              <a:rPr lang="zh-CN" altLang="en-US" sz="1700">
                <a:latin typeface="Consolas" panose="020B0609020204030204" pitchFamily="49" charset="0"/>
                <a:ea typeface="黑体" panose="02010609060101010101" pitchFamily="49" charset="-122"/>
              </a:rPr>
              <a:t>的对象起了别名</a:t>
            </a:r>
            <a:r>
              <a:rPr lang="en-US" altLang="zh-CN" sz="1700">
                <a:latin typeface="Consolas" panose="020B0609020204030204" pitchFamily="49" charset="0"/>
                <a:ea typeface="黑体" panose="02010609060101010101" pitchFamily="49" charset="-122"/>
              </a:rPr>
              <a:t>refsClock</a:t>
            </a:r>
            <a:r>
              <a:rPr lang="zh-CN" altLang="en-US" sz="1700">
                <a:latin typeface="Consolas" panose="020B0609020204030204" pitchFamily="49" charset="0"/>
                <a:ea typeface="黑体" panose="02010609060101010101" pitchFamily="49" charset="-122"/>
              </a:rPr>
              <a:t>，传到函数内部</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700">
                <a:latin typeface="Consolas" panose="020B0609020204030204" pitchFamily="49" charset="0"/>
                <a:ea typeface="黑体" panose="02010609060101010101" pitchFamily="49" charset="-122"/>
              </a:rPr>
              <a:t>}</a:t>
            </a:r>
            <a:endParaRPr lang="en-US" altLang="zh-CN" sz="1700">
              <a:latin typeface="Consolas" panose="020B0609020204030204" pitchFamily="49" charset="0"/>
              <a:ea typeface="黑体"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33793"/>
          <p:cNvSpPr>
            <a:spLocks noGrp="1" noChangeArrowheads="1"/>
          </p:cNvSpPr>
          <p:nvPr>
            <p:ph type="title"/>
          </p:nvPr>
        </p:nvSpPr>
        <p:spPr>
          <a:xfrm>
            <a:off x="948115" y="695687"/>
            <a:ext cx="7772400" cy="947192"/>
          </a:xfrm>
        </p:spPr>
        <p:txBody>
          <a:bodyPr/>
          <a:lstStyle/>
          <a:p>
            <a:r>
              <a:rPr lang="zh-CN" altLang="en-US" dirty="0"/>
              <a:t>隐含形参：</a:t>
            </a:r>
            <a:r>
              <a:rPr lang="en-US" altLang="zh-CN" dirty="0">
                <a:solidFill>
                  <a:srgbClr val="C00000"/>
                </a:solidFill>
              </a:rPr>
              <a:t>this</a:t>
            </a:r>
            <a:r>
              <a:rPr lang="zh-CN" altLang="en-US" dirty="0">
                <a:solidFill>
                  <a:srgbClr val="002060"/>
                </a:solidFill>
              </a:rPr>
              <a:t>指针</a:t>
            </a:r>
            <a:r>
              <a:rPr lang="en-US" altLang="zh-CN" dirty="0">
                <a:solidFill>
                  <a:srgbClr val="002060"/>
                </a:solidFill>
              </a:rPr>
              <a:t>/</a:t>
            </a:r>
            <a:r>
              <a:rPr lang="zh-CN" altLang="en-US" dirty="0">
                <a:solidFill>
                  <a:srgbClr val="002060"/>
                </a:solidFill>
                <a:highlight>
                  <a:srgbClr val="FFFF00"/>
                </a:highlight>
              </a:rPr>
              <a:t>地址</a:t>
            </a:r>
            <a:endParaRPr lang="zh-CN" altLang="en-US" dirty="0">
              <a:solidFill>
                <a:srgbClr val="002060"/>
              </a:solidFill>
              <a:highlight>
                <a:srgbClr val="FFFF00"/>
              </a:highlight>
            </a:endParaRPr>
          </a:p>
        </p:txBody>
      </p:sp>
      <p:sp>
        <p:nvSpPr>
          <p:cNvPr id="56323" name="文本占位符 33794"/>
          <p:cNvSpPr>
            <a:spLocks noGrp="1" noChangeArrowheads="1"/>
          </p:cNvSpPr>
          <p:nvPr>
            <p:ph idx="1"/>
          </p:nvPr>
        </p:nvSpPr>
        <p:spPr>
          <a:xfrm>
            <a:off x="662994" y="1642879"/>
            <a:ext cx="7818012" cy="4176464"/>
          </a:xfrm>
        </p:spPr>
        <p:txBody>
          <a:bodyPr/>
          <a:lstStyle/>
          <a:p>
            <a:pPr>
              <a:lnSpc>
                <a:spcPct val="120000"/>
              </a:lnSpc>
            </a:pPr>
            <a:r>
              <a:rPr lang="zh-CN" altLang="en-US" sz="2400" dirty="0"/>
              <a:t>假设一个</a:t>
            </a:r>
            <a:r>
              <a:rPr lang="en-US" altLang="zh-CN" sz="2400" dirty="0"/>
              <a:t>Clock</a:t>
            </a:r>
            <a:r>
              <a:rPr lang="zh-CN" altLang="en-US" sz="2400" dirty="0"/>
              <a:t>类的对象</a:t>
            </a:r>
            <a:r>
              <a:rPr lang="en-US" altLang="zh-CN" sz="2400" dirty="0" err="1">
                <a:solidFill>
                  <a:srgbClr val="0070C0"/>
                </a:solidFill>
              </a:rPr>
              <a:t>myClock</a:t>
            </a:r>
            <a:r>
              <a:rPr lang="zh-CN" altLang="en-US" sz="2400" dirty="0"/>
              <a:t>，在执行</a:t>
            </a:r>
            <a:r>
              <a:rPr lang="en-US" altLang="zh-CN" sz="2400" dirty="0" err="1">
                <a:solidFill>
                  <a:srgbClr val="0070C0"/>
                </a:solidFill>
              </a:rPr>
              <a:t>myClock</a:t>
            </a:r>
            <a:r>
              <a:rPr lang="en-US" altLang="zh-CN" sz="2400" dirty="0" err="1"/>
              <a:t>.showTime</a:t>
            </a:r>
            <a:r>
              <a:rPr lang="en-US" altLang="zh-CN" sz="2400" dirty="0"/>
              <a:t>()</a:t>
            </a:r>
            <a:r>
              <a:rPr lang="zh-CN" altLang="en-US" sz="2400" dirty="0"/>
              <a:t>时，成员函数实际接收到了该</a:t>
            </a:r>
            <a:r>
              <a:rPr lang="zh-CN" altLang="en-US" sz="2400" dirty="0">
                <a:solidFill>
                  <a:srgbClr val="C00000"/>
                </a:solidFill>
              </a:rPr>
              <a:t>对象的地址</a:t>
            </a:r>
            <a:r>
              <a:rPr lang="zh-CN" altLang="en-US" sz="2400" dirty="0"/>
              <a:t>，并将这个地址赋值给</a:t>
            </a:r>
            <a:r>
              <a:rPr lang="zh-CN" altLang="en-US" sz="2400" dirty="0">
                <a:solidFill>
                  <a:srgbClr val="002060"/>
                </a:solidFill>
              </a:rPr>
              <a:t>隐含形参 </a:t>
            </a:r>
            <a:r>
              <a:rPr lang="en-US" altLang="zh-CN" sz="2400" dirty="0">
                <a:solidFill>
                  <a:srgbClr val="002060"/>
                </a:solidFill>
              </a:rPr>
              <a:t>this</a:t>
            </a:r>
            <a:r>
              <a:rPr lang="zh-CN" altLang="en-US" sz="2400" dirty="0"/>
              <a:t>。所有对成员的访问都隐含地加上了前缀 </a:t>
            </a:r>
            <a:r>
              <a:rPr lang="en-US" altLang="zh-CN" sz="2400" dirty="0">
                <a:solidFill>
                  <a:srgbClr val="C00000"/>
                </a:solidFill>
              </a:rPr>
              <a:t>this-&gt;</a:t>
            </a:r>
            <a:endParaRPr lang="en-US" altLang="zh-CN" sz="2400" dirty="0">
              <a:solidFill>
                <a:srgbClr val="C00000"/>
              </a:solidFill>
            </a:endParaRPr>
          </a:p>
          <a:p>
            <a:endParaRPr lang="en-US" altLang="zh-CN" dirty="0"/>
          </a:p>
        </p:txBody>
      </p:sp>
      <p:pic>
        <p:nvPicPr>
          <p:cNvPr id="2" name="图片 1"/>
          <p:cNvPicPr>
            <a:picLocks noChangeAspect="1"/>
          </p:cNvPicPr>
          <p:nvPr/>
        </p:nvPicPr>
        <p:blipFill>
          <a:blip r:embed="rId1"/>
          <a:stretch>
            <a:fillRect/>
          </a:stretch>
        </p:blipFill>
        <p:spPr>
          <a:xfrm>
            <a:off x="1043608" y="3706952"/>
            <a:ext cx="7581414" cy="1368152"/>
          </a:xfrm>
          <a:prstGeom prst="roundRect">
            <a:avLst>
              <a:gd name="adj" fmla="val 6251"/>
            </a:avLst>
          </a:prstGeom>
          <a:solidFill>
            <a:srgbClr val="FFFFFF">
              <a:shade val="85000"/>
            </a:srgbClr>
          </a:solidFill>
          <a:ln>
            <a:noFill/>
          </a:ln>
          <a:effectLst/>
        </p:spPr>
      </p:pic>
      <p:sp>
        <p:nvSpPr>
          <p:cNvPr id="5" name="文本框 4"/>
          <p:cNvSpPr txBox="1"/>
          <p:nvPr/>
        </p:nvSpPr>
        <p:spPr>
          <a:xfrm>
            <a:off x="4617612" y="5180878"/>
            <a:ext cx="4007410" cy="707886"/>
          </a:xfrm>
          <a:prstGeom prst="rect">
            <a:avLst/>
          </a:prstGeom>
          <a:solidFill>
            <a:schemeClr val="bg1"/>
          </a:solidFill>
          <a:ln>
            <a:solidFill>
              <a:srgbClr val="002060"/>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rPr>
              <a:t>this </a:t>
            </a:r>
            <a:r>
              <a:rPr kumimoji="0" lang="zh-CN" altLang="en-US"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rPr>
              <a:t>指针的重要用途之一：解决形参与成员数据项的</a:t>
            </a:r>
            <a:r>
              <a:rPr kumimoji="0" lang="zh-CN" altLang="en-US" sz="2000" b="0" i="0" u="none" strike="noStrike" kern="1200" cap="none" spc="0" normalizeH="0" baseline="0" noProof="0" dirty="0">
                <a:ln>
                  <a:noFill/>
                </a:ln>
                <a:solidFill>
                  <a:srgbClr val="C00000"/>
                </a:solidFill>
                <a:effectLst/>
                <a:uLnTx/>
                <a:uFillTx/>
                <a:latin typeface="Times New Roman" panose="02020503050405090304" pitchFamily="18" charset="0"/>
                <a:ea typeface="隶书" panose="02010509060101010101" pitchFamily="49" charset="-122"/>
                <a:cs typeface="+mn-cs"/>
              </a:rPr>
              <a:t>同名问题</a:t>
            </a:r>
            <a:endParaRPr kumimoji="0" lang="zh-CN" altLang="en-US" sz="2000" b="0" i="0" u="none" strike="noStrike" kern="1200" cap="none" spc="0" normalizeH="0" baseline="0" noProof="0" dirty="0">
              <a:ln>
                <a:noFill/>
              </a:ln>
              <a:solidFill>
                <a:srgbClr val="C00000"/>
              </a:solidFill>
              <a:effectLst/>
              <a:uLnTx/>
              <a:uFillTx/>
              <a:latin typeface="Times New Roman" panose="02020503050405090304" pitchFamily="18" charset="0"/>
              <a:ea typeface="隶书" panose="02010509060101010101" pitchFamily="49" charset="-122"/>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35841"/>
          <p:cNvSpPr>
            <a:spLocks noGrp="1" noChangeArrowheads="1"/>
          </p:cNvSpPr>
          <p:nvPr>
            <p:ph type="title"/>
          </p:nvPr>
        </p:nvSpPr>
        <p:spPr>
          <a:xfrm>
            <a:off x="432000" y="432000"/>
            <a:ext cx="8230387" cy="899650"/>
          </a:xfrm>
        </p:spPr>
        <p:txBody>
          <a:bodyPr/>
          <a:lstStyle/>
          <a:p>
            <a:r>
              <a:rPr lang="zh-CN" altLang="en-US" dirty="0"/>
              <a:t>在成员函数中访问成员</a:t>
            </a:r>
            <a:endParaRPr lang="zh-CN" altLang="en-US" dirty="0"/>
          </a:p>
        </p:txBody>
      </p:sp>
      <p:sp>
        <p:nvSpPr>
          <p:cNvPr id="31747" name="文本占位符 35842"/>
          <p:cNvSpPr>
            <a:spLocks noGrp="1" noChangeArrowheads="1"/>
          </p:cNvSpPr>
          <p:nvPr>
            <p:ph idx="1"/>
          </p:nvPr>
        </p:nvSpPr>
        <p:spPr/>
        <p:txBody>
          <a:bodyPr/>
          <a:lstStyle/>
          <a:p>
            <a:r>
              <a:rPr lang="zh-CN" altLang="en-US" dirty="0"/>
              <a:t>在成员函数中，可以访问数据成员或其他成员函数</a:t>
            </a:r>
            <a:endParaRPr lang="zh-CN" altLang="en-US" dirty="0"/>
          </a:p>
          <a:p>
            <a:endParaRPr lang="zh-CN" altLang="en-US" dirty="0"/>
          </a:p>
        </p:txBody>
      </p:sp>
      <p:sp>
        <p:nvSpPr>
          <p:cNvPr id="31748" name="内容占位符 2"/>
          <p:cNvSpPr txBox="1">
            <a:spLocks noChangeArrowheads="1"/>
          </p:cNvSpPr>
          <p:nvPr/>
        </p:nvSpPr>
        <p:spPr bwMode="auto">
          <a:xfrm>
            <a:off x="432000" y="2324150"/>
            <a:ext cx="8496300" cy="410185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marL="365125" indent="-255905"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90303" pitchFamily="18" charset="0"/>
              <a:buNone/>
            </a:pPr>
            <a:r>
              <a:rPr lang="en-US" altLang="zh-CN" sz="1400" dirty="0">
                <a:latin typeface="Consolas" panose="020B0609020204030204" pitchFamily="49" charset="0"/>
                <a:ea typeface="黑体" panose="02010609060101010101" pitchFamily="49" charset="-122"/>
              </a:rPr>
              <a:t>class Clock{</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1400" dirty="0">
                <a:latin typeface="Consolas" panose="020B0609020204030204" pitchFamily="49" charset="0"/>
                <a:ea typeface="黑体" panose="02010609060101010101" pitchFamily="49" charset="-122"/>
              </a:rPr>
              <a:t>public:		</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400" dirty="0">
                <a:latin typeface="Consolas" panose="020B0609020204030204" pitchFamily="49" charset="0"/>
                <a:ea typeface="黑体" panose="02010609060101010101" pitchFamily="49" charset="-122"/>
              </a:rPr>
              <a:t>	</a:t>
            </a:r>
            <a:r>
              <a:rPr lang="en-US" altLang="zh-CN" sz="1400" dirty="0">
                <a:latin typeface="Consolas" panose="020B0609020204030204" pitchFamily="49" charset="0"/>
                <a:ea typeface="黑体" panose="02010609060101010101" pitchFamily="49" charset="-122"/>
              </a:rPr>
              <a:t>void </a:t>
            </a:r>
            <a:r>
              <a:rPr lang="en-US" altLang="zh-CN" sz="1400" dirty="0" err="1">
                <a:latin typeface="Consolas" panose="020B0609020204030204" pitchFamily="49" charset="0"/>
                <a:ea typeface="黑体" panose="02010609060101010101" pitchFamily="49" charset="-122"/>
              </a:rPr>
              <a:t>setTime</a:t>
            </a:r>
            <a:r>
              <a:rPr lang="en-US" altLang="zh-CN" sz="1400" dirty="0">
                <a:latin typeface="Consolas" panose="020B0609020204030204" pitchFamily="49" charset="0"/>
                <a:ea typeface="黑体" panose="02010609060101010101" pitchFamily="49" charset="-122"/>
              </a:rPr>
              <a:t>(int </a:t>
            </a:r>
            <a:r>
              <a:rPr lang="en-US" altLang="zh-CN" sz="1400" dirty="0" err="1">
                <a:latin typeface="Consolas" panose="020B0609020204030204" pitchFamily="49" charset="0"/>
                <a:ea typeface="黑体" panose="02010609060101010101" pitchFamily="49" charset="-122"/>
              </a:rPr>
              <a:t>newH</a:t>
            </a:r>
            <a:r>
              <a:rPr lang="en-US" altLang="zh-CN" sz="1400" dirty="0">
                <a:latin typeface="Consolas" panose="020B0609020204030204" pitchFamily="49" charset="0"/>
                <a:ea typeface="黑体" panose="02010609060101010101" pitchFamily="49" charset="-122"/>
              </a:rPr>
              <a:t> = 0, int </a:t>
            </a:r>
            <a:r>
              <a:rPr lang="en-US" altLang="zh-CN" sz="1400" dirty="0" err="1">
                <a:latin typeface="Consolas" panose="020B0609020204030204" pitchFamily="49" charset="0"/>
                <a:ea typeface="黑体" panose="02010609060101010101" pitchFamily="49" charset="-122"/>
              </a:rPr>
              <a:t>newM</a:t>
            </a:r>
            <a:r>
              <a:rPr lang="en-US" altLang="zh-CN" sz="1400" dirty="0">
                <a:latin typeface="Consolas" panose="020B0609020204030204" pitchFamily="49" charset="0"/>
                <a:ea typeface="黑体" panose="02010609060101010101" pitchFamily="49" charset="-122"/>
              </a:rPr>
              <a:t> = 0, int </a:t>
            </a:r>
            <a:r>
              <a:rPr lang="en-US" altLang="zh-CN" sz="1400" dirty="0" err="1">
                <a:latin typeface="Consolas" panose="020B0609020204030204" pitchFamily="49" charset="0"/>
                <a:ea typeface="黑体" panose="02010609060101010101" pitchFamily="49" charset="-122"/>
              </a:rPr>
              <a:t>newS</a:t>
            </a:r>
            <a:r>
              <a:rPr lang="en-US" altLang="zh-CN" sz="1400" dirty="0">
                <a:latin typeface="Consolas" panose="020B0609020204030204" pitchFamily="49" charset="0"/>
                <a:ea typeface="黑体" panose="02010609060101010101" pitchFamily="49" charset="-122"/>
              </a:rPr>
              <a:t> = 0)</a:t>
            </a:r>
            <a:r>
              <a:rPr lang="zh-CN" altLang="en-US" sz="1400" dirty="0">
                <a:latin typeface="Consolas" panose="020B0609020204030204" pitchFamily="49" charset="0"/>
                <a:ea typeface="黑体" panose="02010609060101010101" pitchFamily="49" charset="-122"/>
              </a:rPr>
              <a:t>{</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400" dirty="0">
                <a:latin typeface="Consolas" panose="020B0609020204030204" pitchFamily="49" charset="0"/>
                <a:ea typeface="黑体" panose="02010609060101010101" pitchFamily="49" charset="-122"/>
              </a:rPr>
              <a:t>		hour=newH;</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400" dirty="0">
                <a:latin typeface="Consolas" panose="020B0609020204030204" pitchFamily="49" charset="0"/>
                <a:ea typeface="黑体" panose="02010609060101010101" pitchFamily="49" charset="-122"/>
              </a:rPr>
              <a:t>		minute=newM;</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400" dirty="0">
                <a:latin typeface="Consolas" panose="020B0609020204030204" pitchFamily="49" charset="0"/>
                <a:ea typeface="黑体" panose="02010609060101010101" pitchFamily="49" charset="-122"/>
              </a:rPr>
              <a:t>		second=newS;</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400" dirty="0">
                <a:latin typeface="Consolas" panose="020B0609020204030204" pitchFamily="49" charset="0"/>
                <a:ea typeface="黑体" panose="02010609060101010101" pitchFamily="49" charset="-122"/>
              </a:rPr>
              <a:t>	}</a:t>
            </a:r>
            <a:endParaRPr lang="en-US" altLang="zh-CN"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1400" dirty="0">
                <a:latin typeface="Consolas" panose="020B0609020204030204" pitchFamily="49" charset="0"/>
                <a:ea typeface="黑体" panose="02010609060101010101" pitchFamily="49" charset="-122"/>
              </a:rPr>
              <a:t>	void </a:t>
            </a:r>
            <a:r>
              <a:rPr lang="en-US" altLang="zh-CN" sz="1400" dirty="0" err="1">
                <a:latin typeface="Consolas" panose="020B0609020204030204" pitchFamily="49" charset="0"/>
                <a:ea typeface="黑体" panose="02010609060101010101" pitchFamily="49" charset="-122"/>
              </a:rPr>
              <a:t>showTime</a:t>
            </a:r>
            <a:r>
              <a:rPr lang="en-US" altLang="zh-CN" sz="1400" dirty="0">
                <a:latin typeface="Consolas" panose="020B0609020204030204" pitchFamily="49" charset="0"/>
                <a:ea typeface="黑体" panose="02010609060101010101" pitchFamily="49" charset="-122"/>
              </a:rPr>
              <a:t>() { </a:t>
            </a:r>
            <a:endParaRPr lang="en-US" altLang="zh-CN"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400" dirty="0">
                <a:latin typeface="Consolas" panose="020B0609020204030204" pitchFamily="49" charset="0"/>
                <a:ea typeface="黑体" panose="02010609060101010101" pitchFamily="49" charset="-122"/>
              </a:rPr>
              <a:t>		</a:t>
            </a:r>
            <a:r>
              <a:rPr lang="en-US" altLang="zh-CN" sz="1400" dirty="0" err="1">
                <a:latin typeface="Consolas" panose="020B0609020204030204" pitchFamily="49" charset="0"/>
                <a:ea typeface="黑体" panose="02010609060101010101" pitchFamily="49" charset="-122"/>
              </a:rPr>
              <a:t>cout</a:t>
            </a:r>
            <a:r>
              <a:rPr lang="en-US" altLang="zh-CN" sz="1400" dirty="0">
                <a:latin typeface="Consolas" panose="020B0609020204030204" pitchFamily="49" charset="0"/>
                <a:ea typeface="黑体" panose="02010609060101010101" pitchFamily="49" charset="-122"/>
              </a:rPr>
              <a:t> &lt;&lt; hour &lt;&lt; ":" &lt;&lt; minute &lt;&lt; ":" &lt;&lt; second; </a:t>
            </a:r>
            <a:endParaRPr lang="en-US" altLang="zh-CN"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400" dirty="0">
                <a:latin typeface="Consolas" panose="020B0609020204030204" pitchFamily="49" charset="0"/>
                <a:ea typeface="黑体" panose="02010609060101010101" pitchFamily="49" charset="-122"/>
              </a:rPr>
              <a:t>	</a:t>
            </a:r>
            <a:r>
              <a:rPr lang="en-US" altLang="zh-CN" sz="1400" dirty="0">
                <a:latin typeface="Consolas" panose="020B0609020204030204" pitchFamily="49" charset="0"/>
                <a:ea typeface="黑体" panose="02010609060101010101" pitchFamily="49" charset="-122"/>
              </a:rPr>
              <a:t>}</a:t>
            </a:r>
            <a:endParaRPr lang="en-US" altLang="zh-CN"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1400" dirty="0">
                <a:latin typeface="Consolas" panose="020B0609020204030204" pitchFamily="49" charset="0"/>
                <a:ea typeface="黑体" panose="02010609060101010101" pitchFamily="49" charset="-122"/>
              </a:rPr>
              <a:t>private:	</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zh-CN" altLang="en-US" sz="1400" dirty="0">
                <a:latin typeface="Consolas" panose="020B0609020204030204" pitchFamily="49" charset="0"/>
                <a:ea typeface="黑体" panose="02010609060101010101" pitchFamily="49" charset="-122"/>
              </a:rPr>
              <a:t>	</a:t>
            </a:r>
            <a:r>
              <a:rPr lang="en-US" altLang="zh-CN" sz="1400" dirty="0">
                <a:latin typeface="Consolas" panose="020B0609020204030204" pitchFamily="49" charset="0"/>
                <a:ea typeface="黑体" panose="02010609060101010101" pitchFamily="49" charset="-122"/>
              </a:rPr>
              <a:t>int hour, minute, second;</a:t>
            </a:r>
            <a:endParaRPr lang="en-US" altLang="zh-CN"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1400" dirty="0">
                <a:latin typeface="Consolas" panose="020B0609020204030204" pitchFamily="49" charset="0"/>
                <a:ea typeface="黑体" panose="02010609060101010101" pitchFamily="49" charset="-122"/>
              </a:rPr>
              <a:t>}</a:t>
            </a:r>
            <a:endParaRPr lang="en-US" altLang="zh-CN" sz="1400" dirty="0">
              <a:latin typeface="Consolas" panose="020B0609020204030204" pitchFamily="49" charset="0"/>
              <a:ea typeface="黑体" panose="02010609060101010101" pitchFamily="49" charset="-122"/>
            </a:endParaRPr>
          </a:p>
          <a:p>
            <a:pPr lvl="1" eaLnBrk="1" hangingPunct="1">
              <a:lnSpc>
                <a:spcPct val="120000"/>
              </a:lnSpc>
              <a:spcBef>
                <a:spcPts val="325"/>
              </a:spcBef>
              <a:buClr>
                <a:srgbClr val="EB641B"/>
              </a:buClr>
              <a:buFont typeface="Georgia" panose="02040502050405090303" pitchFamily="18" charset="0"/>
              <a:buNone/>
            </a:pPr>
            <a:endParaRPr lang="en-US" altLang="zh-CN" sz="1700" dirty="0">
              <a:latin typeface="Consolas" panose="020B0609020204030204" pitchFamily="49" charset="0"/>
              <a:ea typeface="黑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30721"/>
          <p:cNvSpPr>
            <a:spLocks noGrp="1" noChangeArrowheads="1"/>
          </p:cNvSpPr>
          <p:nvPr>
            <p:ph type="title"/>
          </p:nvPr>
        </p:nvSpPr>
        <p:spPr>
          <a:xfrm>
            <a:off x="432000" y="432000"/>
            <a:ext cx="8230387" cy="899650"/>
          </a:xfrm>
        </p:spPr>
        <p:txBody>
          <a:bodyPr/>
          <a:lstStyle/>
          <a:p>
            <a:r>
              <a:rPr lang="zh-CN" altLang="en-US"/>
              <a:t>重载成员函数</a:t>
            </a:r>
            <a:endParaRPr lang="zh-CN" altLang="en-US"/>
          </a:p>
        </p:txBody>
      </p:sp>
      <p:sp>
        <p:nvSpPr>
          <p:cNvPr id="32771" name="文本占位符 30722"/>
          <p:cNvSpPr>
            <a:spLocks noGrp="1" noChangeArrowheads="1"/>
          </p:cNvSpPr>
          <p:nvPr>
            <p:ph idx="1"/>
          </p:nvPr>
        </p:nvSpPr>
        <p:spPr/>
        <p:txBody>
          <a:bodyPr/>
          <a:lstStyle/>
          <a:p>
            <a:r>
              <a:rPr lang="zh-CN" altLang="en-US" dirty="0"/>
              <a:t>函数名称相同，参数不同，称为函数重载</a:t>
            </a:r>
            <a:endParaRPr lang="zh-CN" altLang="en-US" dirty="0"/>
          </a:p>
          <a:p>
            <a:pPr lvl="1"/>
            <a:r>
              <a:rPr lang="zh-CN" altLang="en-US" dirty="0"/>
              <a:t>参数的类型、个数</a:t>
            </a:r>
            <a:endParaRPr lang="zh-CN" altLang="en-US" dirty="0"/>
          </a:p>
          <a:p>
            <a:pPr lvl="1"/>
            <a:r>
              <a:rPr lang="zh-CN" altLang="en-US" dirty="0"/>
              <a:t>上述有一个不同，就是参数不同</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lvl="1"/>
            <a:r>
              <a:rPr lang="zh-CN" altLang="en-US" dirty="0"/>
              <a:t>注意，一个类的成员函数与另一个类的成员函数同名，</a:t>
            </a:r>
            <a:r>
              <a:rPr lang="zh-CN" altLang="en-US" dirty="0">
                <a:solidFill>
                  <a:schemeClr val="accent2"/>
                </a:solidFill>
              </a:rPr>
              <a:t>不是</a:t>
            </a:r>
            <a:r>
              <a:rPr lang="zh-CN" altLang="en-US" dirty="0"/>
              <a:t>重载</a:t>
            </a:r>
            <a:endParaRPr lang="zh-CN" altLang="en-US" dirty="0"/>
          </a:p>
          <a:p>
            <a:pPr lvl="1"/>
            <a:endParaRPr lang="en-US" altLang="zh-CN" dirty="0"/>
          </a:p>
          <a:p>
            <a:endParaRPr lang="zh-CN" altLang="en-US" dirty="0"/>
          </a:p>
          <a:p>
            <a:endParaRPr lang="zh-CN" altLang="en-US" dirty="0"/>
          </a:p>
        </p:txBody>
      </p:sp>
      <p:sp>
        <p:nvSpPr>
          <p:cNvPr id="32772" name="内容占位符 2"/>
          <p:cNvSpPr>
            <a:spLocks noGrp="1" noChangeArrowheads="1"/>
          </p:cNvSpPr>
          <p:nvPr/>
        </p:nvSpPr>
        <p:spPr bwMode="auto">
          <a:xfrm>
            <a:off x="1301998" y="2922980"/>
            <a:ext cx="6290603" cy="252095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90303" pitchFamily="18" charset="0"/>
              <a:buNone/>
            </a:pPr>
            <a:r>
              <a:rPr lang="en-US" altLang="zh-CN" sz="2000" dirty="0">
                <a:latin typeface="Consolas" panose="020B0609020204030204" pitchFamily="49" charset="0"/>
                <a:ea typeface="黑体" panose="02010609060101010101" pitchFamily="49" charset="-122"/>
              </a:rPr>
              <a:t>class Clock{</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dirty="0">
                <a:latin typeface="Consolas" panose="020B0609020204030204" pitchFamily="49" charset="0"/>
                <a:ea typeface="黑体" panose="02010609060101010101" pitchFamily="49" charset="-122"/>
              </a:rPr>
              <a:t>public:		</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dirty="0">
                <a:latin typeface="Consolas" panose="020B0609020204030204" pitchFamily="49" charset="0"/>
                <a:ea typeface="黑体" panose="02010609060101010101" pitchFamily="49" charset="-122"/>
              </a:rPr>
              <a:t>	void </a:t>
            </a:r>
            <a:r>
              <a:rPr lang="en-US" altLang="zh-CN" sz="2000" dirty="0" err="1">
                <a:latin typeface="Consolas" panose="020B0609020204030204" pitchFamily="49" charset="0"/>
                <a:ea typeface="黑体" panose="02010609060101010101" pitchFamily="49" charset="-122"/>
              </a:rPr>
              <a:t>showTime</a:t>
            </a:r>
            <a:r>
              <a:rPr lang="en-US" altLang="zh-CN" sz="2000" dirty="0">
                <a:latin typeface="Consolas" panose="020B0609020204030204" pitchFamily="49" charset="0"/>
                <a:ea typeface="黑体" panose="02010609060101010101" pitchFamily="49" charset="-122"/>
              </a:rPr>
              <a:t>();</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dirty="0">
                <a:latin typeface="Consolas" panose="020B0609020204030204" pitchFamily="49" charset="0"/>
                <a:ea typeface="黑体" panose="02010609060101010101" pitchFamily="49" charset="-122"/>
              </a:rPr>
              <a:t>	void </a:t>
            </a:r>
            <a:r>
              <a:rPr lang="en-US" altLang="zh-CN" sz="2000" dirty="0" err="1">
                <a:latin typeface="Consolas" panose="020B0609020204030204" pitchFamily="49" charset="0"/>
                <a:ea typeface="黑体" panose="02010609060101010101" pitchFamily="49" charset="-122"/>
              </a:rPr>
              <a:t>showTime</a:t>
            </a:r>
            <a:r>
              <a:rPr lang="en-US" altLang="zh-CN" sz="2000" dirty="0">
                <a:latin typeface="Consolas" panose="020B0609020204030204" pitchFamily="49" charset="0"/>
                <a:ea typeface="黑体" panose="02010609060101010101" pitchFamily="49" charset="-122"/>
              </a:rPr>
              <a:t>(String format);</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dirty="0">
                <a:latin typeface="Consolas" panose="020B0609020204030204" pitchFamily="49" charset="0"/>
                <a:ea typeface="黑体" panose="02010609060101010101" pitchFamily="49" charset="-122"/>
              </a:rPr>
              <a:t>}</a:t>
            </a:r>
            <a:endParaRPr lang="en-US" altLang="zh-CN" sz="2000" dirty="0">
              <a:latin typeface="Consolas" panose="020B0609020204030204" pitchFamily="49" charset="0"/>
              <a:ea typeface="黑体" panose="020106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p:cNvSpPr>
            <a:spLocks noGrp="1" noChangeArrowheads="1"/>
          </p:cNvSpPr>
          <p:nvPr/>
        </p:nvSpPr>
        <p:spPr bwMode="auto">
          <a:xfrm>
            <a:off x="1526212" y="1535398"/>
            <a:ext cx="6337300" cy="424815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90303" pitchFamily="18" charset="0"/>
              <a:buNone/>
            </a:pPr>
            <a:r>
              <a:rPr lang="en-US" altLang="zh-CN" sz="2000">
                <a:latin typeface="Consolas" panose="020B0609020204030204" pitchFamily="49" charset="0"/>
                <a:ea typeface="黑体" panose="02010609060101010101" pitchFamily="49" charset="-122"/>
              </a:rPr>
              <a:t>class Clock{</a:t>
            </a:r>
            <a:endParaRPr lang="en-US" altLang="zh-CN" sz="20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a:latin typeface="Consolas" panose="020B0609020204030204" pitchFamily="49" charset="0"/>
                <a:ea typeface="黑体" panose="02010609060101010101" pitchFamily="49" charset="-122"/>
              </a:rPr>
              <a:t>public:		</a:t>
            </a:r>
            <a:endParaRPr lang="en-US" altLang="zh-CN" sz="20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a:latin typeface="Consolas" panose="020B0609020204030204" pitchFamily="49" charset="0"/>
                <a:ea typeface="黑体" panose="02010609060101010101" pitchFamily="49" charset="-122"/>
              </a:rPr>
              <a:t>	int calDiff(int h, int m, int s);</a:t>
            </a:r>
            <a:endParaRPr lang="en-US" altLang="zh-CN" sz="20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a:latin typeface="Consolas" panose="020B0609020204030204" pitchFamily="49" charset="0"/>
                <a:ea typeface="黑体" panose="02010609060101010101" pitchFamily="49" charset="-122"/>
              </a:rPr>
              <a:t>	int calDiff(Clock&amp; c);</a:t>
            </a:r>
            <a:endParaRPr lang="en-US" altLang="zh-CN" sz="20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a:latin typeface="Consolas" panose="020B0609020204030204" pitchFamily="49" charset="0"/>
                <a:ea typeface="黑体" panose="02010609060101010101" pitchFamily="49" charset="-122"/>
              </a:rPr>
              <a:t>private:</a:t>
            </a:r>
            <a:endParaRPr lang="en-US" altLang="zh-CN" sz="20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a:latin typeface="Consolas" panose="020B0609020204030204" pitchFamily="49" charset="0"/>
                <a:ea typeface="黑体" panose="02010609060101010101" pitchFamily="49" charset="-122"/>
              </a:rPr>
              <a:t>  int hour;</a:t>
            </a:r>
            <a:endParaRPr lang="en-US" altLang="zh-CN" sz="20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a:latin typeface="Consolas" panose="020B0609020204030204" pitchFamily="49" charset="0"/>
                <a:ea typeface="黑体" panose="02010609060101010101" pitchFamily="49" charset="-122"/>
              </a:rPr>
              <a:t>  int minute;</a:t>
            </a:r>
            <a:endParaRPr lang="en-US" altLang="zh-CN" sz="20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a:latin typeface="Consolas" panose="020B0609020204030204" pitchFamily="49" charset="0"/>
                <a:ea typeface="黑体" panose="02010609060101010101" pitchFamily="49" charset="-122"/>
              </a:rPr>
              <a:t>  int second;</a:t>
            </a:r>
            <a:endParaRPr lang="en-US" altLang="zh-CN" sz="20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90303" pitchFamily="18" charset="0"/>
              <a:buNone/>
            </a:pPr>
            <a:r>
              <a:rPr lang="en-US" altLang="zh-CN" sz="2000">
                <a:latin typeface="Consolas" panose="020B0609020204030204" pitchFamily="49" charset="0"/>
                <a:ea typeface="黑体" panose="02010609060101010101" pitchFamily="49" charset="-122"/>
              </a:rPr>
              <a:t>}</a:t>
            </a:r>
            <a:endParaRPr lang="en-US" altLang="zh-CN" sz="2000">
              <a:latin typeface="Consolas" panose="020B0609020204030204" pitchFamily="49" charset="0"/>
              <a:ea typeface="黑体" panose="02010609060101010101" pitchFamily="49" charset="-122"/>
            </a:endParaRPr>
          </a:p>
        </p:txBody>
      </p:sp>
      <p:sp>
        <p:nvSpPr>
          <p:cNvPr id="2" name="标题 1"/>
          <p:cNvSpPr>
            <a:spLocks noGrp="1"/>
          </p:cNvSpPr>
          <p:nvPr>
            <p:ph type="title"/>
          </p:nvPr>
        </p:nvSpPr>
        <p:spPr/>
        <p:txBody>
          <a:bodyPr>
            <a:normAutofit/>
          </a:bodyPr>
          <a:lstStyle/>
          <a:p>
            <a:r>
              <a:rPr lang="zh-CN" altLang="en-US" dirty="0"/>
              <a:t>思考：自己尝试实现下面两个函数</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zh-CN" altLang="en-US" b="1" dirty="0"/>
              <a:t>新特性：</a:t>
            </a:r>
            <a:r>
              <a:rPr lang="zh-CN" altLang="en-US" dirty="0"/>
              <a:t>函数重载、参数默认值和引用</a:t>
            </a:r>
            <a:endParaRPr lang="en-US" altLang="zh-CN" dirty="0"/>
          </a:p>
          <a:p>
            <a:r>
              <a:rPr lang="zh-CN" altLang="en-US" dirty="0"/>
              <a:t>面向对象的程序设计</a:t>
            </a:r>
            <a:endParaRPr lang="en-US" altLang="zh-CN" dirty="0"/>
          </a:p>
          <a:p>
            <a:r>
              <a:rPr lang="zh-CN" altLang="en-US" dirty="0"/>
              <a:t>基本概念</a:t>
            </a:r>
            <a:endParaRPr lang="en-US" altLang="zh-CN" dirty="0"/>
          </a:p>
          <a:p>
            <a:r>
              <a:rPr lang="zh-CN" altLang="en-US" dirty="0"/>
              <a:t>类与对象</a:t>
            </a:r>
            <a:endParaRPr lang="en-US" altLang="zh-CN" dirty="0"/>
          </a:p>
          <a:p>
            <a:r>
              <a:rPr lang="zh-CN" altLang="en-US" dirty="0"/>
              <a:t>成员函数</a:t>
            </a:r>
            <a:endParaRPr lang="en-US" altLang="zh-CN" dirty="0"/>
          </a:p>
          <a:p>
            <a:r>
              <a:rPr lang="zh-CN" altLang="en-US" dirty="0">
                <a:solidFill>
                  <a:srgbClr val="E6700E"/>
                </a:solidFill>
              </a:rPr>
              <a:t>保护成员</a:t>
            </a:r>
            <a:endParaRPr lang="en-US" altLang="zh-CN" dirty="0">
              <a:solidFill>
                <a:srgbClr val="E6700E"/>
              </a:solidFill>
            </a:endParaRPr>
          </a:p>
          <a:p>
            <a:r>
              <a:rPr lang="zh-CN" altLang="en-US" dirty="0"/>
              <a:t>构造函数</a:t>
            </a:r>
            <a:r>
              <a:rPr lang="en-US" altLang="zh-CN" dirty="0"/>
              <a:t>&amp;</a:t>
            </a:r>
            <a:r>
              <a:rPr lang="zh-CN" altLang="en-US" dirty="0"/>
              <a:t>析构函数</a:t>
            </a:r>
            <a:endParaRPr lang="en-US" altLang="zh-CN" dirty="0"/>
          </a:p>
        </p:txBody>
      </p:sp>
      <p:sp>
        <p:nvSpPr>
          <p:cNvPr id="2" name="Title 1"/>
          <p:cNvSpPr>
            <a:spLocks noGrp="1"/>
          </p:cNvSpPr>
          <p:nvPr>
            <p:ph type="title"/>
          </p:nvPr>
        </p:nvSpPr>
        <p:spPr/>
        <p:txBody>
          <a:bodyPr/>
          <a:lstStyle/>
          <a:p>
            <a:r>
              <a:rPr lang="zh-CN" altLang="en-US" dirty="0"/>
              <a:t>内容</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37889"/>
          <p:cNvSpPr>
            <a:spLocks noGrp="1" noChangeArrowheads="1"/>
          </p:cNvSpPr>
          <p:nvPr>
            <p:ph type="title"/>
          </p:nvPr>
        </p:nvSpPr>
        <p:spPr>
          <a:xfrm>
            <a:off x="457200" y="338138"/>
            <a:ext cx="8229600" cy="1143000"/>
          </a:xfrm>
        </p:spPr>
        <p:txBody>
          <a:bodyPr/>
          <a:lstStyle/>
          <a:p>
            <a:r>
              <a:rPr lang="zh-CN" altLang="en-US"/>
              <a:t>为何要保护成员（封装隐藏）</a:t>
            </a:r>
            <a:endParaRPr lang="zh-CN" altLang="en-US"/>
          </a:p>
        </p:txBody>
      </p:sp>
      <p:sp>
        <p:nvSpPr>
          <p:cNvPr id="35843" name="文本占位符 37890"/>
          <p:cNvSpPr>
            <a:spLocks noGrp="1" noChangeArrowheads="1"/>
          </p:cNvSpPr>
          <p:nvPr>
            <p:ph idx="1"/>
          </p:nvPr>
        </p:nvSpPr>
        <p:spPr>
          <a:xfrm>
            <a:off x="468313" y="1452563"/>
            <a:ext cx="8229600" cy="4525962"/>
          </a:xfrm>
        </p:spPr>
        <p:txBody>
          <a:bodyPr/>
          <a:lstStyle/>
          <a:p>
            <a:r>
              <a:rPr lang="zh-CN" altLang="en-US" dirty="0"/>
              <a:t>使得应用程序更加可靠和易于维护</a:t>
            </a:r>
            <a:endParaRPr lang="zh-CN" altLang="en-US" dirty="0"/>
          </a:p>
          <a:p>
            <a:pPr lvl="1"/>
            <a:r>
              <a:rPr lang="zh-CN" altLang="en-US" b="1" dirty="0"/>
              <a:t>保护</a:t>
            </a:r>
            <a:r>
              <a:rPr lang="zh-CN" altLang="en-US" dirty="0"/>
              <a:t>类的内部数据</a:t>
            </a:r>
            <a:r>
              <a:rPr lang="zh-CN" altLang="en-US" dirty="0">
                <a:solidFill>
                  <a:srgbClr val="C00000"/>
                </a:solidFill>
              </a:rPr>
              <a:t>不被</a:t>
            </a:r>
            <a:r>
              <a:rPr lang="zh-CN" altLang="en-US" dirty="0"/>
              <a:t>随意修改</a:t>
            </a:r>
            <a:endParaRPr lang="zh-CN" altLang="en-US" dirty="0"/>
          </a:p>
          <a:p>
            <a:pPr lvl="1"/>
            <a:r>
              <a:rPr lang="zh-CN" altLang="en-US" b="1" dirty="0"/>
              <a:t>限制</a:t>
            </a:r>
            <a:r>
              <a:rPr lang="zh-CN" altLang="en-US" dirty="0"/>
              <a:t>类与外部世界的</a:t>
            </a:r>
            <a:r>
              <a:rPr lang="zh-CN" altLang="en-US" dirty="0">
                <a:solidFill>
                  <a:srgbClr val="C00000"/>
                </a:solidFill>
              </a:rPr>
              <a:t>接口</a:t>
            </a:r>
            <a:endParaRPr lang="zh-CN" altLang="en-US" dirty="0">
              <a:solidFill>
                <a:srgbClr val="C00000"/>
              </a:solidFill>
            </a:endParaRPr>
          </a:p>
          <a:p>
            <a:pPr lvl="1"/>
            <a:r>
              <a:rPr lang="zh-CN" altLang="en-US" b="1" dirty="0"/>
              <a:t>减少</a:t>
            </a:r>
            <a:r>
              <a:rPr lang="zh-CN" altLang="en-US" dirty="0"/>
              <a:t>类与其他代码的</a:t>
            </a:r>
            <a:r>
              <a:rPr lang="zh-CN" altLang="en-US" dirty="0">
                <a:solidFill>
                  <a:srgbClr val="C00000"/>
                </a:solidFill>
              </a:rPr>
              <a:t>关联程度</a:t>
            </a:r>
            <a:endParaRPr lang="zh-CN" altLang="en-US" dirty="0">
              <a:solidFill>
                <a:srgbClr val="C00000"/>
              </a:solidFill>
            </a:endParaRPr>
          </a:p>
          <a:p>
            <a:pPr lvl="1"/>
            <a:r>
              <a:rPr lang="zh-CN" altLang="en-US" dirty="0"/>
              <a:t>当类的内部实现修改时，只要接口不变，外部调用它的程序不用改动</a:t>
            </a:r>
            <a:endParaRPr lang="zh-CN" altLang="en-US" dirty="0"/>
          </a:p>
        </p:txBody>
      </p:sp>
      <p:sp>
        <p:nvSpPr>
          <p:cNvPr id="35844" name="TextBox 1"/>
          <p:cNvSpPr txBox="1">
            <a:spLocks noChangeArrowheads="1"/>
          </p:cNvSpPr>
          <p:nvPr/>
        </p:nvSpPr>
        <p:spPr bwMode="auto">
          <a:xfrm>
            <a:off x="1187450" y="4724400"/>
            <a:ext cx="4802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zh-CN" altLang="en-US"/>
              <a:t>难被改、重隐私、低耦合、易升级</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文本占位符 38913"/>
          <p:cNvSpPr>
            <a:spLocks noGrp="1" noChangeArrowheads="1"/>
          </p:cNvSpPr>
          <p:nvPr>
            <p:ph idx="1"/>
          </p:nvPr>
        </p:nvSpPr>
        <p:spPr>
          <a:xfrm>
            <a:off x="323850" y="477838"/>
            <a:ext cx="8229600" cy="4525962"/>
          </a:xfrm>
        </p:spPr>
        <p:txBody>
          <a:bodyPr/>
          <a:lstStyle/>
          <a:p>
            <a:r>
              <a:rPr lang="zh-CN" altLang="en-US" sz="2300" dirty="0"/>
              <a:t>将</a:t>
            </a:r>
            <a:r>
              <a:rPr lang="en-US" altLang="zh-CN" sz="2300" dirty="0"/>
              <a:t>hour</a:t>
            </a:r>
            <a:r>
              <a:rPr lang="zh-CN" altLang="en-US" sz="2300" dirty="0"/>
              <a:t>设置为受保护的成员，外界对</a:t>
            </a:r>
            <a:r>
              <a:rPr lang="en-US" altLang="zh-CN" sz="2300" dirty="0"/>
              <a:t>hour</a:t>
            </a:r>
            <a:r>
              <a:rPr lang="zh-CN" altLang="en-US" sz="2300" dirty="0"/>
              <a:t>的修改只能通过</a:t>
            </a:r>
            <a:r>
              <a:rPr lang="en-US" altLang="zh-CN" sz="2300" dirty="0" err="1"/>
              <a:t>setHour</a:t>
            </a:r>
            <a:r>
              <a:rPr lang="zh-CN" altLang="en-US" sz="2300" dirty="0"/>
              <a:t>函数来进行。避免了错误的赋值操作。</a:t>
            </a:r>
            <a:endParaRPr lang="zh-CN" altLang="en-US" sz="2300" dirty="0"/>
          </a:p>
          <a:p>
            <a:endParaRPr lang="zh-CN" altLang="en-US" sz="2300" dirty="0"/>
          </a:p>
        </p:txBody>
      </p:sp>
      <p:sp>
        <p:nvSpPr>
          <p:cNvPr id="4" name="内容占位符 2"/>
          <p:cNvSpPr txBox="1">
            <a:spLocks noChangeArrowheads="1"/>
          </p:cNvSpPr>
          <p:nvPr/>
        </p:nvSpPr>
        <p:spPr bwMode="auto">
          <a:xfrm>
            <a:off x="1017923" y="1503185"/>
            <a:ext cx="7319169" cy="4772030"/>
          </a:xfrm>
          <a:prstGeom prst="rect">
            <a:avLst/>
          </a:prstGeom>
          <a:solidFill>
            <a:schemeClr val="tx1">
              <a:lumMod val="75000"/>
              <a:lumOff val="25000"/>
            </a:schemeClr>
          </a:solidFill>
          <a:ln>
            <a:noFill/>
          </a:ln>
        </p:spPr>
        <p:txBody>
          <a:bodyPr/>
          <a:lstStyle>
            <a:lvl1pPr marL="365125" indent="-25590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365125" indent="-255905">
              <a:spcBef>
                <a:spcPts val="325"/>
              </a:spcBef>
              <a:buClr>
                <a:schemeClr val="accent1"/>
              </a:buClr>
              <a:buFont typeface="Verdana" panose="020B08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1"/>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1"/>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1"/>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1"/>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1"/>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1"/>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1"/>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class Clock{</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en-US" altLang="zh-CN" sz="1700" b="1"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public:</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zh-CN" altLang="en-US" sz="1700" b="0" i="0" u="none" strike="noStrike" kern="1200" cap="none" spc="0" normalizeH="0" baseline="0" noProof="0" dirty="0">
                <a:ln>
                  <a:noFill/>
                </a:ln>
                <a:solidFill>
                  <a:srgbClr val="FFFF00"/>
                </a:solidFill>
                <a:effectLst/>
                <a:uLnTx/>
                <a:uFillTx/>
                <a:latin typeface="Consolas" panose="020B0609020204030204" pitchFamily="49" charset="0"/>
                <a:ea typeface="黑体" panose="02010609060101010101" pitchFamily="49" charset="-122"/>
                <a:cs typeface="+mn-cs"/>
              </a:rPr>
              <a:t>bool</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en-US" altLang="zh-CN" sz="1700" b="0" i="0" u="none" strike="noStrike" kern="1200" cap="none" spc="0" normalizeH="0" baseline="0" noProof="0" dirty="0">
                <a:ln>
                  <a:noFill/>
                </a:ln>
                <a:solidFill>
                  <a:srgbClr val="18CE3F"/>
                </a:solidFill>
                <a:effectLst/>
                <a:uLnTx/>
                <a:uFillTx/>
                <a:latin typeface="Consolas" panose="020B0609020204030204" pitchFamily="49" charset="0"/>
                <a:ea typeface="黑体" panose="02010609060101010101" pitchFamily="49" charset="-122"/>
                <a:cs typeface="+mn-cs"/>
              </a:rPr>
              <a:t>set</a:t>
            </a:r>
            <a:r>
              <a:rPr kumimoji="0" lang="zh-CN" altLang="en-US" sz="1700" b="0" i="0" u="none" strike="noStrike" kern="1200" cap="none" spc="0" normalizeH="0" baseline="0" noProof="0" dirty="0">
                <a:ln>
                  <a:noFill/>
                </a:ln>
                <a:solidFill>
                  <a:srgbClr val="18CE3F"/>
                </a:solidFill>
                <a:effectLst/>
                <a:uLnTx/>
                <a:uFillTx/>
                <a:latin typeface="Consolas" panose="020B0609020204030204" pitchFamily="49" charset="0"/>
                <a:ea typeface="黑体" panose="02010609060101010101" pitchFamily="49" charset="-122"/>
                <a:cs typeface="+mn-cs"/>
              </a:rPr>
              <a:t>Hour</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(int newH = 0)</a:t>
            </a:r>
            <a:r>
              <a:rPr lang="zh-CN" altLang="en-US" sz="1700" b="1" dirty="0">
                <a:solidFill>
                  <a:srgbClr val="18CE3F"/>
                </a:solidFill>
                <a:latin typeface="Consolas" panose="020B0609020204030204" pitchFamily="49" charset="0"/>
              </a:rPr>
              <a:t>{</a:t>
            </a:r>
            <a:endParaRPr lang="zh-CN" altLang="en-US" sz="1700" b="1" dirty="0">
              <a:solidFill>
                <a:srgbClr val="18CE3F"/>
              </a:solidFill>
              <a:latin typeface="Consolas" panose="020B0609020204030204" pitchFamily="49" charset="0"/>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if (</a:t>
            </a:r>
            <a:r>
              <a:rPr kumimoji="0" lang="en-US" altLang="zh-CN" sz="1700" b="0" i="0" u="none" strike="noStrike" kern="1200" cap="none" spc="0" normalizeH="0" baseline="0" noProof="0" dirty="0">
                <a:ln>
                  <a:noFill/>
                </a:ln>
                <a:solidFill>
                  <a:srgbClr val="FFC000"/>
                </a:solidFill>
                <a:effectLst/>
                <a:uLnTx/>
                <a:uFillTx/>
                <a:latin typeface="Consolas" panose="020B0609020204030204" pitchFamily="49" charset="0"/>
                <a:ea typeface="黑体" panose="02010609060101010101" pitchFamily="49" charset="-122"/>
                <a:cs typeface="+mn-cs"/>
              </a:rPr>
              <a:t>(</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newH &lt; 0</a:t>
            </a:r>
            <a:r>
              <a:rPr lang="en-US" altLang="zh-CN" sz="1700" dirty="0">
                <a:solidFill>
                  <a:srgbClr val="FFC000"/>
                </a:solidFill>
                <a:latin typeface="Consolas" panose="020B0609020204030204" pitchFamily="49" charset="0"/>
              </a:rPr>
              <a:t>)</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lang="en-US" altLang="zh-CN" sz="1700" dirty="0">
                <a:solidFill>
                  <a:srgbClr val="FFC000"/>
                </a:solidFill>
                <a:latin typeface="Consolas" panose="020B0609020204030204" pitchFamily="49" charset="0"/>
              </a:rPr>
              <a:t>(</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newH &gt; 23</a:t>
            </a:r>
            <a:r>
              <a:rPr lang="en-US" altLang="zh-CN" sz="1700" dirty="0">
                <a:solidFill>
                  <a:srgbClr val="FFC000"/>
                </a:solidFill>
                <a:latin typeface="Consolas" panose="020B0609020204030204" pitchFamily="49" charset="0"/>
              </a:rPr>
              <a:t>)</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a:t>
            </a:r>
            <a:r>
              <a:rPr kumimoji="0" lang="en-US" altLang="zh-CN" sz="1700" b="0" i="0" u="none" strike="noStrike" kern="1200" cap="none" spc="0" normalizeH="0" baseline="0" noProof="0" dirty="0">
                <a:ln>
                  <a:noFill/>
                </a:ln>
                <a:solidFill>
                  <a:srgbClr val="00FF00"/>
                </a:solidFill>
                <a:effectLst/>
                <a:uLnTx/>
                <a:uFillTx/>
                <a:latin typeface="Consolas" panose="020B0609020204030204" pitchFamily="49" charset="0"/>
                <a:ea typeface="黑体" panose="02010609060101010101" pitchFamily="49" charset="-122"/>
                <a:cs typeface="+mn-cs"/>
              </a:rPr>
              <a:t>//</a:t>
            </a:r>
            <a:r>
              <a:rPr kumimoji="0" lang="zh-CN" altLang="en-US" sz="1700" b="0" i="0" u="none" strike="noStrike" kern="1200" cap="none" spc="0" normalizeH="0" baseline="0" noProof="0" dirty="0">
                <a:ln>
                  <a:noFill/>
                </a:ln>
                <a:solidFill>
                  <a:srgbClr val="00FF00"/>
                </a:solidFill>
                <a:effectLst/>
                <a:uLnTx/>
                <a:uFillTx/>
                <a:latin typeface="Consolas" panose="020B0609020204030204" pitchFamily="49" charset="0"/>
                <a:ea typeface="黑体" panose="02010609060101010101" pitchFamily="49" charset="-122"/>
                <a:cs typeface="+mn-cs"/>
              </a:rPr>
              <a:t>校验值的有效性</a:t>
            </a:r>
            <a:endParaRPr kumimoji="0" lang="zh-CN" altLang="en-US" sz="1700" b="0" i="0" u="none" strike="noStrike" kern="1200" cap="none" spc="0" normalizeH="0" baseline="0" noProof="0" dirty="0">
              <a:ln>
                <a:noFill/>
              </a:ln>
              <a:solidFill>
                <a:srgbClr val="00FF00"/>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zh-CN" altLang="en-US" sz="16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cout &lt;&lt;"the hour must be inside the range of [0,23]";</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return </a:t>
            </a:r>
            <a:r>
              <a:rPr kumimoji="0" lang="zh-CN" altLang="en-US" sz="1700" b="0" i="0" u="none" strike="noStrike" kern="1200" cap="none" spc="0" normalizeH="0" baseline="0" noProof="0" dirty="0">
                <a:ln>
                  <a:noFill/>
                </a:ln>
                <a:solidFill>
                  <a:srgbClr val="FFFF00"/>
                </a:solidFill>
                <a:effectLst/>
                <a:uLnTx/>
                <a:uFillTx/>
                <a:latin typeface="Consolas" panose="020B0609020204030204" pitchFamily="49" charset="0"/>
                <a:ea typeface="黑体" panose="02010609060101010101" pitchFamily="49" charset="-122"/>
                <a:cs typeface="+mn-cs"/>
              </a:rPr>
              <a:t>false</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		</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zh-CN" altLang="en-US" sz="1700" b="0" i="0" u="none" strike="noStrike" kern="1200" cap="none" spc="0" normalizeH="0" baseline="0" noProof="0" dirty="0">
                <a:ln>
                  <a:noFill/>
                </a:ln>
                <a:solidFill>
                  <a:srgbClr val="00B0F0"/>
                </a:solidFill>
                <a:effectLst/>
                <a:uLnTx/>
                <a:uFillTx/>
                <a:latin typeface="Consolas" panose="020B0609020204030204" pitchFamily="49" charset="0"/>
                <a:ea typeface="黑体" panose="02010609060101010101" pitchFamily="49" charset="-122"/>
                <a:cs typeface="+mn-cs"/>
              </a:rPr>
              <a:t>hour</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 newH;</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return </a:t>
            </a:r>
            <a:r>
              <a:rPr kumimoji="0" lang="zh-CN" altLang="en-US" sz="1700" b="0" i="0" u="none" strike="noStrike" kern="1200" cap="none" spc="0" normalizeH="0" baseline="0" noProof="0" dirty="0">
                <a:ln>
                  <a:noFill/>
                </a:ln>
                <a:solidFill>
                  <a:srgbClr val="FFFF00"/>
                </a:solidFill>
                <a:effectLst/>
                <a:uLnTx/>
                <a:uFillTx/>
                <a:latin typeface="Consolas" panose="020B0609020204030204" pitchFamily="49" charset="0"/>
                <a:ea typeface="黑体" panose="02010609060101010101" pitchFamily="49" charset="-122"/>
                <a:cs typeface="+mn-cs"/>
              </a:rPr>
              <a:t>true</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lang="zh-CN" altLang="en-US" sz="1700" b="1" dirty="0">
                <a:solidFill>
                  <a:srgbClr val="18CE3F"/>
                </a:solidFill>
                <a:latin typeface="Consolas" panose="020B0609020204030204" pitchFamily="49" charset="0"/>
              </a:rPr>
              <a:t>}</a:t>
            </a:r>
            <a:endParaRPr lang="en-US" altLang="zh-CN" sz="1700" b="1" dirty="0">
              <a:solidFill>
                <a:srgbClr val="18CE3F"/>
              </a:solidFill>
              <a:latin typeface="Consolas" panose="020B0609020204030204" pitchFamily="49" charset="0"/>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en-US" altLang="zh-CN" sz="1700" b="1"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private:</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int </a:t>
            </a:r>
            <a:r>
              <a:rPr kumimoji="0" lang="en-US" altLang="zh-CN" sz="1700" b="0" i="0" u="none" strike="noStrike" kern="1200" cap="none" spc="0" normalizeH="0" baseline="0" noProof="0" dirty="0">
                <a:ln>
                  <a:noFill/>
                </a:ln>
                <a:solidFill>
                  <a:srgbClr val="00B0F0"/>
                </a:solidFill>
                <a:effectLst/>
                <a:uLnTx/>
                <a:uFillTx/>
                <a:latin typeface="Consolas" panose="020B0609020204030204" pitchFamily="49" charset="0"/>
                <a:ea typeface="黑体" panose="02010609060101010101" pitchFamily="49" charset="-122"/>
                <a:cs typeface="+mn-cs"/>
              </a:rPr>
              <a:t>hour</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en-US" altLang="zh-CN" sz="1700" b="0" i="0" u="none" strike="noStrike" kern="1200" cap="none" spc="0" normalizeH="0" baseline="0" noProof="0" dirty="0">
                <a:ln>
                  <a:noFill/>
                </a:ln>
                <a:solidFill>
                  <a:srgbClr val="00B0F0"/>
                </a:solidFill>
                <a:effectLst/>
                <a:uLnTx/>
                <a:uFillTx/>
                <a:latin typeface="Consolas" panose="020B0609020204030204" pitchFamily="49" charset="0"/>
                <a:ea typeface="黑体" panose="02010609060101010101" pitchFamily="49" charset="-122"/>
                <a:cs typeface="+mn-cs"/>
              </a:rPr>
              <a:t>minute</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en-US" altLang="zh-CN" sz="1700" b="0" i="0" u="none" strike="noStrike" kern="1200" cap="none" spc="0" normalizeH="0" baseline="0" noProof="0" dirty="0">
                <a:ln>
                  <a:noFill/>
                </a:ln>
                <a:solidFill>
                  <a:srgbClr val="00B0F0"/>
                </a:solidFill>
                <a:effectLst/>
                <a:uLnTx/>
                <a:uFillTx/>
                <a:latin typeface="Consolas" panose="020B0609020204030204" pitchFamily="49" charset="0"/>
                <a:ea typeface="黑体" panose="02010609060101010101" pitchFamily="49" charset="-122"/>
                <a:cs typeface="+mn-cs"/>
              </a:rPr>
              <a:t>second</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a:t>
            </a:r>
            <a:endPar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90303" pitchFamily="18" charset="0"/>
              <a:buNone/>
              <a:defRPr/>
            </a:pP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a:t>
            </a:r>
            <a:endPar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构造函数</a:t>
            </a:r>
            <a:endParaRPr lang="en-US" dirty="0"/>
          </a:p>
        </p:txBody>
      </p:sp>
      <p:sp>
        <p:nvSpPr>
          <p:cNvPr id="38914" name="内容占位符 2"/>
          <p:cNvSpPr>
            <a:spLocks noGrp="1" noChangeArrowheads="1"/>
          </p:cNvSpPr>
          <p:nvPr>
            <p:ph idx="1"/>
          </p:nvPr>
        </p:nvSpPr>
        <p:spPr>
          <a:xfrm>
            <a:off x="431999" y="1535838"/>
            <a:ext cx="8581825" cy="4001934"/>
          </a:xfrm>
          <a:ln>
            <a:solidFill>
              <a:schemeClr val="bg1"/>
            </a:solidFill>
            <a:miter lim="800000"/>
          </a:ln>
        </p:spPr>
        <p:txBody>
          <a:bodyPr>
            <a:normAutofit/>
          </a:bodyPr>
          <a:lstStyle/>
          <a:p>
            <a:pPr eaLnBrk="1" hangingPunct="1">
              <a:lnSpc>
                <a:spcPct val="120000"/>
              </a:lnSpc>
            </a:pPr>
            <a:r>
              <a:rPr lang="en-US" altLang="en-US" dirty="0" err="1"/>
              <a:t>构造函数</a:t>
            </a:r>
            <a:r>
              <a:rPr lang="zh-CN" altLang="en-US" dirty="0"/>
              <a:t>：</a:t>
            </a:r>
            <a:r>
              <a:rPr lang="en-US" altLang="en-US" dirty="0" err="1"/>
              <a:t>在对象被创建时</a:t>
            </a:r>
            <a:r>
              <a:rPr lang="zh-CN" altLang="en-US" dirty="0"/>
              <a:t>调用的函数</a:t>
            </a:r>
            <a:endParaRPr lang="en-US" altLang="zh-CN" dirty="0"/>
          </a:p>
          <a:p>
            <a:pPr lvl="1">
              <a:lnSpc>
                <a:spcPct val="120000"/>
              </a:lnSpc>
            </a:pPr>
            <a:r>
              <a:rPr lang="en-US" altLang="en-US" dirty="0" err="1"/>
              <a:t>使用特定的值</a:t>
            </a:r>
            <a:r>
              <a:rPr lang="zh-CN" altLang="en-US" dirty="0"/>
              <a:t>创建</a:t>
            </a:r>
            <a:r>
              <a:rPr lang="en-US" altLang="en-US" dirty="0" err="1"/>
              <a:t>对象</a:t>
            </a:r>
            <a:r>
              <a:rPr lang="zh-CN" altLang="en-US" dirty="0"/>
              <a:t>，</a:t>
            </a:r>
            <a:r>
              <a:rPr lang="en-US" altLang="en-US" dirty="0" err="1"/>
              <a:t>将对象初始化为一个特定的初始状态</a:t>
            </a:r>
            <a:r>
              <a:rPr lang="en-US" altLang="en-US" dirty="0"/>
              <a:t>。</a:t>
            </a:r>
            <a:endParaRPr lang="en-US" altLang="en-US" dirty="0"/>
          </a:p>
          <a:p>
            <a:pPr eaLnBrk="1" hangingPunct="1">
              <a:lnSpc>
                <a:spcPct val="120000"/>
              </a:lnSpc>
            </a:pPr>
            <a:r>
              <a:rPr lang="en-US" altLang="en-US" dirty="0" err="1">
                <a:solidFill>
                  <a:srgbClr val="FF0000"/>
                </a:solidFill>
              </a:rPr>
              <a:t>在对象创建时被</a:t>
            </a:r>
            <a:r>
              <a:rPr lang="en-US" altLang="en-US" sz="4000" dirty="0" err="1">
                <a:solidFill>
                  <a:srgbClr val="FF0000"/>
                </a:solidFill>
              </a:rPr>
              <a:t>自动调用</a:t>
            </a:r>
            <a:endParaRPr lang="en-US" altLang="en-US" sz="4000" dirty="0">
              <a:solidFill>
                <a:srgbClr val="FF0000"/>
              </a:solidFill>
            </a:endParaRPr>
          </a:p>
          <a:p>
            <a:pPr eaLnBrk="1" hangingPunct="1">
              <a:lnSpc>
                <a:spcPct val="120000"/>
              </a:lnSpc>
            </a:pPr>
            <a:r>
              <a:rPr lang="en-US" altLang="en-US" dirty="0" err="1">
                <a:solidFill>
                  <a:srgbClr val="FF0000"/>
                </a:solidFill>
              </a:rPr>
              <a:t>构造函数名与类名相同</a:t>
            </a:r>
            <a:r>
              <a:rPr lang="en-US" altLang="en-US" dirty="0" err="1"/>
              <a:t>，且</a:t>
            </a:r>
            <a:r>
              <a:rPr lang="en-US" altLang="en-US" dirty="0" err="1">
                <a:solidFill>
                  <a:srgbClr val="FF0000"/>
                </a:solidFill>
              </a:rPr>
              <a:t>没有返回值</a:t>
            </a:r>
            <a:r>
              <a:rPr lang="en-US" altLang="en-US" dirty="0"/>
              <a:t>；</a:t>
            </a:r>
            <a:endParaRPr lang="en-US" altLang="en-US" dirty="0"/>
          </a:p>
          <a:p>
            <a:pPr eaLnBrk="1" hangingPunct="1">
              <a:lnSpc>
                <a:spcPct val="120000"/>
              </a:lnSpc>
            </a:pPr>
            <a:r>
              <a:rPr lang="en-US" altLang="en-US" dirty="0" err="1">
                <a:solidFill>
                  <a:srgbClr val="0070C0"/>
                </a:solidFill>
              </a:rPr>
              <a:t>通常</a:t>
            </a:r>
            <a:r>
              <a:rPr lang="en-US" altLang="en-US" dirty="0" err="1"/>
              <a:t>为公有函数</a:t>
            </a:r>
            <a:r>
              <a:rPr lang="en-US" altLang="en-US" dirty="0"/>
              <a:t>。</a:t>
            </a:r>
            <a:endParaRPr lang="en-US" altLang="en-US" dirty="0"/>
          </a:p>
          <a:p>
            <a:pPr eaLnBrk="1" hangingPunct="1">
              <a:lnSpc>
                <a:spcPct val="120000"/>
              </a:lnSpc>
            </a:pPr>
            <a:r>
              <a:rPr lang="en-US" altLang="en-US" dirty="0" err="1"/>
              <a:t>构造函数可以是内联函数、重载函数、带默认参数值的函数</a:t>
            </a:r>
            <a:endParaRPr lang="en-US" altLang="en-US" dirty="0"/>
          </a:p>
          <a:p>
            <a:pPr eaLnBrk="1" hangingPunct="1">
              <a:lnSpc>
                <a:spcPct val="120000"/>
              </a:lnSpc>
            </a:pPr>
            <a:endParaRPr lang="en-US" altLang="en-US" dirty="0"/>
          </a:p>
          <a:p>
            <a:pPr eaLnBrk="1" hangingPunct="1">
              <a:lnSpc>
                <a:spcPct val="120000"/>
              </a:lnSpc>
            </a:pPr>
            <a:endParaRPr lang="en-US" altLang="en-US" dirty="0"/>
          </a:p>
        </p:txBody>
      </p:sp>
      <p:sp>
        <p:nvSpPr>
          <p:cNvPr id="38915"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zh-CN" altLang="en-US" b="1" dirty="0"/>
              <a:t>新特性：</a:t>
            </a:r>
            <a:r>
              <a:rPr lang="zh-CN" altLang="en-US" dirty="0"/>
              <a:t>函数重载、参数默认值和引用</a:t>
            </a:r>
            <a:endParaRPr lang="en-US" altLang="zh-CN" dirty="0"/>
          </a:p>
          <a:p>
            <a:r>
              <a:rPr lang="zh-CN" altLang="en-US" dirty="0"/>
              <a:t>面向对象的程序设计</a:t>
            </a:r>
            <a:endParaRPr lang="en-US" altLang="zh-CN" dirty="0"/>
          </a:p>
          <a:p>
            <a:r>
              <a:rPr lang="zh-CN" altLang="en-US" dirty="0"/>
              <a:t>基本概念</a:t>
            </a:r>
            <a:endParaRPr lang="en-US" altLang="zh-CN" dirty="0"/>
          </a:p>
          <a:p>
            <a:r>
              <a:rPr lang="zh-CN" altLang="en-US" dirty="0"/>
              <a:t>类与对象</a:t>
            </a:r>
            <a:endParaRPr lang="en-US" altLang="zh-CN" dirty="0"/>
          </a:p>
          <a:p>
            <a:r>
              <a:rPr lang="zh-CN" altLang="en-US" dirty="0"/>
              <a:t>成员函数</a:t>
            </a:r>
            <a:endParaRPr lang="en-US" altLang="zh-CN" dirty="0"/>
          </a:p>
          <a:p>
            <a:r>
              <a:rPr lang="zh-CN" altLang="en-US" dirty="0"/>
              <a:t>保护成员</a:t>
            </a:r>
            <a:endParaRPr lang="en-US" altLang="zh-CN" dirty="0"/>
          </a:p>
          <a:p>
            <a:r>
              <a:rPr lang="zh-CN" altLang="en-US" dirty="0">
                <a:solidFill>
                  <a:srgbClr val="E6700E"/>
                </a:solidFill>
              </a:rPr>
              <a:t>构造函数</a:t>
            </a:r>
            <a:r>
              <a:rPr lang="en-US" altLang="zh-CN" dirty="0">
                <a:solidFill>
                  <a:srgbClr val="E6700E"/>
                </a:solidFill>
              </a:rPr>
              <a:t>&amp;</a:t>
            </a:r>
            <a:r>
              <a:rPr lang="zh-CN" altLang="en-US" dirty="0">
                <a:solidFill>
                  <a:srgbClr val="E6700E"/>
                </a:solidFill>
              </a:rPr>
              <a:t>析构函数</a:t>
            </a:r>
            <a:endParaRPr lang="en-US" altLang="zh-CN" dirty="0">
              <a:solidFill>
                <a:srgbClr val="E6700E"/>
              </a:solidFill>
            </a:endParaRPr>
          </a:p>
        </p:txBody>
      </p:sp>
      <p:sp>
        <p:nvSpPr>
          <p:cNvPr id="2" name="Title 1"/>
          <p:cNvSpPr>
            <a:spLocks noGrp="1"/>
          </p:cNvSpPr>
          <p:nvPr>
            <p:ph type="title"/>
          </p:nvPr>
        </p:nvSpPr>
        <p:spPr/>
        <p:txBody>
          <a:bodyPr/>
          <a:lstStyle/>
          <a:p>
            <a:r>
              <a:rPr lang="zh-CN" altLang="en-US" dirty="0"/>
              <a:t>内容</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构造函数举例</a:t>
            </a:r>
            <a:endParaRPr lang="en-US" dirty="0"/>
          </a:p>
        </p:txBody>
      </p:sp>
      <p:sp>
        <p:nvSpPr>
          <p:cNvPr id="39938" name="内容占位符 2"/>
          <p:cNvSpPr>
            <a:spLocks noGrp="1" noChangeArrowheads="1"/>
          </p:cNvSpPr>
          <p:nvPr>
            <p:ph idx="1"/>
          </p:nvPr>
        </p:nvSpPr>
        <p:spPr>
          <a:solidFill>
            <a:schemeClr val="bg2">
              <a:lumMod val="90000"/>
            </a:schemeClr>
          </a:solidFill>
        </p:spPr>
        <p:txBody>
          <a:bodyPr>
            <a:normAutofit lnSpcReduction="10000"/>
          </a:bodyPr>
          <a:lstStyle/>
          <a:p>
            <a:pPr eaLnBrk="1" hangingPunct="1">
              <a:lnSpc>
                <a:spcPct val="130000"/>
              </a:lnSpc>
              <a:buClr>
                <a:srgbClr val="EB641B"/>
              </a:buClr>
              <a:buFont typeface="Georgia" panose="02040502050405090303" pitchFamily="18" charset="0"/>
              <a:buNone/>
            </a:pPr>
            <a:r>
              <a:rPr lang="en-US" altLang="en-US" sz="2500" dirty="0">
                <a:latin typeface="Consolas" panose="020B0609020204030204" pitchFamily="49" charset="0"/>
              </a:rPr>
              <a:t>class Clock {</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90303" pitchFamily="18" charset="0"/>
              <a:buNone/>
            </a:pPr>
            <a:r>
              <a:rPr lang="en-US" altLang="en-US" sz="2500" dirty="0">
                <a:latin typeface="Consolas" panose="020B0609020204030204" pitchFamily="49" charset="0"/>
              </a:rPr>
              <a:t>public:</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90303" pitchFamily="18" charset="0"/>
              <a:buNone/>
            </a:pPr>
            <a:r>
              <a:rPr lang="en-US" altLang="en-US" sz="2500" dirty="0">
                <a:latin typeface="Consolas" panose="020B0609020204030204" pitchFamily="49" charset="0"/>
              </a:rPr>
              <a:t>	</a:t>
            </a:r>
            <a:r>
              <a:rPr lang="en-US" altLang="en-US" sz="2500" dirty="0">
                <a:solidFill>
                  <a:srgbClr val="C00000"/>
                </a:solidFill>
                <a:latin typeface="Consolas" panose="020B0609020204030204" pitchFamily="49" charset="0"/>
              </a:rPr>
              <a:t>Clock(int </a:t>
            </a:r>
            <a:r>
              <a:rPr lang="en-US" altLang="en-US" sz="2500" dirty="0" err="1">
                <a:solidFill>
                  <a:srgbClr val="C00000"/>
                </a:solidFill>
                <a:latin typeface="Consolas" panose="020B0609020204030204" pitchFamily="49" charset="0"/>
              </a:rPr>
              <a:t>newH,int</a:t>
            </a:r>
            <a:r>
              <a:rPr lang="en-US" altLang="en-US" sz="2500" dirty="0">
                <a:solidFill>
                  <a:srgbClr val="C00000"/>
                </a:solidFill>
                <a:latin typeface="Consolas" panose="020B0609020204030204" pitchFamily="49" charset="0"/>
              </a:rPr>
              <a:t> </a:t>
            </a:r>
            <a:r>
              <a:rPr lang="en-US" altLang="en-US" sz="2500" dirty="0" err="1">
                <a:solidFill>
                  <a:srgbClr val="C00000"/>
                </a:solidFill>
                <a:latin typeface="Consolas" panose="020B0609020204030204" pitchFamily="49" charset="0"/>
              </a:rPr>
              <a:t>newM,int</a:t>
            </a:r>
            <a:r>
              <a:rPr lang="en-US" altLang="en-US" sz="2500" dirty="0">
                <a:solidFill>
                  <a:srgbClr val="C00000"/>
                </a:solidFill>
                <a:latin typeface="Consolas" panose="020B0609020204030204" pitchFamily="49" charset="0"/>
              </a:rPr>
              <a:t> </a:t>
            </a:r>
            <a:r>
              <a:rPr lang="en-US" altLang="en-US" sz="2500" dirty="0" err="1">
                <a:solidFill>
                  <a:srgbClr val="C00000"/>
                </a:solidFill>
                <a:latin typeface="Consolas" panose="020B0609020204030204" pitchFamily="49" charset="0"/>
              </a:rPr>
              <a:t>newS</a:t>
            </a:r>
            <a:r>
              <a:rPr lang="en-US" altLang="en-US" sz="2500" dirty="0">
                <a:solidFill>
                  <a:srgbClr val="C00000"/>
                </a:solidFill>
                <a:latin typeface="Consolas" panose="020B0609020204030204" pitchFamily="49" charset="0"/>
              </a:rPr>
              <a:t>);//</a:t>
            </a:r>
            <a:r>
              <a:rPr lang="en-US" altLang="en-US" sz="2500" dirty="0" err="1">
                <a:solidFill>
                  <a:srgbClr val="C00000"/>
                </a:solidFill>
                <a:latin typeface="Consolas" panose="020B0609020204030204" pitchFamily="49" charset="0"/>
              </a:rPr>
              <a:t>构造函数</a:t>
            </a:r>
            <a:endParaRPr lang="en-US" altLang="en-US" sz="2500" dirty="0">
              <a:solidFill>
                <a:srgbClr val="C00000"/>
              </a:solidFill>
              <a:latin typeface="Consolas" panose="020B0609020204030204" pitchFamily="49" charset="0"/>
            </a:endParaRPr>
          </a:p>
          <a:p>
            <a:pPr eaLnBrk="1" hangingPunct="1">
              <a:lnSpc>
                <a:spcPct val="130000"/>
              </a:lnSpc>
              <a:buClr>
                <a:srgbClr val="EB641B"/>
              </a:buClr>
              <a:buFont typeface="Georgia" panose="02040502050405090303" pitchFamily="18" charset="0"/>
              <a:buNone/>
            </a:pPr>
            <a:r>
              <a:rPr lang="en-US" altLang="en-US" sz="2500" dirty="0">
                <a:latin typeface="Consolas" panose="020B0609020204030204" pitchFamily="49" charset="0"/>
              </a:rPr>
              <a:t>	void </a:t>
            </a:r>
            <a:r>
              <a:rPr lang="en-US" altLang="en-US" sz="2500" dirty="0" err="1">
                <a:latin typeface="Consolas" panose="020B0609020204030204" pitchFamily="49" charset="0"/>
              </a:rPr>
              <a:t>setTime</a:t>
            </a:r>
            <a:r>
              <a:rPr lang="en-US" altLang="en-US" sz="2500" dirty="0">
                <a:latin typeface="Consolas" panose="020B0609020204030204" pitchFamily="49" charset="0"/>
              </a:rPr>
              <a:t>(int </a:t>
            </a:r>
            <a:r>
              <a:rPr lang="en-US" altLang="en-US" sz="2500" dirty="0" err="1">
                <a:latin typeface="Consolas" panose="020B0609020204030204" pitchFamily="49" charset="0"/>
              </a:rPr>
              <a:t>newH</a:t>
            </a:r>
            <a:r>
              <a:rPr lang="en-US" altLang="en-US" sz="2500" dirty="0">
                <a:latin typeface="Consolas" panose="020B0609020204030204" pitchFamily="49" charset="0"/>
              </a:rPr>
              <a:t>, int </a:t>
            </a:r>
            <a:r>
              <a:rPr lang="en-US" altLang="en-US" sz="2500" dirty="0" err="1">
                <a:latin typeface="Consolas" panose="020B0609020204030204" pitchFamily="49" charset="0"/>
              </a:rPr>
              <a:t>newM</a:t>
            </a:r>
            <a:r>
              <a:rPr lang="en-US" altLang="en-US" sz="2500" dirty="0">
                <a:latin typeface="Consolas" panose="020B0609020204030204" pitchFamily="49" charset="0"/>
              </a:rPr>
              <a:t>, int </a:t>
            </a:r>
            <a:r>
              <a:rPr lang="en-US" altLang="en-US" sz="2500" dirty="0" err="1">
                <a:latin typeface="Consolas" panose="020B0609020204030204" pitchFamily="49" charset="0"/>
              </a:rPr>
              <a:t>newS</a:t>
            </a:r>
            <a:r>
              <a:rPr lang="en-US" altLang="en-US" sz="2500" dirty="0">
                <a:latin typeface="Consolas" panose="020B0609020204030204" pitchFamily="49" charset="0"/>
              </a:rPr>
              <a:t>);</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90303" pitchFamily="18" charset="0"/>
              <a:buNone/>
            </a:pPr>
            <a:r>
              <a:rPr lang="en-US" altLang="en-US" sz="2500" dirty="0">
                <a:latin typeface="Consolas" panose="020B0609020204030204" pitchFamily="49" charset="0"/>
              </a:rPr>
              <a:t>	void </a:t>
            </a:r>
            <a:r>
              <a:rPr lang="en-US" altLang="en-US" sz="2500" dirty="0" err="1">
                <a:latin typeface="Consolas" panose="020B0609020204030204" pitchFamily="49" charset="0"/>
              </a:rPr>
              <a:t>showTime</a:t>
            </a:r>
            <a:r>
              <a:rPr lang="en-US" altLang="en-US" sz="2500" dirty="0">
                <a:latin typeface="Consolas" panose="020B0609020204030204" pitchFamily="49" charset="0"/>
              </a:rPr>
              <a:t>();</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90303" pitchFamily="18" charset="0"/>
              <a:buNone/>
            </a:pPr>
            <a:r>
              <a:rPr lang="en-US" altLang="en-US" sz="2500" dirty="0">
                <a:latin typeface="Consolas" panose="020B0609020204030204" pitchFamily="49" charset="0"/>
              </a:rPr>
              <a:t>private:</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90303" pitchFamily="18" charset="0"/>
              <a:buNone/>
            </a:pPr>
            <a:r>
              <a:rPr lang="en-US" altLang="en-US" sz="2500" dirty="0">
                <a:latin typeface="Consolas" panose="020B0609020204030204" pitchFamily="49" charset="0"/>
              </a:rPr>
              <a:t>	int hour, minute, second;</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90303" pitchFamily="18" charset="0"/>
              <a:buNone/>
            </a:pPr>
            <a:r>
              <a:rPr lang="en-US" altLang="en-US" sz="2500" dirty="0">
                <a:latin typeface="Consolas" panose="020B0609020204030204" pitchFamily="49" charset="0"/>
              </a:rPr>
              <a:t>};</a:t>
            </a:r>
            <a:endParaRPr lang="en-US" altLang="en-US" sz="2500" dirty="0">
              <a:latin typeface="Consolas" panose="020B0609020204030204" pitchFamily="49" charset="0"/>
            </a:endParaRPr>
          </a:p>
        </p:txBody>
      </p:sp>
      <p:sp>
        <p:nvSpPr>
          <p:cNvPr id="39939"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
        <p:nvSpPr>
          <p:cNvPr id="39940" name="标题 4"/>
          <p:cNvSpPr txBox="1">
            <a:spLocks noChangeArrowheads="1"/>
          </p:cNvSpPr>
          <p:nvPr/>
        </p:nvSpPr>
        <p:spPr bwMode="auto">
          <a:xfrm>
            <a:off x="214313" y="0"/>
            <a:ext cx="7715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80000"/>
              </a:lnSpc>
            </a:pPr>
            <a:r>
              <a:rPr lang="en-US" altLang="en-US" sz="2600">
                <a:solidFill>
                  <a:schemeClr val="bg1"/>
                </a:solidFill>
                <a:latin typeface="Lucida Sans Unicode" panose="020B0602030504020204" pitchFamily="34" charset="0"/>
                <a:ea typeface="黑体" panose="02010609060101010101" pitchFamily="49" charset="-122"/>
              </a:rPr>
              <a:t>4.3 </a:t>
            </a:r>
            <a:r>
              <a:rPr lang="zh-CN" altLang="en-US" sz="2600">
                <a:solidFill>
                  <a:schemeClr val="bg1"/>
                </a:solidFill>
                <a:latin typeface="Lucida Sans Unicode" panose="020B0602030504020204" pitchFamily="34" charset="0"/>
                <a:ea typeface="黑体" panose="02010609060101010101" pitchFamily="49" charset="-122"/>
              </a:rPr>
              <a:t>构造函数和析构函数 </a:t>
            </a:r>
            <a:r>
              <a:rPr lang="en-US" altLang="en-US" sz="2600">
                <a:solidFill>
                  <a:schemeClr val="bg1"/>
                </a:solidFill>
                <a:latin typeface="Lucida Sans Unicode" panose="020B0602030504020204" pitchFamily="34" charset="0"/>
                <a:ea typeface="黑体" panose="02010609060101010101" pitchFamily="49" charset="-122"/>
              </a:rPr>
              <a:t>—— 4.3.1 </a:t>
            </a:r>
            <a:r>
              <a:rPr lang="zh-CN" altLang="en-US" sz="2600">
                <a:solidFill>
                  <a:schemeClr val="bg1"/>
                </a:solidFill>
                <a:latin typeface="Lucida Sans Unicode" panose="020B0602030504020204" pitchFamily="34" charset="0"/>
                <a:ea typeface="黑体" panose="02010609060101010101" pitchFamily="49" charset="-122"/>
              </a:rPr>
              <a:t>构造函数 </a:t>
            </a:r>
            <a:endParaRPr lang="zh-CN" altLang="en-US" sz="2600">
              <a:solidFill>
                <a:schemeClr val="bg1"/>
              </a:solidFill>
              <a:latin typeface="Lucida Sans Unicode" panose="020B0602030504020204" pitchFamily="34" charset="0"/>
              <a:ea typeface="黑体"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2"/>
          <p:cNvSpPr>
            <a:spLocks noGrp="1" noChangeArrowheads="1"/>
          </p:cNvSpPr>
          <p:nvPr>
            <p:ph idx="4294967295"/>
          </p:nvPr>
        </p:nvSpPr>
        <p:spPr>
          <a:xfrm>
            <a:off x="600869" y="978694"/>
            <a:ext cx="8229600" cy="4900612"/>
          </a:xfrm>
          <a:solidFill>
            <a:schemeClr val="bg2">
              <a:lumMod val="90000"/>
            </a:schemeClr>
          </a:solidFill>
        </p:spPr>
        <p:txBody>
          <a:bodyPr>
            <a:normAutofit fontScale="92500" lnSpcReduction="10000"/>
          </a:bodyPr>
          <a:lstStyle/>
          <a:p>
            <a:pPr eaLnBrk="1" hangingPunct="1">
              <a:lnSpc>
                <a:spcPct val="90000"/>
              </a:lnSpc>
              <a:buClr>
                <a:srgbClr val="EB641B"/>
              </a:buClr>
              <a:buFont typeface="Georgia" panose="02040502050405090303" pitchFamily="18" charset="0"/>
              <a:buNone/>
            </a:pPr>
            <a:r>
              <a:rPr lang="en-US" altLang="en-US" sz="2500" dirty="0">
                <a:latin typeface="Consolas" panose="020B0609020204030204" pitchFamily="49" charset="0"/>
              </a:rPr>
              <a:t>//</a:t>
            </a:r>
            <a:r>
              <a:rPr lang="en-US" altLang="en-US" sz="2500" dirty="0" err="1">
                <a:latin typeface="Consolas" panose="020B0609020204030204" pitchFamily="49" charset="0"/>
              </a:rPr>
              <a:t>构造函数的实现</a:t>
            </a:r>
            <a:r>
              <a:rPr lang="en-US" altLang="en-US" sz="2500" dirty="0">
                <a:latin typeface="Consolas" panose="020B0609020204030204" pitchFamily="49" charset="0"/>
              </a:rPr>
              <a:t>：</a:t>
            </a:r>
            <a:endParaRPr lang="en-US" altLang="en-US" sz="2500" dirty="0">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solidFill>
                  <a:srgbClr val="C00000"/>
                </a:solidFill>
                <a:latin typeface="Consolas" panose="020B0609020204030204" pitchFamily="49" charset="0"/>
              </a:rPr>
              <a:t>Clock::Clock(int </a:t>
            </a:r>
            <a:r>
              <a:rPr lang="en-US" altLang="en-US" sz="2500" dirty="0" err="1">
                <a:solidFill>
                  <a:srgbClr val="C00000"/>
                </a:solidFill>
                <a:latin typeface="Consolas" panose="020B0609020204030204" pitchFamily="49" charset="0"/>
              </a:rPr>
              <a:t>newH</a:t>
            </a:r>
            <a:r>
              <a:rPr lang="en-US" altLang="en-US" sz="2500" dirty="0">
                <a:solidFill>
                  <a:srgbClr val="C00000"/>
                </a:solidFill>
                <a:latin typeface="Consolas" panose="020B0609020204030204" pitchFamily="49" charset="0"/>
              </a:rPr>
              <a:t>, int </a:t>
            </a:r>
            <a:r>
              <a:rPr lang="en-US" altLang="en-US" sz="2500" dirty="0" err="1">
                <a:solidFill>
                  <a:srgbClr val="C00000"/>
                </a:solidFill>
                <a:latin typeface="Consolas" panose="020B0609020204030204" pitchFamily="49" charset="0"/>
              </a:rPr>
              <a:t>newM</a:t>
            </a:r>
            <a:r>
              <a:rPr lang="en-US" altLang="en-US" sz="2500" dirty="0">
                <a:solidFill>
                  <a:srgbClr val="C00000"/>
                </a:solidFill>
                <a:latin typeface="Consolas" panose="020B0609020204030204" pitchFamily="49" charset="0"/>
              </a:rPr>
              <a:t>, int </a:t>
            </a:r>
            <a:r>
              <a:rPr lang="en-US" altLang="en-US" sz="2500" dirty="0" err="1">
                <a:solidFill>
                  <a:srgbClr val="C00000"/>
                </a:solidFill>
                <a:latin typeface="Consolas" panose="020B0609020204030204" pitchFamily="49" charset="0"/>
              </a:rPr>
              <a:t>newS</a:t>
            </a:r>
            <a:r>
              <a:rPr lang="en-US" altLang="en-US" sz="2500" dirty="0">
                <a:solidFill>
                  <a:srgbClr val="C00000"/>
                </a:solidFill>
                <a:latin typeface="Consolas" panose="020B0609020204030204" pitchFamily="49" charset="0"/>
              </a:rPr>
              <a:t>) {</a:t>
            </a:r>
            <a:endParaRPr lang="en-US" altLang="en-US" sz="25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solidFill>
                  <a:srgbClr val="C00000"/>
                </a:solidFill>
                <a:latin typeface="Consolas" panose="020B0609020204030204" pitchFamily="49" charset="0"/>
              </a:rPr>
              <a:t>  hour = </a:t>
            </a:r>
            <a:r>
              <a:rPr lang="en-US" altLang="en-US" sz="2500" dirty="0" err="1">
                <a:solidFill>
                  <a:srgbClr val="C00000"/>
                </a:solidFill>
                <a:latin typeface="Consolas" panose="020B0609020204030204" pitchFamily="49" charset="0"/>
              </a:rPr>
              <a:t>newH</a:t>
            </a:r>
            <a:r>
              <a:rPr lang="en-US" altLang="en-US" sz="2500" dirty="0">
                <a:solidFill>
                  <a:srgbClr val="C00000"/>
                </a:solidFill>
                <a:latin typeface="Consolas" panose="020B0609020204030204" pitchFamily="49" charset="0"/>
              </a:rPr>
              <a:t>;</a:t>
            </a:r>
            <a:endParaRPr lang="en-US" altLang="en-US" sz="25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solidFill>
                  <a:srgbClr val="C00000"/>
                </a:solidFill>
                <a:latin typeface="Consolas" panose="020B0609020204030204" pitchFamily="49" charset="0"/>
              </a:rPr>
              <a:t>  minute = </a:t>
            </a:r>
            <a:r>
              <a:rPr lang="en-US" altLang="en-US" sz="2500" dirty="0" err="1">
                <a:solidFill>
                  <a:srgbClr val="C00000"/>
                </a:solidFill>
                <a:latin typeface="Consolas" panose="020B0609020204030204" pitchFamily="49" charset="0"/>
              </a:rPr>
              <a:t>newM</a:t>
            </a:r>
            <a:r>
              <a:rPr lang="en-US" altLang="en-US" sz="2500" dirty="0">
                <a:solidFill>
                  <a:srgbClr val="C00000"/>
                </a:solidFill>
                <a:latin typeface="Consolas" panose="020B0609020204030204" pitchFamily="49" charset="0"/>
              </a:rPr>
              <a:t>;</a:t>
            </a:r>
            <a:endParaRPr lang="en-US" altLang="en-US" sz="25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solidFill>
                  <a:srgbClr val="C00000"/>
                </a:solidFill>
                <a:latin typeface="Consolas" panose="020B0609020204030204" pitchFamily="49" charset="0"/>
              </a:rPr>
              <a:t>  second = </a:t>
            </a:r>
            <a:r>
              <a:rPr lang="en-US" altLang="en-US" sz="2500" dirty="0" err="1">
                <a:solidFill>
                  <a:srgbClr val="C00000"/>
                </a:solidFill>
                <a:latin typeface="Consolas" panose="020B0609020204030204" pitchFamily="49" charset="0"/>
              </a:rPr>
              <a:t>newS</a:t>
            </a:r>
            <a:r>
              <a:rPr lang="en-US" altLang="en-US" sz="2500" dirty="0">
                <a:solidFill>
                  <a:srgbClr val="C00000"/>
                </a:solidFill>
                <a:latin typeface="Consolas" panose="020B0609020204030204" pitchFamily="49" charset="0"/>
              </a:rPr>
              <a:t>;</a:t>
            </a:r>
            <a:endParaRPr lang="en-US" altLang="en-US" sz="25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solidFill>
                  <a:srgbClr val="C00000"/>
                </a:solidFill>
                <a:latin typeface="Consolas" panose="020B0609020204030204" pitchFamily="49" charset="0"/>
              </a:rPr>
              <a:t>}</a:t>
            </a:r>
            <a:endParaRPr lang="en-US" altLang="en-US" sz="25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latin typeface="Consolas" panose="020B0609020204030204" pitchFamily="49" charset="0"/>
              </a:rPr>
              <a:t>//</a:t>
            </a:r>
            <a:r>
              <a:rPr lang="en-US" altLang="en-US" sz="2500" dirty="0" err="1">
                <a:latin typeface="Consolas" panose="020B0609020204030204" pitchFamily="49" charset="0"/>
              </a:rPr>
              <a:t>建立对象时构造函数的作用</a:t>
            </a:r>
            <a:r>
              <a:rPr lang="en-US" altLang="en-US" sz="2500" dirty="0">
                <a:latin typeface="Consolas" panose="020B0609020204030204" pitchFamily="49" charset="0"/>
              </a:rPr>
              <a:t>：</a:t>
            </a:r>
            <a:endParaRPr lang="en-US" altLang="en-US" sz="2500" dirty="0">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latin typeface="Consolas" panose="020B0609020204030204" pitchFamily="49" charset="0"/>
              </a:rPr>
              <a:t>int main() {</a:t>
            </a:r>
            <a:endParaRPr lang="en-US" altLang="en-US" sz="2500" dirty="0">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latin typeface="Consolas" panose="020B0609020204030204" pitchFamily="49" charset="0"/>
              </a:rPr>
              <a:t>  </a:t>
            </a:r>
            <a:r>
              <a:rPr lang="en-US" altLang="en-US" sz="2500" dirty="0">
                <a:solidFill>
                  <a:srgbClr val="C00000"/>
                </a:solidFill>
                <a:latin typeface="Consolas" panose="020B0609020204030204" pitchFamily="49" charset="0"/>
              </a:rPr>
              <a:t>Clock c(0,0,0); </a:t>
            </a:r>
            <a:r>
              <a:rPr lang="en-US" altLang="en-US" sz="2200" dirty="0">
                <a:solidFill>
                  <a:srgbClr val="C00000"/>
                </a:solidFill>
                <a:latin typeface="Consolas" panose="020B0609020204030204" pitchFamily="49" charset="0"/>
              </a:rPr>
              <a:t>//</a:t>
            </a:r>
            <a:r>
              <a:rPr lang="en-US" altLang="en-US" sz="2200" dirty="0" err="1">
                <a:solidFill>
                  <a:srgbClr val="C00000"/>
                </a:solidFill>
                <a:latin typeface="Consolas" panose="020B0609020204030204" pitchFamily="49" charset="0"/>
              </a:rPr>
              <a:t>此处将自动调用构造函数</a:t>
            </a:r>
            <a:endParaRPr lang="en-US" altLang="en-US" sz="22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latin typeface="Consolas" panose="020B0609020204030204" pitchFamily="49" charset="0"/>
              </a:rPr>
              <a:t>  </a:t>
            </a:r>
            <a:r>
              <a:rPr lang="en-US" altLang="en-US" sz="2500" dirty="0" err="1">
                <a:latin typeface="Consolas" panose="020B0609020204030204" pitchFamily="49" charset="0"/>
              </a:rPr>
              <a:t>c.showTime</a:t>
            </a:r>
            <a:r>
              <a:rPr lang="en-US" altLang="en-US" sz="2500" dirty="0">
                <a:latin typeface="Consolas" panose="020B0609020204030204" pitchFamily="49" charset="0"/>
              </a:rPr>
              <a:t>();</a:t>
            </a:r>
            <a:endParaRPr lang="en-US" altLang="en-US" sz="2500" dirty="0">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latin typeface="Consolas" panose="020B0609020204030204" pitchFamily="49" charset="0"/>
              </a:rPr>
              <a:t>  return 0;</a:t>
            </a:r>
            <a:endParaRPr lang="en-US" altLang="en-US" sz="2500" dirty="0">
              <a:latin typeface="Consolas" panose="020B0609020204030204" pitchFamily="49" charset="0"/>
            </a:endParaRPr>
          </a:p>
          <a:p>
            <a:pPr eaLnBrk="1" hangingPunct="1">
              <a:lnSpc>
                <a:spcPct val="90000"/>
              </a:lnSpc>
              <a:buClr>
                <a:srgbClr val="EB641B"/>
              </a:buClr>
              <a:buFont typeface="Georgia" panose="02040502050405090303" pitchFamily="18" charset="0"/>
              <a:buNone/>
            </a:pPr>
            <a:r>
              <a:rPr lang="en-US" altLang="en-US" sz="2500" dirty="0">
                <a:latin typeface="Consolas" panose="020B0609020204030204" pitchFamily="49" charset="0"/>
              </a:rPr>
              <a:t>}</a:t>
            </a:r>
            <a:endParaRPr lang="en-US" altLang="en-US" sz="2500" dirty="0">
              <a:latin typeface="Consolas" panose="020B0609020204030204" pitchFamily="49" charset="0"/>
            </a:endParaRPr>
          </a:p>
        </p:txBody>
      </p:sp>
      <p:sp>
        <p:nvSpPr>
          <p:cNvPr id="40963"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
        <p:nvSpPr>
          <p:cNvPr id="40964" name="标题 4"/>
          <p:cNvSpPr txBox="1">
            <a:spLocks noChangeArrowheads="1"/>
          </p:cNvSpPr>
          <p:nvPr/>
        </p:nvSpPr>
        <p:spPr bwMode="auto">
          <a:xfrm>
            <a:off x="214313" y="0"/>
            <a:ext cx="7715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80000"/>
              </a:lnSpc>
            </a:pPr>
            <a:r>
              <a:rPr lang="en-US" altLang="en-US" sz="2600">
                <a:solidFill>
                  <a:schemeClr val="bg1"/>
                </a:solidFill>
                <a:latin typeface="Lucida Sans Unicode" panose="020B0602030504020204" pitchFamily="34" charset="0"/>
                <a:ea typeface="黑体" panose="02010609060101010101" pitchFamily="49" charset="-122"/>
              </a:rPr>
              <a:t>4.3 </a:t>
            </a:r>
            <a:r>
              <a:rPr lang="zh-CN" altLang="en-US" sz="2600">
                <a:solidFill>
                  <a:schemeClr val="bg1"/>
                </a:solidFill>
                <a:latin typeface="Lucida Sans Unicode" panose="020B0602030504020204" pitchFamily="34" charset="0"/>
                <a:ea typeface="黑体" panose="02010609060101010101" pitchFamily="49" charset="-122"/>
              </a:rPr>
              <a:t>构造函数和析构函数 </a:t>
            </a:r>
            <a:r>
              <a:rPr lang="en-US" altLang="en-US" sz="2600">
                <a:solidFill>
                  <a:schemeClr val="bg1"/>
                </a:solidFill>
                <a:latin typeface="Lucida Sans Unicode" panose="020B0602030504020204" pitchFamily="34" charset="0"/>
                <a:ea typeface="黑体" panose="02010609060101010101" pitchFamily="49" charset="-122"/>
              </a:rPr>
              <a:t>—— 4.3.1 </a:t>
            </a:r>
            <a:r>
              <a:rPr lang="zh-CN" altLang="en-US" sz="2600">
                <a:solidFill>
                  <a:schemeClr val="bg1"/>
                </a:solidFill>
                <a:latin typeface="Lucida Sans Unicode" panose="020B0602030504020204" pitchFamily="34" charset="0"/>
                <a:ea typeface="黑体" panose="02010609060101010101" pitchFamily="49" charset="-122"/>
              </a:rPr>
              <a:t>构造函数 </a:t>
            </a:r>
            <a:endParaRPr lang="zh-CN" altLang="en-US" sz="2600">
              <a:solidFill>
                <a:schemeClr val="bg1"/>
              </a:solidFill>
              <a:latin typeface="Lucida Sans Unicode" panose="020B0602030504020204" pitchFamily="34" charset="0"/>
              <a:ea typeface="黑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32000" y="432000"/>
            <a:ext cx="8230387" cy="899650"/>
          </a:xfrm>
        </p:spPr>
        <p:txBody>
          <a:bodyPr/>
          <a:lstStyle/>
          <a:p>
            <a:r>
              <a:rPr lang="zh-CN" altLang="en-US"/>
              <a:t>构造函数的必要性</a:t>
            </a:r>
            <a:endParaRPr lang="zh-CN" altLang="en-US"/>
          </a:p>
        </p:txBody>
      </p:sp>
      <p:sp>
        <p:nvSpPr>
          <p:cNvPr id="41987" name="Rectangle 3"/>
          <p:cNvSpPr>
            <a:spLocks noGrp="1" noChangeArrowheads="1"/>
          </p:cNvSpPr>
          <p:nvPr>
            <p:ph idx="1"/>
          </p:nvPr>
        </p:nvSpPr>
        <p:spPr/>
        <p:txBody>
          <a:bodyPr/>
          <a:lstStyle/>
          <a:p>
            <a:r>
              <a:rPr lang="zh-CN" altLang="en-US" dirty="0"/>
              <a:t>对比结构体的初始化</a:t>
            </a:r>
            <a:endParaRPr lang="zh-CN" altLang="en-US" dirty="0"/>
          </a:p>
        </p:txBody>
      </p:sp>
      <p:sp>
        <p:nvSpPr>
          <p:cNvPr id="41988" name="内容占位符 2"/>
          <p:cNvSpPr>
            <a:spLocks noGrp="1" noChangeArrowheads="1"/>
          </p:cNvSpPr>
          <p:nvPr/>
        </p:nvSpPr>
        <p:spPr bwMode="auto">
          <a:xfrm>
            <a:off x="76000" y="2170113"/>
            <a:ext cx="3914775" cy="376555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130000"/>
              </a:lnSpc>
              <a:spcBef>
                <a:spcPts val="400"/>
              </a:spcBef>
              <a:buClr>
                <a:srgbClr val="EB641B"/>
              </a:buClr>
              <a:buSzPct val="68000"/>
              <a:buFont typeface="Georgia" panose="02040502050405090303" pitchFamily="18" charset="0"/>
              <a:buNone/>
            </a:pPr>
            <a:r>
              <a:rPr lang="en-US" altLang="en-US" sz="2000" dirty="0">
                <a:latin typeface="Consolas" panose="020B0609020204030204" pitchFamily="49" charset="0"/>
                <a:ea typeface="黑体" panose="02010609060101010101" pitchFamily="49" charset="-122"/>
              </a:rPr>
              <a:t>struct Clock{</a:t>
            </a:r>
            <a:endParaRPr lang="en-US" altLang="en-US" sz="20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	int hour;</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	int minute;</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	int second;</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000" dirty="0">
                <a:latin typeface="Consolas" panose="020B0609020204030204" pitchFamily="49" charset="0"/>
                <a:ea typeface="黑体" panose="02010609060101010101" pitchFamily="49" charset="-122"/>
              </a:rPr>
              <a:t>};</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000" dirty="0">
                <a:latin typeface="Consolas" panose="020B0609020204030204" pitchFamily="49" charset="0"/>
                <a:ea typeface="黑体" panose="02010609060101010101" pitchFamily="49" charset="-122"/>
              </a:rPr>
              <a:t>void </a:t>
            </a:r>
            <a:r>
              <a:rPr lang="en-US" altLang="en-US" sz="2000" dirty="0" err="1">
                <a:latin typeface="Consolas" panose="020B0609020204030204" pitchFamily="49" charset="0"/>
                <a:ea typeface="黑体" panose="02010609060101010101" pitchFamily="49" charset="-122"/>
              </a:rPr>
              <a:t>func</a:t>
            </a:r>
            <a:r>
              <a:rPr lang="en-US" altLang="en-US" sz="2000" dirty="0">
                <a:latin typeface="Consolas" panose="020B0609020204030204" pitchFamily="49" charset="0"/>
                <a:ea typeface="黑体" panose="02010609060101010101" pitchFamily="49" charset="-122"/>
              </a:rPr>
              <a:t>(){</a:t>
            </a:r>
            <a:endParaRPr lang="en-US" altLang="en-US" sz="20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000" dirty="0">
                <a:latin typeface="Consolas" panose="020B0609020204030204" pitchFamily="49" charset="0"/>
                <a:ea typeface="黑体" panose="02010609060101010101" pitchFamily="49" charset="-122"/>
              </a:rPr>
              <a:t>	Clock c = {10, 10, 10};</a:t>
            </a:r>
            <a:endParaRPr lang="en-US" altLang="en-US" sz="20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000" dirty="0">
                <a:latin typeface="Consolas" panose="020B0609020204030204" pitchFamily="49" charset="0"/>
                <a:ea typeface="黑体" panose="02010609060101010101" pitchFamily="49" charset="-122"/>
              </a:rPr>
              <a:t>}</a:t>
            </a:r>
            <a:endParaRPr lang="en-US" altLang="en-US" sz="2000" dirty="0">
              <a:latin typeface="Consolas" panose="020B0609020204030204" pitchFamily="49" charset="0"/>
              <a:ea typeface="黑体" panose="02010609060101010101" pitchFamily="49" charset="-122"/>
            </a:endParaRPr>
          </a:p>
        </p:txBody>
      </p:sp>
      <p:sp>
        <p:nvSpPr>
          <p:cNvPr id="41989" name="内容占位符 2"/>
          <p:cNvSpPr>
            <a:spLocks noGrp="1" noChangeArrowheads="1"/>
          </p:cNvSpPr>
          <p:nvPr/>
        </p:nvSpPr>
        <p:spPr bwMode="auto">
          <a:xfrm>
            <a:off x="4168775" y="2096084"/>
            <a:ext cx="4899225" cy="467995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130000"/>
              </a:lnSpc>
              <a:spcBef>
                <a:spcPts val="400"/>
              </a:spcBef>
              <a:buClr>
                <a:srgbClr val="EB641B"/>
              </a:buClr>
              <a:buSzPct val="68000"/>
              <a:buFont typeface="Georgia" panose="02040502050405090303" pitchFamily="18" charset="0"/>
              <a:buNone/>
            </a:pPr>
            <a:r>
              <a:rPr lang="en-US" altLang="en-US" sz="2000" dirty="0">
                <a:latin typeface="Consolas" panose="020B0609020204030204" pitchFamily="49" charset="0"/>
                <a:ea typeface="黑体" panose="02010609060101010101" pitchFamily="49" charset="-122"/>
              </a:rPr>
              <a:t>Class Clock{</a:t>
            </a:r>
            <a:endParaRPr lang="en-US" altLang="en-US" sz="20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public:</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	//</a:t>
            </a:r>
            <a:r>
              <a:rPr lang="en-US" altLang="en-US" sz="1600" dirty="0" err="1">
                <a:latin typeface="Consolas" panose="020B0609020204030204" pitchFamily="49" charset="0"/>
                <a:ea typeface="黑体" panose="02010609060101010101" pitchFamily="49" charset="-122"/>
              </a:rPr>
              <a:t>公有成员</a:t>
            </a:r>
            <a:r>
              <a:rPr lang="en-US" altLang="en-US" sz="1600" dirty="0">
                <a:latin typeface="Consolas" panose="020B0609020204030204" pitchFamily="49" charset="0"/>
                <a:ea typeface="黑体" panose="02010609060101010101" pitchFamily="49" charset="-122"/>
              </a:rPr>
              <a:t>......</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private:	</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	int hour;</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	int minute;</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	int second;</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000" dirty="0">
                <a:latin typeface="Consolas" panose="020B0609020204030204" pitchFamily="49" charset="0"/>
                <a:ea typeface="黑体" panose="02010609060101010101" pitchFamily="49" charset="-122"/>
              </a:rPr>
              <a:t>};</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000" dirty="0">
                <a:latin typeface="Consolas" panose="020B0609020204030204" pitchFamily="49" charset="0"/>
                <a:ea typeface="黑体" panose="02010609060101010101" pitchFamily="49" charset="-122"/>
              </a:rPr>
              <a:t>void </a:t>
            </a:r>
            <a:r>
              <a:rPr lang="en-US" altLang="en-US" sz="2000" dirty="0" err="1">
                <a:latin typeface="Consolas" panose="020B0609020204030204" pitchFamily="49" charset="0"/>
                <a:ea typeface="黑体" panose="02010609060101010101" pitchFamily="49" charset="-122"/>
              </a:rPr>
              <a:t>func</a:t>
            </a:r>
            <a:r>
              <a:rPr lang="en-US" altLang="en-US" sz="2000" dirty="0">
                <a:latin typeface="Consolas" panose="020B0609020204030204" pitchFamily="49" charset="0"/>
                <a:ea typeface="黑体" panose="02010609060101010101" pitchFamily="49" charset="-122"/>
              </a:rPr>
              <a:t>(){</a:t>
            </a:r>
            <a:endParaRPr lang="en-US" altLang="en-US" sz="20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000" dirty="0">
                <a:latin typeface="Consolas" panose="020B0609020204030204" pitchFamily="49" charset="0"/>
                <a:ea typeface="黑体" panose="02010609060101010101" pitchFamily="49" charset="-122"/>
              </a:rPr>
              <a:t>	Clock c = {10, 10, 10};//</a:t>
            </a:r>
            <a:r>
              <a:rPr lang="en-US" altLang="en-US" sz="2000" dirty="0">
                <a:solidFill>
                  <a:schemeClr val="accent2"/>
                </a:solidFill>
                <a:latin typeface="Consolas" panose="020B0609020204030204" pitchFamily="49" charset="0"/>
                <a:ea typeface="黑体" panose="02010609060101010101" pitchFamily="49" charset="-122"/>
              </a:rPr>
              <a:t>error</a:t>
            </a:r>
            <a:endParaRPr lang="en-US" altLang="en-US" sz="2000" dirty="0">
              <a:solidFill>
                <a:schemeClr val="accent2"/>
              </a:solidFill>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000" dirty="0">
                <a:latin typeface="Consolas" panose="020B0609020204030204" pitchFamily="49" charset="0"/>
                <a:ea typeface="黑体" panose="02010609060101010101" pitchFamily="49" charset="-122"/>
              </a:rPr>
              <a:t>}</a:t>
            </a:r>
            <a:endParaRPr lang="en-US" altLang="en-US" sz="2000" dirty="0">
              <a:latin typeface="Consolas" panose="020B0609020204030204" pitchFamily="49" charset="0"/>
              <a:ea typeface="黑体" panose="02010609060101010101" pitchFamily="49" charset="-122"/>
            </a:endParaRPr>
          </a:p>
        </p:txBody>
      </p:sp>
      <p:sp>
        <p:nvSpPr>
          <p:cNvPr id="41990" name="Text Box 6"/>
          <p:cNvSpPr txBox="1">
            <a:spLocks noChangeArrowheads="1"/>
          </p:cNvSpPr>
          <p:nvPr/>
        </p:nvSpPr>
        <p:spPr bwMode="auto">
          <a:xfrm>
            <a:off x="5003800" y="981075"/>
            <a:ext cx="38862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r>
              <a:rPr lang="zh-CN" altLang="en-US"/>
              <a:t>如果右侧代码可行，那么就实际绕过成员函数访问私有的数据成员了</a:t>
            </a:r>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默认的构造函数</a:t>
            </a:r>
            <a:endParaRPr lang="en-US" dirty="0"/>
          </a:p>
        </p:txBody>
      </p:sp>
      <p:sp>
        <p:nvSpPr>
          <p:cNvPr id="3" name="内容占位符 2"/>
          <p:cNvSpPr>
            <a:spLocks noGrp="1"/>
          </p:cNvSpPr>
          <p:nvPr>
            <p:ph idx="1"/>
          </p:nvPr>
        </p:nvSpPr>
        <p:spPr/>
        <p:txBody>
          <a:bodyPr>
            <a:normAutofit/>
          </a:bodyPr>
          <a:lstStyle/>
          <a:p>
            <a:r>
              <a:rPr lang="zh-CN" altLang="en-US" dirty="0"/>
              <a:t>如果程序中未声明，则系统自动产生出一个默认构造函数，其参数列表为空。</a:t>
            </a:r>
            <a:endParaRPr lang="zh-CN" altLang="en-US" dirty="0"/>
          </a:p>
          <a:p>
            <a:r>
              <a:rPr lang="zh-CN" altLang="en-US" dirty="0">
                <a:solidFill>
                  <a:srgbClr val="FF0000"/>
                </a:solidFill>
              </a:rPr>
              <a:t>一个类只能有一个默认构造函数。</a:t>
            </a:r>
            <a:endParaRPr lang="zh-CN" altLang="en-US" dirty="0">
              <a:solidFill>
                <a:srgbClr val="FF0000"/>
              </a:solidFill>
            </a:endParaRPr>
          </a:p>
          <a:p>
            <a:r>
              <a:rPr lang="zh-CN" altLang="en-US" dirty="0"/>
              <a:t>调用时不需要参数的构造函数，都可以是默认构造函数。</a:t>
            </a:r>
            <a:endParaRPr lang="zh-CN" altLang="en-US" dirty="0"/>
          </a:p>
          <a:p>
            <a:pPr lvl="1"/>
            <a:r>
              <a:rPr lang="zh-CN" altLang="en-US" dirty="0"/>
              <a:t>在类中可以自定义无参数的构造函数，是默认构造函数</a:t>
            </a:r>
            <a:endParaRPr lang="zh-CN" altLang="en-US" dirty="0"/>
          </a:p>
          <a:p>
            <a:pPr lvl="1"/>
            <a:r>
              <a:rPr lang="zh-CN" altLang="en-US" dirty="0"/>
              <a:t>全部参数都有默认形参值的构造函数也可以是默认构造函数</a:t>
            </a:r>
            <a:endParaRPr lang="zh-CN" altLang="en-US" dirty="0"/>
          </a:p>
          <a:p>
            <a:r>
              <a:rPr lang="zh-CN" altLang="en-US" dirty="0"/>
              <a:t>如果下面两个都是默认构造函数，如果在类中同时出现，将产生编译错误：</a:t>
            </a:r>
            <a:endParaRPr lang="zh-CN" altLang="en-US" dirty="0"/>
          </a:p>
          <a:p>
            <a:pPr lvl="1"/>
            <a:r>
              <a:rPr lang="en-US" altLang="zh-CN" dirty="0"/>
              <a:t>Clock();</a:t>
            </a:r>
            <a:endParaRPr lang="en-US" altLang="zh-CN" dirty="0"/>
          </a:p>
          <a:p>
            <a:pPr lvl="1"/>
            <a:r>
              <a:rPr lang="en-US" altLang="zh-CN" dirty="0"/>
              <a:t>Clock(int </a:t>
            </a:r>
            <a:r>
              <a:rPr lang="en-US" altLang="zh-CN" dirty="0" err="1"/>
              <a:t>newH</a:t>
            </a:r>
            <a:r>
              <a:rPr lang="en-US" altLang="zh-CN" dirty="0"/>
              <a:t>=0,int </a:t>
            </a:r>
            <a:r>
              <a:rPr lang="en-US" altLang="zh-CN" dirty="0" err="1"/>
              <a:t>newM</a:t>
            </a:r>
            <a:r>
              <a:rPr lang="en-US" altLang="zh-CN" dirty="0"/>
              <a:t>=0,int </a:t>
            </a:r>
            <a:r>
              <a:rPr lang="en-US" altLang="zh-CN" dirty="0" err="1"/>
              <a:t>newS</a:t>
            </a:r>
            <a:r>
              <a:rPr lang="en-US" altLang="zh-CN" dirty="0"/>
              <a:t>=0);</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32000" y="432000"/>
            <a:ext cx="8230387" cy="899650"/>
          </a:xfrm>
        </p:spPr>
        <p:txBody>
          <a:bodyPr/>
          <a:lstStyle/>
          <a:p>
            <a:r>
              <a:rPr lang="zh-CN" altLang="en-US"/>
              <a:t>重载构造函数</a:t>
            </a:r>
            <a:endParaRPr lang="zh-CN" altLang="en-US"/>
          </a:p>
        </p:txBody>
      </p:sp>
      <p:sp>
        <p:nvSpPr>
          <p:cNvPr id="44035" name="Rectangle 3"/>
          <p:cNvSpPr>
            <a:spLocks noGrp="1" noChangeArrowheads="1"/>
          </p:cNvSpPr>
          <p:nvPr>
            <p:ph idx="1"/>
          </p:nvPr>
        </p:nvSpPr>
        <p:spPr>
          <a:xfrm>
            <a:off x="250825" y="1317625"/>
            <a:ext cx="8229600" cy="4525963"/>
          </a:xfrm>
        </p:spPr>
        <p:txBody>
          <a:bodyPr/>
          <a:lstStyle/>
          <a:p>
            <a:r>
              <a:rPr lang="zh-CN" altLang="en-US" dirty="0">
                <a:solidFill>
                  <a:srgbClr val="FF0000"/>
                </a:solidFill>
              </a:rPr>
              <a:t>构造函数可以重载</a:t>
            </a:r>
            <a:r>
              <a:rPr lang="zh-CN" altLang="en-US" dirty="0"/>
              <a:t>，</a:t>
            </a:r>
            <a:r>
              <a:rPr lang="en-US" altLang="zh-CN" dirty="0"/>
              <a:t>C++</a:t>
            </a:r>
            <a:r>
              <a:rPr lang="zh-CN" altLang="en-US" dirty="0"/>
              <a:t>根据声明中的参数自动选择合适的构造函数</a:t>
            </a:r>
            <a:endParaRPr lang="zh-CN" altLang="en-US" dirty="0"/>
          </a:p>
        </p:txBody>
      </p:sp>
      <p:sp>
        <p:nvSpPr>
          <p:cNvPr id="44036" name="内容占位符 2"/>
          <p:cNvSpPr>
            <a:spLocks noGrp="1" noChangeArrowheads="1"/>
          </p:cNvSpPr>
          <p:nvPr/>
        </p:nvSpPr>
        <p:spPr bwMode="auto">
          <a:xfrm>
            <a:off x="1053306" y="2091541"/>
            <a:ext cx="6624637" cy="4465638"/>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Class Clock{</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400" dirty="0">
                <a:latin typeface="Consolas" panose="020B0609020204030204" pitchFamily="49" charset="0"/>
                <a:ea typeface="黑体" panose="02010609060101010101" pitchFamily="49" charset="-122"/>
              </a:rPr>
              <a:t>public:</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400" dirty="0">
                <a:latin typeface="Consolas" panose="020B0609020204030204" pitchFamily="49" charset="0"/>
                <a:ea typeface="黑体" panose="02010609060101010101" pitchFamily="49" charset="-122"/>
              </a:rPr>
              <a:t>	Clock(){};</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400" dirty="0">
                <a:latin typeface="Consolas" panose="020B0609020204030204" pitchFamily="49" charset="0"/>
                <a:ea typeface="黑体" panose="02010609060101010101" pitchFamily="49" charset="-122"/>
              </a:rPr>
              <a:t>	Clock(int </a:t>
            </a:r>
            <a:r>
              <a:rPr lang="en-US" altLang="en-US" sz="1400" dirty="0" err="1">
                <a:latin typeface="Consolas" panose="020B0609020204030204" pitchFamily="49" charset="0"/>
                <a:ea typeface="黑体" panose="02010609060101010101" pitchFamily="49" charset="-122"/>
              </a:rPr>
              <a:t>newH</a:t>
            </a:r>
            <a:r>
              <a:rPr lang="en-US" altLang="en-US" sz="1400" dirty="0">
                <a:latin typeface="Consolas" panose="020B0609020204030204" pitchFamily="49" charset="0"/>
                <a:ea typeface="黑体" panose="02010609060101010101" pitchFamily="49" charset="-122"/>
              </a:rPr>
              <a:t>){};</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400" dirty="0">
                <a:latin typeface="Consolas" panose="020B0609020204030204" pitchFamily="49" charset="0"/>
                <a:ea typeface="黑体" panose="02010609060101010101" pitchFamily="49" charset="-122"/>
              </a:rPr>
              <a:t>	//</a:t>
            </a:r>
            <a:r>
              <a:rPr lang="en-US" altLang="en-US" sz="1400" dirty="0" err="1">
                <a:latin typeface="Consolas" panose="020B0609020204030204" pitchFamily="49" charset="0"/>
                <a:ea typeface="黑体" panose="02010609060101010101" pitchFamily="49" charset="-122"/>
              </a:rPr>
              <a:t>其他公有成员</a:t>
            </a:r>
            <a:r>
              <a:rPr lang="en-US" altLang="en-US" sz="1400" dirty="0">
                <a:latin typeface="Consolas" panose="020B0609020204030204" pitchFamily="49" charset="0"/>
                <a:ea typeface="黑体" panose="02010609060101010101" pitchFamily="49" charset="-122"/>
              </a:rPr>
              <a:t>......</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400" dirty="0">
                <a:latin typeface="Consolas" panose="020B0609020204030204" pitchFamily="49" charset="0"/>
                <a:ea typeface="黑体" panose="02010609060101010101" pitchFamily="49" charset="-122"/>
              </a:rPr>
              <a:t>private:	</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400" dirty="0">
                <a:latin typeface="Consolas" panose="020B0609020204030204" pitchFamily="49" charset="0"/>
                <a:ea typeface="黑体" panose="02010609060101010101" pitchFamily="49" charset="-122"/>
              </a:rPr>
              <a:t>	//</a:t>
            </a:r>
            <a:r>
              <a:rPr lang="en-US" altLang="en-US" sz="1400" dirty="0" err="1">
                <a:latin typeface="Consolas" panose="020B0609020204030204" pitchFamily="49" charset="0"/>
                <a:ea typeface="黑体" panose="02010609060101010101" pitchFamily="49" charset="-122"/>
              </a:rPr>
              <a:t>私有成员</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void </a:t>
            </a:r>
            <a:r>
              <a:rPr lang="en-US" altLang="en-US" sz="1600" dirty="0" err="1">
                <a:latin typeface="Consolas" panose="020B0609020204030204" pitchFamily="49" charset="0"/>
                <a:ea typeface="黑体" panose="02010609060101010101" pitchFamily="49" charset="-122"/>
              </a:rPr>
              <a:t>func</a:t>
            </a:r>
            <a:r>
              <a:rPr lang="en-US" altLang="en-US" sz="1600" dirty="0">
                <a:latin typeface="Consolas" panose="020B0609020204030204" pitchFamily="49" charset="0"/>
                <a:ea typeface="黑体" panose="02010609060101010101" pitchFamily="49" charset="-122"/>
              </a:rPr>
              <a:t>(){</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	Clock c1;</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	Clock c2(10);</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600" dirty="0">
                <a:latin typeface="Consolas" panose="020B0609020204030204" pitchFamily="49" charset="0"/>
                <a:ea typeface="黑体" panose="02010609060101010101" pitchFamily="49" charset="-122"/>
              </a:rPr>
              <a:t>}</a:t>
            </a:r>
            <a:r>
              <a:rPr lang="en-US" altLang="en-US" sz="1700" dirty="0">
                <a:latin typeface="Consolas" panose="020B0609020204030204" pitchFamily="49" charset="0"/>
                <a:ea typeface="黑体" panose="02010609060101010101" pitchFamily="49" charset="-122"/>
              </a:rPr>
              <a:t> </a:t>
            </a:r>
            <a:endParaRPr lang="en-US" altLang="en-US" sz="1700" dirty="0">
              <a:latin typeface="Consolas" panose="020B0609020204030204" pitchFamily="49" charset="0"/>
              <a:ea typeface="黑体" panose="02010609060101010101"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内容占位符 2"/>
          <p:cNvSpPr>
            <a:spLocks noGrp="1" noChangeArrowheads="1"/>
          </p:cNvSpPr>
          <p:nvPr>
            <p:ph idx="4294967295"/>
          </p:nvPr>
        </p:nvSpPr>
        <p:spPr>
          <a:xfrm>
            <a:off x="534194" y="1627131"/>
            <a:ext cx="8362950" cy="4468142"/>
          </a:xfrm>
          <a:ln>
            <a:solidFill>
              <a:schemeClr val="accent1"/>
            </a:solidFill>
            <a:miter lim="800000"/>
          </a:ln>
        </p:spPr>
        <p:txBody>
          <a:bodyPr/>
          <a:lstStyle/>
          <a:p>
            <a:pPr eaLnBrk="1" hangingPunct="1">
              <a:lnSpc>
                <a:spcPct val="120000"/>
              </a:lnSpc>
            </a:pPr>
            <a:r>
              <a:rPr lang="en-US" altLang="en-US" dirty="0">
                <a:solidFill>
                  <a:srgbClr val="0070C0"/>
                </a:solidFill>
              </a:rPr>
              <a:t>构造函数的作用: </a:t>
            </a:r>
            <a:r>
              <a:rPr lang="en-US" altLang="en-US" sz="2400" dirty="0">
                <a:solidFill>
                  <a:srgbClr val="0070C0"/>
                </a:solidFill>
                <a:latin typeface="楷体" panose="02010609060101010101" pitchFamily="49" charset="-122"/>
                <a:ea typeface="楷体" panose="02010609060101010101" pitchFamily="49" charset="-122"/>
              </a:rPr>
              <a:t>创建对象</a:t>
            </a:r>
            <a:r>
              <a:rPr lang="en-US" altLang="en-US" sz="2400" dirty="0"/>
              <a:t>时使用特定的值</a:t>
            </a:r>
            <a:r>
              <a:rPr lang="en-US" altLang="en-US" sz="2400" b="1" dirty="0"/>
              <a:t>构造对象</a:t>
            </a:r>
            <a:r>
              <a:rPr lang="en-US" altLang="en-US" sz="2400" dirty="0"/>
              <a:t>，将对象初始化为一个特定的</a:t>
            </a:r>
            <a:r>
              <a:rPr lang="en-US" altLang="en-US" sz="2400" b="1" dirty="0">
                <a:solidFill>
                  <a:srgbClr val="0070C0"/>
                </a:solidFill>
              </a:rPr>
              <a:t>初始状态</a:t>
            </a:r>
            <a:r>
              <a:rPr lang="en-US" altLang="en-US" sz="2400" dirty="0"/>
              <a:t>。</a:t>
            </a:r>
            <a:endParaRPr lang="en-US" altLang="en-US" sz="2400" dirty="0"/>
          </a:p>
          <a:p>
            <a:pPr eaLnBrk="1" hangingPunct="1">
              <a:lnSpc>
                <a:spcPct val="120000"/>
              </a:lnSpc>
            </a:pPr>
            <a:r>
              <a:rPr lang="en-US" altLang="en-US" sz="2400" dirty="0"/>
              <a:t>在对象创建时被</a:t>
            </a:r>
            <a:r>
              <a:rPr lang="en-US" altLang="en-US" sz="2400" dirty="0">
                <a:solidFill>
                  <a:srgbClr val="C00000"/>
                </a:solidFill>
              </a:rPr>
              <a:t>自动调用</a:t>
            </a:r>
            <a:r>
              <a:rPr lang="zh-CN" altLang="en-US" sz="2400" dirty="0"/>
              <a:t>。</a:t>
            </a:r>
            <a:endParaRPr lang="en-US" altLang="en-US" sz="2400" dirty="0"/>
          </a:p>
          <a:p>
            <a:pPr eaLnBrk="1" hangingPunct="1">
              <a:lnSpc>
                <a:spcPct val="120000"/>
              </a:lnSpc>
            </a:pPr>
            <a:r>
              <a:rPr lang="en-US" altLang="en-US" sz="2400" dirty="0"/>
              <a:t>构造函数名</a:t>
            </a:r>
            <a:r>
              <a:rPr lang="en-US" altLang="en-US" sz="2400" dirty="0">
                <a:solidFill>
                  <a:srgbClr val="C00000"/>
                </a:solidFill>
              </a:rPr>
              <a:t>与类</a:t>
            </a:r>
            <a:r>
              <a:rPr lang="zh-CN" altLang="en-US" sz="2400" dirty="0">
                <a:solidFill>
                  <a:srgbClr val="C00000"/>
                </a:solidFill>
              </a:rPr>
              <a:t>同</a:t>
            </a:r>
            <a:r>
              <a:rPr lang="en-US" altLang="en-US" sz="2400" dirty="0" err="1">
                <a:solidFill>
                  <a:srgbClr val="C00000"/>
                </a:solidFill>
              </a:rPr>
              <a:t>名</a:t>
            </a:r>
            <a:r>
              <a:rPr lang="en-US" altLang="en-US" sz="2400" dirty="0" err="1"/>
              <a:t>，且</a:t>
            </a:r>
            <a:r>
              <a:rPr lang="zh-CN" altLang="en-US" sz="2400" dirty="0">
                <a:solidFill>
                  <a:srgbClr val="C00000"/>
                </a:solidFill>
              </a:rPr>
              <a:t>无</a:t>
            </a:r>
            <a:r>
              <a:rPr lang="en-US" altLang="en-US" sz="2400" dirty="0" err="1">
                <a:solidFill>
                  <a:srgbClr val="C00000"/>
                </a:solidFill>
              </a:rPr>
              <a:t>返回值</a:t>
            </a:r>
            <a:r>
              <a:rPr lang="en-US" altLang="en-US" sz="2400" dirty="0" err="1"/>
              <a:t>；</a:t>
            </a:r>
            <a:r>
              <a:rPr lang="en-US" altLang="en-US" sz="2400" dirty="0" err="1">
                <a:solidFill>
                  <a:srgbClr val="0070C0"/>
                </a:solidFill>
              </a:rPr>
              <a:t>通常</a:t>
            </a:r>
            <a:r>
              <a:rPr lang="en-US" altLang="en-US" sz="2400" dirty="0" err="1"/>
              <a:t>为</a:t>
            </a:r>
            <a:r>
              <a:rPr lang="en-US" altLang="en-US" sz="2400" dirty="0" err="1">
                <a:highlight>
                  <a:srgbClr val="FFFF00"/>
                </a:highlight>
              </a:rPr>
              <a:t>公有</a:t>
            </a:r>
            <a:r>
              <a:rPr lang="en-US" altLang="en-US" sz="2400" dirty="0" err="1"/>
              <a:t>函数</a:t>
            </a:r>
            <a:r>
              <a:rPr lang="en-US" altLang="en-US" sz="2400" dirty="0"/>
              <a:t>。</a:t>
            </a:r>
            <a:endParaRPr lang="en-US" altLang="en-US" sz="2400" dirty="0"/>
          </a:p>
          <a:p>
            <a:pPr eaLnBrk="1" hangingPunct="1">
              <a:lnSpc>
                <a:spcPct val="120000"/>
              </a:lnSpc>
            </a:pPr>
            <a:r>
              <a:rPr lang="en-US" altLang="en-US" sz="2400" b="1" dirty="0"/>
              <a:t>构造函数</a:t>
            </a:r>
            <a:r>
              <a:rPr lang="en-US" altLang="en-US" sz="2400" dirty="0"/>
              <a:t>可以是</a:t>
            </a:r>
            <a:r>
              <a:rPr lang="zh-CN" altLang="en-US" sz="2400" dirty="0"/>
              <a:t>：</a:t>
            </a:r>
            <a:endParaRPr lang="en-US" altLang="en-US" sz="2400" dirty="0"/>
          </a:p>
          <a:p>
            <a:pPr lvl="1" eaLnBrk="1" hangingPunct="1">
              <a:lnSpc>
                <a:spcPct val="120000"/>
              </a:lnSpc>
            </a:pPr>
            <a:r>
              <a:rPr lang="en-US" altLang="en-US" sz="2000" dirty="0" err="1"/>
              <a:t>内联函数</a:t>
            </a:r>
            <a:endParaRPr lang="en-US" altLang="en-US" sz="2000" dirty="0"/>
          </a:p>
          <a:p>
            <a:pPr lvl="1" eaLnBrk="1" hangingPunct="1">
              <a:lnSpc>
                <a:spcPct val="120000"/>
              </a:lnSpc>
            </a:pPr>
            <a:r>
              <a:rPr lang="en-US" altLang="en-US" sz="2000" dirty="0"/>
              <a:t>重载函数: </a:t>
            </a:r>
            <a:r>
              <a:rPr lang="zh-CN" altLang="en-US" sz="2000" dirty="0">
                <a:latin typeface="楷体" panose="02010609060101010101" pitchFamily="49" charset="-122"/>
                <a:ea typeface="楷体" panose="02010609060101010101" pitchFamily="49" charset="-122"/>
              </a:rPr>
              <a:t>不同初始条件下，创建不同初始状态的对象</a:t>
            </a:r>
            <a:endParaRPr lang="en-US" altLang="en-US" sz="2000" dirty="0">
              <a:latin typeface="楷体" panose="02010609060101010101" pitchFamily="49" charset="-122"/>
              <a:ea typeface="楷体" panose="02010609060101010101" pitchFamily="49" charset="-122"/>
            </a:endParaRPr>
          </a:p>
          <a:p>
            <a:pPr lvl="1" eaLnBrk="1" hangingPunct="1">
              <a:lnSpc>
                <a:spcPct val="120000"/>
              </a:lnSpc>
            </a:pPr>
            <a:r>
              <a:rPr lang="en-US" altLang="en-US" sz="2000" dirty="0"/>
              <a:t>带默认参数值的函数</a:t>
            </a:r>
            <a:endParaRPr lang="en-US" altLang="en-US" sz="2000" dirty="0"/>
          </a:p>
        </p:txBody>
      </p:sp>
      <p:sp>
        <p:nvSpPr>
          <p:cNvPr id="78851"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Pct val="68000"/>
              <a:buFont typeface="Wingdings 3" panose="05040102010807070707" pitchFamily="18" charset="2"/>
              <a:buNone/>
              <a:defRPr/>
            </a:pPr>
            <a:fld id="{48036757-58BA-432F-BC32-8F7BE822D5B0}" type="slidenum">
              <a:rPr kumimoji="0" lang="en-US" altLang="en-US" sz="1000" b="0" i="0" u="none" strike="noStrike" kern="1200" cap="none" spc="0" normalizeH="0" baseline="0" noProof="0">
                <a:ln>
                  <a:noFill/>
                </a:ln>
                <a:solidFill>
                  <a:srgbClr val="000000"/>
                </a:solidFill>
                <a:effectLst/>
                <a:uLnTx/>
                <a:uFillTx/>
                <a:latin typeface="Times New Roman" panose="02020503050405090304" pitchFamily="18" charset="0"/>
                <a:ea typeface="隶书" panose="02010509060101010101" pitchFamily="49" charset="-122"/>
                <a:cs typeface="+mn-cs"/>
              </a:rPr>
            </a:fld>
            <a:endParaRPr kumimoji="0" lang="en-US" altLang="en-US" sz="1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p:txBody>
      </p:sp>
      <p:sp>
        <p:nvSpPr>
          <p:cNvPr id="78853" name="Rectangle 5"/>
          <p:cNvSpPr>
            <a:spLocks noGrp="1" noChangeArrowheads="1"/>
          </p:cNvSpPr>
          <p:nvPr/>
        </p:nvSpPr>
        <p:spPr bwMode="auto">
          <a:xfrm>
            <a:off x="534194" y="40206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构造函数</a:t>
            </a:r>
            <a:endPar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32000" y="432000"/>
            <a:ext cx="8230387" cy="899650"/>
          </a:xfrm>
        </p:spPr>
        <p:txBody>
          <a:bodyPr/>
          <a:lstStyle/>
          <a:p>
            <a:r>
              <a:rPr lang="zh-CN" altLang="en-US" dirty="0"/>
              <a:t>构造函数的调用</a:t>
            </a:r>
            <a:endParaRPr lang="zh-CN" altLang="en-US" dirty="0"/>
          </a:p>
        </p:txBody>
      </p:sp>
      <p:sp>
        <p:nvSpPr>
          <p:cNvPr id="50179" name="Rectangle 3"/>
          <p:cNvSpPr>
            <a:spLocks noGrp="1" noChangeArrowheads="1"/>
          </p:cNvSpPr>
          <p:nvPr>
            <p:ph idx="1"/>
          </p:nvPr>
        </p:nvSpPr>
        <p:spPr>
          <a:xfrm>
            <a:off x="457200" y="1268413"/>
            <a:ext cx="8229600" cy="4525962"/>
          </a:xfrm>
        </p:spPr>
        <p:txBody>
          <a:bodyPr/>
          <a:lstStyle/>
          <a:p>
            <a:r>
              <a:rPr lang="zh-CN" altLang="en-US" dirty="0"/>
              <a:t>类的对象被创建时，自动被调用</a:t>
            </a:r>
            <a:endParaRPr lang="zh-CN" altLang="en-US" dirty="0"/>
          </a:p>
        </p:txBody>
      </p:sp>
      <p:sp>
        <p:nvSpPr>
          <p:cNvPr id="50180" name="内容占位符 2"/>
          <p:cNvSpPr>
            <a:spLocks noGrp="1" noChangeArrowheads="1"/>
          </p:cNvSpPr>
          <p:nvPr/>
        </p:nvSpPr>
        <p:spPr bwMode="auto">
          <a:xfrm>
            <a:off x="1670306" y="1828671"/>
            <a:ext cx="6335712" cy="4681537"/>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130000"/>
              </a:lnSpc>
              <a:spcBef>
                <a:spcPts val="400"/>
              </a:spcBef>
              <a:buClr>
                <a:srgbClr val="EB641B"/>
              </a:buClr>
              <a:buSzPct val="68000"/>
              <a:buFont typeface="Georgia" panose="02040502050405090303" pitchFamily="18" charset="0"/>
              <a:buNone/>
            </a:pPr>
            <a:r>
              <a:rPr lang="en-US" altLang="en-US" sz="2100">
                <a:latin typeface="Consolas" panose="020B0609020204030204" pitchFamily="49" charset="0"/>
                <a:ea typeface="黑体" panose="02010609060101010101" pitchFamily="49" charset="-122"/>
              </a:rPr>
              <a:t>Class Clock{</a:t>
            </a:r>
            <a:endParaRPr lang="en-US" altLang="en-US" sz="21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700">
                <a:latin typeface="Consolas" panose="020B0609020204030204" pitchFamily="49" charset="0"/>
                <a:ea typeface="黑体" panose="02010609060101010101" pitchFamily="49" charset="-122"/>
              </a:rPr>
              <a:t>public:</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700">
                <a:latin typeface="Consolas" panose="020B0609020204030204" pitchFamily="49" charset="0"/>
                <a:ea typeface="黑体" panose="02010609060101010101" pitchFamily="49" charset="-122"/>
              </a:rPr>
              <a:t>	Clock(){};</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700">
                <a:latin typeface="Consolas" panose="020B0609020204030204" pitchFamily="49" charset="0"/>
                <a:ea typeface="黑体" panose="02010609060101010101" pitchFamily="49" charset="-122"/>
              </a:rPr>
              <a:t>	//其他公有成员......</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700">
                <a:latin typeface="Consolas" panose="020B0609020204030204" pitchFamily="49" charset="0"/>
                <a:ea typeface="黑体" panose="02010609060101010101" pitchFamily="49" charset="-122"/>
              </a:rPr>
              <a:t>private:	</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1700">
                <a:latin typeface="Consolas" panose="020B0609020204030204" pitchFamily="49" charset="0"/>
                <a:ea typeface="黑体" panose="02010609060101010101" pitchFamily="49" charset="-122"/>
              </a:rPr>
              <a:t>	//私有成员</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100">
                <a:latin typeface="Consolas" panose="020B0609020204030204" pitchFamily="49" charset="0"/>
                <a:ea typeface="黑体" panose="02010609060101010101" pitchFamily="49" charset="-122"/>
              </a:rPr>
              <a:t>};</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100">
                <a:latin typeface="Consolas" panose="020B0609020204030204" pitchFamily="49" charset="0"/>
                <a:ea typeface="黑体" panose="02010609060101010101" pitchFamily="49" charset="-122"/>
              </a:rPr>
              <a:t>void func(){</a:t>
            </a:r>
            <a:endParaRPr lang="en-US" altLang="en-US" sz="21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100">
                <a:latin typeface="Consolas" panose="020B0609020204030204" pitchFamily="49" charset="0"/>
                <a:ea typeface="黑体" panose="02010609060101010101" pitchFamily="49" charset="-122"/>
              </a:rPr>
              <a:t>	Clock c; //调用一次</a:t>
            </a:r>
            <a:endParaRPr lang="en-US" altLang="en-US" sz="21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100">
                <a:latin typeface="Consolas" panose="020B0609020204030204" pitchFamily="49" charset="0"/>
                <a:ea typeface="黑体" panose="02010609060101010101" pitchFamily="49" charset="-122"/>
              </a:rPr>
              <a:t>	Clock clocks[5]; //调用5次</a:t>
            </a:r>
            <a:endParaRPr lang="en-US" altLang="en-US" sz="2100">
              <a:solidFill>
                <a:schemeClr val="accent2"/>
              </a:solidFill>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90303" pitchFamily="18" charset="0"/>
              <a:buNone/>
            </a:pPr>
            <a:r>
              <a:rPr lang="en-US" altLang="en-US" sz="2100">
                <a:latin typeface="Consolas" panose="020B0609020204030204" pitchFamily="49" charset="0"/>
                <a:ea typeface="黑体" panose="02010609060101010101" pitchFamily="49" charset="-122"/>
              </a:rPr>
              <a:t>}</a:t>
            </a:r>
            <a:endParaRPr lang="en-US" altLang="en-US" sz="2100">
              <a:latin typeface="Consolas" panose="020B0609020204030204" pitchFamily="49" charset="0"/>
              <a:ea typeface="黑体" panose="02010609060101010101"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复制构造函数</a:t>
            </a:r>
            <a:endParaRPr lang="en-US" dirty="0"/>
          </a:p>
        </p:txBody>
      </p:sp>
      <p:sp>
        <p:nvSpPr>
          <p:cNvPr id="3" name="内容占位符 2"/>
          <p:cNvSpPr>
            <a:spLocks noGrp="1"/>
          </p:cNvSpPr>
          <p:nvPr>
            <p:ph idx="1"/>
          </p:nvPr>
        </p:nvSpPr>
        <p:spPr/>
        <p:txBody>
          <a:bodyPr/>
          <a:lstStyle/>
          <a:p>
            <a:pPr marL="0" indent="351155">
              <a:buNone/>
            </a:pPr>
            <a:r>
              <a:rPr lang="en-US" altLang="en-US" dirty="0" err="1">
                <a:latin typeface="宋体" pitchFamily="2" charset="-122"/>
              </a:rPr>
              <a:t>复制构造函数是一种特殊的构造函数，其</a:t>
            </a:r>
            <a:r>
              <a:rPr lang="en-US" altLang="en-US" dirty="0" err="1">
                <a:solidFill>
                  <a:srgbClr val="FF0000"/>
                </a:solidFill>
                <a:latin typeface="宋体" pitchFamily="2" charset="-122"/>
              </a:rPr>
              <a:t>形参为本类的对象引用</a:t>
            </a:r>
            <a:r>
              <a:rPr lang="en-US" altLang="en-US" dirty="0" err="1">
                <a:latin typeface="宋体" pitchFamily="2" charset="-122"/>
              </a:rPr>
              <a:t>。作用是用一个已存在的对象去初始化同类型的新对象</a:t>
            </a:r>
            <a:r>
              <a:rPr lang="en-US" altLang="en-US" dirty="0">
                <a:latin typeface="宋体" pitchFamily="2" charset="-122"/>
              </a:rPr>
              <a:t>。</a:t>
            </a:r>
            <a:endParaRPr lang="en-US" altLang="en-US" dirty="0">
              <a:latin typeface="宋体" pitchFamily="2" charset="-122"/>
              <a:ea typeface="宋体" pitchFamily="2" charset="-122"/>
            </a:endParaRPr>
          </a:p>
          <a:p>
            <a:pPr marL="751205" lvl="1">
              <a:buNone/>
            </a:pPr>
            <a:r>
              <a:rPr lang="en-US" altLang="en-US" sz="2400" dirty="0"/>
              <a:t>class </a:t>
            </a:r>
            <a:r>
              <a:rPr lang="en-US" altLang="en-US" sz="2400" dirty="0" err="1"/>
              <a:t>类名</a:t>
            </a:r>
            <a:r>
              <a:rPr lang="en-US" altLang="en-US" sz="2400" dirty="0"/>
              <a:t> {</a:t>
            </a:r>
            <a:endParaRPr lang="en-US" altLang="en-US" sz="2400" dirty="0"/>
          </a:p>
          <a:p>
            <a:pPr marL="751205" lvl="1">
              <a:buNone/>
            </a:pPr>
            <a:r>
              <a:rPr lang="en-US" altLang="en-US" sz="2400" dirty="0"/>
              <a:t>public :</a:t>
            </a:r>
            <a:endParaRPr lang="en-US" altLang="en-US" sz="2400" dirty="0"/>
          </a:p>
          <a:p>
            <a:pPr marL="751205" lvl="1">
              <a:buNone/>
            </a:pPr>
            <a:r>
              <a:rPr lang="en-US" altLang="en-US" sz="2400" dirty="0"/>
              <a:t>    </a:t>
            </a:r>
            <a:r>
              <a:rPr lang="en-US" altLang="en-US" sz="2400" dirty="0" err="1"/>
              <a:t>类名（形参</a:t>
            </a:r>
            <a:r>
              <a:rPr lang="en-US" altLang="en-US" sz="2400" dirty="0"/>
              <a:t>）；//</a:t>
            </a:r>
            <a:r>
              <a:rPr lang="en-US" altLang="en-US" sz="2400" dirty="0" err="1"/>
              <a:t>构造函数</a:t>
            </a:r>
            <a:endParaRPr lang="en-US" altLang="en-US" sz="2400" dirty="0"/>
          </a:p>
          <a:p>
            <a:pPr marL="751205" lvl="1">
              <a:buNone/>
            </a:pPr>
            <a:r>
              <a:rPr lang="en-US" altLang="en-US" sz="2400" dirty="0"/>
              <a:t>    </a:t>
            </a:r>
            <a:r>
              <a:rPr lang="en-US" altLang="en-US" sz="2400" dirty="0" err="1"/>
              <a:t>类名（const</a:t>
            </a:r>
            <a:r>
              <a:rPr lang="en-US" altLang="en-US" sz="2400" dirty="0"/>
              <a:t>  </a:t>
            </a:r>
            <a:r>
              <a:rPr lang="en-US" altLang="en-US" sz="2400" dirty="0" err="1"/>
              <a:t>类名</a:t>
            </a:r>
            <a:r>
              <a:rPr lang="en-US" altLang="en-US" sz="2400" dirty="0"/>
              <a:t> &amp; </a:t>
            </a:r>
            <a:r>
              <a:rPr lang="en-US" altLang="en-US" sz="2400" dirty="0" err="1"/>
              <a:t>对象名</a:t>
            </a:r>
            <a:r>
              <a:rPr lang="en-US" altLang="en-US" sz="2400" dirty="0"/>
              <a:t>）；</a:t>
            </a:r>
            <a:r>
              <a:rPr lang="en-US" altLang="en-US" dirty="0"/>
              <a:t>//</a:t>
            </a:r>
            <a:r>
              <a:rPr lang="en-US" altLang="en-US" dirty="0" err="1"/>
              <a:t>复制构造函数</a:t>
            </a:r>
            <a:endParaRPr lang="en-US" altLang="en-US" sz="2400" dirty="0"/>
          </a:p>
          <a:p>
            <a:pPr marL="751205" lvl="1">
              <a:buNone/>
            </a:pPr>
            <a:r>
              <a:rPr lang="en-US" altLang="en-US" sz="2400" dirty="0"/>
              <a:t>           ...</a:t>
            </a:r>
            <a:endParaRPr lang="en-US" altLang="en-US" sz="2400" dirty="0"/>
          </a:p>
          <a:p>
            <a:pPr marL="751205" lvl="1">
              <a:buNone/>
            </a:pPr>
            <a:r>
              <a:rPr lang="en-US" altLang="en-US" sz="2400" dirty="0"/>
              <a:t>}；</a:t>
            </a:r>
            <a:endParaRPr lang="en-US" altLang="en-US" sz="2400" dirty="0"/>
          </a:p>
          <a:p>
            <a:pPr marL="751205" lvl="1">
              <a:buNone/>
            </a:pPr>
            <a:r>
              <a:rPr lang="en-US" altLang="en-US" sz="2400" dirty="0" err="1"/>
              <a:t>类名</a:t>
            </a:r>
            <a:r>
              <a:rPr lang="en-US" altLang="en-US" sz="2400" dirty="0"/>
              <a:t>::类（ const  </a:t>
            </a:r>
            <a:r>
              <a:rPr lang="en-US" altLang="en-US" sz="2400" dirty="0" err="1"/>
              <a:t>类名</a:t>
            </a:r>
            <a:r>
              <a:rPr lang="en-US" altLang="en-US" sz="2400" dirty="0"/>
              <a:t> &amp;</a:t>
            </a:r>
            <a:r>
              <a:rPr lang="en-US" altLang="en-US" sz="2400" dirty="0" err="1"/>
              <a:t>对象名</a:t>
            </a:r>
            <a:r>
              <a:rPr lang="en-US" altLang="en-US" sz="2400" dirty="0"/>
              <a:t>）</a:t>
            </a:r>
            <a:r>
              <a:rPr lang="en-US" altLang="en-US" dirty="0"/>
              <a:t>//</a:t>
            </a:r>
            <a:r>
              <a:rPr lang="en-US" altLang="en-US" dirty="0" err="1"/>
              <a:t>复制构造函数的实现</a:t>
            </a:r>
            <a:endParaRPr lang="en-US" altLang="en-US" sz="2400" dirty="0"/>
          </a:p>
          <a:p>
            <a:pPr marL="751205" lvl="1">
              <a:buNone/>
            </a:pPr>
            <a:r>
              <a:rPr lang="en-US" altLang="en-US" sz="2400" dirty="0"/>
              <a:t>{    </a:t>
            </a:r>
            <a:r>
              <a:rPr lang="en-US" altLang="en-US" sz="2400" dirty="0" err="1"/>
              <a:t>函数体</a:t>
            </a:r>
            <a:r>
              <a:rPr lang="en-US" altLang="en-US" sz="2400" dirty="0"/>
              <a:t>    }</a:t>
            </a:r>
            <a:endParaRPr lang="en-US" altLang="en-US" sz="2400" dirty="0"/>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复制构造函数被调用的三种情况</a:t>
            </a:r>
            <a:endParaRPr lang="zh-CN" altLang="en-US" dirty="0"/>
          </a:p>
        </p:txBody>
      </p:sp>
      <p:sp>
        <p:nvSpPr>
          <p:cNvPr id="3" name="内容占位符 2"/>
          <p:cNvSpPr>
            <a:spLocks noGrp="1"/>
          </p:cNvSpPr>
          <p:nvPr>
            <p:ph idx="1"/>
          </p:nvPr>
        </p:nvSpPr>
        <p:spPr/>
        <p:txBody>
          <a:bodyPr/>
          <a:lstStyle/>
          <a:p>
            <a:r>
              <a:rPr lang="zh-CN" altLang="en-US" dirty="0"/>
              <a:t>定义一个对象时，以本类另一个对象作为初始值，发生复制构造；</a:t>
            </a:r>
            <a:endParaRPr lang="en-US" altLang="zh-CN" dirty="0"/>
          </a:p>
          <a:p>
            <a:endParaRPr lang="zh-CN" altLang="en-US" dirty="0"/>
          </a:p>
          <a:p>
            <a:r>
              <a:rPr lang="zh-CN" altLang="en-US" dirty="0"/>
              <a:t>如果函数的形参是类的对象，调用函数时，将使用实参对象初始化形参对象，发生复制构造；</a:t>
            </a:r>
            <a:endParaRPr lang="zh-CN" altLang="en-US" dirty="0"/>
          </a:p>
          <a:p>
            <a:endParaRPr lang="en-US" altLang="zh-CN" dirty="0"/>
          </a:p>
          <a:p>
            <a:r>
              <a:rPr lang="en-US" altLang="zh-CN" strike="sngStrike" dirty="0"/>
              <a:t>*</a:t>
            </a:r>
            <a:r>
              <a:rPr lang="zh-CN" altLang="en-US" strike="sngStrike" dirty="0"/>
              <a:t>如果函数的返回值是类的对象，函数执行完成返回主调函数时，将使用</a:t>
            </a:r>
            <a:r>
              <a:rPr lang="en-US" altLang="zh-CN" strike="sngStrike" dirty="0"/>
              <a:t>return</a:t>
            </a:r>
            <a:r>
              <a:rPr lang="zh-CN" altLang="en-US" strike="sngStrike" dirty="0"/>
              <a:t>语句中的对象初始化一个临时无名对象，传递给主调函数，此时发生复制构造。</a:t>
            </a:r>
            <a:endParaRPr lang="zh-CN" altLang="en-US" strike="sngStrike" dirty="0"/>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normAutofit/>
          </a:bodyPr>
          <a:lstStyle/>
          <a:p>
            <a:r>
              <a:rPr lang="zh-CN" altLang="en-US" dirty="0"/>
              <a:t>复制构造函数举例</a:t>
            </a:r>
            <a:endParaRPr lang="en-US" dirty="0"/>
          </a:p>
        </p:txBody>
      </p:sp>
      <p:sp>
        <p:nvSpPr>
          <p:cNvPr id="47106" name="内容占位符 2"/>
          <p:cNvSpPr>
            <a:spLocks noGrp="1" noChangeArrowheads="1"/>
          </p:cNvSpPr>
          <p:nvPr>
            <p:ph idx="1"/>
          </p:nvPr>
        </p:nvSpPr>
        <p:spPr>
          <a:solidFill>
            <a:schemeClr val="bg2">
              <a:lumMod val="90000"/>
            </a:schemeClr>
          </a:solidFill>
        </p:spPr>
        <p:txBody>
          <a:bodyPr>
            <a:normAutofit fontScale="92500" lnSpcReduction="10000"/>
          </a:bodyPr>
          <a:lstStyle/>
          <a:p>
            <a:pPr marL="400050" lvl="1" eaLnBrk="1" hangingPunct="1">
              <a:lnSpc>
                <a:spcPct val="90000"/>
              </a:lnSpc>
              <a:buFont typeface="Georgia" panose="02040502050405090303" pitchFamily="18" charset="0"/>
              <a:buNone/>
            </a:pPr>
            <a:r>
              <a:rPr lang="en-US" altLang="en-US" sz="1800" dirty="0">
                <a:latin typeface="Consolas" panose="020B0609020204030204" pitchFamily="49" charset="0"/>
              </a:rPr>
              <a:t>class Point {   </a:t>
            </a:r>
            <a:r>
              <a:rPr lang="en-US" altLang="en-US" sz="1800" dirty="0"/>
              <a:t>//Point </a:t>
            </a:r>
            <a:r>
              <a:rPr lang="en-US" altLang="en-US" sz="1800" dirty="0" err="1"/>
              <a:t>类的定义</a:t>
            </a:r>
            <a:endParaRPr lang="en-US" altLang="en-US" sz="1800" dirty="0">
              <a:latin typeface="Consolas" panose="020B0609020204030204" pitchFamily="49" charset="0"/>
            </a:endParaRPr>
          </a:p>
          <a:p>
            <a:pPr marL="400050" lvl="1" eaLnBrk="1" hangingPunct="1">
              <a:lnSpc>
                <a:spcPct val="90000"/>
              </a:lnSpc>
              <a:buFont typeface="Georgia" panose="02040502050405090303" pitchFamily="18" charset="0"/>
              <a:buNone/>
            </a:pPr>
            <a:r>
              <a:rPr lang="en-US" altLang="en-US" sz="1800" dirty="0">
                <a:latin typeface="Consolas" panose="020B0609020204030204" pitchFamily="49" charset="0"/>
              </a:rPr>
              <a:t>public:</a:t>
            </a:r>
            <a:endParaRPr lang="en-US" altLang="en-US" sz="1800" dirty="0">
              <a:latin typeface="Consolas" panose="020B0609020204030204" pitchFamily="49" charset="0"/>
            </a:endParaRPr>
          </a:p>
          <a:p>
            <a:pPr marL="400050" lvl="1" eaLnBrk="1" hangingPunct="1">
              <a:lnSpc>
                <a:spcPct val="90000"/>
              </a:lnSpc>
              <a:buFont typeface="Georgia" panose="02040502050405090303" pitchFamily="18" charset="0"/>
              <a:buNone/>
            </a:pPr>
            <a:r>
              <a:rPr lang="en-US" altLang="en-US" sz="1800" dirty="0">
                <a:latin typeface="Consolas" panose="020B0609020204030204" pitchFamily="49" charset="0"/>
              </a:rPr>
              <a:t>	Point(int xx=0, int </a:t>
            </a:r>
            <a:r>
              <a:rPr lang="en-US" altLang="en-US" sz="1800" dirty="0" err="1">
                <a:latin typeface="Consolas" panose="020B0609020204030204" pitchFamily="49" charset="0"/>
              </a:rPr>
              <a:t>yy</a:t>
            </a:r>
            <a:r>
              <a:rPr lang="en-US" altLang="en-US" sz="1800" dirty="0">
                <a:latin typeface="Consolas" panose="020B0609020204030204" pitchFamily="49" charset="0"/>
              </a:rPr>
              <a:t>=0) { x = xx; y = </a:t>
            </a:r>
            <a:r>
              <a:rPr lang="en-US" altLang="en-US" sz="1800" dirty="0" err="1">
                <a:latin typeface="Consolas" panose="020B0609020204030204" pitchFamily="49" charset="0"/>
              </a:rPr>
              <a:t>yy</a:t>
            </a:r>
            <a:r>
              <a:rPr lang="en-US" altLang="en-US" sz="1800" dirty="0">
                <a:latin typeface="Consolas" panose="020B0609020204030204" pitchFamily="49" charset="0"/>
              </a:rPr>
              <a:t>; }</a:t>
            </a:r>
            <a:r>
              <a:rPr lang="en-US" altLang="en-US" sz="1800" dirty="0"/>
              <a:t>    //</a:t>
            </a:r>
            <a:r>
              <a:rPr lang="en-US" altLang="en-US" sz="1800" dirty="0" err="1"/>
              <a:t>构造函数，内联</a:t>
            </a:r>
            <a:endParaRPr lang="en-US" altLang="en-US" sz="1800" dirty="0">
              <a:latin typeface="Consolas" panose="020B0609020204030204" pitchFamily="49" charset="0"/>
            </a:endParaRPr>
          </a:p>
          <a:p>
            <a:pPr marL="400050" lvl="1" eaLnBrk="1" hangingPunct="1">
              <a:lnSpc>
                <a:spcPct val="90000"/>
              </a:lnSpc>
              <a:buFont typeface="Georgia" panose="02040502050405090303" pitchFamily="18" charset="0"/>
              <a:buNone/>
            </a:pPr>
            <a:r>
              <a:rPr lang="en-US" altLang="en-US" sz="1800" dirty="0">
                <a:solidFill>
                  <a:srgbClr val="C00000"/>
                </a:solidFill>
                <a:latin typeface="Consolas" panose="020B0609020204030204" pitchFamily="49" charset="0"/>
              </a:rPr>
              <a:t>	Point(const Point&amp; p); </a:t>
            </a:r>
            <a:r>
              <a:rPr lang="en-US" altLang="en-US" sz="1800" dirty="0"/>
              <a:t>//</a:t>
            </a:r>
            <a:r>
              <a:rPr lang="en-US" altLang="en-US" sz="1800" dirty="0" err="1"/>
              <a:t>复制构造函数</a:t>
            </a:r>
            <a:endParaRPr lang="en-US" altLang="en-US" sz="1800" dirty="0"/>
          </a:p>
          <a:p>
            <a:pPr marL="400050" lvl="1" eaLnBrk="1" hangingPunct="1">
              <a:lnSpc>
                <a:spcPct val="90000"/>
              </a:lnSpc>
              <a:buFont typeface="Georgia" panose="02040502050405090303" pitchFamily="18" charset="0"/>
              <a:buNone/>
            </a:pPr>
            <a:r>
              <a:rPr lang="en-US" altLang="en-US" sz="1800" dirty="0">
                <a:latin typeface="Consolas" panose="020B0609020204030204" pitchFamily="49" charset="0"/>
              </a:rPr>
              <a:t>   void </a:t>
            </a:r>
            <a:r>
              <a:rPr lang="en-US" altLang="en-US" sz="1800" dirty="0" err="1">
                <a:latin typeface="Consolas" panose="020B0609020204030204" pitchFamily="49" charset="0"/>
              </a:rPr>
              <a:t>setX</a:t>
            </a:r>
            <a:r>
              <a:rPr lang="en-US" altLang="en-US" sz="1800" dirty="0">
                <a:latin typeface="Consolas" panose="020B0609020204030204" pitchFamily="49" charset="0"/>
              </a:rPr>
              <a:t>(int xx) {x=xx;}</a:t>
            </a:r>
            <a:endParaRPr lang="en-US" altLang="en-US" sz="1800" dirty="0">
              <a:latin typeface="Consolas" panose="020B0609020204030204" pitchFamily="49" charset="0"/>
            </a:endParaRPr>
          </a:p>
          <a:p>
            <a:pPr marL="400050" lvl="1" eaLnBrk="1" hangingPunct="1">
              <a:lnSpc>
                <a:spcPct val="90000"/>
              </a:lnSpc>
              <a:buFont typeface="Georgia" panose="02040502050405090303" pitchFamily="18" charset="0"/>
              <a:buNone/>
            </a:pPr>
            <a:r>
              <a:rPr lang="en-US" altLang="en-US" sz="1800" dirty="0">
                <a:latin typeface="Consolas" panose="020B0609020204030204" pitchFamily="49" charset="0"/>
              </a:rPr>
              <a:t>   void </a:t>
            </a:r>
            <a:r>
              <a:rPr lang="en-US" altLang="en-US" sz="1800" dirty="0" err="1">
                <a:latin typeface="Consolas" panose="020B0609020204030204" pitchFamily="49" charset="0"/>
              </a:rPr>
              <a:t>setY</a:t>
            </a:r>
            <a:r>
              <a:rPr lang="en-US" altLang="en-US" sz="1800" dirty="0">
                <a:latin typeface="Consolas" panose="020B0609020204030204" pitchFamily="49" charset="0"/>
              </a:rPr>
              <a:t>(int </a:t>
            </a:r>
            <a:r>
              <a:rPr lang="en-US" altLang="en-US" sz="1800" dirty="0" err="1">
                <a:latin typeface="Consolas" panose="020B0609020204030204" pitchFamily="49" charset="0"/>
              </a:rPr>
              <a:t>yy</a:t>
            </a:r>
            <a:r>
              <a:rPr lang="en-US" altLang="en-US" sz="1800" dirty="0">
                <a:latin typeface="Consolas" panose="020B0609020204030204" pitchFamily="49" charset="0"/>
              </a:rPr>
              <a:t>) {y=</a:t>
            </a:r>
            <a:r>
              <a:rPr lang="en-US" altLang="en-US" sz="1800" dirty="0" err="1">
                <a:latin typeface="Consolas" panose="020B0609020204030204" pitchFamily="49" charset="0"/>
              </a:rPr>
              <a:t>yy</a:t>
            </a:r>
            <a:r>
              <a:rPr lang="en-US" altLang="en-US" sz="1800" dirty="0">
                <a:latin typeface="Consolas" panose="020B0609020204030204" pitchFamily="49" charset="0"/>
              </a:rPr>
              <a:t>;}</a:t>
            </a:r>
            <a:endParaRPr lang="en-US" altLang="en-US" sz="1800" dirty="0">
              <a:latin typeface="Consolas" panose="020B0609020204030204" pitchFamily="49" charset="0"/>
            </a:endParaRPr>
          </a:p>
          <a:p>
            <a:pPr marL="400050" lvl="1" eaLnBrk="1" hangingPunct="1">
              <a:lnSpc>
                <a:spcPct val="90000"/>
              </a:lnSpc>
              <a:buFont typeface="Georgia" panose="02040502050405090303" pitchFamily="18" charset="0"/>
              <a:buNone/>
            </a:pPr>
            <a:r>
              <a:rPr lang="en-US" altLang="en-US" sz="1800" dirty="0">
                <a:latin typeface="Consolas" panose="020B0609020204030204" pitchFamily="49" charset="0"/>
              </a:rPr>
              <a:t>	int </a:t>
            </a:r>
            <a:r>
              <a:rPr lang="en-US" altLang="en-US" sz="1800" dirty="0" err="1">
                <a:latin typeface="Consolas" panose="020B0609020204030204" pitchFamily="49" charset="0"/>
              </a:rPr>
              <a:t>getX</a:t>
            </a:r>
            <a:r>
              <a:rPr lang="en-US" altLang="en-US" sz="1800" dirty="0">
                <a:latin typeface="Consolas" panose="020B0609020204030204" pitchFamily="49" charset="0"/>
              </a:rPr>
              <a:t>() const { return x; } //常函数（第5章）</a:t>
            </a:r>
            <a:endParaRPr lang="en-US" altLang="en-US" sz="1800" dirty="0">
              <a:latin typeface="Consolas" panose="020B0609020204030204" pitchFamily="49" charset="0"/>
            </a:endParaRPr>
          </a:p>
          <a:p>
            <a:pPr marL="400050" lvl="1" eaLnBrk="1" hangingPunct="1">
              <a:lnSpc>
                <a:spcPct val="90000"/>
              </a:lnSpc>
              <a:buFont typeface="Georgia" panose="02040502050405090303" pitchFamily="18" charset="0"/>
              <a:buNone/>
            </a:pPr>
            <a:r>
              <a:rPr lang="en-US" altLang="en-US" sz="1800" dirty="0">
                <a:latin typeface="Consolas" panose="020B0609020204030204" pitchFamily="49" charset="0"/>
              </a:rPr>
              <a:t>	int </a:t>
            </a:r>
            <a:r>
              <a:rPr lang="en-US" altLang="en-US" sz="1800" dirty="0" err="1">
                <a:latin typeface="Consolas" panose="020B0609020204030204" pitchFamily="49" charset="0"/>
              </a:rPr>
              <a:t>getY</a:t>
            </a:r>
            <a:r>
              <a:rPr lang="en-US" altLang="en-US" sz="1800" dirty="0">
                <a:latin typeface="Consolas" panose="020B0609020204030204" pitchFamily="49" charset="0"/>
              </a:rPr>
              <a:t>() const { return y; } //常函数（第5章）</a:t>
            </a:r>
            <a:endParaRPr lang="en-US" altLang="en-US" sz="1800" dirty="0">
              <a:latin typeface="Consolas" panose="020B0609020204030204" pitchFamily="49" charset="0"/>
            </a:endParaRPr>
          </a:p>
          <a:p>
            <a:pPr marL="400050" lvl="1" eaLnBrk="1" hangingPunct="1">
              <a:lnSpc>
                <a:spcPct val="90000"/>
              </a:lnSpc>
              <a:buFont typeface="Georgia" panose="02040502050405090303" pitchFamily="18" charset="0"/>
              <a:buNone/>
            </a:pPr>
            <a:r>
              <a:rPr lang="en-US" altLang="en-US" sz="1800" dirty="0">
                <a:latin typeface="Consolas" panose="020B0609020204030204" pitchFamily="49" charset="0"/>
              </a:rPr>
              <a:t>private:</a:t>
            </a:r>
            <a:endParaRPr lang="en-US" altLang="en-US" sz="1800" dirty="0">
              <a:latin typeface="Consolas" panose="020B0609020204030204" pitchFamily="49" charset="0"/>
            </a:endParaRPr>
          </a:p>
          <a:p>
            <a:pPr marL="400050" lvl="1" eaLnBrk="1" hangingPunct="1">
              <a:lnSpc>
                <a:spcPct val="90000"/>
              </a:lnSpc>
              <a:buFont typeface="Georgia" panose="02040502050405090303" pitchFamily="18" charset="0"/>
              <a:buNone/>
            </a:pPr>
            <a:r>
              <a:rPr lang="en-US" altLang="en-US" sz="1800" dirty="0">
                <a:latin typeface="Consolas" panose="020B0609020204030204" pitchFamily="49" charset="0"/>
              </a:rPr>
              <a:t>	int x, y; </a:t>
            </a:r>
            <a:r>
              <a:rPr lang="en-US" altLang="en-US" sz="1800" dirty="0"/>
              <a:t>//</a:t>
            </a:r>
            <a:r>
              <a:rPr lang="en-US" altLang="en-US" sz="1800" dirty="0" err="1"/>
              <a:t>私有数据</a:t>
            </a:r>
            <a:endParaRPr lang="en-US" altLang="en-US" sz="1800" dirty="0">
              <a:latin typeface="Consolas" panose="020B0609020204030204" pitchFamily="49" charset="0"/>
            </a:endParaRPr>
          </a:p>
          <a:p>
            <a:pPr marL="400050" lvl="1" eaLnBrk="1" hangingPunct="1">
              <a:lnSpc>
                <a:spcPct val="90000"/>
              </a:lnSpc>
              <a:buFont typeface="Georgia" panose="02040502050405090303" pitchFamily="18" charset="0"/>
              <a:buNone/>
            </a:pPr>
            <a:r>
              <a:rPr lang="en-US" altLang="en-US" sz="1800" dirty="0">
                <a:latin typeface="Consolas" panose="020B0609020204030204" pitchFamily="49" charset="0"/>
              </a:rPr>
              <a:t>};</a:t>
            </a:r>
            <a:endParaRPr lang="en-US" altLang="en-US" sz="1800" dirty="0">
              <a:latin typeface="Consolas" panose="020B0609020204030204" pitchFamily="49" charset="0"/>
            </a:endParaRPr>
          </a:p>
          <a:p>
            <a:pPr eaLnBrk="1" hangingPunct="1">
              <a:lnSpc>
                <a:spcPct val="70000"/>
              </a:lnSpc>
              <a:buFont typeface="Georgia" panose="02040502050405090303" pitchFamily="18" charset="0"/>
              <a:buNone/>
            </a:pPr>
            <a:r>
              <a:rPr lang="en-US" altLang="en-US" sz="1800" dirty="0"/>
              <a:t>//</a:t>
            </a:r>
            <a:r>
              <a:rPr lang="en-US" altLang="en-US" sz="1800" dirty="0" err="1"/>
              <a:t>成员函数的实现</a:t>
            </a:r>
            <a:endParaRPr lang="en-US" altLang="en-US" sz="1800" dirty="0">
              <a:solidFill>
                <a:schemeClr val="tx2"/>
              </a:solidFill>
              <a:latin typeface="Consolas" panose="020B0609020204030204" pitchFamily="49" charset="0"/>
            </a:endParaRPr>
          </a:p>
          <a:p>
            <a:pPr eaLnBrk="1" hangingPunct="1">
              <a:lnSpc>
                <a:spcPct val="70000"/>
              </a:lnSpc>
              <a:buFont typeface="Georgia" panose="02040502050405090303" pitchFamily="18" charset="0"/>
              <a:buNone/>
            </a:pPr>
            <a:r>
              <a:rPr lang="en-US" altLang="en-US" sz="1800" dirty="0">
                <a:solidFill>
                  <a:schemeClr val="tx2"/>
                </a:solidFill>
                <a:latin typeface="Consolas" panose="020B0609020204030204" pitchFamily="49" charset="0"/>
              </a:rPr>
              <a:t>Point::Point (const Point&amp; p) {</a:t>
            </a:r>
            <a:endParaRPr lang="en-US" altLang="en-US" sz="1800" dirty="0">
              <a:solidFill>
                <a:schemeClr val="tx2"/>
              </a:solidFill>
              <a:latin typeface="Consolas" panose="020B0609020204030204" pitchFamily="49" charset="0"/>
            </a:endParaRPr>
          </a:p>
          <a:p>
            <a:pPr eaLnBrk="1" hangingPunct="1">
              <a:lnSpc>
                <a:spcPct val="70000"/>
              </a:lnSpc>
              <a:buFont typeface="Georgia" panose="02040502050405090303" pitchFamily="18" charset="0"/>
              <a:buNone/>
            </a:pPr>
            <a:r>
              <a:rPr lang="en-US" altLang="en-US" sz="1800" dirty="0">
                <a:solidFill>
                  <a:schemeClr val="tx2"/>
                </a:solidFill>
                <a:latin typeface="Consolas" panose="020B0609020204030204" pitchFamily="49" charset="0"/>
              </a:rPr>
              <a:t>  x = </a:t>
            </a:r>
            <a:r>
              <a:rPr lang="en-US" altLang="en-US" sz="1800" dirty="0" err="1">
                <a:solidFill>
                  <a:schemeClr val="tx2"/>
                </a:solidFill>
                <a:latin typeface="Consolas" panose="020B0609020204030204" pitchFamily="49" charset="0"/>
              </a:rPr>
              <a:t>p.x</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70000"/>
              </a:lnSpc>
              <a:buFont typeface="Georgia" panose="02040502050405090303" pitchFamily="18" charset="0"/>
              <a:buNone/>
            </a:pPr>
            <a:r>
              <a:rPr lang="en-US" altLang="en-US" sz="1800" dirty="0">
                <a:solidFill>
                  <a:schemeClr val="tx2"/>
                </a:solidFill>
                <a:latin typeface="Consolas" panose="020B0609020204030204" pitchFamily="49" charset="0"/>
              </a:rPr>
              <a:t>  y = </a:t>
            </a:r>
            <a:r>
              <a:rPr lang="en-US" altLang="en-US" sz="1800" dirty="0" err="1">
                <a:solidFill>
                  <a:schemeClr val="tx2"/>
                </a:solidFill>
                <a:latin typeface="Consolas" panose="020B0609020204030204" pitchFamily="49" charset="0"/>
              </a:rPr>
              <a:t>p.y</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70000"/>
              </a:lnSpc>
              <a:buFont typeface="Georgia" panose="02040502050405090303" pitchFamily="18" charset="0"/>
              <a:buNone/>
            </a:pPr>
            <a:r>
              <a:rPr lang="en-US" altLang="en-US" sz="1800" dirty="0">
                <a:solidFill>
                  <a:schemeClr val="tx2"/>
                </a:solidFill>
                <a:latin typeface="Consolas" panose="020B0609020204030204" pitchFamily="49" charset="0"/>
              </a:rPr>
              <a:t>  </a:t>
            </a:r>
            <a:r>
              <a:rPr lang="en-US" altLang="en-US" sz="1800" dirty="0" err="1">
                <a:solidFill>
                  <a:schemeClr val="tx2"/>
                </a:solidFill>
                <a:latin typeface="Consolas" panose="020B0609020204030204" pitchFamily="49" charset="0"/>
              </a:rPr>
              <a:t>cout</a:t>
            </a:r>
            <a:r>
              <a:rPr lang="en-US" altLang="en-US" sz="1800" dirty="0">
                <a:solidFill>
                  <a:schemeClr val="tx2"/>
                </a:solidFill>
                <a:latin typeface="Consolas" panose="020B0609020204030204" pitchFamily="49" charset="0"/>
              </a:rPr>
              <a:t> &lt;&lt; "Calling the copy constructor " &lt;&lt; </a:t>
            </a:r>
            <a:r>
              <a:rPr lang="en-US" altLang="en-US" sz="1800" dirty="0" err="1">
                <a:solidFill>
                  <a:schemeClr val="tx2"/>
                </a:solidFill>
                <a:latin typeface="Consolas" panose="020B0609020204030204" pitchFamily="49" charset="0"/>
              </a:rPr>
              <a:t>endl</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70000"/>
              </a:lnSpc>
              <a:buFont typeface="Georgia" panose="02040502050405090303" pitchFamily="18" charset="0"/>
              <a:buNone/>
            </a:pP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marL="400050" lvl="1" eaLnBrk="1" hangingPunct="1">
              <a:lnSpc>
                <a:spcPct val="90000"/>
              </a:lnSpc>
              <a:buFont typeface="Georgia" panose="02040502050405090303" pitchFamily="18" charset="0"/>
              <a:buNone/>
            </a:pPr>
            <a:endParaRPr lang="en-US" altLang="en-US" sz="3200" dirty="0">
              <a:latin typeface="Consolas" panose="020B0609020204030204" pitchFamily="49" charset="0"/>
            </a:endParaRPr>
          </a:p>
        </p:txBody>
      </p:sp>
      <p:sp>
        <p:nvSpPr>
          <p:cNvPr id="47107"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
        <p:nvSpPr>
          <p:cNvPr id="47108" name="标题 4"/>
          <p:cNvSpPr txBox="1">
            <a:spLocks noChangeArrowheads="1"/>
          </p:cNvSpPr>
          <p:nvPr/>
        </p:nvSpPr>
        <p:spPr bwMode="auto">
          <a:xfrm>
            <a:off x="214313" y="0"/>
            <a:ext cx="7715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80000"/>
              </a:lnSpc>
            </a:pPr>
            <a:r>
              <a:rPr lang="en-US" altLang="en-US" sz="2600">
                <a:solidFill>
                  <a:schemeClr val="bg1"/>
                </a:solidFill>
                <a:latin typeface="Lucida Sans Unicode" panose="020B0602030504020204" pitchFamily="34" charset="0"/>
                <a:ea typeface="黑体" panose="02010609060101010101" pitchFamily="49" charset="-122"/>
              </a:rPr>
              <a:t>4.3 </a:t>
            </a:r>
            <a:r>
              <a:rPr lang="zh-CN" altLang="en-US" sz="2600">
                <a:solidFill>
                  <a:schemeClr val="bg1"/>
                </a:solidFill>
                <a:latin typeface="Lucida Sans Unicode" panose="020B0602030504020204" pitchFamily="34" charset="0"/>
                <a:ea typeface="黑体" panose="02010609060101010101" pitchFamily="49" charset="-122"/>
              </a:rPr>
              <a:t>构造函数和析构函数 </a:t>
            </a:r>
            <a:r>
              <a:rPr lang="en-US" altLang="en-US" sz="2600">
                <a:solidFill>
                  <a:schemeClr val="bg1"/>
                </a:solidFill>
                <a:latin typeface="Lucida Sans Unicode" panose="020B0602030504020204" pitchFamily="34" charset="0"/>
                <a:ea typeface="黑体" panose="02010609060101010101" pitchFamily="49" charset="-122"/>
              </a:rPr>
              <a:t>—— 4.3.2 </a:t>
            </a:r>
            <a:r>
              <a:rPr lang="zh-CN" altLang="en-US" sz="2600">
                <a:solidFill>
                  <a:schemeClr val="bg1"/>
                </a:solidFill>
                <a:latin typeface="Lucida Sans Unicode" panose="020B0602030504020204" pitchFamily="34" charset="0"/>
                <a:ea typeface="黑体" panose="02010609060101010101" pitchFamily="49" charset="-122"/>
              </a:rPr>
              <a:t>复制构造函数 </a:t>
            </a:r>
            <a:endParaRPr lang="zh-CN" altLang="en-US" sz="2600">
              <a:solidFill>
                <a:schemeClr val="bg1"/>
              </a:solidFill>
              <a:latin typeface="Lucida Sans Unicode" panose="020B0602030504020204" pitchFamily="34" charset="0"/>
              <a:ea typeface="黑体" panose="02010609060101010101" pitchFamily="49"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内容占位符 2"/>
          <p:cNvSpPr>
            <a:spLocks noGrp="1" noChangeArrowheads="1"/>
          </p:cNvSpPr>
          <p:nvPr>
            <p:ph idx="4294967295"/>
          </p:nvPr>
        </p:nvSpPr>
        <p:spPr>
          <a:xfrm>
            <a:off x="323850" y="513708"/>
            <a:ext cx="8686800" cy="5772792"/>
          </a:xfrm>
          <a:solidFill>
            <a:schemeClr val="bg2">
              <a:lumMod val="90000"/>
            </a:schemeClr>
          </a:solidFill>
        </p:spPr>
        <p:txBody>
          <a:bodyPr>
            <a:normAutofit fontScale="92500" lnSpcReduction="20000"/>
          </a:bodyPr>
          <a:lstStyle/>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a:t>
            </a:r>
            <a:r>
              <a:rPr lang="en-US" altLang="en-US" sz="1800" dirty="0" err="1">
                <a:solidFill>
                  <a:schemeClr val="tx2"/>
                </a:solidFill>
                <a:latin typeface="Consolas" panose="020B0609020204030204" pitchFamily="49" charset="0"/>
              </a:rPr>
              <a:t>形参为Point类对象的函数</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void fun1(Point p) {</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a:t>
            </a:r>
            <a:r>
              <a:rPr lang="en-US" altLang="en-US" sz="1800" dirty="0" err="1">
                <a:solidFill>
                  <a:schemeClr val="tx2"/>
                </a:solidFill>
                <a:latin typeface="Consolas" panose="020B0609020204030204" pitchFamily="49" charset="0"/>
              </a:rPr>
              <a:t>cout</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p.getX</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endl</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a:t>
            </a:r>
            <a:r>
              <a:rPr lang="en-US" altLang="en-US" sz="1800" dirty="0" err="1">
                <a:solidFill>
                  <a:schemeClr val="tx2"/>
                </a:solidFill>
                <a:latin typeface="Consolas" panose="020B0609020204030204" pitchFamily="49" charset="0"/>
              </a:rPr>
              <a:t>返回值为Point类对象的函数</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Point fun2() {</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Point a(1, 2);</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return a;</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a:t>
            </a:r>
            <a:r>
              <a:rPr lang="en-US" altLang="en-US" sz="1800" dirty="0" err="1">
                <a:solidFill>
                  <a:schemeClr val="tx2"/>
                </a:solidFill>
                <a:latin typeface="Consolas" panose="020B0609020204030204" pitchFamily="49" charset="0"/>
              </a:rPr>
              <a:t>主程序</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int main() {</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Point a(4, 5);	//</a:t>
            </a:r>
            <a:r>
              <a:rPr lang="en-US" altLang="en-US" sz="1800" dirty="0" err="1">
                <a:solidFill>
                  <a:schemeClr val="tx2"/>
                </a:solidFill>
                <a:latin typeface="Consolas" panose="020B0609020204030204" pitchFamily="49" charset="0"/>
              </a:rPr>
              <a:t>第一个对象A</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Point b = a;	//</a:t>
            </a:r>
            <a:r>
              <a:rPr lang="en-US" altLang="en-US" sz="1800" dirty="0" err="1">
                <a:solidFill>
                  <a:schemeClr val="tx2"/>
                </a:solidFill>
                <a:latin typeface="Consolas" panose="020B0609020204030204" pitchFamily="49" charset="0"/>
              </a:rPr>
              <a:t>情况一，用A初始化B。第一次调用复制构造函数</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a:t>
            </a:r>
            <a:r>
              <a:rPr lang="en-US" altLang="en-US" sz="1800" dirty="0" err="1">
                <a:solidFill>
                  <a:schemeClr val="tx2"/>
                </a:solidFill>
                <a:latin typeface="Consolas" panose="020B0609020204030204" pitchFamily="49" charset="0"/>
              </a:rPr>
              <a:t>cout</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b.getX</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endl</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fun1(b);	//情况二，对象b作为fun1的实参。第二次调用复制构造函数</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a:t>
            </a:r>
            <a:r>
              <a:rPr lang="en-US" altLang="en-US" sz="1800" dirty="0">
                <a:solidFill>
                  <a:srgbClr val="FF0000"/>
                </a:solidFill>
                <a:latin typeface="Consolas" panose="020B0609020204030204" pitchFamily="49" charset="0"/>
              </a:rPr>
              <a:t>b = fun2();	</a:t>
            </a:r>
            <a:r>
              <a:rPr lang="en-US" altLang="en-US" sz="1500" dirty="0">
                <a:solidFill>
                  <a:schemeClr val="tx2">
                    <a:lumMod val="75000"/>
                  </a:schemeClr>
                </a:solidFill>
                <a:latin typeface="Consolas" panose="020B0609020204030204" pitchFamily="49" charset="0"/>
              </a:rPr>
              <a:t>//</a:t>
            </a:r>
            <a:r>
              <a:rPr lang="en-US" altLang="en-US" sz="1500" dirty="0" err="1">
                <a:solidFill>
                  <a:schemeClr val="tx2">
                    <a:lumMod val="75000"/>
                  </a:schemeClr>
                </a:solidFill>
                <a:latin typeface="Consolas" panose="020B0609020204030204" pitchFamily="49" charset="0"/>
              </a:rPr>
              <a:t>情况三，函数的返回值是类对象，函数返回时调用复制构造函数</a:t>
            </a:r>
            <a:r>
              <a:rPr lang="zh-CN" altLang="en-US" sz="1500" dirty="0">
                <a:solidFill>
                  <a:schemeClr val="tx2">
                    <a:lumMod val="75000"/>
                  </a:schemeClr>
                </a:solidFill>
                <a:latin typeface="Consolas" panose="020B0609020204030204" pitchFamily="49" charset="0"/>
              </a:rPr>
              <a:t>；</a:t>
            </a:r>
            <a:r>
              <a:rPr lang="zh-CN" altLang="en-US" sz="1500" dirty="0">
                <a:solidFill>
                  <a:srgbClr val="FF0000"/>
                </a:solidFill>
                <a:latin typeface="Consolas" panose="020B0609020204030204" pitchFamily="49" charset="0"/>
              </a:rPr>
              <a:t>实际有优化</a:t>
            </a:r>
            <a:endParaRPr lang="en-US" altLang="en-US" sz="1800" dirty="0">
              <a:solidFill>
                <a:srgbClr val="FF0000"/>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a:t>
            </a:r>
            <a:r>
              <a:rPr lang="en-US" altLang="en-US" sz="1800" dirty="0" err="1">
                <a:solidFill>
                  <a:schemeClr val="tx2"/>
                </a:solidFill>
                <a:latin typeface="Consolas" panose="020B0609020204030204" pitchFamily="49" charset="0"/>
              </a:rPr>
              <a:t>cout</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b.getX</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endl</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	return 0;</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90303" pitchFamily="18" charset="0"/>
              <a:buNone/>
            </a:pP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p:txBody>
      </p:sp>
      <p:sp>
        <p:nvSpPr>
          <p:cNvPr id="48131"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
        <p:nvSpPr>
          <p:cNvPr id="48132" name="标题 4"/>
          <p:cNvSpPr txBox="1">
            <a:spLocks noChangeArrowheads="1"/>
          </p:cNvSpPr>
          <p:nvPr/>
        </p:nvSpPr>
        <p:spPr bwMode="auto">
          <a:xfrm>
            <a:off x="214313" y="0"/>
            <a:ext cx="7715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80000"/>
              </a:lnSpc>
            </a:pPr>
            <a:r>
              <a:rPr lang="en-US" altLang="en-US" sz="2600">
                <a:solidFill>
                  <a:schemeClr val="bg1"/>
                </a:solidFill>
                <a:latin typeface="Lucida Sans Unicode" panose="020B0602030504020204" pitchFamily="34" charset="0"/>
                <a:ea typeface="黑体" panose="02010609060101010101" pitchFamily="49" charset="-122"/>
              </a:rPr>
              <a:t>4.3 </a:t>
            </a:r>
            <a:r>
              <a:rPr lang="zh-CN" altLang="en-US" sz="2600">
                <a:solidFill>
                  <a:schemeClr val="bg1"/>
                </a:solidFill>
                <a:latin typeface="Lucida Sans Unicode" panose="020B0602030504020204" pitchFamily="34" charset="0"/>
                <a:ea typeface="黑体" panose="02010609060101010101" pitchFamily="49" charset="-122"/>
              </a:rPr>
              <a:t>构造函数和析构函数 </a:t>
            </a:r>
            <a:r>
              <a:rPr lang="en-US" altLang="en-US" sz="2600">
                <a:solidFill>
                  <a:schemeClr val="bg1"/>
                </a:solidFill>
                <a:latin typeface="Lucida Sans Unicode" panose="020B0602030504020204" pitchFamily="34" charset="0"/>
                <a:ea typeface="黑体" panose="02010609060101010101" pitchFamily="49" charset="-122"/>
              </a:rPr>
              <a:t>—— 4.3.2 </a:t>
            </a:r>
            <a:r>
              <a:rPr lang="zh-CN" altLang="en-US" sz="2600">
                <a:solidFill>
                  <a:schemeClr val="bg1"/>
                </a:solidFill>
                <a:latin typeface="Lucida Sans Unicode" panose="020B0602030504020204" pitchFamily="34" charset="0"/>
                <a:ea typeface="黑体" panose="02010609060101010101" pitchFamily="49" charset="-122"/>
              </a:rPr>
              <a:t>复制构造函数 </a:t>
            </a:r>
            <a:endParaRPr lang="zh-CN" altLang="en-US" sz="2600">
              <a:solidFill>
                <a:schemeClr val="bg1"/>
              </a:solidFill>
              <a:latin typeface="Lucida Sans Unicode" panose="020B0602030504020204" pitchFamily="34" charset="0"/>
              <a:ea typeface="黑体" panose="02010609060101010101"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隐含的复制构造函数</a:t>
            </a:r>
            <a:endParaRPr lang="en-US" dirty="0"/>
          </a:p>
        </p:txBody>
      </p:sp>
      <p:sp>
        <p:nvSpPr>
          <p:cNvPr id="3" name="内容占位符 2"/>
          <p:cNvSpPr>
            <a:spLocks noGrp="1"/>
          </p:cNvSpPr>
          <p:nvPr>
            <p:ph idx="1"/>
          </p:nvPr>
        </p:nvSpPr>
        <p:spPr/>
        <p:txBody>
          <a:bodyPr/>
          <a:lstStyle/>
          <a:p>
            <a:r>
              <a:rPr lang="zh-CN" altLang="en-US" dirty="0"/>
              <a:t>如果程序员没有为类声明复制构造函数，则编译器自己生成一个隐含的复制构造函数。</a:t>
            </a:r>
            <a:endParaRPr lang="zh-CN" altLang="en-US" dirty="0"/>
          </a:p>
          <a:p>
            <a:endParaRPr lang="en-US" altLang="zh-CN" dirty="0"/>
          </a:p>
          <a:p>
            <a:r>
              <a:rPr lang="zh-CN" altLang="en-US" dirty="0"/>
              <a:t>这个构造函数执行的功能是：用作为初始值的对象的每个数据成员的值，初始化将要建立的对象的对应数据成员</a:t>
            </a:r>
            <a:endParaRPr lang="en-US" dirty="0"/>
          </a:p>
        </p:txBody>
      </p:sp>
      <p:sp>
        <p:nvSpPr>
          <p:cNvPr id="4" name="文本框 1"/>
          <p:cNvSpPr txBox="1">
            <a:spLocks noChangeArrowheads="1"/>
          </p:cNvSpPr>
          <p:nvPr/>
        </p:nvSpPr>
        <p:spPr bwMode="auto">
          <a:xfrm>
            <a:off x="3774080" y="4491900"/>
            <a:ext cx="1546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r>
              <a:rPr lang="zh-CN" altLang="en-US" dirty="0"/>
              <a:t>克隆属性</a:t>
            </a:r>
            <a:endParaRPr lang="en-US" altLang="zh-CN" dirty="0"/>
          </a:p>
          <a:p>
            <a:r>
              <a:rPr lang="en-US" altLang="zh-CN" dirty="0"/>
              <a:t>A</a:t>
            </a:r>
            <a:r>
              <a:rPr lang="zh-CN" altLang="en-US" dirty="0"/>
              <a:t>    </a:t>
            </a:r>
            <a:r>
              <a:rPr lang="en-US" altLang="zh-CN" dirty="0"/>
              <a:t>-</a:t>
            </a:r>
            <a:r>
              <a:rPr lang="zh-CN" altLang="en-US" dirty="0"/>
              <a:t>   </a:t>
            </a:r>
            <a:r>
              <a:rPr lang="en-US" altLang="zh-CN" dirty="0"/>
              <a:t>A</a:t>
            </a:r>
            <a:r>
              <a:rPr lang="zh-CN" altLang="en-US" dirty="0"/>
              <a:t>’</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析构函数</a:t>
            </a:r>
            <a:endParaRPr lang="en-US" dirty="0"/>
          </a:p>
        </p:txBody>
      </p:sp>
      <p:sp>
        <p:nvSpPr>
          <p:cNvPr id="51202" name="内容占位符 2"/>
          <p:cNvSpPr>
            <a:spLocks noGrp="1" noChangeArrowheads="1"/>
          </p:cNvSpPr>
          <p:nvPr>
            <p:ph idx="1"/>
          </p:nvPr>
        </p:nvSpPr>
        <p:spPr/>
        <p:txBody>
          <a:bodyPr/>
          <a:lstStyle/>
          <a:p>
            <a:pPr eaLnBrk="1" hangingPunct="1">
              <a:lnSpc>
                <a:spcPct val="150000"/>
              </a:lnSpc>
            </a:pPr>
            <a:r>
              <a:rPr lang="zh-CN" altLang="en-US" sz="2800" dirty="0"/>
              <a:t>完成对象被删除前的一些清理工作。</a:t>
            </a:r>
            <a:endParaRPr lang="zh-CN" altLang="en-US" sz="2800" dirty="0"/>
          </a:p>
          <a:p>
            <a:pPr eaLnBrk="1" hangingPunct="1">
              <a:lnSpc>
                <a:spcPct val="150000"/>
              </a:lnSpc>
            </a:pPr>
            <a:r>
              <a:rPr lang="zh-CN" altLang="en-US" sz="2800" dirty="0"/>
              <a:t>在对象的生存期结束的时刻，系统</a:t>
            </a:r>
            <a:r>
              <a:rPr lang="zh-CN" altLang="en-US" sz="2800" dirty="0">
                <a:solidFill>
                  <a:srgbClr val="FF0000"/>
                </a:solidFill>
              </a:rPr>
              <a:t>自动调用</a:t>
            </a:r>
            <a:r>
              <a:rPr lang="zh-CN" altLang="en-US" sz="2800" dirty="0"/>
              <a:t>它，然后再释放此对象所属的空间。</a:t>
            </a:r>
            <a:endParaRPr lang="zh-CN" altLang="en-US" sz="2800" dirty="0"/>
          </a:p>
          <a:p>
            <a:pPr eaLnBrk="1" hangingPunct="1">
              <a:lnSpc>
                <a:spcPct val="150000"/>
              </a:lnSpc>
            </a:pPr>
            <a:r>
              <a:rPr lang="zh-CN" altLang="en-US" sz="2800" dirty="0"/>
              <a:t>如果程序中未声明析构函数，编译器将自动产生一个</a:t>
            </a:r>
            <a:r>
              <a:rPr lang="zh-CN" altLang="en-US" sz="2800" dirty="0">
                <a:solidFill>
                  <a:srgbClr val="FF0000"/>
                </a:solidFill>
              </a:rPr>
              <a:t>隐含</a:t>
            </a:r>
            <a:r>
              <a:rPr lang="zh-CN" altLang="en-US" sz="2800" dirty="0"/>
              <a:t>的析构函数。</a:t>
            </a:r>
            <a:endParaRPr lang="zh-CN" altLang="en-US" sz="2800" dirty="0"/>
          </a:p>
          <a:p>
            <a:pPr eaLnBrk="1" hangingPunct="1"/>
            <a:endParaRPr lang="zh-CN" altLang="en-US" dirty="0"/>
          </a:p>
        </p:txBody>
      </p:sp>
      <p:sp>
        <p:nvSpPr>
          <p:cNvPr id="51203"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p:cNvSpPr>
            <a:spLocks noGrp="1" noChangeArrowheads="1"/>
          </p:cNvSpPr>
          <p:nvPr>
            <p:ph idx="4294967295"/>
          </p:nvPr>
        </p:nvSpPr>
        <p:spPr>
          <a:xfrm>
            <a:off x="314325" y="1803400"/>
            <a:ext cx="4043363" cy="4787900"/>
          </a:xfrm>
          <a:solidFill>
            <a:schemeClr val="bg2">
              <a:lumMod val="90000"/>
            </a:schemeClr>
          </a:solidFill>
        </p:spPr>
        <p:txBody>
          <a:bodyPr/>
          <a:lstStyle/>
          <a:p>
            <a:pPr eaLnBrk="1" hangingPunct="1">
              <a:spcBef>
                <a:spcPct val="0"/>
              </a:spcBef>
              <a:buFont typeface="Georgia" panose="02040502050405090303" pitchFamily="18" charset="0"/>
              <a:buNone/>
            </a:pPr>
            <a:r>
              <a:rPr lang="en-US" altLang="en-US" sz="2400">
                <a:latin typeface="Consolas" panose="020B0609020204030204" pitchFamily="49" charset="0"/>
              </a:rPr>
              <a:t>#include &lt;iostream&gt;</a:t>
            </a:r>
            <a:endParaRPr lang="en-US" altLang="en-US" sz="2400">
              <a:latin typeface="Consolas" panose="020B0609020204030204" pitchFamily="49" charset="0"/>
            </a:endParaRPr>
          </a:p>
          <a:p>
            <a:pPr eaLnBrk="1" hangingPunct="1">
              <a:spcBef>
                <a:spcPct val="0"/>
              </a:spcBef>
              <a:buFont typeface="Georgia" panose="02040502050405090303" pitchFamily="18" charset="0"/>
              <a:buNone/>
            </a:pPr>
            <a:r>
              <a:rPr lang="en-US" altLang="en-US" sz="2400">
                <a:latin typeface="Consolas" panose="020B0609020204030204" pitchFamily="49" charset="0"/>
              </a:rPr>
              <a:t>using namespace std;</a:t>
            </a:r>
            <a:endParaRPr lang="en-US" altLang="en-US" sz="2400">
              <a:latin typeface="Consolas" panose="020B0609020204030204" pitchFamily="49" charset="0"/>
            </a:endParaRPr>
          </a:p>
          <a:p>
            <a:pPr eaLnBrk="1" hangingPunct="1">
              <a:spcBef>
                <a:spcPct val="0"/>
              </a:spcBef>
              <a:buFont typeface="Georgia" panose="02040502050405090303" pitchFamily="18" charset="0"/>
              <a:buNone/>
            </a:pPr>
            <a:r>
              <a:rPr lang="en-US" altLang="en-US" sz="2400">
                <a:latin typeface="Consolas" panose="020B0609020204030204" pitchFamily="49" charset="0"/>
              </a:rPr>
              <a:t>class Point {     </a:t>
            </a:r>
            <a:endParaRPr lang="en-US" altLang="en-US" sz="2400">
              <a:latin typeface="Consolas" panose="020B0609020204030204" pitchFamily="49" charset="0"/>
            </a:endParaRPr>
          </a:p>
          <a:p>
            <a:pPr eaLnBrk="1" hangingPunct="1">
              <a:spcBef>
                <a:spcPct val="0"/>
              </a:spcBef>
              <a:buFont typeface="Georgia" panose="02040502050405090303" pitchFamily="18" charset="0"/>
              <a:buNone/>
            </a:pPr>
            <a:r>
              <a:rPr lang="en-US" altLang="en-US" sz="2400">
                <a:latin typeface="Consolas" panose="020B0609020204030204" pitchFamily="49" charset="0"/>
              </a:rPr>
              <a:t>public:</a:t>
            </a:r>
            <a:endParaRPr lang="en-US" altLang="en-US" sz="2400">
              <a:latin typeface="Consolas" panose="020B0609020204030204" pitchFamily="49" charset="0"/>
            </a:endParaRPr>
          </a:p>
          <a:p>
            <a:pPr eaLnBrk="1" hangingPunct="1">
              <a:spcBef>
                <a:spcPct val="0"/>
              </a:spcBef>
              <a:buFont typeface="Georgia" panose="02040502050405090303" pitchFamily="18" charset="0"/>
              <a:buNone/>
            </a:pPr>
            <a:r>
              <a:rPr lang="en-US" altLang="en-US" sz="2400">
                <a:latin typeface="Consolas" panose="020B0609020204030204" pitchFamily="49" charset="0"/>
              </a:rPr>
              <a:t>  Point(int xx,int yy);</a:t>
            </a:r>
            <a:endParaRPr lang="en-US" altLang="en-US" sz="2400">
              <a:latin typeface="Consolas" panose="020B0609020204030204" pitchFamily="49" charset="0"/>
            </a:endParaRPr>
          </a:p>
          <a:p>
            <a:pPr eaLnBrk="1" hangingPunct="1">
              <a:spcBef>
                <a:spcPct val="0"/>
              </a:spcBef>
              <a:buFont typeface="Georgia" panose="02040502050405090303" pitchFamily="18" charset="0"/>
              <a:buNone/>
            </a:pPr>
            <a:r>
              <a:rPr lang="en-US" altLang="en-US" sz="2400">
                <a:latin typeface="Consolas" panose="020B0609020204030204" pitchFamily="49" charset="0"/>
              </a:rPr>
              <a:t>  ~Point();</a:t>
            </a:r>
            <a:endParaRPr lang="en-US" altLang="en-US" sz="2400">
              <a:latin typeface="Consolas" panose="020B0609020204030204" pitchFamily="49" charset="0"/>
            </a:endParaRPr>
          </a:p>
          <a:p>
            <a:pPr eaLnBrk="1" hangingPunct="1">
              <a:spcBef>
                <a:spcPct val="0"/>
              </a:spcBef>
              <a:buFont typeface="Georgia" panose="02040502050405090303" pitchFamily="18" charset="0"/>
              <a:buNone/>
            </a:pPr>
            <a:r>
              <a:rPr lang="en-US" altLang="en-US" sz="2400">
                <a:latin typeface="Consolas" panose="020B0609020204030204" pitchFamily="49" charset="0"/>
              </a:rPr>
              <a:t>  //...其他函数原型</a:t>
            </a:r>
            <a:endParaRPr lang="en-US" altLang="en-US" sz="2400">
              <a:latin typeface="Consolas" panose="020B0609020204030204" pitchFamily="49" charset="0"/>
            </a:endParaRPr>
          </a:p>
          <a:p>
            <a:pPr eaLnBrk="1" hangingPunct="1">
              <a:spcBef>
                <a:spcPct val="0"/>
              </a:spcBef>
              <a:buFont typeface="Georgia" panose="02040502050405090303" pitchFamily="18" charset="0"/>
              <a:buNone/>
            </a:pPr>
            <a:r>
              <a:rPr lang="en-US" altLang="en-US" sz="2400">
                <a:latin typeface="Consolas" panose="020B0609020204030204" pitchFamily="49" charset="0"/>
              </a:rPr>
              <a:t>private:</a:t>
            </a:r>
            <a:endParaRPr lang="en-US" altLang="en-US" sz="2400">
              <a:latin typeface="Consolas" panose="020B0609020204030204" pitchFamily="49" charset="0"/>
            </a:endParaRPr>
          </a:p>
          <a:p>
            <a:pPr eaLnBrk="1" hangingPunct="1">
              <a:spcBef>
                <a:spcPct val="0"/>
              </a:spcBef>
              <a:buFont typeface="Georgia" panose="02040502050405090303" pitchFamily="18" charset="0"/>
              <a:buNone/>
            </a:pPr>
            <a:r>
              <a:rPr lang="en-US" altLang="en-US" sz="2400">
                <a:latin typeface="Consolas" panose="020B0609020204030204" pitchFamily="49" charset="0"/>
              </a:rPr>
              <a:t>  int x, y;</a:t>
            </a:r>
            <a:endParaRPr lang="en-US" altLang="en-US" sz="2400">
              <a:latin typeface="Consolas" panose="020B0609020204030204" pitchFamily="49" charset="0"/>
            </a:endParaRPr>
          </a:p>
          <a:p>
            <a:pPr eaLnBrk="1" hangingPunct="1">
              <a:spcBef>
                <a:spcPct val="0"/>
              </a:spcBef>
              <a:buFont typeface="Georgia" panose="02040502050405090303" pitchFamily="18" charset="0"/>
              <a:buNone/>
            </a:pPr>
            <a:r>
              <a:rPr lang="en-US" altLang="en-US" sz="2400">
                <a:latin typeface="Consolas" panose="020B0609020204030204" pitchFamily="49" charset="0"/>
              </a:rPr>
              <a:t>};</a:t>
            </a:r>
            <a:endParaRPr lang="en-US" altLang="en-US" sz="2400">
              <a:latin typeface="Consolas" panose="020B0609020204030204" pitchFamily="49" charset="0"/>
            </a:endParaRPr>
          </a:p>
        </p:txBody>
      </p:sp>
      <p:sp>
        <p:nvSpPr>
          <p:cNvPr id="52227"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
        <p:nvSpPr>
          <p:cNvPr id="52230" name="内容占位符 2"/>
          <p:cNvSpPr txBox="1">
            <a:spLocks noChangeArrowheads="1"/>
          </p:cNvSpPr>
          <p:nvPr/>
        </p:nvSpPr>
        <p:spPr bwMode="auto">
          <a:xfrm>
            <a:off x="4878781" y="1803400"/>
            <a:ext cx="4043362" cy="4787900"/>
          </a:xfrm>
          <a:prstGeom prst="rect">
            <a:avLst/>
          </a:prstGeom>
          <a:solidFill>
            <a:schemeClr val="bg2">
              <a:lumMod val="90000"/>
            </a:schemeClr>
          </a:solidFill>
          <a:ln>
            <a:noFill/>
          </a:ln>
        </p:spPr>
        <p:txBody>
          <a:bodyP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buFont typeface="Wingdings" panose="05000000000000000000" pitchFamily="2" charset="2"/>
              <a:buNone/>
            </a:pPr>
            <a:r>
              <a:rPr lang="en-US" altLang="en-US">
                <a:latin typeface="Consolas" panose="020B0609020204030204" pitchFamily="49" charset="0"/>
              </a:rPr>
              <a:t>Point::Point(int xx,int yy) {</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rPr>
              <a:t>  x = xx;</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rPr>
              <a:t>  y = yy;</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rPr>
              <a:t>}</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rPr>
              <a:t>Point::~Point() {</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rPr>
              <a:t>}</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ea typeface="黑体" panose="02010609060101010101" pitchFamily="49" charset="-122"/>
              </a:rPr>
              <a:t>//...</a:t>
            </a:r>
            <a:r>
              <a:rPr lang="zh-CN" altLang="en-US">
                <a:latin typeface="Consolas" panose="020B0609020204030204" pitchFamily="49" charset="0"/>
                <a:ea typeface="黑体" panose="02010609060101010101" pitchFamily="49" charset="-122"/>
              </a:rPr>
              <a:t>其他函数的实现略</a:t>
            </a:r>
            <a:endParaRPr lang="zh-CN" altLang="en-US">
              <a:latin typeface="Consolas" panose="020B0609020204030204" pitchFamily="49" charset="0"/>
              <a:ea typeface="黑体" panose="02010609060101010101" pitchFamily="49" charset="-122"/>
            </a:endParaRPr>
          </a:p>
        </p:txBody>
      </p:sp>
      <p:sp>
        <p:nvSpPr>
          <p:cNvPr id="3" name="标题 2"/>
          <p:cNvSpPr>
            <a:spLocks noGrp="1"/>
          </p:cNvSpPr>
          <p:nvPr>
            <p:ph type="title"/>
          </p:nvPr>
        </p:nvSpPr>
        <p:spPr/>
        <p:txBody>
          <a:bodyPr/>
          <a:lstStyle/>
          <a:p>
            <a:r>
              <a:rPr lang="zh-CN" altLang="en-US" dirty="0"/>
              <a:t>构造函数和析析构函数举例</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a:t>
            </a:r>
            <a:r>
              <a:rPr lang="zh-CN" altLang="en-US" dirty="0"/>
              <a:t>编译器默认提供的函数</a:t>
            </a:r>
            <a:endParaRPr lang="en-US" dirty="0"/>
          </a:p>
        </p:txBody>
      </p:sp>
      <p:sp>
        <p:nvSpPr>
          <p:cNvPr id="3" name="内容占位符 2"/>
          <p:cNvSpPr txBox="1">
            <a:spLocks noChangeArrowheads="1"/>
          </p:cNvSpPr>
          <p:nvPr/>
        </p:nvSpPr>
        <p:spPr>
          <a:xfrm>
            <a:off x="555290" y="1560077"/>
            <a:ext cx="8280000" cy="4705165"/>
          </a:xfrm>
          <a:prstGeom prst="rect">
            <a:avLst/>
          </a:prstGeom>
        </p:spPr>
        <p:txBody>
          <a:bodyPr vert="horz" lIns="91440" tIns="45720" rIns="91440" bIns="45720" rtlCol="0">
            <a:normAutofit/>
          </a:bodyPr>
          <a:lstStyle>
            <a:lvl1pPr marL="360045" indent="-360045" algn="l" defTabSz="914400" rtl="0" eaLnBrk="1" latinLnBrk="0" hangingPunct="1">
              <a:lnSpc>
                <a:spcPct val="100000"/>
              </a:lnSpc>
              <a:spcBef>
                <a:spcPts val="1000"/>
              </a:spcBef>
              <a:buClr>
                <a:schemeClr val="accent4"/>
              </a:buClr>
              <a:buFontTx/>
              <a:buBlip>
                <a:blip r:embed="rId1"/>
              </a:buBlip>
              <a:defRPr sz="2800" kern="1200">
                <a:solidFill>
                  <a:schemeClr val="tx1"/>
                </a:solidFill>
                <a:latin typeface="+mj-ea"/>
                <a:ea typeface="+mj-ea"/>
                <a:cs typeface="+mn-cs"/>
              </a:defRPr>
            </a:lvl1pPr>
            <a:lvl2pPr marL="685800" indent="-288290" algn="l" defTabSz="914400" rtl="0" eaLnBrk="1" latinLnBrk="0" hangingPunct="1">
              <a:lnSpc>
                <a:spcPct val="100000"/>
              </a:lnSpc>
              <a:spcBef>
                <a:spcPts val="500"/>
              </a:spcBef>
              <a:buClr>
                <a:schemeClr val="accent4"/>
              </a:buClr>
              <a:buFontTx/>
              <a:buBlip>
                <a:blip r:embed="rId1"/>
              </a:buBlip>
              <a:defRPr sz="2400" kern="1200">
                <a:solidFill>
                  <a:schemeClr val="tx1"/>
                </a:solidFill>
                <a:latin typeface="+mn-lt"/>
                <a:ea typeface="+mn-ea"/>
                <a:cs typeface="+mn-cs"/>
              </a:defRPr>
            </a:lvl2pPr>
            <a:lvl3pPr marL="1143000" indent="-230505" algn="l" defTabSz="914400" rtl="0" eaLnBrk="1" latinLnBrk="0" hangingPunct="1">
              <a:lnSpc>
                <a:spcPct val="100000"/>
              </a:lnSpc>
              <a:spcBef>
                <a:spcPts val="500"/>
              </a:spcBef>
              <a:buClr>
                <a:schemeClr val="accent4"/>
              </a:buClr>
              <a:buSzPct val="100000"/>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Georgia" panose="02040502050405090303" pitchFamily="18" charset="0"/>
              <a:buNone/>
            </a:pPr>
            <a:r>
              <a:rPr lang="en-US" altLang="en-US"/>
              <a:t>class Empty{</a:t>
            </a:r>
            <a:endParaRPr lang="en-US" altLang="en-US"/>
          </a:p>
          <a:p>
            <a:pPr>
              <a:buFont typeface="Georgia" panose="02040502050405090303" pitchFamily="18" charset="0"/>
              <a:buNone/>
            </a:pPr>
            <a:r>
              <a:rPr lang="en-US" altLang="en-US"/>
              <a:t>public:</a:t>
            </a:r>
            <a:endParaRPr lang="en-US" altLang="en-US"/>
          </a:p>
          <a:p>
            <a:pPr>
              <a:buFont typeface="Georgia" panose="02040502050405090303" pitchFamily="18" charset="0"/>
              <a:buNone/>
            </a:pPr>
            <a:r>
              <a:rPr lang="en-US" altLang="en-US"/>
              <a:t>    </a:t>
            </a:r>
            <a:r>
              <a:rPr lang="en-US" altLang="en-US">
                <a:solidFill>
                  <a:srgbClr val="C00000"/>
                </a:solidFill>
              </a:rPr>
              <a:t>Empty(){} </a:t>
            </a:r>
            <a:endParaRPr lang="en-US" altLang="en-US">
              <a:solidFill>
                <a:srgbClr val="C00000"/>
              </a:solidFill>
            </a:endParaRPr>
          </a:p>
          <a:p>
            <a:pPr>
              <a:buFont typeface="Georgia" panose="02040502050405090303" pitchFamily="18" charset="0"/>
              <a:buNone/>
            </a:pPr>
            <a:r>
              <a:rPr lang="en-US" altLang="en-US">
                <a:solidFill>
                  <a:srgbClr val="C00000"/>
                </a:solidFill>
              </a:rPr>
              <a:t>    Empty(const Empty&amp; rhs){…}</a:t>
            </a:r>
            <a:endParaRPr lang="en-US" altLang="en-US">
              <a:solidFill>
                <a:srgbClr val="C00000"/>
              </a:solidFill>
            </a:endParaRPr>
          </a:p>
          <a:p>
            <a:pPr>
              <a:buFont typeface="Georgia" panose="02040502050405090303" pitchFamily="18" charset="0"/>
              <a:buNone/>
            </a:pPr>
            <a:r>
              <a:rPr lang="en-US" altLang="en-US">
                <a:solidFill>
                  <a:srgbClr val="C00000"/>
                </a:solidFill>
              </a:rPr>
              <a:t>    ~Empty(){}</a:t>
            </a:r>
            <a:endParaRPr lang="en-US" altLang="en-US">
              <a:solidFill>
                <a:srgbClr val="C00000"/>
              </a:solidFill>
            </a:endParaRPr>
          </a:p>
          <a:p>
            <a:pPr>
              <a:buFont typeface="Georgia" panose="02040502050405090303" pitchFamily="18" charset="0"/>
              <a:buNone/>
            </a:pPr>
            <a:r>
              <a:rPr lang="en-US" altLang="en-US">
                <a:solidFill>
                  <a:srgbClr val="C00000"/>
                </a:solidFill>
              </a:rPr>
              <a:t>    Empty operator=(const Empty&amp; rhs){…}</a:t>
            </a:r>
            <a:endParaRPr lang="en-US" altLang="en-US">
              <a:solidFill>
                <a:srgbClr val="C00000"/>
              </a:solidFill>
            </a:endParaRPr>
          </a:p>
          <a:p>
            <a:pPr>
              <a:buFont typeface="Georgia" panose="02040502050405090303" pitchFamily="18" charset="0"/>
              <a:buNone/>
            </a:pPr>
            <a:r>
              <a:rPr lang="en-US" altLang="en-US"/>
              <a:t>};</a:t>
            </a:r>
            <a:endParaRPr lang="en-US"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 typeface="Wingdings 3" panose="05040102010807070707" pitchFamily="18" charset="2"/>
              <a:buNone/>
              <a:defRPr/>
            </a:pPr>
            <a:fld id="{3A1DF8F3-1B07-4DB4-B456-6268CAD86249}" type="slidenum">
              <a:rPr kumimoji="0" lang="en-US" altLang="zh-CN" sz="1000" b="0" i="0" u="none" strike="noStrike" kern="1200" cap="none" spc="0" normalizeH="0" baseline="0" noProof="0">
                <a:ln>
                  <a:noFill/>
                </a:ln>
                <a:solidFill>
                  <a:srgbClr val="000000"/>
                </a:solidFill>
                <a:effectLst/>
                <a:uLnTx/>
                <a:uFillTx/>
                <a:latin typeface="Times New Roman" panose="02020503050405090304" pitchFamily="18" charset="0"/>
                <a:ea typeface="隶书" panose="02010509060101010101" pitchFamily="49" charset="-122"/>
                <a:cs typeface="+mn-cs"/>
              </a:rPr>
            </a:fld>
            <a:endParaRPr kumimoji="0" lang="en-US" altLang="zh-CN" sz="1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p:txBody>
      </p:sp>
      <p:pic>
        <p:nvPicPr>
          <p:cNvPr id="5" name="图片 4"/>
          <p:cNvPicPr>
            <a:picLocks noChangeAspect="1"/>
          </p:cNvPicPr>
          <p:nvPr/>
        </p:nvPicPr>
        <p:blipFill>
          <a:blip r:embed="rId1"/>
          <a:stretch>
            <a:fillRect/>
          </a:stretch>
        </p:blipFill>
        <p:spPr>
          <a:xfrm>
            <a:off x="714375" y="1412776"/>
            <a:ext cx="7715250" cy="4600575"/>
          </a:xfrm>
          <a:prstGeom prst="rect">
            <a:avLst/>
          </a:prstGeom>
        </p:spPr>
      </p:pic>
      <p:sp>
        <p:nvSpPr>
          <p:cNvPr id="6" name="文本框 5"/>
          <p:cNvSpPr txBox="1"/>
          <p:nvPr/>
        </p:nvSpPr>
        <p:spPr>
          <a:xfrm>
            <a:off x="4160577" y="3963814"/>
            <a:ext cx="319318" cy="369332"/>
          </a:xfrm>
          <a:prstGeom prst="rect">
            <a:avLst/>
          </a:prstGeom>
          <a:noFill/>
        </p:spPr>
        <p:txBody>
          <a:bodyPr wrap="none" rtlCol="0">
            <a:spAutoFit/>
          </a:bodyPr>
          <a:lstStyle/>
          <a:p>
            <a:r>
              <a:rPr lang="en-US" altLang="zh-CN" dirty="0"/>
              <a:t>=</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前向引用声明</a:t>
            </a:r>
            <a:endParaRPr lang="en-US" dirty="0"/>
          </a:p>
        </p:txBody>
      </p:sp>
      <p:sp>
        <p:nvSpPr>
          <p:cNvPr id="55298" name="内容占位符 2"/>
          <p:cNvSpPr>
            <a:spLocks noGrp="1" noChangeArrowheads="1"/>
          </p:cNvSpPr>
          <p:nvPr>
            <p:ph idx="1"/>
          </p:nvPr>
        </p:nvSpPr>
        <p:spPr/>
        <p:txBody>
          <a:bodyPr/>
          <a:lstStyle/>
          <a:p>
            <a:pPr eaLnBrk="1" hangingPunct="1">
              <a:lnSpc>
                <a:spcPct val="160000"/>
              </a:lnSpc>
            </a:pPr>
            <a:r>
              <a:rPr lang="zh-CN" altLang="en-US" dirty="0"/>
              <a:t>类应该先声明，后使用</a:t>
            </a:r>
            <a:endParaRPr lang="zh-CN" altLang="en-US" dirty="0"/>
          </a:p>
          <a:p>
            <a:pPr eaLnBrk="1" hangingPunct="1">
              <a:lnSpc>
                <a:spcPct val="160000"/>
              </a:lnSpc>
            </a:pPr>
            <a:r>
              <a:rPr lang="zh-CN" altLang="en-US" dirty="0"/>
              <a:t>如果需要在</a:t>
            </a:r>
            <a:r>
              <a:rPr lang="zh-CN" altLang="en-US" dirty="0">
                <a:solidFill>
                  <a:srgbClr val="0070C0"/>
                </a:solidFill>
              </a:rPr>
              <a:t>某个类的声明</a:t>
            </a:r>
            <a:r>
              <a:rPr lang="zh-CN" altLang="en-US" dirty="0"/>
              <a:t>之前，引用该类，则应进行</a:t>
            </a:r>
            <a:r>
              <a:rPr lang="zh-CN" altLang="en-US" dirty="0">
                <a:solidFill>
                  <a:srgbClr val="0070C0"/>
                </a:solidFill>
              </a:rPr>
              <a:t>前向引用声明</a:t>
            </a:r>
            <a:r>
              <a:rPr lang="zh-CN" altLang="en-US" dirty="0"/>
              <a:t>。</a:t>
            </a:r>
            <a:endParaRPr lang="zh-CN" altLang="en-US" dirty="0"/>
          </a:p>
          <a:p>
            <a:pPr eaLnBrk="1" hangingPunct="1">
              <a:lnSpc>
                <a:spcPct val="160000"/>
              </a:lnSpc>
            </a:pPr>
            <a:r>
              <a:rPr lang="zh-CN" altLang="en-US" dirty="0">
                <a:solidFill>
                  <a:srgbClr val="0070C0"/>
                </a:solidFill>
              </a:rPr>
              <a:t>前向引用声明</a:t>
            </a:r>
            <a:r>
              <a:rPr lang="zh-CN" altLang="en-US" dirty="0"/>
              <a:t>只为程序引入一个标识符，但具体声明在其他地方。</a:t>
            </a:r>
            <a:endParaRPr lang="zh-CN" altLang="en-US" dirty="0"/>
          </a:p>
          <a:p>
            <a:pPr eaLnBrk="1" hangingPunct="1"/>
            <a:endParaRPr lang="zh-CN" altLang="en-US" dirty="0"/>
          </a:p>
        </p:txBody>
      </p:sp>
      <p:sp>
        <p:nvSpPr>
          <p:cNvPr id="55299"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noChangeArrowheads="1"/>
          </p:cNvSpPr>
          <p:nvPr>
            <p:ph idx="1"/>
          </p:nvPr>
        </p:nvSpPr>
        <p:spPr>
          <a:solidFill>
            <a:schemeClr val="bg2">
              <a:lumMod val="90000"/>
            </a:schemeClr>
          </a:solidFill>
        </p:spPr>
        <p:txBody>
          <a:bodyPr>
            <a:normAutofit/>
          </a:bodyPr>
          <a:lstStyle/>
          <a:p>
            <a:pPr eaLnBrk="1" hangingPunct="1">
              <a:buFont typeface="Georgia" panose="02040502050405090303" pitchFamily="18" charset="0"/>
              <a:buNone/>
            </a:pPr>
            <a:r>
              <a:rPr lang="en-US" altLang="zh-CN" dirty="0">
                <a:latin typeface="Consolas" panose="020B0609020204030204" pitchFamily="49" charset="0"/>
              </a:rPr>
              <a:t>class B;  //</a:t>
            </a:r>
            <a:r>
              <a:rPr lang="zh-CN" altLang="en-US" dirty="0">
                <a:latin typeface="Consolas" panose="020B0609020204030204" pitchFamily="49" charset="0"/>
              </a:rPr>
              <a:t>前向引用声明</a:t>
            </a:r>
            <a:endParaRPr lang="en-US" altLang="zh-CN" dirty="0">
              <a:latin typeface="Consolas" panose="020B0609020204030204" pitchFamily="49" charset="0"/>
              <a:ea typeface="宋体" pitchFamily="2" charset="-122"/>
            </a:endParaRPr>
          </a:p>
          <a:p>
            <a:pPr eaLnBrk="1" hangingPunct="1">
              <a:buFont typeface="Georgia" panose="02040502050405090303" pitchFamily="18" charset="0"/>
              <a:buNone/>
            </a:pPr>
            <a:r>
              <a:rPr lang="en-US" altLang="zh-CN" dirty="0">
                <a:latin typeface="Consolas" panose="020B0609020204030204" pitchFamily="49" charset="0"/>
              </a:rPr>
              <a:t>class A {</a:t>
            </a:r>
            <a:endParaRPr lang="en-US" altLang="zh-CN" dirty="0">
              <a:latin typeface="Consolas" panose="020B0609020204030204" pitchFamily="49" charset="0"/>
            </a:endParaRPr>
          </a:p>
          <a:p>
            <a:pPr eaLnBrk="1" hangingPunct="1">
              <a:buFont typeface="Georgia" panose="02040502050405090303" pitchFamily="18" charset="0"/>
              <a:buNone/>
            </a:pPr>
            <a:r>
              <a:rPr lang="en-US" altLang="zh-CN" dirty="0">
                <a:latin typeface="Consolas" panose="020B0609020204030204" pitchFamily="49" charset="0"/>
              </a:rPr>
              <a:t>public:</a:t>
            </a:r>
            <a:endParaRPr lang="en-US" altLang="zh-CN" dirty="0">
              <a:latin typeface="Consolas" panose="020B0609020204030204" pitchFamily="49" charset="0"/>
            </a:endParaRPr>
          </a:p>
          <a:p>
            <a:pPr eaLnBrk="1" hangingPunct="1">
              <a:buFont typeface="Georgia" panose="02040502050405090303" pitchFamily="18" charset="0"/>
              <a:buNone/>
            </a:pPr>
            <a:r>
              <a:rPr lang="en-US" altLang="zh-CN" dirty="0">
                <a:latin typeface="Consolas" panose="020B0609020204030204" pitchFamily="49" charset="0"/>
              </a:rPr>
              <a:t>  void f(B b);</a:t>
            </a:r>
            <a:endParaRPr lang="en-US" altLang="zh-CN" dirty="0">
              <a:latin typeface="Consolas" panose="020B0609020204030204" pitchFamily="49" charset="0"/>
            </a:endParaRPr>
          </a:p>
          <a:p>
            <a:pPr eaLnBrk="1" hangingPunct="1">
              <a:buFont typeface="Georgia" panose="02040502050405090303" pitchFamily="18" charset="0"/>
              <a:buNone/>
            </a:pPr>
            <a:r>
              <a:rPr lang="en-US" altLang="zh-CN" dirty="0">
                <a:latin typeface="Consolas" panose="020B0609020204030204" pitchFamily="49" charset="0"/>
              </a:rPr>
              <a:t>};</a:t>
            </a:r>
            <a:endParaRPr lang="en-US" altLang="zh-CN" dirty="0">
              <a:latin typeface="Consolas" panose="020B0609020204030204" pitchFamily="49" charset="0"/>
            </a:endParaRPr>
          </a:p>
          <a:p>
            <a:pPr eaLnBrk="1" hangingPunct="1">
              <a:buFont typeface="Georgia" panose="02040502050405090303" pitchFamily="18" charset="0"/>
              <a:buNone/>
            </a:pPr>
            <a:r>
              <a:rPr lang="en-US" altLang="zh-CN" dirty="0">
                <a:latin typeface="Consolas" panose="020B0609020204030204" pitchFamily="49" charset="0"/>
              </a:rPr>
              <a:t>class B {</a:t>
            </a:r>
            <a:endParaRPr lang="en-US" altLang="zh-CN" dirty="0">
              <a:latin typeface="Consolas" panose="020B0609020204030204" pitchFamily="49" charset="0"/>
            </a:endParaRPr>
          </a:p>
          <a:p>
            <a:pPr eaLnBrk="1" hangingPunct="1">
              <a:buFont typeface="Georgia" panose="02040502050405090303" pitchFamily="18" charset="0"/>
              <a:buNone/>
            </a:pPr>
            <a:r>
              <a:rPr lang="en-US" altLang="zh-CN" dirty="0">
                <a:latin typeface="Consolas" panose="020B0609020204030204" pitchFamily="49" charset="0"/>
              </a:rPr>
              <a:t>public:</a:t>
            </a:r>
            <a:endParaRPr lang="en-US" altLang="zh-CN" dirty="0">
              <a:latin typeface="Consolas" panose="020B0609020204030204" pitchFamily="49" charset="0"/>
            </a:endParaRPr>
          </a:p>
          <a:p>
            <a:pPr eaLnBrk="1" hangingPunct="1">
              <a:buFont typeface="Georgia" panose="02040502050405090303" pitchFamily="18" charset="0"/>
              <a:buNone/>
            </a:pPr>
            <a:r>
              <a:rPr lang="en-US" altLang="zh-CN" dirty="0">
                <a:latin typeface="Consolas" panose="020B0609020204030204" pitchFamily="49" charset="0"/>
              </a:rPr>
              <a:t>  void g(A a);</a:t>
            </a:r>
            <a:endParaRPr lang="en-US" altLang="zh-CN" dirty="0">
              <a:latin typeface="Consolas" panose="020B0609020204030204" pitchFamily="49" charset="0"/>
            </a:endParaRPr>
          </a:p>
          <a:p>
            <a:pPr eaLnBrk="1" hangingPunct="1">
              <a:buFont typeface="Georgia" panose="02040502050405090303" pitchFamily="18" charset="0"/>
              <a:buNone/>
            </a:pPr>
            <a:r>
              <a:rPr lang="en-US" altLang="zh-CN" dirty="0">
                <a:latin typeface="Consolas" panose="020B0609020204030204" pitchFamily="49" charset="0"/>
              </a:rPr>
              <a:t>};</a:t>
            </a:r>
            <a:endParaRPr lang="en-US" altLang="zh-CN" dirty="0">
              <a:latin typeface="Consolas" panose="020B0609020204030204" pitchFamily="49" charset="0"/>
            </a:endParaRPr>
          </a:p>
        </p:txBody>
      </p:sp>
      <p:sp>
        <p:nvSpPr>
          <p:cNvPr id="56323"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3" name="标题 2"/>
          <p:cNvSpPr>
            <a:spLocks noGrp="1"/>
          </p:cNvSpPr>
          <p:nvPr>
            <p:ph type="title"/>
          </p:nvPr>
        </p:nvSpPr>
        <p:spPr>
          <a:xfrm>
            <a:off x="432000" y="432000"/>
            <a:ext cx="8230387" cy="899650"/>
          </a:xfrm>
        </p:spPr>
        <p:txBody>
          <a:bodyPr/>
          <a:lstStyle/>
          <a:p>
            <a:r>
              <a:rPr lang="zh-CN" altLang="en-US" dirty="0"/>
              <a:t>举例：</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latin typeface="宋体" pitchFamily="2" charset="-122"/>
              </a:rPr>
              <a:t>前向引用声明的注意事项</a:t>
            </a:r>
            <a:endParaRPr lang="en-US" dirty="0"/>
          </a:p>
        </p:txBody>
      </p:sp>
      <p:sp>
        <p:nvSpPr>
          <p:cNvPr id="57346" name="内容占位符 2"/>
          <p:cNvSpPr>
            <a:spLocks noGrp="1" noChangeArrowheads="1"/>
          </p:cNvSpPr>
          <p:nvPr>
            <p:ph idx="1"/>
          </p:nvPr>
        </p:nvSpPr>
        <p:spPr>
          <a:solidFill>
            <a:schemeClr val="bg1"/>
          </a:solidFill>
        </p:spPr>
        <p:txBody>
          <a:bodyPr/>
          <a:lstStyle/>
          <a:p>
            <a:pPr eaLnBrk="1" hangingPunct="1">
              <a:lnSpc>
                <a:spcPct val="90000"/>
              </a:lnSpc>
            </a:pPr>
            <a:r>
              <a:rPr lang="zh-CN" altLang="en-US" sz="2400" dirty="0">
                <a:latin typeface="宋体" pitchFamily="2" charset="-122"/>
              </a:rPr>
              <a:t>使用前向引用声明虽然可以解决一些问题，但它并不是万能的。需要注意的是，尽管使用了前向引用声明，但是在提供一个完整的类声明之前，</a:t>
            </a:r>
            <a:r>
              <a:rPr lang="zh-CN" altLang="en-US" sz="2400" dirty="0">
                <a:solidFill>
                  <a:srgbClr val="0070C0"/>
                </a:solidFill>
                <a:latin typeface="宋体" pitchFamily="2" charset="-122"/>
              </a:rPr>
              <a:t>不能声明该类的对象</a:t>
            </a:r>
            <a:r>
              <a:rPr lang="zh-CN" altLang="en-US" sz="2400" dirty="0">
                <a:latin typeface="宋体" pitchFamily="2" charset="-122"/>
              </a:rPr>
              <a:t>，</a:t>
            </a:r>
            <a:r>
              <a:rPr lang="zh-CN" altLang="en-US" sz="2400" dirty="0">
                <a:solidFill>
                  <a:srgbClr val="0070C0"/>
                </a:solidFill>
                <a:latin typeface="宋体" pitchFamily="2" charset="-122"/>
              </a:rPr>
              <a:t>也不能在内联成员函数中使用该类的对象</a:t>
            </a:r>
            <a:r>
              <a:rPr lang="zh-CN" altLang="en-US" sz="2400" dirty="0">
                <a:latin typeface="宋体" pitchFamily="2" charset="-122"/>
              </a:rPr>
              <a:t>。请看下面的程序段：</a:t>
            </a:r>
            <a:endParaRPr lang="zh-CN" altLang="en-US" sz="2400" dirty="0">
              <a:latin typeface="宋体" pitchFamily="2" charset="-122"/>
            </a:endParaRPr>
          </a:p>
          <a:p>
            <a:pPr lvl="1" eaLnBrk="1" hangingPunct="1">
              <a:lnSpc>
                <a:spcPct val="90000"/>
              </a:lnSpc>
              <a:buFont typeface="Georgia" panose="02040502050405090303" pitchFamily="18" charset="0"/>
              <a:buNone/>
            </a:pPr>
            <a:endParaRPr lang="en-US" altLang="zh-CN" sz="1600" dirty="0"/>
          </a:p>
        </p:txBody>
      </p:sp>
      <p:sp>
        <p:nvSpPr>
          <p:cNvPr id="57347"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57349" name="标题 4"/>
          <p:cNvSpPr txBox="1">
            <a:spLocks noChangeArrowheads="1"/>
          </p:cNvSpPr>
          <p:nvPr/>
        </p:nvSpPr>
        <p:spPr bwMode="auto">
          <a:xfrm>
            <a:off x="214313" y="0"/>
            <a:ext cx="6572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80000"/>
              </a:lnSpc>
            </a:pPr>
            <a:r>
              <a:rPr lang="en-US" altLang="zh-CN" sz="2600">
                <a:solidFill>
                  <a:schemeClr val="bg1"/>
                </a:solidFill>
                <a:latin typeface="Lucida Sans Unicode" panose="020B0602030504020204" pitchFamily="34" charset="0"/>
                <a:ea typeface="黑体" panose="02010609060101010101" pitchFamily="49" charset="-122"/>
              </a:rPr>
              <a:t>4.4 </a:t>
            </a:r>
            <a:r>
              <a:rPr lang="zh-CN" altLang="en-US" sz="2600">
                <a:solidFill>
                  <a:schemeClr val="bg1"/>
                </a:solidFill>
                <a:latin typeface="Lucida Sans Unicode" panose="020B0602030504020204" pitchFamily="34" charset="0"/>
                <a:ea typeface="黑体" panose="02010609060101010101" pitchFamily="49" charset="-122"/>
              </a:rPr>
              <a:t>类的组合 </a:t>
            </a:r>
            <a:r>
              <a:rPr lang="en-US" altLang="zh-CN" sz="2600">
                <a:solidFill>
                  <a:schemeClr val="bg1"/>
                </a:solidFill>
                <a:latin typeface="Lucida Sans Unicode" panose="020B0602030504020204" pitchFamily="34" charset="0"/>
                <a:ea typeface="黑体" panose="02010609060101010101" pitchFamily="49" charset="-122"/>
              </a:rPr>
              <a:t>—— 4.4.2 </a:t>
            </a:r>
            <a:r>
              <a:rPr lang="zh-CN" altLang="en-US" sz="2600">
                <a:solidFill>
                  <a:schemeClr val="bg1"/>
                </a:solidFill>
                <a:latin typeface="Lucida Sans Unicode" panose="020B0602030504020204" pitchFamily="34" charset="0"/>
                <a:ea typeface="黑体" panose="02010609060101010101" pitchFamily="49" charset="-122"/>
              </a:rPr>
              <a:t>前向引用声明</a:t>
            </a:r>
            <a:endParaRPr lang="zh-CN" altLang="en-US" sz="2600">
              <a:solidFill>
                <a:schemeClr val="bg1"/>
              </a:solidFill>
              <a:latin typeface="Lucida Sans Unicode" panose="020B0602030504020204" pitchFamily="34" charset="0"/>
              <a:ea typeface="黑体" panose="02010609060101010101" pitchFamily="49" charset="-122"/>
            </a:endParaRPr>
          </a:p>
        </p:txBody>
      </p:sp>
      <p:sp>
        <p:nvSpPr>
          <p:cNvPr id="57350" name="内容占位符 9"/>
          <p:cNvSpPr txBox="1">
            <a:spLocks noChangeArrowheads="1"/>
          </p:cNvSpPr>
          <p:nvPr/>
        </p:nvSpPr>
        <p:spPr bwMode="auto">
          <a:xfrm>
            <a:off x="571500" y="3357563"/>
            <a:ext cx="8229600" cy="285750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503050405090304" pitchFamily="18" charset="0"/>
                <a:ea typeface="隶书" panose="02010509060101010101" pitchFamily="49" charset="-122"/>
              </a:defRPr>
            </a:lvl1pPr>
            <a:lvl2pPr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lvl="1" eaLnBrk="1" hangingPunct="1">
              <a:lnSpc>
                <a:spcPct val="90000"/>
              </a:lnSpc>
            </a:pPr>
            <a:r>
              <a:rPr lang="en-US" altLang="zh-CN" dirty="0">
                <a:latin typeface="Consolas" panose="020B0609020204030204" pitchFamily="49" charset="0"/>
              </a:rPr>
              <a:t>class Fred; </a:t>
            </a:r>
            <a:r>
              <a:rPr lang="en-US" altLang="zh-CN" dirty="0">
                <a:latin typeface="Consolas" panose="020B0609020204030204" pitchFamily="49" charset="0"/>
                <a:ea typeface="黑体" panose="02010609060101010101" pitchFamily="49" charset="-122"/>
              </a:rPr>
              <a:t>//</a:t>
            </a:r>
            <a:r>
              <a:rPr lang="zh-CN" altLang="en-US" dirty="0">
                <a:latin typeface="Consolas" panose="020B0609020204030204" pitchFamily="49" charset="0"/>
                <a:ea typeface="黑体" panose="02010609060101010101" pitchFamily="49" charset="-122"/>
              </a:rPr>
              <a:t>前向引用声明</a:t>
            </a:r>
            <a:endParaRPr lang="en-US" altLang="zh-CN" dirty="0">
              <a:latin typeface="Consolas" panose="020B0609020204030204" pitchFamily="49" charset="0"/>
              <a:ea typeface="黑体" panose="02010609060101010101" pitchFamily="49" charset="-122"/>
            </a:endParaRPr>
          </a:p>
          <a:p>
            <a:pPr lvl="1" eaLnBrk="1" hangingPunct="1">
              <a:lnSpc>
                <a:spcPct val="90000"/>
              </a:lnSpc>
            </a:pPr>
            <a:r>
              <a:rPr lang="en-US" altLang="zh-CN" dirty="0">
                <a:latin typeface="Consolas" panose="020B0609020204030204" pitchFamily="49" charset="0"/>
              </a:rPr>
              <a:t>class Barney {</a:t>
            </a:r>
            <a:endParaRPr lang="en-US" altLang="zh-CN" dirty="0">
              <a:latin typeface="Consolas" panose="020B0609020204030204" pitchFamily="49" charset="0"/>
            </a:endParaRPr>
          </a:p>
          <a:p>
            <a:pPr lvl="1" eaLnBrk="1" hangingPunct="1">
              <a:lnSpc>
                <a:spcPct val="90000"/>
              </a:lnSpc>
            </a:pPr>
            <a:r>
              <a:rPr lang="en-US" altLang="zh-CN" dirty="0">
                <a:latin typeface="Consolas" panose="020B0609020204030204" pitchFamily="49" charset="0"/>
              </a:rPr>
              <a:t>   Fred x; </a:t>
            </a:r>
            <a:r>
              <a:rPr lang="en-US" altLang="zh-CN" dirty="0">
                <a:latin typeface="Consolas" panose="020B0609020204030204" pitchFamily="49" charset="0"/>
                <a:ea typeface="黑体" panose="02010609060101010101" pitchFamily="49" charset="-122"/>
              </a:rPr>
              <a:t>//</a:t>
            </a:r>
            <a:r>
              <a:rPr lang="zh-CN" altLang="en-US" dirty="0">
                <a:latin typeface="Consolas" panose="020B0609020204030204" pitchFamily="49" charset="0"/>
                <a:ea typeface="黑体" panose="02010609060101010101" pitchFamily="49" charset="-122"/>
              </a:rPr>
              <a:t>错误：类</a:t>
            </a:r>
            <a:r>
              <a:rPr lang="en-US" altLang="zh-CN" dirty="0">
                <a:latin typeface="Consolas" panose="020B0609020204030204" pitchFamily="49" charset="0"/>
                <a:ea typeface="黑体" panose="02010609060101010101" pitchFamily="49" charset="-122"/>
              </a:rPr>
              <a:t>Fred</a:t>
            </a:r>
            <a:r>
              <a:rPr lang="zh-CN" altLang="en-US" dirty="0">
                <a:latin typeface="Consolas" panose="020B0609020204030204" pitchFamily="49" charset="0"/>
                <a:ea typeface="黑体" panose="02010609060101010101" pitchFamily="49" charset="-122"/>
              </a:rPr>
              <a:t>的声明尚不完善</a:t>
            </a:r>
            <a:endParaRPr lang="zh-CN" altLang="en-US" dirty="0">
              <a:latin typeface="Consolas" panose="020B0609020204030204" pitchFamily="49" charset="0"/>
              <a:ea typeface="黑体" panose="02010609060101010101" pitchFamily="49" charset="-122"/>
            </a:endParaRPr>
          </a:p>
          <a:p>
            <a:pPr lvl="1" eaLnBrk="1" hangingPunct="1">
              <a:lnSpc>
                <a:spcPct val="90000"/>
              </a:lnSpc>
            </a:pPr>
            <a:r>
              <a:rPr lang="en-US" altLang="zh-CN" dirty="0">
                <a:latin typeface="Consolas" panose="020B0609020204030204" pitchFamily="49" charset="0"/>
              </a:rPr>
              <a:t>};</a:t>
            </a:r>
            <a:endParaRPr lang="en-US" altLang="zh-CN" dirty="0">
              <a:latin typeface="Consolas" panose="020B0609020204030204" pitchFamily="49" charset="0"/>
            </a:endParaRPr>
          </a:p>
          <a:p>
            <a:pPr lvl="1" eaLnBrk="1" hangingPunct="1">
              <a:lnSpc>
                <a:spcPct val="90000"/>
              </a:lnSpc>
            </a:pPr>
            <a:r>
              <a:rPr lang="en-US" altLang="zh-CN" dirty="0">
                <a:latin typeface="Consolas" panose="020B0609020204030204" pitchFamily="49" charset="0"/>
              </a:rPr>
              <a:t>class Fred {</a:t>
            </a:r>
            <a:endParaRPr lang="en-US" altLang="zh-CN" dirty="0">
              <a:latin typeface="Consolas" panose="020B0609020204030204" pitchFamily="49" charset="0"/>
            </a:endParaRPr>
          </a:p>
          <a:p>
            <a:pPr lvl="1" eaLnBrk="1" hangingPunct="1">
              <a:lnSpc>
                <a:spcPct val="90000"/>
              </a:lnSpc>
            </a:pPr>
            <a:r>
              <a:rPr lang="en-US" altLang="zh-CN" dirty="0">
                <a:latin typeface="Consolas" panose="020B0609020204030204" pitchFamily="49" charset="0"/>
              </a:rPr>
              <a:t>   Barney y;</a:t>
            </a:r>
            <a:endParaRPr lang="en-US" altLang="zh-CN" dirty="0">
              <a:latin typeface="Consolas" panose="020B0609020204030204" pitchFamily="49" charset="0"/>
            </a:endParaRPr>
          </a:p>
          <a:p>
            <a:pPr lvl="1" eaLnBrk="1" hangingPunct="1">
              <a:lnSpc>
                <a:spcPct val="90000"/>
              </a:lnSpc>
            </a:pPr>
            <a:r>
              <a:rPr lang="en-US" altLang="zh-CN" dirty="0">
                <a:latin typeface="Consolas" panose="020B0609020204030204" pitchFamily="49" charset="0"/>
              </a:rPr>
              <a:t>};</a:t>
            </a:r>
            <a:endParaRPr lang="en-US" altLang="zh-CN" dirty="0">
              <a:latin typeface="Consolas" panose="020B0609020204030204" pitchFamily="49" charset="0"/>
            </a:endParaRPr>
          </a:p>
          <a:p>
            <a:pPr eaLnBrk="1" hangingPunct="1">
              <a:spcBef>
                <a:spcPts val="300"/>
              </a:spcBef>
              <a:buClr>
                <a:srgbClr val="EB641B"/>
              </a:buClr>
              <a:buFont typeface="Georgia" panose="02040502050405090303" pitchFamily="18" charset="0"/>
              <a:buNone/>
            </a:pPr>
            <a:endParaRPr lang="zh-CN" altLang="en-US" sz="2800" dirty="0">
              <a:latin typeface="Consolas" panose="020B0609020204030204" pitchFamily="49" charset="0"/>
              <a:ea typeface="黑体"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内容占位符 2"/>
          <p:cNvSpPr>
            <a:spLocks noGrp="1" noChangeArrowheads="1"/>
          </p:cNvSpPr>
          <p:nvPr>
            <p:ph idx="4294967295"/>
          </p:nvPr>
        </p:nvSpPr>
        <p:spPr>
          <a:xfrm>
            <a:off x="457200" y="571500"/>
            <a:ext cx="8229600" cy="6002338"/>
          </a:xfrm>
          <a:solidFill>
            <a:schemeClr val="bg2">
              <a:lumMod val="90000"/>
            </a:schemeClr>
          </a:solidFill>
        </p:spPr>
        <p:txBody>
          <a:bodyPr/>
          <a:lstStyle/>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class Fred;	//</a:t>
            </a:r>
            <a:r>
              <a:rPr lang="zh-CN" altLang="en-US" sz="1900">
                <a:latin typeface="Consolas" panose="020B0609020204030204" pitchFamily="49" charset="0"/>
              </a:rPr>
              <a:t>前向引用声明</a:t>
            </a:r>
            <a:endParaRPr lang="zh-CN" altLang="en-US"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zh-CN" altLang="en-US" sz="1900">
                <a:latin typeface="Consolas" panose="020B0609020204030204" pitchFamily="49" charset="0"/>
              </a:rPr>
              <a:t> </a:t>
            </a:r>
            <a:endParaRPr lang="zh-CN" altLang="en-US"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class Barney {</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public:</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  ……</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  void method() {</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    x. dosomethingreally();//</a:t>
            </a:r>
            <a:r>
              <a:rPr lang="zh-CN" altLang="en-US" sz="1900">
                <a:latin typeface="Consolas" panose="020B0609020204030204" pitchFamily="49" charset="0"/>
              </a:rPr>
              <a:t>错误：</a:t>
            </a:r>
            <a:r>
              <a:rPr lang="en-US" altLang="zh-CN" sz="1900">
                <a:latin typeface="Consolas" panose="020B0609020204030204" pitchFamily="49" charset="0"/>
              </a:rPr>
              <a:t>Fred</a:t>
            </a:r>
            <a:r>
              <a:rPr lang="zh-CN" altLang="en-US" sz="1900">
                <a:latin typeface="Consolas" panose="020B0609020204030204" pitchFamily="49" charset="0"/>
              </a:rPr>
              <a:t>类的对象在定义之前被使用</a:t>
            </a:r>
            <a:endParaRPr lang="zh-CN" altLang="en-US"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zh-CN" altLang="en-US" sz="1900">
                <a:latin typeface="Consolas" panose="020B0609020204030204" pitchFamily="49" charset="0"/>
              </a:rPr>
              <a:t>  </a:t>
            </a:r>
            <a:r>
              <a:rPr lang="en-US" altLang="zh-CN" sz="1900">
                <a:latin typeface="Consolas" panose="020B0609020204030204" pitchFamily="49" charset="0"/>
              </a:rPr>
              <a:t>}</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 private:</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  Fred &amp;x;//</a:t>
            </a:r>
            <a:r>
              <a:rPr lang="zh-CN" altLang="en-US" sz="1900">
                <a:latin typeface="Consolas" panose="020B0609020204030204" pitchFamily="49" charset="0"/>
              </a:rPr>
              <a:t>正确，经过前向引用声明，可以声明</a:t>
            </a:r>
            <a:r>
              <a:rPr lang="en-US" altLang="zh-CN" sz="1900">
                <a:latin typeface="Consolas" panose="020B0609020204030204" pitchFamily="49" charset="0"/>
              </a:rPr>
              <a:t>Fred</a:t>
            </a:r>
            <a:r>
              <a:rPr lang="zh-CN" altLang="en-US" sz="1900">
                <a:latin typeface="Consolas" panose="020B0609020204030204" pitchFamily="49" charset="0"/>
              </a:rPr>
              <a:t>类的对象引用</a:t>
            </a:r>
            <a:endParaRPr lang="zh-CN" altLang="en-US"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 </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class Fred {</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public:</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  void dosomethingreally();</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private:</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  Barney &amp;y;</a:t>
            </a:r>
            <a:endParaRPr lang="en-US" altLang="zh-CN" sz="1900">
              <a:latin typeface="Consolas" panose="020B0609020204030204" pitchFamily="49" charset="0"/>
            </a:endParaRPr>
          </a:p>
          <a:p>
            <a:pPr eaLnBrk="1" hangingPunct="1">
              <a:spcBef>
                <a:spcPct val="0"/>
              </a:spcBef>
              <a:buClr>
                <a:srgbClr val="EB641B"/>
              </a:buClr>
              <a:buFont typeface="Georgia" panose="02040502050405090303" pitchFamily="18" charset="0"/>
              <a:buNone/>
            </a:pPr>
            <a:r>
              <a:rPr lang="en-US" altLang="zh-CN" sz="1900">
                <a:latin typeface="Consolas" panose="020B0609020204030204" pitchFamily="49" charset="0"/>
              </a:rPr>
              <a:t>}; </a:t>
            </a:r>
            <a:endParaRPr lang="en-US" altLang="zh-CN" sz="1900">
              <a:latin typeface="Consolas" panose="020B0609020204030204" pitchFamily="49" charset="0"/>
            </a:endParaRPr>
          </a:p>
        </p:txBody>
      </p:sp>
      <p:sp>
        <p:nvSpPr>
          <p:cNvPr id="58371"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58373" name="标题 4"/>
          <p:cNvSpPr txBox="1">
            <a:spLocks noChangeArrowheads="1"/>
          </p:cNvSpPr>
          <p:nvPr/>
        </p:nvSpPr>
        <p:spPr bwMode="auto">
          <a:xfrm>
            <a:off x="214313" y="0"/>
            <a:ext cx="6572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80000"/>
              </a:lnSpc>
            </a:pPr>
            <a:r>
              <a:rPr lang="en-US" altLang="zh-CN" sz="2600">
                <a:solidFill>
                  <a:schemeClr val="bg1"/>
                </a:solidFill>
                <a:latin typeface="Lucida Sans Unicode" panose="020B0602030504020204" pitchFamily="34" charset="0"/>
                <a:ea typeface="黑体" panose="02010609060101010101" pitchFamily="49" charset="-122"/>
              </a:rPr>
              <a:t>4.4 </a:t>
            </a:r>
            <a:r>
              <a:rPr lang="zh-CN" altLang="en-US" sz="2600">
                <a:solidFill>
                  <a:schemeClr val="bg1"/>
                </a:solidFill>
                <a:latin typeface="Lucida Sans Unicode" panose="020B0602030504020204" pitchFamily="34" charset="0"/>
                <a:ea typeface="黑体" panose="02010609060101010101" pitchFamily="49" charset="-122"/>
              </a:rPr>
              <a:t>类的组合 </a:t>
            </a:r>
            <a:r>
              <a:rPr lang="en-US" altLang="zh-CN" sz="2600">
                <a:solidFill>
                  <a:schemeClr val="bg1"/>
                </a:solidFill>
                <a:latin typeface="Lucida Sans Unicode" panose="020B0602030504020204" pitchFamily="34" charset="0"/>
                <a:ea typeface="黑体" panose="02010609060101010101" pitchFamily="49" charset="-122"/>
              </a:rPr>
              <a:t>—— 4.4.2 </a:t>
            </a:r>
            <a:r>
              <a:rPr lang="zh-CN" altLang="en-US" sz="2600">
                <a:solidFill>
                  <a:schemeClr val="bg1"/>
                </a:solidFill>
                <a:latin typeface="Lucida Sans Unicode" panose="020B0602030504020204" pitchFamily="34" charset="0"/>
                <a:ea typeface="黑体" panose="02010609060101010101" pitchFamily="49" charset="-122"/>
              </a:rPr>
              <a:t>前向引用声明</a:t>
            </a:r>
            <a:endParaRPr lang="zh-CN" altLang="en-US" sz="2600">
              <a:solidFill>
                <a:schemeClr val="bg1"/>
              </a:solidFill>
              <a:latin typeface="Lucida Sans Unicode" panose="020B0602030504020204" pitchFamily="34" charset="0"/>
              <a:ea typeface="黑体" panose="020106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noChangeArrowheads="1"/>
          </p:cNvSpPr>
          <p:nvPr>
            <p:ph idx="1"/>
          </p:nvPr>
        </p:nvSpPr>
        <p:spPr/>
        <p:txBody>
          <a:bodyPr/>
          <a:lstStyle/>
          <a:p>
            <a:pPr eaLnBrk="1" hangingPunct="1"/>
            <a:r>
              <a:rPr lang="zh-CN" altLang="en-US"/>
              <a:t>定义一个新的</a:t>
            </a:r>
            <a:r>
              <a:rPr lang="en-US" altLang="zh-CN"/>
              <a:t>class</a:t>
            </a:r>
            <a:r>
              <a:rPr lang="zh-CN" altLang="en-US"/>
              <a:t>也就定义了一个新的类型</a:t>
            </a:r>
            <a:endParaRPr lang="en-US" altLang="zh-CN"/>
          </a:p>
          <a:p>
            <a:pPr eaLnBrk="1" hangingPunct="1"/>
            <a:r>
              <a:rPr lang="zh-CN" altLang="en-US"/>
              <a:t>此类型的“合法值”是什么？</a:t>
            </a:r>
            <a:endParaRPr lang="en-US" altLang="zh-CN"/>
          </a:p>
          <a:p>
            <a:pPr lvl="1" eaLnBrk="1" hangingPunct="1"/>
            <a:r>
              <a:rPr lang="zh-CN" altLang="en-US"/>
              <a:t>构造函数以及</a:t>
            </a:r>
            <a:r>
              <a:rPr lang="en-US" altLang="zh-CN"/>
              <a:t>setXX</a:t>
            </a:r>
            <a:r>
              <a:rPr lang="zh-CN" altLang="en-US"/>
              <a:t>函数需要进行值的合法性检查</a:t>
            </a:r>
            <a:endParaRPr lang="en-US" altLang="zh-CN"/>
          </a:p>
          <a:p>
            <a:pPr eaLnBrk="1" hangingPunct="1"/>
            <a:r>
              <a:rPr lang="zh-CN" altLang="en-US"/>
              <a:t>此类型应该有什么样的函数和操作符？</a:t>
            </a:r>
            <a:endParaRPr lang="en-US" altLang="zh-CN"/>
          </a:p>
          <a:p>
            <a:pPr lvl="1" eaLnBrk="1" hangingPunct="1"/>
            <a:r>
              <a:rPr lang="zh-CN" altLang="en-US"/>
              <a:t>成员函数</a:t>
            </a:r>
            <a:endParaRPr lang="en-US" altLang="zh-CN"/>
          </a:p>
          <a:p>
            <a:pPr lvl="1" eaLnBrk="1" hangingPunct="1"/>
            <a:r>
              <a:rPr lang="zh-CN" altLang="en-US"/>
              <a:t>特殊的成员函数：运算符重载函数</a:t>
            </a:r>
            <a:endParaRPr lang="en-US" altLang="zh-CN"/>
          </a:p>
          <a:p>
            <a:pPr eaLnBrk="1" hangingPunct="1"/>
            <a:r>
              <a:rPr lang="zh-CN" altLang="en-US"/>
              <a:t>新类型的对象该如何被创建和销毁？</a:t>
            </a:r>
            <a:endParaRPr lang="en-US" altLang="zh-CN"/>
          </a:p>
          <a:p>
            <a:pPr lvl="1" eaLnBrk="1" hangingPunct="1"/>
            <a:r>
              <a:rPr lang="zh-CN" altLang="en-US"/>
              <a:t>构造和析构函数</a:t>
            </a:r>
            <a:endParaRPr lang="en-US" altLang="zh-CN"/>
          </a:p>
          <a:p>
            <a:pPr lvl="1" eaLnBrk="1" hangingPunct="1"/>
            <a:r>
              <a:rPr lang="zh-CN" altLang="en-US"/>
              <a:t>内存分配和释放函数（</a:t>
            </a:r>
            <a:r>
              <a:rPr lang="en-US" altLang="zh-CN"/>
              <a:t>operator new</a:t>
            </a:r>
            <a:r>
              <a:rPr lang="zh-CN" altLang="en-US"/>
              <a:t>、</a:t>
            </a:r>
            <a:r>
              <a:rPr lang="en-US" altLang="zh-CN"/>
              <a:t>operator new[]</a:t>
            </a:r>
            <a:r>
              <a:rPr lang="zh-CN" altLang="en-US"/>
              <a:t>、</a:t>
            </a:r>
            <a:r>
              <a:rPr lang="en-US" altLang="zh-CN"/>
              <a:t>operator delete</a:t>
            </a:r>
            <a:r>
              <a:rPr lang="zh-CN" altLang="en-US"/>
              <a:t>、</a:t>
            </a:r>
            <a:r>
              <a:rPr lang="en-US" altLang="zh-CN"/>
              <a:t>operator delete[]</a:t>
            </a:r>
            <a:r>
              <a:rPr lang="zh-CN" altLang="en-US"/>
              <a:t>） </a:t>
            </a:r>
            <a:endParaRPr lang="en-US" altLang="zh-CN"/>
          </a:p>
        </p:txBody>
      </p:sp>
      <p:sp>
        <p:nvSpPr>
          <p:cNvPr id="59395"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59397" name="标题 4"/>
          <p:cNvSpPr txBox="1">
            <a:spLocks noChangeArrowheads="1"/>
          </p:cNvSpPr>
          <p:nvPr/>
        </p:nvSpPr>
        <p:spPr bwMode="auto">
          <a:xfrm>
            <a:off x="214313" y="0"/>
            <a:ext cx="76438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80000"/>
              </a:lnSpc>
            </a:pPr>
            <a:r>
              <a:rPr lang="en-US" altLang="zh-CN" sz="2600">
                <a:solidFill>
                  <a:schemeClr val="bg1"/>
                </a:solidFill>
                <a:latin typeface="Lucida Sans Unicode" panose="020B0602030504020204" pitchFamily="34" charset="0"/>
                <a:ea typeface="黑体" panose="02010609060101010101" pitchFamily="49" charset="-122"/>
              </a:rPr>
              <a:t>4.2 </a:t>
            </a:r>
            <a:r>
              <a:rPr lang="zh-CN" altLang="en-US" sz="2600">
                <a:solidFill>
                  <a:schemeClr val="bg1"/>
                </a:solidFill>
                <a:latin typeface="Lucida Sans Unicode" panose="020B0602030504020204" pitchFamily="34" charset="0"/>
                <a:ea typeface="黑体" panose="02010609060101010101" pitchFamily="49" charset="-122"/>
              </a:rPr>
              <a:t> 类和对象</a:t>
            </a:r>
            <a:endParaRPr lang="zh-CN" altLang="en-US" sz="2600">
              <a:solidFill>
                <a:schemeClr val="bg1"/>
              </a:solidFill>
              <a:latin typeface="Lucida Sans Unicode" panose="020B0602030504020204" pitchFamily="34" charset="0"/>
              <a:ea typeface="黑体" panose="02010609060101010101" pitchFamily="49" charset="-122"/>
            </a:endParaRPr>
          </a:p>
        </p:txBody>
      </p:sp>
      <p:sp>
        <p:nvSpPr>
          <p:cNvPr id="3" name="标题 2"/>
          <p:cNvSpPr>
            <a:spLocks noGrp="1"/>
          </p:cNvSpPr>
          <p:nvPr>
            <p:ph type="title"/>
          </p:nvPr>
        </p:nvSpPr>
        <p:spPr>
          <a:xfrm>
            <a:off x="432000" y="432000"/>
            <a:ext cx="8230387" cy="899650"/>
          </a:xfrm>
        </p:spPr>
        <p:txBody>
          <a:bodyPr/>
          <a:lstStyle/>
          <a:p>
            <a:r>
              <a:rPr lang="zh-CN" altLang="en-US" dirty="0"/>
              <a:t>设计</a:t>
            </a:r>
            <a:r>
              <a:rPr lang="en-US" altLang="zh-CN" dirty="0"/>
              <a:t>class</a:t>
            </a:r>
            <a:r>
              <a:rPr lang="zh-CN" altLang="en-US" dirty="0"/>
              <a:t>就是设计新的类型</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内容占位符 2"/>
          <p:cNvSpPr>
            <a:spLocks noGrp="1" noChangeArrowheads="1"/>
          </p:cNvSpPr>
          <p:nvPr>
            <p:ph idx="1"/>
          </p:nvPr>
        </p:nvSpPr>
        <p:spPr/>
        <p:txBody>
          <a:bodyPr>
            <a:normAutofit/>
          </a:bodyPr>
          <a:lstStyle/>
          <a:p>
            <a:pPr eaLnBrk="1" hangingPunct="1"/>
            <a:r>
              <a:rPr lang="zh-CN" altLang="en-US" dirty="0"/>
              <a:t>对象的初始化和赋值有何差别？</a:t>
            </a:r>
            <a:endParaRPr lang="en-US" altLang="zh-CN" dirty="0"/>
          </a:p>
          <a:p>
            <a:pPr lvl="1" eaLnBrk="1" hangingPunct="1"/>
            <a:r>
              <a:rPr lang="zh-CN" altLang="en-US" dirty="0"/>
              <a:t>复制构造</a:t>
            </a:r>
            <a:endParaRPr lang="en-US" altLang="zh-CN" dirty="0"/>
          </a:p>
          <a:p>
            <a:pPr lvl="1" eaLnBrk="1" hangingPunct="1"/>
            <a:r>
              <a:rPr lang="zh-CN" altLang="en-US" dirty="0"/>
              <a:t>赋值</a:t>
            </a:r>
            <a:endParaRPr lang="en-US" altLang="zh-CN" dirty="0"/>
          </a:p>
          <a:p>
            <a:pPr eaLnBrk="1" hangingPunct="1"/>
            <a:r>
              <a:rPr lang="zh-CN" altLang="en-US" dirty="0"/>
              <a:t>对象作为函数的参数如何以值传递？</a:t>
            </a:r>
            <a:endParaRPr lang="en-US" altLang="zh-CN" dirty="0"/>
          </a:p>
          <a:p>
            <a:pPr lvl="1" eaLnBrk="1" hangingPunct="1"/>
            <a:r>
              <a:rPr lang="zh-CN" altLang="en-US" dirty="0"/>
              <a:t>通过复制构造函数实现传值</a:t>
            </a:r>
            <a:endParaRPr lang="en-US" altLang="zh-CN" dirty="0"/>
          </a:p>
          <a:p>
            <a:pPr eaLnBrk="1" hangingPunct="1"/>
            <a:r>
              <a:rPr lang="zh-CN" altLang="en-US" dirty="0"/>
              <a:t>谁将使用此类型的对象成员？</a:t>
            </a:r>
            <a:endParaRPr lang="en-US" altLang="zh-CN" dirty="0"/>
          </a:p>
          <a:p>
            <a:pPr lvl="1" eaLnBrk="1" hangingPunct="1"/>
            <a:r>
              <a:rPr lang="zh-CN" altLang="en-US" dirty="0"/>
              <a:t>哪些是公有、私有、保护</a:t>
            </a:r>
            <a:endParaRPr lang="en-US" altLang="zh-CN" dirty="0"/>
          </a:p>
          <a:p>
            <a:pPr lvl="1" eaLnBrk="1" hangingPunct="1"/>
            <a:r>
              <a:rPr lang="zh-CN" altLang="en-US" dirty="0"/>
              <a:t>哪些函数和类应该是友元</a:t>
            </a:r>
            <a:endParaRPr lang="en-US" altLang="zh-CN" dirty="0"/>
          </a:p>
          <a:p>
            <a:pPr eaLnBrk="1" hangingPunct="1"/>
            <a:r>
              <a:rPr lang="zh-CN" altLang="en-US" dirty="0"/>
              <a:t>哪些函数应该禁用？</a:t>
            </a:r>
            <a:endParaRPr lang="en-US" altLang="zh-CN" dirty="0"/>
          </a:p>
          <a:p>
            <a:pPr lvl="1" eaLnBrk="1" hangingPunct="1"/>
            <a:r>
              <a:rPr lang="zh-CN" altLang="en-US" dirty="0"/>
              <a:t>例如在一些特定设计中不允许默认构造函数被调用</a:t>
            </a:r>
            <a:endParaRPr lang="en-US" altLang="zh-CN" dirty="0"/>
          </a:p>
          <a:p>
            <a:pPr eaLnBrk="1" hangingPunct="1"/>
            <a:endParaRPr lang="zh-CN" altLang="en-US" dirty="0"/>
          </a:p>
        </p:txBody>
      </p:sp>
      <p:sp>
        <p:nvSpPr>
          <p:cNvPr id="60419"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60421" name="标题 4"/>
          <p:cNvSpPr txBox="1">
            <a:spLocks noChangeArrowheads="1"/>
          </p:cNvSpPr>
          <p:nvPr/>
        </p:nvSpPr>
        <p:spPr bwMode="auto">
          <a:xfrm>
            <a:off x="214313" y="0"/>
            <a:ext cx="76438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503050405090304" pitchFamily="18" charset="0"/>
                <a:ea typeface="隶书" panose="02010509060101010101" pitchFamily="49" charset="-122"/>
              </a:defRPr>
            </a:lvl1pPr>
            <a:lvl2pPr marL="742950" indent="-285750" eaLnBrk="0" hangingPunct="0">
              <a:defRPr sz="2400">
                <a:solidFill>
                  <a:schemeClr val="tx1"/>
                </a:solidFill>
                <a:latin typeface="Times New Roman" panose="02020503050405090304" pitchFamily="18" charset="0"/>
                <a:ea typeface="隶书" panose="02010509060101010101" pitchFamily="49" charset="-122"/>
              </a:defRPr>
            </a:lvl2pPr>
            <a:lvl3pPr marL="1143000" indent="-228600" eaLnBrk="0" hangingPunct="0">
              <a:defRPr sz="2400">
                <a:solidFill>
                  <a:schemeClr val="tx1"/>
                </a:solidFill>
                <a:latin typeface="Times New Roman" panose="02020503050405090304" pitchFamily="18" charset="0"/>
                <a:ea typeface="隶书" panose="02010509060101010101" pitchFamily="49" charset="-122"/>
              </a:defRPr>
            </a:lvl3pPr>
            <a:lvl4pPr marL="1600200" indent="-228600" eaLnBrk="0" hangingPunct="0">
              <a:defRPr sz="2400">
                <a:solidFill>
                  <a:schemeClr val="tx1"/>
                </a:solidFill>
                <a:latin typeface="Times New Roman" panose="02020503050405090304" pitchFamily="18" charset="0"/>
                <a:ea typeface="隶书" panose="02010509060101010101" pitchFamily="49" charset="-122"/>
              </a:defRPr>
            </a:lvl4pPr>
            <a:lvl5pPr marL="2057400" indent="-228600" eaLnBrk="0" hangingPunct="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503050405090304" pitchFamily="18" charset="0"/>
                <a:ea typeface="隶书" panose="02010509060101010101" pitchFamily="49" charset="-122"/>
              </a:defRPr>
            </a:lvl9pPr>
          </a:lstStyle>
          <a:p>
            <a:pPr eaLnBrk="1" hangingPunct="1">
              <a:lnSpc>
                <a:spcPct val="80000"/>
              </a:lnSpc>
            </a:pPr>
            <a:r>
              <a:rPr lang="en-US" altLang="zh-CN" sz="2600">
                <a:solidFill>
                  <a:schemeClr val="bg1"/>
                </a:solidFill>
                <a:latin typeface="Lucida Sans Unicode" panose="020B0602030504020204" pitchFamily="34" charset="0"/>
                <a:ea typeface="黑体" panose="02010609060101010101" pitchFamily="49" charset="-122"/>
              </a:rPr>
              <a:t>4.2 </a:t>
            </a:r>
            <a:r>
              <a:rPr lang="zh-CN" altLang="en-US" sz="2600">
                <a:solidFill>
                  <a:schemeClr val="bg1"/>
                </a:solidFill>
                <a:latin typeface="Lucida Sans Unicode" panose="020B0602030504020204" pitchFamily="34" charset="0"/>
                <a:ea typeface="黑体" panose="02010609060101010101" pitchFamily="49" charset="-122"/>
              </a:rPr>
              <a:t> 类和对象</a:t>
            </a:r>
            <a:endParaRPr lang="zh-CN" altLang="en-US" sz="2600">
              <a:solidFill>
                <a:schemeClr val="bg1"/>
              </a:solidFill>
              <a:latin typeface="Lucida Sans Unicode" panose="020B0602030504020204" pitchFamily="34" charset="0"/>
              <a:ea typeface="黑体" panose="02010609060101010101" pitchFamily="49" charset="-122"/>
            </a:endParaRPr>
          </a:p>
        </p:txBody>
      </p:sp>
      <p:sp>
        <p:nvSpPr>
          <p:cNvPr id="3" name="标题 2"/>
          <p:cNvSpPr>
            <a:spLocks noGrp="1"/>
          </p:cNvSpPr>
          <p:nvPr>
            <p:ph type="title"/>
          </p:nvPr>
        </p:nvSpPr>
        <p:spPr>
          <a:xfrm>
            <a:off x="432000" y="432000"/>
            <a:ext cx="8230387" cy="899650"/>
          </a:xfrm>
        </p:spPr>
        <p:txBody>
          <a:bodyPr/>
          <a:lstStyle/>
          <a:p>
            <a:r>
              <a:rPr lang="zh-CN" altLang="en-US" dirty="0"/>
              <a:t>设计</a:t>
            </a:r>
            <a:r>
              <a:rPr lang="en-US" altLang="zh-CN" dirty="0"/>
              <a:t>class</a:t>
            </a:r>
            <a:r>
              <a:rPr lang="zh-CN" altLang="en-US" dirty="0"/>
              <a:t>就是设计新的类型</a:t>
            </a:r>
            <a:r>
              <a:rPr lang="en-US" altLang="zh-CN" dirty="0"/>
              <a:t>(</a:t>
            </a:r>
            <a:r>
              <a:rPr lang="zh-CN" altLang="en-US" dirty="0"/>
              <a:t>续）</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4189674" y="2440884"/>
            <a:ext cx="144016" cy="144016"/>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椭圆 11"/>
          <p:cNvSpPr/>
          <p:nvPr/>
        </p:nvSpPr>
        <p:spPr>
          <a:xfrm>
            <a:off x="4186562" y="2621037"/>
            <a:ext cx="144016" cy="144016"/>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 name="椭圆 12"/>
          <p:cNvSpPr/>
          <p:nvPr/>
        </p:nvSpPr>
        <p:spPr>
          <a:xfrm>
            <a:off x="5144807" y="4215070"/>
            <a:ext cx="144016" cy="144016"/>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椭圆 13"/>
          <p:cNvSpPr/>
          <p:nvPr/>
        </p:nvSpPr>
        <p:spPr>
          <a:xfrm>
            <a:off x="5144807" y="5954994"/>
            <a:ext cx="144016" cy="144016"/>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3" name="图片 2"/>
          <p:cNvPicPr>
            <a:picLocks noChangeAspect="1"/>
          </p:cNvPicPr>
          <p:nvPr/>
        </p:nvPicPr>
        <p:blipFill>
          <a:blip r:embed="rId1"/>
          <a:stretch>
            <a:fillRect/>
          </a:stretch>
        </p:blipFill>
        <p:spPr>
          <a:xfrm>
            <a:off x="1107080" y="1188532"/>
            <a:ext cx="3168352" cy="4976772"/>
          </a:xfrm>
          <a:prstGeom prst="rect">
            <a:avLst/>
          </a:prstGeom>
        </p:spPr>
      </p:pic>
      <p:pic>
        <p:nvPicPr>
          <p:cNvPr id="5" name="图片 4"/>
          <p:cNvPicPr>
            <a:picLocks noChangeAspect="1"/>
          </p:cNvPicPr>
          <p:nvPr/>
        </p:nvPicPr>
        <p:blipFill>
          <a:blip r:embed="rId2"/>
          <a:stretch>
            <a:fillRect/>
          </a:stretch>
        </p:blipFill>
        <p:spPr>
          <a:xfrm>
            <a:off x="5211536" y="1188532"/>
            <a:ext cx="2960864" cy="4976772"/>
          </a:xfrm>
          <a:prstGeom prst="rect">
            <a:avLst/>
          </a:prstGeom>
        </p:spPr>
      </p:pic>
      <p:sp>
        <p:nvSpPr>
          <p:cNvPr id="6" name="文本框 5"/>
          <p:cNvSpPr txBox="1"/>
          <p:nvPr/>
        </p:nvSpPr>
        <p:spPr>
          <a:xfrm>
            <a:off x="1043608" y="726867"/>
            <a:ext cx="252626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effectLst/>
                <a:uLnTx/>
                <a:uFillTx/>
                <a:latin typeface="Arial" panose="020B0604020202090204" pitchFamily="34" charset="0"/>
                <a:ea typeface="宋体" pitchFamily="2" charset="-122"/>
                <a:cs typeface="+mn-cs"/>
              </a:rPr>
              <a:t>//</a:t>
            </a:r>
            <a:r>
              <a:rPr kumimoji="0" lang="en-US" altLang="zh-CN" sz="2400" b="0" i="0" u="none" strike="noStrike" kern="1200" cap="none" spc="0" normalizeH="0" baseline="0" noProof="0" dirty="0" err="1">
                <a:ln>
                  <a:noFill/>
                </a:ln>
                <a:effectLst/>
                <a:uLnTx/>
                <a:uFillTx/>
                <a:latin typeface="Arial" panose="020B0604020202090204" pitchFamily="34" charset="0"/>
                <a:ea typeface="宋体" pitchFamily="2" charset="-122"/>
                <a:cs typeface="+mn-cs"/>
              </a:rPr>
              <a:t>date.h@Date</a:t>
            </a:r>
            <a:r>
              <a:rPr kumimoji="0" lang="zh-CN" altLang="en-US" sz="2400" b="0" i="0" u="none" strike="noStrike" kern="1200" cap="none" spc="0" normalizeH="0" baseline="0" noProof="0" dirty="0">
                <a:ln>
                  <a:noFill/>
                </a:ln>
                <a:effectLst/>
                <a:uLnTx/>
                <a:uFillTx/>
                <a:latin typeface="Arial" panose="020B0604020202090204" pitchFamily="34" charset="0"/>
                <a:ea typeface="宋体" pitchFamily="2" charset="-122"/>
                <a:cs typeface="+mn-cs"/>
              </a:rPr>
              <a:t>类</a:t>
            </a:r>
            <a:endParaRPr kumimoji="0" lang="zh-CN" altLang="en-US" sz="2400" b="0" i="0" u="none" strike="noStrike" kern="1200" cap="none" spc="0" normalizeH="0" baseline="0" noProof="0" dirty="0">
              <a:ln>
                <a:noFill/>
              </a:ln>
              <a:effectLst/>
              <a:uLnTx/>
              <a:uFillTx/>
              <a:latin typeface="Arial" panose="020B0604020202090204" pitchFamily="34" charset="0"/>
              <a:ea typeface="宋体" pitchFamily="2" charset="-122"/>
              <a:cs typeface="+mn-cs"/>
            </a:endParaRPr>
          </a:p>
        </p:txBody>
      </p:sp>
      <p:sp>
        <p:nvSpPr>
          <p:cNvPr id="7" name="文本框 6"/>
          <p:cNvSpPr txBox="1"/>
          <p:nvPr/>
        </p:nvSpPr>
        <p:spPr>
          <a:xfrm>
            <a:off x="5211536" y="726867"/>
            <a:ext cx="2825384"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effectLst/>
                <a:uLnTx/>
                <a:uFillTx/>
                <a:latin typeface="Arial" panose="020B0604020202090204" pitchFamily="34" charset="0"/>
                <a:ea typeface="宋体" pitchFamily="2" charset="-122"/>
                <a:cs typeface="+mn-cs"/>
              </a:rPr>
              <a:t>//</a:t>
            </a:r>
            <a:r>
              <a:rPr kumimoji="0" lang="en-US" altLang="zh-CN" sz="2400" b="0" i="0" u="none" strike="noStrike" kern="1200" cap="none" spc="0" normalizeH="0" baseline="0" noProof="0" dirty="0" err="1">
                <a:ln>
                  <a:noFill/>
                </a:ln>
                <a:effectLst/>
                <a:uLnTx/>
                <a:uFillTx/>
                <a:latin typeface="Arial" panose="020B0604020202090204" pitchFamily="34" charset="0"/>
                <a:ea typeface="宋体" pitchFamily="2" charset="-122"/>
                <a:cs typeface="+mn-cs"/>
              </a:rPr>
              <a:t>date.cpp@Date</a:t>
            </a:r>
            <a:r>
              <a:rPr kumimoji="0" lang="zh-CN" altLang="en-US" sz="2400" b="0" i="0" u="none" strike="noStrike" kern="1200" cap="none" spc="0" normalizeH="0" baseline="0" noProof="0" dirty="0">
                <a:ln>
                  <a:noFill/>
                </a:ln>
                <a:effectLst/>
                <a:uLnTx/>
                <a:uFillTx/>
                <a:latin typeface="Arial" panose="020B0604020202090204" pitchFamily="34" charset="0"/>
                <a:ea typeface="宋体" pitchFamily="2" charset="-122"/>
                <a:cs typeface="+mn-cs"/>
              </a:rPr>
              <a:t>类</a:t>
            </a:r>
            <a:endParaRPr kumimoji="0" lang="zh-CN" altLang="en-US" sz="2400" b="0" i="0" u="none" strike="noStrike" kern="1200" cap="none" spc="0" normalizeH="0" baseline="0" noProof="0" dirty="0">
              <a:ln>
                <a:noFill/>
              </a:ln>
              <a:effectLst/>
              <a:uLnTx/>
              <a:uFillTx/>
              <a:latin typeface="Arial" panose="020B0604020202090204" pitchFamily="34" charset="0"/>
              <a:ea typeface="宋体" pitchFamily="2" charset="-122"/>
              <a:cs typeface="+mn-cs"/>
            </a:endParaRPr>
          </a:p>
        </p:txBody>
      </p:sp>
      <p:sp>
        <p:nvSpPr>
          <p:cNvPr id="8" name="箭头: 左 7"/>
          <p:cNvSpPr/>
          <p:nvPr/>
        </p:nvSpPr>
        <p:spPr>
          <a:xfrm>
            <a:off x="7034022" y="1564439"/>
            <a:ext cx="288032" cy="144016"/>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箭头: 右 8"/>
          <p:cNvSpPr/>
          <p:nvPr/>
        </p:nvSpPr>
        <p:spPr>
          <a:xfrm>
            <a:off x="4491456" y="777679"/>
            <a:ext cx="504056" cy="360040"/>
          </a:xfrm>
          <a:prstGeom prst="rightArrow">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16" name="连接符: 曲线 15"/>
          <p:cNvCxnSpPr>
            <a:stCxn id="11" idx="6"/>
            <a:endCxn id="13" idx="2"/>
          </p:cNvCxnSpPr>
          <p:nvPr/>
        </p:nvCxnSpPr>
        <p:spPr>
          <a:xfrm>
            <a:off x="4333690" y="2512892"/>
            <a:ext cx="811117" cy="1774186"/>
          </a:xfrm>
          <a:prstGeom prst="curvedConnector3">
            <a:avLst/>
          </a:prstGeom>
          <a:ln w="12700">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连接符: 曲线 17"/>
          <p:cNvCxnSpPr>
            <a:stCxn id="12" idx="6"/>
            <a:endCxn id="14" idx="2"/>
          </p:cNvCxnSpPr>
          <p:nvPr/>
        </p:nvCxnSpPr>
        <p:spPr>
          <a:xfrm>
            <a:off x="4330578" y="2693045"/>
            <a:ext cx="814229" cy="3333957"/>
          </a:xfrm>
          <a:prstGeom prst="curvedConnector3">
            <a:avLst/>
          </a:prstGeom>
          <a:ln w="1270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2" name="箭头: 右 1"/>
          <p:cNvSpPr/>
          <p:nvPr/>
        </p:nvSpPr>
        <p:spPr>
          <a:xfrm>
            <a:off x="1441281" y="1839859"/>
            <a:ext cx="296358" cy="144016"/>
          </a:xfrm>
          <a:prstGeom prst="rightArrow">
            <a:avLst/>
          </a:prstGeom>
          <a:solidFill>
            <a:schemeClr val="accent5">
              <a:lumMod val="60000"/>
              <a:lumOff val="40000"/>
            </a:schemeClr>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p:cNvSpPr/>
          <p:nvPr/>
        </p:nvSpPr>
        <p:spPr>
          <a:xfrm>
            <a:off x="1441281" y="1990750"/>
            <a:ext cx="296358" cy="144016"/>
          </a:xfrm>
          <a:prstGeom prst="rightArrow">
            <a:avLst/>
          </a:prstGeom>
          <a:solidFill>
            <a:schemeClr val="accent6">
              <a:lumMod val="60000"/>
              <a:lumOff val="40000"/>
            </a:schemeClr>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p:cNvSpPr/>
          <p:nvPr/>
        </p:nvSpPr>
        <p:spPr>
          <a:xfrm>
            <a:off x="1441281" y="2148516"/>
            <a:ext cx="296358" cy="144016"/>
          </a:xfrm>
          <a:prstGeom prst="rightArrow">
            <a:avLst/>
          </a:prstGeom>
          <a:solidFill>
            <a:schemeClr val="accent4">
              <a:lumMod val="60000"/>
              <a:lumOff val="40000"/>
            </a:schemeClr>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33656" y="2693045"/>
            <a:ext cx="360040" cy="1815882"/>
          </a:xfrm>
          <a:prstGeom prst="rect">
            <a:avLst/>
          </a:prstGeom>
          <a:noFill/>
          <a:ln w="6350">
            <a:solidFill>
              <a:srgbClr val="C00000"/>
            </a:solidFill>
          </a:ln>
        </p:spPr>
        <p:txBody>
          <a:bodyPr wrap="square" rtlCol="0">
            <a:spAutoFit/>
          </a:bodyPr>
          <a:lstStyle/>
          <a:p>
            <a:pPr algn="ctr"/>
            <a:r>
              <a:rPr lang="zh-CN" altLang="en-US" sz="2800" dirty="0"/>
              <a:t>构造函数</a:t>
            </a:r>
            <a:endParaRPr lang="zh-CN" altLang="en-US" sz="2800" dirty="0"/>
          </a:p>
        </p:txBody>
      </p:sp>
      <p:cxnSp>
        <p:nvCxnSpPr>
          <p:cNvPr id="21" name="连接符: 曲线 20"/>
          <p:cNvCxnSpPr>
            <a:stCxn id="15" idx="0"/>
            <a:endCxn id="19" idx="1"/>
          </p:cNvCxnSpPr>
          <p:nvPr/>
        </p:nvCxnSpPr>
        <p:spPr>
          <a:xfrm rot="5400000" flipH="1" flipV="1">
            <a:off x="841218" y="2092983"/>
            <a:ext cx="472521" cy="727605"/>
          </a:xfrm>
          <a:prstGeom prst="curvedConnector2">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曲线 23"/>
          <p:cNvCxnSpPr>
            <a:stCxn id="15" idx="0"/>
          </p:cNvCxnSpPr>
          <p:nvPr/>
        </p:nvCxnSpPr>
        <p:spPr>
          <a:xfrm rot="5400000" flipH="1" flipV="1">
            <a:off x="762335" y="2014100"/>
            <a:ext cx="630287" cy="727605"/>
          </a:xfrm>
          <a:prstGeom prst="curvedConnector2">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连接符: 曲线 25"/>
          <p:cNvCxnSpPr>
            <a:stCxn id="15" idx="0"/>
            <a:endCxn id="2" idx="1"/>
          </p:cNvCxnSpPr>
          <p:nvPr/>
        </p:nvCxnSpPr>
        <p:spPr>
          <a:xfrm rot="5400000" flipH="1" flipV="1">
            <a:off x="686889" y="1938654"/>
            <a:ext cx="781178" cy="727605"/>
          </a:xfrm>
          <a:prstGeom prst="curvedConnector2">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圆角 27"/>
          <p:cNvSpPr/>
          <p:nvPr/>
        </p:nvSpPr>
        <p:spPr>
          <a:xfrm>
            <a:off x="2051720" y="4588003"/>
            <a:ext cx="1008112" cy="504056"/>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2937017" y="4699892"/>
            <a:ext cx="1181734" cy="307777"/>
          </a:xfrm>
          <a:prstGeom prst="rect">
            <a:avLst/>
          </a:prstGeom>
          <a:noFill/>
        </p:spPr>
        <p:txBody>
          <a:bodyPr wrap="none" rtlCol="0">
            <a:spAutoFit/>
          </a:bodyPr>
          <a:lstStyle/>
          <a:p>
            <a:r>
              <a:rPr lang="en-US" altLang="zh-CN" sz="1400" b="1" dirty="0">
                <a:solidFill>
                  <a:srgbClr val="C00000"/>
                </a:solidFill>
              </a:rPr>
              <a:t>//</a:t>
            </a:r>
            <a:r>
              <a:rPr lang="zh-CN" altLang="en-US" sz="1400" b="1" dirty="0">
                <a:solidFill>
                  <a:srgbClr val="C00000"/>
                </a:solidFill>
              </a:rPr>
              <a:t>如何初始化</a:t>
            </a:r>
            <a:endParaRPr lang="zh-CN" altLang="en-US" sz="1400" b="1" dirty="0">
              <a:solidFill>
                <a:srgbClr val="C00000"/>
              </a:solidFill>
            </a:endParaRPr>
          </a:p>
        </p:txBody>
      </p:sp>
      <p:sp>
        <p:nvSpPr>
          <p:cNvPr id="4" name="箭头: 左 3"/>
          <p:cNvSpPr/>
          <p:nvPr/>
        </p:nvSpPr>
        <p:spPr>
          <a:xfrm>
            <a:off x="7387619" y="5507352"/>
            <a:ext cx="451031" cy="216024"/>
          </a:xfrm>
          <a:prstGeom prst="leftArrow">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832119" y="5406292"/>
            <a:ext cx="389850" cy="369332"/>
          </a:xfrm>
          <a:prstGeom prst="rect">
            <a:avLst/>
          </a:prstGeom>
          <a:noFill/>
        </p:spPr>
        <p:txBody>
          <a:bodyPr wrap="none" rtlCol="0">
            <a:spAutoFit/>
          </a:bodyPr>
          <a:lstStyle/>
          <a:p>
            <a:r>
              <a:rPr lang="en-US" altLang="zh-CN" b="1" dirty="0">
                <a:solidFill>
                  <a:srgbClr val="FF0000"/>
                </a:solidFill>
              </a:rPr>
              <a:t>3)</a:t>
            </a:r>
            <a:endParaRPr lang="zh-CN" altLang="en-US" b="1" dirty="0">
              <a:solidFill>
                <a:srgbClr val="FF0000"/>
              </a:solidFill>
            </a:endParaRPr>
          </a:p>
        </p:txBody>
      </p:sp>
      <p:sp>
        <p:nvSpPr>
          <p:cNvPr id="23" name="箭头: 左 22"/>
          <p:cNvSpPr/>
          <p:nvPr/>
        </p:nvSpPr>
        <p:spPr>
          <a:xfrm>
            <a:off x="7597588" y="2993278"/>
            <a:ext cx="389850" cy="2160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467544" y="908720"/>
            <a:ext cx="4764559" cy="4764559"/>
          </a:xfrm>
          <a:prstGeom prst="roundRect">
            <a:avLst>
              <a:gd name="adj" fmla="val 3421"/>
            </a:avLst>
          </a:prstGeom>
          <a:solidFill>
            <a:srgbClr val="FFFFFF">
              <a:shade val="85000"/>
            </a:srgbClr>
          </a:solidFill>
          <a:ln>
            <a:solidFill>
              <a:srgbClr val="ED7D31"/>
            </a:solidFill>
          </a:ln>
          <a:effectLst/>
        </p:spPr>
      </p:pic>
      <p:pic>
        <p:nvPicPr>
          <p:cNvPr id="27" name="图片 26"/>
          <p:cNvPicPr>
            <a:picLocks noChangeAspect="1"/>
          </p:cNvPicPr>
          <p:nvPr/>
        </p:nvPicPr>
        <p:blipFill>
          <a:blip r:embed="rId2"/>
          <a:stretch>
            <a:fillRect/>
          </a:stretch>
        </p:blipFill>
        <p:spPr>
          <a:xfrm>
            <a:off x="3995936" y="764704"/>
            <a:ext cx="4581525" cy="1809750"/>
          </a:xfrm>
          <a:prstGeom prst="roundRect">
            <a:avLst>
              <a:gd name="adj" fmla="val 6461"/>
            </a:avLst>
          </a:prstGeom>
          <a:solidFill>
            <a:srgbClr val="FFFFFF">
              <a:shade val="85000"/>
            </a:srgbClr>
          </a:solidFill>
          <a:ln>
            <a:solidFill>
              <a:srgbClr val="ED7D31"/>
            </a:solidFill>
          </a:ln>
          <a:effectLst/>
        </p:spPr>
      </p:pic>
      <p:sp>
        <p:nvSpPr>
          <p:cNvPr id="6" name="椭圆 5"/>
          <p:cNvSpPr/>
          <p:nvPr/>
        </p:nvSpPr>
        <p:spPr>
          <a:xfrm>
            <a:off x="3059832" y="3121020"/>
            <a:ext cx="144016" cy="144016"/>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8" name="连接符: 曲线 7"/>
          <p:cNvCxnSpPr>
            <a:stCxn id="6" idx="6"/>
            <a:endCxn id="14" idx="2"/>
          </p:cNvCxnSpPr>
          <p:nvPr/>
        </p:nvCxnSpPr>
        <p:spPr>
          <a:xfrm flipV="1">
            <a:off x="3203848" y="1412776"/>
            <a:ext cx="1080120" cy="1780252"/>
          </a:xfrm>
          <a:prstGeom prst="curvedConnector3">
            <a:avLst>
              <a:gd name="adj1" fmla="val 50000"/>
            </a:avLst>
          </a:prstGeom>
          <a:ln w="1270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4283968" y="1340768"/>
            <a:ext cx="144016" cy="144016"/>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8" name="文本框 17"/>
          <p:cNvSpPr txBox="1"/>
          <p:nvPr/>
        </p:nvSpPr>
        <p:spPr>
          <a:xfrm>
            <a:off x="3923928" y="2656453"/>
            <a:ext cx="4698722" cy="369332"/>
          </a:xfrm>
          <a:prstGeom prst="rect">
            <a:avLst/>
          </a:prstGeom>
          <a:noFill/>
        </p:spPr>
        <p:txBody>
          <a:bodyPr wrap="none" rtlCol="0">
            <a:spAutoFit/>
          </a:bodyPr>
          <a:lstStyle/>
          <a:p>
            <a:r>
              <a:rPr lang="en-US" altLang="zh-CN" dirty="0">
                <a:solidFill>
                  <a:srgbClr val="E6700E"/>
                </a:solidFill>
              </a:rPr>
              <a:t>//</a:t>
            </a:r>
            <a:r>
              <a:rPr lang="zh-CN" altLang="en-US" dirty="0">
                <a:solidFill>
                  <a:srgbClr val="E6700E"/>
                </a:solidFill>
              </a:rPr>
              <a:t>构造函数：现设计的功能是给数据成员</a:t>
            </a:r>
            <a:r>
              <a:rPr lang="zh-CN" altLang="en-US" dirty="0">
                <a:solidFill>
                  <a:srgbClr val="C00000"/>
                </a:solidFill>
              </a:rPr>
              <a:t>赋值</a:t>
            </a:r>
            <a:endParaRPr lang="zh-CN" altLang="en-US" dirty="0">
              <a:solidFill>
                <a:srgbClr val="C00000"/>
              </a:solidFill>
            </a:endParaRPr>
          </a:p>
        </p:txBody>
      </p:sp>
      <p:sp>
        <p:nvSpPr>
          <p:cNvPr id="19" name="文本框 18"/>
          <p:cNvSpPr txBox="1"/>
          <p:nvPr/>
        </p:nvSpPr>
        <p:spPr>
          <a:xfrm>
            <a:off x="5376118" y="3070043"/>
            <a:ext cx="2998344" cy="1938992"/>
          </a:xfrm>
          <a:prstGeom prst="rect">
            <a:avLst/>
          </a:prstGeom>
          <a:noFill/>
        </p:spPr>
        <p:txBody>
          <a:bodyPr wrap="square" rtlCol="0">
            <a:spAutoFit/>
          </a:bodyPr>
          <a:lstStyle/>
          <a:p>
            <a:r>
              <a:rPr lang="en-US" altLang="zh-CN" sz="2000" dirty="0">
                <a:solidFill>
                  <a:srgbClr val="C00000"/>
                </a:solidFill>
              </a:rPr>
              <a:t>【</a:t>
            </a:r>
            <a:r>
              <a:rPr lang="zh-CN" altLang="en-US" sz="2000" dirty="0">
                <a:solidFill>
                  <a:srgbClr val="C00000"/>
                </a:solidFill>
              </a:rPr>
              <a:t>新概念</a:t>
            </a:r>
            <a:r>
              <a:rPr lang="en-US" altLang="zh-CN" sz="2000" dirty="0">
                <a:solidFill>
                  <a:srgbClr val="C00000"/>
                </a:solidFill>
              </a:rPr>
              <a:t>】</a:t>
            </a:r>
            <a:r>
              <a:rPr lang="zh-CN" altLang="en-US" sz="2000" b="1" dirty="0">
                <a:solidFill>
                  <a:srgbClr val="C00000"/>
                </a:solidFill>
              </a:rPr>
              <a:t>常成员</a:t>
            </a:r>
            <a:r>
              <a:rPr lang="zh-CN" altLang="en-US" sz="2000" dirty="0"/>
              <a:t>函数</a:t>
            </a:r>
            <a:endParaRPr lang="en-US" altLang="zh-CN" sz="2000" dirty="0"/>
          </a:p>
          <a:p>
            <a:pPr marL="342900" indent="-342900">
              <a:buFont typeface="Wingdings" panose="05000000000000000000" pitchFamily="2" charset="2"/>
              <a:buChar char="ü"/>
            </a:pPr>
            <a:r>
              <a:rPr lang="zh-CN" altLang="en-US" sz="2000" dirty="0"/>
              <a:t>函数的执行，不会对对象本身产生影响，函数后加上</a:t>
            </a:r>
            <a:r>
              <a:rPr lang="en-US" altLang="zh-CN" sz="2000" dirty="0"/>
              <a:t>const</a:t>
            </a:r>
            <a:r>
              <a:rPr lang="zh-CN" altLang="en-US" sz="2000" dirty="0"/>
              <a:t>。</a:t>
            </a:r>
            <a:endParaRPr lang="en-US" altLang="zh-CN" sz="2000" dirty="0"/>
          </a:p>
          <a:p>
            <a:pPr marL="342900" indent="-342900">
              <a:buFont typeface="Wingdings" panose="05000000000000000000" pitchFamily="2" charset="2"/>
              <a:buChar char="ü"/>
            </a:pPr>
            <a:r>
              <a:rPr lang="zh-CN" altLang="en-US" sz="2000" dirty="0"/>
              <a:t>常引用对象时，只能调用常函数</a:t>
            </a:r>
            <a:r>
              <a:rPr lang="en-US" altLang="zh-CN" sz="2000" b="1" dirty="0"/>
              <a:t>(</a:t>
            </a:r>
            <a:r>
              <a:rPr lang="zh-CN" altLang="en-US" sz="2000" dirty="0"/>
              <a:t>保护机制</a:t>
            </a:r>
            <a:r>
              <a:rPr lang="en-US" altLang="zh-CN" sz="2000" b="1" dirty="0"/>
              <a:t>)</a:t>
            </a:r>
            <a:endParaRPr lang="zh-CN" altLang="en-US" sz="2000" b="1" dirty="0"/>
          </a:p>
        </p:txBody>
      </p:sp>
      <p:sp>
        <p:nvSpPr>
          <p:cNvPr id="20" name="箭头: 上 19"/>
          <p:cNvSpPr/>
          <p:nvPr/>
        </p:nvSpPr>
        <p:spPr>
          <a:xfrm>
            <a:off x="2363634" y="3956937"/>
            <a:ext cx="144016" cy="216024"/>
          </a:xfrm>
          <a:prstGeom prst="up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上 20"/>
          <p:cNvSpPr/>
          <p:nvPr/>
        </p:nvSpPr>
        <p:spPr>
          <a:xfrm>
            <a:off x="4259724" y="3956937"/>
            <a:ext cx="144016" cy="216024"/>
          </a:xfrm>
          <a:prstGeom prst="up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上 21"/>
          <p:cNvSpPr/>
          <p:nvPr/>
        </p:nvSpPr>
        <p:spPr>
          <a:xfrm>
            <a:off x="1475656" y="5008176"/>
            <a:ext cx="144016" cy="216024"/>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上 22"/>
          <p:cNvSpPr/>
          <p:nvPr/>
        </p:nvSpPr>
        <p:spPr>
          <a:xfrm>
            <a:off x="3327125" y="5008176"/>
            <a:ext cx="144016" cy="216024"/>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376119" y="5292793"/>
            <a:ext cx="2998344" cy="1015663"/>
          </a:xfrm>
          <a:prstGeom prst="rect">
            <a:avLst/>
          </a:prstGeom>
          <a:noFill/>
        </p:spPr>
        <p:txBody>
          <a:bodyPr wrap="square" rtlCol="0">
            <a:spAutoFit/>
          </a:bodyPr>
          <a:lstStyle/>
          <a:p>
            <a:r>
              <a:rPr lang="en-US" altLang="zh-CN" sz="2000" dirty="0">
                <a:solidFill>
                  <a:srgbClr val="C00000"/>
                </a:solidFill>
              </a:rPr>
              <a:t>【</a:t>
            </a:r>
            <a:r>
              <a:rPr lang="zh-CN" altLang="en-US" sz="2000" dirty="0">
                <a:solidFill>
                  <a:srgbClr val="C00000"/>
                </a:solidFill>
              </a:rPr>
              <a:t>新概念</a:t>
            </a:r>
            <a:r>
              <a:rPr lang="en-US" altLang="zh-CN" sz="2000" dirty="0">
                <a:solidFill>
                  <a:srgbClr val="C00000"/>
                </a:solidFill>
              </a:rPr>
              <a:t>】</a:t>
            </a:r>
            <a:r>
              <a:rPr lang="zh-CN" altLang="en-US" sz="2000" dirty="0">
                <a:solidFill>
                  <a:srgbClr val="C00000"/>
                </a:solidFill>
              </a:rPr>
              <a:t>静态成员</a:t>
            </a:r>
            <a:r>
              <a:rPr lang="zh-CN" altLang="en-US" sz="2000" dirty="0"/>
              <a:t>数据</a:t>
            </a:r>
            <a:endParaRPr lang="en-US" altLang="zh-CN" sz="2000" dirty="0"/>
          </a:p>
          <a:p>
            <a:pPr marL="342900" indent="-342900">
              <a:buFont typeface="Wingdings" panose="05000000000000000000" pitchFamily="2" charset="2"/>
              <a:buChar char="ü"/>
            </a:pPr>
            <a:r>
              <a:rPr lang="zh-CN" altLang="en-US" sz="2000" dirty="0"/>
              <a:t>同类的所有对象所共享的数据</a:t>
            </a:r>
            <a:endParaRPr lang="en-US" altLang="zh-CN" sz="2000" dirty="0"/>
          </a:p>
        </p:txBody>
      </p:sp>
      <p:sp>
        <p:nvSpPr>
          <p:cNvPr id="25" name="箭头: 左 24"/>
          <p:cNvSpPr/>
          <p:nvPr/>
        </p:nvSpPr>
        <p:spPr>
          <a:xfrm>
            <a:off x="7164288" y="949720"/>
            <a:ext cx="288032" cy="144016"/>
          </a:xfrm>
          <a:prstGeom prst="left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上 27"/>
          <p:cNvSpPr/>
          <p:nvPr/>
        </p:nvSpPr>
        <p:spPr>
          <a:xfrm>
            <a:off x="7841045" y="2229265"/>
            <a:ext cx="144016" cy="216024"/>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1811121" y="6037078"/>
            <a:ext cx="2585039"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lang="en-US" altLang="zh-CN" sz="2000" dirty="0">
                <a:latin typeface="Lucida Sans Unicode" panose="020B0602030504020204" pitchFamily="34" charset="0"/>
                <a:ea typeface="黑体" panose="02010609060101010101" pitchFamily="49" charset="-122"/>
              </a:rPr>
              <a:t>#</a:t>
            </a:r>
            <a:r>
              <a:rPr kumimoji="0" lang="zh-CN" altLang="en-US" sz="2000" b="0" i="0" u="none" strike="noStrike" kern="1200" cap="none" spc="0" normalizeH="0" baseline="0" noProof="0" dirty="0">
                <a:ln>
                  <a:noFill/>
                </a:ln>
                <a:effectLst/>
                <a:uLnTx/>
                <a:uFillTx/>
                <a:latin typeface="Lucida Sans Unicode" panose="020B0602030504020204" pitchFamily="34" charset="0"/>
                <a:ea typeface="黑体" panose="02010609060101010101" pitchFamily="49" charset="-122"/>
                <a:cs typeface="+mn-cs"/>
              </a:rPr>
              <a:t>复制构造函数</a:t>
            </a:r>
            <a:r>
              <a:rPr kumimoji="0" lang="zh-CN" altLang="en-US" sz="2000" b="1" i="0" u="none" strike="noStrike" kern="1200" cap="none" spc="0" normalizeH="0" baseline="0" noProof="0" dirty="0">
                <a:ln>
                  <a:noFill/>
                </a:ln>
                <a:solidFill>
                  <a:srgbClr val="C00000"/>
                </a:solidFill>
                <a:effectLst/>
                <a:uLnTx/>
                <a:uFillTx/>
                <a:latin typeface="Lucida Sans Unicode" panose="020B0602030504020204" pitchFamily="34" charset="0"/>
                <a:ea typeface="黑体" panose="02010609060101010101" pitchFamily="49" charset="-122"/>
                <a:cs typeface="+mn-cs"/>
              </a:rPr>
              <a:t>举例</a:t>
            </a:r>
            <a:endParaRPr kumimoji="0" lang="zh-CN" altLang="en-US" sz="2000" b="1" i="0" u="none" strike="noStrike" kern="1200" cap="none" spc="0" normalizeH="0" baseline="0" noProof="0" dirty="0">
              <a:ln>
                <a:noFill/>
              </a:ln>
              <a:solidFill>
                <a:srgbClr val="C00000"/>
              </a:solidFill>
              <a:effectLst/>
              <a:uLnTx/>
              <a:uFillTx/>
              <a:latin typeface="Lucida Sans Unicode" panose="020B0602030504020204" pitchFamily="34" charset="0"/>
              <a:ea typeface="黑体" panose="02010609060101010101" pitchFamily="49" charset="-122"/>
              <a:cs typeface="+mn-cs"/>
            </a:endParaRPr>
          </a:p>
        </p:txBody>
      </p:sp>
      <p:pic>
        <p:nvPicPr>
          <p:cNvPr id="31" name="图片 30"/>
          <p:cNvPicPr>
            <a:picLocks noChangeAspect="1"/>
          </p:cNvPicPr>
          <p:nvPr/>
        </p:nvPicPr>
        <p:blipFill>
          <a:blip r:embed="rId3"/>
          <a:stretch>
            <a:fillRect/>
          </a:stretch>
        </p:blipFill>
        <p:spPr>
          <a:xfrm>
            <a:off x="312465" y="5969882"/>
            <a:ext cx="1307207" cy="507001"/>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矩形 26628"/>
          <p:cNvSpPr>
            <a:spLocks noGrp="1" noChangeArrowheads="1"/>
          </p:cNvSpPr>
          <p:nvPr/>
        </p:nvSpPr>
        <p:spPr bwMode="auto">
          <a:xfrm>
            <a:off x="255119" y="333510"/>
            <a:ext cx="8229600" cy="996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4100"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成员</a:t>
            </a:r>
            <a:r>
              <a:rPr kumimoji="0" lang="zh-CN" altLang="en-US" sz="4100" b="1" i="0" u="none" strike="noStrike" kern="1200" cap="none" spc="0" normalizeH="0" baseline="0" noProof="0" dirty="0">
                <a:ln>
                  <a:noFill/>
                </a:ln>
                <a:solidFill>
                  <a:srgbClr val="C00000"/>
                </a:solidFill>
                <a:effectLst/>
                <a:uLnTx/>
                <a:uFillTx/>
                <a:latin typeface="Lucida Sans Unicode" panose="020B0602030504020204" pitchFamily="34" charset="0"/>
                <a:ea typeface="黑体" panose="02010609060101010101" pitchFamily="49" charset="-122"/>
                <a:cs typeface="+mn-cs"/>
              </a:rPr>
              <a:t>初始化</a:t>
            </a:r>
            <a:r>
              <a:rPr lang="zh-CN" altLang="en-US" sz="4100" dirty="0">
                <a:solidFill>
                  <a:srgbClr val="000000"/>
                </a:solidFill>
                <a:latin typeface="Lucida Sans Unicode" panose="020B0602030504020204" pitchFamily="34" charset="0"/>
                <a:ea typeface="黑体" panose="02010609060101010101" pitchFamily="49" charset="-122"/>
              </a:rPr>
              <a:t>列表</a:t>
            </a:r>
            <a:endParaRPr lang="zh-CN" altLang="en-US" sz="4100" dirty="0">
              <a:solidFill>
                <a:srgbClr val="000000"/>
              </a:solidFill>
              <a:latin typeface="Lucida Sans Unicode" panose="020B0602030504020204" pitchFamily="34" charset="0"/>
              <a:ea typeface="黑体" panose="02010609060101010101" pitchFamily="49" charset="-122"/>
            </a:endParaRPr>
          </a:p>
        </p:txBody>
      </p:sp>
      <p:sp>
        <p:nvSpPr>
          <p:cNvPr id="49154" name="文本框 2"/>
          <p:cNvSpPr txBox="1">
            <a:spLocks noChangeArrowheads="1"/>
          </p:cNvSpPr>
          <p:nvPr/>
        </p:nvSpPr>
        <p:spPr bwMode="auto">
          <a:xfrm>
            <a:off x="424032" y="1769621"/>
            <a:ext cx="5220889"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503050405090304" pitchFamily="18" charset="0"/>
                <a:ea typeface="隶书" panose="02010509060101010101" pitchFamily="49" charset="-122"/>
              </a:defRPr>
            </a:lvl1pPr>
            <a:lvl2pPr marL="742950" indent="-285750">
              <a:defRPr sz="2400">
                <a:solidFill>
                  <a:schemeClr val="tx1"/>
                </a:solidFill>
                <a:latin typeface="Times New Roman" panose="02020503050405090304" pitchFamily="18" charset="0"/>
                <a:ea typeface="隶书" panose="02010509060101010101" pitchFamily="49" charset="-122"/>
              </a:defRPr>
            </a:lvl2pPr>
            <a:lvl3pPr marL="1143000" indent="-228600">
              <a:defRPr sz="2400">
                <a:solidFill>
                  <a:schemeClr val="tx1"/>
                </a:solidFill>
                <a:latin typeface="Times New Roman" panose="02020503050405090304" pitchFamily="18" charset="0"/>
                <a:ea typeface="隶书" panose="02010509060101010101" pitchFamily="49" charset="-122"/>
              </a:defRPr>
            </a:lvl3pPr>
            <a:lvl4pPr marL="1600200" indent="-228600">
              <a:defRPr sz="2400">
                <a:solidFill>
                  <a:schemeClr val="tx1"/>
                </a:solidFill>
                <a:latin typeface="Times New Roman" panose="02020503050405090304" pitchFamily="18" charset="0"/>
                <a:ea typeface="隶书" panose="02010509060101010101" pitchFamily="49" charset="-122"/>
              </a:defRPr>
            </a:lvl4pPr>
            <a:lvl5pPr marL="2057400" indent="-228600">
              <a:defRPr sz="2400">
                <a:solidFill>
                  <a:schemeClr val="tx1"/>
                </a:solidFill>
                <a:latin typeface="Times New Roman" panose="0202050305040509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r>
              <a:rPr kumimoji="0" lang="zh-CN" altLang="en-US" sz="2000" b="0" i="0" u="none" strike="noStrike" kern="1200" cap="none" spc="0" normalizeH="0" baseline="0" noProof="0" dirty="0">
                <a:ln>
                  <a:noFill/>
                </a:ln>
                <a:solidFill>
                  <a:srgbClr val="000000"/>
                </a:solidFill>
                <a:effectLst/>
                <a:highlight>
                  <a:srgbClr val="FFFF00"/>
                </a:highlight>
                <a:uLnTx/>
                <a:uFillTx/>
                <a:latin typeface="Times New Roman" panose="02020503050405090304" pitchFamily="18" charset="0"/>
                <a:ea typeface="隶书" panose="02010509060101010101" pitchFamily="49" charset="-122"/>
                <a:cs typeface="+mn-cs"/>
              </a:rPr>
              <a:t>列表形式</a:t>
            </a:r>
            <a:r>
              <a:rPr kumimoji="0" lang="zh-CN" altLang="en-US"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rPr>
              <a:t>：跟在构造函数的参数之后，以</a:t>
            </a:r>
            <a:r>
              <a:rPr kumimoji="0" lang="zh-CN" altLang="en-US" sz="2000" b="0" i="0" u="none" strike="noStrike" kern="1200" cap="none" spc="0" normalizeH="0" baseline="0" noProof="0" dirty="0">
                <a:ln>
                  <a:noFill/>
                </a:ln>
                <a:solidFill>
                  <a:srgbClr val="0070C0"/>
                </a:solidFill>
                <a:effectLst/>
                <a:uLnTx/>
                <a:uFillTx/>
                <a:latin typeface="Times New Roman" panose="02020503050405090304" pitchFamily="18" charset="0"/>
                <a:ea typeface="隶书" panose="02010509060101010101" pitchFamily="49" charset="-122"/>
                <a:cs typeface="+mn-cs"/>
              </a:rPr>
              <a:t>冒号</a:t>
            </a:r>
            <a:r>
              <a:rPr kumimoji="0" lang="zh-CN" altLang="en-US"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rPr>
              <a:t>引出，形式为 </a:t>
            </a:r>
            <a:r>
              <a:rPr kumimoji="0" lang="zh-CN" altLang="en-US" sz="2000" b="0" i="0" u="none" strike="noStrike" kern="1200" cap="none" spc="0" normalizeH="0" baseline="0" noProof="0" dirty="0">
                <a:ln>
                  <a:noFill/>
                </a:ln>
                <a:solidFill>
                  <a:srgbClr val="C00000"/>
                </a:solidFill>
                <a:effectLst/>
                <a:uLnTx/>
                <a:uFillTx/>
                <a:latin typeface="Times New Roman" panose="02020503050405090304" pitchFamily="18" charset="0"/>
                <a:ea typeface="隶书" panose="02010509060101010101" pitchFamily="49" charset="-122"/>
                <a:cs typeface="+mn-cs"/>
              </a:rPr>
              <a:t>成员名称</a:t>
            </a:r>
            <a:r>
              <a:rPr kumimoji="0" lang="en-US" altLang="zh-CN" sz="2000" b="0" i="0" u="none" strike="noStrike" kern="1200" cap="none" spc="0" normalizeH="0" baseline="0" noProof="0" dirty="0">
                <a:ln>
                  <a:noFill/>
                </a:ln>
                <a:solidFill>
                  <a:srgbClr val="C00000"/>
                </a:solidFill>
                <a:effectLst/>
                <a:uLnTx/>
                <a:uFillTx/>
                <a:latin typeface="Times New Roman" panose="02020503050405090304" pitchFamily="18" charset="0"/>
                <a:ea typeface="隶书" panose="02010509060101010101" pitchFamily="49" charset="-122"/>
                <a:cs typeface="+mn-cs"/>
              </a:rPr>
              <a:t>(</a:t>
            </a:r>
            <a:r>
              <a:rPr kumimoji="0" lang="zh-CN" altLang="en-US"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rPr>
              <a:t>参数</a:t>
            </a:r>
            <a:r>
              <a:rPr kumimoji="0" lang="en-US" altLang="zh-CN" sz="2000" b="0" i="0" u="none" strike="noStrike" kern="1200" cap="none" spc="0" normalizeH="0" baseline="0" noProof="0" dirty="0">
                <a:ln>
                  <a:noFill/>
                </a:ln>
                <a:solidFill>
                  <a:srgbClr val="C00000"/>
                </a:solidFill>
                <a:effectLst/>
                <a:uLnTx/>
                <a:uFillTx/>
                <a:latin typeface="Times New Roman" panose="02020503050405090304" pitchFamily="18" charset="0"/>
                <a:ea typeface="隶书" panose="02010509060101010101" pitchFamily="49" charset="-122"/>
                <a:cs typeface="+mn-cs"/>
              </a:rPr>
              <a:t>)</a:t>
            </a:r>
            <a:r>
              <a:rPr kumimoji="0" lang="zh-CN" altLang="en-US"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rPr>
              <a:t>，用</a:t>
            </a:r>
            <a:r>
              <a:rPr kumimoji="0" lang="zh-CN" altLang="en-US" sz="2000" b="0" i="0" u="none" strike="noStrike" kern="1200" cap="none" spc="0" normalizeH="0" baseline="0" noProof="0" dirty="0">
                <a:ln>
                  <a:noFill/>
                </a:ln>
                <a:solidFill>
                  <a:srgbClr val="0070C0"/>
                </a:solidFill>
                <a:effectLst/>
                <a:uLnTx/>
                <a:uFillTx/>
                <a:latin typeface="Times New Roman" panose="02020503050405090304" pitchFamily="18" charset="0"/>
                <a:ea typeface="隶书" panose="02010509060101010101" pitchFamily="49" charset="-122"/>
                <a:cs typeface="+mn-cs"/>
              </a:rPr>
              <a:t>逗号</a:t>
            </a:r>
            <a:r>
              <a:rPr kumimoji="0" lang="zh-CN" altLang="en-US"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rPr>
              <a:t>分隔。例如：</a:t>
            </a:r>
            <a:endParaRPr kumimoji="0" lang="en-US" altLang="zh-CN"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zh-CN"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zh-CN"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zh-CN"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zh-CN"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lang="en-US" altLang="zh-CN" sz="2000" dirty="0">
              <a:solidFill>
                <a:srgbClr val="000000"/>
              </a:solidFill>
            </a:endParaRPr>
          </a:p>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zh-CN"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lang="en-US" altLang="zh-CN" sz="2000" dirty="0">
              <a:solidFill>
                <a:srgbClr val="000000"/>
              </a:solidFill>
            </a:endParaRPr>
          </a:p>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zh-CN"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lang="en-US" altLang="zh-CN" sz="2000" dirty="0">
              <a:solidFill>
                <a:srgbClr val="000000"/>
              </a:solidFill>
            </a:endParaRPr>
          </a:p>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r>
              <a:rPr kumimoji="0" lang="zh-CN" altLang="en-US"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rPr>
              <a:t>当成员类型是</a:t>
            </a:r>
            <a:r>
              <a:rPr kumimoji="0" lang="zh-CN" altLang="en-US" sz="2000" b="0" i="0" u="none" strike="noStrike" kern="1200" cap="none" spc="0" normalizeH="0" baseline="0" noProof="0" dirty="0">
                <a:ln>
                  <a:noFill/>
                </a:ln>
                <a:solidFill>
                  <a:srgbClr val="C00000"/>
                </a:solidFill>
                <a:effectLst/>
                <a:uLnTx/>
                <a:uFillTx/>
                <a:latin typeface="Times New Roman" panose="02020503050405090304" pitchFamily="18" charset="0"/>
                <a:ea typeface="隶书" panose="02010509060101010101" pitchFamily="49" charset="-122"/>
                <a:cs typeface="+mn-cs"/>
              </a:rPr>
              <a:t>没有默认</a:t>
            </a:r>
            <a:r>
              <a:rPr kumimoji="0" lang="zh-CN" altLang="en-US"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rPr>
              <a:t>构造函数的类，若不提供显式初始化时，则编译器隐式使用成员类型的默认构造函数，</a:t>
            </a:r>
            <a:r>
              <a:rPr kumimoji="0" lang="zh-CN" altLang="en-US" sz="2000" b="0" i="0" u="none" strike="noStrike" kern="1200" cap="none" spc="0" normalizeH="0" baseline="0" noProof="0" dirty="0">
                <a:ln>
                  <a:noFill/>
                </a:ln>
                <a:solidFill>
                  <a:srgbClr val="C00000"/>
                </a:solidFill>
                <a:effectLst/>
                <a:uLnTx/>
                <a:uFillTx/>
                <a:latin typeface="Times New Roman" panose="02020503050405090304" pitchFamily="18" charset="0"/>
                <a:ea typeface="隶书" panose="02010509060101010101" pitchFamily="49" charset="-122"/>
                <a:cs typeface="+mn-cs"/>
              </a:rPr>
              <a:t>此时发生错误</a:t>
            </a:r>
            <a:r>
              <a:rPr kumimoji="0" lang="zh-CN" altLang="en-US" sz="2000" b="0" i="0" u="none" strike="noStrike" kern="1200" cap="none" spc="0" normalizeH="0" baseline="0" noProof="0" dirty="0">
                <a:ln>
                  <a:noFill/>
                </a:ln>
                <a:solidFill>
                  <a:srgbClr val="000000"/>
                </a:solidFill>
                <a:effectLst/>
                <a:uLnTx/>
                <a:uFillTx/>
                <a:latin typeface="Times New Roman" panose="02020503050405090304" pitchFamily="18" charset="0"/>
                <a:ea typeface="隶书" panose="02010509060101010101" pitchFamily="49" charset="-122"/>
                <a:cs typeface="+mn-cs"/>
              </a:rPr>
              <a:t>。</a:t>
            </a:r>
            <a:endPar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隶书" panose="02010509060101010101" pitchFamily="49" charset="-122"/>
              <a:cs typeface="Calibri" panose="020F0502020204030204" pitchFamily="34" charset="0"/>
            </a:endParaRPr>
          </a:p>
        </p:txBody>
      </p:sp>
      <p:sp>
        <p:nvSpPr>
          <p:cNvPr id="5" name="文本框 4"/>
          <p:cNvSpPr txBox="1"/>
          <p:nvPr/>
        </p:nvSpPr>
        <p:spPr>
          <a:xfrm>
            <a:off x="5569313" y="953734"/>
            <a:ext cx="3319568" cy="5570756"/>
          </a:xfrm>
          <a:prstGeom prst="rect">
            <a:avLst/>
          </a:prstGeom>
          <a:solidFill>
            <a:srgbClr val="0070C0"/>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初始化列表</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a:t>
            </a:r>
            <a:endPar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列表</a:t>
            </a:r>
            <a:r>
              <a:rPr kumimoji="0" lang="zh-CN" altLang="en-US" sz="1600" b="0" i="0" u="none" strike="noStrike" kern="1200" cap="none" spc="0" normalizeH="0" baseline="0" noProof="0" dirty="0">
                <a:ln>
                  <a:noFill/>
                </a:ln>
                <a:solidFill>
                  <a:srgbClr val="000000"/>
                </a:solidFill>
                <a:effectLst/>
                <a:highlight>
                  <a:srgbClr val="FFFF00"/>
                </a:highlight>
                <a:uLnTx/>
                <a:uFillTx/>
                <a:latin typeface="楷体" panose="02010609060101010101" pitchFamily="49" charset="-122"/>
                <a:ea typeface="楷体" panose="02010609060101010101" pitchFamily="49" charset="-122"/>
                <a:cs typeface="+mn-cs"/>
              </a:rPr>
              <a:t>作用</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：指定各种成员“诞生”的方式</a:t>
            </a:r>
            <a:endPar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创建任何类对象的</a:t>
            </a:r>
            <a:r>
              <a:rPr kumimoji="0" lang="zh-CN" altLang="en-US" sz="1600" b="0" i="0" u="none" strike="noStrike" kern="1200" cap="none" spc="0" normalizeH="0" baseline="0" noProof="0" dirty="0">
                <a:ln>
                  <a:noFill/>
                </a:ln>
                <a:solidFill>
                  <a:srgbClr val="000000"/>
                </a:solidFill>
                <a:effectLst/>
                <a:highlight>
                  <a:srgbClr val="FFFF00"/>
                </a:highlight>
                <a:uLnTx/>
                <a:uFillTx/>
                <a:latin typeface="楷体" panose="02010609060101010101" pitchFamily="49" charset="-122"/>
                <a:ea typeface="楷体" panose="02010609060101010101" pitchFamily="49" charset="-122"/>
                <a:cs typeface="+mn-cs"/>
              </a:rPr>
              <a:t>前提</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是其中的所有成员都已“诞生”</a:t>
            </a:r>
            <a:endPar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如何诞生：</a:t>
            </a:r>
            <a:r>
              <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1)</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默认的方式，如各种基础类型的数据成员或有默认构造函数的对象成员</a:t>
            </a:r>
            <a:r>
              <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 2)</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按初始化列表传递的参数创建</a:t>
            </a:r>
            <a:endPar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如果</a:t>
            </a:r>
            <a:r>
              <a:rPr kumimoji="0" lang="zh-CN" altLang="en-US" sz="1600" b="0" i="0" u="none" strike="noStrike" kern="1200" cap="none" spc="0" normalizeH="0" baseline="0" noProof="0" dirty="0">
                <a:ln>
                  <a:noFill/>
                </a:ln>
                <a:solidFill>
                  <a:srgbClr val="000000"/>
                </a:solidFill>
                <a:effectLst/>
                <a:highlight>
                  <a:srgbClr val="FFFF00"/>
                </a:highlight>
                <a:uLnTx/>
                <a:uFillTx/>
                <a:latin typeface="楷体" panose="02010609060101010101" pitchFamily="49" charset="-122"/>
                <a:ea typeface="楷体" panose="02010609060101010101" pitchFamily="49" charset="-122"/>
                <a:cs typeface="+mn-cs"/>
              </a:rPr>
              <a:t>没有</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初始化列表，意味着所有成员将按默认方式诞生，即对象成员所属的类必须有默认构造函数</a:t>
            </a:r>
            <a:r>
              <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数据成员，如整型成员可能是随机值或默认为</a:t>
            </a:r>
            <a:r>
              <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0</a:t>
            </a:r>
            <a:endPar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初始化列表中用的</a:t>
            </a:r>
            <a:r>
              <a:rPr kumimoji="0" lang="zh-CN" altLang="en-US" sz="1600" b="0" i="0" u="none" strike="noStrike" kern="1200" cap="none" spc="0" normalizeH="0" baseline="0" noProof="0" dirty="0">
                <a:ln>
                  <a:noFill/>
                </a:ln>
                <a:solidFill>
                  <a:srgbClr val="000000"/>
                </a:solidFill>
                <a:effectLst/>
                <a:highlight>
                  <a:srgbClr val="FFFF00"/>
                </a:highlight>
                <a:uLnTx/>
                <a:uFillTx/>
                <a:latin typeface="楷体" panose="02010609060101010101" pitchFamily="49" charset="-122"/>
                <a:ea typeface="楷体" panose="02010609060101010101" pitchFamily="49" charset="-122"/>
                <a:cs typeface="+mn-cs"/>
              </a:rPr>
              <a:t>参数</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主要来自构造函数的参数</a:t>
            </a:r>
            <a:r>
              <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 </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但可用前面已初始化的成员初始化后面成员也可用</a:t>
            </a:r>
            <a:r>
              <a:rPr kumimoji="0" lang="zh-CN" altLang="en-US" sz="1600" b="0" i="0" u="none" strike="noStrike" kern="1200" cap="none" spc="0" normalizeH="0" baseline="0" noProof="0" dirty="0">
                <a:ln>
                  <a:noFill/>
                </a:ln>
                <a:solidFill>
                  <a:srgbClr val="000000"/>
                </a:solidFill>
                <a:effectLst/>
                <a:highlight>
                  <a:srgbClr val="FFFF00"/>
                </a:highlight>
                <a:uLnTx/>
                <a:uFillTx/>
                <a:latin typeface="楷体" panose="02010609060101010101" pitchFamily="49" charset="-122"/>
                <a:ea typeface="楷体" panose="02010609060101010101" pitchFamily="49" charset="-122"/>
                <a:cs typeface="+mn-cs"/>
              </a:rPr>
              <a:t>表达式</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去初始化</a:t>
            </a:r>
            <a:endParaRPr kumimoji="0" lang="en-US" altLang="zh-CN"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构造函数并</a:t>
            </a:r>
            <a:r>
              <a:rPr kumimoji="0" lang="zh-CN" altLang="en-US" sz="1600" b="0" i="0" u="none" strike="noStrike" kern="1200" cap="none" spc="0" normalizeH="0" baseline="0" noProof="0" dirty="0">
                <a:ln>
                  <a:noFill/>
                </a:ln>
                <a:solidFill>
                  <a:srgbClr val="000000"/>
                </a:solidFill>
                <a:effectLst/>
                <a:highlight>
                  <a:srgbClr val="FFFF00"/>
                </a:highlight>
                <a:uLnTx/>
                <a:uFillTx/>
                <a:latin typeface="楷体" panose="02010609060101010101" pitchFamily="49" charset="-122"/>
                <a:ea typeface="楷体" panose="02010609060101010101" pitchFamily="49" charset="-122"/>
                <a:cs typeface="+mn-cs"/>
              </a:rPr>
              <a:t>不负责</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对象成员的“诞生”，但可以更新修改成员，在</a:t>
            </a:r>
            <a:r>
              <a:rPr kumimoji="0" lang="zh-CN" altLang="en-US" sz="1600" b="0" i="0" u="none" strike="noStrike" kern="1200" cap="none" spc="0" normalizeH="0" baseline="0" noProof="0" dirty="0">
                <a:ln>
                  <a:noFill/>
                </a:ln>
                <a:solidFill>
                  <a:srgbClr val="000000"/>
                </a:solidFill>
                <a:effectLst/>
                <a:highlight>
                  <a:srgbClr val="FFFF00"/>
                </a:highlight>
                <a:uLnTx/>
                <a:uFillTx/>
                <a:latin typeface="楷体" panose="02010609060101010101" pitchFamily="49" charset="-122"/>
                <a:ea typeface="楷体" panose="02010609060101010101" pitchFamily="49" charset="-122"/>
                <a:cs typeface="+mn-cs"/>
              </a:rPr>
              <a:t>时序</a:t>
            </a:r>
            <a:r>
              <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上，它是所有成员诞生后才执行</a:t>
            </a:r>
            <a:endParaRPr kumimoji="0" lang="zh-CN" altLang="en-US" sz="16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p:txBody>
      </p:sp>
      <p:pic>
        <p:nvPicPr>
          <p:cNvPr id="7" name="图片 6"/>
          <p:cNvPicPr>
            <a:picLocks noChangeAspect="1"/>
          </p:cNvPicPr>
          <p:nvPr/>
        </p:nvPicPr>
        <p:blipFill>
          <a:blip r:embed="rId1"/>
          <a:stretch>
            <a:fillRect/>
          </a:stretch>
        </p:blipFill>
        <p:spPr>
          <a:xfrm>
            <a:off x="510874" y="2771692"/>
            <a:ext cx="4970884" cy="821339"/>
          </a:xfrm>
          <a:prstGeom prst="rect">
            <a:avLst/>
          </a:prstGeom>
        </p:spPr>
      </p:pic>
      <p:sp>
        <p:nvSpPr>
          <p:cNvPr id="8" name="文本框 7"/>
          <p:cNvSpPr txBox="1"/>
          <p:nvPr/>
        </p:nvSpPr>
        <p:spPr>
          <a:xfrm>
            <a:off x="504794" y="4032772"/>
            <a:ext cx="5028947" cy="1169551"/>
          </a:xfrm>
          <a:prstGeom prst="rect">
            <a:avLst/>
          </a:prstGeom>
          <a:noFill/>
        </p:spPr>
        <p:txBody>
          <a:bodyPr wrap="square" lIns="36000" rIns="36000" rtlCol="0">
            <a:spAutoFit/>
          </a:bodyPr>
          <a:lstStyle/>
          <a:p>
            <a:pPr marL="285750" indent="-285750">
              <a:spcAft>
                <a:spcPts val="1200"/>
              </a:spcAft>
              <a:buFont typeface="Wingdings" panose="05000000000000000000" pitchFamily="2" charset="2"/>
              <a:buChar char="ü"/>
            </a:pPr>
            <a:r>
              <a:rPr kumimoji="0" lang="zh-CN" altLang="en-US" sz="2000" b="0" i="0" u="none" strike="noStrike" kern="1200" cap="none" spc="0" normalizeH="0" baseline="0" noProof="0" dirty="0">
                <a:ln>
                  <a:noFill/>
                </a:ln>
                <a:solidFill>
                  <a:srgbClr val="C00000"/>
                </a:solidFill>
                <a:effectLst/>
                <a:uLnTx/>
                <a:uFillTx/>
                <a:latin typeface="Times New Roman" panose="02020503050405090304" pitchFamily="18" charset="0"/>
                <a:ea typeface="隶书" panose="02010509060101010101" pitchFamily="49" charset="-122"/>
                <a:cs typeface="+mn-cs"/>
              </a:rPr>
              <a:t>成员名称 </a:t>
            </a:r>
            <a:r>
              <a:rPr kumimoji="0" lang="en-US" altLang="zh-CN" sz="2000" b="0" i="0" u="none" strike="noStrike" kern="1200" cap="none" spc="0" normalizeH="0" baseline="0" noProof="0" dirty="0">
                <a:ln>
                  <a:noFill/>
                </a:ln>
                <a:solidFill>
                  <a:srgbClr val="C00000"/>
                </a:solidFill>
                <a:effectLst/>
                <a:uLnTx/>
                <a:uFillTx/>
                <a:latin typeface="Times New Roman" panose="02020503050405090304" pitchFamily="18" charset="0"/>
                <a:ea typeface="隶书" panose="02010509060101010101" pitchFamily="49" charset="-122"/>
                <a:cs typeface="+mn-cs"/>
              </a:rPr>
              <a:t>(</a:t>
            </a:r>
            <a:r>
              <a:rPr kumimoji="0" lang="zh-CN" altLang="en-US" sz="2000" b="0" i="0" u="none" strike="noStrike" kern="1200" cap="none" spc="0" normalizeH="0" baseline="0" noProof="0" dirty="0">
                <a:ln>
                  <a:noFill/>
                </a:ln>
                <a:solidFill>
                  <a:srgbClr val="000000"/>
                </a:solidFill>
                <a:effectLst/>
                <a:highlight>
                  <a:srgbClr val="00FF00"/>
                </a:highlight>
                <a:uLnTx/>
                <a:uFillTx/>
                <a:latin typeface="Times New Roman" panose="02020503050405090304" pitchFamily="18" charset="0"/>
                <a:ea typeface="隶书" panose="02010509060101010101" pitchFamily="49" charset="-122"/>
                <a:cs typeface="+mn-cs"/>
              </a:rPr>
              <a:t>参数</a:t>
            </a:r>
            <a:r>
              <a:rPr kumimoji="0" lang="en-US" altLang="zh-CN" sz="2000" b="0" i="0" u="none" strike="noStrike" kern="1200" cap="none" spc="0" normalizeH="0" baseline="0" noProof="0" dirty="0">
                <a:ln>
                  <a:noFill/>
                </a:ln>
                <a:solidFill>
                  <a:srgbClr val="C00000"/>
                </a:solidFill>
                <a:effectLst/>
                <a:uLnTx/>
                <a:uFillTx/>
                <a:latin typeface="Times New Roman" panose="02020503050405090304" pitchFamily="18" charset="0"/>
                <a:ea typeface="隶书" panose="02010509060101010101" pitchFamily="49" charset="-122"/>
                <a:cs typeface="+mn-cs"/>
              </a:rPr>
              <a:t>)  </a:t>
            </a:r>
            <a:r>
              <a:rPr lang="zh-CN" altLang="en-US" sz="2000" dirty="0">
                <a:latin typeface="Times New Roman" panose="02020503050405090304" pitchFamily="18" charset="0"/>
                <a:ea typeface="隶书" panose="02010509060101010101" pitchFamily="49" charset="-122"/>
              </a:rPr>
              <a:t>对，其中的</a:t>
            </a:r>
            <a:r>
              <a:rPr lang="en-US" altLang="zh-CN" sz="2000" b="1" dirty="0">
                <a:latin typeface="Times New Roman" panose="02020503050405090304" pitchFamily="18" charset="0"/>
                <a:ea typeface="隶书" panose="02010509060101010101" pitchFamily="49" charset="-122"/>
              </a:rPr>
              <a:t>()</a:t>
            </a:r>
            <a:r>
              <a:rPr kumimoji="0" lang="zh-CN" altLang="en-US" sz="2000" b="0" i="0" u="none" strike="noStrike" kern="1200" cap="none" spc="0" normalizeH="0" baseline="0" noProof="0" dirty="0">
                <a:ln>
                  <a:noFill/>
                </a:ln>
                <a:effectLst/>
                <a:uLnTx/>
                <a:uFillTx/>
                <a:latin typeface="Times New Roman" panose="02020503050405090304" pitchFamily="18" charset="0"/>
                <a:ea typeface="隶书" panose="02010509060101010101" pitchFamily="49" charset="-122"/>
                <a:cs typeface="+mn-cs"/>
              </a:rPr>
              <a:t>分</a:t>
            </a:r>
            <a:r>
              <a:rPr lang="zh-CN" altLang="en-US" sz="2000" dirty="0">
                <a:latin typeface="Times New Roman" panose="02020503050405090304" pitchFamily="18" charset="0"/>
                <a:ea typeface="隶书" panose="02010509060101010101" pitchFamily="49" charset="-122"/>
              </a:rPr>
              <a:t>隔的两个成分</a:t>
            </a:r>
            <a:r>
              <a:rPr kumimoji="0" lang="zh-CN" altLang="en-US" sz="2000" b="0" i="0" u="none" strike="noStrike" kern="1200" cap="none" spc="0" normalizeH="0" baseline="0" noProof="0" dirty="0">
                <a:ln>
                  <a:noFill/>
                </a:ln>
                <a:effectLst/>
                <a:uLnTx/>
                <a:uFillTx/>
                <a:latin typeface="Times New Roman" panose="02020503050405090304" pitchFamily="18" charset="0"/>
                <a:ea typeface="隶书" panose="02010509060101010101" pitchFamily="49" charset="-122"/>
                <a:cs typeface="+mn-cs"/>
              </a:rPr>
              <a:t>别处在两个层次</a:t>
            </a:r>
            <a:r>
              <a:rPr kumimoji="0" lang="en-US" altLang="zh-CN" sz="2000" b="0" i="0" u="none" strike="noStrike" kern="1200" cap="none" spc="0" normalizeH="0" baseline="0" noProof="0" dirty="0">
                <a:ln>
                  <a:noFill/>
                </a:ln>
                <a:effectLst/>
                <a:uLnTx/>
                <a:uFillTx/>
                <a:latin typeface="Times New Roman" panose="02020503050405090304" pitchFamily="18" charset="0"/>
                <a:ea typeface="隶书" panose="02010509060101010101" pitchFamily="49" charset="-122"/>
                <a:cs typeface="+mn-cs"/>
              </a:rPr>
              <a:t> </a:t>
            </a:r>
            <a:r>
              <a:rPr kumimoji="0" lang="zh-CN" altLang="en-US" sz="2000" b="0" i="0" u="none" strike="noStrike" kern="1200" cap="none" spc="0" normalizeH="0" baseline="0" noProof="0" dirty="0">
                <a:ln>
                  <a:noFill/>
                </a:ln>
                <a:effectLst/>
                <a:uLnTx/>
                <a:uFillTx/>
                <a:latin typeface="Times New Roman" panose="02020503050405090304" pitchFamily="18" charset="0"/>
                <a:ea typeface="隶书" panose="02010509060101010101" pitchFamily="49" charset="-122"/>
                <a:cs typeface="+mn-cs"/>
              </a:rPr>
              <a:t>的作用域，可同名。</a:t>
            </a:r>
            <a:endParaRPr kumimoji="0" lang="en-US" altLang="zh-CN" sz="2000" b="0" i="0" u="none" strike="noStrike" kern="1200" cap="none" spc="0" normalizeH="0" baseline="0" noProof="0" dirty="0">
              <a:ln>
                <a:noFill/>
              </a:ln>
              <a:effectLst/>
              <a:uLnTx/>
              <a:uFillTx/>
              <a:latin typeface="Times New Roman" panose="02020503050405090304" pitchFamily="18" charset="0"/>
              <a:ea typeface="隶书" panose="02010509060101010101" pitchFamily="49" charset="-122"/>
              <a:cs typeface="+mn-cs"/>
            </a:endParaRPr>
          </a:p>
          <a:p>
            <a:pPr marL="285750" indent="-285750">
              <a:spcAft>
                <a:spcPts val="1200"/>
              </a:spcAft>
              <a:buFont typeface="Wingdings" panose="05000000000000000000" pitchFamily="2" charset="2"/>
              <a:buChar char="ü"/>
            </a:pPr>
            <a:r>
              <a:rPr lang="zh-CN" altLang="en-US" sz="2000" dirty="0">
                <a:latin typeface="Times New Roman" panose="02020503050405090304" pitchFamily="18" charset="0"/>
                <a:ea typeface="隶书" panose="02010509060101010101" pitchFamily="49" charset="-122"/>
              </a:rPr>
              <a:t>构造函数中对数据成员赋值，</a:t>
            </a:r>
            <a:r>
              <a:rPr lang="zh-CN" altLang="en-US" sz="2000" dirty="0">
                <a:highlight>
                  <a:srgbClr val="FFFF00"/>
                </a:highlight>
                <a:latin typeface="Times New Roman" panose="02020503050405090304" pitchFamily="18" charset="0"/>
                <a:ea typeface="隶书" panose="02010509060101010101" pitchFamily="49" charset="-122"/>
              </a:rPr>
              <a:t>不是</a:t>
            </a:r>
            <a:r>
              <a:rPr lang="zh-CN" altLang="en-US" sz="2000" dirty="0">
                <a:latin typeface="Times New Roman" panose="02020503050405090304" pitchFamily="18" charset="0"/>
                <a:ea typeface="隶书" panose="02010509060101010101" pitchFamily="49" charset="-122"/>
              </a:rPr>
              <a:t>初始化</a:t>
            </a:r>
            <a:endParaRPr lang="zh-CN" altLang="en-US" sz="2000" dirty="0"/>
          </a:p>
        </p:txBody>
      </p:sp>
      <p:sp>
        <p:nvSpPr>
          <p:cNvPr id="9" name="箭头: 下 8"/>
          <p:cNvSpPr/>
          <p:nvPr/>
        </p:nvSpPr>
        <p:spPr bwMode="auto">
          <a:xfrm>
            <a:off x="1171032" y="3691704"/>
            <a:ext cx="144016" cy="309225"/>
          </a:xfrm>
          <a:prstGeom prst="downArrow">
            <a:avLst/>
          </a:prstGeom>
          <a:solidFill>
            <a:srgbClr val="FF0000"/>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10" name="箭头: 下 9"/>
          <p:cNvSpPr/>
          <p:nvPr/>
        </p:nvSpPr>
        <p:spPr bwMode="auto">
          <a:xfrm>
            <a:off x="2144080" y="3701934"/>
            <a:ext cx="144016" cy="309225"/>
          </a:xfrm>
          <a:prstGeom prst="downArrow">
            <a:avLst/>
          </a:prstGeom>
          <a:solidFill>
            <a:srgbClr val="00FF00"/>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425631" y="973822"/>
            <a:ext cx="4402700" cy="4635486"/>
          </a:xfrm>
          <a:prstGeom prst="roundRect">
            <a:avLst>
              <a:gd name="adj" fmla="val 3421"/>
            </a:avLst>
          </a:prstGeom>
          <a:solidFill>
            <a:srgbClr val="FFFFFF">
              <a:shade val="85000"/>
            </a:srgbClr>
          </a:solidFill>
          <a:ln>
            <a:solidFill>
              <a:srgbClr val="ED7D31"/>
            </a:solidFill>
          </a:ln>
          <a:effectLst/>
        </p:spPr>
      </p:pic>
      <p:pic>
        <p:nvPicPr>
          <p:cNvPr id="9" name="图片 8"/>
          <p:cNvPicPr>
            <a:picLocks noChangeAspect="1"/>
          </p:cNvPicPr>
          <p:nvPr/>
        </p:nvPicPr>
        <p:blipFill>
          <a:blip r:embed="rId2"/>
          <a:stretch>
            <a:fillRect/>
          </a:stretch>
        </p:blipFill>
        <p:spPr>
          <a:xfrm>
            <a:off x="4454418" y="717295"/>
            <a:ext cx="4572000" cy="2038350"/>
          </a:xfrm>
          <a:prstGeom prst="roundRect">
            <a:avLst>
              <a:gd name="adj" fmla="val 3421"/>
            </a:avLst>
          </a:prstGeom>
          <a:solidFill>
            <a:srgbClr val="FFFFFF">
              <a:shade val="85000"/>
            </a:srgbClr>
          </a:solidFill>
          <a:ln>
            <a:solidFill>
              <a:srgbClr val="ED7D31"/>
            </a:solidFill>
          </a:ln>
          <a:effectLst/>
        </p:spPr>
      </p:pic>
      <p:grpSp>
        <p:nvGrpSpPr>
          <p:cNvPr id="13" name="组合 12"/>
          <p:cNvGrpSpPr/>
          <p:nvPr/>
        </p:nvGrpSpPr>
        <p:grpSpPr>
          <a:xfrm>
            <a:off x="3031632" y="1282510"/>
            <a:ext cx="1795311" cy="1855015"/>
            <a:chOff x="3031632" y="1282510"/>
            <a:chExt cx="1795311" cy="1855015"/>
          </a:xfrm>
        </p:grpSpPr>
        <p:sp>
          <p:nvSpPr>
            <p:cNvPr id="6" name="椭圆 5"/>
            <p:cNvSpPr/>
            <p:nvPr/>
          </p:nvSpPr>
          <p:spPr>
            <a:xfrm>
              <a:off x="3031632" y="2993509"/>
              <a:ext cx="144016" cy="144016"/>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8" name="连接符: 曲线 7"/>
            <p:cNvCxnSpPr>
              <a:stCxn id="6" idx="6"/>
              <a:endCxn id="14" idx="2"/>
            </p:cNvCxnSpPr>
            <p:nvPr/>
          </p:nvCxnSpPr>
          <p:spPr>
            <a:xfrm flipV="1">
              <a:off x="3175648" y="1354518"/>
              <a:ext cx="1507279" cy="1710999"/>
            </a:xfrm>
            <a:prstGeom prst="curvedConnector3">
              <a:avLst>
                <a:gd name="adj1" fmla="val 50000"/>
              </a:avLst>
            </a:prstGeom>
            <a:ln w="1270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4682927" y="1282510"/>
              <a:ext cx="144016" cy="144016"/>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22" name="箭头: 上 21"/>
          <p:cNvSpPr/>
          <p:nvPr/>
        </p:nvSpPr>
        <p:spPr>
          <a:xfrm>
            <a:off x="1547664" y="4838303"/>
            <a:ext cx="144016" cy="216024"/>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上 22"/>
          <p:cNvSpPr/>
          <p:nvPr/>
        </p:nvSpPr>
        <p:spPr>
          <a:xfrm>
            <a:off x="3181367" y="4838303"/>
            <a:ext cx="144016" cy="216024"/>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左 24"/>
          <p:cNvSpPr/>
          <p:nvPr/>
        </p:nvSpPr>
        <p:spPr>
          <a:xfrm rot="16200000">
            <a:off x="7913053" y="653993"/>
            <a:ext cx="288032" cy="144016"/>
          </a:xfrm>
          <a:prstGeom prst="left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上 27"/>
          <p:cNvSpPr/>
          <p:nvPr/>
        </p:nvSpPr>
        <p:spPr>
          <a:xfrm>
            <a:off x="8316416" y="2592404"/>
            <a:ext cx="144016" cy="216024"/>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1589288" y="5936559"/>
            <a:ext cx="2585039"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lang="en-US" altLang="zh-CN" sz="2000" dirty="0">
                <a:solidFill>
                  <a:srgbClr val="C00000"/>
                </a:solidFill>
                <a:latin typeface="Lucida Sans Unicode" panose="020B0602030504020204" pitchFamily="34" charset="0"/>
                <a:ea typeface="黑体" panose="02010609060101010101" pitchFamily="49" charset="-122"/>
              </a:rPr>
              <a:t>#</a:t>
            </a:r>
            <a:r>
              <a:rPr kumimoji="0" lang="zh-CN" altLang="en-US" sz="2000" b="0" i="0" u="none" strike="noStrike" kern="1200" cap="none" spc="0" normalizeH="0" baseline="0" noProof="0" dirty="0">
                <a:ln>
                  <a:noFill/>
                </a:ln>
                <a:solidFill>
                  <a:srgbClr val="C00000"/>
                </a:solidFill>
                <a:effectLst/>
                <a:uLnTx/>
                <a:uFillTx/>
                <a:latin typeface="Lucida Sans Unicode" panose="020B0602030504020204" pitchFamily="34" charset="0"/>
                <a:ea typeface="黑体" panose="02010609060101010101" pitchFamily="49" charset="-122"/>
                <a:cs typeface="+mn-cs"/>
              </a:rPr>
              <a:t>复制构造函数</a:t>
            </a:r>
            <a:r>
              <a:rPr kumimoji="0" lang="zh-CN" altLang="en-US" sz="2000" b="1" i="0" u="none" strike="noStrike" kern="1200" cap="none" spc="0" normalizeH="0" baseline="0" noProof="0" dirty="0">
                <a:ln>
                  <a:noFill/>
                </a:ln>
                <a:solidFill>
                  <a:srgbClr val="C00000"/>
                </a:solidFill>
                <a:effectLst/>
                <a:uLnTx/>
                <a:uFillTx/>
                <a:latin typeface="Lucida Sans Unicode" panose="020B0602030504020204" pitchFamily="34" charset="0"/>
                <a:ea typeface="黑体" panose="02010609060101010101" pitchFamily="49" charset="-122"/>
                <a:cs typeface="+mn-cs"/>
              </a:rPr>
              <a:t>举例</a:t>
            </a:r>
            <a:endParaRPr kumimoji="0" lang="zh-CN" altLang="en-US" sz="2000" b="1" i="0" u="none" strike="noStrike" kern="1200" cap="none" spc="0" normalizeH="0" baseline="0" noProof="0" dirty="0">
              <a:ln>
                <a:noFill/>
              </a:ln>
              <a:solidFill>
                <a:srgbClr val="C00000"/>
              </a:solidFill>
              <a:effectLst/>
              <a:uLnTx/>
              <a:uFillTx/>
              <a:latin typeface="Lucida Sans Unicode" panose="020B0602030504020204" pitchFamily="34" charset="0"/>
              <a:ea typeface="黑体" panose="02010609060101010101" pitchFamily="49" charset="-122"/>
              <a:cs typeface="+mn-cs"/>
            </a:endParaRPr>
          </a:p>
        </p:txBody>
      </p:sp>
      <p:pic>
        <p:nvPicPr>
          <p:cNvPr id="31" name="图片 30"/>
          <p:cNvPicPr>
            <a:picLocks noChangeAspect="1"/>
          </p:cNvPicPr>
          <p:nvPr/>
        </p:nvPicPr>
        <p:blipFill>
          <a:blip r:embed="rId3"/>
          <a:stretch>
            <a:fillRect/>
          </a:stretch>
        </p:blipFill>
        <p:spPr>
          <a:xfrm>
            <a:off x="312465" y="5877272"/>
            <a:ext cx="1307207" cy="507001"/>
          </a:xfrm>
          <a:prstGeom prst="rect">
            <a:avLst/>
          </a:prstGeom>
        </p:spPr>
      </p:pic>
      <p:sp>
        <p:nvSpPr>
          <p:cNvPr id="2" name="文本框 1"/>
          <p:cNvSpPr txBox="1"/>
          <p:nvPr/>
        </p:nvSpPr>
        <p:spPr>
          <a:xfrm>
            <a:off x="1824042" y="648867"/>
            <a:ext cx="2196435" cy="400110"/>
          </a:xfrm>
          <a:prstGeom prst="rect">
            <a:avLst/>
          </a:prstGeom>
          <a:noFill/>
        </p:spPr>
        <p:txBody>
          <a:bodyPr wrap="none" rtlCol="0">
            <a:spAutoFit/>
          </a:bodyPr>
          <a:lstStyle/>
          <a:p>
            <a:r>
              <a:rPr lang="en-US" altLang="zh-CN" sz="1600" dirty="0"/>
              <a:t>#</a:t>
            </a:r>
            <a:r>
              <a:rPr lang="zh-CN" altLang="en-US" sz="1600" dirty="0">
                <a:solidFill>
                  <a:srgbClr val="C00000"/>
                </a:solidFill>
              </a:rPr>
              <a:t>真正的</a:t>
            </a:r>
            <a:r>
              <a:rPr lang="zh-CN" altLang="en-US" sz="2000" dirty="0"/>
              <a:t>数据初始化</a:t>
            </a:r>
            <a:endParaRPr lang="zh-CN" altLang="en-US" sz="2000" dirty="0"/>
          </a:p>
        </p:txBody>
      </p:sp>
      <p:cxnSp>
        <p:nvCxnSpPr>
          <p:cNvPr id="16" name="直接箭头连接符 15"/>
          <p:cNvCxnSpPr/>
          <p:nvPr/>
        </p:nvCxnSpPr>
        <p:spPr>
          <a:xfrm>
            <a:off x="3591388" y="1844824"/>
            <a:ext cx="0" cy="288032"/>
          </a:xfrm>
          <a:prstGeom prst="straightConnector1">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4023017" y="1844824"/>
            <a:ext cx="0" cy="288032"/>
          </a:xfrm>
          <a:prstGeom prst="straightConnector1">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3742698" y="1844824"/>
            <a:ext cx="0" cy="288032"/>
          </a:xfrm>
          <a:prstGeom prst="straightConnector1">
            <a:avLst/>
          </a:prstGeom>
          <a:ln w="19050">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4174327" y="1844824"/>
            <a:ext cx="0" cy="288032"/>
          </a:xfrm>
          <a:prstGeom prst="straightConnector1">
            <a:avLst/>
          </a:prstGeom>
          <a:ln w="190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34" name="箭头: 左 33"/>
          <p:cNvSpPr/>
          <p:nvPr/>
        </p:nvSpPr>
        <p:spPr>
          <a:xfrm rot="16200000">
            <a:off x="6265817" y="653993"/>
            <a:ext cx="288032" cy="144016"/>
          </a:xfrm>
          <a:prstGeom prst="left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4953214" y="2890955"/>
            <a:ext cx="3579226" cy="2862322"/>
          </a:xfrm>
          <a:prstGeom prst="rect">
            <a:avLst/>
          </a:prstGeom>
          <a:noFill/>
        </p:spPr>
        <p:txBody>
          <a:bodyPr wrap="square" rtlCol="0">
            <a:spAutoFit/>
          </a:bodyPr>
          <a:lstStyle/>
          <a:p>
            <a:r>
              <a:rPr lang="en-US" altLang="zh-CN" sz="2000" dirty="0">
                <a:solidFill>
                  <a:srgbClr val="C00000"/>
                </a:solidFill>
              </a:rPr>
              <a:t>【</a:t>
            </a:r>
            <a:r>
              <a:rPr lang="zh-CN" altLang="en-US" sz="2000" dirty="0">
                <a:solidFill>
                  <a:srgbClr val="C00000"/>
                </a:solidFill>
              </a:rPr>
              <a:t>初始化</a:t>
            </a:r>
            <a:r>
              <a:rPr lang="en-US" altLang="zh-CN" sz="2000" dirty="0">
                <a:solidFill>
                  <a:srgbClr val="C00000"/>
                </a:solidFill>
              </a:rPr>
              <a:t>】</a:t>
            </a:r>
            <a:endParaRPr lang="en-US" altLang="zh-CN" sz="2000" dirty="0">
              <a:solidFill>
                <a:srgbClr val="C00000"/>
              </a:solidFill>
            </a:endParaRPr>
          </a:p>
          <a:p>
            <a:pPr marL="342900" indent="-342900">
              <a:buFont typeface="Wingdings" panose="05000000000000000000" pitchFamily="2" charset="2"/>
              <a:buChar char="ü"/>
            </a:pPr>
            <a:r>
              <a:rPr lang="zh-CN" altLang="en-US" sz="2000" dirty="0">
                <a:solidFill>
                  <a:srgbClr val="C00000"/>
                </a:solidFill>
              </a:rPr>
              <a:t>普通</a:t>
            </a:r>
            <a:r>
              <a:rPr lang="zh-CN" altLang="en-US" sz="2000" dirty="0"/>
              <a:t>数据成员的初始化</a:t>
            </a:r>
            <a:r>
              <a:rPr lang="en-US" altLang="zh-CN" sz="2000" dirty="0"/>
              <a:t>, </a:t>
            </a:r>
            <a:r>
              <a:rPr lang="zh-CN" altLang="en-US" sz="2000" dirty="0"/>
              <a:t>不同对象有不同数据，会分别初始化；</a:t>
            </a:r>
            <a:endParaRPr lang="en-US" altLang="zh-CN" sz="2000" dirty="0"/>
          </a:p>
          <a:p>
            <a:pPr marL="342900" indent="-342900">
              <a:buFont typeface="Wingdings" panose="05000000000000000000" pitchFamily="2" charset="2"/>
              <a:buChar char="ü"/>
            </a:pPr>
            <a:r>
              <a:rPr lang="zh-CN" altLang="en-US" sz="2000" dirty="0">
                <a:solidFill>
                  <a:srgbClr val="C00000"/>
                </a:solidFill>
              </a:rPr>
              <a:t>静态</a:t>
            </a:r>
            <a:r>
              <a:rPr lang="zh-CN" altLang="en-US" sz="2000" dirty="0"/>
              <a:t>数据成员的初始化</a:t>
            </a:r>
            <a:r>
              <a:rPr lang="en-US" altLang="zh-CN" sz="2000" dirty="0"/>
              <a:t>, </a:t>
            </a:r>
            <a:r>
              <a:rPr lang="zh-CN" altLang="en-US" sz="2000" dirty="0"/>
              <a:t>只创建并初始化一个，数据共享</a:t>
            </a:r>
            <a:endParaRPr lang="en-US" altLang="zh-CN" sz="2000" dirty="0"/>
          </a:p>
          <a:p>
            <a:pPr marL="342900" indent="-342900">
              <a:buFont typeface="Wingdings" panose="05000000000000000000" pitchFamily="2" charset="2"/>
              <a:buChar char="ü"/>
            </a:pPr>
            <a:r>
              <a:rPr lang="zh-CN" altLang="en-US" sz="2000" dirty="0"/>
              <a:t>若成员是其它类的对象，也会初始化</a:t>
            </a:r>
            <a:endParaRPr lang="en-US" altLang="zh-CN" sz="2000" dirty="0"/>
          </a:p>
        </p:txBody>
      </p:sp>
      <p:sp>
        <p:nvSpPr>
          <p:cNvPr id="3" name="箭头: 右 2"/>
          <p:cNvSpPr/>
          <p:nvPr/>
        </p:nvSpPr>
        <p:spPr>
          <a:xfrm>
            <a:off x="899592" y="3137525"/>
            <a:ext cx="288032" cy="219467"/>
          </a:xfrm>
          <a:prstGeom prst="rightArrow">
            <a:avLst/>
          </a:prstGeom>
          <a:solidFill>
            <a:srgbClr val="FFFF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par>
                                <p:cTn id="8" presetID="22" presetClass="entr" presetSubtype="1"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up)">
                                      <p:cBhvr>
                                        <p:cTn id="10" dur="500"/>
                                        <p:tgtEl>
                                          <p:spTgt spid="2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up)">
                                      <p:cBhvr>
                                        <p:cTn id="15" dur="500"/>
                                        <p:tgtEl>
                                          <p:spTgt spid="32"/>
                                        </p:tgtEl>
                                      </p:cBhvr>
                                    </p:animEffect>
                                  </p:childTnLst>
                                </p:cTn>
                              </p:par>
                              <p:par>
                                <p:cTn id="16" presetID="22" presetClass="entr" presetSubtype="1" fill="hold"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wipe(up)">
                                      <p:cBhvr>
                                        <p:cTn id="18" dur="5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131840" y="908720"/>
            <a:ext cx="3622038" cy="4495775"/>
          </a:xfrm>
          <a:prstGeom prst="roundRect">
            <a:avLst>
              <a:gd name="adj" fmla="val 3198"/>
            </a:avLst>
          </a:prstGeom>
          <a:ln>
            <a:solidFill>
              <a:schemeClr val="accent2"/>
            </a:solidFill>
          </a:ln>
          <a:effectLst/>
        </p:spPr>
      </p:pic>
      <p:sp>
        <p:nvSpPr>
          <p:cNvPr id="3" name="对话气泡: 圆角矩形 2"/>
          <p:cNvSpPr/>
          <p:nvPr/>
        </p:nvSpPr>
        <p:spPr>
          <a:xfrm>
            <a:off x="6876256" y="2364519"/>
            <a:ext cx="1662311" cy="1584176"/>
          </a:xfrm>
          <a:prstGeom prst="wedgeRoundRectCallout">
            <a:avLst>
              <a:gd name="adj1" fmla="val -142639"/>
              <a:gd name="adj2" fmla="val 3745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FFFF00"/>
                </a:solidFill>
                <a:effectLst/>
                <a:uLnTx/>
                <a:uFillTx/>
                <a:latin typeface="等线" panose="020F0502020204030204"/>
                <a:ea typeface="等线" panose="02010600030101010101" pitchFamily="2" charset="-122"/>
                <a:cs typeface="+mn-cs"/>
              </a:rPr>
              <a:t>CASE1. </a:t>
            </a:r>
            <a:endParaRPr kumimoji="0" lang="en-US" altLang="zh-CN" sz="2000" b="1" i="0" u="none" strike="noStrike" kern="1200" cap="none" spc="0" normalizeH="0" baseline="0" noProof="0" dirty="0">
              <a:ln>
                <a:noFill/>
              </a:ln>
              <a:solidFill>
                <a:srgbClr val="FFFF00"/>
              </a:solidFill>
              <a:effectLst/>
              <a:uLnTx/>
              <a:uFillTx/>
              <a:latin typeface="等线" panose="020F0502020204030204"/>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用</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p1</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初始化</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p2</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。第一次调用复制构造函数</a:t>
            </a:r>
            <a:endPar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对话气泡: 圆角矩形 3"/>
          <p:cNvSpPr/>
          <p:nvPr/>
        </p:nvSpPr>
        <p:spPr>
          <a:xfrm>
            <a:off x="788480" y="3505335"/>
            <a:ext cx="1944216" cy="1728192"/>
          </a:xfrm>
          <a:prstGeom prst="wedgeRoundRectCallout">
            <a:avLst>
              <a:gd name="adj1" fmla="val 102223"/>
              <a:gd name="adj2" fmla="val -491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FFFF00"/>
                </a:solidFill>
                <a:effectLst/>
                <a:uLnTx/>
                <a:uFillTx/>
                <a:latin typeface="等线" panose="020F0502020204030204"/>
                <a:ea typeface="等线" panose="02010600030101010101" pitchFamily="2" charset="-122"/>
                <a:cs typeface="+mn-cs"/>
              </a:rPr>
              <a:t>CASE2. </a:t>
            </a:r>
            <a:endPar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对象</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p2</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作为函数</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fun1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实参，第二次调用复制构造函数</a:t>
            </a:r>
            <a:endPar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5" name="对话气泡: 圆角矩形 4"/>
          <p:cNvSpPr/>
          <p:nvPr/>
        </p:nvSpPr>
        <p:spPr>
          <a:xfrm>
            <a:off x="5708342" y="5041802"/>
            <a:ext cx="2414206" cy="1368152"/>
          </a:xfrm>
          <a:prstGeom prst="wedgeRoundRectCallout">
            <a:avLst>
              <a:gd name="adj1" fmla="val -66096"/>
              <a:gd name="adj2" fmla="val -52244"/>
              <a:gd name="adj3" fmla="val 16667"/>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FFFF00"/>
                </a:solidFill>
                <a:effectLst/>
                <a:uLnTx/>
                <a:uFillTx/>
                <a:latin typeface="等线" panose="020F0502020204030204"/>
                <a:ea typeface="等线" panose="02010600030101010101" pitchFamily="2" charset="-122"/>
                <a:cs typeface="+mn-cs"/>
              </a:rPr>
              <a:t>CASE3. </a:t>
            </a:r>
            <a:endParaRPr kumimoji="0" lang="en-US" altLang="zh-CN" sz="2000" b="1" i="0" u="none" strike="noStrike" kern="1200" cap="none" spc="0" normalizeH="0" baseline="0" noProof="0" dirty="0">
              <a:ln>
                <a:noFill/>
              </a:ln>
              <a:solidFill>
                <a:srgbClr val="FFFF00"/>
              </a:solidFill>
              <a:effectLst/>
              <a:uLnTx/>
              <a:uFillTx/>
              <a:latin typeface="等线" panose="020F0502020204030204"/>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函数的返回值是类对象。但并未调用复制构造函数。</a:t>
            </a:r>
            <a:endPar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pic>
        <p:nvPicPr>
          <p:cNvPr id="7" name="图片 6"/>
          <p:cNvPicPr>
            <a:picLocks noChangeAspect="1"/>
          </p:cNvPicPr>
          <p:nvPr/>
        </p:nvPicPr>
        <p:blipFill>
          <a:blip r:embed="rId2"/>
          <a:stretch>
            <a:fillRect/>
          </a:stretch>
        </p:blipFill>
        <p:spPr>
          <a:xfrm>
            <a:off x="688400" y="1230038"/>
            <a:ext cx="2149542" cy="1134481"/>
          </a:xfrm>
          <a:prstGeom prst="roundRect">
            <a:avLst>
              <a:gd name="adj" fmla="val 9075"/>
            </a:avLst>
          </a:prstGeom>
          <a:ln>
            <a:solidFill>
              <a:srgbClr val="66FF99"/>
            </a:solidFill>
          </a:ln>
          <a:effectLst/>
        </p:spPr>
      </p:pic>
      <p:sp>
        <p:nvSpPr>
          <p:cNvPr id="8" name="椭圆 7"/>
          <p:cNvSpPr/>
          <p:nvPr/>
        </p:nvSpPr>
        <p:spPr>
          <a:xfrm>
            <a:off x="5098528" y="4797152"/>
            <a:ext cx="144016" cy="14401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10" name="连接符: 曲线 9"/>
          <p:cNvCxnSpPr>
            <a:stCxn id="17" idx="1"/>
            <a:endCxn id="7" idx="2"/>
          </p:cNvCxnSpPr>
          <p:nvPr/>
        </p:nvCxnSpPr>
        <p:spPr>
          <a:xfrm rot="10800000">
            <a:off x="1763171" y="2364520"/>
            <a:ext cx="2166958" cy="1378233"/>
          </a:xfrm>
          <a:prstGeom prst="curvedConnector2">
            <a:avLst/>
          </a:prstGeom>
          <a:ln w="12700">
            <a:solidFill>
              <a:srgbClr val="66FF9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矩形: 圆角 16"/>
          <p:cNvSpPr/>
          <p:nvPr/>
        </p:nvSpPr>
        <p:spPr>
          <a:xfrm>
            <a:off x="3930129" y="3624455"/>
            <a:ext cx="1378657" cy="236593"/>
          </a:xfrm>
          <a:prstGeom prst="roundRect">
            <a:avLst>
              <a:gd name="adj" fmla="val 36797"/>
            </a:avLst>
          </a:prstGeom>
          <a:noFill/>
          <a:ln>
            <a:solidFill>
              <a:srgbClr val="66FF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箭头: 下 8"/>
          <p:cNvSpPr/>
          <p:nvPr/>
        </p:nvSpPr>
        <p:spPr>
          <a:xfrm>
            <a:off x="4520617" y="764704"/>
            <a:ext cx="191473" cy="309761"/>
          </a:xfrm>
          <a:prstGeom prst="downArrow">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3"/>
          <a:stretch>
            <a:fillRect/>
          </a:stretch>
        </p:blipFill>
        <p:spPr>
          <a:xfrm>
            <a:off x="2566019" y="5305054"/>
            <a:ext cx="2676525" cy="1104900"/>
          </a:xfrm>
          <a:prstGeom prst="roundRect">
            <a:avLst>
              <a:gd name="adj" fmla="val 3198"/>
            </a:avLst>
          </a:prstGeom>
          <a:ln>
            <a:solidFill>
              <a:schemeClr val="accent2"/>
            </a:solidFill>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500"/>
                                        <p:tgtEl>
                                          <p:spTgt spid="10"/>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352962" y="1268760"/>
            <a:ext cx="3026504" cy="4032448"/>
          </a:xfrm>
          <a:prstGeom prst="roundRect">
            <a:avLst>
              <a:gd name="adj" fmla="val 3198"/>
            </a:avLst>
          </a:prstGeom>
          <a:ln>
            <a:solidFill>
              <a:schemeClr val="accent2"/>
            </a:solidFill>
          </a:ln>
          <a:effectLst/>
        </p:spPr>
      </p:pic>
      <p:sp>
        <p:nvSpPr>
          <p:cNvPr id="4" name="箭头: 下 3"/>
          <p:cNvSpPr/>
          <p:nvPr/>
        </p:nvSpPr>
        <p:spPr>
          <a:xfrm>
            <a:off x="4208163" y="958999"/>
            <a:ext cx="167899" cy="309761"/>
          </a:xfrm>
          <a:prstGeom prst="downArrow">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339380" y="1772816"/>
            <a:ext cx="2318263" cy="369332"/>
          </a:xfrm>
          <a:prstGeom prst="rect">
            <a:avLst/>
          </a:prstGeom>
          <a:noFill/>
        </p:spPr>
        <p:txBody>
          <a:bodyPr wrap="none" rtlCol="0">
            <a:spAutoFit/>
          </a:bodyPr>
          <a:lstStyle/>
          <a:p>
            <a:r>
              <a:rPr lang="en-US" altLang="zh-CN" dirty="0">
                <a:solidFill>
                  <a:srgbClr val="00FF00"/>
                </a:solidFill>
              </a:rPr>
              <a:t>//Q:</a:t>
            </a:r>
            <a:r>
              <a:rPr lang="zh-CN" altLang="en-US" dirty="0">
                <a:solidFill>
                  <a:srgbClr val="00FF00"/>
                </a:solidFill>
              </a:rPr>
              <a:t> 为何需要常函数</a:t>
            </a:r>
            <a:endParaRPr lang="zh-CN" altLang="en-US" dirty="0">
              <a:solidFill>
                <a:srgbClr val="00FF00"/>
              </a:solidFill>
            </a:endParaRPr>
          </a:p>
        </p:txBody>
      </p:sp>
      <p:sp>
        <p:nvSpPr>
          <p:cNvPr id="6" name="箭头: 上 5"/>
          <p:cNvSpPr/>
          <p:nvPr/>
        </p:nvSpPr>
        <p:spPr>
          <a:xfrm>
            <a:off x="3875983" y="1844824"/>
            <a:ext cx="99508" cy="225316"/>
          </a:xfrm>
          <a:prstGeom prst="up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上 6"/>
          <p:cNvSpPr/>
          <p:nvPr/>
        </p:nvSpPr>
        <p:spPr>
          <a:xfrm rot="10800000">
            <a:off x="3618351" y="1019382"/>
            <a:ext cx="99508" cy="225316"/>
          </a:xfrm>
          <a:prstGeom prst="up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highlight>
                <a:srgbClr val="800000"/>
              </a:highlight>
            </a:endParaRPr>
          </a:p>
        </p:txBody>
      </p:sp>
      <p:sp>
        <p:nvSpPr>
          <p:cNvPr id="8" name="箭头: 右 7"/>
          <p:cNvSpPr/>
          <p:nvPr/>
        </p:nvSpPr>
        <p:spPr>
          <a:xfrm>
            <a:off x="2661620" y="3795915"/>
            <a:ext cx="288032" cy="144016"/>
          </a:xfrm>
          <a:prstGeom prst="rightArrow">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2"/>
          <a:stretch>
            <a:fillRect/>
          </a:stretch>
        </p:blipFill>
        <p:spPr>
          <a:xfrm>
            <a:off x="4860032" y="5006502"/>
            <a:ext cx="3136046" cy="980821"/>
          </a:xfrm>
          <a:prstGeom prst="roundRect">
            <a:avLst>
              <a:gd name="adj" fmla="val 7275"/>
            </a:avLst>
          </a:prstGeom>
          <a:ln>
            <a:solidFill>
              <a:schemeClr val="accent2"/>
            </a:solidFill>
          </a:ln>
          <a:effectLst/>
        </p:spPr>
      </p:pic>
      <p:sp>
        <p:nvSpPr>
          <p:cNvPr id="11" name="文本框 10"/>
          <p:cNvSpPr txBox="1"/>
          <p:nvPr/>
        </p:nvSpPr>
        <p:spPr>
          <a:xfrm>
            <a:off x="827584" y="5565978"/>
            <a:ext cx="3228769" cy="369332"/>
          </a:xfrm>
          <a:prstGeom prst="rect">
            <a:avLst/>
          </a:prstGeom>
          <a:noFill/>
        </p:spPr>
        <p:txBody>
          <a:bodyPr wrap="none" rtlCol="0">
            <a:spAutoFit/>
          </a:bodyPr>
          <a:lstStyle>
            <a:defPPr>
              <a:defRPr lang="zh-CN"/>
            </a:defPPr>
            <a:lvl1pPr>
              <a:defRPr>
                <a:solidFill>
                  <a:srgbClr val="00FF00"/>
                </a:solidFill>
              </a:defRPr>
            </a:lvl1pPr>
          </a:lstStyle>
          <a:p>
            <a:r>
              <a:rPr lang="en-US" altLang="zh-CN" dirty="0">
                <a:solidFill>
                  <a:schemeClr val="tx1"/>
                </a:solidFill>
              </a:rPr>
              <a:t>//</a:t>
            </a:r>
            <a:r>
              <a:rPr lang="zh-CN" altLang="en-US" dirty="0">
                <a:solidFill>
                  <a:schemeClr val="tx1"/>
                </a:solidFill>
              </a:rPr>
              <a:t>一次也没调用</a:t>
            </a:r>
            <a:r>
              <a:rPr lang="zh-CN" altLang="en-US" dirty="0">
                <a:solidFill>
                  <a:srgbClr val="C00000"/>
                </a:solidFill>
              </a:rPr>
              <a:t>复制构造</a:t>
            </a:r>
            <a:r>
              <a:rPr lang="zh-CN" altLang="en-US" dirty="0">
                <a:solidFill>
                  <a:schemeClr val="tx1"/>
                </a:solidFill>
              </a:rPr>
              <a:t>函数</a:t>
            </a:r>
            <a:r>
              <a:rPr lang="en-US" altLang="zh-CN" dirty="0">
                <a:solidFill>
                  <a:schemeClr val="tx1"/>
                </a:solidFill>
              </a:rPr>
              <a:t> </a:t>
            </a:r>
            <a:endParaRPr lang="zh-CN" altLang="en-US" dirty="0">
              <a:solidFill>
                <a:schemeClr val="tx1"/>
              </a:solidFill>
            </a:endParaRPr>
          </a:p>
        </p:txBody>
      </p:sp>
      <p:sp>
        <p:nvSpPr>
          <p:cNvPr id="2" name="矩形: 圆角 1"/>
          <p:cNvSpPr/>
          <p:nvPr/>
        </p:nvSpPr>
        <p:spPr>
          <a:xfrm>
            <a:off x="3073044" y="3594100"/>
            <a:ext cx="736972" cy="201815"/>
          </a:xfrm>
          <a:prstGeom prst="roundRect">
            <a:avLst/>
          </a:prstGeom>
          <a:noFill/>
          <a:ln w="19050">
            <a:solidFill>
              <a:srgbClr val="00FF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4716016" y="2646204"/>
            <a:ext cx="2088232" cy="6573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须有默认构造函数</a:t>
            </a:r>
            <a:endParaRPr lang="en-US" altLang="zh-CN" dirty="0"/>
          </a:p>
          <a:p>
            <a:r>
              <a:rPr lang="en-US" altLang="zh-CN" b="1" dirty="0">
                <a:solidFill>
                  <a:srgbClr val="FFFF00"/>
                </a:solidFill>
              </a:rPr>
              <a:t>Q: </a:t>
            </a:r>
            <a:r>
              <a:rPr lang="zh-CN" altLang="en-US" dirty="0"/>
              <a:t>什么时候有</a:t>
            </a:r>
            <a:r>
              <a:rPr lang="en-US" altLang="zh-CN" dirty="0"/>
              <a:t>??</a:t>
            </a:r>
            <a:endParaRPr lang="zh-CN" altLang="en-US" dirty="0"/>
          </a:p>
        </p:txBody>
      </p:sp>
      <p:cxnSp>
        <p:nvCxnSpPr>
          <p:cNvPr id="14" name="连接符: 曲线 13"/>
          <p:cNvCxnSpPr>
            <a:stCxn id="2" idx="3"/>
            <a:endCxn id="12" idx="1"/>
          </p:cNvCxnSpPr>
          <p:nvPr/>
        </p:nvCxnSpPr>
        <p:spPr>
          <a:xfrm flipV="1">
            <a:off x="3810016" y="2974902"/>
            <a:ext cx="906000" cy="720106"/>
          </a:xfrm>
          <a:prstGeom prst="curvedConnector3">
            <a:avLst/>
          </a:prstGeom>
          <a:ln w="19050">
            <a:solidFill>
              <a:srgbClr val="00FF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 name="矩形: 圆角 16"/>
          <p:cNvSpPr/>
          <p:nvPr/>
        </p:nvSpPr>
        <p:spPr>
          <a:xfrm>
            <a:off x="5580112" y="3406502"/>
            <a:ext cx="2772308" cy="1440160"/>
          </a:xfrm>
          <a:prstGeom prst="roundRect">
            <a:avLst>
              <a:gd name="adj" fmla="val 11806"/>
            </a:avLst>
          </a:prstGeom>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pPr marL="285750" indent="-285750">
              <a:buFont typeface="Wingdings" panose="05000000000000000000" pitchFamily="2" charset="2"/>
              <a:buChar char="ü"/>
            </a:pPr>
            <a:r>
              <a:rPr lang="zh-CN" altLang="en-US" sz="1600" dirty="0"/>
              <a:t>若</a:t>
            </a:r>
            <a:r>
              <a:rPr lang="zh-CN" altLang="en-US" sz="1600" dirty="0">
                <a:highlight>
                  <a:srgbClr val="000080"/>
                </a:highlight>
              </a:rPr>
              <a:t>不写</a:t>
            </a:r>
            <a:r>
              <a:rPr lang="zh-CN" altLang="en-US" sz="1600" dirty="0"/>
              <a:t>构造函数，编译系统自动加上</a:t>
            </a:r>
            <a:r>
              <a:rPr lang="en-US" altLang="zh-CN" sz="1600" dirty="0"/>
              <a:t>;</a:t>
            </a:r>
            <a:endParaRPr lang="en-US" altLang="zh-CN" sz="1600" dirty="0"/>
          </a:p>
          <a:p>
            <a:pPr marL="285750" indent="-285750">
              <a:buFont typeface="Wingdings" panose="05000000000000000000" pitchFamily="2" charset="2"/>
              <a:buChar char="ü"/>
            </a:pPr>
            <a:r>
              <a:rPr lang="zh-CN" altLang="en-US" sz="1600" dirty="0"/>
              <a:t>若</a:t>
            </a:r>
            <a:r>
              <a:rPr lang="zh-CN" altLang="en-US" sz="1600" dirty="0">
                <a:highlight>
                  <a:srgbClr val="000080"/>
                </a:highlight>
              </a:rPr>
              <a:t>写了</a:t>
            </a:r>
            <a:r>
              <a:rPr lang="zh-CN" altLang="en-US" sz="1600" dirty="0"/>
              <a:t>，编译系统不会自动加上，需自己写无参数或全有默认值构造函数</a:t>
            </a:r>
            <a:endParaRPr lang="zh-CN" altLang="en-US" sz="1600" dirty="0"/>
          </a:p>
        </p:txBody>
      </p:sp>
      <p:cxnSp>
        <p:nvCxnSpPr>
          <p:cNvPr id="19" name="连接符: 肘形 18"/>
          <p:cNvCxnSpPr>
            <a:stCxn id="12" idx="3"/>
            <a:endCxn id="17" idx="0"/>
          </p:cNvCxnSpPr>
          <p:nvPr/>
        </p:nvCxnSpPr>
        <p:spPr>
          <a:xfrm>
            <a:off x="6804248" y="2974902"/>
            <a:ext cx="162018" cy="431600"/>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up)">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up)">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P spid="17" grpId="0" animBg="1"/>
    </p:bldLst>
  </p:timing>
</p:sld>
</file>

<file path=ppt/theme/theme1.xml><?xml version="1.0" encoding="utf-8"?>
<a:theme xmlns:a="http://schemas.openxmlformats.org/drawingml/2006/main" name="课程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雅黑-Calibri">
      <a:majorFont>
        <a:latin typeface="Calibri"/>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12914</Words>
  <Application>WPS 演示</Application>
  <PresentationFormat>全屏显示(4:3)</PresentationFormat>
  <Paragraphs>1078</Paragraphs>
  <Slides>74</Slides>
  <Notes>31</Notes>
  <HiddenSlides>0</HiddenSlides>
  <MMClips>0</MMClips>
  <ScaleCrop>false</ScaleCrop>
  <HeadingPairs>
    <vt:vector size="6" baseType="variant">
      <vt:variant>
        <vt:lpstr>已用的字体</vt:lpstr>
      </vt:variant>
      <vt:variant>
        <vt:i4>39</vt:i4>
      </vt:variant>
      <vt:variant>
        <vt:lpstr>主题</vt:lpstr>
      </vt:variant>
      <vt:variant>
        <vt:i4>1</vt:i4>
      </vt:variant>
      <vt:variant>
        <vt:lpstr>幻灯片标题</vt:lpstr>
      </vt:variant>
      <vt:variant>
        <vt:i4>74</vt:i4>
      </vt:variant>
    </vt:vector>
  </HeadingPairs>
  <TitlesOfParts>
    <vt:vector size="114" baseType="lpstr">
      <vt:lpstr>Arial</vt:lpstr>
      <vt:lpstr>宋体</vt:lpstr>
      <vt:lpstr>Wingdings</vt:lpstr>
      <vt:lpstr>Calibri</vt:lpstr>
      <vt:lpstr>Helvetica Neue</vt:lpstr>
      <vt:lpstr>汉仪书宋二KW</vt:lpstr>
      <vt:lpstr>Wingdings 3</vt:lpstr>
      <vt:lpstr>Lucida Sans Unicode</vt:lpstr>
      <vt:lpstr>黑体</vt:lpstr>
      <vt:lpstr>Verdana</vt:lpstr>
      <vt:lpstr>Wingdings 2</vt:lpstr>
      <vt:lpstr>Times New Roman</vt:lpstr>
      <vt:lpstr>隶书</vt:lpstr>
      <vt:lpstr>Consolas</vt:lpstr>
      <vt:lpstr>苹方-简</vt:lpstr>
      <vt:lpstr>汉仪中黑KW</vt:lpstr>
      <vt:lpstr>Times</vt:lpstr>
      <vt:lpstr>Calibri Light</vt:lpstr>
      <vt:lpstr>微软雅黑</vt:lpstr>
      <vt:lpstr>汉仪旗黑</vt:lpstr>
      <vt:lpstr>微软雅黑 Light</vt:lpstr>
      <vt:lpstr>微软雅黑</vt:lpstr>
      <vt:lpstr>宋体</vt:lpstr>
      <vt:lpstr>Arial Unicode MS</vt:lpstr>
      <vt:lpstr>等线</vt:lpstr>
      <vt:lpstr>汉仪中等线KW</vt:lpstr>
      <vt:lpstr>Arial</vt:lpstr>
      <vt:lpstr>报隶-简</vt:lpstr>
      <vt:lpstr>Georgia</vt:lpstr>
      <vt:lpstr>Verdana</vt:lpstr>
      <vt:lpstr>楷体</vt:lpstr>
      <vt:lpstr>汉仪楷体KW</vt:lpstr>
      <vt:lpstr>等线</vt:lpstr>
      <vt:lpstr>等线</vt:lpstr>
      <vt:lpstr>Wingdings</vt:lpstr>
      <vt:lpstr>Wingdings 3</vt:lpstr>
      <vt:lpstr>楷体</vt:lpstr>
      <vt:lpstr>隶书</vt:lpstr>
      <vt:lpstr>黑体</vt:lpstr>
      <vt:lpstr>课程PPT模板</vt:lpstr>
      <vt:lpstr>13. 面向对象程序设计		</vt:lpstr>
      <vt:lpstr>内容</vt:lpstr>
      <vt:lpstr>1）函数重载</vt:lpstr>
      <vt:lpstr>注意事项</vt:lpstr>
      <vt:lpstr>2）带默认参数值的函数</vt:lpstr>
      <vt:lpstr>默认参数值的说明次序</vt:lpstr>
      <vt:lpstr>默认参数值与函数的调用位置</vt:lpstr>
      <vt:lpstr>3) 引用 &amp;</vt:lpstr>
      <vt:lpstr>关于引用（reference）</vt:lpstr>
      <vt:lpstr>内容</vt:lpstr>
      <vt:lpstr>面向对象的雏形：结构体</vt:lpstr>
      <vt:lpstr>PowerPoint 演示文稿</vt:lpstr>
      <vt:lpstr>面向对象的方法</vt:lpstr>
      <vt:lpstr>面向对象的方法（续）</vt:lpstr>
      <vt:lpstr>面向过程的程序设计方法</vt:lpstr>
      <vt:lpstr>面向对象的基本概念——对象</vt:lpstr>
      <vt:lpstr>面向对象的基本概念——类</vt:lpstr>
      <vt:lpstr>面向对象的特性——封装</vt:lpstr>
      <vt:lpstr>面向对象的特性——继承</vt:lpstr>
      <vt:lpstr>面向对象的特性——多态</vt:lpstr>
      <vt:lpstr>类</vt:lpstr>
      <vt:lpstr>类的定义</vt:lpstr>
      <vt:lpstr>PowerPoint 演示文稿</vt:lpstr>
      <vt:lpstr>public, private, protected</vt:lpstr>
      <vt:lpstr>PowerPoint 演示文稿</vt:lpstr>
      <vt:lpstr>PowerPoint 演示文稿</vt:lpstr>
      <vt:lpstr>类与对象</vt:lpstr>
      <vt:lpstr>PowerPoint 演示文稿</vt:lpstr>
      <vt:lpstr>举例：</vt:lpstr>
      <vt:lpstr>类的成员函数</vt:lpstr>
      <vt:lpstr>成员函数说明</vt:lpstr>
      <vt:lpstr>成员函数的位置</vt:lpstr>
      <vt:lpstr> 内联函数*</vt:lpstr>
      <vt:lpstr>PowerPoint 演示文稿</vt:lpstr>
      <vt:lpstr>调用成员函数</vt:lpstr>
      <vt:lpstr>用指针调用成员函数</vt:lpstr>
      <vt:lpstr>用引用传递来访问成员函数</vt:lpstr>
      <vt:lpstr>隐含形参：this指针/地址</vt:lpstr>
      <vt:lpstr>在成员函数中访问成员</vt:lpstr>
      <vt:lpstr>重载成员函数</vt:lpstr>
      <vt:lpstr>思考：自己尝试实现下面两个函数</vt:lpstr>
      <vt:lpstr>内容</vt:lpstr>
      <vt:lpstr>为何要保护成员（封装隐藏）</vt:lpstr>
      <vt:lpstr>PowerPoint 演示文稿</vt:lpstr>
      <vt:lpstr>构造函数</vt:lpstr>
      <vt:lpstr>内容</vt:lpstr>
      <vt:lpstr>构造函数举例</vt:lpstr>
      <vt:lpstr>PowerPoint 演示文稿</vt:lpstr>
      <vt:lpstr>构造函数的必要性</vt:lpstr>
      <vt:lpstr>默认的构造函数</vt:lpstr>
      <vt:lpstr>重载构造函数</vt:lpstr>
      <vt:lpstr>PowerPoint 演示文稿</vt:lpstr>
      <vt:lpstr>构造函数的调用</vt:lpstr>
      <vt:lpstr>复制构造函数</vt:lpstr>
      <vt:lpstr>复制构造函数被调用的三种情况</vt:lpstr>
      <vt:lpstr>复制构造函数举例</vt:lpstr>
      <vt:lpstr>PowerPoint 演示文稿</vt:lpstr>
      <vt:lpstr>隐含的复制构造函数</vt:lpstr>
      <vt:lpstr>析构函数</vt:lpstr>
      <vt:lpstr>构造函数和析析构函数举例</vt:lpstr>
      <vt:lpstr>*编译器默认提供的函数</vt:lpstr>
      <vt:lpstr>PowerPoint 演示文稿</vt:lpstr>
      <vt:lpstr>前向引用声明</vt:lpstr>
      <vt:lpstr>举例：</vt:lpstr>
      <vt:lpstr>前向引用声明的注意事项</vt:lpstr>
      <vt:lpstr>PowerPoint 演示文稿</vt:lpstr>
      <vt:lpstr>设计class就是设计新的类型</vt:lpstr>
      <vt:lpstr>设计class就是设计新的类型(续）</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 I</dc:title>
  <dc:creator>sun hui</dc:creator>
  <cp:lastModifiedBy>Li₂O</cp:lastModifiedBy>
  <cp:revision>1335</cp:revision>
  <dcterms:created xsi:type="dcterms:W3CDTF">2025-12-16T01:12:29Z</dcterms:created>
  <dcterms:modified xsi:type="dcterms:W3CDTF">2025-12-16T01:12:29Z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14DA58ED227A95A8FDB1406967545874_42</vt:lpwstr>
  </property>
</Properties>
</file>