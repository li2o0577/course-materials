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34"/>
  </p:notesMasterIdLst>
  <p:sldIdLst>
    <p:sldId id="1231" r:id="rId2"/>
    <p:sldId id="862" r:id="rId3"/>
    <p:sldId id="863" r:id="rId4"/>
    <p:sldId id="864" r:id="rId5"/>
    <p:sldId id="738" r:id="rId6"/>
    <p:sldId id="739" r:id="rId7"/>
    <p:sldId id="866" r:id="rId8"/>
    <p:sldId id="867" r:id="rId9"/>
    <p:sldId id="868" r:id="rId10"/>
    <p:sldId id="869" r:id="rId11"/>
    <p:sldId id="1232" r:id="rId12"/>
    <p:sldId id="897" r:id="rId13"/>
    <p:sldId id="898" r:id="rId14"/>
    <p:sldId id="872" r:id="rId15"/>
    <p:sldId id="874" r:id="rId16"/>
    <p:sldId id="875" r:id="rId17"/>
    <p:sldId id="876" r:id="rId18"/>
    <p:sldId id="877" r:id="rId19"/>
    <p:sldId id="879" r:id="rId20"/>
    <p:sldId id="745" r:id="rId21"/>
    <p:sldId id="749" r:id="rId22"/>
    <p:sldId id="758" r:id="rId23"/>
    <p:sldId id="754" r:id="rId24"/>
    <p:sldId id="759" r:id="rId25"/>
    <p:sldId id="882" r:id="rId26"/>
    <p:sldId id="746" r:id="rId27"/>
    <p:sldId id="750" r:id="rId28"/>
    <p:sldId id="751" r:id="rId29"/>
    <p:sldId id="755" r:id="rId30"/>
    <p:sldId id="756" r:id="rId31"/>
    <p:sldId id="1233" r:id="rId32"/>
    <p:sldId id="123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7" autoAdjust="0"/>
    <p:restoredTop sz="75345" autoAdjust="0"/>
  </p:normalViewPr>
  <p:slideViewPr>
    <p:cSldViewPr snapToGrid="0">
      <p:cViewPr varScale="1">
        <p:scale>
          <a:sx n="88" d="100"/>
          <a:sy n="88" d="100"/>
        </p:scale>
        <p:origin x="263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t>12/19/2023</a:t>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t>‹#›</a:t>
            </a:fld>
            <a:endParaRPr lang="en-US"/>
          </a:p>
        </p:txBody>
      </p:sp>
    </p:spTree>
    <p:extLst>
      <p:ext uri="{BB962C8B-B14F-4D97-AF65-F5344CB8AC3E}">
        <p14:creationId xmlns:p14="http://schemas.microsoft.com/office/powerpoint/2010/main" val="274883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658F5A-008E-4264-AE19-8775C340F27F}" type="slidenum">
              <a:rPr lang="en-US" altLang="zh-CN"/>
              <a:pPr/>
              <a:t>3</a:t>
            </a:fld>
            <a:endParaRPr lang="en-US" altLang="zh-CN"/>
          </a:p>
        </p:txBody>
      </p:sp>
      <p:sp>
        <p:nvSpPr>
          <p:cNvPr id="1329154" name="Rectangle 2"/>
          <p:cNvSpPr>
            <a:spLocks noGrp="1" noRot="1" noChangeAspect="1" noChangeArrowheads="1" noTextEdit="1"/>
          </p:cNvSpPr>
          <p:nvPr>
            <p:ph type="sldImg"/>
          </p:nvPr>
        </p:nvSpPr>
        <p:spPr>
          <a:ln/>
        </p:spPr>
      </p:sp>
      <p:sp>
        <p:nvSpPr>
          <p:cNvPr id="1329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CFB011-BCFA-43CA-B444-FED2872A8187}" type="slidenum">
              <a:rPr lang="en-US" altLang="zh-CN"/>
              <a:pPr/>
              <a:t>4</a:t>
            </a:fld>
            <a:endParaRPr lang="en-US" altLang="zh-CN"/>
          </a:p>
        </p:txBody>
      </p:sp>
      <p:sp>
        <p:nvSpPr>
          <p:cNvPr id="1331202" name="Rectangle 2"/>
          <p:cNvSpPr>
            <a:spLocks noGrp="1" noRot="1" noChangeAspect="1" noChangeArrowheads="1" noTextEdit="1"/>
          </p:cNvSpPr>
          <p:nvPr>
            <p:ph type="sldImg"/>
          </p:nvPr>
        </p:nvSpPr>
        <p:spPr>
          <a:ln/>
        </p:spPr>
      </p:sp>
      <p:sp>
        <p:nvSpPr>
          <p:cNvPr id="13312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AC088D-34E0-4167-8073-87F1C4E80913}" type="slidenum">
              <a:rPr lang="en-US" altLang="zh-CN"/>
              <a:pPr/>
              <a:t>7</a:t>
            </a:fld>
            <a:endParaRPr lang="en-US" altLang="zh-CN"/>
          </a:p>
        </p:txBody>
      </p:sp>
      <p:sp>
        <p:nvSpPr>
          <p:cNvPr id="1335298" name="Rectangle 2"/>
          <p:cNvSpPr>
            <a:spLocks noGrp="1" noRot="1" noChangeAspect="1" noChangeArrowheads="1" noTextEdit="1"/>
          </p:cNvSpPr>
          <p:nvPr>
            <p:ph type="sldImg"/>
          </p:nvPr>
        </p:nvSpPr>
        <p:spPr>
          <a:ln/>
        </p:spPr>
      </p:sp>
      <p:sp>
        <p:nvSpPr>
          <p:cNvPr id="1335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41CFBF-57DF-4CDC-9B57-ED0FAF6174E6}" type="slidenum">
              <a:rPr lang="en-US" altLang="zh-CN"/>
              <a:pPr/>
              <a:t>8</a:t>
            </a:fld>
            <a:endParaRPr lang="en-US" altLang="zh-CN"/>
          </a:p>
        </p:txBody>
      </p:sp>
      <p:sp>
        <p:nvSpPr>
          <p:cNvPr id="1337346" name="Rectangle 2"/>
          <p:cNvSpPr>
            <a:spLocks noGrp="1" noRot="1" noChangeAspect="1" noChangeArrowheads="1" noTextEdit="1"/>
          </p:cNvSpPr>
          <p:nvPr>
            <p:ph type="sldImg"/>
          </p:nvPr>
        </p:nvSpPr>
        <p:spPr>
          <a:ln/>
        </p:spPr>
      </p:sp>
      <p:sp>
        <p:nvSpPr>
          <p:cNvPr id="13373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E53F1A-95D6-4A42-BAC1-3DB1AE69A381}" type="slidenum">
              <a:rPr lang="en-US" altLang="zh-CN"/>
              <a:pPr/>
              <a:t>9</a:t>
            </a:fld>
            <a:endParaRPr lang="en-US" altLang="zh-CN"/>
          </a:p>
        </p:txBody>
      </p:sp>
      <p:sp>
        <p:nvSpPr>
          <p:cNvPr id="1339394" name="Rectangle 2"/>
          <p:cNvSpPr>
            <a:spLocks noGrp="1" noRot="1" noChangeAspect="1" noChangeArrowheads="1" noTextEdit="1"/>
          </p:cNvSpPr>
          <p:nvPr>
            <p:ph type="sldImg"/>
          </p:nvPr>
        </p:nvSpPr>
        <p:spPr>
          <a:ln/>
        </p:spPr>
      </p:sp>
      <p:sp>
        <p:nvSpPr>
          <p:cNvPr id="1339395" name="Rectangle 3"/>
          <p:cNvSpPr>
            <a:spLocks noGrp="1" noChangeArrowheads="1"/>
          </p:cNvSpPr>
          <p:nvPr>
            <p:ph type="body" idx="1"/>
          </p:nvPr>
        </p:nvSpPr>
        <p:spPr/>
        <p:txBody>
          <a:bodyPr/>
          <a:lstStyle/>
          <a:p>
            <a:r>
              <a:rPr lang="en-US" altLang="zh-CN" dirty="0"/>
              <a:t>C</a:t>
            </a:r>
            <a:r>
              <a:rPr lang="zh-CN" altLang="en-US" dirty="0"/>
              <a:t>标准采用缓冲文件系统处理来数据文件，系统自动在内存区为程序中每一个正在使用的文件开辟一个文件缓冲区， 其大小由编译系统确定。</a:t>
            </a:r>
          </a:p>
          <a:p>
            <a:r>
              <a:rPr lang="zh-CN" altLang="en-US" dirty="0"/>
              <a:t>在向文件输出数据时，它就作为输出缓冲区</a:t>
            </a:r>
          </a:p>
          <a:p>
            <a:r>
              <a:rPr lang="zh-CN" altLang="en-US" dirty="0"/>
              <a:t>在从文件输入数据时，它就作为输入缓冲区</a:t>
            </a:r>
          </a:p>
          <a:p>
            <a:endParaRPr lang="en-US" altLang="zh-CN" dirty="0"/>
          </a:p>
          <a:p>
            <a:r>
              <a:rPr lang="zh-CN" altLang="en-US" dirty="0"/>
              <a:t>文件缓冲区目的是节省存取时间、提高效率</a:t>
            </a:r>
          </a:p>
          <a:p>
            <a:r>
              <a:rPr lang="zh-CN" altLang="en-US" dirty="0"/>
              <a:t>从内存向磁盘导出数据：必须先送到内存中的缓冲区，装满缓冲区后才一起送到磁盘去</a:t>
            </a:r>
          </a:p>
          <a:p>
            <a:r>
              <a:rPr lang="zh-CN" altLang="en-US" dirty="0"/>
              <a:t>从磁盘向内存导入数据：一次从磁盘文件将一批数据填充满内存缓冲区，然后再从缓冲区逐个地将数据送到程序数据区给程序变量</a:t>
            </a:r>
          </a:p>
          <a:p>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4D8762-1FF2-475F-9F18-40228B96EF69}" type="slidenum">
              <a:rPr lang="en-US" altLang="zh-CN"/>
              <a:pPr/>
              <a:t>10</a:t>
            </a:fld>
            <a:endParaRPr lang="en-US" altLang="zh-CN"/>
          </a:p>
        </p:txBody>
      </p:sp>
      <p:sp>
        <p:nvSpPr>
          <p:cNvPr id="1341442" name="Rectangle 2"/>
          <p:cNvSpPr>
            <a:spLocks noGrp="1" noRot="1" noChangeAspect="1" noChangeArrowheads="1" noTextEdit="1"/>
          </p:cNvSpPr>
          <p:nvPr>
            <p:ph type="sldImg"/>
          </p:nvPr>
        </p:nvSpPr>
        <p:spPr>
          <a:ln/>
        </p:spPr>
      </p:sp>
      <p:sp>
        <p:nvSpPr>
          <p:cNvPr id="1341443" name="Rectangle 3"/>
          <p:cNvSpPr>
            <a:spLocks noGrp="1" noChangeArrowheads="1"/>
          </p:cNvSpPr>
          <p:nvPr>
            <p:ph type="body" idx="1"/>
          </p:nvPr>
        </p:nvSpPr>
        <p:spPr/>
        <p:txBody>
          <a:bodyPr/>
          <a:lstStyle/>
          <a:p>
            <a:r>
              <a:rPr lang="en-US" sz="1200" b="0" i="0" kern="1200" dirty="0" err="1">
                <a:solidFill>
                  <a:schemeClr val="tx1"/>
                </a:solidFill>
                <a:effectLst/>
                <a:latin typeface="+mn-lt"/>
                <a:ea typeface="+mn-ea"/>
                <a:cs typeface="+mn-cs"/>
              </a:rPr>
              <a:t>fopen</a:t>
            </a:r>
            <a:r>
              <a:rPr lang="zh-CN" altLang="en-US" sz="1200" b="0" i="0" kern="1200" dirty="0">
                <a:solidFill>
                  <a:schemeClr val="tx1"/>
                </a:solidFill>
                <a:effectLst/>
                <a:latin typeface="+mn-lt"/>
                <a:ea typeface="+mn-ea"/>
                <a:cs typeface="+mn-cs"/>
              </a:rPr>
              <a:t>返回的文件指针只是给</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语言库函数的参数使用的</a:t>
            </a:r>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11</a:t>
            </a:fld>
            <a:endParaRPr lang="en-US"/>
          </a:p>
        </p:txBody>
      </p:sp>
    </p:spTree>
    <p:extLst>
      <p:ext uri="{BB962C8B-B14F-4D97-AF65-F5344CB8AC3E}">
        <p14:creationId xmlns:p14="http://schemas.microsoft.com/office/powerpoint/2010/main" val="851226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7E1A52-D98A-4223-8DA2-78DC357798A3}" type="slidenum">
              <a:rPr lang="en-US" altLang="zh-CN"/>
              <a:pPr/>
              <a:t>14</a:t>
            </a:fld>
            <a:endParaRPr lang="en-US" altLang="zh-CN"/>
          </a:p>
        </p:txBody>
      </p:sp>
      <p:sp>
        <p:nvSpPr>
          <p:cNvPr id="1343490" name="Rectangle 2"/>
          <p:cNvSpPr>
            <a:spLocks noGrp="1" noRot="1" noChangeAspect="1" noChangeArrowheads="1" noTextEdit="1"/>
          </p:cNvSpPr>
          <p:nvPr>
            <p:ph type="sldImg"/>
          </p:nvPr>
        </p:nvSpPr>
        <p:spPr>
          <a:ln/>
        </p:spPr>
      </p:sp>
      <p:sp>
        <p:nvSpPr>
          <p:cNvPr id="1343491" name="Rectangle 3"/>
          <p:cNvSpPr>
            <a:spLocks noGrp="1" noChangeArrowheads="1"/>
          </p:cNvSpPr>
          <p:nvPr>
            <p:ph type="body" idx="1"/>
          </p:nvPr>
        </p:nvSpPr>
        <p:spPr/>
        <p:txBody>
          <a:bodyPr/>
          <a:lstStyle/>
          <a:p>
            <a:r>
              <a:rPr lang="zh-CN" altLang="en-US" sz="1200" b="0" i="0" kern="1200" dirty="0">
                <a:solidFill>
                  <a:schemeClr val="tx1"/>
                </a:solidFill>
                <a:effectLst/>
                <a:latin typeface="+mn-lt"/>
                <a:ea typeface="+mn-ea"/>
                <a:cs typeface="+mn-cs"/>
              </a:rPr>
              <a:t>有</a:t>
            </a:r>
            <a:r>
              <a:rPr lang="en-US" altLang="zh-CN" sz="1200" b="0" i="0" kern="1200" dirty="0">
                <a:solidFill>
                  <a:schemeClr val="tx1"/>
                </a:solidFill>
                <a:effectLst/>
                <a:latin typeface="+mn-lt"/>
                <a:ea typeface="+mn-ea"/>
                <a:cs typeface="+mn-cs"/>
              </a:rPr>
              <a:t>b: </a:t>
            </a:r>
            <a:r>
              <a:rPr lang="en-US" altLang="zh-CN" sz="1200" b="0" i="0" kern="1200" dirty="0" err="1">
                <a:solidFill>
                  <a:schemeClr val="tx1"/>
                </a:solidFill>
                <a:effectLst/>
                <a:latin typeface="+mn-lt"/>
                <a:ea typeface="+mn-ea"/>
                <a:cs typeface="+mn-cs"/>
              </a:rPr>
              <a:t>fwrite</a:t>
            </a:r>
            <a:r>
              <a:rPr lang="zh-CN" altLang="en-US" sz="1200" b="0" i="0" kern="1200" dirty="0">
                <a:solidFill>
                  <a:schemeClr val="tx1"/>
                </a:solidFill>
                <a:effectLst/>
                <a:latin typeface="+mn-lt"/>
                <a:ea typeface="+mn-ea"/>
                <a:cs typeface="+mn-cs"/>
              </a:rPr>
              <a:t>写入时</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原原本本的写入数据</a:t>
            </a:r>
            <a:r>
              <a:rPr lang="en-US" altLang="zh-CN" sz="1200" b="0" i="0" kern="1200" dirty="0">
                <a:solidFill>
                  <a:schemeClr val="tx1"/>
                </a:solidFill>
                <a:effectLst/>
                <a:latin typeface="+mn-lt"/>
                <a:ea typeface="+mn-ea"/>
                <a:cs typeface="+mn-cs"/>
              </a:rPr>
              <a:t>.</a:t>
            </a:r>
            <a:br>
              <a:rPr lang="zh-CN" altLang="en-US" dirty="0"/>
            </a:br>
            <a:r>
              <a:rPr lang="zh-CN" altLang="en-US" sz="1200" b="0" i="0" kern="1200" dirty="0">
                <a:solidFill>
                  <a:schemeClr val="tx1"/>
                </a:solidFill>
                <a:effectLst/>
                <a:latin typeface="+mn-lt"/>
                <a:ea typeface="+mn-ea"/>
                <a:cs typeface="+mn-cs"/>
              </a:rPr>
              <a:t>没</a:t>
            </a:r>
            <a:r>
              <a:rPr lang="en-US" altLang="zh-CN" sz="1200" b="0" i="0" kern="1200" dirty="0">
                <a:solidFill>
                  <a:schemeClr val="tx1"/>
                </a:solidFill>
                <a:effectLst/>
                <a:latin typeface="+mn-lt"/>
                <a:ea typeface="+mn-ea"/>
                <a:cs typeface="+mn-cs"/>
              </a:rPr>
              <a:t>b: </a:t>
            </a:r>
            <a:r>
              <a:rPr lang="en-US" altLang="zh-CN" sz="1200" b="0" i="0" kern="1200" dirty="0" err="1">
                <a:solidFill>
                  <a:schemeClr val="tx1"/>
                </a:solidFill>
                <a:effectLst/>
                <a:latin typeface="+mn-lt"/>
                <a:ea typeface="+mn-ea"/>
                <a:cs typeface="+mn-cs"/>
              </a:rPr>
              <a:t>fwrite</a:t>
            </a:r>
            <a:r>
              <a:rPr lang="zh-CN" altLang="en-US" sz="1200" b="0" i="0" kern="1200" dirty="0">
                <a:solidFill>
                  <a:schemeClr val="tx1"/>
                </a:solidFill>
                <a:effectLst/>
                <a:latin typeface="+mn-lt"/>
                <a:ea typeface="+mn-ea"/>
                <a:cs typeface="+mn-cs"/>
              </a:rPr>
              <a:t>写入时</a:t>
            </a:r>
            <a:r>
              <a:rPr lang="en-US" altLang="zh-CN" sz="1200" b="0" i="0" kern="1200" dirty="0">
                <a:solidFill>
                  <a:schemeClr val="tx1"/>
                </a:solidFill>
                <a:effectLst/>
                <a:latin typeface="+mn-lt"/>
                <a:ea typeface="+mn-ea"/>
                <a:cs typeface="+mn-cs"/>
              </a:rPr>
              <a:t>, \n</a:t>
            </a:r>
            <a:r>
              <a:rPr lang="zh-CN" altLang="en-US" sz="1200" b="0" i="0" kern="1200" dirty="0">
                <a:solidFill>
                  <a:schemeClr val="tx1"/>
                </a:solidFill>
                <a:effectLst/>
                <a:latin typeface="+mn-lt"/>
                <a:ea typeface="+mn-ea"/>
                <a:cs typeface="+mn-cs"/>
              </a:rPr>
              <a:t>会转成</a:t>
            </a:r>
            <a:r>
              <a:rPr lang="en-US" altLang="zh-CN" sz="1200" b="0" i="0" kern="1200" dirty="0">
                <a:solidFill>
                  <a:schemeClr val="tx1"/>
                </a:solidFill>
                <a:effectLst/>
                <a:latin typeface="+mn-lt"/>
                <a:ea typeface="+mn-ea"/>
                <a:cs typeface="+mn-cs"/>
              </a:rPr>
              <a:t>\r\n</a:t>
            </a:r>
            <a:r>
              <a:rPr lang="zh-CN" altLang="en-US" sz="1200" b="0" i="0" kern="1200" dirty="0">
                <a:solidFill>
                  <a:schemeClr val="tx1"/>
                </a:solidFill>
                <a:effectLst/>
                <a:latin typeface="+mn-lt"/>
                <a:ea typeface="+mn-ea"/>
                <a:cs typeface="+mn-cs"/>
              </a:rPr>
              <a:t>写入数据</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Windows</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\r\n</a:t>
            </a:r>
          </a:p>
          <a:p>
            <a:r>
              <a:rPr lang="en-US" altLang="zh-CN" sz="1200" b="0" i="0" kern="1200" dirty="0">
                <a:solidFill>
                  <a:schemeClr val="tx1"/>
                </a:solidFill>
                <a:effectLst/>
                <a:latin typeface="+mn-lt"/>
                <a:ea typeface="+mn-ea"/>
                <a:cs typeface="+mn-cs"/>
              </a:rPr>
              <a:t>Linux \n</a:t>
            </a:r>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FFF186-2B1D-4C40-9883-5546E8E5AFB7}" type="slidenum">
              <a:rPr lang="en-US" altLang="zh-CN"/>
              <a:pPr/>
              <a:t>15</a:t>
            </a:fld>
            <a:endParaRPr lang="en-US" altLang="zh-CN"/>
          </a:p>
        </p:txBody>
      </p:sp>
      <p:sp>
        <p:nvSpPr>
          <p:cNvPr id="1347586" name="Rectangle 2"/>
          <p:cNvSpPr>
            <a:spLocks noGrp="1" noRot="1" noChangeAspect="1" noChangeArrowheads="1" noTextEdit="1"/>
          </p:cNvSpPr>
          <p:nvPr>
            <p:ph type="sldImg"/>
          </p:nvPr>
        </p:nvSpPr>
        <p:spPr>
          <a:ln/>
        </p:spPr>
      </p:sp>
      <p:sp>
        <p:nvSpPr>
          <p:cNvPr id="1347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2305CF-EE82-44E5-A52E-4D9DBA3F9A62}" type="slidenum">
              <a:rPr lang="en-US" altLang="zh-CN"/>
              <a:pPr/>
              <a:t>16</a:t>
            </a:fld>
            <a:endParaRPr lang="en-US" altLang="zh-CN"/>
          </a:p>
        </p:txBody>
      </p:sp>
      <p:sp>
        <p:nvSpPr>
          <p:cNvPr id="1349634" name="Rectangle 2"/>
          <p:cNvSpPr>
            <a:spLocks noGrp="1" noRot="1" noChangeAspect="1" noChangeArrowheads="1" noTextEdit="1"/>
          </p:cNvSpPr>
          <p:nvPr>
            <p:ph type="sldImg"/>
          </p:nvPr>
        </p:nvSpPr>
        <p:spPr>
          <a:ln/>
        </p:spPr>
      </p:sp>
      <p:sp>
        <p:nvSpPr>
          <p:cNvPr id="1349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BF6F80-5E48-4A53-BF27-082275F5CCF0}" type="slidenum">
              <a:rPr lang="en-US" altLang="zh-CN"/>
              <a:pPr/>
              <a:t>17</a:t>
            </a:fld>
            <a:endParaRPr lang="en-US" altLang="zh-CN"/>
          </a:p>
        </p:txBody>
      </p:sp>
      <p:sp>
        <p:nvSpPr>
          <p:cNvPr id="1351682" name="Rectangle 2"/>
          <p:cNvSpPr>
            <a:spLocks noGrp="1" noRot="1" noChangeAspect="1" noChangeArrowheads="1" noTextEdit="1"/>
          </p:cNvSpPr>
          <p:nvPr>
            <p:ph type="sldImg"/>
          </p:nvPr>
        </p:nvSpPr>
        <p:spPr>
          <a:ln/>
        </p:spPr>
      </p:sp>
      <p:sp>
        <p:nvSpPr>
          <p:cNvPr id="1351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DAC9AA-4B98-42BD-BB2F-45406A2689B9}" type="slidenum">
              <a:rPr lang="en-US" altLang="zh-CN"/>
              <a:pPr/>
              <a:t>18</a:t>
            </a:fld>
            <a:endParaRPr lang="en-US" altLang="zh-CN"/>
          </a:p>
        </p:txBody>
      </p:sp>
      <p:sp>
        <p:nvSpPr>
          <p:cNvPr id="1353730" name="Rectangle 2"/>
          <p:cNvSpPr>
            <a:spLocks noGrp="1" noRot="1" noChangeAspect="1" noChangeArrowheads="1" noTextEdit="1"/>
          </p:cNvSpPr>
          <p:nvPr>
            <p:ph type="sldImg"/>
          </p:nvPr>
        </p:nvSpPr>
        <p:spPr>
          <a:ln/>
        </p:spPr>
      </p:sp>
      <p:sp>
        <p:nvSpPr>
          <p:cNvPr id="1353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7AF63F-A033-4E88-954E-892B3B7F8A36}" type="slidenum">
              <a:rPr lang="en-US" altLang="zh-CN"/>
              <a:pPr/>
              <a:t>19</a:t>
            </a:fld>
            <a:endParaRPr lang="en-US" altLang="zh-CN"/>
          </a:p>
        </p:txBody>
      </p:sp>
      <p:sp>
        <p:nvSpPr>
          <p:cNvPr id="1357826" name="Rectangle 2"/>
          <p:cNvSpPr>
            <a:spLocks noGrp="1" noRot="1" noChangeAspect="1" noChangeArrowheads="1" noTextEdit="1"/>
          </p:cNvSpPr>
          <p:nvPr>
            <p:ph type="sldImg"/>
          </p:nvPr>
        </p:nvSpPr>
        <p:spPr>
          <a:ln/>
        </p:spPr>
      </p:sp>
      <p:sp>
        <p:nvSpPr>
          <p:cNvPr id="13578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EB1086-1949-4DC6-B3B2-85F24A81AE3F}" type="slidenum">
              <a:rPr lang="en-US" altLang="zh-CN"/>
              <a:pPr/>
              <a:t>25</a:t>
            </a:fld>
            <a:endParaRPr lang="en-US" altLang="zh-CN"/>
          </a:p>
        </p:txBody>
      </p:sp>
      <p:sp>
        <p:nvSpPr>
          <p:cNvPr id="1363970" name="Rectangle 2"/>
          <p:cNvSpPr>
            <a:spLocks noGrp="1" noRot="1" noChangeAspect="1" noChangeArrowheads="1" noTextEdit="1"/>
          </p:cNvSpPr>
          <p:nvPr>
            <p:ph type="sldImg"/>
          </p:nvPr>
        </p:nvSpPr>
        <p:spPr>
          <a:ln/>
        </p:spPr>
      </p:sp>
      <p:sp>
        <p:nvSpPr>
          <p:cNvPr id="13639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pt-BR" dirty="0"/>
              <a:t>gcc -c quicksort.cpp -o quicksort.o</a:t>
            </a:r>
          </a:p>
          <a:p>
            <a:r>
              <a:rPr lang="pt-BR" dirty="0"/>
              <a:t>gcc -c project.cpp -o project.o </a:t>
            </a:r>
          </a:p>
          <a:p>
            <a:r>
              <a:rPr lang="pt-BR" dirty="0"/>
              <a:t>gcc -o project.exe project.o quicksort.o</a:t>
            </a:r>
          </a:p>
          <a:p>
            <a:endParaRPr lang="en-US" altLang="zh-CN" dirty="0"/>
          </a:p>
          <a:p>
            <a:endParaRPr lang="en-US" altLang="zh-CN" dirty="0"/>
          </a:p>
          <a:p>
            <a:r>
              <a:rPr lang="en-US" altLang="zh-CN" sz="1200" b="0" i="0" kern="1200" dirty="0">
                <a:solidFill>
                  <a:schemeClr val="tx1"/>
                </a:solidFill>
                <a:effectLst/>
                <a:latin typeface="+mn-lt"/>
                <a:ea typeface="+mn-ea"/>
                <a:cs typeface="+mn-cs"/>
              </a:rPr>
              <a:t>make</a:t>
            </a:r>
            <a:r>
              <a:rPr lang="zh-CN" altLang="en-US" sz="1200" b="0" i="0" kern="1200" dirty="0">
                <a:solidFill>
                  <a:schemeClr val="tx1"/>
                </a:solidFill>
                <a:effectLst/>
                <a:latin typeface="+mn-lt"/>
                <a:ea typeface="+mn-ea"/>
                <a:cs typeface="+mn-cs"/>
              </a:rPr>
              <a:t>主要是用来管理软件工程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实现增量式编译的工具</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makefile</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make</a:t>
            </a:r>
            <a:r>
              <a:rPr lang="zh-CN" altLang="en-US" sz="1200" b="0" i="0" kern="1200" dirty="0">
                <a:solidFill>
                  <a:schemeClr val="tx1"/>
                </a:solidFill>
                <a:effectLst/>
                <a:latin typeface="+mn-lt"/>
                <a:ea typeface="+mn-ea"/>
                <a:cs typeface="+mn-cs"/>
              </a:rPr>
              <a:t>调用的规则脚本</a:t>
            </a:r>
            <a:r>
              <a:rPr lang="en-US" altLang="zh-CN" sz="1200" b="0" i="0" kern="1200" dirty="0">
                <a:solidFill>
                  <a:schemeClr val="tx1"/>
                </a:solidFill>
                <a:effectLst/>
                <a:latin typeface="+mn-lt"/>
                <a:ea typeface="+mn-ea"/>
                <a:cs typeface="+mn-cs"/>
              </a:rPr>
              <a:t>.</a:t>
            </a:r>
          </a:p>
          <a:p>
            <a:endParaRPr lang="en-US" altLang="zh-CN" dirty="0"/>
          </a:p>
          <a:p>
            <a:r>
              <a:rPr lang="en-US" altLang="zh-CN" dirty="0"/>
              <a:t>Windows</a:t>
            </a:r>
            <a:r>
              <a:rPr lang="zh-CN" altLang="en-US" dirty="0"/>
              <a:t>下，写好</a:t>
            </a:r>
            <a:r>
              <a:rPr lang="en-US" altLang="zh-CN" dirty="0" err="1"/>
              <a:t>Makefile</a:t>
            </a:r>
            <a:endParaRPr lang="pt-BR" dirty="0"/>
          </a:p>
          <a:p>
            <a:r>
              <a:rPr lang="pt-BR" dirty="0"/>
              <a:t>mingw32-make</a:t>
            </a:r>
          </a:p>
          <a:p>
            <a:endParaRPr lang="pt-BR" dirty="0"/>
          </a:p>
          <a:p>
            <a:r>
              <a:rPr lang="en-US" altLang="zh-CN" dirty="0"/>
              <a:t>Linux</a:t>
            </a:r>
            <a:r>
              <a:rPr lang="zh-CN" altLang="en-US" dirty="0"/>
              <a:t>下</a:t>
            </a:r>
            <a:endParaRPr lang="en-US" altLang="zh-CN" dirty="0"/>
          </a:p>
          <a:p>
            <a:r>
              <a:rPr lang="en-US" altLang="zh-CN" dirty="0"/>
              <a:t>make</a:t>
            </a:r>
          </a:p>
          <a:p>
            <a:endParaRPr lang="en-US" altLang="zh-CN" dirty="0"/>
          </a:p>
          <a:p>
            <a:r>
              <a:rPr lang="en-US" altLang="zh-CN" dirty="0"/>
              <a:t>rm –rf project *.o</a:t>
            </a:r>
          </a:p>
          <a:p>
            <a:endParaRPr lang="en-US" altLang="zh-CN" dirty="0"/>
          </a:p>
          <a:p>
            <a:endParaRPr lang="pt-BR" dirty="0"/>
          </a:p>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32</a:t>
            </a:fld>
            <a:endParaRPr lang="en-US"/>
          </a:p>
        </p:txBody>
      </p:sp>
    </p:spTree>
    <p:extLst>
      <p:ext uri="{BB962C8B-B14F-4D97-AF65-F5344CB8AC3E}">
        <p14:creationId xmlns:p14="http://schemas.microsoft.com/office/powerpoint/2010/main" val="831618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7F2607A3-F1BE-4A25-B299-97AFEB1FFB62}"/>
              </a:ext>
            </a:extLst>
          </p:cNvPr>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F9AF04BF-0727-495F-A094-608DA21B68DA}"/>
              </a:ext>
            </a:extLst>
          </p:cNvPr>
          <p:cNvSpPr/>
          <p:nvPr/>
        </p:nvSpPr>
        <p:spPr>
          <a:xfrm>
            <a:off x="7414926" y="813763"/>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0" name="椭圆 9">
            <a:extLst>
              <a:ext uri="{FF2B5EF4-FFF2-40B4-BE49-F238E27FC236}">
                <a16:creationId xmlns:a16="http://schemas.microsoft.com/office/drawing/2014/main" id="{64515F67-C18F-4CB9-B75C-1ECF0FA29872}"/>
              </a:ext>
            </a:extLst>
          </p:cNvPr>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7" name="圆: 空心 6">
            <a:extLst>
              <a:ext uri="{FF2B5EF4-FFF2-40B4-BE49-F238E27FC236}">
                <a16:creationId xmlns:a16="http://schemas.microsoft.com/office/drawing/2014/main" id="{D973C491-F0B8-4D1C-BF2F-7AAFDD3C50A0}"/>
              </a:ext>
            </a:extLst>
          </p:cNvPr>
          <p:cNvSpPr/>
          <p:nvPr/>
        </p:nvSpPr>
        <p:spPr>
          <a:xfrm>
            <a:off x="-1447253" y="-1783037"/>
            <a:ext cx="3960000" cy="3960000"/>
          </a:xfrm>
          <a:prstGeom prst="donut">
            <a:avLst>
              <a:gd name="adj" fmla="val 14845"/>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sp>
        <p:nvSpPr>
          <p:cNvPr id="2" name="Title 1"/>
          <p:cNvSpPr>
            <a:spLocks noGrp="1"/>
          </p:cNvSpPr>
          <p:nvPr>
            <p:ph type="ctrTitle"/>
          </p:nvPr>
        </p:nvSpPr>
        <p:spPr>
          <a:xfrm>
            <a:off x="1268874" y="2063683"/>
            <a:ext cx="6606253" cy="1655763"/>
          </a:xfrm>
        </p:spPr>
        <p:txBody>
          <a:bodyPr anchor="b">
            <a:normAutofit/>
          </a:bodyPr>
          <a:lstStyle>
            <a:lvl1pPr algn="l">
              <a:defRPr sz="5400" b="1"/>
            </a:lvl1pPr>
          </a:lstStyle>
          <a:p>
            <a:r>
              <a:rPr lang="zh-CN" altLang="en-US" dirty="0"/>
              <a:t>单击此处编辑母版标题样式</a:t>
            </a:r>
            <a:endParaRPr lang="en-US" dirty="0"/>
          </a:p>
        </p:txBody>
      </p:sp>
    </p:spTree>
    <p:extLst>
      <p:ext uri="{BB962C8B-B14F-4D97-AF65-F5344CB8AC3E}">
        <p14:creationId xmlns:p14="http://schemas.microsoft.com/office/powerpoint/2010/main" val="1697698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AFFAC0-5E2A-4A96-AA84-E25CC8564710}"/>
              </a:ext>
            </a:extLst>
          </p:cNvPr>
          <p:cNvSpPr>
            <a:spLocks noGrp="1"/>
          </p:cNvSpPr>
          <p:nvPr>
            <p:ph type="ctrTitle"/>
          </p:nvPr>
        </p:nvSpPr>
        <p:spPr>
          <a:xfrm>
            <a:off x="1268874" y="2155123"/>
            <a:ext cx="6606253"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a:extLst>
              <a:ext uri="{FF2B5EF4-FFF2-40B4-BE49-F238E27FC236}">
                <a16:creationId xmlns:a16="http://schemas.microsoft.com/office/drawing/2014/main" id="{74B02844-8C02-465F-B7DB-AB02B28F9A23}"/>
              </a:ext>
            </a:extLst>
          </p:cNvPr>
          <p:cNvSpPr/>
          <p:nvPr/>
        </p:nvSpPr>
        <p:spPr>
          <a:xfrm>
            <a:off x="409455" y="215530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220205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432000" y="1389185"/>
            <a:ext cx="8280000" cy="4936895"/>
          </a:xfrm>
        </p:spPr>
        <p:txBody>
          <a:bodyPr anchor="t">
            <a:normAutofit/>
          </a:bodyPr>
          <a:lstStyle>
            <a:lvl1pPr marL="514350" indent="-514350">
              <a:lnSpc>
                <a:spcPct val="114000"/>
              </a:lnSpc>
              <a:buFont typeface="+mj-lt"/>
              <a:buAutoNum type="arabicPeriod"/>
              <a:defRPr sz="3200">
                <a:solidFill>
                  <a:schemeClr val="tx1">
                    <a:lumMod val="50000"/>
                    <a:lumOff val="50000"/>
                  </a:schemeClr>
                </a:solidFill>
                <a:latin typeface="+mj-ea"/>
                <a:ea typeface="+mj-ea"/>
              </a:defRPr>
            </a:lvl1pPr>
            <a:lvl2pPr marL="783000" indent="-457200">
              <a:buFont typeface="+mj-lt"/>
              <a:buAutoNum type="arabicPeriod"/>
              <a:defRPr>
                <a:solidFill>
                  <a:schemeClr val="tx1">
                    <a:lumMod val="50000"/>
                    <a:lumOff val="50000"/>
                  </a:schemeClr>
                </a:solidFill>
              </a:defRPr>
            </a:lvl2pPr>
            <a:lvl3pPr marL="1369800"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extLst>
      <p:ext uri="{BB962C8B-B14F-4D97-AF65-F5344CB8AC3E}">
        <p14:creationId xmlns:p14="http://schemas.microsoft.com/office/powerpoint/2010/main" val="4270422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idx="1"/>
          </p:nvPr>
        </p:nvSpPr>
        <p:spPr>
          <a:xfrm>
            <a:off x="432000" y="1260000"/>
            <a:ext cx="8280000" cy="5040000"/>
          </a:xfrm>
        </p:spPr>
        <p:txBody>
          <a:bodyPr/>
          <a:lstStyle>
            <a:lvl2pPr indent="-288000">
              <a:defRPr/>
            </a:lvl2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extLst>
      <p:ext uri="{BB962C8B-B14F-4D97-AF65-F5344CB8AC3E}">
        <p14:creationId xmlns:p14="http://schemas.microsoft.com/office/powerpoint/2010/main" val="3708124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p:nvPr>
        </p:nvSpPr>
        <p:spPr>
          <a:xfrm>
            <a:off x="432000" y="1260000"/>
            <a:ext cx="4082850" cy="5040000"/>
          </a:xfrm>
        </p:spPr>
        <p:txBody>
          <a:bodyPr/>
          <a:lstStyle>
            <a:lvl1pPr marL="360000">
              <a:defRPr/>
            </a:lvl1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260000"/>
            <a:ext cx="4082850" cy="5040000"/>
          </a:xfrm>
        </p:spPr>
        <p:txBody>
          <a:bodyPr/>
          <a:lstStyle>
            <a:lvl1pPr marL="360000">
              <a:defRPr/>
            </a:lvl1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extLst>
      <p:ext uri="{BB962C8B-B14F-4D97-AF65-F5344CB8AC3E}">
        <p14:creationId xmlns:p14="http://schemas.microsoft.com/office/powerpoint/2010/main" val="1609262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432000" y="2037714"/>
            <a:ext cx="4066182" cy="438828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037714"/>
            <a:ext cx="4082850" cy="438828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a:extLst>
              <a:ext uri="{FF2B5EF4-FFF2-40B4-BE49-F238E27FC236}">
                <a16:creationId xmlns:a16="http://schemas.microsoft.com/office/drawing/2014/main" id="{DF911216-E732-4C6D-8C7E-F389B9C2C5AE}"/>
              </a:ext>
            </a:extLst>
          </p:cNvPr>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extLst>
      <p:ext uri="{BB962C8B-B14F-4D97-AF65-F5344CB8AC3E}">
        <p14:creationId xmlns:p14="http://schemas.microsoft.com/office/powerpoint/2010/main" val="7616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Tree>
    <p:extLst>
      <p:ext uri="{BB962C8B-B14F-4D97-AF65-F5344CB8AC3E}">
        <p14:creationId xmlns:p14="http://schemas.microsoft.com/office/powerpoint/2010/main" val="2584052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541337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398545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2384156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AFFAC0-5E2A-4A96-AA84-E25CC8564710}"/>
              </a:ext>
            </a:extLst>
          </p:cNvPr>
          <p:cNvSpPr>
            <a:spLocks noGrp="1"/>
          </p:cNvSpPr>
          <p:nvPr>
            <p:ph type="ctrTitle"/>
          </p:nvPr>
        </p:nvSpPr>
        <p:spPr>
          <a:xfrm>
            <a:off x="1268874" y="2155123"/>
            <a:ext cx="6606253" cy="1655763"/>
          </a:xfrm>
        </p:spPr>
        <p:txBody>
          <a:bodyPr anchor="b">
            <a:normAutofit/>
          </a:bodyPr>
          <a:lstStyle>
            <a:lvl1pPr algn="ctr">
              <a:defRPr sz="4400" b="1"/>
            </a:lvl1pPr>
          </a:lstStyle>
          <a:p>
            <a:r>
              <a:rPr lang="zh-CN" altLang="en-US"/>
              <a:t>单击此处编辑母版标题样式</a:t>
            </a:r>
            <a:endParaRPr lang="en-US" dirty="0"/>
          </a:p>
        </p:txBody>
      </p:sp>
      <p:sp>
        <p:nvSpPr>
          <p:cNvPr id="9" name="圆: 空心 8">
            <a:extLst>
              <a:ext uri="{FF2B5EF4-FFF2-40B4-BE49-F238E27FC236}">
                <a16:creationId xmlns:a16="http://schemas.microsoft.com/office/drawing/2014/main" id="{74B02844-8C02-465F-B7DB-AB02B28F9A23}"/>
              </a:ext>
            </a:extLst>
          </p:cNvPr>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722448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SmartArt Placeholder 2"/>
          <p:cNvSpPr>
            <a:spLocks noGrp="1"/>
          </p:cNvSpPr>
          <p:nvPr>
            <p:ph type="dgm" idx="1"/>
          </p:nvPr>
        </p:nvSpPr>
        <p:spPr>
          <a:xfrm>
            <a:off x="457200" y="1600200"/>
            <a:ext cx="8229600" cy="4525963"/>
          </a:xfrm>
        </p:spPr>
        <p:txBody>
          <a:bodyPr/>
          <a:lstStyle/>
          <a:p>
            <a:pPr lvl="0"/>
            <a:endParaRPr lang="en-US" noProof="0"/>
          </a:p>
        </p:txBody>
      </p:sp>
      <p:sp>
        <p:nvSpPr>
          <p:cNvPr id="4" name="Rectangle 2">
            <a:extLst>
              <a:ext uri="{FF2B5EF4-FFF2-40B4-BE49-F238E27FC236}">
                <a16:creationId xmlns:a16="http://schemas.microsoft.com/office/drawing/2014/main" id="{4DB3275F-C1F5-4CF9-9729-ADFDC14134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9BCC12AD-8E53-4FA4-A219-6867916BB4F2}"/>
              </a:ext>
            </a:extLst>
          </p:cNvPr>
          <p:cNvSpPr>
            <a:spLocks noGrp="1" noChangeArrowheads="1"/>
          </p:cNvSpPr>
          <p:nvPr>
            <p:ph type="sldNum" sz="quarter" idx="11"/>
          </p:nvPr>
        </p:nvSpPr>
        <p:spPr>
          <a:ln/>
        </p:spPr>
        <p:txBody>
          <a:bodyPr/>
          <a:lstStyle>
            <a:lvl1pPr>
              <a:defRPr/>
            </a:lvl1pPr>
          </a:lstStyle>
          <a:p>
            <a:fld id="{9CBF01F0-5869-42E2-A8FD-A9376291A2A2}" type="slidenum">
              <a:rPr lang="en-US" altLang="zh-CN"/>
              <a:pPr/>
              <a:t>‹#›</a:t>
            </a:fld>
            <a:endParaRPr lang="en-US" altLang="zh-CN"/>
          </a:p>
        </p:txBody>
      </p:sp>
      <p:sp>
        <p:nvSpPr>
          <p:cNvPr id="6" name="Rectangle 14">
            <a:extLst>
              <a:ext uri="{FF2B5EF4-FFF2-40B4-BE49-F238E27FC236}">
                <a16:creationId xmlns:a16="http://schemas.microsoft.com/office/drawing/2014/main" id="{AEF09162-841A-490A-83B2-7284605ABE1A}"/>
              </a:ext>
            </a:extLst>
          </p:cNvPr>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18097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4" name="Rectangle 12">
            <a:extLst>
              <a:ext uri="{FF2B5EF4-FFF2-40B4-BE49-F238E27FC236}">
                <a16:creationId xmlns:a16="http://schemas.microsoft.com/office/drawing/2014/main" id="{92B64E6B-9C43-4572-ADB4-F837329B662B}"/>
              </a:ext>
            </a:extLst>
          </p:cNvPr>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5" name="Rectangle 13">
            <a:extLst>
              <a:ext uri="{FF2B5EF4-FFF2-40B4-BE49-F238E27FC236}">
                <a16:creationId xmlns:a16="http://schemas.microsoft.com/office/drawing/2014/main" id="{E6BF3C4D-3350-4649-9FAD-7497E9C7F125}"/>
              </a:ext>
            </a:extLst>
          </p:cNvPr>
          <p:cNvSpPr>
            <a:spLocks noChangeArrowheads="1"/>
          </p:cNvSpPr>
          <p:nvPr/>
        </p:nvSpPr>
        <p:spPr bwMode="invGray">
          <a:xfrm>
            <a:off x="2286000" y="0"/>
            <a:ext cx="76200"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sz="1350">
              <a:solidFill>
                <a:schemeClr val="lt1"/>
              </a:solidFill>
              <a:latin typeface="+mn-lt"/>
              <a:ea typeface="+mn-ea"/>
            </a:endParaRPr>
          </a:p>
        </p:txBody>
      </p:sp>
      <p:sp>
        <p:nvSpPr>
          <p:cNvPr id="6" name="Oval 15">
            <a:extLst>
              <a:ext uri="{FF2B5EF4-FFF2-40B4-BE49-F238E27FC236}">
                <a16:creationId xmlns:a16="http://schemas.microsoft.com/office/drawing/2014/main" id="{CE8E24AB-04DB-460B-9D0E-193C3E138100}"/>
              </a:ext>
            </a:extLst>
          </p:cNvPr>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sz="1350"/>
          </a:p>
        </p:txBody>
      </p:sp>
      <p:sp>
        <p:nvSpPr>
          <p:cNvPr id="7" name="Oval 16">
            <a:extLst>
              <a:ext uri="{FF2B5EF4-FFF2-40B4-BE49-F238E27FC236}">
                <a16:creationId xmlns:a16="http://schemas.microsoft.com/office/drawing/2014/main" id="{00599C65-BE57-4D99-B54B-2C08707A4AD0}"/>
              </a:ext>
            </a:extLst>
          </p:cNvPr>
          <p:cNvSpPr/>
          <p:nvPr/>
        </p:nvSpPr>
        <p:spPr>
          <a:xfrm>
            <a:off x="2408239"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sz="1350"/>
          </a:p>
        </p:txBody>
      </p:sp>
      <p:sp>
        <p:nvSpPr>
          <p:cNvPr id="2" name="Title 1"/>
          <p:cNvSpPr>
            <a:spLocks noGrp="1"/>
          </p:cNvSpPr>
          <p:nvPr>
            <p:ph type="title"/>
          </p:nvPr>
        </p:nvSpPr>
        <p:spPr>
          <a:xfrm>
            <a:off x="2578392" y="2600325"/>
            <a:ext cx="6400800" cy="2286000"/>
          </a:xfrm>
        </p:spPr>
        <p:txBody>
          <a:bodyPr anchor="t"/>
          <a:lstStyle>
            <a:lvl1pPr algn="l">
              <a:lnSpc>
                <a:spcPts val="3375"/>
              </a:lnSpc>
              <a:buNone/>
              <a:defRPr sz="3000" b="1" cap="all"/>
            </a:lvl1pPr>
            <a:extLst/>
          </a:lstStyle>
          <a:p>
            <a:r>
              <a:rPr lang="en-US" altLang="zh-CN"/>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3716" indent="0">
              <a:lnSpc>
                <a:spcPts val="1725"/>
              </a:lnSpc>
              <a:spcBef>
                <a:spcPts val="0"/>
              </a:spcBef>
              <a:buNone/>
              <a:defRPr sz="1500">
                <a:solidFill>
                  <a:schemeClr val="tx2">
                    <a:shade val="30000"/>
                    <a:satMod val="150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extLst/>
          </a:lstStyle>
          <a:p>
            <a:pPr lvl="0"/>
            <a:r>
              <a:rPr lang="en-US" altLang="zh-CN"/>
              <a:t>Click to edit Master text styles</a:t>
            </a:r>
          </a:p>
        </p:txBody>
      </p:sp>
      <p:sp>
        <p:nvSpPr>
          <p:cNvPr id="8" name="Date Placeholder 3">
            <a:extLst>
              <a:ext uri="{FF2B5EF4-FFF2-40B4-BE49-F238E27FC236}">
                <a16:creationId xmlns:a16="http://schemas.microsoft.com/office/drawing/2014/main" id="{AF261F37-552D-4999-9BFC-27773702F7DC}"/>
              </a:ext>
            </a:extLst>
          </p:cNvPr>
          <p:cNvSpPr>
            <a:spLocks noGrp="1"/>
          </p:cNvSpPr>
          <p:nvPr>
            <p:ph type="dt" sz="half" idx="10"/>
          </p:nvPr>
        </p:nvSpPr>
        <p:spPr/>
        <p:txBody>
          <a:bodyPr/>
          <a:lstStyle>
            <a:lvl1pPr>
              <a:defRPr/>
            </a:lvl1pPr>
            <a:extLst/>
          </a:lstStyle>
          <a:p>
            <a:pPr>
              <a:defRPr/>
            </a:pPr>
            <a:endParaRPr lang="zh-CN" altLang="en-US"/>
          </a:p>
        </p:txBody>
      </p:sp>
      <p:sp>
        <p:nvSpPr>
          <p:cNvPr id="9" name="Footer Placeholder 4">
            <a:extLst>
              <a:ext uri="{FF2B5EF4-FFF2-40B4-BE49-F238E27FC236}">
                <a16:creationId xmlns:a16="http://schemas.microsoft.com/office/drawing/2014/main" id="{F9A8846C-85F3-4627-9062-AC1CA0AD7C45}"/>
              </a:ext>
            </a:extLst>
          </p:cNvPr>
          <p:cNvSpPr>
            <a:spLocks noGrp="1"/>
          </p:cNvSpPr>
          <p:nvPr>
            <p:ph type="ftr" sz="quarter" idx="11"/>
          </p:nvPr>
        </p:nvSpPr>
        <p:spPr/>
        <p:txBody>
          <a:bodyPr/>
          <a:lstStyle>
            <a:lvl1pPr>
              <a:defRPr/>
            </a:lvl1pPr>
          </a:lstStyle>
          <a:p>
            <a:endParaRPr lang="zh-CN" altLang="en-US"/>
          </a:p>
        </p:txBody>
      </p:sp>
      <p:sp>
        <p:nvSpPr>
          <p:cNvPr id="10" name="Slide Number Placeholder 5">
            <a:extLst>
              <a:ext uri="{FF2B5EF4-FFF2-40B4-BE49-F238E27FC236}">
                <a16:creationId xmlns:a16="http://schemas.microsoft.com/office/drawing/2014/main" id="{9AA15BB8-B203-40B2-95F2-39F5E5695B89}"/>
              </a:ext>
            </a:extLst>
          </p:cNvPr>
          <p:cNvSpPr>
            <a:spLocks noGrp="1"/>
          </p:cNvSpPr>
          <p:nvPr>
            <p:ph type="sldNum" sz="quarter" idx="12"/>
          </p:nvPr>
        </p:nvSpPr>
        <p:spPr/>
        <p:txBody>
          <a:bodyPr/>
          <a:lstStyle>
            <a:lvl1pPr>
              <a:defRPr/>
            </a:lvl1pPr>
          </a:lstStyle>
          <a:p>
            <a:pPr>
              <a:defRPr/>
            </a:pPr>
            <a:fld id="{B165537A-573F-4928-9A76-1F19383F4DCB}" type="slidenum">
              <a:rPr lang="zh-CN" altLang="en-US"/>
              <a:pPr>
                <a:defRPr/>
              </a:pPr>
              <a:t>‹#›</a:t>
            </a:fld>
            <a:endParaRPr lang="en-US" altLang="zh-CN"/>
          </a:p>
        </p:txBody>
      </p:sp>
    </p:spTree>
    <p:extLst>
      <p:ext uri="{BB962C8B-B14F-4D97-AF65-F5344CB8AC3E}">
        <p14:creationId xmlns:p14="http://schemas.microsoft.com/office/powerpoint/2010/main" val="2894645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04AB3C-4FB5-43C6-B26B-CD0A6C797083}"/>
              </a:ext>
            </a:extLst>
          </p:cNvPr>
          <p:cNvSpPr>
            <a:spLocks noGrp="1"/>
          </p:cNvSpPr>
          <p:nvPr>
            <p:ph/>
          </p:nvPr>
        </p:nvSpPr>
        <p:spPr>
          <a:xfrm>
            <a:off x="457200" y="274638"/>
            <a:ext cx="8229600" cy="5851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E5188715-F086-474F-A47D-04285FE3924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
            <a:extLst>
              <a:ext uri="{FF2B5EF4-FFF2-40B4-BE49-F238E27FC236}">
                <a16:creationId xmlns:a16="http://schemas.microsoft.com/office/drawing/2014/main" id="{450B7788-B5D1-4AC7-A26F-497831B0EC40}"/>
              </a:ext>
            </a:extLst>
          </p:cNvPr>
          <p:cNvSpPr>
            <a:spLocks noGrp="1" noChangeArrowheads="1"/>
          </p:cNvSpPr>
          <p:nvPr>
            <p:ph type="sldNum" sz="quarter" idx="11"/>
          </p:nvPr>
        </p:nvSpPr>
        <p:spPr>
          <a:ln/>
        </p:spPr>
        <p:txBody>
          <a:bodyPr/>
          <a:lstStyle>
            <a:lvl1pPr>
              <a:defRPr/>
            </a:lvl1pPr>
          </a:lstStyle>
          <a:p>
            <a:pPr>
              <a:defRPr/>
            </a:pPr>
            <a:fld id="{91A651CC-8B39-45DF-A333-2A7D248E5017}" type="slidenum">
              <a:rPr lang="en-US" altLang="zh-CN"/>
              <a:pPr>
                <a:defRPr/>
              </a:pPr>
              <a:t>‹#›</a:t>
            </a:fld>
            <a:endParaRPr lang="en-US" altLang="zh-CN"/>
          </a:p>
        </p:txBody>
      </p:sp>
      <p:sp>
        <p:nvSpPr>
          <p:cNvPr id="5" name="Rectangle 14">
            <a:extLst>
              <a:ext uri="{FF2B5EF4-FFF2-40B4-BE49-F238E27FC236}">
                <a16:creationId xmlns:a16="http://schemas.microsoft.com/office/drawing/2014/main" id="{8187ABC7-72AC-4A60-88C8-ED80A752D0DC}"/>
              </a:ext>
            </a:extLst>
          </p:cNvPr>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985597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134B0723-877F-4CEB-B3F0-9557CA8C7B76}"/>
              </a:ext>
            </a:extLst>
          </p:cNvPr>
          <p:cNvSpPr/>
          <p:nvPr/>
        </p:nvSpPr>
        <p:spPr>
          <a:xfrm>
            <a:off x="1014414"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13">
            <a:extLst>
              <a:ext uri="{FF2B5EF4-FFF2-40B4-BE49-F238E27FC236}">
                <a16:creationId xmlns:a16="http://schemas.microsoft.com/office/drawing/2014/main" id="{AC5154D5-11EE-423D-9CB9-FE44E555273A}"/>
              </a:ext>
            </a:extLst>
          </p:cNvPr>
          <p:cNvSpPr>
            <a:spLocks noChangeArrowheads="1"/>
          </p:cNvSpPr>
          <p:nvPr/>
        </p:nvSpPr>
        <p:spPr bwMode="invGray">
          <a:xfrm>
            <a:off x="1014414" y="0"/>
            <a:ext cx="73025"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sz="1350">
              <a:solidFill>
                <a:schemeClr val="lt1"/>
              </a:solidFill>
              <a:latin typeface="+mn-lt"/>
              <a:ea typeface="+mn-ea"/>
            </a:endParaRPr>
          </a:p>
        </p:txBody>
      </p:sp>
      <p:sp>
        <p:nvSpPr>
          <p:cNvPr id="4" name="Date Placeholder 1">
            <a:extLst>
              <a:ext uri="{FF2B5EF4-FFF2-40B4-BE49-F238E27FC236}">
                <a16:creationId xmlns:a16="http://schemas.microsoft.com/office/drawing/2014/main" id="{2EFB004E-FFA4-4999-88DD-E0F997AEEF07}"/>
              </a:ext>
            </a:extLst>
          </p:cNvPr>
          <p:cNvSpPr>
            <a:spLocks noGrp="1"/>
          </p:cNvSpPr>
          <p:nvPr>
            <p:ph type="dt" sz="half" idx="10"/>
          </p:nvPr>
        </p:nvSpPr>
        <p:spPr/>
        <p:txBody>
          <a:bodyPr/>
          <a:lstStyle>
            <a:lvl1pPr>
              <a:defRPr/>
            </a:lvl1pPr>
            <a:extLst/>
          </a:lstStyle>
          <a:p>
            <a:pPr>
              <a:defRPr/>
            </a:pPr>
            <a:endParaRPr lang="zh-CN" altLang="en-US"/>
          </a:p>
        </p:txBody>
      </p:sp>
      <p:sp>
        <p:nvSpPr>
          <p:cNvPr id="5" name="Footer Placeholder 2">
            <a:extLst>
              <a:ext uri="{FF2B5EF4-FFF2-40B4-BE49-F238E27FC236}">
                <a16:creationId xmlns:a16="http://schemas.microsoft.com/office/drawing/2014/main" id="{CD099190-8FB3-415D-AF42-45E5EC4DE690}"/>
              </a:ext>
            </a:extLst>
          </p:cNvPr>
          <p:cNvSpPr>
            <a:spLocks noGrp="1"/>
          </p:cNvSpPr>
          <p:nvPr>
            <p:ph type="ftr" sz="quarter" idx="11"/>
          </p:nvPr>
        </p:nvSpPr>
        <p:spPr/>
        <p:txBody>
          <a:bodyPr/>
          <a:lstStyle>
            <a:lvl1pPr>
              <a:defRPr/>
            </a:lvl1pPr>
          </a:lstStyle>
          <a:p>
            <a:endParaRPr lang="zh-CN" altLang="en-US"/>
          </a:p>
        </p:txBody>
      </p:sp>
      <p:sp>
        <p:nvSpPr>
          <p:cNvPr id="6" name="Slide Number Placeholder 3">
            <a:extLst>
              <a:ext uri="{FF2B5EF4-FFF2-40B4-BE49-F238E27FC236}">
                <a16:creationId xmlns:a16="http://schemas.microsoft.com/office/drawing/2014/main" id="{735DA594-928A-4B93-BFF1-D1D9981174CA}"/>
              </a:ext>
            </a:extLst>
          </p:cNvPr>
          <p:cNvSpPr>
            <a:spLocks noGrp="1"/>
          </p:cNvSpPr>
          <p:nvPr>
            <p:ph type="sldNum" sz="quarter" idx="12"/>
          </p:nvPr>
        </p:nvSpPr>
        <p:spPr/>
        <p:txBody>
          <a:bodyPr/>
          <a:lstStyle>
            <a:lvl1pPr>
              <a:defRPr/>
            </a:lvl1pPr>
          </a:lstStyle>
          <a:p>
            <a:pPr>
              <a:defRPr/>
            </a:pPr>
            <a:fld id="{6322C4C4-4215-4352-B597-B2750E65EFF0}" type="slidenum">
              <a:rPr lang="zh-CN" altLang="en-US"/>
              <a:pPr>
                <a:defRPr/>
              </a:pPr>
              <a:t>‹#›</a:t>
            </a:fld>
            <a:endParaRPr lang="en-US" altLang="zh-CN"/>
          </a:p>
        </p:txBody>
      </p:sp>
    </p:spTree>
    <p:extLst>
      <p:ext uri="{BB962C8B-B14F-4D97-AF65-F5344CB8AC3E}">
        <p14:creationId xmlns:p14="http://schemas.microsoft.com/office/powerpoint/2010/main" val="234456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68369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188000"/>
            <a:ext cx="82800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Tree>
    <p:extLst>
      <p:ext uri="{BB962C8B-B14F-4D97-AF65-F5344CB8AC3E}">
        <p14:creationId xmlns:p14="http://schemas.microsoft.com/office/powerpoint/2010/main" val="386813186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00" indent="-360000" algn="l" defTabSz="914400" rtl="0" eaLnBrk="1" latinLnBrk="0" hangingPunct="1">
        <a:lnSpc>
          <a:spcPct val="100000"/>
        </a:lnSpc>
        <a:spcBef>
          <a:spcPts val="1000"/>
        </a:spcBef>
        <a:buClr>
          <a:schemeClr val="accent4"/>
        </a:buClr>
        <a:buFontTx/>
        <a:buBlip>
          <a:blip r:embed="rId16"/>
        </a:buBlip>
        <a:defRPr sz="2800" kern="1200">
          <a:solidFill>
            <a:schemeClr val="tx1"/>
          </a:solidFill>
          <a:latin typeface="+mj-ea"/>
          <a:ea typeface="+mj-ea"/>
          <a:cs typeface="+mn-cs"/>
        </a:defRPr>
      </a:lvl1pPr>
      <a:lvl2pPr marL="685800" indent="-288000" algn="l" defTabSz="914400" rtl="0" eaLnBrk="1" latinLnBrk="0" hangingPunct="1">
        <a:lnSpc>
          <a:spcPct val="100000"/>
        </a:lnSpc>
        <a:spcBef>
          <a:spcPts val="500"/>
        </a:spcBef>
        <a:buClr>
          <a:schemeClr val="accent4"/>
        </a:buClr>
        <a:buFontTx/>
        <a:buBlip>
          <a:blip r:embed="rId16"/>
        </a:buBlip>
        <a:defRPr sz="2400" kern="1200">
          <a:solidFill>
            <a:schemeClr val="tx1"/>
          </a:solidFill>
          <a:latin typeface="+mn-lt"/>
          <a:ea typeface="+mn-ea"/>
          <a:cs typeface="+mn-cs"/>
        </a:defRPr>
      </a:lvl2pPr>
      <a:lvl3pPr marL="1143000" indent="-230400"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slideLayout" Target="../slideLayouts/slideLayout4.xml"/><Relationship Id="rId4" Type="http://schemas.openxmlformats.org/officeDocument/2006/relationships/tags" Target="../tags/tag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6DE7729-5D2F-46D3-930B-9C449DB6BBC3}"/>
              </a:ext>
            </a:extLst>
          </p:cNvPr>
          <p:cNvSpPr>
            <a:spLocks noGrp="1"/>
          </p:cNvSpPr>
          <p:nvPr>
            <p:ph type="ctrTitle"/>
          </p:nvPr>
        </p:nvSpPr>
        <p:spPr/>
        <p:txBody>
          <a:bodyPr/>
          <a:lstStyle/>
          <a:p>
            <a:r>
              <a:rPr lang="zh-CN" altLang="en-US" dirty="0"/>
              <a:t>第</a:t>
            </a:r>
            <a:r>
              <a:rPr lang="en-US" altLang="zh-CN" dirty="0"/>
              <a:t>12</a:t>
            </a:r>
            <a:r>
              <a:rPr lang="zh-CN" altLang="en-US" dirty="0"/>
              <a:t>讲 文件</a:t>
            </a:r>
            <a:endParaRPr lang="en-US" dirty="0"/>
          </a:p>
        </p:txBody>
      </p:sp>
    </p:spTree>
    <p:extLst>
      <p:ext uri="{BB962C8B-B14F-4D97-AF65-F5344CB8AC3E}">
        <p14:creationId xmlns:p14="http://schemas.microsoft.com/office/powerpoint/2010/main" val="3344944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D181EE67-4ED2-4F02-8E38-368B834D63A7}"/>
              </a:ext>
            </a:extLst>
          </p:cNvPr>
          <p:cNvSpPr>
            <a:spLocks noGrp="1" noRot="1" noChangeArrowheads="1"/>
          </p:cNvSpPr>
          <p:nvPr>
            <p:ph type="title"/>
          </p:nvPr>
        </p:nvSpPr>
        <p:spPr/>
        <p:txBody>
          <a:bodyPr/>
          <a:lstStyle/>
          <a:p>
            <a:pPr eaLnBrk="1" hangingPunct="1"/>
            <a:r>
              <a:rPr lang="zh-CN" altLang="en-US" dirty="0"/>
              <a:t>内容要点</a:t>
            </a:r>
          </a:p>
        </p:txBody>
      </p:sp>
      <p:sp>
        <p:nvSpPr>
          <p:cNvPr id="161795" name="Rectangle 3">
            <a:extLst>
              <a:ext uri="{FF2B5EF4-FFF2-40B4-BE49-F238E27FC236}">
                <a16:creationId xmlns:a16="http://schemas.microsoft.com/office/drawing/2014/main" id="{E2052CE0-DBF2-4A9E-948F-7AB3550BD430}"/>
              </a:ext>
            </a:extLst>
          </p:cNvPr>
          <p:cNvSpPr>
            <a:spLocks noGrp="1" noChangeArrowheads="1"/>
          </p:cNvSpPr>
          <p:nvPr>
            <p:ph idx="1"/>
          </p:nvPr>
        </p:nvSpPr>
        <p:spPr/>
        <p:txBody>
          <a:bodyPr/>
          <a:lstStyle/>
          <a:p>
            <a:r>
              <a:rPr lang="zh-CN" altLang="en-US" dirty="0"/>
              <a:t>文件</a:t>
            </a:r>
            <a:endParaRPr lang="en-US" altLang="zh-CN" dirty="0"/>
          </a:p>
          <a:p>
            <a:pPr lvl="1"/>
            <a:r>
              <a:rPr lang="zh-CN" altLang="en-US" dirty="0"/>
              <a:t>文件的概念</a:t>
            </a:r>
          </a:p>
          <a:p>
            <a:pPr lvl="1"/>
            <a:r>
              <a:rPr lang="zh-CN" altLang="en-US" dirty="0"/>
              <a:t>文件指针</a:t>
            </a:r>
          </a:p>
          <a:p>
            <a:pPr lvl="1"/>
            <a:r>
              <a:rPr lang="zh-CN" altLang="en-US" dirty="0"/>
              <a:t>文件的打开与关闭</a:t>
            </a:r>
          </a:p>
          <a:p>
            <a:pPr lvl="1"/>
            <a:r>
              <a:rPr lang="zh-CN" altLang="en-US" dirty="0"/>
              <a:t>文件的读写</a:t>
            </a:r>
          </a:p>
          <a:p>
            <a:pPr lvl="1"/>
            <a:r>
              <a:rPr lang="zh-CN" altLang="en-US" dirty="0"/>
              <a:t>文件的定位</a:t>
            </a:r>
          </a:p>
          <a:p>
            <a:r>
              <a:rPr lang="zh-CN" altLang="en-US" dirty="0"/>
              <a:t>工程</a:t>
            </a:r>
          </a:p>
        </p:txBody>
      </p:sp>
    </p:spTree>
    <p:extLst>
      <p:ext uri="{BB962C8B-B14F-4D97-AF65-F5344CB8AC3E}">
        <p14:creationId xmlns:p14="http://schemas.microsoft.com/office/powerpoint/2010/main" val="734310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8130" name="Rectangle 2"/>
          <p:cNvSpPr>
            <a:spLocks noGrp="1" noChangeArrowheads="1"/>
          </p:cNvSpPr>
          <p:nvPr>
            <p:ph type="title"/>
          </p:nvPr>
        </p:nvSpPr>
        <p:spPr/>
        <p:txBody>
          <a:bodyPr/>
          <a:lstStyle/>
          <a:p>
            <a:r>
              <a:rPr lang="zh-CN" altLang="en-US" dirty="0">
                <a:latin typeface="华文新魏" pitchFamily="2" charset="-122"/>
              </a:rPr>
              <a:t>文件的概念</a:t>
            </a:r>
          </a:p>
        </p:txBody>
      </p:sp>
      <p:sp>
        <p:nvSpPr>
          <p:cNvPr id="1328131" name="Rectangle 3"/>
          <p:cNvSpPr>
            <a:spLocks noGrp="1" noChangeArrowheads="1"/>
          </p:cNvSpPr>
          <p:nvPr>
            <p:ph idx="1"/>
          </p:nvPr>
        </p:nvSpPr>
        <p:spPr/>
        <p:txBody>
          <a:bodyPr/>
          <a:lstStyle/>
          <a:p>
            <a:r>
              <a:rPr lang="zh-CN" altLang="en-US" dirty="0"/>
              <a:t>文件</a:t>
            </a:r>
          </a:p>
          <a:p>
            <a:pPr lvl="1"/>
            <a:r>
              <a:rPr lang="zh-CN" altLang="en-US" dirty="0"/>
              <a:t>存储在外存储器上的数据集合。</a:t>
            </a:r>
          </a:p>
        </p:txBody>
      </p:sp>
      <p:grpSp>
        <p:nvGrpSpPr>
          <p:cNvPr id="1328133" name="Group 5"/>
          <p:cNvGrpSpPr>
            <a:grpSpLocks/>
          </p:cNvGrpSpPr>
          <p:nvPr/>
        </p:nvGrpSpPr>
        <p:grpSpPr bwMode="auto">
          <a:xfrm>
            <a:off x="2754313" y="4173538"/>
            <a:ext cx="1035050" cy="1212850"/>
            <a:chOff x="2051" y="2598"/>
            <a:chExt cx="652" cy="764"/>
          </a:xfrm>
        </p:grpSpPr>
        <p:sp>
          <p:nvSpPr>
            <p:cNvPr id="1328134" name="AutoShape 6"/>
            <p:cNvSpPr>
              <a:spLocks noChangeArrowheads="1"/>
            </p:cNvSpPr>
            <p:nvPr/>
          </p:nvSpPr>
          <p:spPr bwMode="auto">
            <a:xfrm>
              <a:off x="2051" y="2598"/>
              <a:ext cx="652" cy="764"/>
            </a:xfrm>
            <a:prstGeom prst="flowChartDocument">
              <a:avLst/>
            </a:prstGeom>
            <a:solidFill>
              <a:srgbClr val="CCFF99"/>
            </a:solidFill>
            <a:ln w="9525" algn="ctr">
              <a:solidFill>
                <a:srgbClr val="008000"/>
              </a:solidFill>
              <a:miter lim="800000"/>
              <a:headEnd/>
              <a:tailEnd/>
            </a:ln>
            <a:effectLst>
              <a:outerShdw dist="107763" dir="2700000" algn="ctr" rotWithShape="0">
                <a:schemeClr val="bg2">
                  <a:alpha val="50000"/>
                </a:schemeClr>
              </a:outerShdw>
            </a:effectLst>
          </p:spPr>
          <p:txBody>
            <a:bodyPr wrap="none" anchor="ctr"/>
            <a:lstStyle/>
            <a:p>
              <a:pPr algn="ctr"/>
              <a:endParaRPr lang="zh-CN" altLang="zh-CN" b="1">
                <a:solidFill>
                  <a:srgbClr val="008000"/>
                </a:solidFill>
                <a:latin typeface="Courier New" pitchFamily="49" charset="0"/>
              </a:endParaRPr>
            </a:p>
          </p:txBody>
        </p:sp>
        <p:sp>
          <p:nvSpPr>
            <p:cNvPr id="1328135" name="Line 7"/>
            <p:cNvSpPr>
              <a:spLocks noChangeShapeType="1"/>
            </p:cNvSpPr>
            <p:nvPr/>
          </p:nvSpPr>
          <p:spPr bwMode="auto">
            <a:xfrm>
              <a:off x="2063" y="2692"/>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6" name="Line 8"/>
            <p:cNvSpPr>
              <a:spLocks noChangeShapeType="1"/>
            </p:cNvSpPr>
            <p:nvPr/>
          </p:nvSpPr>
          <p:spPr bwMode="auto">
            <a:xfrm>
              <a:off x="2063" y="2776"/>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7" name="Line 9"/>
            <p:cNvSpPr>
              <a:spLocks noChangeShapeType="1"/>
            </p:cNvSpPr>
            <p:nvPr/>
          </p:nvSpPr>
          <p:spPr bwMode="auto">
            <a:xfrm>
              <a:off x="2063" y="2860"/>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8" name="Line 10"/>
            <p:cNvSpPr>
              <a:spLocks noChangeShapeType="1"/>
            </p:cNvSpPr>
            <p:nvPr/>
          </p:nvSpPr>
          <p:spPr bwMode="auto">
            <a:xfrm>
              <a:off x="2063" y="2944"/>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9" name="Line 11"/>
            <p:cNvSpPr>
              <a:spLocks noChangeShapeType="1"/>
            </p:cNvSpPr>
            <p:nvPr/>
          </p:nvSpPr>
          <p:spPr bwMode="auto">
            <a:xfrm>
              <a:off x="2063" y="3028"/>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40" name="Line 12"/>
            <p:cNvSpPr>
              <a:spLocks noChangeShapeType="1"/>
            </p:cNvSpPr>
            <p:nvPr/>
          </p:nvSpPr>
          <p:spPr bwMode="auto">
            <a:xfrm>
              <a:off x="2063" y="3113"/>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41" name="Line 13"/>
            <p:cNvSpPr>
              <a:spLocks noChangeShapeType="1"/>
            </p:cNvSpPr>
            <p:nvPr/>
          </p:nvSpPr>
          <p:spPr bwMode="auto">
            <a:xfrm>
              <a:off x="2067" y="3195"/>
              <a:ext cx="300" cy="0"/>
            </a:xfrm>
            <a:prstGeom prst="line">
              <a:avLst/>
            </a:prstGeom>
            <a:noFill/>
            <a:ln w="952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grpSp>
      <p:grpSp>
        <p:nvGrpSpPr>
          <p:cNvPr id="1328142" name="Group 14"/>
          <p:cNvGrpSpPr>
            <a:grpSpLocks/>
          </p:cNvGrpSpPr>
          <p:nvPr/>
        </p:nvGrpSpPr>
        <p:grpSpPr bwMode="auto">
          <a:xfrm>
            <a:off x="5451475" y="4424363"/>
            <a:ext cx="1287463" cy="514350"/>
            <a:chOff x="3438" y="2762"/>
            <a:chExt cx="811" cy="324"/>
          </a:xfrm>
        </p:grpSpPr>
        <p:sp>
          <p:nvSpPr>
            <p:cNvPr id="1328143" name="AutoShape 15"/>
            <p:cNvSpPr>
              <a:spLocks noChangeArrowheads="1"/>
            </p:cNvSpPr>
            <p:nvPr/>
          </p:nvSpPr>
          <p:spPr bwMode="auto">
            <a:xfrm>
              <a:off x="3438" y="2762"/>
              <a:ext cx="811" cy="324"/>
            </a:xfrm>
            <a:prstGeom prst="flowChartMagneticDisk">
              <a:avLst/>
            </a:prstGeom>
            <a:solidFill>
              <a:schemeClr val="accent1"/>
            </a:solidFill>
            <a:ln w="9525">
              <a:solidFill>
                <a:srgbClr val="3366FF"/>
              </a:solidFill>
              <a:round/>
              <a:headEnd/>
              <a:tailEnd/>
            </a:ln>
            <a:effectLst>
              <a:outerShdw dist="107763" dir="2700000" algn="ctr" rotWithShape="0">
                <a:schemeClr val="bg2">
                  <a:alpha val="50000"/>
                </a:schemeClr>
              </a:outerShdw>
            </a:effectLst>
          </p:spPr>
          <p:txBody>
            <a:bodyPr wrap="none" anchor="ctr"/>
            <a:lstStyle/>
            <a:p>
              <a:pPr algn="ctr"/>
              <a:endParaRPr lang="zh-CN" altLang="zh-CN" sz="1400" b="1">
                <a:solidFill>
                  <a:srgbClr val="3366FF"/>
                </a:solidFill>
                <a:latin typeface="Courier New" pitchFamily="49" charset="0"/>
              </a:endParaRPr>
            </a:p>
          </p:txBody>
        </p:sp>
        <p:sp>
          <p:nvSpPr>
            <p:cNvPr id="1328144" name="AutoShape 16"/>
            <p:cNvSpPr>
              <a:spLocks noChangeArrowheads="1"/>
            </p:cNvSpPr>
            <p:nvPr/>
          </p:nvSpPr>
          <p:spPr bwMode="auto">
            <a:xfrm>
              <a:off x="3587"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1328145" name="AutoShape 17"/>
            <p:cNvSpPr>
              <a:spLocks noChangeArrowheads="1"/>
            </p:cNvSpPr>
            <p:nvPr/>
          </p:nvSpPr>
          <p:spPr bwMode="auto">
            <a:xfrm>
              <a:off x="3732"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1328146" name="AutoShape 18"/>
            <p:cNvSpPr>
              <a:spLocks noChangeArrowheads="1"/>
            </p:cNvSpPr>
            <p:nvPr/>
          </p:nvSpPr>
          <p:spPr bwMode="auto">
            <a:xfrm>
              <a:off x="3878"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1328147" name="AutoShape 19"/>
            <p:cNvSpPr>
              <a:spLocks noChangeArrowheads="1"/>
            </p:cNvSpPr>
            <p:nvPr/>
          </p:nvSpPr>
          <p:spPr bwMode="auto">
            <a:xfrm>
              <a:off x="4024"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grpSp>
      <p:sp>
        <p:nvSpPr>
          <p:cNvPr id="1328148" name="Text Box 20"/>
          <p:cNvSpPr txBox="1">
            <a:spLocks noChangeArrowheads="1"/>
          </p:cNvSpPr>
          <p:nvPr/>
        </p:nvSpPr>
        <p:spPr bwMode="auto">
          <a:xfrm>
            <a:off x="2532063" y="5667375"/>
            <a:ext cx="1465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1600" b="1">
                <a:solidFill>
                  <a:srgbClr val="008000"/>
                </a:solidFill>
              </a:rPr>
              <a:t>内存</a:t>
            </a:r>
          </a:p>
        </p:txBody>
      </p:sp>
      <p:sp>
        <p:nvSpPr>
          <p:cNvPr id="1328149" name="Text Box 21"/>
          <p:cNvSpPr txBox="1">
            <a:spLocks noChangeArrowheads="1"/>
          </p:cNvSpPr>
          <p:nvPr/>
        </p:nvSpPr>
        <p:spPr bwMode="auto">
          <a:xfrm>
            <a:off x="5407025" y="5267325"/>
            <a:ext cx="14652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1600" b="1">
                <a:solidFill>
                  <a:srgbClr val="3366FF"/>
                </a:solidFill>
              </a:rPr>
              <a:t>硬盘</a:t>
            </a:r>
          </a:p>
        </p:txBody>
      </p:sp>
      <p:sp>
        <p:nvSpPr>
          <p:cNvPr id="1328150" name="AutoShape 22"/>
          <p:cNvSpPr>
            <a:spLocks noChangeArrowheads="1"/>
          </p:cNvSpPr>
          <p:nvPr/>
        </p:nvSpPr>
        <p:spPr bwMode="auto">
          <a:xfrm>
            <a:off x="4033838" y="4518025"/>
            <a:ext cx="1184275" cy="307975"/>
          </a:xfrm>
          <a:prstGeom prst="leftRightArrow">
            <a:avLst>
              <a:gd name="adj1" fmla="val 50000"/>
              <a:gd name="adj2" fmla="val 76907"/>
            </a:avLst>
          </a:prstGeom>
          <a:solidFill>
            <a:srgbClr val="FFCCFF"/>
          </a:solidFill>
          <a:ln w="9525" algn="ctr">
            <a:solidFill>
              <a:srgbClr val="FF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328151" name="Text Box 23"/>
          <p:cNvSpPr txBox="1">
            <a:spLocks noChangeArrowheads="1"/>
          </p:cNvSpPr>
          <p:nvPr/>
        </p:nvSpPr>
        <p:spPr bwMode="auto">
          <a:xfrm>
            <a:off x="3894138" y="4230688"/>
            <a:ext cx="1465262"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1400" b="1">
                <a:solidFill>
                  <a:srgbClr val="FF00FF"/>
                </a:solidFill>
              </a:rPr>
              <a:t>写</a:t>
            </a:r>
          </a:p>
          <a:p>
            <a:pPr algn="ctr">
              <a:spcBef>
                <a:spcPct val="50000"/>
              </a:spcBef>
            </a:pPr>
            <a:endParaRPr lang="zh-CN" altLang="en-US" sz="1400" b="1">
              <a:solidFill>
                <a:srgbClr val="FF00FF"/>
              </a:solidFill>
            </a:endParaRPr>
          </a:p>
          <a:p>
            <a:pPr algn="ctr">
              <a:spcBef>
                <a:spcPct val="50000"/>
              </a:spcBef>
            </a:pPr>
            <a:r>
              <a:rPr lang="zh-CN" altLang="en-US" sz="1400" b="1">
                <a:solidFill>
                  <a:srgbClr val="FF00FF"/>
                </a:solidFill>
              </a:rPr>
              <a:t>读</a:t>
            </a:r>
          </a:p>
        </p:txBody>
      </p:sp>
      <p:sp>
        <p:nvSpPr>
          <p:cNvPr id="1328152" name="AutoShape 24"/>
          <p:cNvSpPr>
            <a:spLocks noChangeArrowheads="1"/>
          </p:cNvSpPr>
          <p:nvPr/>
        </p:nvSpPr>
        <p:spPr bwMode="auto">
          <a:xfrm>
            <a:off x="971550" y="2924175"/>
            <a:ext cx="1944688" cy="865188"/>
          </a:xfrm>
          <a:prstGeom prst="wedgeRectCallout">
            <a:avLst>
              <a:gd name="adj1" fmla="val 29917"/>
              <a:gd name="adj2" fmla="val 69449"/>
            </a:avLst>
          </a:prstGeom>
          <a:gradFill rotWithShape="1">
            <a:gsLst>
              <a:gs pos="0">
                <a:srgbClr val="CCFFCC">
                  <a:gamma/>
                  <a:shade val="85882"/>
                  <a:invGamma/>
                </a:srgbClr>
              </a:gs>
              <a:gs pos="50000">
                <a:srgbClr val="CCFFCC"/>
              </a:gs>
              <a:gs pos="100000">
                <a:srgbClr val="CCFFCC">
                  <a:gamma/>
                  <a:shade val="85882"/>
                  <a:invGamma/>
                </a:srgbClr>
              </a:gs>
            </a:gsLst>
            <a:lin ang="2700000" scaled="1"/>
          </a:gradFill>
          <a:ln w="9525" algn="ctr">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spcBef>
                <a:spcPts val="825"/>
              </a:spcBef>
              <a:spcAft>
                <a:spcPts val="825"/>
              </a:spcAft>
            </a:pPr>
            <a:r>
              <a:rPr kumimoji="1" lang="zh-CN" altLang="en-US" sz="1600" b="1" dirty="0">
                <a:solidFill>
                  <a:srgbClr val="009900"/>
                </a:solidFill>
                <a:latin typeface="Times New Roman" pitchFamily="18" charset="0"/>
              </a:rPr>
              <a:t>保存在变量和数组中的数据是暂时的</a:t>
            </a:r>
          </a:p>
        </p:txBody>
      </p:sp>
      <p:sp>
        <p:nvSpPr>
          <p:cNvPr id="1328153" name="AutoShape 25"/>
          <p:cNvSpPr>
            <a:spLocks noChangeArrowheads="1"/>
          </p:cNvSpPr>
          <p:nvPr/>
        </p:nvSpPr>
        <p:spPr bwMode="auto">
          <a:xfrm>
            <a:off x="6083300" y="2924175"/>
            <a:ext cx="1944688" cy="865188"/>
          </a:xfrm>
          <a:prstGeom prst="wedgeRectCallout">
            <a:avLst>
              <a:gd name="adj1" fmla="val -29593"/>
              <a:gd name="adj2" fmla="val 70736"/>
            </a:avLst>
          </a:prstGeom>
          <a:gradFill rotWithShape="1">
            <a:gsLst>
              <a:gs pos="0">
                <a:srgbClr val="CCFFFF">
                  <a:gamma/>
                  <a:shade val="72941"/>
                  <a:invGamma/>
                </a:srgbClr>
              </a:gs>
              <a:gs pos="50000">
                <a:srgbClr val="CCFFFF"/>
              </a:gs>
              <a:gs pos="100000">
                <a:srgbClr val="CCFFFF">
                  <a:gamma/>
                  <a:shade val="72941"/>
                  <a:invGamma/>
                </a:srgbClr>
              </a:gs>
            </a:gsLst>
            <a:lin ang="2700000" scaled="1"/>
          </a:gra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spcBef>
                <a:spcPts val="825"/>
              </a:spcBef>
              <a:spcAft>
                <a:spcPts val="825"/>
              </a:spcAft>
            </a:pPr>
            <a:r>
              <a:rPr kumimoji="1" lang="zh-CN" altLang="en-US" sz="1600" b="1">
                <a:solidFill>
                  <a:srgbClr val="3333FF"/>
                </a:solidFill>
                <a:latin typeface="Times New Roman" pitchFamily="18" charset="0"/>
              </a:rPr>
              <a:t>大量的数据保存到文件实现永久存储</a:t>
            </a:r>
          </a:p>
        </p:txBody>
      </p:sp>
    </p:spTree>
    <p:extLst>
      <p:ext uri="{BB962C8B-B14F-4D97-AF65-F5344CB8AC3E}">
        <p14:creationId xmlns:p14="http://schemas.microsoft.com/office/powerpoint/2010/main" val="420264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178" name="Rectangle 2"/>
          <p:cNvSpPr>
            <a:spLocks noGrp="1" noChangeArrowheads="1"/>
          </p:cNvSpPr>
          <p:nvPr>
            <p:ph type="title"/>
          </p:nvPr>
        </p:nvSpPr>
        <p:spPr/>
        <p:txBody>
          <a:bodyPr/>
          <a:lstStyle/>
          <a:p>
            <a:r>
              <a:rPr lang="zh-CN" altLang="en-US" dirty="0">
                <a:latin typeface="华文新魏" pitchFamily="2" charset="-122"/>
              </a:rPr>
              <a:t>文件的概念</a:t>
            </a:r>
          </a:p>
        </p:txBody>
      </p:sp>
      <p:sp>
        <p:nvSpPr>
          <p:cNvPr id="1330179" name="Rectangle 3"/>
          <p:cNvSpPr>
            <a:spLocks noGrp="1" noChangeArrowheads="1"/>
          </p:cNvSpPr>
          <p:nvPr>
            <p:ph idx="1"/>
          </p:nvPr>
        </p:nvSpPr>
        <p:spPr>
          <a:xfrm>
            <a:off x="432000" y="1268412"/>
            <a:ext cx="8280000" cy="5031588"/>
          </a:xfrm>
        </p:spPr>
        <p:txBody>
          <a:bodyPr/>
          <a:lstStyle/>
          <a:p>
            <a:r>
              <a:rPr lang="zh-CN" altLang="en-US" sz="1800" dirty="0"/>
              <a:t>文件（</a:t>
            </a:r>
            <a:r>
              <a:rPr lang="en-US" altLang="zh-CN" sz="1800" dirty="0"/>
              <a:t>file</a:t>
            </a:r>
            <a:r>
              <a:rPr lang="zh-CN" altLang="en-US" sz="1800" dirty="0"/>
              <a:t>）一般指存储在外部介质上数据的集合。操作系统是以文件为单位对数据进行管理的。</a:t>
            </a:r>
            <a:endParaRPr lang="en-US" altLang="zh-CN" sz="1800" dirty="0"/>
          </a:p>
          <a:p>
            <a:r>
              <a:rPr lang="zh-CN" altLang="en-US" sz="1800" dirty="0"/>
              <a:t>数据的层次结构</a:t>
            </a:r>
          </a:p>
          <a:p>
            <a:pPr lvl="1"/>
            <a:endParaRPr lang="en-US" altLang="zh-CN" dirty="0"/>
          </a:p>
        </p:txBody>
      </p:sp>
      <p:sp>
        <p:nvSpPr>
          <p:cNvPr id="1330181" name="Rectangle 5"/>
          <p:cNvSpPr>
            <a:spLocks noChangeArrowheads="1"/>
          </p:cNvSpPr>
          <p:nvPr/>
        </p:nvSpPr>
        <p:spPr bwMode="auto">
          <a:xfrm>
            <a:off x="587375" y="6304347"/>
            <a:ext cx="7854950" cy="298450"/>
          </a:xfrm>
          <a:prstGeom prst="rect">
            <a:avLst/>
          </a:prstGeom>
          <a:solidFill>
            <a:schemeClr val="bg2"/>
          </a:solidFill>
          <a:ln w="9525"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dirty="0">
                <a:latin typeface="Courier New" pitchFamily="49" charset="0"/>
              </a:rPr>
              <a:t>001000111001001111010110011011100100100100111101101011101001011</a:t>
            </a:r>
          </a:p>
        </p:txBody>
      </p:sp>
      <p:grpSp>
        <p:nvGrpSpPr>
          <p:cNvPr id="1330182" name="Group 6"/>
          <p:cNvGrpSpPr>
            <a:grpSpLocks/>
          </p:cNvGrpSpPr>
          <p:nvPr/>
        </p:nvGrpSpPr>
        <p:grpSpPr bwMode="auto">
          <a:xfrm>
            <a:off x="2073275" y="3629410"/>
            <a:ext cx="3557588" cy="298450"/>
            <a:chOff x="477" y="2382"/>
            <a:chExt cx="2241" cy="188"/>
          </a:xfrm>
        </p:grpSpPr>
        <p:sp>
          <p:nvSpPr>
            <p:cNvPr id="1330183" name="Rectangle 7"/>
            <p:cNvSpPr>
              <a:spLocks noChangeArrowheads="1"/>
            </p:cNvSpPr>
            <p:nvPr/>
          </p:nvSpPr>
          <p:spPr bwMode="auto">
            <a:xfrm>
              <a:off x="477" y="2382"/>
              <a:ext cx="746"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WangHai</a:t>
              </a:r>
            </a:p>
          </p:txBody>
        </p:sp>
        <p:sp>
          <p:nvSpPr>
            <p:cNvPr id="1330184" name="Rectangle 8"/>
            <p:cNvSpPr>
              <a:spLocks noChangeArrowheads="1"/>
            </p:cNvSpPr>
            <p:nvPr/>
          </p:nvSpPr>
          <p:spPr bwMode="auto">
            <a:xfrm>
              <a:off x="1252" y="2382"/>
              <a:ext cx="270"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21</a:t>
              </a:r>
            </a:p>
          </p:txBody>
        </p:sp>
        <p:sp>
          <p:nvSpPr>
            <p:cNvPr id="1330185" name="Rectangle 9"/>
            <p:cNvSpPr>
              <a:spLocks noChangeArrowheads="1"/>
            </p:cNvSpPr>
            <p:nvPr/>
          </p:nvSpPr>
          <p:spPr bwMode="auto">
            <a:xfrm>
              <a:off x="1551" y="2382"/>
              <a:ext cx="164"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M</a:t>
              </a:r>
            </a:p>
          </p:txBody>
        </p:sp>
        <p:sp>
          <p:nvSpPr>
            <p:cNvPr id="1330186" name="Rectangle 10"/>
            <p:cNvSpPr>
              <a:spLocks noChangeArrowheads="1"/>
            </p:cNvSpPr>
            <p:nvPr/>
          </p:nvSpPr>
          <p:spPr bwMode="auto">
            <a:xfrm>
              <a:off x="1744" y="2382"/>
              <a:ext cx="305"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78</a:t>
              </a:r>
            </a:p>
          </p:txBody>
        </p:sp>
        <p:sp>
          <p:nvSpPr>
            <p:cNvPr id="1330187" name="Rectangle 11"/>
            <p:cNvSpPr>
              <a:spLocks noChangeArrowheads="1"/>
            </p:cNvSpPr>
            <p:nvPr/>
          </p:nvSpPr>
          <p:spPr bwMode="auto">
            <a:xfrm>
              <a:off x="2078" y="2382"/>
              <a:ext cx="305"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89</a:t>
              </a:r>
            </a:p>
          </p:txBody>
        </p:sp>
        <p:sp>
          <p:nvSpPr>
            <p:cNvPr id="1330188" name="Rectangle 12"/>
            <p:cNvSpPr>
              <a:spLocks noChangeArrowheads="1"/>
            </p:cNvSpPr>
            <p:nvPr/>
          </p:nvSpPr>
          <p:spPr bwMode="auto">
            <a:xfrm>
              <a:off x="2413" y="2382"/>
              <a:ext cx="305"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83</a:t>
              </a:r>
            </a:p>
          </p:txBody>
        </p:sp>
      </p:grpSp>
      <p:grpSp>
        <p:nvGrpSpPr>
          <p:cNvPr id="1330189" name="Group 13"/>
          <p:cNvGrpSpPr>
            <a:grpSpLocks/>
          </p:cNvGrpSpPr>
          <p:nvPr/>
        </p:nvGrpSpPr>
        <p:grpSpPr bwMode="auto">
          <a:xfrm>
            <a:off x="2073275" y="3983422"/>
            <a:ext cx="3557588" cy="298450"/>
            <a:chOff x="477" y="2382"/>
            <a:chExt cx="2241" cy="188"/>
          </a:xfrm>
        </p:grpSpPr>
        <p:sp>
          <p:nvSpPr>
            <p:cNvPr id="1330190" name="Rectangle 14"/>
            <p:cNvSpPr>
              <a:spLocks noChangeArrowheads="1"/>
            </p:cNvSpPr>
            <p:nvPr/>
          </p:nvSpPr>
          <p:spPr bwMode="auto">
            <a:xfrm>
              <a:off x="477" y="2382"/>
              <a:ext cx="746" cy="188"/>
            </a:xfrm>
            <a:prstGeom prst="rect">
              <a:avLst/>
            </a:prstGeom>
            <a:solidFill>
              <a:srgbClr val="CCFFFF"/>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LiFei</a:t>
              </a:r>
            </a:p>
          </p:txBody>
        </p:sp>
        <p:sp>
          <p:nvSpPr>
            <p:cNvPr id="1330191" name="Rectangle 15"/>
            <p:cNvSpPr>
              <a:spLocks noChangeArrowheads="1"/>
            </p:cNvSpPr>
            <p:nvPr/>
          </p:nvSpPr>
          <p:spPr bwMode="auto">
            <a:xfrm>
              <a:off x="1252" y="2382"/>
              <a:ext cx="270" cy="188"/>
            </a:xfrm>
            <a:prstGeom prst="rect">
              <a:avLst/>
            </a:prstGeom>
            <a:solidFill>
              <a:srgbClr val="CCFFFF"/>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21</a:t>
              </a:r>
            </a:p>
          </p:txBody>
        </p:sp>
        <p:sp>
          <p:nvSpPr>
            <p:cNvPr id="1330192" name="Rectangle 16"/>
            <p:cNvSpPr>
              <a:spLocks noChangeArrowheads="1"/>
            </p:cNvSpPr>
            <p:nvPr/>
          </p:nvSpPr>
          <p:spPr bwMode="auto">
            <a:xfrm>
              <a:off x="1551" y="2382"/>
              <a:ext cx="164" cy="188"/>
            </a:xfrm>
            <a:prstGeom prst="rect">
              <a:avLst/>
            </a:prstGeom>
            <a:solidFill>
              <a:srgbClr val="CCFFFF"/>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F</a:t>
              </a:r>
            </a:p>
          </p:txBody>
        </p:sp>
        <p:sp>
          <p:nvSpPr>
            <p:cNvPr id="1330193" name="Rectangle 17"/>
            <p:cNvSpPr>
              <a:spLocks noChangeArrowheads="1"/>
            </p:cNvSpPr>
            <p:nvPr/>
          </p:nvSpPr>
          <p:spPr bwMode="auto">
            <a:xfrm>
              <a:off x="1744" y="2382"/>
              <a:ext cx="305" cy="188"/>
            </a:xfrm>
            <a:prstGeom prst="rect">
              <a:avLst/>
            </a:prstGeom>
            <a:solidFill>
              <a:srgbClr val="CCFFFF"/>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76</a:t>
              </a:r>
            </a:p>
          </p:txBody>
        </p:sp>
        <p:sp>
          <p:nvSpPr>
            <p:cNvPr id="1330194" name="Rectangle 18"/>
            <p:cNvSpPr>
              <a:spLocks noChangeArrowheads="1"/>
            </p:cNvSpPr>
            <p:nvPr/>
          </p:nvSpPr>
          <p:spPr bwMode="auto">
            <a:xfrm>
              <a:off x="2078" y="2382"/>
              <a:ext cx="305" cy="188"/>
            </a:xfrm>
            <a:prstGeom prst="rect">
              <a:avLst/>
            </a:prstGeom>
            <a:solidFill>
              <a:srgbClr val="CCFFFF"/>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88</a:t>
              </a:r>
            </a:p>
          </p:txBody>
        </p:sp>
        <p:sp>
          <p:nvSpPr>
            <p:cNvPr id="1330195" name="Rectangle 19"/>
            <p:cNvSpPr>
              <a:spLocks noChangeArrowheads="1"/>
            </p:cNvSpPr>
            <p:nvPr/>
          </p:nvSpPr>
          <p:spPr bwMode="auto">
            <a:xfrm>
              <a:off x="2413" y="2382"/>
              <a:ext cx="305" cy="188"/>
            </a:xfrm>
            <a:prstGeom prst="rect">
              <a:avLst/>
            </a:prstGeom>
            <a:solidFill>
              <a:srgbClr val="CCFFFF"/>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85</a:t>
              </a:r>
            </a:p>
          </p:txBody>
        </p:sp>
      </p:grpSp>
      <p:grpSp>
        <p:nvGrpSpPr>
          <p:cNvPr id="1330196" name="Group 20"/>
          <p:cNvGrpSpPr>
            <a:grpSpLocks/>
          </p:cNvGrpSpPr>
          <p:nvPr/>
        </p:nvGrpSpPr>
        <p:grpSpPr bwMode="auto">
          <a:xfrm>
            <a:off x="2073275" y="4339022"/>
            <a:ext cx="3557588" cy="298450"/>
            <a:chOff x="477" y="2382"/>
            <a:chExt cx="2241" cy="188"/>
          </a:xfrm>
        </p:grpSpPr>
        <p:sp>
          <p:nvSpPr>
            <p:cNvPr id="1330197" name="Rectangle 21"/>
            <p:cNvSpPr>
              <a:spLocks noChangeArrowheads="1"/>
            </p:cNvSpPr>
            <p:nvPr/>
          </p:nvSpPr>
          <p:spPr bwMode="auto">
            <a:xfrm>
              <a:off x="477" y="2382"/>
              <a:ext cx="746"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ZhaoXin</a:t>
              </a:r>
            </a:p>
          </p:txBody>
        </p:sp>
        <p:sp>
          <p:nvSpPr>
            <p:cNvPr id="1330198" name="Rectangle 22"/>
            <p:cNvSpPr>
              <a:spLocks noChangeArrowheads="1"/>
            </p:cNvSpPr>
            <p:nvPr/>
          </p:nvSpPr>
          <p:spPr bwMode="auto">
            <a:xfrm>
              <a:off x="1252" y="2382"/>
              <a:ext cx="270"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21</a:t>
              </a:r>
            </a:p>
          </p:txBody>
        </p:sp>
        <p:sp>
          <p:nvSpPr>
            <p:cNvPr id="1330199" name="Rectangle 23"/>
            <p:cNvSpPr>
              <a:spLocks noChangeArrowheads="1"/>
            </p:cNvSpPr>
            <p:nvPr/>
          </p:nvSpPr>
          <p:spPr bwMode="auto">
            <a:xfrm>
              <a:off x="1551" y="2382"/>
              <a:ext cx="164" cy="188"/>
            </a:xfrm>
            <a:prstGeom prst="rect">
              <a:avLst/>
            </a:prstGeom>
            <a:solidFill>
              <a:srgbClr val="FFCCFF"/>
            </a:solidFill>
            <a:ln w="9525" algn="ctr">
              <a:solidFill>
                <a:srgbClr val="FF00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FF00FF"/>
                  </a:solidFill>
                  <a:latin typeface="Courier New" pitchFamily="49" charset="0"/>
                </a:rPr>
                <a:t>M</a:t>
              </a:r>
            </a:p>
          </p:txBody>
        </p:sp>
        <p:sp>
          <p:nvSpPr>
            <p:cNvPr id="1330200" name="Rectangle 24"/>
            <p:cNvSpPr>
              <a:spLocks noChangeArrowheads="1"/>
            </p:cNvSpPr>
            <p:nvPr/>
          </p:nvSpPr>
          <p:spPr bwMode="auto">
            <a:xfrm>
              <a:off x="1744" y="2382"/>
              <a:ext cx="305"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81</a:t>
              </a:r>
            </a:p>
          </p:txBody>
        </p:sp>
        <p:sp>
          <p:nvSpPr>
            <p:cNvPr id="1330201" name="Rectangle 25"/>
            <p:cNvSpPr>
              <a:spLocks noChangeArrowheads="1"/>
            </p:cNvSpPr>
            <p:nvPr/>
          </p:nvSpPr>
          <p:spPr bwMode="auto">
            <a:xfrm>
              <a:off x="2078" y="2382"/>
              <a:ext cx="305"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86</a:t>
              </a:r>
            </a:p>
          </p:txBody>
        </p:sp>
        <p:sp>
          <p:nvSpPr>
            <p:cNvPr id="1330202" name="Rectangle 26"/>
            <p:cNvSpPr>
              <a:spLocks noChangeArrowheads="1"/>
            </p:cNvSpPr>
            <p:nvPr/>
          </p:nvSpPr>
          <p:spPr bwMode="auto">
            <a:xfrm>
              <a:off x="2413" y="2382"/>
              <a:ext cx="305" cy="188"/>
            </a:xfrm>
            <a:prstGeom prst="rect">
              <a:avLst/>
            </a:prstGeom>
            <a:solidFill>
              <a:srgbClr val="D6ECEE"/>
            </a:solidFill>
            <a:ln w="9525" algn="ctr">
              <a:solidFill>
                <a:srgbClr val="3366FF"/>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itchFamily="49" charset="0"/>
                </a:rPr>
                <a:t>79</a:t>
              </a:r>
            </a:p>
          </p:txBody>
        </p:sp>
      </p:grpSp>
      <p:sp>
        <p:nvSpPr>
          <p:cNvPr id="1330203" name="Rectangle 27"/>
          <p:cNvSpPr>
            <a:spLocks noChangeArrowheads="1"/>
          </p:cNvSpPr>
          <p:nvPr/>
        </p:nvSpPr>
        <p:spPr bwMode="auto">
          <a:xfrm>
            <a:off x="3368675" y="4989897"/>
            <a:ext cx="1100138" cy="298450"/>
          </a:xfrm>
          <a:prstGeom prst="rect">
            <a:avLst/>
          </a:prstGeom>
          <a:solidFill>
            <a:srgbClr val="CCFF99"/>
          </a:solidFill>
          <a:ln w="9525" algn="ctr">
            <a:solidFill>
              <a:srgbClr val="008000"/>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008000"/>
                </a:solidFill>
                <a:latin typeface="Courier New" pitchFamily="49" charset="0"/>
              </a:rPr>
              <a:t>010</a:t>
            </a:r>
            <a:r>
              <a:rPr lang="en-US" altLang="zh-CN" sz="1600" b="1">
                <a:latin typeface="Courier New" pitchFamily="49" charset="0"/>
              </a:rPr>
              <a:t>1</a:t>
            </a:r>
            <a:r>
              <a:rPr lang="en-US" altLang="zh-CN" sz="1600" b="1">
                <a:solidFill>
                  <a:srgbClr val="008000"/>
                </a:solidFill>
                <a:latin typeface="Courier New" pitchFamily="49" charset="0"/>
              </a:rPr>
              <a:t>1100</a:t>
            </a:r>
          </a:p>
        </p:txBody>
      </p:sp>
      <p:sp>
        <p:nvSpPr>
          <p:cNvPr id="1330204" name="Rectangle 28"/>
          <p:cNvSpPr>
            <a:spLocks noChangeArrowheads="1"/>
          </p:cNvSpPr>
          <p:nvPr/>
        </p:nvSpPr>
        <p:spPr bwMode="auto">
          <a:xfrm>
            <a:off x="3789363" y="5661410"/>
            <a:ext cx="241300" cy="298450"/>
          </a:xfrm>
          <a:prstGeom prst="rect">
            <a:avLst/>
          </a:prstGeom>
          <a:solidFill>
            <a:schemeClr val="hlink"/>
          </a:solidFill>
          <a:ln w="9525" algn="ctr">
            <a:solidFill>
              <a:schemeClr val="accent2"/>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chemeClr val="accent2"/>
                </a:solidFill>
                <a:latin typeface="Courier New" pitchFamily="49" charset="0"/>
              </a:rPr>
              <a:t>1</a:t>
            </a:r>
          </a:p>
        </p:txBody>
      </p:sp>
      <p:sp>
        <p:nvSpPr>
          <p:cNvPr id="1330205" name="AutoShape 29"/>
          <p:cNvSpPr>
            <a:spLocks noChangeArrowheads="1"/>
          </p:cNvSpPr>
          <p:nvPr/>
        </p:nvSpPr>
        <p:spPr bwMode="auto">
          <a:xfrm>
            <a:off x="3575050" y="2359410"/>
            <a:ext cx="709613" cy="847725"/>
          </a:xfrm>
          <a:prstGeom prst="foldedCorner">
            <a:avLst>
              <a:gd name="adj" fmla="val 12500"/>
            </a:avLst>
          </a:prstGeom>
          <a:solidFill>
            <a:schemeClr val="bg1"/>
          </a:solidFill>
          <a:ln w="9525">
            <a:solidFill>
              <a:schemeClr val="bg2"/>
            </a:solidFill>
            <a:round/>
            <a:headEnd/>
            <a:tailEnd/>
          </a:ln>
          <a:effectLst>
            <a:outerShdw dist="107763" dir="2700000" algn="ctr" rotWithShape="0">
              <a:schemeClr val="bg2">
                <a:alpha val="50000"/>
              </a:schemeClr>
            </a:outerShdw>
          </a:effectLst>
        </p:spPr>
        <p:txBody>
          <a:bodyPr wrap="none" anchor="ctr"/>
          <a:lstStyle/>
          <a:p>
            <a:r>
              <a:rPr lang="en-US" altLang="zh-CN" b="1" dirty="0">
                <a:latin typeface="Courier New" pitchFamily="49" charset="0"/>
              </a:rPr>
              <a:t>…………</a:t>
            </a:r>
          </a:p>
          <a:p>
            <a:r>
              <a:rPr lang="en-US" altLang="zh-CN" b="1" dirty="0">
                <a:latin typeface="Courier New" pitchFamily="49" charset="0"/>
              </a:rPr>
              <a:t>…………</a:t>
            </a:r>
          </a:p>
          <a:p>
            <a:r>
              <a:rPr lang="en-US" altLang="zh-CN" b="1" dirty="0">
                <a:latin typeface="Courier New" pitchFamily="49" charset="0"/>
              </a:rPr>
              <a:t>……</a:t>
            </a:r>
          </a:p>
        </p:txBody>
      </p:sp>
      <p:sp>
        <p:nvSpPr>
          <p:cNvPr id="1330206" name="AutoShape 30"/>
          <p:cNvSpPr>
            <a:spLocks noChangeArrowheads="1"/>
          </p:cNvSpPr>
          <p:nvPr/>
        </p:nvSpPr>
        <p:spPr bwMode="auto">
          <a:xfrm>
            <a:off x="3789363" y="3350010"/>
            <a:ext cx="225425" cy="215900"/>
          </a:xfrm>
          <a:prstGeom prst="downArrow">
            <a:avLst>
              <a:gd name="adj1" fmla="val 50000"/>
              <a:gd name="adj2" fmla="val 25000"/>
            </a:avLst>
          </a:prstGeom>
          <a:solidFill>
            <a:srgbClr val="D6ECEE"/>
          </a:solidFill>
          <a:ln w="9525" algn="ctr">
            <a:solidFill>
              <a:schemeClr val="hlink"/>
            </a:solidFill>
            <a:miter lim="800000"/>
            <a:headEnd/>
            <a:tailEnd/>
          </a:ln>
          <a:effectLst>
            <a:prstShdw prst="shdw18" dist="17961" dir="13500000">
              <a:schemeClr val="hlink">
                <a:gamma/>
                <a:shade val="60000"/>
                <a:invGamma/>
              </a:schemeClr>
            </a:prstShdw>
          </a:effectLst>
        </p:spPr>
        <p:txBody>
          <a:bodyPr wrap="none" anchor="ctr"/>
          <a:lstStyle/>
          <a:p>
            <a:endParaRPr lang="zh-CN" altLang="en-US"/>
          </a:p>
        </p:txBody>
      </p:sp>
      <p:sp>
        <p:nvSpPr>
          <p:cNvPr id="1330207" name="AutoShape 31"/>
          <p:cNvSpPr>
            <a:spLocks noChangeArrowheads="1"/>
          </p:cNvSpPr>
          <p:nvPr/>
        </p:nvSpPr>
        <p:spPr bwMode="auto">
          <a:xfrm>
            <a:off x="3797300" y="4696210"/>
            <a:ext cx="225425" cy="215900"/>
          </a:xfrm>
          <a:prstGeom prst="downArrow">
            <a:avLst>
              <a:gd name="adj1" fmla="val 50000"/>
              <a:gd name="adj2" fmla="val 25000"/>
            </a:avLst>
          </a:prstGeom>
          <a:solidFill>
            <a:srgbClr val="D6ECEE"/>
          </a:solidFill>
          <a:ln w="9525" algn="ctr">
            <a:solidFill>
              <a:schemeClr val="hlink"/>
            </a:solidFill>
            <a:miter lim="800000"/>
            <a:headEnd/>
            <a:tailEnd/>
          </a:ln>
          <a:effectLst>
            <a:prstShdw prst="shdw18" dist="17961" dir="13500000">
              <a:schemeClr val="hlink">
                <a:gamma/>
                <a:shade val="60000"/>
                <a:invGamma/>
              </a:schemeClr>
            </a:prstShdw>
          </a:effectLst>
        </p:spPr>
        <p:txBody>
          <a:bodyPr wrap="none" anchor="ctr"/>
          <a:lstStyle/>
          <a:p>
            <a:endParaRPr lang="zh-CN" altLang="en-US"/>
          </a:p>
        </p:txBody>
      </p:sp>
      <p:sp>
        <p:nvSpPr>
          <p:cNvPr id="1330208" name="AutoShape 32"/>
          <p:cNvSpPr>
            <a:spLocks noChangeArrowheads="1"/>
          </p:cNvSpPr>
          <p:nvPr/>
        </p:nvSpPr>
        <p:spPr bwMode="auto">
          <a:xfrm>
            <a:off x="3787775" y="5356610"/>
            <a:ext cx="225425" cy="215900"/>
          </a:xfrm>
          <a:prstGeom prst="downArrow">
            <a:avLst>
              <a:gd name="adj1" fmla="val 50000"/>
              <a:gd name="adj2" fmla="val 25000"/>
            </a:avLst>
          </a:prstGeom>
          <a:solidFill>
            <a:srgbClr val="D6ECEE"/>
          </a:solidFill>
          <a:ln w="9525" algn="ctr">
            <a:solidFill>
              <a:schemeClr val="hlink"/>
            </a:solidFill>
            <a:miter lim="800000"/>
            <a:headEnd/>
            <a:tailEnd/>
          </a:ln>
          <a:effectLst>
            <a:prstShdw prst="shdw18" dist="17961" dir="13500000">
              <a:schemeClr val="hlink">
                <a:gamma/>
                <a:shade val="60000"/>
                <a:invGamma/>
              </a:schemeClr>
            </a:prstShdw>
          </a:effectLst>
        </p:spPr>
        <p:txBody>
          <a:bodyPr wrap="none" anchor="ctr"/>
          <a:lstStyle/>
          <a:p>
            <a:endParaRPr lang="zh-CN" altLang="en-US"/>
          </a:p>
        </p:txBody>
      </p:sp>
      <p:sp>
        <p:nvSpPr>
          <p:cNvPr id="1330209" name="AutoShape 33"/>
          <p:cNvSpPr>
            <a:spLocks noChangeArrowheads="1"/>
          </p:cNvSpPr>
          <p:nvPr/>
        </p:nvSpPr>
        <p:spPr bwMode="auto">
          <a:xfrm>
            <a:off x="3795713" y="6024947"/>
            <a:ext cx="225425" cy="215900"/>
          </a:xfrm>
          <a:prstGeom prst="downArrow">
            <a:avLst>
              <a:gd name="adj1" fmla="val 50000"/>
              <a:gd name="adj2" fmla="val 25000"/>
            </a:avLst>
          </a:prstGeom>
          <a:solidFill>
            <a:srgbClr val="D6ECEE"/>
          </a:solidFill>
          <a:ln w="9525" algn="ctr">
            <a:solidFill>
              <a:schemeClr val="hlink"/>
            </a:solidFill>
            <a:miter lim="800000"/>
            <a:headEnd/>
            <a:tailEnd/>
          </a:ln>
          <a:effectLst>
            <a:prstShdw prst="shdw18" dist="17961" dir="13500000">
              <a:schemeClr val="hlink">
                <a:gamma/>
                <a:shade val="60000"/>
                <a:invGamma/>
              </a:schemeClr>
            </a:prstShdw>
          </a:effectLst>
        </p:spPr>
        <p:txBody>
          <a:bodyPr wrap="none" anchor="ctr"/>
          <a:lstStyle/>
          <a:p>
            <a:endParaRPr lang="zh-CN" altLang="en-US"/>
          </a:p>
        </p:txBody>
      </p:sp>
      <p:sp>
        <p:nvSpPr>
          <p:cNvPr id="1330210" name="AutoShape 34"/>
          <p:cNvSpPr>
            <a:spLocks/>
          </p:cNvSpPr>
          <p:nvPr/>
        </p:nvSpPr>
        <p:spPr bwMode="auto">
          <a:xfrm>
            <a:off x="6621463" y="2575310"/>
            <a:ext cx="914400" cy="361950"/>
          </a:xfrm>
          <a:prstGeom prst="borderCallout1">
            <a:avLst>
              <a:gd name="adj1" fmla="val 31579"/>
              <a:gd name="adj2" fmla="val -8333"/>
              <a:gd name="adj3" fmla="val 86403"/>
              <a:gd name="adj4" fmla="val -203125"/>
            </a:avLst>
          </a:prstGeom>
          <a:solidFill>
            <a:schemeClr val="bg1"/>
          </a:solidFill>
          <a:ln w="9525" algn="ctr">
            <a:solidFill>
              <a:schemeClr val="tx1"/>
            </a:solidFill>
            <a:miter lim="800000"/>
            <a:headEnd/>
            <a:tailEnd/>
          </a:ln>
          <a:effectLst>
            <a:outerShdw dist="107763" dir="2700000" algn="ctr" rotWithShape="0">
              <a:schemeClr val="bg2">
                <a:alpha val="50000"/>
              </a:schemeClr>
            </a:outerShdw>
          </a:effectLst>
        </p:spPr>
        <p:txBody>
          <a:bodyPr anchor="ctr"/>
          <a:lstStyle/>
          <a:p>
            <a:pPr algn="ctr"/>
            <a:r>
              <a:rPr lang="zh-CN" altLang="en-US" sz="1600" b="1">
                <a:latin typeface="Courier New" pitchFamily="49" charset="0"/>
              </a:rPr>
              <a:t>文件</a:t>
            </a:r>
          </a:p>
        </p:txBody>
      </p:sp>
      <p:sp>
        <p:nvSpPr>
          <p:cNvPr id="1330211" name="AutoShape 35"/>
          <p:cNvSpPr>
            <a:spLocks/>
          </p:cNvSpPr>
          <p:nvPr/>
        </p:nvSpPr>
        <p:spPr bwMode="auto">
          <a:xfrm>
            <a:off x="6621463" y="4335847"/>
            <a:ext cx="914400" cy="361950"/>
          </a:xfrm>
          <a:prstGeom prst="borderCallout1">
            <a:avLst>
              <a:gd name="adj1" fmla="val 31579"/>
              <a:gd name="adj2" fmla="val -8333"/>
              <a:gd name="adj3" fmla="val 78509"/>
              <a:gd name="adj4" fmla="val -282639"/>
            </a:avLst>
          </a:prstGeom>
          <a:solidFill>
            <a:schemeClr val="bg1"/>
          </a:solidFill>
          <a:ln w="9525" algn="ctr">
            <a:solidFill>
              <a:srgbClr val="FF00FF"/>
            </a:solidFill>
            <a:miter lim="800000"/>
            <a:headEnd/>
            <a:tailEnd/>
          </a:ln>
          <a:effectLst>
            <a:outerShdw dist="107763" dir="2700000" algn="ctr" rotWithShape="0">
              <a:schemeClr val="bg2">
                <a:alpha val="50000"/>
              </a:schemeClr>
            </a:outerShdw>
          </a:effectLst>
        </p:spPr>
        <p:txBody>
          <a:bodyPr anchor="ctr"/>
          <a:lstStyle/>
          <a:p>
            <a:pPr algn="ctr"/>
            <a:r>
              <a:rPr lang="zh-CN" altLang="en-US" sz="1600" b="1">
                <a:solidFill>
                  <a:srgbClr val="FF00FF"/>
                </a:solidFill>
                <a:latin typeface="Courier New" pitchFamily="49" charset="0"/>
              </a:rPr>
              <a:t>字段</a:t>
            </a:r>
          </a:p>
        </p:txBody>
      </p:sp>
      <p:sp>
        <p:nvSpPr>
          <p:cNvPr id="1330212" name="AutoShape 36"/>
          <p:cNvSpPr>
            <a:spLocks/>
          </p:cNvSpPr>
          <p:nvPr/>
        </p:nvSpPr>
        <p:spPr bwMode="auto">
          <a:xfrm>
            <a:off x="6621463" y="4986722"/>
            <a:ext cx="914400" cy="361950"/>
          </a:xfrm>
          <a:prstGeom prst="borderCallout1">
            <a:avLst>
              <a:gd name="adj1" fmla="val 31579"/>
              <a:gd name="adj2" fmla="val -8333"/>
              <a:gd name="adj3" fmla="val 70616"/>
              <a:gd name="adj4" fmla="val -208333"/>
            </a:avLst>
          </a:prstGeom>
          <a:solidFill>
            <a:schemeClr val="bg1"/>
          </a:solidFill>
          <a:ln w="9525" algn="ctr">
            <a:solidFill>
              <a:srgbClr val="008000"/>
            </a:solidFill>
            <a:miter lim="800000"/>
            <a:headEnd/>
            <a:tailEnd/>
          </a:ln>
          <a:effectLst>
            <a:outerShdw dist="107763" dir="2700000" algn="ctr" rotWithShape="0">
              <a:schemeClr val="bg2">
                <a:alpha val="50000"/>
              </a:schemeClr>
            </a:outerShdw>
          </a:effectLst>
        </p:spPr>
        <p:txBody>
          <a:bodyPr anchor="ctr"/>
          <a:lstStyle/>
          <a:p>
            <a:pPr algn="ctr"/>
            <a:r>
              <a:rPr lang="zh-CN" altLang="en-US" sz="1600" b="1">
                <a:solidFill>
                  <a:srgbClr val="008000"/>
                </a:solidFill>
                <a:latin typeface="Courier New" pitchFamily="49" charset="0"/>
              </a:rPr>
              <a:t>字节</a:t>
            </a:r>
          </a:p>
        </p:txBody>
      </p:sp>
      <p:sp>
        <p:nvSpPr>
          <p:cNvPr id="1330213" name="AutoShape 37"/>
          <p:cNvSpPr>
            <a:spLocks/>
          </p:cNvSpPr>
          <p:nvPr/>
        </p:nvSpPr>
        <p:spPr bwMode="auto">
          <a:xfrm>
            <a:off x="6621463" y="5636010"/>
            <a:ext cx="914400" cy="361950"/>
          </a:xfrm>
          <a:prstGeom prst="borderCallout1">
            <a:avLst>
              <a:gd name="adj1" fmla="val 31579"/>
              <a:gd name="adj2" fmla="val -8333"/>
              <a:gd name="adj3" fmla="val 71051"/>
              <a:gd name="adj4" fmla="val -250694"/>
            </a:avLst>
          </a:prstGeom>
          <a:solidFill>
            <a:schemeClr val="bg1"/>
          </a:solidFill>
          <a:ln w="9525" algn="ctr">
            <a:solidFill>
              <a:srgbClr val="9933FF"/>
            </a:solidFill>
            <a:miter lim="800000"/>
            <a:headEnd/>
            <a:tailEnd/>
          </a:ln>
          <a:effectLst>
            <a:outerShdw dist="107763" dir="2700000" algn="ctr" rotWithShape="0">
              <a:schemeClr val="bg2">
                <a:alpha val="50000"/>
              </a:schemeClr>
            </a:outerShdw>
          </a:effectLst>
        </p:spPr>
        <p:txBody>
          <a:bodyPr anchor="ctr"/>
          <a:lstStyle/>
          <a:p>
            <a:pPr algn="ctr"/>
            <a:r>
              <a:rPr lang="zh-CN" altLang="en-US" sz="1600" b="1">
                <a:solidFill>
                  <a:srgbClr val="9933FF"/>
                </a:solidFill>
                <a:latin typeface="Courier New" pitchFamily="49" charset="0"/>
              </a:rPr>
              <a:t>位</a:t>
            </a:r>
          </a:p>
        </p:txBody>
      </p:sp>
      <p:sp>
        <p:nvSpPr>
          <p:cNvPr id="1330214" name="AutoShape 38"/>
          <p:cNvSpPr>
            <a:spLocks/>
          </p:cNvSpPr>
          <p:nvPr/>
        </p:nvSpPr>
        <p:spPr bwMode="auto">
          <a:xfrm>
            <a:off x="6621463" y="3526222"/>
            <a:ext cx="914400" cy="361950"/>
          </a:xfrm>
          <a:prstGeom prst="borderCallout1">
            <a:avLst>
              <a:gd name="adj1" fmla="val 31579"/>
              <a:gd name="adj2" fmla="val -8333"/>
              <a:gd name="adj3" fmla="val 60088"/>
              <a:gd name="adj4" fmla="val -105208"/>
            </a:avLst>
          </a:prstGeom>
          <a:solidFill>
            <a:schemeClr val="bg1"/>
          </a:solidFill>
          <a:ln w="9525" algn="ctr">
            <a:solidFill>
              <a:srgbClr val="3366FF"/>
            </a:solidFill>
            <a:miter lim="800000"/>
            <a:headEnd/>
            <a:tailEnd/>
          </a:ln>
          <a:effectLst>
            <a:outerShdw dist="107763" dir="2700000" algn="ctr" rotWithShape="0">
              <a:schemeClr val="bg2">
                <a:alpha val="50000"/>
              </a:schemeClr>
            </a:outerShdw>
          </a:effectLst>
        </p:spPr>
        <p:txBody>
          <a:bodyPr anchor="ctr"/>
          <a:lstStyle/>
          <a:p>
            <a:pPr algn="ctr"/>
            <a:r>
              <a:rPr lang="zh-CN" altLang="en-US" sz="1600" b="1">
                <a:solidFill>
                  <a:srgbClr val="3366FF"/>
                </a:solidFill>
                <a:latin typeface="Courier New" pitchFamily="49" charset="0"/>
              </a:rPr>
              <a:t>记录</a:t>
            </a:r>
          </a:p>
        </p:txBody>
      </p:sp>
    </p:spTree>
    <p:extLst>
      <p:ext uri="{BB962C8B-B14F-4D97-AF65-F5344CB8AC3E}">
        <p14:creationId xmlns:p14="http://schemas.microsoft.com/office/powerpoint/2010/main" val="1923361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367998"/>
            <a:ext cx="7886700" cy="5301361"/>
          </a:xfrm>
        </p:spPr>
        <p:txBody>
          <a:bodyPr>
            <a:normAutofit/>
          </a:bodyPr>
          <a:lstStyle/>
          <a:p>
            <a:r>
              <a:rPr lang="zh-CN" altLang="en-US" sz="2000" dirty="0"/>
              <a:t>输入输出是数据传送过程，数据如流水一样从一处流向另一处，因此常将输入输出形象地称为流</a:t>
            </a:r>
            <a:r>
              <a:rPr lang="en-US" altLang="zh-CN" sz="2000" dirty="0"/>
              <a:t>(stream)</a:t>
            </a:r>
            <a:r>
              <a:rPr lang="zh-CN" altLang="en-US" sz="2000" dirty="0"/>
              <a:t>，即</a:t>
            </a:r>
            <a:r>
              <a:rPr lang="zh-CN" altLang="en-US" sz="2000" dirty="0">
                <a:solidFill>
                  <a:srgbClr val="FF0000"/>
                </a:solidFill>
              </a:rPr>
              <a:t>数据流</a:t>
            </a:r>
            <a:r>
              <a:rPr lang="zh-CN" altLang="en-US" sz="2000" dirty="0"/>
              <a:t>。流表示了信息从源到目的端的流动。</a:t>
            </a:r>
            <a:endParaRPr lang="en-US" altLang="zh-CN" sz="2000" dirty="0"/>
          </a:p>
          <a:p>
            <a:pPr lvl="1"/>
            <a:r>
              <a:rPr lang="zh-CN" altLang="en-US" sz="1800" dirty="0"/>
              <a:t>在输入操作时，数据从文件流向计算机内存</a:t>
            </a:r>
            <a:endParaRPr lang="en-US" altLang="zh-CN" sz="1800" dirty="0"/>
          </a:p>
          <a:p>
            <a:pPr lvl="1"/>
            <a:r>
              <a:rPr lang="zh-CN" altLang="en-US" sz="1800" dirty="0"/>
              <a:t>在输出操作时，数据从计算机流向文件</a:t>
            </a:r>
            <a:r>
              <a:rPr lang="en-US" altLang="zh-CN" sz="1800" dirty="0"/>
              <a:t>(</a:t>
            </a:r>
            <a:r>
              <a:rPr lang="zh-CN" altLang="en-US" sz="1800" dirty="0"/>
              <a:t>如打印机、磁盘文件</a:t>
            </a:r>
            <a:r>
              <a:rPr lang="en-US" altLang="zh-CN" sz="1800" dirty="0"/>
              <a:t>)</a:t>
            </a:r>
          </a:p>
          <a:p>
            <a:r>
              <a:rPr lang="en-US" altLang="zh-CN" sz="2000" dirty="0"/>
              <a:t>C</a:t>
            </a:r>
            <a:r>
              <a:rPr lang="zh-CN" altLang="en-US" sz="2000" dirty="0"/>
              <a:t>语言把文件看作一个字符</a:t>
            </a:r>
            <a:r>
              <a:rPr lang="en-US" altLang="zh-CN" sz="2000" dirty="0"/>
              <a:t>(</a:t>
            </a:r>
            <a:r>
              <a:rPr lang="zh-CN" altLang="en-US" sz="2000" dirty="0"/>
              <a:t>或字节</a:t>
            </a:r>
            <a:r>
              <a:rPr lang="en-US" altLang="zh-CN" sz="2000" dirty="0"/>
              <a:t>)</a:t>
            </a:r>
            <a:r>
              <a:rPr lang="zh-CN" altLang="en-US" sz="2000" dirty="0"/>
              <a:t>的序列，即由一个一个字符（或字节）的数据顺序组成。一个输入输出流就是一个</a:t>
            </a:r>
            <a:r>
              <a:rPr lang="zh-CN" altLang="en-US" sz="2000" dirty="0">
                <a:solidFill>
                  <a:srgbClr val="FF0000"/>
                </a:solidFill>
              </a:rPr>
              <a:t>字符流</a:t>
            </a:r>
            <a:r>
              <a:rPr lang="zh-CN" altLang="en-US" sz="2000" dirty="0"/>
              <a:t>或</a:t>
            </a:r>
            <a:r>
              <a:rPr lang="zh-CN" altLang="en-US" sz="2000" dirty="0">
                <a:solidFill>
                  <a:srgbClr val="FF0000"/>
                </a:solidFill>
              </a:rPr>
              <a:t>字节流</a:t>
            </a:r>
            <a:r>
              <a:rPr lang="zh-CN" altLang="en-US" sz="2000" dirty="0"/>
              <a:t>。</a:t>
            </a:r>
            <a:endParaRPr lang="en-US" altLang="zh-CN" sz="2000" dirty="0"/>
          </a:p>
          <a:p>
            <a:endParaRPr lang="en-US" altLang="zh-CN" sz="2000" dirty="0"/>
          </a:p>
          <a:p>
            <a:endParaRPr lang="en-US" altLang="zh-CN" sz="2000" dirty="0"/>
          </a:p>
          <a:p>
            <a:r>
              <a:rPr lang="zh-CN" altLang="en-US" sz="2000" dirty="0"/>
              <a:t>为了简化用户对输入输出设备的操作，使用户不必去区分各种输入输出设备之间的区别，</a:t>
            </a:r>
            <a:r>
              <a:rPr lang="zh-CN" altLang="en-US" sz="2000" dirty="0">
                <a:solidFill>
                  <a:srgbClr val="FF0000"/>
                </a:solidFill>
              </a:rPr>
              <a:t>操作系统把各种设备都统一作为文件来处理</a:t>
            </a:r>
            <a:r>
              <a:rPr lang="zh-CN" altLang="en-US" sz="2000" dirty="0"/>
              <a:t>。例如，终端键盘是</a:t>
            </a:r>
            <a:r>
              <a:rPr lang="zh-CN" altLang="en-US" sz="2000" dirty="0">
                <a:solidFill>
                  <a:srgbClr val="FF0000"/>
                </a:solidFill>
              </a:rPr>
              <a:t>标准输入文件</a:t>
            </a:r>
            <a:r>
              <a:rPr lang="en-US" altLang="zh-CN" sz="2000" dirty="0">
                <a:solidFill>
                  <a:srgbClr val="FF0000"/>
                </a:solidFill>
              </a:rPr>
              <a:t>(</a:t>
            </a:r>
            <a:r>
              <a:rPr lang="en-US" altLang="zh-CN" sz="2000" dirty="0" err="1">
                <a:solidFill>
                  <a:srgbClr val="FF0000"/>
                </a:solidFill>
              </a:rPr>
              <a:t>stdin</a:t>
            </a:r>
            <a:r>
              <a:rPr lang="en-US" altLang="zh-CN" sz="2000" dirty="0">
                <a:solidFill>
                  <a:srgbClr val="FF0000"/>
                </a:solidFill>
              </a:rPr>
              <a:t>)</a:t>
            </a:r>
            <a:r>
              <a:rPr lang="zh-CN" altLang="en-US" sz="2000" dirty="0"/>
              <a:t>，显示屏是</a:t>
            </a:r>
            <a:r>
              <a:rPr lang="zh-CN" altLang="en-US" sz="2000" dirty="0">
                <a:solidFill>
                  <a:srgbClr val="FF0000"/>
                </a:solidFill>
              </a:rPr>
              <a:t>标准输出文件</a:t>
            </a:r>
            <a:r>
              <a:rPr lang="en-US" altLang="zh-CN" sz="2000" dirty="0">
                <a:solidFill>
                  <a:srgbClr val="FF0000"/>
                </a:solidFill>
              </a:rPr>
              <a:t>(</a:t>
            </a:r>
            <a:r>
              <a:rPr lang="en-US" altLang="zh-CN" sz="2000" dirty="0" err="1">
                <a:solidFill>
                  <a:srgbClr val="FF0000"/>
                </a:solidFill>
              </a:rPr>
              <a:t>stdout</a:t>
            </a:r>
            <a:r>
              <a:rPr lang="en-US" altLang="zh-CN" sz="2000" dirty="0">
                <a:solidFill>
                  <a:srgbClr val="FF0000"/>
                </a:solidFill>
              </a:rPr>
              <a:t>)</a:t>
            </a:r>
            <a:r>
              <a:rPr lang="zh-CN" altLang="en-US" sz="2000" dirty="0"/>
              <a:t>。</a:t>
            </a:r>
          </a:p>
        </p:txBody>
      </p:sp>
      <p:sp>
        <p:nvSpPr>
          <p:cNvPr id="3" name="标题 2"/>
          <p:cNvSpPr>
            <a:spLocks noGrp="1"/>
          </p:cNvSpPr>
          <p:nvPr>
            <p:ph type="title"/>
          </p:nvPr>
        </p:nvSpPr>
        <p:spPr/>
        <p:txBody>
          <a:bodyPr/>
          <a:lstStyle/>
          <a:p>
            <a:r>
              <a:rPr lang="zh-CN" altLang="en-US" dirty="0"/>
              <a:t>文件的概念</a:t>
            </a:r>
          </a:p>
        </p:txBody>
      </p:sp>
      <p:sp>
        <p:nvSpPr>
          <p:cNvPr id="4" name="Rectangle 65">
            <a:extLst>
              <a:ext uri="{FF2B5EF4-FFF2-40B4-BE49-F238E27FC236}">
                <a16:creationId xmlns:a16="http://schemas.microsoft.com/office/drawing/2014/main" id="{6B2998A7-9385-416C-BA6F-24DB2E3B9FAF}"/>
              </a:ext>
            </a:extLst>
          </p:cNvPr>
          <p:cNvSpPr>
            <a:spLocks noChangeArrowheads="1"/>
          </p:cNvSpPr>
          <p:nvPr/>
        </p:nvSpPr>
        <p:spPr bwMode="auto">
          <a:xfrm>
            <a:off x="1220156" y="4239173"/>
            <a:ext cx="642938"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66">
            <a:extLst>
              <a:ext uri="{FF2B5EF4-FFF2-40B4-BE49-F238E27FC236}">
                <a16:creationId xmlns:a16="http://schemas.microsoft.com/office/drawing/2014/main" id="{33ACC755-BB09-4EF6-88D8-D79E3BE0BB38}"/>
              </a:ext>
            </a:extLst>
          </p:cNvPr>
          <p:cNvSpPr>
            <a:spLocks noChangeArrowheads="1"/>
          </p:cNvSpPr>
          <p:nvPr/>
        </p:nvSpPr>
        <p:spPr bwMode="auto">
          <a:xfrm>
            <a:off x="1856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7">
            <a:extLst>
              <a:ext uri="{FF2B5EF4-FFF2-40B4-BE49-F238E27FC236}">
                <a16:creationId xmlns:a16="http://schemas.microsoft.com/office/drawing/2014/main" id="{08D4DA02-7B22-4405-AEBF-845F84B0FF52}"/>
              </a:ext>
            </a:extLst>
          </p:cNvPr>
          <p:cNvSpPr>
            <a:spLocks noChangeArrowheads="1"/>
          </p:cNvSpPr>
          <p:nvPr/>
        </p:nvSpPr>
        <p:spPr bwMode="auto">
          <a:xfrm>
            <a:off x="2491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8">
            <a:extLst>
              <a:ext uri="{FF2B5EF4-FFF2-40B4-BE49-F238E27FC236}">
                <a16:creationId xmlns:a16="http://schemas.microsoft.com/office/drawing/2014/main" id="{106E4B8E-E1EF-4E3C-9314-B71C492DAB4F}"/>
              </a:ext>
            </a:extLst>
          </p:cNvPr>
          <p:cNvSpPr>
            <a:spLocks noChangeArrowheads="1"/>
          </p:cNvSpPr>
          <p:nvPr/>
        </p:nvSpPr>
        <p:spPr bwMode="auto">
          <a:xfrm>
            <a:off x="3126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9">
            <a:extLst>
              <a:ext uri="{FF2B5EF4-FFF2-40B4-BE49-F238E27FC236}">
                <a16:creationId xmlns:a16="http://schemas.microsoft.com/office/drawing/2014/main" id="{C6DEEDF7-F143-4ADB-95F5-2CFC83ADB411}"/>
              </a:ext>
            </a:extLst>
          </p:cNvPr>
          <p:cNvSpPr>
            <a:spLocks noChangeArrowheads="1"/>
          </p:cNvSpPr>
          <p:nvPr/>
        </p:nvSpPr>
        <p:spPr bwMode="auto">
          <a:xfrm>
            <a:off x="3761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70">
            <a:extLst>
              <a:ext uri="{FF2B5EF4-FFF2-40B4-BE49-F238E27FC236}">
                <a16:creationId xmlns:a16="http://schemas.microsoft.com/office/drawing/2014/main" id="{A0673807-C74C-423F-B3CD-AD632CA97F56}"/>
              </a:ext>
            </a:extLst>
          </p:cNvPr>
          <p:cNvSpPr>
            <a:spLocks noChangeArrowheads="1"/>
          </p:cNvSpPr>
          <p:nvPr/>
        </p:nvSpPr>
        <p:spPr bwMode="auto">
          <a:xfrm>
            <a:off x="4396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71">
            <a:extLst>
              <a:ext uri="{FF2B5EF4-FFF2-40B4-BE49-F238E27FC236}">
                <a16:creationId xmlns:a16="http://schemas.microsoft.com/office/drawing/2014/main" id="{EEE07602-C528-41FB-897B-E276C9C760D6}"/>
              </a:ext>
            </a:extLst>
          </p:cNvPr>
          <p:cNvSpPr>
            <a:spLocks noChangeArrowheads="1"/>
          </p:cNvSpPr>
          <p:nvPr/>
        </p:nvSpPr>
        <p:spPr bwMode="auto">
          <a:xfrm>
            <a:off x="5031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72">
            <a:extLst>
              <a:ext uri="{FF2B5EF4-FFF2-40B4-BE49-F238E27FC236}">
                <a16:creationId xmlns:a16="http://schemas.microsoft.com/office/drawing/2014/main" id="{A159C35F-BC65-4966-9D41-2990AACB2B76}"/>
              </a:ext>
            </a:extLst>
          </p:cNvPr>
          <p:cNvSpPr>
            <a:spLocks noChangeArrowheads="1"/>
          </p:cNvSpPr>
          <p:nvPr/>
        </p:nvSpPr>
        <p:spPr bwMode="auto">
          <a:xfrm>
            <a:off x="5666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73">
            <a:extLst>
              <a:ext uri="{FF2B5EF4-FFF2-40B4-BE49-F238E27FC236}">
                <a16:creationId xmlns:a16="http://schemas.microsoft.com/office/drawing/2014/main" id="{92B27E83-A72C-4EA2-9117-69F89DD5B0B6}"/>
              </a:ext>
            </a:extLst>
          </p:cNvPr>
          <p:cNvSpPr>
            <a:spLocks noChangeArrowheads="1"/>
          </p:cNvSpPr>
          <p:nvPr/>
        </p:nvSpPr>
        <p:spPr bwMode="auto">
          <a:xfrm>
            <a:off x="6301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74">
            <a:extLst>
              <a:ext uri="{FF2B5EF4-FFF2-40B4-BE49-F238E27FC236}">
                <a16:creationId xmlns:a16="http://schemas.microsoft.com/office/drawing/2014/main" id="{F4DA9D60-B6D5-4150-B79A-4D7F0ECE2ABA}"/>
              </a:ext>
            </a:extLst>
          </p:cNvPr>
          <p:cNvSpPr>
            <a:spLocks noChangeArrowheads="1"/>
          </p:cNvSpPr>
          <p:nvPr/>
        </p:nvSpPr>
        <p:spPr bwMode="auto">
          <a:xfrm>
            <a:off x="6936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75">
            <a:extLst>
              <a:ext uri="{FF2B5EF4-FFF2-40B4-BE49-F238E27FC236}">
                <a16:creationId xmlns:a16="http://schemas.microsoft.com/office/drawing/2014/main" id="{4F00B9D1-A0EA-4F62-BFFF-8746326FA4E2}"/>
              </a:ext>
            </a:extLst>
          </p:cNvPr>
          <p:cNvSpPr>
            <a:spLocks noChangeArrowheads="1"/>
          </p:cNvSpPr>
          <p:nvPr/>
        </p:nvSpPr>
        <p:spPr bwMode="auto">
          <a:xfrm>
            <a:off x="7571744" y="4239173"/>
            <a:ext cx="642937" cy="271462"/>
          </a:xfrm>
          <a:prstGeom prst="rect">
            <a:avLst/>
          </a:prstGeom>
          <a:solidFill>
            <a:srgbClr val="CCFFFF"/>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22926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文件的基本概念</a:t>
            </a:r>
          </a:p>
        </p:txBody>
      </p:sp>
      <p:sp>
        <p:nvSpPr>
          <p:cNvPr id="2" name="内容占位符 1"/>
          <p:cNvSpPr>
            <a:spLocks noGrp="1"/>
          </p:cNvSpPr>
          <p:nvPr>
            <p:ph idx="1"/>
          </p:nvPr>
        </p:nvSpPr>
        <p:spPr>
          <a:xfrm>
            <a:off x="432000" y="1260000"/>
            <a:ext cx="8280000" cy="5040000"/>
          </a:xfrm>
        </p:spPr>
        <p:txBody>
          <a:bodyPr>
            <a:normAutofit fontScale="77500" lnSpcReduction="20000"/>
          </a:bodyPr>
          <a:lstStyle/>
          <a:p>
            <a:r>
              <a:rPr lang="zh-CN" altLang="en-US" dirty="0"/>
              <a:t>文件标识：文件路径</a:t>
            </a:r>
            <a:r>
              <a:rPr lang="en-US" altLang="zh-CN" dirty="0"/>
              <a:t>+</a:t>
            </a:r>
            <a:r>
              <a:rPr lang="zh-CN" altLang="en-US" dirty="0"/>
              <a:t>文件主干名</a:t>
            </a:r>
            <a:r>
              <a:rPr lang="en-US" altLang="zh-CN" dirty="0"/>
              <a:t>+</a:t>
            </a:r>
            <a:r>
              <a:rPr lang="zh-CN" altLang="en-US" dirty="0"/>
              <a:t>文件后缀</a:t>
            </a:r>
            <a:endParaRPr lang="en-US" altLang="zh-CN" dirty="0"/>
          </a:p>
          <a:p>
            <a:pPr lvl="1"/>
            <a:r>
              <a:rPr lang="zh-CN" altLang="en-US" dirty="0"/>
              <a:t>文件路径表示文件在外部存储设备中的位置</a:t>
            </a:r>
            <a:endParaRPr lang="en-US" altLang="zh-CN" dirty="0"/>
          </a:p>
          <a:p>
            <a:pPr lvl="1"/>
            <a:r>
              <a:rPr lang="zh-CN" altLang="en-US" dirty="0"/>
              <a:t>文件名主干的命名规则遵循标识符的命名规则</a:t>
            </a:r>
            <a:endParaRPr lang="en-US" altLang="zh-CN" dirty="0"/>
          </a:p>
          <a:p>
            <a:pPr lvl="1"/>
            <a:r>
              <a:rPr lang="zh-CN" altLang="en-US" dirty="0"/>
              <a:t>文件后缀用来表示文件的性质</a:t>
            </a:r>
            <a:endParaRPr lang="en-US" altLang="zh-CN" dirty="0"/>
          </a:p>
          <a:p>
            <a:endParaRPr lang="en-US" altLang="zh-CN" dirty="0"/>
          </a:p>
          <a:p>
            <a:endParaRPr lang="en-US" altLang="zh-CN" dirty="0"/>
          </a:p>
          <a:p>
            <a:endParaRPr lang="en-US" altLang="zh-CN" dirty="0"/>
          </a:p>
          <a:p>
            <a:endParaRPr lang="en-US" altLang="zh-CN" dirty="0"/>
          </a:p>
          <a:p>
            <a:r>
              <a:rPr lang="zh-CN" altLang="en-US" dirty="0"/>
              <a:t>在程序设计中，主要用到两类文件</a:t>
            </a:r>
            <a:endParaRPr lang="en-US" altLang="zh-CN" dirty="0"/>
          </a:p>
          <a:p>
            <a:pPr lvl="1"/>
            <a:r>
              <a:rPr lang="zh-CN" altLang="en-US" dirty="0"/>
              <a:t>程序文件：包括源程序文件</a:t>
            </a:r>
            <a:r>
              <a:rPr lang="en-US" altLang="zh-CN" dirty="0"/>
              <a:t>(</a:t>
            </a:r>
            <a:r>
              <a:rPr lang="zh-CN" altLang="en-US" dirty="0"/>
              <a:t>后缀为</a:t>
            </a:r>
            <a:r>
              <a:rPr lang="en-US" altLang="zh-CN" dirty="0"/>
              <a:t>.c/.</a:t>
            </a:r>
            <a:r>
              <a:rPr lang="en-US" altLang="zh-CN" dirty="0" err="1"/>
              <a:t>cpp</a:t>
            </a:r>
            <a:r>
              <a:rPr lang="en-US" altLang="zh-CN" dirty="0"/>
              <a:t>)</a:t>
            </a:r>
            <a:r>
              <a:rPr lang="zh-CN" altLang="en-US" dirty="0"/>
              <a:t>、目标文件</a:t>
            </a:r>
            <a:r>
              <a:rPr lang="en-US" altLang="zh-CN" dirty="0"/>
              <a:t>(</a:t>
            </a:r>
            <a:r>
              <a:rPr lang="zh-CN" altLang="en-US" dirty="0"/>
              <a:t>后缀为</a:t>
            </a:r>
            <a:r>
              <a:rPr lang="en-US" altLang="zh-CN" b="1" dirty="0">
                <a:solidFill>
                  <a:srgbClr val="0070C0"/>
                </a:solidFill>
              </a:rPr>
              <a:t>.obj</a:t>
            </a:r>
            <a:r>
              <a:rPr lang="zh-CN" altLang="en-US" dirty="0"/>
              <a:t>或</a:t>
            </a:r>
            <a:r>
              <a:rPr lang="en-US" altLang="zh-CN" b="1" dirty="0">
                <a:solidFill>
                  <a:srgbClr val="E84C22"/>
                </a:solidFill>
                <a:latin typeface="+mn-ea"/>
              </a:rPr>
              <a:t>.o</a:t>
            </a:r>
            <a:r>
              <a:rPr lang="en-US" altLang="zh-CN" dirty="0"/>
              <a:t>)</a:t>
            </a:r>
            <a:r>
              <a:rPr lang="zh-CN" altLang="en-US" dirty="0"/>
              <a:t>、静态链接库（后缀为</a:t>
            </a:r>
            <a:r>
              <a:rPr lang="en-US" altLang="zh-CN" b="1" dirty="0">
                <a:solidFill>
                  <a:srgbClr val="0070C0"/>
                </a:solidFill>
              </a:rPr>
              <a:t>.lib</a:t>
            </a:r>
            <a:r>
              <a:rPr lang="zh-CN" altLang="en-US" dirty="0"/>
              <a:t>或</a:t>
            </a:r>
            <a:r>
              <a:rPr lang="en-US" altLang="zh-CN" b="1" dirty="0">
                <a:solidFill>
                  <a:srgbClr val="E84C22"/>
                </a:solidFill>
                <a:latin typeface="+mn-ea"/>
              </a:rPr>
              <a:t>.a</a:t>
            </a:r>
            <a:r>
              <a:rPr lang="zh-CN" altLang="en-US" dirty="0"/>
              <a:t>）、动态链接库（后缀为</a:t>
            </a:r>
            <a:r>
              <a:rPr lang="en-US" altLang="zh-CN" b="1" dirty="0">
                <a:solidFill>
                  <a:srgbClr val="0070C0"/>
                </a:solidFill>
              </a:rPr>
              <a:t>.</a:t>
            </a:r>
            <a:r>
              <a:rPr lang="en-US" altLang="zh-CN" b="1" dirty="0" err="1">
                <a:solidFill>
                  <a:srgbClr val="0070C0"/>
                </a:solidFill>
              </a:rPr>
              <a:t>dll</a:t>
            </a:r>
            <a:r>
              <a:rPr lang="zh-CN" altLang="en-US" dirty="0"/>
              <a:t>或</a:t>
            </a:r>
            <a:r>
              <a:rPr lang="en-US" altLang="zh-CN" b="1" dirty="0">
                <a:solidFill>
                  <a:srgbClr val="E84C22"/>
                </a:solidFill>
                <a:latin typeface="+mn-ea"/>
              </a:rPr>
              <a:t>.so</a:t>
            </a:r>
            <a:r>
              <a:rPr lang="zh-CN" altLang="en-US" dirty="0"/>
              <a:t>）、可执行文件</a:t>
            </a:r>
            <a:r>
              <a:rPr lang="en-US" altLang="zh-CN" dirty="0"/>
              <a:t>(</a:t>
            </a:r>
            <a:r>
              <a:rPr lang="zh-CN" altLang="en-US" dirty="0"/>
              <a:t>后缀为</a:t>
            </a:r>
            <a:r>
              <a:rPr lang="en-US" altLang="zh-CN" b="1" dirty="0">
                <a:solidFill>
                  <a:srgbClr val="0070C0"/>
                </a:solidFill>
              </a:rPr>
              <a:t>.exe</a:t>
            </a:r>
            <a:r>
              <a:rPr lang="zh-CN" altLang="en-US" dirty="0"/>
              <a:t>或</a:t>
            </a:r>
            <a:r>
              <a:rPr lang="zh-CN" altLang="en-US" b="1" dirty="0">
                <a:solidFill>
                  <a:srgbClr val="E84C22"/>
                </a:solidFill>
                <a:latin typeface="+mn-ea"/>
              </a:rPr>
              <a:t>无后缀</a:t>
            </a:r>
            <a:r>
              <a:rPr lang="en-US" altLang="zh-CN" dirty="0"/>
              <a:t>)</a:t>
            </a:r>
            <a:r>
              <a:rPr lang="zh-CN" altLang="en-US" dirty="0"/>
              <a:t>。这种文件的内容是程序代码。</a:t>
            </a:r>
          </a:p>
          <a:p>
            <a:pPr lvl="1"/>
            <a:r>
              <a:rPr lang="zh-CN" altLang="en-US" dirty="0"/>
              <a:t>数据文件：文件的内容不是程序，而是供程序运行时读写的数据，如在程序运行过程中输出到磁盘</a:t>
            </a:r>
            <a:r>
              <a:rPr lang="en-US" altLang="zh-CN" dirty="0"/>
              <a:t>(</a:t>
            </a:r>
            <a:r>
              <a:rPr lang="zh-CN" altLang="en-US" dirty="0"/>
              <a:t>或其他外部设备</a:t>
            </a:r>
            <a:r>
              <a:rPr lang="en-US" altLang="zh-CN" dirty="0"/>
              <a:t>)</a:t>
            </a:r>
            <a:r>
              <a:rPr lang="zh-CN" altLang="en-US" dirty="0"/>
              <a:t>的数据，或在程序运行过程中供读入的数据。如一批学生的成绩数据、货物交易的数据等</a:t>
            </a:r>
            <a:endParaRPr lang="en-US" altLang="zh-CN" dirty="0"/>
          </a:p>
          <a:p>
            <a:endParaRPr lang="en-US" altLang="zh-CN" dirty="0"/>
          </a:p>
        </p:txBody>
      </p:sp>
      <p:grpSp>
        <p:nvGrpSpPr>
          <p:cNvPr id="8" name="组合 7">
            <a:extLst>
              <a:ext uri="{FF2B5EF4-FFF2-40B4-BE49-F238E27FC236}">
                <a16:creationId xmlns:a16="http://schemas.microsoft.com/office/drawing/2014/main" id="{236B2C08-C93E-48FF-B0C8-590423CB23E0}"/>
              </a:ext>
            </a:extLst>
          </p:cNvPr>
          <p:cNvGrpSpPr/>
          <p:nvPr/>
        </p:nvGrpSpPr>
        <p:grpSpPr>
          <a:xfrm>
            <a:off x="1246508" y="2610473"/>
            <a:ext cx="2850245" cy="1174138"/>
            <a:chOff x="1369709" y="3629370"/>
            <a:chExt cx="2850245" cy="1174138"/>
          </a:xfrm>
        </p:grpSpPr>
        <p:sp>
          <p:nvSpPr>
            <p:cNvPr id="6" name="文本框 2"/>
            <p:cNvSpPr txBox="1"/>
            <p:nvPr/>
          </p:nvSpPr>
          <p:spPr>
            <a:xfrm>
              <a:off x="1373237" y="3941734"/>
              <a:ext cx="2846717" cy="861774"/>
            </a:xfrm>
            <a:prstGeom prst="rect">
              <a:avLst/>
            </a:prstGeom>
            <a:noFill/>
          </p:spPr>
          <p:txBody>
            <a:bodyPr wrap="square" rtlCol="0">
              <a:spAutoFit/>
            </a:bodyPr>
            <a:lstStyle/>
            <a:p>
              <a:r>
                <a:rPr lang="en-US" altLang="zh-CN" u="sng" dirty="0">
                  <a:solidFill>
                    <a:srgbClr val="0070C0"/>
                  </a:solidFill>
                  <a:latin typeface="等线"/>
                  <a:ea typeface="等线"/>
                </a:rPr>
                <a:t>D:\CC\temp</a:t>
              </a:r>
              <a:r>
                <a:rPr lang="en-US" altLang="zh-CN" dirty="0">
                  <a:solidFill>
                    <a:srgbClr val="0070C0"/>
                  </a:solidFill>
                  <a:latin typeface="等线"/>
                  <a:ea typeface="等线"/>
                </a:rPr>
                <a:t>\</a:t>
              </a:r>
              <a:r>
                <a:rPr lang="en-US" altLang="zh-CN" u="sng" dirty="0">
                  <a:solidFill>
                    <a:srgbClr val="0070C0"/>
                  </a:solidFill>
                  <a:latin typeface="等线"/>
                  <a:ea typeface="等线"/>
                </a:rPr>
                <a:t>file1</a:t>
              </a:r>
              <a:r>
                <a:rPr lang="en-US" altLang="zh-CN" dirty="0">
                  <a:solidFill>
                    <a:srgbClr val="0070C0"/>
                  </a:solidFill>
                  <a:latin typeface="等线"/>
                  <a:ea typeface="等线"/>
                </a:rPr>
                <a:t>.</a:t>
              </a:r>
              <a:r>
                <a:rPr lang="en-US" altLang="zh-CN" u="sng" dirty="0">
                  <a:solidFill>
                    <a:srgbClr val="0070C0"/>
                  </a:solidFill>
                  <a:latin typeface="等线"/>
                  <a:ea typeface="等线"/>
                </a:rPr>
                <a:t>dat</a:t>
              </a:r>
            </a:p>
            <a:p>
              <a:r>
                <a:rPr lang="en-US" altLang="zh-CN" dirty="0">
                  <a:solidFill>
                    <a:srgbClr val="0070C0"/>
                  </a:solidFill>
                  <a:latin typeface="等线"/>
                  <a:ea typeface="等线"/>
                </a:rPr>
                <a:t>        </a:t>
              </a:r>
              <a:r>
                <a:rPr lang="zh-CN" altLang="en-US" dirty="0">
                  <a:solidFill>
                    <a:srgbClr val="0070C0"/>
                  </a:solidFill>
                  <a:latin typeface="等线"/>
                  <a:ea typeface="等线"/>
                </a:rPr>
                <a:t>↓          ↓   ↓</a:t>
              </a:r>
              <a:endParaRPr lang="en-US" altLang="zh-CN" dirty="0">
                <a:solidFill>
                  <a:srgbClr val="0070C0"/>
                </a:solidFill>
                <a:latin typeface="等线"/>
                <a:ea typeface="等线"/>
              </a:endParaRPr>
            </a:p>
            <a:p>
              <a:r>
                <a:rPr lang="zh-CN" altLang="en-US" sz="1200" dirty="0">
                  <a:solidFill>
                    <a:srgbClr val="0070C0"/>
                  </a:solidFill>
                  <a:latin typeface="等线"/>
                  <a:ea typeface="等线"/>
                </a:rPr>
                <a:t>     文件路径  文件主干名  文件后缀</a:t>
              </a:r>
            </a:p>
          </p:txBody>
        </p:sp>
        <p:sp>
          <p:nvSpPr>
            <p:cNvPr id="5" name="TextBox 4"/>
            <p:cNvSpPr txBox="1"/>
            <p:nvPr/>
          </p:nvSpPr>
          <p:spPr>
            <a:xfrm>
              <a:off x="2027612" y="3653702"/>
              <a:ext cx="1286314" cy="323165"/>
            </a:xfrm>
            <a:prstGeom prst="rect">
              <a:avLst/>
            </a:prstGeom>
            <a:noFill/>
          </p:spPr>
          <p:txBody>
            <a:bodyPr wrap="none" rtlCol="0">
              <a:spAutoFit/>
            </a:bodyPr>
            <a:lstStyle/>
            <a:p>
              <a:r>
                <a:rPr lang="en-US" altLang="zh-CN" sz="1500" b="1" dirty="0">
                  <a:solidFill>
                    <a:srgbClr val="0070C0"/>
                  </a:solidFill>
                </a:rPr>
                <a:t>Windows</a:t>
              </a:r>
              <a:r>
                <a:rPr lang="zh-CN" altLang="en-US" sz="1500" b="1" dirty="0">
                  <a:solidFill>
                    <a:srgbClr val="0070C0"/>
                  </a:solidFill>
                </a:rPr>
                <a:t>平台</a:t>
              </a:r>
            </a:p>
          </p:txBody>
        </p:sp>
        <p:sp>
          <p:nvSpPr>
            <p:cNvPr id="4" name="矩形 3"/>
            <p:cNvSpPr/>
            <p:nvPr/>
          </p:nvSpPr>
          <p:spPr>
            <a:xfrm>
              <a:off x="1369709" y="3629370"/>
              <a:ext cx="2736303" cy="11498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4F913FB6-5E51-4F0C-9E87-CA9B3156DABA}"/>
              </a:ext>
            </a:extLst>
          </p:cNvPr>
          <p:cNvGrpSpPr/>
          <p:nvPr/>
        </p:nvGrpSpPr>
        <p:grpSpPr>
          <a:xfrm>
            <a:off x="5152312" y="2637729"/>
            <a:ext cx="2846717" cy="1188715"/>
            <a:chOff x="5161189" y="3614793"/>
            <a:chExt cx="2846717" cy="1188715"/>
          </a:xfrm>
        </p:grpSpPr>
        <p:sp>
          <p:nvSpPr>
            <p:cNvPr id="7" name="文本框 2"/>
            <p:cNvSpPr txBox="1"/>
            <p:nvPr/>
          </p:nvSpPr>
          <p:spPr>
            <a:xfrm>
              <a:off x="5161189" y="3972511"/>
              <a:ext cx="2846717" cy="830997"/>
            </a:xfrm>
            <a:prstGeom prst="rect">
              <a:avLst/>
            </a:prstGeom>
            <a:noFill/>
          </p:spPr>
          <p:txBody>
            <a:bodyPr wrap="square" rtlCol="0">
              <a:spAutoFit/>
            </a:bodyPr>
            <a:lstStyle/>
            <a:p>
              <a:r>
                <a:rPr lang="en-US" altLang="zh-CN" u="sng" dirty="0">
                  <a:solidFill>
                    <a:srgbClr val="E84C22"/>
                  </a:solidFill>
                  <a:latin typeface="等线"/>
                  <a:ea typeface="等线"/>
                </a:rPr>
                <a:t>/home/student/file1</a:t>
              </a:r>
              <a:r>
                <a:rPr lang="en-US" altLang="zh-CN" dirty="0">
                  <a:solidFill>
                    <a:srgbClr val="E84C22"/>
                  </a:solidFill>
                  <a:latin typeface="等线"/>
                  <a:ea typeface="等线"/>
                </a:rPr>
                <a:t>.</a:t>
              </a:r>
              <a:r>
                <a:rPr lang="en-US" altLang="zh-CN" u="sng" dirty="0">
                  <a:solidFill>
                    <a:srgbClr val="E84C22"/>
                  </a:solidFill>
                  <a:latin typeface="等线"/>
                  <a:ea typeface="等线"/>
                </a:rPr>
                <a:t>dat</a:t>
              </a:r>
            </a:p>
            <a:p>
              <a:r>
                <a:rPr lang="en-US" altLang="zh-CN" dirty="0">
                  <a:solidFill>
                    <a:srgbClr val="E84C22"/>
                  </a:solidFill>
                  <a:latin typeface="等线"/>
                  <a:ea typeface="等线"/>
                </a:rPr>
                <a:t>          </a:t>
              </a:r>
              <a:r>
                <a:rPr lang="zh-CN" altLang="en-US" dirty="0">
                  <a:solidFill>
                    <a:srgbClr val="E84C22"/>
                  </a:solidFill>
                  <a:latin typeface="等线"/>
                  <a:ea typeface="等线"/>
                </a:rPr>
                <a:t>↓             ↓   ↓</a:t>
              </a:r>
              <a:endParaRPr lang="en-US" altLang="zh-CN" dirty="0">
                <a:solidFill>
                  <a:srgbClr val="E84C22"/>
                </a:solidFill>
                <a:latin typeface="等线"/>
                <a:ea typeface="等线"/>
              </a:endParaRPr>
            </a:p>
            <a:p>
              <a:r>
                <a:rPr lang="zh-CN" altLang="en-US" sz="1200" dirty="0">
                  <a:solidFill>
                    <a:srgbClr val="E84C22"/>
                  </a:solidFill>
                  <a:latin typeface="等线"/>
                  <a:ea typeface="等线"/>
                </a:rPr>
                <a:t>         文件路径    文件主干名  文件后缀</a:t>
              </a:r>
            </a:p>
          </p:txBody>
        </p:sp>
        <p:sp>
          <p:nvSpPr>
            <p:cNvPr id="9" name="TextBox 8"/>
            <p:cNvSpPr txBox="1"/>
            <p:nvPr/>
          </p:nvSpPr>
          <p:spPr>
            <a:xfrm>
              <a:off x="5919244" y="3625014"/>
              <a:ext cx="1016625" cy="323165"/>
            </a:xfrm>
            <a:prstGeom prst="rect">
              <a:avLst/>
            </a:prstGeom>
            <a:noFill/>
          </p:spPr>
          <p:txBody>
            <a:bodyPr wrap="none" rtlCol="0">
              <a:spAutoFit/>
            </a:bodyPr>
            <a:lstStyle/>
            <a:p>
              <a:r>
                <a:rPr lang="en-US" altLang="zh-CN" sz="1500" b="1" dirty="0">
                  <a:solidFill>
                    <a:srgbClr val="E84C22"/>
                  </a:solidFill>
                  <a:latin typeface="+mn-ea"/>
                </a:rPr>
                <a:t>Linux</a:t>
              </a:r>
              <a:r>
                <a:rPr lang="zh-CN" altLang="en-US" sz="1500" b="1" dirty="0">
                  <a:solidFill>
                    <a:srgbClr val="E84C22"/>
                  </a:solidFill>
                  <a:latin typeface="+mn-ea"/>
                </a:rPr>
                <a:t>平台</a:t>
              </a:r>
              <a:endParaRPr lang="zh-CN" altLang="en-US" sz="1500" b="1" dirty="0">
                <a:solidFill>
                  <a:srgbClr val="E84C22"/>
                </a:solidFill>
                <a:ea typeface="等线"/>
              </a:endParaRPr>
            </a:p>
          </p:txBody>
        </p:sp>
        <p:sp>
          <p:nvSpPr>
            <p:cNvPr id="10" name="矩形 9"/>
            <p:cNvSpPr/>
            <p:nvPr/>
          </p:nvSpPr>
          <p:spPr>
            <a:xfrm>
              <a:off x="5164715" y="3614793"/>
              <a:ext cx="2732777" cy="11498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759883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274" name="Rectangle 2"/>
          <p:cNvSpPr>
            <a:spLocks noGrp="1" noChangeArrowheads="1"/>
          </p:cNvSpPr>
          <p:nvPr>
            <p:ph type="title"/>
          </p:nvPr>
        </p:nvSpPr>
        <p:spPr/>
        <p:txBody>
          <a:bodyPr/>
          <a:lstStyle/>
          <a:p>
            <a:r>
              <a:rPr lang="zh-CN" altLang="en-US" dirty="0">
                <a:latin typeface="华文新魏" pitchFamily="2" charset="-122"/>
              </a:rPr>
              <a:t>文件的概念</a:t>
            </a:r>
          </a:p>
        </p:txBody>
      </p:sp>
      <p:sp>
        <p:nvSpPr>
          <p:cNvPr id="1334275" name="Rectangle 3"/>
          <p:cNvSpPr>
            <a:spLocks noGrp="1" noChangeArrowheads="1"/>
          </p:cNvSpPr>
          <p:nvPr>
            <p:ph idx="1"/>
          </p:nvPr>
        </p:nvSpPr>
        <p:spPr/>
        <p:txBody>
          <a:bodyPr/>
          <a:lstStyle/>
          <a:p>
            <a:r>
              <a:rPr lang="zh-CN" altLang="en-US" dirty="0"/>
              <a:t>文件的分类</a:t>
            </a:r>
            <a:r>
              <a:rPr lang="zh-CN" altLang="en-US" sz="2400" dirty="0">
                <a:solidFill>
                  <a:srgbClr val="33CC33"/>
                </a:solidFill>
              </a:rPr>
              <a:t>（按存储形式分）</a:t>
            </a:r>
          </a:p>
          <a:p>
            <a:pPr lvl="1"/>
            <a:r>
              <a:rPr lang="zh-CN" altLang="en-US" dirty="0"/>
              <a:t>文本文件</a:t>
            </a:r>
          </a:p>
          <a:p>
            <a:pPr lvl="2"/>
            <a:r>
              <a:rPr lang="zh-CN" altLang="en-US" dirty="0"/>
              <a:t>数据被作为字符，并以字符的二进制编码形式保存。</a:t>
            </a:r>
          </a:p>
          <a:p>
            <a:pPr lvl="2"/>
            <a:r>
              <a:rPr lang="zh-CN" altLang="en-US" dirty="0"/>
              <a:t>举例</a:t>
            </a:r>
          </a:p>
        </p:txBody>
      </p:sp>
      <p:sp>
        <p:nvSpPr>
          <p:cNvPr id="1334277" name="Rectangle 5"/>
          <p:cNvSpPr>
            <a:spLocks noChangeArrowheads="1"/>
          </p:cNvSpPr>
          <p:nvPr/>
        </p:nvSpPr>
        <p:spPr bwMode="auto">
          <a:xfrm>
            <a:off x="5349875" y="3184525"/>
            <a:ext cx="869950" cy="342900"/>
          </a:xfrm>
          <a:prstGeom prst="rect">
            <a:avLst/>
          </a:prstGeom>
          <a:solidFill>
            <a:schemeClr val="bg1"/>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600" b="1">
                <a:solidFill>
                  <a:srgbClr val="3333FF"/>
                </a:solidFill>
                <a:latin typeface="Courier New" pitchFamily="49" charset="0"/>
              </a:rPr>
              <a:t>1234</a:t>
            </a:r>
          </a:p>
        </p:txBody>
      </p:sp>
      <p:sp>
        <p:nvSpPr>
          <p:cNvPr id="1334278" name="Rectangle 6"/>
          <p:cNvSpPr>
            <a:spLocks noChangeArrowheads="1"/>
          </p:cNvSpPr>
          <p:nvPr/>
        </p:nvSpPr>
        <p:spPr bwMode="auto">
          <a:xfrm>
            <a:off x="5089525" y="3932238"/>
            <a:ext cx="323850" cy="342900"/>
          </a:xfrm>
          <a:prstGeom prst="rect">
            <a:avLst/>
          </a:prstGeom>
          <a:solidFill>
            <a:srgbClr val="66FFFF"/>
          </a:solidFill>
          <a:ln w="9525" algn="ctr">
            <a:solidFill>
              <a:srgbClr val="99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itchFamily="49" charset="0"/>
              </a:rPr>
              <a:t>‘1’</a:t>
            </a:r>
          </a:p>
        </p:txBody>
      </p:sp>
      <p:sp>
        <p:nvSpPr>
          <p:cNvPr id="1334279" name="Rectangle 7"/>
          <p:cNvSpPr>
            <a:spLocks noChangeArrowheads="1"/>
          </p:cNvSpPr>
          <p:nvPr/>
        </p:nvSpPr>
        <p:spPr bwMode="auto">
          <a:xfrm>
            <a:off x="5461000" y="3932238"/>
            <a:ext cx="323850" cy="342900"/>
          </a:xfrm>
          <a:prstGeom prst="rect">
            <a:avLst/>
          </a:prstGeom>
          <a:solidFill>
            <a:srgbClr val="66FFFF"/>
          </a:solidFill>
          <a:ln w="9525" algn="ctr">
            <a:solidFill>
              <a:srgbClr val="99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itchFamily="49" charset="0"/>
              </a:rPr>
              <a:t>‘2’</a:t>
            </a:r>
          </a:p>
        </p:txBody>
      </p:sp>
      <p:sp>
        <p:nvSpPr>
          <p:cNvPr id="1334280" name="Rectangle 8"/>
          <p:cNvSpPr>
            <a:spLocks noChangeArrowheads="1"/>
          </p:cNvSpPr>
          <p:nvPr/>
        </p:nvSpPr>
        <p:spPr bwMode="auto">
          <a:xfrm>
            <a:off x="5832475" y="3932238"/>
            <a:ext cx="323850" cy="342900"/>
          </a:xfrm>
          <a:prstGeom prst="rect">
            <a:avLst/>
          </a:prstGeom>
          <a:solidFill>
            <a:srgbClr val="66FFFF"/>
          </a:solidFill>
          <a:ln w="9525" algn="ctr">
            <a:solidFill>
              <a:srgbClr val="99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itchFamily="49" charset="0"/>
              </a:rPr>
              <a:t>‘3’</a:t>
            </a:r>
          </a:p>
        </p:txBody>
      </p:sp>
      <p:sp>
        <p:nvSpPr>
          <p:cNvPr id="1334281" name="Rectangle 9"/>
          <p:cNvSpPr>
            <a:spLocks noChangeArrowheads="1"/>
          </p:cNvSpPr>
          <p:nvPr/>
        </p:nvSpPr>
        <p:spPr bwMode="auto">
          <a:xfrm>
            <a:off x="6203950" y="3932238"/>
            <a:ext cx="323850" cy="342900"/>
          </a:xfrm>
          <a:prstGeom prst="rect">
            <a:avLst/>
          </a:prstGeom>
          <a:solidFill>
            <a:srgbClr val="66FFFF"/>
          </a:solidFill>
          <a:ln w="9525" algn="ctr">
            <a:solidFill>
              <a:srgbClr val="99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itchFamily="49" charset="0"/>
              </a:rPr>
              <a:t>‘4’</a:t>
            </a:r>
          </a:p>
        </p:txBody>
      </p:sp>
      <p:sp>
        <p:nvSpPr>
          <p:cNvPr id="1334282" name="AutoShape 10"/>
          <p:cNvSpPr>
            <a:spLocks noChangeArrowheads="1"/>
          </p:cNvSpPr>
          <p:nvPr/>
        </p:nvSpPr>
        <p:spPr bwMode="auto">
          <a:xfrm>
            <a:off x="5695950" y="3602038"/>
            <a:ext cx="225425" cy="215900"/>
          </a:xfrm>
          <a:prstGeom prst="downArrow">
            <a:avLst>
              <a:gd name="adj1" fmla="val 50000"/>
              <a:gd name="adj2" fmla="val 25000"/>
            </a:avLst>
          </a:prstGeom>
          <a:solidFill>
            <a:srgbClr val="D6ECEE"/>
          </a:solidFill>
          <a:ln w="9525" algn="ctr">
            <a:solidFill>
              <a:schemeClr val="hlink"/>
            </a:solidFill>
            <a:miter lim="800000"/>
            <a:headEnd/>
            <a:tailEnd/>
          </a:ln>
          <a:effectLst>
            <a:prstShdw prst="shdw18" dist="17961" dir="13500000">
              <a:schemeClr val="hlink">
                <a:gamma/>
                <a:shade val="60000"/>
                <a:invGamma/>
              </a:schemeClr>
            </a:prstShdw>
          </a:effectLst>
        </p:spPr>
        <p:txBody>
          <a:bodyPr wrap="none" anchor="ctr"/>
          <a:lstStyle/>
          <a:p>
            <a:endParaRPr lang="zh-CN" altLang="en-US"/>
          </a:p>
        </p:txBody>
      </p:sp>
      <p:sp>
        <p:nvSpPr>
          <p:cNvPr id="1334283" name="Text Box 11"/>
          <p:cNvSpPr txBox="1">
            <a:spLocks noChangeArrowheads="1"/>
          </p:cNvSpPr>
          <p:nvPr/>
        </p:nvSpPr>
        <p:spPr bwMode="auto">
          <a:xfrm>
            <a:off x="4135438" y="3135313"/>
            <a:ext cx="1049337"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3333FF"/>
                </a:solidFill>
                <a:latin typeface="Times New Roman" pitchFamily="18" charset="0"/>
              </a:rPr>
              <a:t>整数</a:t>
            </a:r>
          </a:p>
        </p:txBody>
      </p:sp>
      <p:sp>
        <p:nvSpPr>
          <p:cNvPr id="1334284" name="Text Box 12"/>
          <p:cNvSpPr txBox="1">
            <a:spLocks noChangeArrowheads="1"/>
          </p:cNvSpPr>
          <p:nvPr/>
        </p:nvSpPr>
        <p:spPr bwMode="auto">
          <a:xfrm>
            <a:off x="1460500" y="4232275"/>
            <a:ext cx="3471863"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9933FF"/>
                </a:solidFill>
                <a:latin typeface="Times New Roman" pitchFamily="18" charset="0"/>
              </a:rPr>
              <a:t>把</a:t>
            </a:r>
            <a:r>
              <a:rPr kumimoji="1" lang="en-US" altLang="zh-CN" sz="1600" b="1">
                <a:solidFill>
                  <a:srgbClr val="9933FF"/>
                </a:solidFill>
                <a:latin typeface="Times New Roman" pitchFamily="18" charset="0"/>
              </a:rPr>
              <a:t>4</a:t>
            </a:r>
            <a:r>
              <a:rPr kumimoji="1" lang="zh-CN" altLang="en-US" sz="1600" b="1">
                <a:solidFill>
                  <a:srgbClr val="9933FF"/>
                </a:solidFill>
                <a:latin typeface="Times New Roman" pitchFamily="18" charset="0"/>
              </a:rPr>
              <a:t>个字符的二进制编码写入文件中</a:t>
            </a:r>
          </a:p>
        </p:txBody>
      </p:sp>
      <p:sp>
        <p:nvSpPr>
          <p:cNvPr id="1334285" name="Rectangle 13"/>
          <p:cNvSpPr>
            <a:spLocks noChangeArrowheads="1"/>
          </p:cNvSpPr>
          <p:nvPr/>
        </p:nvSpPr>
        <p:spPr bwMode="auto">
          <a:xfrm>
            <a:off x="4106863" y="4713288"/>
            <a:ext cx="3446462" cy="342900"/>
          </a:xfrm>
          <a:prstGeom prst="rect">
            <a:avLst/>
          </a:prstGeom>
          <a:solidFill>
            <a:srgbClr val="66FFFF"/>
          </a:solidFill>
          <a:ln w="9525" algn="ctr">
            <a:solidFill>
              <a:srgbClr val="99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200" b="1">
                <a:solidFill>
                  <a:srgbClr val="9933FF"/>
                </a:solidFill>
                <a:latin typeface="Courier New" pitchFamily="49" charset="0"/>
              </a:rPr>
              <a:t>00110001 00110010 00110011 00110100</a:t>
            </a:r>
          </a:p>
        </p:txBody>
      </p:sp>
      <p:sp>
        <p:nvSpPr>
          <p:cNvPr id="1334286" name="AutoShape 14"/>
          <p:cNvSpPr>
            <a:spLocks noChangeArrowheads="1"/>
          </p:cNvSpPr>
          <p:nvPr/>
        </p:nvSpPr>
        <p:spPr bwMode="auto">
          <a:xfrm>
            <a:off x="5702300" y="4370388"/>
            <a:ext cx="225425" cy="215900"/>
          </a:xfrm>
          <a:prstGeom prst="downArrow">
            <a:avLst>
              <a:gd name="adj1" fmla="val 50000"/>
              <a:gd name="adj2" fmla="val 25000"/>
            </a:avLst>
          </a:prstGeom>
          <a:solidFill>
            <a:srgbClr val="D6ECEE"/>
          </a:solidFill>
          <a:ln w="9525" algn="ctr">
            <a:solidFill>
              <a:schemeClr val="hlink"/>
            </a:solidFill>
            <a:miter lim="800000"/>
            <a:headEnd/>
            <a:tailEnd/>
          </a:ln>
          <a:effectLst>
            <a:prstShdw prst="shdw18" dist="17961" dir="13500000">
              <a:schemeClr val="hlink">
                <a:gamma/>
                <a:shade val="60000"/>
                <a:invGamma/>
              </a:schemeClr>
            </a:prstShdw>
          </a:effectLst>
        </p:spPr>
        <p:txBody>
          <a:bodyPr wrap="none" anchor="ctr"/>
          <a:lstStyle/>
          <a:p>
            <a:endParaRPr lang="zh-CN" altLang="en-US"/>
          </a:p>
        </p:txBody>
      </p:sp>
    </p:spTree>
    <p:extLst>
      <p:ext uri="{BB962C8B-B14F-4D97-AF65-F5344CB8AC3E}">
        <p14:creationId xmlns:p14="http://schemas.microsoft.com/office/powerpoint/2010/main" val="2821740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6322" name="Rectangle 2"/>
          <p:cNvSpPr>
            <a:spLocks noGrp="1" noChangeArrowheads="1"/>
          </p:cNvSpPr>
          <p:nvPr>
            <p:ph type="title"/>
          </p:nvPr>
        </p:nvSpPr>
        <p:spPr/>
        <p:txBody>
          <a:bodyPr/>
          <a:lstStyle/>
          <a:p>
            <a:r>
              <a:rPr lang="zh-CN" altLang="en-US" dirty="0">
                <a:latin typeface="华文新魏" pitchFamily="2" charset="-122"/>
              </a:rPr>
              <a:t>文件的概念</a:t>
            </a:r>
          </a:p>
        </p:txBody>
      </p:sp>
      <p:sp>
        <p:nvSpPr>
          <p:cNvPr id="1336323" name="Rectangle 3"/>
          <p:cNvSpPr>
            <a:spLocks noGrp="1" noChangeArrowheads="1"/>
          </p:cNvSpPr>
          <p:nvPr>
            <p:ph idx="1"/>
          </p:nvPr>
        </p:nvSpPr>
        <p:spPr/>
        <p:txBody>
          <a:bodyPr/>
          <a:lstStyle/>
          <a:p>
            <a:r>
              <a:rPr lang="zh-CN" altLang="en-US"/>
              <a:t>文件的分类</a:t>
            </a:r>
            <a:r>
              <a:rPr lang="zh-CN" altLang="en-US" sz="2400">
                <a:solidFill>
                  <a:srgbClr val="33CC33"/>
                </a:solidFill>
              </a:rPr>
              <a:t>（按存储形式分）</a:t>
            </a:r>
          </a:p>
          <a:p>
            <a:pPr lvl="1"/>
            <a:r>
              <a:rPr lang="zh-CN" altLang="en-US"/>
              <a:t>二进制文件</a:t>
            </a:r>
          </a:p>
          <a:p>
            <a:pPr lvl="2"/>
            <a:r>
              <a:rPr lang="zh-CN" altLang="en-US"/>
              <a:t>以数据在内存中的二进制形式保存。</a:t>
            </a:r>
          </a:p>
          <a:p>
            <a:pPr lvl="2"/>
            <a:r>
              <a:rPr lang="zh-CN" altLang="en-US"/>
              <a:t>举例</a:t>
            </a:r>
          </a:p>
        </p:txBody>
      </p:sp>
      <p:sp>
        <p:nvSpPr>
          <p:cNvPr id="1336325" name="Rectangle 5"/>
          <p:cNvSpPr>
            <a:spLocks noChangeArrowheads="1"/>
          </p:cNvSpPr>
          <p:nvPr/>
        </p:nvSpPr>
        <p:spPr bwMode="auto">
          <a:xfrm>
            <a:off x="5281613" y="3279775"/>
            <a:ext cx="869950" cy="342900"/>
          </a:xfrm>
          <a:prstGeom prst="rect">
            <a:avLst/>
          </a:prstGeom>
          <a:solidFill>
            <a:schemeClr val="bg1"/>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600" b="1">
                <a:solidFill>
                  <a:srgbClr val="3333FF"/>
                </a:solidFill>
                <a:latin typeface="Courier New" pitchFamily="49" charset="0"/>
              </a:rPr>
              <a:t>1234</a:t>
            </a:r>
          </a:p>
        </p:txBody>
      </p:sp>
      <p:sp>
        <p:nvSpPr>
          <p:cNvPr id="1336326" name="AutoShape 6"/>
          <p:cNvSpPr>
            <a:spLocks noChangeArrowheads="1"/>
          </p:cNvSpPr>
          <p:nvPr/>
        </p:nvSpPr>
        <p:spPr bwMode="auto">
          <a:xfrm>
            <a:off x="5627688" y="3763963"/>
            <a:ext cx="225425" cy="215900"/>
          </a:xfrm>
          <a:prstGeom prst="downArrow">
            <a:avLst>
              <a:gd name="adj1" fmla="val 50000"/>
              <a:gd name="adj2" fmla="val 25000"/>
            </a:avLst>
          </a:prstGeom>
          <a:solidFill>
            <a:srgbClr val="D6ECEE"/>
          </a:solidFill>
          <a:ln w="9525" algn="ctr">
            <a:solidFill>
              <a:schemeClr val="hlink"/>
            </a:solidFill>
            <a:miter lim="800000"/>
            <a:headEnd/>
            <a:tailEnd/>
          </a:ln>
          <a:effectLst>
            <a:prstShdw prst="shdw18" dist="17961" dir="13500000">
              <a:schemeClr val="hlink">
                <a:gamma/>
                <a:shade val="60000"/>
                <a:invGamma/>
              </a:schemeClr>
            </a:prstShdw>
          </a:effectLst>
        </p:spPr>
        <p:txBody>
          <a:bodyPr wrap="none" anchor="ctr"/>
          <a:lstStyle/>
          <a:p>
            <a:endParaRPr lang="zh-CN" altLang="en-US"/>
          </a:p>
        </p:txBody>
      </p:sp>
      <p:sp>
        <p:nvSpPr>
          <p:cNvPr id="1336327" name="Text Box 7"/>
          <p:cNvSpPr txBox="1">
            <a:spLocks noChangeArrowheads="1"/>
          </p:cNvSpPr>
          <p:nvPr/>
        </p:nvSpPr>
        <p:spPr bwMode="auto">
          <a:xfrm>
            <a:off x="4067175" y="3230563"/>
            <a:ext cx="1049338"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3333FF"/>
                </a:solidFill>
                <a:latin typeface="Times New Roman" pitchFamily="18" charset="0"/>
              </a:rPr>
              <a:t>整数</a:t>
            </a:r>
          </a:p>
        </p:txBody>
      </p:sp>
      <p:sp>
        <p:nvSpPr>
          <p:cNvPr id="1336328" name="Rectangle 8"/>
          <p:cNvSpPr>
            <a:spLocks noChangeArrowheads="1"/>
          </p:cNvSpPr>
          <p:nvPr/>
        </p:nvSpPr>
        <p:spPr bwMode="auto">
          <a:xfrm>
            <a:off x="4818063" y="4113213"/>
            <a:ext cx="1841500" cy="342900"/>
          </a:xfrm>
          <a:prstGeom prst="rect">
            <a:avLst/>
          </a:prstGeom>
          <a:solidFill>
            <a:srgbClr val="66FFFF"/>
          </a:solidFill>
          <a:ln w="9525" algn="ctr">
            <a:solidFill>
              <a:srgbClr val="99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200" b="1">
                <a:solidFill>
                  <a:srgbClr val="9933FF"/>
                </a:solidFill>
                <a:latin typeface="Courier New" pitchFamily="49" charset="0"/>
              </a:rPr>
              <a:t>00000100 11010010</a:t>
            </a:r>
          </a:p>
        </p:txBody>
      </p:sp>
      <p:sp>
        <p:nvSpPr>
          <p:cNvPr id="1336329" name="Text Box 9"/>
          <p:cNvSpPr txBox="1">
            <a:spLocks noChangeArrowheads="1"/>
          </p:cNvSpPr>
          <p:nvPr/>
        </p:nvSpPr>
        <p:spPr bwMode="auto">
          <a:xfrm>
            <a:off x="1379538" y="3632200"/>
            <a:ext cx="3471862"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9933FF"/>
                </a:solidFill>
                <a:latin typeface="Times New Roman" pitchFamily="18" charset="0"/>
              </a:rPr>
              <a:t>把值</a:t>
            </a:r>
            <a:r>
              <a:rPr kumimoji="1" lang="en-US" altLang="zh-CN" sz="1600" b="1">
                <a:solidFill>
                  <a:srgbClr val="9933FF"/>
                </a:solidFill>
                <a:latin typeface="Times New Roman" pitchFamily="18" charset="0"/>
              </a:rPr>
              <a:t>1234</a:t>
            </a:r>
            <a:r>
              <a:rPr kumimoji="1" lang="zh-CN" altLang="en-US" sz="1600" b="1">
                <a:solidFill>
                  <a:srgbClr val="9933FF"/>
                </a:solidFill>
                <a:latin typeface="Times New Roman" pitchFamily="18" charset="0"/>
              </a:rPr>
              <a:t>的二进制编码写入文件中</a:t>
            </a:r>
          </a:p>
        </p:txBody>
      </p:sp>
    </p:spTree>
    <p:extLst>
      <p:ext uri="{BB962C8B-B14F-4D97-AF65-F5344CB8AC3E}">
        <p14:creationId xmlns:p14="http://schemas.microsoft.com/office/powerpoint/2010/main" val="350632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370" name="Rectangle 2"/>
          <p:cNvSpPr>
            <a:spLocks noGrp="1" noChangeArrowheads="1"/>
          </p:cNvSpPr>
          <p:nvPr>
            <p:ph type="title"/>
          </p:nvPr>
        </p:nvSpPr>
        <p:spPr/>
        <p:txBody>
          <a:bodyPr/>
          <a:lstStyle/>
          <a:p>
            <a:r>
              <a:rPr lang="zh-CN" altLang="en-US" dirty="0">
                <a:latin typeface="华文新魏" pitchFamily="2" charset="-122"/>
              </a:rPr>
              <a:t>文件的概念</a:t>
            </a:r>
          </a:p>
        </p:txBody>
      </p:sp>
      <p:sp>
        <p:nvSpPr>
          <p:cNvPr id="1338371" name="Rectangle 3"/>
          <p:cNvSpPr>
            <a:spLocks noGrp="1" noChangeArrowheads="1"/>
          </p:cNvSpPr>
          <p:nvPr>
            <p:ph idx="1"/>
          </p:nvPr>
        </p:nvSpPr>
        <p:spPr/>
        <p:txBody>
          <a:bodyPr/>
          <a:lstStyle/>
          <a:p>
            <a:r>
              <a:rPr lang="zh-CN" altLang="en-US" dirty="0"/>
              <a:t>文件的读写</a:t>
            </a:r>
            <a:endParaRPr lang="zh-CN" altLang="en-US" sz="2400" dirty="0">
              <a:solidFill>
                <a:srgbClr val="33CC33"/>
              </a:solidFill>
            </a:endParaRPr>
          </a:p>
          <a:p>
            <a:pPr lvl="1"/>
            <a:r>
              <a:rPr lang="zh-CN" altLang="en-US" dirty="0"/>
              <a:t>缓冲文件系统</a:t>
            </a:r>
          </a:p>
          <a:p>
            <a:pPr lvl="2"/>
            <a:r>
              <a:rPr lang="zh-CN" altLang="en-US" dirty="0"/>
              <a:t>系统在内存中开辟一块缓冲区以便慢速的外设与其成块地进行数据交换。</a:t>
            </a:r>
          </a:p>
          <a:p>
            <a:pPr lvl="2"/>
            <a:endParaRPr lang="zh-CN" altLang="en-US" dirty="0"/>
          </a:p>
          <a:p>
            <a:pPr lvl="2"/>
            <a:endParaRPr lang="zh-CN" altLang="en-US" dirty="0"/>
          </a:p>
          <a:p>
            <a:pPr lvl="2"/>
            <a:endParaRPr lang="zh-CN" altLang="en-US" dirty="0"/>
          </a:p>
          <a:p>
            <a:pPr lvl="2"/>
            <a:endParaRPr lang="zh-CN" altLang="en-US" dirty="0"/>
          </a:p>
          <a:p>
            <a:pPr lvl="2"/>
            <a:r>
              <a:rPr lang="zh-CN" altLang="en-US" dirty="0"/>
              <a:t>向磁盘</a:t>
            </a:r>
            <a:r>
              <a:rPr lang="en-US" altLang="zh-CN" dirty="0"/>
              <a:t>(</a:t>
            </a:r>
            <a:r>
              <a:rPr lang="zh-CN" altLang="en-US" dirty="0"/>
              <a:t>文件</a:t>
            </a:r>
            <a:r>
              <a:rPr lang="en-US" altLang="zh-CN" dirty="0"/>
              <a:t>)</a:t>
            </a:r>
            <a:r>
              <a:rPr lang="zh-CN" altLang="en-US" dirty="0"/>
              <a:t>输出数据：</a:t>
            </a:r>
          </a:p>
          <a:p>
            <a:pPr lvl="3">
              <a:buFontTx/>
              <a:buNone/>
            </a:pPr>
            <a:r>
              <a:rPr lang="zh-CN" altLang="en-US" dirty="0"/>
              <a:t>数据</a:t>
            </a:r>
            <a:r>
              <a:rPr lang="en-US" altLang="en-US" dirty="0"/>
              <a:t>→</a:t>
            </a:r>
            <a:r>
              <a:rPr lang="zh-CN" altLang="en-US" dirty="0"/>
              <a:t>缓冲区，装满缓冲区后</a:t>
            </a:r>
            <a:r>
              <a:rPr lang="en-US" altLang="en-US" dirty="0"/>
              <a:t>→</a:t>
            </a:r>
            <a:r>
              <a:rPr lang="zh-CN" altLang="en-US" dirty="0"/>
              <a:t>磁盘文件。</a:t>
            </a:r>
          </a:p>
          <a:p>
            <a:pPr lvl="2"/>
            <a:r>
              <a:rPr lang="zh-CN" altLang="en-US" dirty="0"/>
              <a:t>从磁盘</a:t>
            </a:r>
            <a:r>
              <a:rPr lang="en-US" altLang="zh-CN" dirty="0"/>
              <a:t>(</a:t>
            </a:r>
            <a:r>
              <a:rPr lang="zh-CN" altLang="en-US" dirty="0"/>
              <a:t>文件</a:t>
            </a:r>
            <a:r>
              <a:rPr lang="en-US" altLang="zh-CN" dirty="0"/>
              <a:t>)</a:t>
            </a:r>
            <a:r>
              <a:rPr lang="zh-CN" altLang="en-US" dirty="0"/>
              <a:t>读入数据：</a:t>
            </a:r>
          </a:p>
          <a:p>
            <a:pPr lvl="3"/>
            <a:r>
              <a:rPr lang="zh-CN" altLang="en-US" dirty="0"/>
              <a:t>先一次性从磁盘文件将一批数据输入到缓冲区，</a:t>
            </a:r>
          </a:p>
          <a:p>
            <a:pPr lvl="3"/>
            <a:r>
              <a:rPr lang="zh-CN" altLang="en-US" dirty="0"/>
              <a:t>然后再从缓冲区逐个数据读入到变量。</a:t>
            </a:r>
          </a:p>
        </p:txBody>
      </p:sp>
      <p:sp>
        <p:nvSpPr>
          <p:cNvPr id="1338373" name="AutoShape 5"/>
          <p:cNvSpPr>
            <a:spLocks noChangeArrowheads="1"/>
          </p:cNvSpPr>
          <p:nvPr/>
        </p:nvSpPr>
        <p:spPr bwMode="auto">
          <a:xfrm rot="-5400000">
            <a:off x="4503738" y="2078037"/>
            <a:ext cx="496888" cy="3008313"/>
          </a:xfrm>
          <a:prstGeom prst="can">
            <a:avLst>
              <a:gd name="adj" fmla="val 46164"/>
            </a:avLst>
          </a:prstGeom>
          <a:solidFill>
            <a:srgbClr val="66FFFF"/>
          </a:solidFill>
          <a:ln w="9525">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8374" name="Group 6"/>
          <p:cNvGrpSpPr>
            <a:grpSpLocks/>
          </p:cNvGrpSpPr>
          <p:nvPr/>
        </p:nvGrpSpPr>
        <p:grpSpPr bwMode="auto">
          <a:xfrm>
            <a:off x="1454150" y="3074988"/>
            <a:ext cx="1035050" cy="1212850"/>
            <a:chOff x="2051" y="2598"/>
            <a:chExt cx="652" cy="764"/>
          </a:xfrm>
        </p:grpSpPr>
        <p:sp>
          <p:nvSpPr>
            <p:cNvPr id="1338375" name="AutoShape 7"/>
            <p:cNvSpPr>
              <a:spLocks noChangeArrowheads="1"/>
            </p:cNvSpPr>
            <p:nvPr/>
          </p:nvSpPr>
          <p:spPr bwMode="auto">
            <a:xfrm>
              <a:off x="2051" y="2598"/>
              <a:ext cx="652" cy="764"/>
            </a:xfrm>
            <a:prstGeom prst="flowChartDocument">
              <a:avLst/>
            </a:prstGeom>
            <a:solidFill>
              <a:srgbClr val="CCFF99"/>
            </a:solidFill>
            <a:ln w="9525" algn="ctr">
              <a:solidFill>
                <a:srgbClr val="008000"/>
              </a:solidFill>
              <a:miter lim="800000"/>
              <a:headEnd/>
              <a:tailEnd/>
            </a:ln>
            <a:effectLst>
              <a:outerShdw dist="107763" dir="2700000" algn="ctr" rotWithShape="0">
                <a:schemeClr val="bg2">
                  <a:alpha val="50000"/>
                </a:schemeClr>
              </a:outerShdw>
            </a:effectLst>
          </p:spPr>
          <p:txBody>
            <a:bodyPr wrap="none" anchor="ctr"/>
            <a:lstStyle/>
            <a:p>
              <a:pPr algn="ctr"/>
              <a:endParaRPr lang="zh-CN" altLang="zh-CN" b="1">
                <a:solidFill>
                  <a:srgbClr val="008000"/>
                </a:solidFill>
                <a:latin typeface="Courier New" pitchFamily="49" charset="0"/>
              </a:endParaRPr>
            </a:p>
          </p:txBody>
        </p:sp>
        <p:sp>
          <p:nvSpPr>
            <p:cNvPr id="1338376" name="Line 8"/>
            <p:cNvSpPr>
              <a:spLocks noChangeShapeType="1"/>
            </p:cNvSpPr>
            <p:nvPr/>
          </p:nvSpPr>
          <p:spPr bwMode="auto">
            <a:xfrm>
              <a:off x="2063" y="2692"/>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77" name="Line 9"/>
            <p:cNvSpPr>
              <a:spLocks noChangeShapeType="1"/>
            </p:cNvSpPr>
            <p:nvPr/>
          </p:nvSpPr>
          <p:spPr bwMode="auto">
            <a:xfrm>
              <a:off x="2063" y="2776"/>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78" name="Line 10"/>
            <p:cNvSpPr>
              <a:spLocks noChangeShapeType="1"/>
            </p:cNvSpPr>
            <p:nvPr/>
          </p:nvSpPr>
          <p:spPr bwMode="auto">
            <a:xfrm>
              <a:off x="2063" y="2860"/>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79" name="Line 11"/>
            <p:cNvSpPr>
              <a:spLocks noChangeShapeType="1"/>
            </p:cNvSpPr>
            <p:nvPr/>
          </p:nvSpPr>
          <p:spPr bwMode="auto">
            <a:xfrm>
              <a:off x="2063" y="2944"/>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80" name="Line 12"/>
            <p:cNvSpPr>
              <a:spLocks noChangeShapeType="1"/>
            </p:cNvSpPr>
            <p:nvPr/>
          </p:nvSpPr>
          <p:spPr bwMode="auto">
            <a:xfrm>
              <a:off x="2063" y="3028"/>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81" name="Line 13"/>
            <p:cNvSpPr>
              <a:spLocks noChangeShapeType="1"/>
            </p:cNvSpPr>
            <p:nvPr/>
          </p:nvSpPr>
          <p:spPr bwMode="auto">
            <a:xfrm>
              <a:off x="2063" y="3113"/>
              <a:ext cx="62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82" name="Line 14"/>
            <p:cNvSpPr>
              <a:spLocks noChangeShapeType="1"/>
            </p:cNvSpPr>
            <p:nvPr/>
          </p:nvSpPr>
          <p:spPr bwMode="auto">
            <a:xfrm>
              <a:off x="2067" y="3195"/>
              <a:ext cx="300" cy="0"/>
            </a:xfrm>
            <a:prstGeom prst="line">
              <a:avLst/>
            </a:prstGeom>
            <a:noFill/>
            <a:ln w="952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grpSp>
      <p:grpSp>
        <p:nvGrpSpPr>
          <p:cNvPr id="1338383" name="Group 15"/>
          <p:cNvGrpSpPr>
            <a:grpSpLocks/>
          </p:cNvGrpSpPr>
          <p:nvPr/>
        </p:nvGrpSpPr>
        <p:grpSpPr bwMode="auto">
          <a:xfrm>
            <a:off x="7205663" y="3373438"/>
            <a:ext cx="1287462" cy="514350"/>
            <a:chOff x="3438" y="2762"/>
            <a:chExt cx="811" cy="324"/>
          </a:xfrm>
        </p:grpSpPr>
        <p:sp>
          <p:nvSpPr>
            <p:cNvPr id="1338384" name="AutoShape 16"/>
            <p:cNvSpPr>
              <a:spLocks noChangeArrowheads="1"/>
            </p:cNvSpPr>
            <p:nvPr/>
          </p:nvSpPr>
          <p:spPr bwMode="auto">
            <a:xfrm>
              <a:off x="3438" y="2762"/>
              <a:ext cx="811" cy="324"/>
            </a:xfrm>
            <a:prstGeom prst="flowChartMagneticDisk">
              <a:avLst/>
            </a:prstGeom>
            <a:solidFill>
              <a:schemeClr val="accent1"/>
            </a:solidFill>
            <a:ln w="9525">
              <a:solidFill>
                <a:srgbClr val="3366FF"/>
              </a:solidFill>
              <a:round/>
              <a:headEnd/>
              <a:tailEnd/>
            </a:ln>
            <a:effectLst>
              <a:outerShdw dist="107763" dir="2700000" algn="ctr" rotWithShape="0">
                <a:schemeClr val="bg2">
                  <a:alpha val="50000"/>
                </a:schemeClr>
              </a:outerShdw>
            </a:effectLst>
          </p:spPr>
          <p:txBody>
            <a:bodyPr wrap="none" anchor="ctr"/>
            <a:lstStyle/>
            <a:p>
              <a:pPr algn="ctr"/>
              <a:endParaRPr lang="zh-CN" altLang="zh-CN" sz="1400" b="1">
                <a:solidFill>
                  <a:srgbClr val="3366FF"/>
                </a:solidFill>
                <a:latin typeface="Courier New" pitchFamily="49" charset="0"/>
              </a:endParaRPr>
            </a:p>
          </p:txBody>
        </p:sp>
        <p:sp>
          <p:nvSpPr>
            <p:cNvPr id="1338385" name="AutoShape 17"/>
            <p:cNvSpPr>
              <a:spLocks noChangeArrowheads="1"/>
            </p:cNvSpPr>
            <p:nvPr/>
          </p:nvSpPr>
          <p:spPr bwMode="auto">
            <a:xfrm>
              <a:off x="3587"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1338386" name="AutoShape 18"/>
            <p:cNvSpPr>
              <a:spLocks noChangeArrowheads="1"/>
            </p:cNvSpPr>
            <p:nvPr/>
          </p:nvSpPr>
          <p:spPr bwMode="auto">
            <a:xfrm>
              <a:off x="3732"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1338387" name="AutoShape 19"/>
            <p:cNvSpPr>
              <a:spLocks noChangeArrowheads="1"/>
            </p:cNvSpPr>
            <p:nvPr/>
          </p:nvSpPr>
          <p:spPr bwMode="auto">
            <a:xfrm>
              <a:off x="3878"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1338388" name="AutoShape 20"/>
            <p:cNvSpPr>
              <a:spLocks noChangeArrowheads="1"/>
            </p:cNvSpPr>
            <p:nvPr/>
          </p:nvSpPr>
          <p:spPr bwMode="auto">
            <a:xfrm>
              <a:off x="4024" y="2904"/>
              <a:ext cx="82" cy="111"/>
            </a:xfrm>
            <a:prstGeom prst="foldedCorner">
              <a:avLst>
                <a:gd name="adj" fmla="val 12500"/>
              </a:avLst>
            </a:prstGeom>
            <a:solidFill>
              <a:schemeClr val="bg1"/>
            </a:solidFill>
            <a:ln w="9525">
              <a:solidFill>
                <a:schemeClr val="bg2"/>
              </a:solidFill>
              <a:round/>
              <a:headEnd/>
              <a:tailEnd/>
            </a:ln>
            <a:effectLst>
              <a:outerShdw dist="35921" dir="2700000" algn="ctr" rotWithShape="0">
                <a:schemeClr val="bg2">
                  <a:alpha val="50000"/>
                </a:schemeClr>
              </a:outerShdw>
            </a:effectLst>
          </p:spPr>
          <p:txBody>
            <a:bodyPr wrap="none" anchor="ctr"/>
            <a:lstStyle/>
            <a:p>
              <a:endParaRPr lang="zh-CN" altLang="en-US"/>
            </a:p>
          </p:txBody>
        </p:sp>
      </p:grpSp>
      <p:sp>
        <p:nvSpPr>
          <p:cNvPr id="1338389" name="Line 21"/>
          <p:cNvSpPr>
            <a:spLocks noChangeShapeType="1"/>
          </p:cNvSpPr>
          <p:nvPr/>
        </p:nvSpPr>
        <p:spPr bwMode="auto">
          <a:xfrm>
            <a:off x="2641600" y="3484563"/>
            <a:ext cx="73977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390" name="Line 22"/>
          <p:cNvSpPr>
            <a:spLocks noChangeShapeType="1"/>
          </p:cNvSpPr>
          <p:nvPr/>
        </p:nvSpPr>
        <p:spPr bwMode="auto">
          <a:xfrm flipH="1">
            <a:off x="2641600" y="3670300"/>
            <a:ext cx="73025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391" name="Line 23"/>
          <p:cNvSpPr>
            <a:spLocks noChangeShapeType="1"/>
          </p:cNvSpPr>
          <p:nvPr/>
        </p:nvSpPr>
        <p:spPr bwMode="auto">
          <a:xfrm>
            <a:off x="6272213" y="3486150"/>
            <a:ext cx="73977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392" name="Line 24"/>
          <p:cNvSpPr>
            <a:spLocks noChangeShapeType="1"/>
          </p:cNvSpPr>
          <p:nvPr/>
        </p:nvSpPr>
        <p:spPr bwMode="auto">
          <a:xfrm flipH="1">
            <a:off x="6272213" y="3671888"/>
            <a:ext cx="73025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3248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0418" name="Rectangle 2"/>
          <p:cNvSpPr>
            <a:spLocks noGrp="1" noChangeArrowheads="1"/>
          </p:cNvSpPr>
          <p:nvPr>
            <p:ph type="title"/>
          </p:nvPr>
        </p:nvSpPr>
        <p:spPr/>
        <p:txBody>
          <a:bodyPr/>
          <a:lstStyle/>
          <a:p>
            <a:r>
              <a:rPr lang="zh-CN" altLang="en-US" dirty="0">
                <a:latin typeface="华文新魏" pitchFamily="2" charset="-122"/>
              </a:rPr>
              <a:t>文件指针</a:t>
            </a:r>
          </a:p>
        </p:txBody>
      </p:sp>
      <p:sp>
        <p:nvSpPr>
          <p:cNvPr id="1340419" name="Rectangle 3"/>
          <p:cNvSpPr>
            <a:spLocks noGrp="1" noChangeArrowheads="1"/>
          </p:cNvSpPr>
          <p:nvPr>
            <p:ph idx="1"/>
          </p:nvPr>
        </p:nvSpPr>
        <p:spPr>
          <a:xfrm>
            <a:off x="432000" y="1342962"/>
            <a:ext cx="8280000" cy="5040000"/>
          </a:xfrm>
        </p:spPr>
        <p:txBody>
          <a:bodyPr>
            <a:normAutofit fontScale="92500" lnSpcReduction="10000"/>
          </a:bodyPr>
          <a:lstStyle/>
          <a:p>
            <a:r>
              <a:rPr lang="zh-CN" altLang="en-US" sz="2400" dirty="0"/>
              <a:t>文件信息结构体</a:t>
            </a:r>
            <a:endParaRPr lang="en-US" altLang="zh-CN" sz="2400" dirty="0"/>
          </a:p>
          <a:p>
            <a:pPr lvl="1"/>
            <a:r>
              <a:rPr lang="zh-CN" altLang="en-US" sz="2000" dirty="0"/>
              <a:t>每个被使用的文件都在内存中开辟一存储区存放其相关信息（如文件的名字、文件状态及文件当前读写位置等）</a:t>
            </a:r>
            <a:endParaRPr lang="en-US" altLang="zh-CN" sz="2000" dirty="0"/>
          </a:p>
          <a:p>
            <a:pPr lvl="1"/>
            <a:r>
              <a:rPr lang="zh-CN" altLang="en-US" sz="2000" dirty="0"/>
              <a:t>这些信息用一个结构体变量保存，该</a:t>
            </a:r>
            <a:r>
              <a:rPr lang="zh-CN" altLang="en-US" sz="2000" dirty="0">
                <a:solidFill>
                  <a:srgbClr val="FF00FF"/>
                </a:solidFill>
              </a:rPr>
              <a:t>结构体类型</a:t>
            </a:r>
            <a:r>
              <a:rPr lang="zh-CN" altLang="en-US" sz="2000" dirty="0"/>
              <a:t>的名字是 </a:t>
            </a:r>
            <a:r>
              <a:rPr lang="en-US" altLang="zh-CN" sz="2000" dirty="0">
                <a:solidFill>
                  <a:srgbClr val="FF00FF"/>
                </a:solidFill>
              </a:rPr>
              <a:t>FILE</a:t>
            </a:r>
            <a:r>
              <a:rPr lang="zh-CN" altLang="en-US" sz="2000" dirty="0">
                <a:solidFill>
                  <a:srgbClr val="FF00FF"/>
                </a:solidFill>
              </a:rPr>
              <a:t>，</a:t>
            </a:r>
            <a:r>
              <a:rPr lang="zh-CN" altLang="en-US" sz="2000" dirty="0"/>
              <a:t>由系统声明</a:t>
            </a:r>
            <a:endParaRPr lang="en-US" altLang="zh-CN" sz="2000" dirty="0"/>
          </a:p>
          <a:p>
            <a:r>
              <a:rPr lang="zh-CN" altLang="en-US" sz="2400" dirty="0"/>
              <a:t>文件指针</a:t>
            </a:r>
            <a:r>
              <a:rPr lang="zh-CN" altLang="en-US" sz="2000" dirty="0">
                <a:solidFill>
                  <a:srgbClr val="33CC33"/>
                </a:solidFill>
              </a:rPr>
              <a:t>（指向文件的指针）</a:t>
            </a:r>
          </a:p>
          <a:p>
            <a:pPr lvl="1"/>
            <a:r>
              <a:rPr lang="zh-CN" altLang="en-US" sz="2000" dirty="0"/>
              <a:t>程序通过 </a:t>
            </a:r>
            <a:r>
              <a:rPr lang="en-US" altLang="zh-CN" sz="2000" dirty="0"/>
              <a:t>FILE</a:t>
            </a:r>
            <a:r>
              <a:rPr lang="zh-CN" altLang="en-US" sz="2000" dirty="0"/>
              <a:t>类型指针建立和文件的联系</a:t>
            </a:r>
            <a:endParaRPr lang="en-US" altLang="zh-CN" sz="2000" dirty="0"/>
          </a:p>
          <a:p>
            <a:pPr marL="397800" lvl="1" indent="0">
              <a:buNone/>
            </a:pPr>
            <a:r>
              <a:rPr lang="zh-CN" altLang="en-US" sz="2000" dirty="0"/>
              <a:t>进行关于文件的一切操作</a:t>
            </a:r>
            <a:endParaRPr lang="en-US" altLang="zh-CN" sz="2000" dirty="0"/>
          </a:p>
          <a:p>
            <a:pPr lvl="1"/>
            <a:r>
              <a:rPr lang="zh-CN" altLang="en-US" sz="2000" dirty="0"/>
              <a:t>定义形式：</a:t>
            </a:r>
          </a:p>
          <a:p>
            <a:pPr lvl="2">
              <a:buFont typeface="Wingdings" pitchFamily="2" charset="2"/>
              <a:buNone/>
            </a:pPr>
            <a:r>
              <a:rPr lang="en-US" altLang="zh-CN" sz="1800" dirty="0">
                <a:solidFill>
                  <a:srgbClr val="FF0000"/>
                </a:solidFill>
              </a:rPr>
              <a:t>FILE *</a:t>
            </a:r>
            <a:r>
              <a:rPr lang="zh-CN" altLang="en-US" sz="1800" dirty="0">
                <a:solidFill>
                  <a:srgbClr val="FF0000"/>
                </a:solidFill>
              </a:rPr>
              <a:t>指针变量名</a:t>
            </a:r>
            <a:r>
              <a:rPr lang="en-US" altLang="zh-CN" sz="1800" dirty="0">
                <a:solidFill>
                  <a:srgbClr val="FF0000"/>
                </a:solidFill>
              </a:rPr>
              <a:t>;</a:t>
            </a:r>
            <a:r>
              <a:rPr lang="en-US" altLang="zh-CN" sz="1800" dirty="0"/>
              <a:t> </a:t>
            </a:r>
          </a:p>
          <a:p>
            <a:pPr lvl="1"/>
            <a:r>
              <a:rPr lang="zh-CN" altLang="en-US" sz="2000" dirty="0"/>
              <a:t>举例：</a:t>
            </a:r>
          </a:p>
          <a:p>
            <a:pPr lvl="2"/>
            <a:endParaRPr lang="en-US" altLang="zh-CN" sz="1800" dirty="0"/>
          </a:p>
          <a:p>
            <a:pPr lvl="2"/>
            <a:r>
              <a:rPr lang="zh-CN" altLang="en-US" sz="1800" dirty="0"/>
              <a:t>定义了一个结构体</a:t>
            </a:r>
            <a:r>
              <a:rPr lang="en-US" altLang="zh-CN" sz="1800" dirty="0"/>
              <a:t>FILE</a:t>
            </a:r>
            <a:r>
              <a:rPr lang="zh-CN" altLang="en-US" sz="1800" dirty="0"/>
              <a:t>类型的指针变量：</a:t>
            </a:r>
            <a:r>
              <a:rPr lang="en-US" altLang="zh-CN" sz="1800" dirty="0" err="1"/>
              <a:t>fp</a:t>
            </a:r>
            <a:r>
              <a:rPr lang="zh-CN" altLang="en-US" sz="1800" dirty="0"/>
              <a:t>。</a:t>
            </a:r>
            <a:endParaRPr lang="en-US" altLang="zh-CN" sz="1800" dirty="0"/>
          </a:p>
          <a:p>
            <a:pPr lvl="2"/>
            <a:r>
              <a:rPr lang="zh-CN" altLang="en-US" sz="1800" dirty="0"/>
              <a:t>可以使</a:t>
            </a:r>
            <a:r>
              <a:rPr lang="en-US" altLang="zh-CN" sz="1800" dirty="0" err="1"/>
              <a:t>fp</a:t>
            </a:r>
            <a:r>
              <a:rPr lang="zh-CN" altLang="en-US" sz="1800" dirty="0"/>
              <a:t>指向某一个文件的文件信息区，通过该文件信息区中的信息就能够访问该文件。也就是说，通过文件指针变量能够找到与它关联的文件。</a:t>
            </a:r>
          </a:p>
        </p:txBody>
      </p:sp>
      <p:sp>
        <p:nvSpPr>
          <p:cNvPr id="1340422" name="Text Box 6"/>
          <p:cNvSpPr txBox="1">
            <a:spLocks noChangeArrowheads="1"/>
          </p:cNvSpPr>
          <p:nvPr/>
        </p:nvSpPr>
        <p:spPr bwMode="auto">
          <a:xfrm>
            <a:off x="1955044" y="4735290"/>
            <a:ext cx="2323993" cy="357021"/>
          </a:xfrm>
          <a:prstGeom prst="rect">
            <a:avLst/>
          </a:prstGeom>
          <a:solidFill>
            <a:schemeClr val="bg1"/>
          </a:solidFill>
          <a:ln w="9525" algn="ctr">
            <a:solidFill>
              <a:schemeClr val="hlink"/>
            </a:solidFill>
            <a:miter lim="800000"/>
            <a:headEnd/>
            <a:tailEnd/>
          </a:ln>
          <a:effectLst>
            <a:outerShdw dist="107763" dir="2700000" algn="ctr" rotWithShape="0">
              <a:schemeClr val="bg2">
                <a:alpha val="50000"/>
              </a:schemeClr>
            </a:outerShdw>
          </a:effectLst>
        </p:spPr>
        <p:txBody>
          <a:bodyPr wrap="square">
            <a:spAutoFit/>
          </a:bodyPr>
          <a:lstStyle/>
          <a:p>
            <a:pPr>
              <a:lnSpc>
                <a:spcPct val="110000"/>
              </a:lnSpc>
            </a:pPr>
            <a:r>
              <a:rPr kumimoji="1" lang="en-US" altLang="zh-CN" sz="1600" b="1" dirty="0">
                <a:latin typeface="Courier New" pitchFamily="49" charset="0"/>
              </a:rPr>
              <a:t>FILE *fp1, *fp2;</a:t>
            </a:r>
          </a:p>
        </p:txBody>
      </p:sp>
      <p:pic>
        <p:nvPicPr>
          <p:cNvPr id="6" name="Picture 2">
            <a:extLst>
              <a:ext uri="{FF2B5EF4-FFF2-40B4-BE49-F238E27FC236}">
                <a16:creationId xmlns:a16="http://schemas.microsoft.com/office/drawing/2014/main" id="{4AC91143-26C8-4E0B-9CB7-EA50E7D6B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5438" y="95593"/>
            <a:ext cx="2515386" cy="1589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图片 1">
            <a:extLst>
              <a:ext uri="{FF2B5EF4-FFF2-40B4-BE49-F238E27FC236}">
                <a16:creationId xmlns:a16="http://schemas.microsoft.com/office/drawing/2014/main" id="{0C1C3AAB-DBA4-4560-82AC-2BC6273DB765}"/>
              </a:ext>
            </a:extLst>
          </p:cNvPr>
          <p:cNvPicPr>
            <a:picLocks noChangeAspect="1"/>
          </p:cNvPicPr>
          <p:nvPr/>
        </p:nvPicPr>
        <p:blipFill>
          <a:blip r:embed="rId4"/>
          <a:stretch>
            <a:fillRect/>
          </a:stretch>
        </p:blipFill>
        <p:spPr>
          <a:xfrm>
            <a:off x="6029143" y="2684128"/>
            <a:ext cx="2656225" cy="2830910"/>
          </a:xfrm>
          <a:prstGeom prst="rect">
            <a:avLst/>
          </a:prstGeom>
        </p:spPr>
      </p:pic>
    </p:spTree>
    <p:extLst>
      <p:ext uri="{BB962C8B-B14F-4D97-AF65-F5344CB8AC3E}">
        <p14:creationId xmlns:p14="http://schemas.microsoft.com/office/powerpoint/2010/main" val="1991097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CB91FC-5A08-4BFC-A6D8-26E5FE0B9471}"/>
              </a:ext>
            </a:extLst>
          </p:cNvPr>
          <p:cNvSpPr>
            <a:spLocks noGrp="1"/>
          </p:cNvSpPr>
          <p:nvPr>
            <p:ph type="title"/>
          </p:nvPr>
        </p:nvSpPr>
        <p:spPr/>
        <p:txBody>
          <a:bodyPr/>
          <a:lstStyle/>
          <a:p>
            <a:r>
              <a:rPr lang="zh-CN" altLang="en-US" dirty="0"/>
              <a:t>文件的打开与关闭</a:t>
            </a:r>
            <a:endParaRPr lang="en-US" dirty="0"/>
          </a:p>
        </p:txBody>
      </p:sp>
      <p:sp>
        <p:nvSpPr>
          <p:cNvPr id="3" name="内容占位符 2">
            <a:extLst>
              <a:ext uri="{FF2B5EF4-FFF2-40B4-BE49-F238E27FC236}">
                <a16:creationId xmlns:a16="http://schemas.microsoft.com/office/drawing/2014/main" id="{E63D920B-B5EE-4B2E-9269-817ED9635738}"/>
              </a:ext>
            </a:extLst>
          </p:cNvPr>
          <p:cNvSpPr>
            <a:spLocks noGrp="1"/>
          </p:cNvSpPr>
          <p:nvPr>
            <p:ph idx="1"/>
          </p:nvPr>
        </p:nvSpPr>
        <p:spPr/>
        <p:txBody>
          <a:bodyPr>
            <a:normAutofit/>
          </a:bodyPr>
          <a:lstStyle/>
          <a:p>
            <a:r>
              <a:rPr lang="zh-CN" altLang="en-US" sz="2400" dirty="0"/>
              <a:t>在对文件读写之前，应该“打开”该文件；在使用结束之后，应该“关闭”该文件</a:t>
            </a:r>
            <a:endParaRPr lang="en-US" altLang="zh-CN" sz="2400" dirty="0"/>
          </a:p>
          <a:p>
            <a:pPr lvl="1"/>
            <a:r>
              <a:rPr lang="zh-CN" altLang="en-US" sz="2000" dirty="0"/>
              <a:t>打开文件：为文件建立相应的信息区</a:t>
            </a:r>
            <a:r>
              <a:rPr lang="en-US" altLang="zh-CN" sz="2000" dirty="0"/>
              <a:t>(</a:t>
            </a:r>
            <a:r>
              <a:rPr lang="zh-CN" altLang="en-US" sz="2000" dirty="0"/>
              <a:t>用来存放有关文件的信息</a:t>
            </a:r>
            <a:r>
              <a:rPr lang="en-US" altLang="zh-CN" sz="2000" dirty="0"/>
              <a:t>)</a:t>
            </a:r>
            <a:r>
              <a:rPr lang="zh-CN" altLang="en-US" sz="2000" dirty="0"/>
              <a:t>和文件缓冲区</a:t>
            </a:r>
            <a:r>
              <a:rPr lang="en-US" altLang="zh-CN" sz="2000" dirty="0"/>
              <a:t>(</a:t>
            </a:r>
            <a:r>
              <a:rPr lang="zh-CN" altLang="en-US" sz="2000" dirty="0"/>
              <a:t>用来暂时存放输入输出的数据</a:t>
            </a:r>
            <a:r>
              <a:rPr lang="en-US" altLang="zh-CN" sz="2000" dirty="0"/>
              <a:t>)</a:t>
            </a:r>
            <a:r>
              <a:rPr lang="zh-CN" altLang="en-US" sz="2000" dirty="0"/>
              <a:t>，指定一个指针变量指向该文件，建立起指针变量与文件之间的联系</a:t>
            </a:r>
          </a:p>
          <a:p>
            <a:pPr lvl="1"/>
            <a:endParaRPr lang="en-US" altLang="zh-CN" sz="2000" dirty="0"/>
          </a:p>
          <a:p>
            <a:pPr lvl="1"/>
            <a:endParaRPr lang="en-US" altLang="zh-CN" sz="2000" dirty="0"/>
          </a:p>
          <a:p>
            <a:pPr lvl="1"/>
            <a:r>
              <a:rPr lang="zh-CN" altLang="en-US" sz="2000" dirty="0"/>
              <a:t>关闭文件：撤销文件信息区和文件缓冲区，使文件指针变量不再指向该文件，显然就无法进行对文件的读写了</a:t>
            </a:r>
          </a:p>
          <a:p>
            <a:endParaRPr lang="en-US" dirty="0"/>
          </a:p>
        </p:txBody>
      </p:sp>
      <p:sp>
        <p:nvSpPr>
          <p:cNvPr id="6" name="矩形 5">
            <a:extLst>
              <a:ext uri="{FF2B5EF4-FFF2-40B4-BE49-F238E27FC236}">
                <a16:creationId xmlns:a16="http://schemas.microsoft.com/office/drawing/2014/main" id="{05BA93BA-99F6-4706-848C-C51CAC744613}"/>
              </a:ext>
            </a:extLst>
          </p:cNvPr>
          <p:cNvSpPr/>
          <p:nvPr/>
        </p:nvSpPr>
        <p:spPr>
          <a:xfrm>
            <a:off x="1518081" y="3150224"/>
            <a:ext cx="5899212" cy="369332"/>
          </a:xfrm>
          <a:prstGeom prst="rect">
            <a:avLst/>
          </a:prstGeom>
        </p:spPr>
        <p:txBody>
          <a:bodyPr wrap="square">
            <a:spAutoFit/>
          </a:bodyPr>
          <a:lstStyle/>
          <a:p>
            <a:r>
              <a:rPr lang="fr-FR" dirty="0"/>
              <a:t>FILE * </a:t>
            </a:r>
            <a:r>
              <a:rPr lang="fr-FR" dirty="0">
                <a:solidFill>
                  <a:srgbClr val="FF0000"/>
                </a:solidFill>
              </a:rPr>
              <a:t>fopen</a:t>
            </a:r>
            <a:r>
              <a:rPr lang="fr-FR" dirty="0"/>
              <a:t> ( const char * filename, const char * mode );</a:t>
            </a:r>
            <a:endParaRPr lang="en-US" dirty="0"/>
          </a:p>
        </p:txBody>
      </p:sp>
      <p:sp>
        <p:nvSpPr>
          <p:cNvPr id="8" name="矩形 7">
            <a:extLst>
              <a:ext uri="{FF2B5EF4-FFF2-40B4-BE49-F238E27FC236}">
                <a16:creationId xmlns:a16="http://schemas.microsoft.com/office/drawing/2014/main" id="{4D6894A5-077E-4951-9E15-05EFC8966D89}"/>
              </a:ext>
            </a:extLst>
          </p:cNvPr>
          <p:cNvSpPr/>
          <p:nvPr/>
        </p:nvSpPr>
        <p:spPr>
          <a:xfrm>
            <a:off x="1589102" y="4725112"/>
            <a:ext cx="2611933" cy="369332"/>
          </a:xfrm>
          <a:prstGeom prst="rect">
            <a:avLst/>
          </a:prstGeom>
        </p:spPr>
        <p:txBody>
          <a:bodyPr wrap="none">
            <a:spAutoFit/>
          </a:bodyPr>
          <a:lstStyle/>
          <a:p>
            <a:r>
              <a:rPr lang="en-US" dirty="0"/>
              <a:t>int </a:t>
            </a:r>
            <a:r>
              <a:rPr lang="en-US" dirty="0" err="1">
                <a:solidFill>
                  <a:srgbClr val="FF0000"/>
                </a:solidFill>
              </a:rPr>
              <a:t>fclose</a:t>
            </a:r>
            <a:r>
              <a:rPr lang="en-US" dirty="0"/>
              <a:t> ( FILE * stream );</a:t>
            </a:r>
          </a:p>
        </p:txBody>
      </p:sp>
    </p:spTree>
    <p:extLst>
      <p:ext uri="{BB962C8B-B14F-4D97-AF65-F5344CB8AC3E}">
        <p14:creationId xmlns:p14="http://schemas.microsoft.com/office/powerpoint/2010/main" val="3636396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1" name="Rectangle 3">
            <a:extLst>
              <a:ext uri="{FF2B5EF4-FFF2-40B4-BE49-F238E27FC236}">
                <a16:creationId xmlns:a16="http://schemas.microsoft.com/office/drawing/2014/main" id="{9BC09AAA-4215-406F-94AD-58DB7F4C1994}"/>
              </a:ext>
            </a:extLst>
          </p:cNvPr>
          <p:cNvSpPr>
            <a:spLocks noChangeArrowheads="1"/>
          </p:cNvSpPr>
          <p:nvPr/>
        </p:nvSpPr>
        <p:spPr bwMode="auto">
          <a:xfrm>
            <a:off x="323850" y="1557338"/>
            <a:ext cx="8423275" cy="46799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spcBef>
                <a:spcPct val="0"/>
              </a:spcBef>
            </a:pPr>
            <a:endParaRPr lang="en-US" altLang="en-US" sz="2400" b="0">
              <a:latin typeface="Times New Roman" panose="02020603050405020304" pitchFamily="18" charset="0"/>
            </a:endParaRPr>
          </a:p>
        </p:txBody>
      </p:sp>
      <p:sp>
        <p:nvSpPr>
          <p:cNvPr id="40964" name="Rectangle 4">
            <a:extLst>
              <a:ext uri="{FF2B5EF4-FFF2-40B4-BE49-F238E27FC236}">
                <a16:creationId xmlns:a16="http://schemas.microsoft.com/office/drawing/2014/main" id="{8F5D80D7-D1B2-4533-B913-F8681173AF41}"/>
              </a:ext>
            </a:extLst>
          </p:cNvPr>
          <p:cNvSpPr>
            <a:spLocks noChangeArrowheads="1"/>
          </p:cNvSpPr>
          <p:nvPr/>
        </p:nvSpPr>
        <p:spPr bwMode="auto">
          <a:xfrm>
            <a:off x="250825" y="1412875"/>
            <a:ext cx="8424863" cy="44735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lnSpc>
                <a:spcPct val="120000"/>
              </a:lnSpc>
              <a:spcBef>
                <a:spcPct val="0"/>
              </a:spcBef>
            </a:pPr>
            <a:r>
              <a:rPr kumimoji="1" lang="zh-CN" altLang="en-US" sz="2400" u="sng" dirty="0">
                <a:solidFill>
                  <a:srgbClr val="CC0000"/>
                </a:solidFill>
                <a:latin typeface="Times New Roman" panose="02020603050405020304" pitchFamily="18" charset="0"/>
              </a:rPr>
              <a:t>分类                  函数名       功能                              	</a:t>
            </a:r>
          </a:p>
          <a:p>
            <a:pPr algn="l" eaLnBrk="1" hangingPunct="1">
              <a:lnSpc>
                <a:spcPct val="120000"/>
              </a:lnSpc>
              <a:spcBef>
                <a:spcPct val="0"/>
              </a:spcBef>
            </a:pPr>
            <a:r>
              <a:rPr kumimoji="1" lang="zh-CN" altLang="en-US" sz="2400" dirty="0">
                <a:latin typeface="Times New Roman" panose="02020603050405020304" pitchFamily="18" charset="0"/>
              </a:rPr>
              <a:t>打开文件         </a:t>
            </a:r>
            <a:r>
              <a:rPr kumimoji="1" lang="en-US" altLang="zh-CN" sz="2400" dirty="0" err="1">
                <a:latin typeface="Times New Roman" panose="02020603050405020304" pitchFamily="18" charset="0"/>
              </a:rPr>
              <a:t>fopen</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打开文件          </a:t>
            </a:r>
          </a:p>
          <a:p>
            <a:pPr algn="l" eaLnBrk="1" hangingPunct="1">
              <a:lnSpc>
                <a:spcPct val="120000"/>
              </a:lnSpc>
              <a:spcBef>
                <a:spcPct val="0"/>
              </a:spcBef>
            </a:pPr>
            <a:r>
              <a:rPr kumimoji="1" lang="zh-CN" altLang="en-US" sz="2400" dirty="0">
                <a:latin typeface="Times New Roman" panose="02020603050405020304" pitchFamily="18" charset="0"/>
              </a:rPr>
              <a:t>关闭文件         </a:t>
            </a:r>
            <a:r>
              <a:rPr kumimoji="1" lang="en-US" altLang="zh-CN" sz="2400" dirty="0" err="1">
                <a:latin typeface="Times New Roman" panose="02020603050405020304" pitchFamily="18" charset="0"/>
              </a:rPr>
              <a:t>fclose</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关闭文件</a:t>
            </a:r>
          </a:p>
          <a:p>
            <a:pPr algn="l" eaLnBrk="1" hangingPunct="1">
              <a:lnSpc>
                <a:spcPct val="120000"/>
              </a:lnSpc>
              <a:spcBef>
                <a:spcPct val="0"/>
              </a:spcBef>
            </a:pPr>
            <a:r>
              <a:rPr kumimoji="1" lang="zh-CN" altLang="en-US" sz="2400" dirty="0">
                <a:latin typeface="Times New Roman" panose="02020603050405020304" pitchFamily="18" charset="0"/>
              </a:rPr>
              <a:t>文件定位         </a:t>
            </a:r>
            <a:r>
              <a:rPr kumimoji="1" lang="en-US" altLang="zh-CN" sz="2400" dirty="0" err="1">
                <a:latin typeface="Times New Roman" panose="02020603050405020304" pitchFamily="18" charset="0"/>
              </a:rPr>
              <a:t>fseek</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改变文件位置指针的位置</a:t>
            </a:r>
          </a:p>
          <a:p>
            <a:pPr algn="l" eaLnBrk="1" hangingPunct="1">
              <a:lnSpc>
                <a:spcPct val="120000"/>
              </a:lnSpc>
              <a:spcBef>
                <a:spcPct val="0"/>
              </a:spcBef>
            </a:pP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rewind()    </a:t>
            </a:r>
            <a:r>
              <a:rPr kumimoji="1" lang="zh-CN" altLang="en-US" sz="2400" dirty="0">
                <a:latin typeface="Times New Roman" panose="02020603050405020304" pitchFamily="18" charset="0"/>
              </a:rPr>
              <a:t>使文件位置指针重新至于文件开头</a:t>
            </a:r>
          </a:p>
          <a:p>
            <a:pPr algn="l" eaLnBrk="1" hangingPunct="1">
              <a:lnSpc>
                <a:spcPct val="120000"/>
              </a:lnSpc>
              <a:spcBef>
                <a:spcPct val="0"/>
              </a:spcBef>
            </a:pPr>
            <a:r>
              <a:rPr lang="zh-CN" altLang="en-US" sz="2400" dirty="0">
                <a:latin typeface="Times New Roman" panose="02020603050405020304" pitchFamily="18" charset="0"/>
              </a:rPr>
              <a:t>                         </a:t>
            </a:r>
            <a:r>
              <a:rPr lang="en-US" altLang="zh-CN" sz="2400" dirty="0" err="1">
                <a:latin typeface="Times New Roman" panose="02020603050405020304" pitchFamily="18" charset="0"/>
              </a:rPr>
              <a:t>ftell</a:t>
            </a:r>
            <a:r>
              <a:rPr lang="en-US" altLang="zh-CN" sz="2400" dirty="0">
                <a:latin typeface="Times New Roman" panose="02020603050405020304" pitchFamily="18" charset="0"/>
              </a:rPr>
              <a:t>()         </a:t>
            </a:r>
            <a:r>
              <a:rPr lang="zh-CN" altLang="en-US" sz="2400" dirty="0">
                <a:latin typeface="Times New Roman" panose="02020603050405020304" pitchFamily="18" charset="0"/>
              </a:rPr>
              <a:t>返回文件位置指针的当前值</a:t>
            </a:r>
          </a:p>
          <a:p>
            <a:pPr algn="l" eaLnBrk="1" hangingPunct="1">
              <a:lnSpc>
                <a:spcPct val="120000"/>
              </a:lnSpc>
              <a:spcBef>
                <a:spcPct val="0"/>
              </a:spcBef>
            </a:pPr>
            <a:r>
              <a:rPr lang="zh-CN" altLang="en-US" sz="2400" dirty="0">
                <a:latin typeface="Times New Roman" panose="02020603050405020304" pitchFamily="18" charset="0"/>
              </a:rPr>
              <a:t>文件状态         </a:t>
            </a:r>
            <a:r>
              <a:rPr lang="en-US" altLang="zh-CN" sz="2400" dirty="0" err="1">
                <a:latin typeface="Times New Roman" panose="02020603050405020304" pitchFamily="18" charset="0"/>
              </a:rPr>
              <a:t>feof</a:t>
            </a:r>
            <a:r>
              <a:rPr lang="en-US" altLang="zh-CN" sz="2400" dirty="0">
                <a:latin typeface="Times New Roman" panose="02020603050405020304" pitchFamily="18" charset="0"/>
              </a:rPr>
              <a:t>()          </a:t>
            </a:r>
            <a:r>
              <a:rPr lang="zh-CN" altLang="en-US" sz="2400" dirty="0">
                <a:latin typeface="Times New Roman" panose="02020603050405020304" pitchFamily="18" charset="0"/>
              </a:rPr>
              <a:t>若到文件末尾，函数值为真</a:t>
            </a:r>
          </a:p>
          <a:p>
            <a:pPr algn="l" eaLnBrk="1" hangingPunct="1">
              <a:lnSpc>
                <a:spcPct val="120000"/>
              </a:lnSpc>
              <a:spcBef>
                <a:spcPct val="0"/>
              </a:spcBef>
            </a:pPr>
            <a:r>
              <a:rPr lang="zh-CN" altLang="en-US" sz="2400" dirty="0">
                <a:latin typeface="Times New Roman" panose="02020603050405020304" pitchFamily="18" charset="0"/>
              </a:rPr>
              <a:t>                        </a:t>
            </a:r>
            <a:r>
              <a:rPr lang="en-US" altLang="zh-CN" sz="2400" dirty="0" err="1">
                <a:latin typeface="Times New Roman" panose="02020603050405020304" pitchFamily="18" charset="0"/>
              </a:rPr>
              <a:t>ferror</a:t>
            </a:r>
            <a:r>
              <a:rPr lang="en-US" altLang="zh-CN" sz="2400" dirty="0">
                <a:latin typeface="Times New Roman" panose="02020603050405020304" pitchFamily="18" charset="0"/>
              </a:rPr>
              <a:t>()      </a:t>
            </a:r>
            <a:r>
              <a:rPr lang="zh-CN" altLang="en-US" sz="2400" dirty="0">
                <a:latin typeface="Times New Roman" panose="02020603050405020304" pitchFamily="18" charset="0"/>
              </a:rPr>
              <a:t>若对文件操作出错，函数值为真</a:t>
            </a:r>
          </a:p>
          <a:p>
            <a:pPr algn="l" eaLnBrk="1" hangingPunct="1">
              <a:lnSpc>
                <a:spcPct val="120000"/>
              </a:lnSpc>
              <a:spcBef>
                <a:spcPct val="0"/>
              </a:spcBef>
            </a:pPr>
            <a:r>
              <a:rPr lang="zh-CN" altLang="en-US" sz="2400" dirty="0">
                <a:latin typeface="Times New Roman" panose="02020603050405020304" pitchFamily="18" charset="0"/>
              </a:rPr>
              <a:t>                        </a:t>
            </a:r>
            <a:r>
              <a:rPr lang="en-US" altLang="zh-CN" sz="2400" dirty="0" err="1">
                <a:latin typeface="Times New Roman" panose="02020603050405020304" pitchFamily="18" charset="0"/>
              </a:rPr>
              <a:t>clearerr</a:t>
            </a:r>
            <a:r>
              <a:rPr lang="en-US" altLang="zh-CN" sz="2400" dirty="0">
                <a:latin typeface="Times New Roman" panose="02020603050405020304" pitchFamily="18" charset="0"/>
              </a:rPr>
              <a:t>()   </a:t>
            </a:r>
            <a:r>
              <a:rPr lang="zh-CN" altLang="en-US" sz="2400" dirty="0">
                <a:latin typeface="Times New Roman" panose="02020603050405020304" pitchFamily="18" charset="0"/>
              </a:rPr>
              <a:t>使</a:t>
            </a:r>
            <a:r>
              <a:rPr lang="en-US" altLang="zh-CN" sz="2400" dirty="0" err="1">
                <a:latin typeface="Times New Roman" panose="02020603050405020304" pitchFamily="18" charset="0"/>
              </a:rPr>
              <a:t>ferror</a:t>
            </a:r>
            <a:r>
              <a:rPr lang="zh-CN" altLang="en-US" sz="2400" dirty="0">
                <a:latin typeface="Times New Roman" panose="02020603050405020304" pitchFamily="18" charset="0"/>
              </a:rPr>
              <a:t>和</a:t>
            </a:r>
            <a:r>
              <a:rPr lang="en-US" altLang="zh-CN" sz="2400" dirty="0" err="1">
                <a:latin typeface="Times New Roman" panose="02020603050405020304" pitchFamily="18" charset="0"/>
              </a:rPr>
              <a:t>feof</a:t>
            </a:r>
            <a:r>
              <a:rPr lang="en-US" altLang="zh-CN" sz="2400" dirty="0">
                <a:latin typeface="Times New Roman" panose="02020603050405020304" pitchFamily="18" charset="0"/>
              </a:rPr>
              <a:t>()</a:t>
            </a:r>
            <a:r>
              <a:rPr lang="zh-CN" altLang="en-US" sz="2400" dirty="0">
                <a:latin typeface="Times New Roman" panose="02020603050405020304" pitchFamily="18" charset="0"/>
              </a:rPr>
              <a:t>函数值置零</a:t>
            </a:r>
          </a:p>
          <a:p>
            <a:pPr algn="l" eaLnBrk="1" hangingPunct="1">
              <a:lnSpc>
                <a:spcPct val="120000"/>
              </a:lnSpc>
              <a:spcBef>
                <a:spcPct val="0"/>
              </a:spcBef>
            </a:pPr>
            <a:endParaRPr kumimoji="1" lang="zh-CN" altLang="en-US" sz="2400" dirty="0">
              <a:latin typeface="Times New Roman" panose="02020603050405020304" pitchFamily="18" charset="0"/>
            </a:endParaRPr>
          </a:p>
        </p:txBody>
      </p:sp>
      <p:sp>
        <p:nvSpPr>
          <p:cNvPr id="2" name="标题 1">
            <a:extLst>
              <a:ext uri="{FF2B5EF4-FFF2-40B4-BE49-F238E27FC236}">
                <a16:creationId xmlns:a16="http://schemas.microsoft.com/office/drawing/2014/main" id="{9964F80F-D1DB-4AB1-B088-EF088AAF0A52}"/>
              </a:ext>
            </a:extLst>
          </p:cNvPr>
          <p:cNvSpPr>
            <a:spLocks noGrp="1"/>
          </p:cNvSpPr>
          <p:nvPr>
            <p:ph type="title"/>
          </p:nvPr>
        </p:nvSpPr>
        <p:spPr/>
        <p:txBody>
          <a:bodyPr>
            <a:normAutofit/>
          </a:bodyPr>
          <a:lstStyle/>
          <a:p>
            <a:r>
              <a:rPr lang="zh-CN" altLang="en-US" dirty="0"/>
              <a:t>文件操作函数一览表</a:t>
            </a:r>
            <a:r>
              <a:rPr lang="en-US" altLang="zh-CN" dirty="0"/>
              <a:t>1</a:t>
            </a:r>
            <a:endParaRPr lang="en-US" dirty="0"/>
          </a:p>
        </p:txBody>
      </p:sp>
    </p:spTree>
    <p:extLst>
      <p:ext uri="{BB962C8B-B14F-4D97-AF65-F5344CB8AC3E}">
        <p14:creationId xmlns:p14="http://schemas.microsoft.com/office/powerpoint/2010/main" val="433127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5" name="Rectangle 3">
            <a:extLst>
              <a:ext uri="{FF2B5EF4-FFF2-40B4-BE49-F238E27FC236}">
                <a16:creationId xmlns:a16="http://schemas.microsoft.com/office/drawing/2014/main" id="{24AB334B-716E-46F2-95E4-B2BB4EA94786}"/>
              </a:ext>
            </a:extLst>
          </p:cNvPr>
          <p:cNvSpPr>
            <a:spLocks noChangeArrowheads="1"/>
          </p:cNvSpPr>
          <p:nvPr/>
        </p:nvSpPr>
        <p:spPr bwMode="auto">
          <a:xfrm>
            <a:off x="323850" y="1557338"/>
            <a:ext cx="8423275" cy="46799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spcBef>
                <a:spcPct val="0"/>
              </a:spcBef>
            </a:pPr>
            <a:endParaRPr lang="en-US" altLang="en-US" sz="2400" b="0">
              <a:latin typeface="Times New Roman" panose="02020603050405020304" pitchFamily="18" charset="0"/>
            </a:endParaRPr>
          </a:p>
        </p:txBody>
      </p:sp>
      <p:sp>
        <p:nvSpPr>
          <p:cNvPr id="41988" name="Rectangle 4">
            <a:extLst>
              <a:ext uri="{FF2B5EF4-FFF2-40B4-BE49-F238E27FC236}">
                <a16:creationId xmlns:a16="http://schemas.microsoft.com/office/drawing/2014/main" id="{0C5FAD56-234D-481C-96B0-C661CE5A64D9}"/>
              </a:ext>
            </a:extLst>
          </p:cNvPr>
          <p:cNvSpPr>
            <a:spLocks noChangeArrowheads="1"/>
          </p:cNvSpPr>
          <p:nvPr/>
        </p:nvSpPr>
        <p:spPr bwMode="auto">
          <a:xfrm>
            <a:off x="560278" y="1117362"/>
            <a:ext cx="8424863" cy="55784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lnSpc>
                <a:spcPct val="125000"/>
              </a:lnSpc>
              <a:spcBef>
                <a:spcPct val="0"/>
              </a:spcBef>
            </a:pPr>
            <a:r>
              <a:rPr kumimoji="1" lang="zh-CN" altLang="en-US" sz="2400" u="sng" dirty="0">
                <a:solidFill>
                  <a:srgbClr val="CC0000"/>
                </a:solidFill>
                <a:latin typeface="Times New Roman" panose="02020603050405020304" pitchFamily="18" charset="0"/>
              </a:rPr>
              <a:t>分类                  函数名       功能                              	</a:t>
            </a:r>
          </a:p>
          <a:p>
            <a:pPr algn="l" eaLnBrk="1" hangingPunct="1">
              <a:lnSpc>
                <a:spcPct val="125000"/>
              </a:lnSpc>
              <a:spcBef>
                <a:spcPct val="0"/>
              </a:spcBef>
            </a:pPr>
            <a:r>
              <a:rPr kumimoji="1" lang="zh-CN" altLang="en-US" sz="2400" dirty="0">
                <a:latin typeface="Times New Roman" panose="02020603050405020304" pitchFamily="18" charset="0"/>
              </a:rPr>
              <a:t>文件读写         </a:t>
            </a:r>
            <a:r>
              <a:rPr kumimoji="1" lang="en-US" altLang="zh-CN" sz="2400" dirty="0" err="1">
                <a:latin typeface="Times New Roman" panose="02020603050405020304" pitchFamily="18" charset="0"/>
              </a:rPr>
              <a:t>fgetc</a:t>
            </a:r>
            <a:r>
              <a:rPr kumimoji="1" lang="en-US" altLang="zh-CN" sz="2400" dirty="0">
                <a:latin typeface="Times New Roman" panose="02020603050405020304" pitchFamily="18" charset="0"/>
              </a:rPr>
              <a:t>(),</a:t>
            </a:r>
            <a:r>
              <a:rPr kumimoji="1" lang="en-US" altLang="zh-CN" sz="2400" dirty="0" err="1">
                <a:latin typeface="Times New Roman" panose="02020603050405020304" pitchFamily="18" charset="0"/>
              </a:rPr>
              <a:t>getc</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从指定文件取得一个字符          </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fputc</a:t>
            </a:r>
            <a:r>
              <a:rPr kumimoji="1" lang="en-US" altLang="zh-CN" sz="2400" dirty="0">
                <a:latin typeface="Times New Roman" panose="02020603050405020304" pitchFamily="18" charset="0"/>
              </a:rPr>
              <a:t>(),</a:t>
            </a:r>
            <a:r>
              <a:rPr kumimoji="1" lang="en-US" altLang="zh-CN" sz="2400" dirty="0" err="1">
                <a:latin typeface="Times New Roman" panose="02020603050405020304" pitchFamily="18" charset="0"/>
              </a:rPr>
              <a:t>putc</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把字符输出到指定文件</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fgets</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从指定文件读取字符串</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fputs</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把字符串输出到指定文件</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getw</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从指定文件读取一个字（</a:t>
            </a:r>
            <a:r>
              <a:rPr kumimoji="1" lang="en-US" altLang="zh-CN" sz="2400" dirty="0" err="1">
                <a:latin typeface="Times New Roman" panose="02020603050405020304" pitchFamily="18" charset="0"/>
              </a:rPr>
              <a:t>int</a:t>
            </a:r>
            <a:r>
              <a:rPr kumimoji="1" lang="zh-CN" altLang="en-US" sz="2400" dirty="0">
                <a:latin typeface="Times New Roman" panose="02020603050405020304" pitchFamily="18" charset="0"/>
              </a:rPr>
              <a:t>型）</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putw</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把一个字输出到指定文件</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fread</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从指定文件中读取数据项</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fwrite</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把数据项写到指定文件中</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fscanf</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从指定文件按格式输入数据</a:t>
            </a: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fprintf</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按指定格式将数据写到指定文件中</a:t>
            </a:r>
          </a:p>
          <a:p>
            <a:pPr algn="l" eaLnBrk="1" hangingPunct="1">
              <a:lnSpc>
                <a:spcPct val="125000"/>
              </a:lnSpc>
              <a:spcBef>
                <a:spcPct val="0"/>
              </a:spcBef>
            </a:pPr>
            <a:endParaRPr kumimoji="1" lang="zh-CN" altLang="en-US" sz="2400" dirty="0">
              <a:latin typeface="Times New Roman" panose="02020603050405020304" pitchFamily="18" charset="0"/>
            </a:endParaRPr>
          </a:p>
        </p:txBody>
      </p:sp>
      <p:sp>
        <p:nvSpPr>
          <p:cNvPr id="5" name="标题 4">
            <a:extLst>
              <a:ext uri="{FF2B5EF4-FFF2-40B4-BE49-F238E27FC236}">
                <a16:creationId xmlns:a16="http://schemas.microsoft.com/office/drawing/2014/main" id="{0B6C1B37-9903-46F8-9152-ADCC4C95BDD2}"/>
              </a:ext>
            </a:extLst>
          </p:cNvPr>
          <p:cNvSpPr>
            <a:spLocks noGrp="1"/>
          </p:cNvSpPr>
          <p:nvPr>
            <p:ph type="title"/>
          </p:nvPr>
        </p:nvSpPr>
        <p:spPr/>
        <p:txBody>
          <a:bodyPr>
            <a:normAutofit/>
          </a:bodyPr>
          <a:lstStyle/>
          <a:p>
            <a:r>
              <a:rPr lang="zh-CN" altLang="en-US" dirty="0"/>
              <a:t>文件操作函数一览表</a:t>
            </a:r>
            <a:r>
              <a:rPr lang="en-US" altLang="zh-CN" dirty="0"/>
              <a:t>2</a:t>
            </a:r>
            <a:endParaRPr lang="en-US" dirty="0"/>
          </a:p>
        </p:txBody>
      </p:sp>
    </p:spTree>
    <p:extLst>
      <p:ext uri="{BB962C8B-B14F-4D97-AF65-F5344CB8AC3E}">
        <p14:creationId xmlns:p14="http://schemas.microsoft.com/office/powerpoint/2010/main" val="38641946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466" name="Rectangle 2"/>
          <p:cNvSpPr>
            <a:spLocks noGrp="1" noChangeArrowheads="1"/>
          </p:cNvSpPr>
          <p:nvPr>
            <p:ph type="title"/>
          </p:nvPr>
        </p:nvSpPr>
        <p:spPr/>
        <p:txBody>
          <a:bodyPr/>
          <a:lstStyle/>
          <a:p>
            <a:r>
              <a:rPr lang="zh-CN" altLang="en-US" dirty="0">
                <a:latin typeface="华文新魏" pitchFamily="2" charset="-122"/>
              </a:rPr>
              <a:t>文件的打开</a:t>
            </a:r>
          </a:p>
        </p:txBody>
      </p:sp>
      <p:sp>
        <p:nvSpPr>
          <p:cNvPr id="1342467" name="Rectangle 3"/>
          <p:cNvSpPr>
            <a:spLocks noGrp="1" noChangeArrowheads="1"/>
          </p:cNvSpPr>
          <p:nvPr>
            <p:ph idx="1"/>
          </p:nvPr>
        </p:nvSpPr>
        <p:spPr/>
        <p:txBody>
          <a:bodyPr/>
          <a:lstStyle/>
          <a:p>
            <a:r>
              <a:rPr lang="en-US" altLang="zh-CN" sz="2000" dirty="0" err="1">
                <a:solidFill>
                  <a:srgbClr val="FF0000"/>
                </a:solidFill>
              </a:rPr>
              <a:t>fopen</a:t>
            </a:r>
            <a:r>
              <a:rPr lang="en-US" altLang="zh-CN" sz="2000" dirty="0">
                <a:solidFill>
                  <a:srgbClr val="FF0000"/>
                </a:solidFill>
              </a:rPr>
              <a:t>()</a:t>
            </a:r>
            <a:r>
              <a:rPr lang="zh-CN" altLang="en-US" sz="2000" dirty="0">
                <a:solidFill>
                  <a:srgbClr val="FF0000"/>
                </a:solidFill>
              </a:rPr>
              <a:t>函数</a:t>
            </a:r>
            <a:endParaRPr lang="zh-CN" altLang="en-US" sz="1800" dirty="0">
              <a:solidFill>
                <a:srgbClr val="33CC33"/>
              </a:solidFill>
            </a:endParaRPr>
          </a:p>
          <a:p>
            <a:pPr lvl="1"/>
            <a:r>
              <a:rPr lang="zh-CN" altLang="en-US" sz="1800" dirty="0"/>
              <a:t>为该文件定义一个文件类型指针</a:t>
            </a:r>
            <a:endParaRPr lang="en-US" altLang="zh-CN" sz="1800" dirty="0"/>
          </a:p>
          <a:p>
            <a:pPr lvl="1"/>
            <a:r>
              <a:rPr lang="zh-CN" altLang="en-US" sz="1800" dirty="0"/>
              <a:t>用</a:t>
            </a:r>
            <a:r>
              <a:rPr lang="en-US" altLang="zh-CN" sz="1800" dirty="0" err="1">
                <a:solidFill>
                  <a:srgbClr val="FF0000"/>
                </a:solidFill>
              </a:rPr>
              <a:t>fopen</a:t>
            </a:r>
            <a:r>
              <a:rPr lang="en-US" altLang="zh-CN" sz="1800" dirty="0">
                <a:solidFill>
                  <a:srgbClr val="FF0000"/>
                </a:solidFill>
              </a:rPr>
              <a:t>()</a:t>
            </a:r>
            <a:r>
              <a:rPr lang="zh-CN" altLang="en-US" sz="1800" dirty="0">
                <a:solidFill>
                  <a:srgbClr val="FF0000"/>
                </a:solidFill>
              </a:rPr>
              <a:t>函数</a:t>
            </a:r>
            <a:r>
              <a:rPr lang="zh-CN" altLang="en-US" sz="1800" dirty="0"/>
              <a:t>打开文件，该函数有两个参数：</a:t>
            </a:r>
            <a:endParaRPr lang="en-US" altLang="zh-CN" sz="1800" dirty="0"/>
          </a:p>
          <a:p>
            <a:pPr lvl="2"/>
            <a:r>
              <a:rPr lang="zh-CN" altLang="en-US" sz="1600" dirty="0"/>
              <a:t>“文件名”与“文件使用方式”。</a:t>
            </a:r>
            <a:endParaRPr lang="en-US" altLang="zh-CN" sz="1600" dirty="0"/>
          </a:p>
          <a:p>
            <a:pPr lvl="2"/>
            <a:r>
              <a:rPr lang="zh-CN" altLang="en-US" sz="1600" dirty="0"/>
              <a:t>它们均是字符串。</a:t>
            </a:r>
            <a:endParaRPr lang="zh-CN" altLang="en-US" dirty="0"/>
          </a:p>
        </p:txBody>
      </p:sp>
      <p:sp>
        <p:nvSpPr>
          <p:cNvPr id="1342469" name="Text Box 5"/>
          <p:cNvSpPr txBox="1">
            <a:spLocks noChangeArrowheads="1"/>
          </p:cNvSpPr>
          <p:nvPr/>
        </p:nvSpPr>
        <p:spPr bwMode="auto">
          <a:xfrm>
            <a:off x="3621535" y="698179"/>
            <a:ext cx="5237163" cy="835025"/>
          </a:xfrm>
          <a:prstGeom prst="rect">
            <a:avLst/>
          </a:prstGeom>
          <a:solidFill>
            <a:schemeClr val="bg1"/>
          </a:solidFill>
          <a:ln w="9525" algn="ctr">
            <a:solidFill>
              <a:schemeClr val="hlink"/>
            </a:solidFill>
            <a:miter lim="800000"/>
            <a:headEnd/>
            <a:tailEnd/>
          </a:ln>
          <a:effectLst>
            <a:outerShdw dist="107763" dir="2700000" algn="ctr" rotWithShape="0">
              <a:schemeClr val="bg2">
                <a:alpha val="50000"/>
              </a:schemeClr>
            </a:outerShdw>
          </a:effectLst>
        </p:spPr>
        <p:txBody>
          <a:bodyPr>
            <a:spAutoFit/>
          </a:bodyPr>
          <a:lstStyle/>
          <a:p>
            <a:r>
              <a:rPr kumimoji="1" lang="en-US" altLang="zh-CN" sz="1600" b="1" dirty="0">
                <a:latin typeface="Courier New" pitchFamily="49" charset="0"/>
              </a:rPr>
              <a:t>FILE  *</a:t>
            </a:r>
            <a:r>
              <a:rPr kumimoji="1" lang="zh-CN" altLang="en-US" sz="1600" b="1" dirty="0">
                <a:latin typeface="Courier New" pitchFamily="49" charset="0"/>
              </a:rPr>
              <a:t>文件指针名</a:t>
            </a:r>
            <a:r>
              <a:rPr kumimoji="1" lang="en-US" altLang="zh-CN" sz="1600" b="1" dirty="0">
                <a:latin typeface="Courier New" pitchFamily="49" charset="0"/>
              </a:rPr>
              <a:t>;</a:t>
            </a:r>
          </a:p>
          <a:p>
            <a:r>
              <a:rPr kumimoji="1" lang="en-US" altLang="zh-CN" sz="1600" b="1" dirty="0">
                <a:latin typeface="Courier New" pitchFamily="49" charset="0"/>
              </a:rPr>
              <a:t>…</a:t>
            </a:r>
          </a:p>
          <a:p>
            <a:r>
              <a:rPr kumimoji="1" lang="zh-CN" altLang="en-US" sz="1600" b="1" dirty="0">
                <a:latin typeface="Courier New" pitchFamily="49" charset="0"/>
              </a:rPr>
              <a:t>文件指针名＝</a:t>
            </a:r>
            <a:r>
              <a:rPr kumimoji="1" lang="en-US" altLang="zh-CN" sz="1600" b="1" dirty="0" err="1">
                <a:latin typeface="Courier New" pitchFamily="49" charset="0"/>
              </a:rPr>
              <a:t>fopen</a:t>
            </a:r>
            <a:r>
              <a:rPr kumimoji="1" lang="en-US" altLang="zh-CN" sz="1600" b="1" dirty="0">
                <a:latin typeface="Courier New" pitchFamily="49" charset="0"/>
              </a:rPr>
              <a:t>("</a:t>
            </a:r>
            <a:r>
              <a:rPr kumimoji="1" lang="zh-CN" altLang="en-US" sz="1600" b="1" dirty="0">
                <a:latin typeface="Courier New" pitchFamily="49" charset="0"/>
              </a:rPr>
              <a:t>文件名</a:t>
            </a:r>
            <a:r>
              <a:rPr kumimoji="1" lang="en-US" altLang="zh-CN" sz="1600" b="1" dirty="0">
                <a:latin typeface="Courier New" pitchFamily="49" charset="0"/>
              </a:rPr>
              <a:t>","</a:t>
            </a:r>
            <a:r>
              <a:rPr kumimoji="1" lang="zh-CN" altLang="en-US" sz="1600" b="1" dirty="0">
                <a:latin typeface="Courier New" pitchFamily="49" charset="0"/>
              </a:rPr>
              <a:t>文件使用方式</a:t>
            </a:r>
            <a:r>
              <a:rPr kumimoji="1" lang="en-US" altLang="zh-CN" sz="1600" b="1" dirty="0">
                <a:latin typeface="Courier New" pitchFamily="49" charset="0"/>
              </a:rPr>
              <a:t>"); </a:t>
            </a:r>
          </a:p>
        </p:txBody>
      </p:sp>
      <p:graphicFrame>
        <p:nvGraphicFramePr>
          <p:cNvPr id="6" name="表格 5">
            <a:extLst>
              <a:ext uri="{FF2B5EF4-FFF2-40B4-BE49-F238E27FC236}">
                <a16:creationId xmlns:a16="http://schemas.microsoft.com/office/drawing/2014/main" id="{CF93F5B6-DFFF-41DE-B651-428B59823A23}"/>
              </a:ext>
            </a:extLst>
          </p:cNvPr>
          <p:cNvGraphicFramePr>
            <a:graphicFrameLocks noGrp="1"/>
          </p:cNvGraphicFramePr>
          <p:nvPr>
            <p:extLst>
              <p:ext uri="{D42A27DB-BD31-4B8C-83A1-F6EECF244321}">
                <p14:modId xmlns:p14="http://schemas.microsoft.com/office/powerpoint/2010/main" val="3778235790"/>
              </p:ext>
            </p:extLst>
          </p:nvPr>
        </p:nvGraphicFramePr>
        <p:xfrm>
          <a:off x="3621535" y="2940726"/>
          <a:ext cx="5437016" cy="3849300"/>
        </p:xfrm>
        <a:graphic>
          <a:graphicData uri="http://schemas.openxmlformats.org/drawingml/2006/table">
            <a:tbl>
              <a:tblPr firstRow="1" bandRow="1"/>
              <a:tblGrid>
                <a:gridCol w="864095">
                  <a:extLst>
                    <a:ext uri="{9D8B030D-6E8A-4147-A177-3AD203B41FA5}">
                      <a16:colId xmlns:a16="http://schemas.microsoft.com/office/drawing/2014/main" val="667557861"/>
                    </a:ext>
                  </a:extLst>
                </a:gridCol>
                <a:gridCol w="2520280">
                  <a:extLst>
                    <a:ext uri="{9D8B030D-6E8A-4147-A177-3AD203B41FA5}">
                      <a16:colId xmlns:a16="http://schemas.microsoft.com/office/drawing/2014/main" val="2574602929"/>
                    </a:ext>
                  </a:extLst>
                </a:gridCol>
                <a:gridCol w="936104">
                  <a:extLst>
                    <a:ext uri="{9D8B030D-6E8A-4147-A177-3AD203B41FA5}">
                      <a16:colId xmlns:a16="http://schemas.microsoft.com/office/drawing/2014/main" val="2554370023"/>
                    </a:ext>
                  </a:extLst>
                </a:gridCol>
                <a:gridCol w="1116537">
                  <a:extLst>
                    <a:ext uri="{9D8B030D-6E8A-4147-A177-3AD203B41FA5}">
                      <a16:colId xmlns:a16="http://schemas.microsoft.com/office/drawing/2014/main" val="20003"/>
                    </a:ext>
                  </a:extLst>
                </a:gridCol>
              </a:tblGrid>
              <a:tr h="288000">
                <a:tc>
                  <a:txBody>
                    <a:bodyPr/>
                    <a:lstStyle>
                      <a:lvl1pPr marL="0" algn="l" defTabSz="685800" rtl="0" eaLnBrk="1" latinLnBrk="0" hangingPunct="1">
                        <a:defRPr sz="1350" b="1" kern="1200">
                          <a:solidFill>
                            <a:schemeClr val="lt1"/>
                          </a:solidFill>
                          <a:latin typeface="等线"/>
                        </a:defRPr>
                      </a:lvl1pPr>
                      <a:lvl2pPr marL="342900" algn="l" defTabSz="685800" rtl="0" eaLnBrk="1" latinLnBrk="0" hangingPunct="1">
                        <a:defRPr sz="1350" b="1" kern="1200">
                          <a:solidFill>
                            <a:schemeClr val="lt1"/>
                          </a:solidFill>
                          <a:latin typeface="等线"/>
                        </a:defRPr>
                      </a:lvl2pPr>
                      <a:lvl3pPr marL="685800" algn="l" defTabSz="685800" rtl="0" eaLnBrk="1" latinLnBrk="0" hangingPunct="1">
                        <a:defRPr sz="1350" b="1" kern="1200">
                          <a:solidFill>
                            <a:schemeClr val="lt1"/>
                          </a:solidFill>
                          <a:latin typeface="等线"/>
                        </a:defRPr>
                      </a:lvl3pPr>
                      <a:lvl4pPr marL="1028700" algn="l" defTabSz="685800" rtl="0" eaLnBrk="1" latinLnBrk="0" hangingPunct="1">
                        <a:defRPr sz="1350" b="1" kern="1200">
                          <a:solidFill>
                            <a:schemeClr val="lt1"/>
                          </a:solidFill>
                          <a:latin typeface="等线"/>
                        </a:defRPr>
                      </a:lvl4pPr>
                      <a:lvl5pPr marL="1371600" algn="l" defTabSz="685800" rtl="0" eaLnBrk="1" latinLnBrk="0" hangingPunct="1">
                        <a:defRPr sz="1350" b="1" kern="1200">
                          <a:solidFill>
                            <a:schemeClr val="lt1"/>
                          </a:solidFill>
                          <a:latin typeface="等线"/>
                        </a:defRPr>
                      </a:lvl5pPr>
                      <a:lvl6pPr marL="1714500" algn="l" defTabSz="685800" rtl="0" eaLnBrk="1" latinLnBrk="0" hangingPunct="1">
                        <a:defRPr sz="1350" b="1" kern="1200">
                          <a:solidFill>
                            <a:schemeClr val="lt1"/>
                          </a:solidFill>
                          <a:latin typeface="等线"/>
                        </a:defRPr>
                      </a:lvl6pPr>
                      <a:lvl7pPr marL="2057400" algn="l" defTabSz="685800" rtl="0" eaLnBrk="1" latinLnBrk="0" hangingPunct="1">
                        <a:defRPr sz="1350" b="1" kern="1200">
                          <a:solidFill>
                            <a:schemeClr val="lt1"/>
                          </a:solidFill>
                          <a:latin typeface="等线"/>
                        </a:defRPr>
                      </a:lvl7pPr>
                      <a:lvl8pPr marL="2400300" algn="l" defTabSz="685800" rtl="0" eaLnBrk="1" latinLnBrk="0" hangingPunct="1">
                        <a:defRPr sz="1350" b="1" kern="1200">
                          <a:solidFill>
                            <a:schemeClr val="lt1"/>
                          </a:solidFill>
                          <a:latin typeface="等线"/>
                        </a:defRPr>
                      </a:lvl8pPr>
                      <a:lvl9pPr marL="2743200" algn="l" defTabSz="685800" rtl="0" eaLnBrk="1" latinLnBrk="0" hangingPunct="1">
                        <a:defRPr sz="1350" b="1" kern="1200">
                          <a:solidFill>
                            <a:schemeClr val="lt1"/>
                          </a:solidFill>
                          <a:latin typeface="等线"/>
                        </a:defRPr>
                      </a:lvl9pPr>
                    </a:lstStyle>
                    <a:p>
                      <a:pPr algn="ctr" fontAlgn="ctr"/>
                      <a:r>
                        <a:rPr lang="zh-CN" altLang="en-US" sz="1000" u="none" strike="noStrike" dirty="0">
                          <a:effectLst/>
                        </a:rPr>
                        <a:t>使用方式</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a:defRPr>
                      </a:lvl1pPr>
                      <a:lvl2pPr marL="342900" algn="l" defTabSz="685800" rtl="0" eaLnBrk="1" latinLnBrk="0" hangingPunct="1">
                        <a:defRPr sz="1350" b="1" kern="1200">
                          <a:solidFill>
                            <a:schemeClr val="lt1"/>
                          </a:solidFill>
                          <a:latin typeface="等线"/>
                        </a:defRPr>
                      </a:lvl2pPr>
                      <a:lvl3pPr marL="685800" algn="l" defTabSz="685800" rtl="0" eaLnBrk="1" latinLnBrk="0" hangingPunct="1">
                        <a:defRPr sz="1350" b="1" kern="1200">
                          <a:solidFill>
                            <a:schemeClr val="lt1"/>
                          </a:solidFill>
                          <a:latin typeface="等线"/>
                        </a:defRPr>
                      </a:lvl3pPr>
                      <a:lvl4pPr marL="1028700" algn="l" defTabSz="685800" rtl="0" eaLnBrk="1" latinLnBrk="0" hangingPunct="1">
                        <a:defRPr sz="1350" b="1" kern="1200">
                          <a:solidFill>
                            <a:schemeClr val="lt1"/>
                          </a:solidFill>
                          <a:latin typeface="等线"/>
                        </a:defRPr>
                      </a:lvl4pPr>
                      <a:lvl5pPr marL="1371600" algn="l" defTabSz="685800" rtl="0" eaLnBrk="1" latinLnBrk="0" hangingPunct="1">
                        <a:defRPr sz="1350" b="1" kern="1200">
                          <a:solidFill>
                            <a:schemeClr val="lt1"/>
                          </a:solidFill>
                          <a:latin typeface="等线"/>
                        </a:defRPr>
                      </a:lvl5pPr>
                      <a:lvl6pPr marL="1714500" algn="l" defTabSz="685800" rtl="0" eaLnBrk="1" latinLnBrk="0" hangingPunct="1">
                        <a:defRPr sz="1350" b="1" kern="1200">
                          <a:solidFill>
                            <a:schemeClr val="lt1"/>
                          </a:solidFill>
                          <a:latin typeface="等线"/>
                        </a:defRPr>
                      </a:lvl6pPr>
                      <a:lvl7pPr marL="2057400" algn="l" defTabSz="685800" rtl="0" eaLnBrk="1" latinLnBrk="0" hangingPunct="1">
                        <a:defRPr sz="1350" b="1" kern="1200">
                          <a:solidFill>
                            <a:schemeClr val="lt1"/>
                          </a:solidFill>
                          <a:latin typeface="等线"/>
                        </a:defRPr>
                      </a:lvl7pPr>
                      <a:lvl8pPr marL="2400300" algn="l" defTabSz="685800" rtl="0" eaLnBrk="1" latinLnBrk="0" hangingPunct="1">
                        <a:defRPr sz="1350" b="1" kern="1200">
                          <a:solidFill>
                            <a:schemeClr val="lt1"/>
                          </a:solidFill>
                          <a:latin typeface="等线"/>
                        </a:defRPr>
                      </a:lvl8pPr>
                      <a:lvl9pPr marL="2743200" algn="l" defTabSz="685800" rtl="0" eaLnBrk="1" latinLnBrk="0" hangingPunct="1">
                        <a:defRPr sz="1350" b="1" kern="1200">
                          <a:solidFill>
                            <a:schemeClr val="lt1"/>
                          </a:solidFill>
                          <a:latin typeface="等线"/>
                        </a:defRPr>
                      </a:lvl9pPr>
                    </a:lstStyle>
                    <a:p>
                      <a:pPr algn="ctr" fontAlgn="ctr"/>
                      <a:r>
                        <a:rPr lang="zh-CN" altLang="en-US" sz="1000" u="none" strike="noStrike" dirty="0">
                          <a:effectLst/>
                        </a:rPr>
                        <a:t>含义</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a:defRPr>
                      </a:lvl1pPr>
                      <a:lvl2pPr marL="342900" algn="l" defTabSz="685800" rtl="0" eaLnBrk="1" latinLnBrk="0" hangingPunct="1">
                        <a:defRPr sz="1350" b="1" kern="1200">
                          <a:solidFill>
                            <a:schemeClr val="lt1"/>
                          </a:solidFill>
                          <a:latin typeface="等线"/>
                        </a:defRPr>
                      </a:lvl2pPr>
                      <a:lvl3pPr marL="685800" algn="l" defTabSz="685800" rtl="0" eaLnBrk="1" latinLnBrk="0" hangingPunct="1">
                        <a:defRPr sz="1350" b="1" kern="1200">
                          <a:solidFill>
                            <a:schemeClr val="lt1"/>
                          </a:solidFill>
                          <a:latin typeface="等线"/>
                        </a:defRPr>
                      </a:lvl3pPr>
                      <a:lvl4pPr marL="1028700" algn="l" defTabSz="685800" rtl="0" eaLnBrk="1" latinLnBrk="0" hangingPunct="1">
                        <a:defRPr sz="1350" b="1" kern="1200">
                          <a:solidFill>
                            <a:schemeClr val="lt1"/>
                          </a:solidFill>
                          <a:latin typeface="等线"/>
                        </a:defRPr>
                      </a:lvl4pPr>
                      <a:lvl5pPr marL="1371600" algn="l" defTabSz="685800" rtl="0" eaLnBrk="1" latinLnBrk="0" hangingPunct="1">
                        <a:defRPr sz="1350" b="1" kern="1200">
                          <a:solidFill>
                            <a:schemeClr val="lt1"/>
                          </a:solidFill>
                          <a:latin typeface="等线"/>
                        </a:defRPr>
                      </a:lvl5pPr>
                      <a:lvl6pPr marL="1714500" algn="l" defTabSz="685800" rtl="0" eaLnBrk="1" latinLnBrk="0" hangingPunct="1">
                        <a:defRPr sz="1350" b="1" kern="1200">
                          <a:solidFill>
                            <a:schemeClr val="lt1"/>
                          </a:solidFill>
                          <a:latin typeface="等线"/>
                        </a:defRPr>
                      </a:lvl6pPr>
                      <a:lvl7pPr marL="2057400" algn="l" defTabSz="685800" rtl="0" eaLnBrk="1" latinLnBrk="0" hangingPunct="1">
                        <a:defRPr sz="1350" b="1" kern="1200">
                          <a:solidFill>
                            <a:schemeClr val="lt1"/>
                          </a:solidFill>
                          <a:latin typeface="等线"/>
                        </a:defRPr>
                      </a:lvl7pPr>
                      <a:lvl8pPr marL="2400300" algn="l" defTabSz="685800" rtl="0" eaLnBrk="1" latinLnBrk="0" hangingPunct="1">
                        <a:defRPr sz="1350" b="1" kern="1200">
                          <a:solidFill>
                            <a:schemeClr val="lt1"/>
                          </a:solidFill>
                          <a:latin typeface="等线"/>
                        </a:defRPr>
                      </a:lvl8pPr>
                      <a:lvl9pPr marL="2743200" algn="l" defTabSz="685800" rtl="0" eaLnBrk="1" latinLnBrk="0" hangingPunct="1">
                        <a:defRPr sz="1350" b="1" kern="1200">
                          <a:solidFill>
                            <a:schemeClr val="lt1"/>
                          </a:solidFill>
                          <a:latin typeface="等线"/>
                        </a:defRPr>
                      </a:lvl9pPr>
                    </a:lstStyle>
                    <a:p>
                      <a:pPr algn="ctr" fontAlgn="ctr"/>
                      <a:r>
                        <a:rPr lang="zh-CN" altLang="en-US" sz="1000" u="none" strike="noStrike" dirty="0">
                          <a:effectLst/>
                        </a:rPr>
                        <a:t>若文件不存在</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p>
                      <a:pPr marL="0" marR="0" indent="0" algn="ctr" defTabSz="685800" rtl="0" eaLnBrk="1" fontAlgn="ctr" latinLnBrk="0" hangingPunct="1">
                        <a:lnSpc>
                          <a:spcPct val="100000"/>
                        </a:lnSpc>
                        <a:spcBef>
                          <a:spcPts val="0"/>
                        </a:spcBef>
                        <a:spcAft>
                          <a:spcPts val="0"/>
                        </a:spcAft>
                        <a:buClrTx/>
                        <a:buSzTx/>
                        <a:buFontTx/>
                        <a:buNone/>
                        <a:tabLst/>
                        <a:defRPr/>
                      </a:pPr>
                      <a:r>
                        <a:rPr lang="zh-CN" altLang="en-US" sz="1000" b="1" u="none" strike="noStrike" kern="1200" dirty="0">
                          <a:solidFill>
                            <a:schemeClr val="lt1"/>
                          </a:solidFill>
                          <a:effectLst/>
                          <a:latin typeface="等线"/>
                          <a:ea typeface="+mn-ea"/>
                          <a:cs typeface="+mn-cs"/>
                        </a:rPr>
                        <a:t>若文件存在</a:t>
                      </a: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solidFill>
                  </a:tcPr>
                </a:tc>
                <a:extLst>
                  <a:ext uri="{0D108BD9-81ED-4DB2-BD59-A6C34878D82A}">
                    <a16:rowId xmlns:a16="http://schemas.microsoft.com/office/drawing/2014/main" val="4266168746"/>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en-US" sz="1000" u="none" strike="noStrike" dirty="0">
                          <a:effectLst/>
                        </a:rPr>
                        <a:t>“r”（</a:t>
                      </a:r>
                      <a:r>
                        <a:rPr lang="zh-CN" altLang="en-US" sz="1000" u="none" strike="noStrike" dirty="0">
                          <a:effectLst/>
                        </a:rPr>
                        <a:t>只读）</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为了输入数据，打开一个已存在的文本文件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出错</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algn="l" fontAlgn="ctr"/>
                      <a:r>
                        <a:rPr lang="zh-CN" altLang="en-US" sz="1000" b="0" i="0" u="none" strike="noStrike" dirty="0">
                          <a:solidFill>
                            <a:srgbClr val="000000"/>
                          </a:solidFill>
                          <a:effectLst/>
                          <a:latin typeface="等线" panose="02010600030101010101" pitchFamily="2" charset="-122"/>
                          <a:ea typeface="等线" panose="02010600030101010101" pitchFamily="2" charset="-122"/>
                        </a:rPr>
                        <a:t>成功</a:t>
                      </a:r>
                    </a:p>
                  </a:txBody>
                  <a:tcPr marL="9525" marR="9525" marT="9525" marB="0" anchor="ct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extLst>
                  <a:ext uri="{0D108BD9-81ED-4DB2-BD59-A6C34878D82A}">
                    <a16:rowId xmlns:a16="http://schemas.microsoft.com/office/drawing/2014/main" val="1081700914"/>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en-US" sz="1000" u="none" strike="noStrike" dirty="0">
                          <a:effectLst/>
                        </a:rPr>
                        <a:t>“w”（</a:t>
                      </a:r>
                      <a:r>
                        <a:rPr lang="zh-CN" altLang="en-US" sz="1000" u="none" strike="noStrike" dirty="0">
                          <a:effectLst/>
                        </a:rPr>
                        <a:t>只写）</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为了输出数据，打开一个文本文件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建立新文件</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algn="l" fontAlgn="ctr"/>
                      <a:r>
                        <a:rPr lang="zh-CN" altLang="en-US" sz="1000" b="0" i="0" u="none" strike="noStrike" dirty="0">
                          <a:solidFill>
                            <a:srgbClr val="000000"/>
                          </a:solidFill>
                          <a:effectLst/>
                          <a:latin typeface="等线" panose="02010600030101010101" pitchFamily="2" charset="-122"/>
                          <a:ea typeface="等线" panose="02010600030101010101" pitchFamily="2" charset="-122"/>
                        </a:rPr>
                        <a:t>删除并重新建立</a:t>
                      </a: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546792107"/>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pt-BR" sz="1000" u="none" strike="noStrike" dirty="0">
                          <a:effectLst/>
                        </a:rPr>
                        <a:t>“a”（追加）</a:t>
                      </a:r>
                      <a:endParaRPr lang="pt-BR"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向文本文件尾添加数据</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出错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algn="l" fontAlgn="ctr"/>
                      <a:r>
                        <a:rPr lang="zh-CN" altLang="en-US" sz="1000" dirty="0">
                          <a:solidFill>
                            <a:schemeClr val="tx1"/>
                          </a:solidFill>
                        </a:rPr>
                        <a:t>文件读写位置标记移到文件末尾</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extLst>
                  <a:ext uri="{0D108BD9-81ED-4DB2-BD59-A6C34878D82A}">
                    <a16:rowId xmlns:a16="http://schemas.microsoft.com/office/drawing/2014/main" val="3307689903"/>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a:t>
                      </a:r>
                      <a:r>
                        <a:rPr lang="en-US" altLang="zh-CN" sz="1000" u="none" strike="noStrike">
                          <a:effectLst/>
                        </a:rPr>
                        <a:t>rb”</a:t>
                      </a:r>
                      <a:r>
                        <a:rPr lang="zh-CN" altLang="en-US" sz="1000" u="none" strike="noStrike">
                          <a:effectLst/>
                        </a:rPr>
                        <a:t>（只读）</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为了输入数据，打开一个二进制文件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出错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等线" panose="02010600030101010101" pitchFamily="2" charset="-122"/>
                          <a:ea typeface="等线" panose="02010600030101010101" pitchFamily="2" charset="-122"/>
                        </a:rPr>
                        <a:t>成功</a:t>
                      </a: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2875226991"/>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a:t>
                      </a:r>
                      <a:r>
                        <a:rPr lang="en-US" altLang="zh-CN" sz="1000" u="none" strike="noStrike">
                          <a:effectLst/>
                        </a:rPr>
                        <a:t>wb”</a:t>
                      </a:r>
                      <a:r>
                        <a:rPr lang="zh-CN" altLang="en-US" sz="1000" u="none" strike="noStrike">
                          <a:effectLst/>
                        </a:rPr>
                        <a:t>（只写）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为了输出数据，打开一个二进制文件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建立新文件</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等线" panose="02010600030101010101" pitchFamily="2" charset="-122"/>
                          <a:ea typeface="等线" panose="02010600030101010101" pitchFamily="2" charset="-122"/>
                        </a:rPr>
                        <a:t>删除并重新建立</a:t>
                      </a: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extLst>
                  <a:ext uri="{0D108BD9-81ED-4DB2-BD59-A6C34878D82A}">
                    <a16:rowId xmlns:a16="http://schemas.microsoft.com/office/drawing/2014/main" val="714076398"/>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de-DE" sz="1000" u="none" strike="noStrike">
                          <a:effectLst/>
                        </a:rPr>
                        <a:t>“ab”（追加）</a:t>
                      </a:r>
                      <a:endParaRPr lang="de-DE"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向二进制文件尾添加数据</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出错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dirty="0">
                          <a:solidFill>
                            <a:schemeClr val="tx1"/>
                          </a:solidFill>
                        </a:rPr>
                        <a:t>文件读写位置标记移到文件末尾</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2430331176"/>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en-US" sz="1000" u="none" strike="noStrike">
                          <a:effectLst/>
                        </a:rPr>
                        <a:t>“r+”（</a:t>
                      </a:r>
                      <a:r>
                        <a:rPr lang="zh-CN" altLang="en-US" sz="1000" u="none" strike="noStrike">
                          <a:effectLst/>
                        </a:rPr>
                        <a:t>读写）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为了读和写，打开一个文本文件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出错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等线" panose="02010600030101010101" pitchFamily="2" charset="-122"/>
                          <a:ea typeface="等线" panose="02010600030101010101" pitchFamily="2" charset="-122"/>
                        </a:rPr>
                        <a:t>成功</a:t>
                      </a: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extLst>
                  <a:ext uri="{0D108BD9-81ED-4DB2-BD59-A6C34878D82A}">
                    <a16:rowId xmlns:a16="http://schemas.microsoft.com/office/drawing/2014/main" val="950198334"/>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en-US" sz="1000" u="none" strike="noStrike" dirty="0">
                          <a:effectLst/>
                        </a:rPr>
                        <a:t>“w+”（</a:t>
                      </a:r>
                      <a:r>
                        <a:rPr lang="zh-CN" altLang="en-US" sz="1000" u="none" strike="noStrike" dirty="0">
                          <a:effectLst/>
                        </a:rPr>
                        <a:t>读写）</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为了读和写，建立一个新的文本文件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建立新文件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等线" panose="02010600030101010101" pitchFamily="2" charset="-122"/>
                          <a:ea typeface="等线" panose="02010600030101010101" pitchFamily="2" charset="-122"/>
                        </a:rPr>
                        <a:t>删除并重新建立</a:t>
                      </a: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2276559127"/>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en-US" sz="1000" u="none" strike="noStrike">
                          <a:effectLst/>
                        </a:rPr>
                        <a:t>“a+” (</a:t>
                      </a:r>
                      <a:r>
                        <a:rPr lang="zh-CN" altLang="en-US" sz="1000" u="none" strike="noStrike">
                          <a:effectLst/>
                        </a:rPr>
                        <a:t>读写）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为了读和写，打开一个文本文件</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出错</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dirty="0">
                          <a:solidFill>
                            <a:schemeClr val="tx1"/>
                          </a:solidFill>
                        </a:rPr>
                        <a:t>文件读写位置标记移到文件末尾</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extLst>
                  <a:ext uri="{0D108BD9-81ED-4DB2-BD59-A6C34878D82A}">
                    <a16:rowId xmlns:a16="http://schemas.microsoft.com/office/drawing/2014/main" val="1119895898"/>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a:t>
                      </a:r>
                      <a:r>
                        <a:rPr lang="en-US" altLang="zh-CN" sz="1000" u="none" strike="noStrike">
                          <a:effectLst/>
                        </a:rPr>
                        <a:t>rb+”</a:t>
                      </a:r>
                      <a:r>
                        <a:rPr lang="zh-CN" altLang="en-US" sz="1000" u="none" strike="noStrike">
                          <a:effectLst/>
                        </a:rPr>
                        <a:t>（读写）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为了读和写，打开一个二进制文件</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出错</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等线" panose="02010600030101010101" pitchFamily="2" charset="-122"/>
                          <a:ea typeface="等线" panose="02010600030101010101" pitchFamily="2" charset="-122"/>
                        </a:rPr>
                        <a:t>成功</a:t>
                      </a: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3674417579"/>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a:t>
                      </a:r>
                      <a:r>
                        <a:rPr lang="en-US" altLang="zh-CN" sz="1000" u="none" strike="noStrike">
                          <a:effectLst/>
                        </a:rPr>
                        <a:t>wb+”</a:t>
                      </a:r>
                      <a:r>
                        <a:rPr lang="zh-CN" altLang="en-US" sz="1000" u="none" strike="noStrike">
                          <a:effectLst/>
                        </a:rPr>
                        <a:t>（读写）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为了读和写，建立一个新的二进制文件</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a:effectLst/>
                        </a:rPr>
                        <a:t>建立新文件</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等线" panose="02010600030101010101" pitchFamily="2" charset="-122"/>
                          <a:ea typeface="等线" panose="02010600030101010101" pitchFamily="2" charset="-122"/>
                        </a:rPr>
                        <a:t>删除并重新建立</a:t>
                      </a: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extLst>
                  <a:ext uri="{0D108BD9-81ED-4DB2-BD59-A6C34878D82A}">
                    <a16:rowId xmlns:a16="http://schemas.microsoft.com/office/drawing/2014/main" val="1359633924"/>
                  </a:ext>
                </a:extLst>
              </a:tr>
              <a:tr h="28800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en-US" sz="1000" u="none" strike="noStrike" dirty="0">
                          <a:effectLst/>
                        </a:rPr>
                        <a:t>“ab+”（</a:t>
                      </a:r>
                      <a:r>
                        <a:rPr lang="zh-CN" altLang="en-US" sz="1000" u="none" strike="noStrike" dirty="0">
                          <a:effectLst/>
                        </a:rPr>
                        <a:t>读写）</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为读写打开一个二进制文件</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r>
                        <a:rPr lang="zh-CN" altLang="en-US" sz="1000" u="none" strike="noStrike" dirty="0">
                          <a:effectLst/>
                        </a:rPr>
                        <a:t>出错</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1000" dirty="0">
                          <a:solidFill>
                            <a:schemeClr val="tx1"/>
                          </a:solidFill>
                        </a:rPr>
                        <a:t>文件读写位置标记移到文件末尾</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4024964342"/>
                  </a:ext>
                </a:extLst>
              </a:tr>
            </a:tbl>
          </a:graphicData>
        </a:graphic>
      </p:graphicFrame>
      <p:sp>
        <p:nvSpPr>
          <p:cNvPr id="7" name="MH_Desc_1">
            <a:extLst>
              <a:ext uri="{FF2B5EF4-FFF2-40B4-BE49-F238E27FC236}">
                <a16:creationId xmlns:a16="http://schemas.microsoft.com/office/drawing/2014/main" id="{A86D7D4F-EE69-4EC8-B271-058C18388F56}"/>
              </a:ext>
            </a:extLst>
          </p:cNvPr>
          <p:cNvSpPr/>
          <p:nvPr>
            <p:custDataLst>
              <p:tags r:id="rId1"/>
            </p:custDataLst>
          </p:nvPr>
        </p:nvSpPr>
        <p:spPr>
          <a:xfrm>
            <a:off x="3621535" y="2654422"/>
            <a:ext cx="5472609" cy="4203577"/>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等线"/>
                <a:ea typeface="等线"/>
                <a:cs typeface="+mn-cs"/>
              </a:rPr>
              <a:t>使用文件方式</a:t>
            </a:r>
            <a:endParaRPr kumimoji="0" lang="en-US" altLang="zh-CN" sz="1400" b="0" i="0" u="none" strike="noStrike" kern="0" cap="none" spc="0" normalizeH="0" baseline="0" noProof="0" dirty="0">
              <a:ln>
                <a:noFill/>
              </a:ln>
              <a:solidFill>
                <a:prstClr val="black"/>
              </a:solidFill>
              <a:effectLst/>
              <a:uLnTx/>
              <a:uFillTx/>
              <a:latin typeface="等线"/>
              <a:ea typeface="等线"/>
              <a:cs typeface="+mn-cs"/>
            </a:endParaRPr>
          </a:p>
        </p:txBody>
      </p:sp>
      <p:sp>
        <p:nvSpPr>
          <p:cNvPr id="8" name="MH_Desc_1">
            <a:extLst>
              <a:ext uri="{FF2B5EF4-FFF2-40B4-BE49-F238E27FC236}">
                <a16:creationId xmlns:a16="http://schemas.microsoft.com/office/drawing/2014/main" id="{25DF9E4B-DAC7-4032-A2B7-A45E4C33615F}"/>
              </a:ext>
            </a:extLst>
          </p:cNvPr>
          <p:cNvSpPr/>
          <p:nvPr>
            <p:custDataLst>
              <p:tags r:id="rId2"/>
            </p:custDataLst>
          </p:nvPr>
        </p:nvSpPr>
        <p:spPr>
          <a:xfrm>
            <a:off x="0" y="3194624"/>
            <a:ext cx="3419871" cy="3384376"/>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lang="zh-CN" altLang="en-US" sz="1200" kern="0" dirty="0">
                <a:solidFill>
                  <a:prstClr val="black"/>
                </a:solidFill>
                <a:latin typeface="等线"/>
                <a:ea typeface="等线"/>
              </a:rPr>
              <a:t>注意</a:t>
            </a:r>
            <a:r>
              <a:rPr kumimoji="0" lang="zh-CN" altLang="en-US" sz="1200" b="0" i="0" u="none" strike="noStrike" kern="0" cap="none" spc="0" normalizeH="0" baseline="0" noProof="0" dirty="0">
                <a:ln>
                  <a:noFill/>
                </a:ln>
                <a:solidFill>
                  <a:prstClr val="black"/>
                </a:solidFill>
                <a:effectLst/>
                <a:uLnTx/>
                <a:uFillTx/>
                <a:latin typeface="等线"/>
                <a:ea typeface="等线"/>
                <a:cs typeface="+mn-cs"/>
              </a:rPr>
              <a:t>：</a:t>
            </a:r>
            <a:endParaRPr kumimoji="0" lang="en-US" altLang="zh-CN" sz="1200" b="0" i="0" u="none" strike="noStrike" kern="0" cap="none" spc="0" normalizeH="0" baseline="0" noProof="0" dirty="0">
              <a:ln>
                <a:noFill/>
              </a:ln>
              <a:solidFill>
                <a:prstClr val="black"/>
              </a:solidFill>
              <a:effectLst/>
              <a:uLnTx/>
              <a:uFillTx/>
              <a:latin typeface="等线"/>
              <a:ea typeface="等线"/>
              <a:cs typeface="+mn-cs"/>
            </a:endParaRPr>
          </a:p>
          <a:p>
            <a:pPr lvl="0" algn="just">
              <a:lnSpc>
                <a:spcPct val="150000"/>
              </a:lnSpc>
              <a:defRPr/>
            </a:pPr>
            <a:r>
              <a:rPr kumimoji="0" lang="zh-CN" altLang="en-US" sz="1200" b="0" i="0" u="none" strike="noStrike" kern="0" cap="none" spc="0" normalizeH="0" baseline="0" noProof="0" dirty="0">
                <a:ln>
                  <a:noFill/>
                </a:ln>
                <a:solidFill>
                  <a:prstClr val="black"/>
                </a:solidFill>
                <a:effectLst/>
                <a:uLnTx/>
                <a:uFillTx/>
                <a:latin typeface="等线"/>
                <a:ea typeface="等线"/>
                <a:cs typeface="+mn-cs"/>
              </a:rPr>
              <a:t>① </a:t>
            </a:r>
            <a:r>
              <a:rPr lang="zh-CN" altLang="en-US" sz="1200" dirty="0"/>
              <a:t>如果不能实现“打开”的任务，</a:t>
            </a:r>
            <a:r>
              <a:rPr lang="en-US" altLang="zh-CN" sz="1200" dirty="0" err="1"/>
              <a:t>fopen</a:t>
            </a:r>
            <a:r>
              <a:rPr lang="zh-CN" altLang="en-US" sz="1200" dirty="0"/>
              <a:t>函数将会带回一个空指针值</a:t>
            </a:r>
            <a:r>
              <a:rPr lang="en-US" altLang="zh-CN" sz="1200" dirty="0"/>
              <a:t>NULL</a:t>
            </a:r>
            <a:endParaRPr kumimoji="0" lang="en-US" altLang="zh-CN" sz="1200" b="0" i="0" u="none" strike="noStrike" kern="0" cap="none" spc="0" normalizeH="0" baseline="0" noProof="0" dirty="0">
              <a:ln>
                <a:noFill/>
              </a:ln>
              <a:solidFill>
                <a:prstClr val="black"/>
              </a:solidFill>
              <a:effectLst/>
              <a:uLnTx/>
              <a:uFillTx/>
              <a:latin typeface="等线"/>
              <a:ea typeface="等线"/>
              <a:cs typeface="+mn-cs"/>
            </a:endParaRPr>
          </a:p>
          <a:p>
            <a:pPr lvl="0" algn="just">
              <a:lnSpc>
                <a:spcPct val="150000"/>
              </a:lnSpc>
              <a:defRPr/>
            </a:pPr>
            <a:r>
              <a:rPr lang="zh-CN" altLang="en-US" sz="1200" kern="0" dirty="0">
                <a:solidFill>
                  <a:prstClr val="black"/>
                </a:solidFill>
                <a:latin typeface="等线"/>
                <a:ea typeface="等线"/>
              </a:rPr>
              <a:t>② </a:t>
            </a:r>
            <a:r>
              <a:rPr lang="zh-CN" altLang="en-US" sz="1200" dirty="0"/>
              <a:t>有</a:t>
            </a:r>
            <a:r>
              <a:rPr lang="en-US" altLang="zh-CN" sz="1200" dirty="0"/>
              <a:t>12</a:t>
            </a:r>
            <a:r>
              <a:rPr lang="zh-CN" altLang="en-US" sz="1200" dirty="0"/>
              <a:t>种文件使用方式，其中有</a:t>
            </a:r>
            <a:r>
              <a:rPr lang="en-US" altLang="zh-CN" sz="1200" dirty="0"/>
              <a:t>6</a:t>
            </a:r>
            <a:r>
              <a:rPr lang="zh-CN" altLang="en-US" sz="1200" dirty="0"/>
              <a:t>种是在第一个字母后面加了字母</a:t>
            </a:r>
            <a:r>
              <a:rPr lang="en-US" altLang="zh-CN" sz="1200" dirty="0"/>
              <a:t>b</a:t>
            </a:r>
            <a:r>
              <a:rPr lang="zh-CN" altLang="en-US" sz="1200" dirty="0"/>
              <a:t>的，表示二进制方式打开。没加</a:t>
            </a:r>
            <a:r>
              <a:rPr lang="en-US" altLang="zh-CN" sz="1200" dirty="0"/>
              <a:t>b</a:t>
            </a:r>
            <a:r>
              <a:rPr lang="zh-CN" altLang="en-US" sz="1200" dirty="0"/>
              <a:t>，原样读写数据；有加</a:t>
            </a:r>
            <a:r>
              <a:rPr lang="en-US" altLang="zh-CN" sz="1200" dirty="0"/>
              <a:t>b</a:t>
            </a:r>
            <a:r>
              <a:rPr lang="zh-CN" altLang="en-US" sz="1200" dirty="0"/>
              <a:t>，写入时</a:t>
            </a:r>
            <a:r>
              <a:rPr lang="en-US" altLang="zh-CN" sz="1200" dirty="0"/>
              <a:t>\n</a:t>
            </a:r>
            <a:r>
              <a:rPr lang="zh-CN" altLang="en-US" sz="1200" dirty="0"/>
              <a:t>转换为</a:t>
            </a:r>
            <a:r>
              <a:rPr lang="en-US" altLang="zh-CN" sz="1200" dirty="0"/>
              <a:t>\r\n</a:t>
            </a:r>
            <a:r>
              <a:rPr lang="zh-CN" altLang="en-US" sz="1200" dirty="0"/>
              <a:t>；读取时</a:t>
            </a:r>
            <a:r>
              <a:rPr lang="en-US" altLang="zh-CN" sz="1200" dirty="0"/>
              <a:t>\r\n</a:t>
            </a:r>
            <a:r>
              <a:rPr lang="zh-CN" altLang="en-US" sz="1200" dirty="0"/>
              <a:t>转换为</a:t>
            </a:r>
            <a:r>
              <a:rPr lang="en-US" altLang="zh-CN" sz="1200" dirty="0"/>
              <a:t>\n</a:t>
            </a:r>
          </a:p>
          <a:p>
            <a:pPr lvl="0" algn="just">
              <a:lnSpc>
                <a:spcPct val="150000"/>
              </a:lnSpc>
              <a:defRPr/>
            </a:pPr>
            <a:r>
              <a:rPr kumimoji="0" lang="zh-CN" altLang="en-US" sz="1200" b="0" i="0" u="none" strike="noStrike" kern="0" cap="none" spc="0" normalizeH="0" baseline="0" noProof="0" dirty="0">
                <a:ln>
                  <a:noFill/>
                </a:ln>
                <a:solidFill>
                  <a:prstClr val="black"/>
                </a:solidFill>
                <a:effectLst/>
                <a:uLnTx/>
                <a:uFillTx/>
                <a:latin typeface="等线"/>
                <a:ea typeface="等线"/>
                <a:cs typeface="+mn-cs"/>
              </a:rPr>
              <a:t>③ </a:t>
            </a:r>
            <a:r>
              <a:rPr lang="zh-CN" altLang="en-US" sz="1200" dirty="0"/>
              <a:t>程序中可以使用</a:t>
            </a:r>
            <a:r>
              <a:rPr lang="en-US" altLang="zh-CN" sz="1200" dirty="0"/>
              <a:t>3</a:t>
            </a:r>
            <a:r>
              <a:rPr lang="zh-CN" altLang="en-US" sz="1200" dirty="0"/>
              <a:t>个标准的流文件</a:t>
            </a:r>
            <a:r>
              <a:rPr lang="en-US" altLang="zh-CN" sz="1200" dirty="0"/>
              <a:t>——</a:t>
            </a:r>
            <a:r>
              <a:rPr lang="zh-CN" altLang="en-US" sz="1200" dirty="0"/>
              <a:t>标准输入流（</a:t>
            </a:r>
            <a:r>
              <a:rPr lang="en-US" altLang="zh-CN" sz="1200" dirty="0" err="1"/>
              <a:t>stdin</a:t>
            </a:r>
            <a:r>
              <a:rPr lang="zh-CN" altLang="en-US" sz="1200" dirty="0"/>
              <a:t>）、标准输出流（</a:t>
            </a:r>
            <a:r>
              <a:rPr lang="en-US" altLang="zh-CN" sz="1200" dirty="0" err="1"/>
              <a:t>stdout</a:t>
            </a:r>
            <a:r>
              <a:rPr lang="zh-CN" altLang="en-US" sz="1200" dirty="0"/>
              <a:t>）和标准出错输出流（</a:t>
            </a:r>
            <a:r>
              <a:rPr lang="en-US" altLang="zh-CN" sz="1200" dirty="0" err="1"/>
              <a:t>stderr</a:t>
            </a:r>
            <a:r>
              <a:rPr lang="zh-CN" altLang="en-US" sz="1200" dirty="0"/>
              <a:t>）。程序开始运行时系统会自动打开这</a:t>
            </a:r>
            <a:r>
              <a:rPr lang="en-US" altLang="zh-CN" sz="1200" dirty="0"/>
              <a:t>3</a:t>
            </a:r>
            <a:r>
              <a:rPr lang="zh-CN" altLang="en-US" sz="1200" dirty="0"/>
              <a:t>个标准流文件</a:t>
            </a:r>
            <a:endParaRPr kumimoji="0" lang="zh-CN" altLang="en-US" sz="12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endParaRPr kumimoji="0" lang="en-US" altLang="zh-CN" sz="1500" b="0" i="0" u="none" strike="noStrike" kern="0" cap="none" spc="0" normalizeH="0" baseline="0" noProof="0" dirty="0">
              <a:ln>
                <a:noFill/>
              </a:ln>
              <a:solidFill>
                <a:prstClr val="black"/>
              </a:solidFill>
              <a:effectLst/>
              <a:uLnTx/>
              <a:uFillTx/>
              <a:latin typeface="等线"/>
              <a:ea typeface="等线"/>
              <a:cs typeface="+mn-cs"/>
            </a:endParaRPr>
          </a:p>
        </p:txBody>
      </p:sp>
    </p:spTree>
    <p:extLst>
      <p:ext uri="{BB962C8B-B14F-4D97-AF65-F5344CB8AC3E}">
        <p14:creationId xmlns:p14="http://schemas.microsoft.com/office/powerpoint/2010/main" val="12641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24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246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6562" name="Rectangle 2"/>
          <p:cNvSpPr>
            <a:spLocks noGrp="1" noChangeArrowheads="1"/>
          </p:cNvSpPr>
          <p:nvPr>
            <p:ph type="title"/>
          </p:nvPr>
        </p:nvSpPr>
        <p:spPr/>
        <p:txBody>
          <a:bodyPr/>
          <a:lstStyle/>
          <a:p>
            <a:r>
              <a:rPr lang="en-US" altLang="zh-CN" dirty="0" err="1">
                <a:latin typeface="华文新魏" pitchFamily="2" charset="-122"/>
              </a:rPr>
              <a:t>fopen</a:t>
            </a:r>
            <a:r>
              <a:rPr lang="en-US" altLang="zh-CN" dirty="0">
                <a:latin typeface="华文新魏" pitchFamily="2" charset="-122"/>
              </a:rPr>
              <a:t>( )</a:t>
            </a:r>
            <a:r>
              <a:rPr lang="zh-CN" altLang="en-US" dirty="0">
                <a:latin typeface="华文新魏" pitchFamily="2" charset="-122"/>
              </a:rPr>
              <a:t>举例</a:t>
            </a:r>
          </a:p>
        </p:txBody>
      </p:sp>
      <p:sp>
        <p:nvSpPr>
          <p:cNvPr id="1346563" name="Rectangle 3"/>
          <p:cNvSpPr>
            <a:spLocks noGrp="1" noChangeArrowheads="1"/>
          </p:cNvSpPr>
          <p:nvPr>
            <p:ph idx="1"/>
          </p:nvPr>
        </p:nvSpPr>
        <p:spPr/>
        <p:txBody>
          <a:bodyPr/>
          <a:lstStyle/>
          <a:p>
            <a:r>
              <a:rPr lang="zh-CN" altLang="en-US" dirty="0"/>
              <a:t>打开文件</a:t>
            </a:r>
            <a:endParaRPr lang="zh-CN" altLang="en-US" sz="2400" dirty="0">
              <a:solidFill>
                <a:srgbClr val="33CC33"/>
              </a:solidFill>
            </a:endParaRPr>
          </a:p>
          <a:p>
            <a:pPr lvl="1"/>
            <a:r>
              <a:rPr lang="zh-CN" altLang="en-US" dirty="0"/>
              <a:t>举例</a:t>
            </a:r>
          </a:p>
          <a:p>
            <a:pPr lvl="2"/>
            <a:endParaRPr lang="zh-CN" altLang="en-US" dirty="0"/>
          </a:p>
          <a:p>
            <a:pPr lvl="2"/>
            <a:endParaRPr lang="zh-CN" altLang="en-US" dirty="0"/>
          </a:p>
          <a:p>
            <a:pPr lvl="2"/>
            <a:r>
              <a:rPr lang="zh-CN" altLang="en-US" dirty="0"/>
              <a:t>其意义是在当前目录下打开文件</a:t>
            </a:r>
            <a:r>
              <a:rPr lang="en-US" altLang="zh-CN" dirty="0"/>
              <a:t>filea.dat</a:t>
            </a:r>
            <a:r>
              <a:rPr lang="zh-CN" altLang="en-US" dirty="0"/>
              <a:t>，文件的使用方式为“只读”，并使</a:t>
            </a:r>
            <a:r>
              <a:rPr lang="en-US" altLang="zh-CN" dirty="0" err="1"/>
              <a:t>fp</a:t>
            </a:r>
            <a:r>
              <a:rPr lang="zh-CN" altLang="en-US" dirty="0"/>
              <a:t>指向该文件。 </a:t>
            </a:r>
          </a:p>
          <a:p>
            <a:pPr lvl="1"/>
            <a:r>
              <a:rPr lang="zh-CN" altLang="en-US" dirty="0"/>
              <a:t>举例</a:t>
            </a:r>
          </a:p>
          <a:p>
            <a:pPr lvl="2"/>
            <a:endParaRPr lang="zh-CN" altLang="en-US" dirty="0"/>
          </a:p>
          <a:p>
            <a:pPr lvl="2"/>
            <a:endParaRPr lang="zh-CN" altLang="en-US" dirty="0"/>
          </a:p>
          <a:p>
            <a:pPr lvl="2"/>
            <a:r>
              <a:rPr lang="zh-CN" altLang="en-US" dirty="0"/>
              <a:t>其意义是打开</a:t>
            </a:r>
            <a:r>
              <a:rPr lang="en-US" altLang="zh-CN" dirty="0"/>
              <a:t>c</a:t>
            </a:r>
            <a:r>
              <a:rPr lang="zh-CN" altLang="en-US" dirty="0"/>
              <a:t>盘根目录下的文件</a:t>
            </a:r>
            <a:r>
              <a:rPr lang="en-US" altLang="zh-CN" dirty="0"/>
              <a:t>fileabc.dat</a:t>
            </a:r>
            <a:r>
              <a:rPr lang="zh-CN" altLang="en-US" dirty="0"/>
              <a:t>，这是一个二进制文件，只允许按二进制方式进行读操作。</a:t>
            </a:r>
          </a:p>
          <a:p>
            <a:pPr lvl="2"/>
            <a:r>
              <a:rPr lang="zh-CN" altLang="en-US" dirty="0"/>
              <a:t>两个反斜线“</a:t>
            </a:r>
            <a:r>
              <a:rPr lang="en-US" altLang="zh-CN" dirty="0"/>
              <a:t>\\”</a:t>
            </a:r>
            <a:r>
              <a:rPr lang="zh-CN" altLang="en-US" dirty="0"/>
              <a:t>中的第一个表示转义字符，第二个表示根目录。</a:t>
            </a:r>
          </a:p>
          <a:p>
            <a:pPr lvl="2"/>
            <a:endParaRPr lang="en-US" altLang="zh-CN" dirty="0"/>
          </a:p>
        </p:txBody>
      </p:sp>
      <p:sp>
        <p:nvSpPr>
          <p:cNvPr id="1346565" name="Text Box 5"/>
          <p:cNvSpPr txBox="1">
            <a:spLocks noChangeArrowheads="1"/>
          </p:cNvSpPr>
          <p:nvPr/>
        </p:nvSpPr>
        <p:spPr bwMode="auto">
          <a:xfrm>
            <a:off x="2099492" y="2214978"/>
            <a:ext cx="5237162" cy="590550"/>
          </a:xfrm>
          <a:prstGeom prst="rect">
            <a:avLst/>
          </a:prstGeom>
          <a:solidFill>
            <a:schemeClr val="bg1"/>
          </a:solidFill>
          <a:ln w="9525" algn="ctr">
            <a:solidFill>
              <a:schemeClr val="hlink"/>
            </a:solidFill>
            <a:miter lim="800000"/>
            <a:headEnd/>
            <a:tailEnd/>
          </a:ln>
          <a:effectLst>
            <a:outerShdw dist="107763" dir="2700000" algn="ctr" rotWithShape="0">
              <a:schemeClr val="bg2">
                <a:alpha val="50000"/>
              </a:schemeClr>
            </a:outerShdw>
          </a:effectLst>
        </p:spPr>
        <p:txBody>
          <a:bodyPr>
            <a:spAutoFit/>
          </a:bodyPr>
          <a:lstStyle/>
          <a:p>
            <a:r>
              <a:rPr kumimoji="1" lang="en-US" altLang="zh-CN" sz="1600" b="1" dirty="0">
                <a:latin typeface="Courier New" pitchFamily="49" charset="0"/>
              </a:rPr>
              <a:t>FILE *</a:t>
            </a:r>
            <a:r>
              <a:rPr kumimoji="1" lang="en-US" altLang="zh-CN" sz="1600" b="1" dirty="0" err="1">
                <a:latin typeface="Courier New" pitchFamily="49" charset="0"/>
              </a:rPr>
              <a:t>fp</a:t>
            </a:r>
            <a:r>
              <a:rPr kumimoji="1" lang="en-US" altLang="zh-CN" sz="1600" b="1" dirty="0">
                <a:latin typeface="Courier New" pitchFamily="49" charset="0"/>
              </a:rPr>
              <a:t>;</a:t>
            </a:r>
          </a:p>
          <a:p>
            <a:r>
              <a:rPr kumimoji="1" lang="en-US" altLang="zh-CN" sz="1600" b="1" dirty="0" err="1">
                <a:latin typeface="Courier New" pitchFamily="49" charset="0"/>
              </a:rPr>
              <a:t>fp</a:t>
            </a:r>
            <a:r>
              <a:rPr kumimoji="1" lang="en-US" altLang="zh-CN" sz="1600" b="1" dirty="0">
                <a:latin typeface="Courier New" pitchFamily="49" charset="0"/>
              </a:rPr>
              <a:t> = </a:t>
            </a:r>
            <a:r>
              <a:rPr kumimoji="1" lang="en-US" altLang="zh-CN" sz="1600" b="1" dirty="0" err="1">
                <a:latin typeface="Courier New" pitchFamily="49" charset="0"/>
              </a:rPr>
              <a:t>fopen</a:t>
            </a:r>
            <a:r>
              <a:rPr kumimoji="1" lang="en-US" altLang="zh-CN" sz="1600" b="1" dirty="0">
                <a:latin typeface="Courier New" pitchFamily="49" charset="0"/>
              </a:rPr>
              <a:t>("filea.dat", "r"); </a:t>
            </a:r>
          </a:p>
        </p:txBody>
      </p:sp>
      <p:sp>
        <p:nvSpPr>
          <p:cNvPr id="1346566" name="Text Box 6"/>
          <p:cNvSpPr txBox="1">
            <a:spLocks noChangeArrowheads="1"/>
          </p:cNvSpPr>
          <p:nvPr/>
        </p:nvSpPr>
        <p:spPr bwMode="auto">
          <a:xfrm>
            <a:off x="2099492" y="3902550"/>
            <a:ext cx="5237162" cy="590550"/>
          </a:xfrm>
          <a:prstGeom prst="rect">
            <a:avLst/>
          </a:prstGeom>
          <a:solidFill>
            <a:schemeClr val="bg1"/>
          </a:solidFill>
          <a:ln w="9525" algn="ctr">
            <a:solidFill>
              <a:schemeClr val="hlink"/>
            </a:solidFill>
            <a:miter lim="800000"/>
            <a:headEnd/>
            <a:tailEnd/>
          </a:ln>
          <a:effectLst>
            <a:outerShdw dist="107763" dir="2700000" algn="ctr" rotWithShape="0">
              <a:schemeClr val="bg2">
                <a:alpha val="50000"/>
              </a:schemeClr>
            </a:outerShdw>
          </a:effectLst>
        </p:spPr>
        <p:txBody>
          <a:bodyPr>
            <a:spAutoFit/>
          </a:bodyPr>
          <a:lstStyle/>
          <a:p>
            <a:r>
              <a:rPr kumimoji="1" lang="en-US" altLang="zh-CN" sz="1600" b="1" dirty="0">
                <a:latin typeface="Courier New" pitchFamily="49" charset="0"/>
              </a:rPr>
              <a:t>FILE *</a:t>
            </a:r>
            <a:r>
              <a:rPr kumimoji="1" lang="en-US" altLang="zh-CN" sz="1600" b="1" dirty="0" err="1">
                <a:latin typeface="Courier New" pitchFamily="49" charset="0"/>
              </a:rPr>
              <a:t>fpabc</a:t>
            </a:r>
            <a:r>
              <a:rPr kumimoji="1" lang="en-US" altLang="zh-CN" sz="1600" b="1" dirty="0">
                <a:latin typeface="Courier New" pitchFamily="49" charset="0"/>
              </a:rPr>
              <a:t>;</a:t>
            </a:r>
          </a:p>
          <a:p>
            <a:r>
              <a:rPr kumimoji="1" lang="en-US" altLang="zh-CN" sz="1600" b="1" dirty="0" err="1">
                <a:latin typeface="Courier New" pitchFamily="49" charset="0"/>
              </a:rPr>
              <a:t>fpabc</a:t>
            </a:r>
            <a:r>
              <a:rPr kumimoji="1" lang="en-US" altLang="zh-CN" sz="1600" b="1" dirty="0">
                <a:latin typeface="Courier New" pitchFamily="49" charset="0"/>
              </a:rPr>
              <a:t> = </a:t>
            </a:r>
            <a:r>
              <a:rPr kumimoji="1" lang="en-US" altLang="zh-CN" sz="1600" b="1" dirty="0" err="1">
                <a:latin typeface="Courier New" pitchFamily="49" charset="0"/>
              </a:rPr>
              <a:t>fopen</a:t>
            </a:r>
            <a:r>
              <a:rPr kumimoji="1" lang="en-US" altLang="zh-CN" sz="1600" b="1" dirty="0">
                <a:latin typeface="Courier New" pitchFamily="49" charset="0"/>
              </a:rPr>
              <a:t>(“c:\\fileabc.dat", "</a:t>
            </a:r>
            <a:r>
              <a:rPr kumimoji="1" lang="en-US" altLang="zh-CN" sz="1600" b="1" dirty="0" err="1">
                <a:latin typeface="Courier New" pitchFamily="49" charset="0"/>
              </a:rPr>
              <a:t>rb</a:t>
            </a:r>
            <a:r>
              <a:rPr kumimoji="1" lang="en-US" altLang="zh-CN" sz="1600" b="1" dirty="0">
                <a:latin typeface="Courier New" pitchFamily="49" charset="0"/>
              </a:rPr>
              <a:t>"); </a:t>
            </a:r>
          </a:p>
        </p:txBody>
      </p:sp>
    </p:spTree>
    <p:extLst>
      <p:ext uri="{BB962C8B-B14F-4D97-AF65-F5344CB8AC3E}">
        <p14:creationId xmlns:p14="http://schemas.microsoft.com/office/powerpoint/2010/main" val="3636186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8610" name="Rectangle 2"/>
          <p:cNvSpPr>
            <a:spLocks noGrp="1" noChangeArrowheads="1"/>
          </p:cNvSpPr>
          <p:nvPr>
            <p:ph type="title"/>
          </p:nvPr>
        </p:nvSpPr>
        <p:spPr/>
        <p:txBody>
          <a:bodyPr/>
          <a:lstStyle/>
          <a:p>
            <a:r>
              <a:rPr lang="zh-CN" altLang="en-US">
                <a:latin typeface="华文新魏" pitchFamily="2" charset="-122"/>
              </a:rPr>
              <a:t>文件的关闭</a:t>
            </a:r>
          </a:p>
        </p:txBody>
      </p:sp>
      <p:sp>
        <p:nvSpPr>
          <p:cNvPr id="1348611" name="Rectangle 3"/>
          <p:cNvSpPr>
            <a:spLocks noGrp="1" noChangeArrowheads="1"/>
          </p:cNvSpPr>
          <p:nvPr>
            <p:ph idx="1"/>
          </p:nvPr>
        </p:nvSpPr>
        <p:spPr/>
        <p:txBody>
          <a:bodyPr/>
          <a:lstStyle/>
          <a:p>
            <a:r>
              <a:rPr lang="en-US" altLang="zh-CN" dirty="0" err="1"/>
              <a:t>fclose</a:t>
            </a:r>
            <a:r>
              <a:rPr lang="en-US" altLang="zh-CN" dirty="0"/>
              <a:t>()</a:t>
            </a:r>
            <a:r>
              <a:rPr lang="zh-CN" altLang="en-US" dirty="0"/>
              <a:t>函数。</a:t>
            </a:r>
          </a:p>
          <a:p>
            <a:pPr lvl="1"/>
            <a:r>
              <a:rPr lang="zh-CN" altLang="en-US" dirty="0"/>
              <a:t>一般形式：</a:t>
            </a:r>
          </a:p>
          <a:p>
            <a:pPr lvl="2">
              <a:buFont typeface="Wingdings" pitchFamily="2" charset="2"/>
              <a:buNone/>
            </a:pPr>
            <a:r>
              <a:rPr lang="en-US" altLang="zh-CN" dirty="0" err="1">
                <a:solidFill>
                  <a:srgbClr val="FF0000"/>
                </a:solidFill>
              </a:rPr>
              <a:t>fclose</a:t>
            </a:r>
            <a:r>
              <a:rPr lang="en-US" altLang="zh-CN" dirty="0">
                <a:solidFill>
                  <a:srgbClr val="FF0000"/>
                </a:solidFill>
              </a:rPr>
              <a:t>(</a:t>
            </a:r>
            <a:r>
              <a:rPr lang="zh-CN" altLang="en-US" dirty="0">
                <a:solidFill>
                  <a:srgbClr val="FF0000"/>
                </a:solidFill>
              </a:rPr>
              <a:t>文件指针</a:t>
            </a:r>
            <a:r>
              <a:rPr lang="en-US" altLang="zh-CN" dirty="0">
                <a:solidFill>
                  <a:srgbClr val="FF0000"/>
                </a:solidFill>
              </a:rPr>
              <a:t>);</a:t>
            </a:r>
          </a:p>
          <a:p>
            <a:pPr lvl="1"/>
            <a:r>
              <a:rPr lang="zh-CN" altLang="en-US" dirty="0"/>
              <a:t>举例</a:t>
            </a:r>
          </a:p>
          <a:p>
            <a:pPr lvl="2"/>
            <a:endParaRPr lang="zh-CN" altLang="en-US" dirty="0"/>
          </a:p>
          <a:p>
            <a:pPr lvl="2"/>
            <a:endParaRPr lang="zh-CN" altLang="en-US" dirty="0"/>
          </a:p>
          <a:p>
            <a:pPr lvl="2"/>
            <a:endParaRPr lang="zh-CN" altLang="en-US" dirty="0"/>
          </a:p>
          <a:p>
            <a:pPr lvl="2"/>
            <a:r>
              <a:rPr lang="zh-CN" altLang="en-US" dirty="0"/>
              <a:t>将</a:t>
            </a:r>
            <a:r>
              <a:rPr lang="en-US" altLang="zh-CN" dirty="0" err="1"/>
              <a:t>fp</a:t>
            </a:r>
            <a:r>
              <a:rPr lang="zh-CN" altLang="en-US" dirty="0"/>
              <a:t>指向的缓冲区中的数据存放到外存储器的文件中，然后释放该缓冲区，使文件指针变量不再指向与该文件对应的</a:t>
            </a:r>
            <a:r>
              <a:rPr lang="en-US" altLang="zh-CN" dirty="0"/>
              <a:t>FILE</a:t>
            </a:r>
            <a:r>
              <a:rPr lang="zh-CN" altLang="en-US" dirty="0"/>
              <a:t>结构，从而断开与文件的关联。</a:t>
            </a:r>
          </a:p>
          <a:p>
            <a:pPr lvl="2"/>
            <a:r>
              <a:rPr lang="zh-CN" altLang="en-US" dirty="0"/>
              <a:t>操作正常返回</a:t>
            </a:r>
            <a:r>
              <a:rPr lang="en-US" altLang="zh-CN" dirty="0"/>
              <a:t>0</a:t>
            </a:r>
            <a:r>
              <a:rPr lang="zh-CN" altLang="en-US" dirty="0"/>
              <a:t>，否则返回</a:t>
            </a:r>
            <a:r>
              <a:rPr lang="en-US" altLang="zh-CN" dirty="0"/>
              <a:t>EOF</a:t>
            </a:r>
            <a:r>
              <a:rPr lang="zh-CN" altLang="en-US" dirty="0"/>
              <a:t>（是在</a:t>
            </a:r>
            <a:r>
              <a:rPr lang="en-US" altLang="zh-CN" dirty="0" err="1"/>
              <a:t>stdio.h</a:t>
            </a:r>
            <a:r>
              <a:rPr lang="zh-CN" altLang="en-US" dirty="0"/>
              <a:t>文件中定义的符号常量，值为</a:t>
            </a:r>
            <a:r>
              <a:rPr lang="en-US" altLang="zh-CN" dirty="0"/>
              <a:t>-1</a:t>
            </a:r>
            <a:r>
              <a:rPr lang="zh-CN" altLang="en-US" dirty="0"/>
              <a:t>）。</a:t>
            </a:r>
          </a:p>
        </p:txBody>
      </p:sp>
      <p:sp>
        <p:nvSpPr>
          <p:cNvPr id="1348613" name="Text Box 5"/>
          <p:cNvSpPr txBox="1">
            <a:spLocks noChangeArrowheads="1"/>
          </p:cNvSpPr>
          <p:nvPr/>
        </p:nvSpPr>
        <p:spPr bwMode="auto">
          <a:xfrm>
            <a:off x="1354137" y="3051746"/>
            <a:ext cx="2647950" cy="835025"/>
          </a:xfrm>
          <a:prstGeom prst="rect">
            <a:avLst/>
          </a:prstGeom>
          <a:solidFill>
            <a:schemeClr val="bg1"/>
          </a:solidFill>
          <a:ln w="9525" algn="ctr">
            <a:solidFill>
              <a:schemeClr val="hlink"/>
            </a:solidFill>
            <a:miter lim="800000"/>
            <a:headEnd/>
            <a:tailEnd/>
          </a:ln>
          <a:effectLst>
            <a:outerShdw dist="107763" dir="2700000" algn="ctr" rotWithShape="0">
              <a:schemeClr val="bg2">
                <a:alpha val="50000"/>
              </a:schemeClr>
            </a:outerShdw>
          </a:effectLst>
        </p:spPr>
        <p:txBody>
          <a:bodyPr>
            <a:spAutoFit/>
          </a:bodyPr>
          <a:lstStyle/>
          <a:p>
            <a:r>
              <a:rPr kumimoji="1" lang="en-US" altLang="zh-CN" sz="1600" b="1">
                <a:latin typeface="Courier New" pitchFamily="49" charset="0"/>
              </a:rPr>
              <a:t>FILE *fp;</a:t>
            </a:r>
          </a:p>
          <a:p>
            <a:r>
              <a:rPr kumimoji="1" lang="en-US" altLang="zh-CN" sz="1600" b="1">
                <a:latin typeface="Courier New" pitchFamily="49" charset="0"/>
              </a:rPr>
              <a:t>…</a:t>
            </a:r>
          </a:p>
          <a:p>
            <a:r>
              <a:rPr kumimoji="1" lang="en-US" altLang="zh-CN" sz="1600" b="1">
                <a:latin typeface="Courier New" pitchFamily="49" charset="0"/>
              </a:rPr>
              <a:t>fclose(fp); </a:t>
            </a:r>
          </a:p>
        </p:txBody>
      </p:sp>
      <p:sp>
        <p:nvSpPr>
          <p:cNvPr id="1348614" name="AutoShape 6"/>
          <p:cNvSpPr>
            <a:spLocks noChangeArrowheads="1"/>
          </p:cNvSpPr>
          <p:nvPr/>
        </p:nvSpPr>
        <p:spPr bwMode="auto">
          <a:xfrm>
            <a:off x="4107926" y="2498502"/>
            <a:ext cx="3602038" cy="1106487"/>
          </a:xfrm>
          <a:prstGeom prst="wedgeRectCallout">
            <a:avLst>
              <a:gd name="adj1" fmla="val -53347"/>
              <a:gd name="adj2" fmla="val 30056"/>
            </a:avLst>
          </a:prstGeom>
          <a:solidFill>
            <a:schemeClr val="bg1"/>
          </a:solidFill>
          <a:ln w="9525">
            <a:solidFill>
              <a:srgbClr val="FF00FF"/>
            </a:solidFill>
            <a:miter lim="800000"/>
            <a:headEnd/>
            <a:tailEnd/>
          </a:ln>
          <a:effectLst>
            <a:outerShdw dist="107763" dir="2700000" algn="ctr" rotWithShape="0">
              <a:schemeClr val="bg2">
                <a:alpha val="50000"/>
              </a:schemeClr>
            </a:outerShdw>
          </a:effectLst>
        </p:spPr>
        <p:txBody>
          <a:bodyPr/>
          <a:lstStyle/>
          <a:p>
            <a:r>
              <a:rPr lang="zh-CN" altLang="en-US" sz="1600" b="1">
                <a:solidFill>
                  <a:srgbClr val="FF00FF"/>
                </a:solidFill>
              </a:rPr>
              <a:t>如果不关闭文件，将会丢失数据，并且一个</a:t>
            </a:r>
            <a:r>
              <a:rPr lang="en-US" altLang="zh-CN" sz="1600" b="1">
                <a:solidFill>
                  <a:srgbClr val="FF00FF"/>
                </a:solidFill>
              </a:rPr>
              <a:t>C</a:t>
            </a:r>
            <a:r>
              <a:rPr lang="zh-CN" altLang="en-US" sz="1600" b="1">
                <a:solidFill>
                  <a:srgbClr val="FF00FF"/>
                </a:solidFill>
              </a:rPr>
              <a:t>程序能同时打开的文件数有限，应该养成在使用完文件后关闭文件的习惯。</a:t>
            </a:r>
          </a:p>
        </p:txBody>
      </p:sp>
    </p:spTree>
    <p:extLst>
      <p:ext uri="{BB962C8B-B14F-4D97-AF65-F5344CB8AC3E}">
        <p14:creationId xmlns:p14="http://schemas.microsoft.com/office/powerpoint/2010/main" val="1180001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658" name="Rectangle 2"/>
          <p:cNvSpPr>
            <a:spLocks noGrp="1" noChangeArrowheads="1"/>
          </p:cNvSpPr>
          <p:nvPr>
            <p:ph type="title"/>
          </p:nvPr>
        </p:nvSpPr>
        <p:spPr/>
        <p:txBody>
          <a:bodyPr/>
          <a:lstStyle/>
          <a:p>
            <a:r>
              <a:rPr lang="zh-CN" altLang="en-US">
                <a:latin typeface="华文新魏" pitchFamily="2" charset="-122"/>
              </a:rPr>
              <a:t>文件操作</a:t>
            </a:r>
          </a:p>
        </p:txBody>
      </p:sp>
      <p:sp>
        <p:nvSpPr>
          <p:cNvPr id="1350659" name="Rectangle 3"/>
          <p:cNvSpPr>
            <a:spLocks noGrp="1" noChangeArrowheads="1"/>
          </p:cNvSpPr>
          <p:nvPr>
            <p:ph idx="1"/>
          </p:nvPr>
        </p:nvSpPr>
        <p:spPr/>
        <p:txBody>
          <a:bodyPr/>
          <a:lstStyle/>
          <a:p>
            <a:r>
              <a:rPr lang="zh-CN" altLang="en-US"/>
              <a:t>文件操作的一般步骤</a:t>
            </a:r>
            <a:endParaRPr lang="zh-CN" altLang="en-US" sz="2400">
              <a:solidFill>
                <a:srgbClr val="33CC33"/>
              </a:solidFill>
            </a:endParaRPr>
          </a:p>
          <a:p>
            <a:pPr lvl="1"/>
            <a:endParaRPr lang="zh-CN" altLang="en-US"/>
          </a:p>
          <a:p>
            <a:pPr lvl="2"/>
            <a:endParaRPr lang="en-US" altLang="zh-CN"/>
          </a:p>
        </p:txBody>
      </p:sp>
      <p:sp>
        <p:nvSpPr>
          <p:cNvPr id="1350661" name="Text Box 5"/>
          <p:cNvSpPr txBox="1">
            <a:spLocks noChangeArrowheads="1"/>
          </p:cNvSpPr>
          <p:nvPr/>
        </p:nvSpPr>
        <p:spPr bwMode="auto">
          <a:xfrm>
            <a:off x="1582738" y="2095500"/>
            <a:ext cx="5319712" cy="4221163"/>
          </a:xfrm>
          <a:prstGeom prst="rect">
            <a:avLst/>
          </a:prstGeom>
          <a:solidFill>
            <a:schemeClr val="bg1"/>
          </a:solidFill>
          <a:ln w="9525" algn="ctr">
            <a:solidFill>
              <a:schemeClr val="hlink"/>
            </a:solidFill>
            <a:miter lim="800000"/>
            <a:headEnd/>
            <a:tailEnd/>
          </a:ln>
          <a:effectLst>
            <a:outerShdw dist="107763" dir="2700000" algn="ctr" rotWithShape="0">
              <a:schemeClr val="bg2">
                <a:alpha val="50000"/>
              </a:schemeClr>
            </a:outerShdw>
          </a:effectLst>
        </p:spPr>
        <p:txBody>
          <a:bodyPr>
            <a:spAutoFit/>
          </a:bodyPr>
          <a:lstStyle/>
          <a:p>
            <a:r>
              <a:rPr kumimoji="1" lang="en-US" altLang="zh-CN" b="1">
                <a:latin typeface="Courier New" pitchFamily="49" charset="0"/>
              </a:rPr>
              <a:t>/* </a:t>
            </a:r>
            <a:r>
              <a:rPr kumimoji="1" lang="zh-CN" altLang="en-US" b="1">
                <a:latin typeface="Courier New" pitchFamily="49" charset="0"/>
              </a:rPr>
              <a:t>定义声明文件指针 *</a:t>
            </a:r>
            <a:r>
              <a:rPr kumimoji="1" lang="en-US" altLang="zh-CN" b="1">
                <a:latin typeface="Courier New" pitchFamily="49" charset="0"/>
              </a:rPr>
              <a:t>/</a:t>
            </a:r>
          </a:p>
          <a:p>
            <a:r>
              <a:rPr kumimoji="1" lang="en-US" altLang="zh-CN" b="1">
                <a:solidFill>
                  <a:srgbClr val="FF00FF"/>
                </a:solidFill>
                <a:latin typeface="Courier New" pitchFamily="49" charset="0"/>
              </a:rPr>
              <a:t>FILE *fp;</a:t>
            </a:r>
          </a:p>
          <a:p>
            <a:endParaRPr kumimoji="1" lang="en-US" altLang="zh-CN" b="1">
              <a:solidFill>
                <a:srgbClr val="FF00FF"/>
              </a:solidFill>
              <a:latin typeface="Courier New" pitchFamily="49" charset="0"/>
            </a:endParaRPr>
          </a:p>
          <a:p>
            <a:r>
              <a:rPr kumimoji="1" lang="en-US" altLang="zh-CN" b="1">
                <a:latin typeface="Courier New" pitchFamily="49" charset="0"/>
              </a:rPr>
              <a:t>/* </a:t>
            </a:r>
            <a:r>
              <a:rPr kumimoji="1" lang="zh-CN" altLang="en-US" b="1">
                <a:latin typeface="Courier New" pitchFamily="49" charset="0"/>
              </a:rPr>
              <a:t>打开文件 *</a:t>
            </a:r>
            <a:r>
              <a:rPr kumimoji="1" lang="en-US" altLang="zh-CN" b="1">
                <a:latin typeface="Courier New" pitchFamily="49" charset="0"/>
              </a:rPr>
              <a:t>/</a:t>
            </a:r>
          </a:p>
          <a:p>
            <a:r>
              <a:rPr kumimoji="1" lang="en-US" altLang="zh-CN" b="1">
                <a:solidFill>
                  <a:schemeClr val="hlink"/>
                </a:solidFill>
                <a:latin typeface="Courier New" pitchFamily="49" charset="0"/>
              </a:rPr>
              <a:t>fp = fopen("</a:t>
            </a:r>
            <a:r>
              <a:rPr kumimoji="1" lang="zh-CN" altLang="en-US" b="1">
                <a:solidFill>
                  <a:schemeClr val="hlink"/>
                </a:solidFill>
                <a:latin typeface="Courier New" pitchFamily="49" charset="0"/>
              </a:rPr>
              <a:t>文件名</a:t>
            </a:r>
            <a:r>
              <a:rPr kumimoji="1" lang="en-US" altLang="zh-CN" b="1">
                <a:solidFill>
                  <a:schemeClr val="hlink"/>
                </a:solidFill>
                <a:latin typeface="Courier New" pitchFamily="49" charset="0"/>
              </a:rPr>
              <a:t>", "r");</a:t>
            </a:r>
            <a:r>
              <a:rPr kumimoji="1" lang="en-US" altLang="zh-CN" b="1">
                <a:latin typeface="Courier New" pitchFamily="49" charset="0"/>
              </a:rPr>
              <a:t> </a:t>
            </a:r>
          </a:p>
          <a:p>
            <a:endParaRPr kumimoji="1" lang="en-US" altLang="zh-CN" b="1">
              <a:latin typeface="Courier New" pitchFamily="49" charset="0"/>
            </a:endParaRPr>
          </a:p>
          <a:p>
            <a:r>
              <a:rPr kumimoji="1" lang="en-US" altLang="zh-CN" b="1">
                <a:latin typeface="Courier New" pitchFamily="49" charset="0"/>
              </a:rPr>
              <a:t>/* </a:t>
            </a:r>
            <a:r>
              <a:rPr kumimoji="1" lang="zh-CN" altLang="en-US" b="1">
                <a:latin typeface="Courier New" pitchFamily="49" charset="0"/>
              </a:rPr>
              <a:t>判断是否打开文件 *</a:t>
            </a:r>
            <a:r>
              <a:rPr kumimoji="1" lang="en-US" altLang="zh-CN" b="1">
                <a:latin typeface="Courier New" pitchFamily="49" charset="0"/>
              </a:rPr>
              <a:t>/</a:t>
            </a:r>
          </a:p>
          <a:p>
            <a:r>
              <a:rPr kumimoji="1" lang="en-US" altLang="zh-CN" b="1">
                <a:solidFill>
                  <a:schemeClr val="hlink"/>
                </a:solidFill>
                <a:latin typeface="Courier New" pitchFamily="49" charset="0"/>
              </a:rPr>
              <a:t>if (fp == NULL) { </a:t>
            </a:r>
          </a:p>
          <a:p>
            <a:r>
              <a:rPr kumimoji="1" lang="en-US" altLang="zh-CN" b="1">
                <a:solidFill>
                  <a:schemeClr val="hlink"/>
                </a:solidFill>
                <a:latin typeface="Courier New" pitchFamily="49" charset="0"/>
              </a:rPr>
              <a:t>  /* </a:t>
            </a:r>
            <a:r>
              <a:rPr kumimoji="1" lang="zh-CN" altLang="en-US" b="1">
                <a:solidFill>
                  <a:schemeClr val="hlink"/>
                </a:solidFill>
                <a:latin typeface="Courier New" pitchFamily="49" charset="0"/>
              </a:rPr>
              <a:t>当文件打开失败时的处理 *</a:t>
            </a:r>
            <a:r>
              <a:rPr kumimoji="1" lang="en-US" altLang="zh-CN" b="1">
                <a:solidFill>
                  <a:schemeClr val="hlink"/>
                </a:solidFill>
                <a:latin typeface="Courier New" pitchFamily="49" charset="0"/>
              </a:rPr>
              <a:t>/ </a:t>
            </a:r>
          </a:p>
          <a:p>
            <a:r>
              <a:rPr kumimoji="1" lang="en-US" altLang="zh-CN" b="1">
                <a:solidFill>
                  <a:schemeClr val="hlink"/>
                </a:solidFill>
                <a:latin typeface="Courier New" pitchFamily="49" charset="0"/>
              </a:rPr>
              <a:t>} </a:t>
            </a:r>
          </a:p>
          <a:p>
            <a:endParaRPr kumimoji="1" lang="en-US" altLang="zh-CN" b="1">
              <a:solidFill>
                <a:schemeClr val="hlink"/>
              </a:solidFill>
              <a:latin typeface="Courier New" pitchFamily="49" charset="0"/>
            </a:endParaRPr>
          </a:p>
          <a:p>
            <a:r>
              <a:rPr kumimoji="1" lang="en-US" altLang="zh-CN" b="1">
                <a:latin typeface="Courier New" pitchFamily="49" charset="0"/>
              </a:rPr>
              <a:t>/* </a:t>
            </a:r>
            <a:r>
              <a:rPr kumimoji="1" lang="zh-CN" altLang="en-US" b="1">
                <a:latin typeface="Courier New" pitchFamily="49" charset="0"/>
              </a:rPr>
              <a:t>对文件进行读写操作 *</a:t>
            </a:r>
            <a:r>
              <a:rPr kumimoji="1" lang="en-US" altLang="zh-CN" b="1">
                <a:latin typeface="Courier New" pitchFamily="49" charset="0"/>
              </a:rPr>
              <a:t>/ </a:t>
            </a:r>
          </a:p>
          <a:p>
            <a:endParaRPr kumimoji="1" lang="en-US" altLang="zh-CN" b="1">
              <a:latin typeface="Courier New" pitchFamily="49" charset="0"/>
            </a:endParaRPr>
          </a:p>
          <a:p>
            <a:r>
              <a:rPr kumimoji="1" lang="en-US" altLang="zh-CN" b="1">
                <a:latin typeface="Courier New" pitchFamily="49" charset="0"/>
              </a:rPr>
              <a:t>/* </a:t>
            </a:r>
            <a:r>
              <a:rPr kumimoji="1" lang="zh-CN" altLang="en-US" b="1">
                <a:latin typeface="Courier New" pitchFamily="49" charset="0"/>
              </a:rPr>
              <a:t>关闭文件 *</a:t>
            </a:r>
            <a:r>
              <a:rPr kumimoji="1" lang="en-US" altLang="zh-CN" b="1">
                <a:latin typeface="Courier New" pitchFamily="49" charset="0"/>
              </a:rPr>
              <a:t>/</a:t>
            </a:r>
          </a:p>
          <a:p>
            <a:r>
              <a:rPr kumimoji="1" lang="en-US" altLang="zh-CN" b="1">
                <a:solidFill>
                  <a:srgbClr val="33CC33"/>
                </a:solidFill>
                <a:latin typeface="Courier New" pitchFamily="49" charset="0"/>
              </a:rPr>
              <a:t>fclose(fp);</a:t>
            </a:r>
          </a:p>
        </p:txBody>
      </p:sp>
    </p:spTree>
    <p:extLst>
      <p:ext uri="{BB962C8B-B14F-4D97-AF65-F5344CB8AC3E}">
        <p14:creationId xmlns:p14="http://schemas.microsoft.com/office/powerpoint/2010/main" val="2614599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2706" name="Rectangle 2"/>
          <p:cNvSpPr>
            <a:spLocks noGrp="1" noChangeArrowheads="1"/>
          </p:cNvSpPr>
          <p:nvPr>
            <p:ph type="title"/>
          </p:nvPr>
        </p:nvSpPr>
        <p:spPr/>
        <p:txBody>
          <a:bodyPr/>
          <a:lstStyle/>
          <a:p>
            <a:r>
              <a:rPr lang="zh-CN" altLang="en-US">
                <a:latin typeface="华文新魏" pitchFamily="2" charset="-122"/>
              </a:rPr>
              <a:t>文件的读写</a:t>
            </a:r>
          </a:p>
        </p:txBody>
      </p:sp>
      <p:sp>
        <p:nvSpPr>
          <p:cNvPr id="1352707" name="Rectangle 3"/>
          <p:cNvSpPr>
            <a:spLocks noGrp="1" noChangeArrowheads="1"/>
          </p:cNvSpPr>
          <p:nvPr>
            <p:ph idx="1"/>
          </p:nvPr>
        </p:nvSpPr>
        <p:spPr/>
        <p:txBody>
          <a:bodyPr/>
          <a:lstStyle/>
          <a:p>
            <a:r>
              <a:rPr lang="en-US" altLang="zh-CN"/>
              <a:t>C</a:t>
            </a:r>
            <a:r>
              <a:rPr lang="zh-CN" altLang="en-US"/>
              <a:t>语言支持两种读写文件的方式</a:t>
            </a:r>
          </a:p>
          <a:p>
            <a:pPr lvl="1"/>
            <a:r>
              <a:rPr lang="zh-CN" altLang="en-US"/>
              <a:t>顺序读写</a:t>
            </a:r>
            <a:endParaRPr lang="zh-CN" altLang="en-US" sz="2000">
              <a:solidFill>
                <a:srgbClr val="33CC33"/>
              </a:solidFill>
            </a:endParaRPr>
          </a:p>
          <a:p>
            <a:pPr lvl="2"/>
            <a:r>
              <a:rPr lang="zh-CN" altLang="en-US"/>
              <a:t>从文件中一个接一个地读写数据，仅当读写了前一个数据后，才能读写下一个数据。</a:t>
            </a:r>
          </a:p>
          <a:p>
            <a:pPr lvl="2"/>
            <a:r>
              <a:rPr lang="zh-CN" altLang="en-US"/>
              <a:t>在读写数据后，文件位置指针自动跳到下一个读写位置。</a:t>
            </a:r>
          </a:p>
          <a:p>
            <a:pPr lvl="2"/>
            <a:r>
              <a:rPr lang="zh-CN" altLang="en-US"/>
              <a:t>标准输入输出只能进行顺序读写。</a:t>
            </a:r>
          </a:p>
          <a:p>
            <a:pPr lvl="1"/>
            <a:r>
              <a:rPr lang="zh-CN" altLang="en-US"/>
              <a:t>随机读写</a:t>
            </a:r>
          </a:p>
          <a:p>
            <a:pPr lvl="2"/>
            <a:r>
              <a:rPr lang="zh-CN" altLang="en-US"/>
              <a:t>从文件中读写数据时可不考虑数据在文件中的位置，可以在文件的任何位置读写。</a:t>
            </a:r>
          </a:p>
          <a:p>
            <a:pPr lvl="2"/>
            <a:r>
              <a:rPr lang="zh-CN" altLang="en-US"/>
              <a:t>在读写数据前，需要将</a:t>
            </a:r>
            <a:r>
              <a:rPr lang="zh-CN" altLang="en-US">
                <a:solidFill>
                  <a:srgbClr val="FF00FF"/>
                </a:solidFill>
              </a:rPr>
              <a:t>文件位置指针</a:t>
            </a:r>
            <a:r>
              <a:rPr lang="zh-CN" altLang="en-US"/>
              <a:t>移到读写位置。</a:t>
            </a:r>
          </a:p>
          <a:p>
            <a:pPr lvl="2"/>
            <a:r>
              <a:rPr lang="zh-CN" altLang="en-US"/>
              <a:t>当文件以读或写方式打开，文件位置指针设置在文件头，若文件以附加方式打开，位置设置在文件末尾。</a:t>
            </a:r>
          </a:p>
        </p:txBody>
      </p:sp>
    </p:spTree>
    <p:extLst>
      <p:ext uri="{BB962C8B-B14F-4D97-AF65-F5344CB8AC3E}">
        <p14:creationId xmlns:p14="http://schemas.microsoft.com/office/powerpoint/2010/main" val="3956866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2" name="Rectangle 2"/>
          <p:cNvSpPr>
            <a:spLocks noGrp="1" noChangeArrowheads="1"/>
          </p:cNvSpPr>
          <p:nvPr>
            <p:ph type="title"/>
          </p:nvPr>
        </p:nvSpPr>
        <p:spPr/>
        <p:txBody>
          <a:bodyPr/>
          <a:lstStyle/>
          <a:p>
            <a:r>
              <a:rPr lang="zh-CN" altLang="en-US">
                <a:latin typeface="华文新魏" pitchFamily="2" charset="-122"/>
              </a:rPr>
              <a:t>字符的读写</a:t>
            </a:r>
          </a:p>
        </p:txBody>
      </p:sp>
      <p:sp>
        <p:nvSpPr>
          <p:cNvPr id="1356803" name="Rectangle 3"/>
          <p:cNvSpPr>
            <a:spLocks noGrp="1" noChangeArrowheads="1"/>
          </p:cNvSpPr>
          <p:nvPr>
            <p:ph idx="1"/>
          </p:nvPr>
        </p:nvSpPr>
        <p:spPr/>
        <p:txBody>
          <a:bodyPr/>
          <a:lstStyle/>
          <a:p>
            <a:r>
              <a:rPr lang="zh-CN" altLang="en-US"/>
              <a:t>文件位置指针</a:t>
            </a:r>
          </a:p>
          <a:p>
            <a:pPr lvl="1"/>
            <a:r>
              <a:rPr lang="zh-CN" altLang="en-US"/>
              <a:t>文件型数据结构中，用文件位置指针指向当前对文件进行读写操作的位置。</a:t>
            </a:r>
          </a:p>
          <a:p>
            <a:pPr lvl="2"/>
            <a:r>
              <a:rPr lang="zh-CN" altLang="en-US"/>
              <a:t>在文件打开时，该指针总是指向文件的第一个字节。读写文件时，每读写一个字符后，该位置指针的值会自动加</a:t>
            </a:r>
            <a:r>
              <a:rPr lang="en-US" altLang="zh-CN"/>
              <a:t>1</a:t>
            </a:r>
            <a:r>
              <a:rPr lang="zh-CN" altLang="en-US"/>
              <a:t>，指向下一个字符。</a:t>
            </a:r>
          </a:p>
          <a:p>
            <a:pPr lvl="2"/>
            <a:r>
              <a:rPr lang="zh-CN" altLang="en-US"/>
              <a:t>改变位置指针的值，也就改变了下一次读写操作在文件中执行时的位置。</a:t>
            </a:r>
          </a:p>
        </p:txBody>
      </p:sp>
      <p:sp>
        <p:nvSpPr>
          <p:cNvPr id="1356805" name="AutoShape 5"/>
          <p:cNvSpPr>
            <a:spLocks noChangeArrowheads="1"/>
          </p:cNvSpPr>
          <p:nvPr/>
        </p:nvSpPr>
        <p:spPr bwMode="auto">
          <a:xfrm>
            <a:off x="2820988" y="4086225"/>
            <a:ext cx="1285875" cy="2265363"/>
          </a:xfrm>
          <a:prstGeom prst="foldedCorner">
            <a:avLst>
              <a:gd name="adj" fmla="val 6972"/>
            </a:avLst>
          </a:prstGeom>
          <a:solidFill>
            <a:schemeClr val="bg1"/>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6" name="Rectangle 6"/>
          <p:cNvSpPr>
            <a:spLocks noChangeArrowheads="1"/>
          </p:cNvSpPr>
          <p:nvPr/>
        </p:nvSpPr>
        <p:spPr bwMode="auto">
          <a:xfrm>
            <a:off x="2898775" y="41735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7" name="Rectangle 7"/>
          <p:cNvSpPr>
            <a:spLocks noChangeArrowheads="1"/>
          </p:cNvSpPr>
          <p:nvPr/>
        </p:nvSpPr>
        <p:spPr bwMode="auto">
          <a:xfrm>
            <a:off x="2898775" y="43894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8" name="Rectangle 8"/>
          <p:cNvSpPr>
            <a:spLocks noChangeArrowheads="1"/>
          </p:cNvSpPr>
          <p:nvPr/>
        </p:nvSpPr>
        <p:spPr bwMode="auto">
          <a:xfrm>
            <a:off x="2898775" y="46053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9" name="Rectangle 9"/>
          <p:cNvSpPr>
            <a:spLocks noChangeArrowheads="1"/>
          </p:cNvSpPr>
          <p:nvPr/>
        </p:nvSpPr>
        <p:spPr bwMode="auto">
          <a:xfrm>
            <a:off x="2898775" y="48212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0" name="Rectangle 10"/>
          <p:cNvSpPr>
            <a:spLocks noChangeArrowheads="1"/>
          </p:cNvSpPr>
          <p:nvPr/>
        </p:nvSpPr>
        <p:spPr bwMode="auto">
          <a:xfrm>
            <a:off x="2898775" y="50371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1" name="Rectangle 11"/>
          <p:cNvSpPr>
            <a:spLocks noChangeArrowheads="1"/>
          </p:cNvSpPr>
          <p:nvPr/>
        </p:nvSpPr>
        <p:spPr bwMode="auto">
          <a:xfrm>
            <a:off x="2898775" y="52530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2" name="Rectangle 12"/>
          <p:cNvSpPr>
            <a:spLocks noChangeArrowheads="1"/>
          </p:cNvSpPr>
          <p:nvPr/>
        </p:nvSpPr>
        <p:spPr bwMode="auto">
          <a:xfrm>
            <a:off x="2898775" y="54689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3" name="Rectangle 13"/>
          <p:cNvSpPr>
            <a:spLocks noChangeArrowheads="1"/>
          </p:cNvSpPr>
          <p:nvPr/>
        </p:nvSpPr>
        <p:spPr bwMode="auto">
          <a:xfrm>
            <a:off x="2898775" y="56848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4" name="Rectangle 14"/>
          <p:cNvSpPr>
            <a:spLocks noChangeArrowheads="1"/>
          </p:cNvSpPr>
          <p:nvPr/>
        </p:nvSpPr>
        <p:spPr bwMode="auto">
          <a:xfrm>
            <a:off x="2898775" y="5900738"/>
            <a:ext cx="1119188" cy="1651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5" name="Line 15"/>
          <p:cNvSpPr>
            <a:spLocks noChangeShapeType="1"/>
          </p:cNvSpPr>
          <p:nvPr/>
        </p:nvSpPr>
        <p:spPr bwMode="auto">
          <a:xfrm flipH="1">
            <a:off x="4132263" y="4689475"/>
            <a:ext cx="536575" cy="0"/>
          </a:xfrm>
          <a:prstGeom prst="line">
            <a:avLst/>
          </a:prstGeom>
          <a:noFill/>
          <a:ln w="38100">
            <a:solidFill>
              <a:srgbClr val="99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6816" name="Text Box 16"/>
          <p:cNvSpPr txBox="1">
            <a:spLocks noChangeArrowheads="1"/>
          </p:cNvSpPr>
          <p:nvPr/>
        </p:nvSpPr>
        <p:spPr bwMode="auto">
          <a:xfrm>
            <a:off x="4699000" y="4473575"/>
            <a:ext cx="17414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spcAft>
                <a:spcPts val="825"/>
              </a:spcAft>
            </a:pPr>
            <a:r>
              <a:rPr kumimoji="1" lang="zh-CN" altLang="en-US" sz="1600" b="1">
                <a:solidFill>
                  <a:srgbClr val="9933FF"/>
                </a:solidFill>
                <a:latin typeface="Times New Roman" pitchFamily="18" charset="0"/>
              </a:rPr>
              <a:t>文件位置指针</a:t>
            </a:r>
          </a:p>
        </p:txBody>
      </p:sp>
    </p:spTree>
    <p:extLst>
      <p:ext uri="{BB962C8B-B14F-4D97-AF65-F5344CB8AC3E}">
        <p14:creationId xmlns:p14="http://schemas.microsoft.com/office/powerpoint/2010/main" val="1819427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顺序读写数据文件</a:t>
            </a:r>
          </a:p>
        </p:txBody>
      </p:sp>
      <p:sp>
        <p:nvSpPr>
          <p:cNvPr id="2" name="内容占位符 1"/>
          <p:cNvSpPr>
            <a:spLocks noGrp="1"/>
          </p:cNvSpPr>
          <p:nvPr>
            <p:ph idx="1"/>
          </p:nvPr>
        </p:nvSpPr>
        <p:spPr/>
        <p:txBody>
          <a:bodyPr>
            <a:normAutofit/>
          </a:bodyPr>
          <a:lstStyle/>
          <a:p>
            <a:r>
              <a:rPr lang="zh-CN" altLang="en-US" sz="2400" dirty="0"/>
              <a:t>从文件中读写字符、字符串</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a:spcBef>
                <a:spcPts val="1800"/>
              </a:spcBef>
            </a:pPr>
            <a:r>
              <a:rPr lang="zh-CN" altLang="en-US" sz="2400" dirty="0"/>
              <a:t>从文件中读写字符串</a:t>
            </a:r>
          </a:p>
        </p:txBody>
      </p:sp>
      <p:graphicFrame>
        <p:nvGraphicFramePr>
          <p:cNvPr id="4" name="表格 3"/>
          <p:cNvGraphicFramePr>
            <a:graphicFrameLocks noGrp="1"/>
          </p:cNvGraphicFramePr>
          <p:nvPr>
            <p:extLst>
              <p:ext uri="{D42A27DB-BD31-4B8C-83A1-F6EECF244321}">
                <p14:modId xmlns:p14="http://schemas.microsoft.com/office/powerpoint/2010/main" val="1529673247"/>
              </p:ext>
            </p:extLst>
          </p:nvPr>
        </p:nvGraphicFramePr>
        <p:xfrm>
          <a:off x="84164" y="1773089"/>
          <a:ext cx="8928991" cy="2456661"/>
        </p:xfrm>
        <a:graphic>
          <a:graphicData uri="http://schemas.openxmlformats.org/drawingml/2006/table">
            <a:tbl>
              <a:tblPr firstRow="1" bandRow="1"/>
              <a:tblGrid>
                <a:gridCol w="756694">
                  <a:extLst>
                    <a:ext uri="{9D8B030D-6E8A-4147-A177-3AD203B41FA5}">
                      <a16:colId xmlns:a16="http://schemas.microsoft.com/office/drawing/2014/main" val="20000"/>
                    </a:ext>
                  </a:extLst>
                </a:gridCol>
                <a:gridCol w="1135041">
                  <a:extLst>
                    <a:ext uri="{9D8B030D-6E8A-4147-A177-3AD203B41FA5}">
                      <a16:colId xmlns:a16="http://schemas.microsoft.com/office/drawing/2014/main" val="20001"/>
                    </a:ext>
                  </a:extLst>
                </a:gridCol>
                <a:gridCol w="3026777">
                  <a:extLst>
                    <a:ext uri="{9D8B030D-6E8A-4147-A177-3AD203B41FA5}">
                      <a16:colId xmlns:a16="http://schemas.microsoft.com/office/drawing/2014/main" val="20002"/>
                    </a:ext>
                  </a:extLst>
                </a:gridCol>
                <a:gridCol w="4010479">
                  <a:extLst>
                    <a:ext uri="{9D8B030D-6E8A-4147-A177-3AD203B41FA5}">
                      <a16:colId xmlns:a16="http://schemas.microsoft.com/office/drawing/2014/main" val="20003"/>
                    </a:ext>
                  </a:extLst>
                </a:gridCol>
              </a:tblGrid>
              <a:tr h="360040">
                <a:tc>
                  <a:txBody>
                    <a:bodyPr/>
                    <a:lstStyle>
                      <a:lvl1pPr marL="0" algn="l" defTabSz="685800" rtl="0" eaLnBrk="1" latinLnBrk="0" hangingPunct="1">
                        <a:defRPr sz="1350" b="1" kern="1200">
                          <a:solidFill>
                            <a:schemeClr val="lt1"/>
                          </a:solidFill>
                          <a:latin typeface="等线"/>
                        </a:defRPr>
                      </a:lvl1pPr>
                      <a:lvl2pPr marL="342900" algn="l" defTabSz="685800" rtl="0" eaLnBrk="1" latinLnBrk="0" hangingPunct="1">
                        <a:defRPr sz="1350" b="1" kern="1200">
                          <a:solidFill>
                            <a:schemeClr val="lt1"/>
                          </a:solidFill>
                          <a:latin typeface="等线"/>
                        </a:defRPr>
                      </a:lvl2pPr>
                      <a:lvl3pPr marL="685800" algn="l" defTabSz="685800" rtl="0" eaLnBrk="1" latinLnBrk="0" hangingPunct="1">
                        <a:defRPr sz="1350" b="1" kern="1200">
                          <a:solidFill>
                            <a:schemeClr val="lt1"/>
                          </a:solidFill>
                          <a:latin typeface="等线"/>
                        </a:defRPr>
                      </a:lvl3pPr>
                      <a:lvl4pPr marL="1028700" algn="l" defTabSz="685800" rtl="0" eaLnBrk="1" latinLnBrk="0" hangingPunct="1">
                        <a:defRPr sz="1350" b="1" kern="1200">
                          <a:solidFill>
                            <a:schemeClr val="lt1"/>
                          </a:solidFill>
                          <a:latin typeface="等线"/>
                        </a:defRPr>
                      </a:lvl4pPr>
                      <a:lvl5pPr marL="1371600" algn="l" defTabSz="685800" rtl="0" eaLnBrk="1" latinLnBrk="0" hangingPunct="1">
                        <a:defRPr sz="1350" b="1" kern="1200">
                          <a:solidFill>
                            <a:schemeClr val="lt1"/>
                          </a:solidFill>
                          <a:latin typeface="等线"/>
                        </a:defRPr>
                      </a:lvl5pPr>
                      <a:lvl6pPr marL="1714500" algn="l" defTabSz="685800" rtl="0" eaLnBrk="1" latinLnBrk="0" hangingPunct="1">
                        <a:defRPr sz="1350" b="1" kern="1200">
                          <a:solidFill>
                            <a:schemeClr val="lt1"/>
                          </a:solidFill>
                          <a:latin typeface="等线"/>
                        </a:defRPr>
                      </a:lvl6pPr>
                      <a:lvl7pPr marL="2057400" algn="l" defTabSz="685800" rtl="0" eaLnBrk="1" latinLnBrk="0" hangingPunct="1">
                        <a:defRPr sz="1350" b="1" kern="1200">
                          <a:solidFill>
                            <a:schemeClr val="lt1"/>
                          </a:solidFill>
                          <a:latin typeface="等线"/>
                        </a:defRPr>
                      </a:lvl7pPr>
                      <a:lvl8pPr marL="2400300" algn="l" defTabSz="685800" rtl="0" eaLnBrk="1" latinLnBrk="0" hangingPunct="1">
                        <a:defRPr sz="1350" b="1" kern="1200">
                          <a:solidFill>
                            <a:schemeClr val="lt1"/>
                          </a:solidFill>
                          <a:latin typeface="等线"/>
                        </a:defRPr>
                      </a:lvl8pPr>
                      <a:lvl9pPr marL="2743200" algn="l" defTabSz="685800" rtl="0" eaLnBrk="1" latinLnBrk="0" hangingPunct="1">
                        <a:defRPr sz="1350" b="1" kern="1200">
                          <a:solidFill>
                            <a:schemeClr val="lt1"/>
                          </a:solidFill>
                          <a:latin typeface="等线"/>
                        </a:defRPr>
                      </a:lvl9pPr>
                    </a:lstStyle>
                    <a:p>
                      <a:pPr algn="ctr" fontAlgn="ctr">
                        <a:lnSpc>
                          <a:spcPct val="100000"/>
                        </a:lnSpc>
                      </a:pPr>
                      <a:r>
                        <a:rPr lang="zh-CN" altLang="en-US" sz="1100" u="none" strike="noStrike" dirty="0">
                          <a:effectLst/>
                        </a:rPr>
                        <a:t>函数名</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a:defRPr>
                      </a:lvl1pPr>
                      <a:lvl2pPr marL="342900" algn="l" defTabSz="685800" rtl="0" eaLnBrk="1" latinLnBrk="0" hangingPunct="1">
                        <a:defRPr sz="1350" b="1" kern="1200">
                          <a:solidFill>
                            <a:schemeClr val="lt1"/>
                          </a:solidFill>
                          <a:latin typeface="等线"/>
                        </a:defRPr>
                      </a:lvl2pPr>
                      <a:lvl3pPr marL="685800" algn="l" defTabSz="685800" rtl="0" eaLnBrk="1" latinLnBrk="0" hangingPunct="1">
                        <a:defRPr sz="1350" b="1" kern="1200">
                          <a:solidFill>
                            <a:schemeClr val="lt1"/>
                          </a:solidFill>
                          <a:latin typeface="等线"/>
                        </a:defRPr>
                      </a:lvl3pPr>
                      <a:lvl4pPr marL="1028700" algn="l" defTabSz="685800" rtl="0" eaLnBrk="1" latinLnBrk="0" hangingPunct="1">
                        <a:defRPr sz="1350" b="1" kern="1200">
                          <a:solidFill>
                            <a:schemeClr val="lt1"/>
                          </a:solidFill>
                          <a:latin typeface="等线"/>
                        </a:defRPr>
                      </a:lvl4pPr>
                      <a:lvl5pPr marL="1371600" algn="l" defTabSz="685800" rtl="0" eaLnBrk="1" latinLnBrk="0" hangingPunct="1">
                        <a:defRPr sz="1350" b="1" kern="1200">
                          <a:solidFill>
                            <a:schemeClr val="lt1"/>
                          </a:solidFill>
                          <a:latin typeface="等线"/>
                        </a:defRPr>
                      </a:lvl5pPr>
                      <a:lvl6pPr marL="1714500" algn="l" defTabSz="685800" rtl="0" eaLnBrk="1" latinLnBrk="0" hangingPunct="1">
                        <a:defRPr sz="1350" b="1" kern="1200">
                          <a:solidFill>
                            <a:schemeClr val="lt1"/>
                          </a:solidFill>
                          <a:latin typeface="等线"/>
                        </a:defRPr>
                      </a:lvl6pPr>
                      <a:lvl7pPr marL="2057400" algn="l" defTabSz="685800" rtl="0" eaLnBrk="1" latinLnBrk="0" hangingPunct="1">
                        <a:defRPr sz="1350" b="1" kern="1200">
                          <a:solidFill>
                            <a:schemeClr val="lt1"/>
                          </a:solidFill>
                          <a:latin typeface="等线"/>
                        </a:defRPr>
                      </a:lvl7pPr>
                      <a:lvl8pPr marL="2400300" algn="l" defTabSz="685800" rtl="0" eaLnBrk="1" latinLnBrk="0" hangingPunct="1">
                        <a:defRPr sz="1350" b="1" kern="1200">
                          <a:solidFill>
                            <a:schemeClr val="lt1"/>
                          </a:solidFill>
                          <a:latin typeface="等线"/>
                        </a:defRPr>
                      </a:lvl8pPr>
                      <a:lvl9pPr marL="2743200" algn="l" defTabSz="685800" rtl="0" eaLnBrk="1" latinLnBrk="0" hangingPunct="1">
                        <a:defRPr sz="1350" b="1" kern="1200">
                          <a:solidFill>
                            <a:schemeClr val="lt1"/>
                          </a:solidFill>
                          <a:latin typeface="等线"/>
                        </a:defRPr>
                      </a:lvl9pPr>
                    </a:lstStyle>
                    <a:p>
                      <a:pPr algn="ctr" fontAlgn="ctr">
                        <a:lnSpc>
                          <a:spcPct val="100000"/>
                        </a:lnSpc>
                      </a:pPr>
                      <a:r>
                        <a:rPr lang="zh-CN" altLang="en-US" sz="1100" u="none" strike="noStrike" dirty="0">
                          <a:effectLst/>
                        </a:rPr>
                        <a:t>调用形式</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a:defRPr>
                      </a:lvl1pPr>
                      <a:lvl2pPr marL="342900" algn="l" defTabSz="685800" rtl="0" eaLnBrk="1" latinLnBrk="0" hangingPunct="1">
                        <a:defRPr sz="1350" b="1" kern="1200">
                          <a:solidFill>
                            <a:schemeClr val="lt1"/>
                          </a:solidFill>
                          <a:latin typeface="等线"/>
                        </a:defRPr>
                      </a:lvl2pPr>
                      <a:lvl3pPr marL="685800" algn="l" defTabSz="685800" rtl="0" eaLnBrk="1" latinLnBrk="0" hangingPunct="1">
                        <a:defRPr sz="1350" b="1" kern="1200">
                          <a:solidFill>
                            <a:schemeClr val="lt1"/>
                          </a:solidFill>
                          <a:latin typeface="等线"/>
                        </a:defRPr>
                      </a:lvl3pPr>
                      <a:lvl4pPr marL="1028700" algn="l" defTabSz="685800" rtl="0" eaLnBrk="1" latinLnBrk="0" hangingPunct="1">
                        <a:defRPr sz="1350" b="1" kern="1200">
                          <a:solidFill>
                            <a:schemeClr val="lt1"/>
                          </a:solidFill>
                          <a:latin typeface="等线"/>
                        </a:defRPr>
                      </a:lvl4pPr>
                      <a:lvl5pPr marL="1371600" algn="l" defTabSz="685800" rtl="0" eaLnBrk="1" latinLnBrk="0" hangingPunct="1">
                        <a:defRPr sz="1350" b="1" kern="1200">
                          <a:solidFill>
                            <a:schemeClr val="lt1"/>
                          </a:solidFill>
                          <a:latin typeface="等线"/>
                        </a:defRPr>
                      </a:lvl5pPr>
                      <a:lvl6pPr marL="1714500" algn="l" defTabSz="685800" rtl="0" eaLnBrk="1" latinLnBrk="0" hangingPunct="1">
                        <a:defRPr sz="1350" b="1" kern="1200">
                          <a:solidFill>
                            <a:schemeClr val="lt1"/>
                          </a:solidFill>
                          <a:latin typeface="等线"/>
                        </a:defRPr>
                      </a:lvl6pPr>
                      <a:lvl7pPr marL="2057400" algn="l" defTabSz="685800" rtl="0" eaLnBrk="1" latinLnBrk="0" hangingPunct="1">
                        <a:defRPr sz="1350" b="1" kern="1200">
                          <a:solidFill>
                            <a:schemeClr val="lt1"/>
                          </a:solidFill>
                          <a:latin typeface="等线"/>
                        </a:defRPr>
                      </a:lvl7pPr>
                      <a:lvl8pPr marL="2400300" algn="l" defTabSz="685800" rtl="0" eaLnBrk="1" latinLnBrk="0" hangingPunct="1">
                        <a:defRPr sz="1350" b="1" kern="1200">
                          <a:solidFill>
                            <a:schemeClr val="lt1"/>
                          </a:solidFill>
                          <a:latin typeface="等线"/>
                        </a:defRPr>
                      </a:lvl8pPr>
                      <a:lvl9pPr marL="2743200" algn="l" defTabSz="685800" rtl="0" eaLnBrk="1" latinLnBrk="0" hangingPunct="1">
                        <a:defRPr sz="1350" b="1" kern="1200">
                          <a:solidFill>
                            <a:schemeClr val="lt1"/>
                          </a:solidFill>
                          <a:latin typeface="等线"/>
                        </a:defRPr>
                      </a:lvl9pPr>
                    </a:lstStyle>
                    <a:p>
                      <a:pPr algn="ctr" fontAlgn="ctr">
                        <a:lnSpc>
                          <a:spcPct val="100000"/>
                        </a:lnSpc>
                      </a:pPr>
                      <a:r>
                        <a:rPr lang="zh-CN" altLang="en-US" sz="1100" u="none" strike="noStrike" dirty="0">
                          <a:effectLst/>
                        </a:rPr>
                        <a:t>功能</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a:defRPr>
                      </a:lvl1pPr>
                      <a:lvl2pPr marL="342900" algn="l" defTabSz="685800" rtl="0" eaLnBrk="1" latinLnBrk="0" hangingPunct="1">
                        <a:defRPr sz="1350" b="1" kern="1200">
                          <a:solidFill>
                            <a:schemeClr val="lt1"/>
                          </a:solidFill>
                          <a:latin typeface="等线"/>
                        </a:defRPr>
                      </a:lvl2pPr>
                      <a:lvl3pPr marL="685800" algn="l" defTabSz="685800" rtl="0" eaLnBrk="1" latinLnBrk="0" hangingPunct="1">
                        <a:defRPr sz="1350" b="1" kern="1200">
                          <a:solidFill>
                            <a:schemeClr val="lt1"/>
                          </a:solidFill>
                          <a:latin typeface="等线"/>
                        </a:defRPr>
                      </a:lvl3pPr>
                      <a:lvl4pPr marL="1028700" algn="l" defTabSz="685800" rtl="0" eaLnBrk="1" latinLnBrk="0" hangingPunct="1">
                        <a:defRPr sz="1350" b="1" kern="1200">
                          <a:solidFill>
                            <a:schemeClr val="lt1"/>
                          </a:solidFill>
                          <a:latin typeface="等线"/>
                        </a:defRPr>
                      </a:lvl4pPr>
                      <a:lvl5pPr marL="1371600" algn="l" defTabSz="685800" rtl="0" eaLnBrk="1" latinLnBrk="0" hangingPunct="1">
                        <a:defRPr sz="1350" b="1" kern="1200">
                          <a:solidFill>
                            <a:schemeClr val="lt1"/>
                          </a:solidFill>
                          <a:latin typeface="等线"/>
                        </a:defRPr>
                      </a:lvl5pPr>
                      <a:lvl6pPr marL="1714500" algn="l" defTabSz="685800" rtl="0" eaLnBrk="1" latinLnBrk="0" hangingPunct="1">
                        <a:defRPr sz="1350" b="1" kern="1200">
                          <a:solidFill>
                            <a:schemeClr val="lt1"/>
                          </a:solidFill>
                          <a:latin typeface="等线"/>
                        </a:defRPr>
                      </a:lvl6pPr>
                      <a:lvl7pPr marL="2057400" algn="l" defTabSz="685800" rtl="0" eaLnBrk="1" latinLnBrk="0" hangingPunct="1">
                        <a:defRPr sz="1350" b="1" kern="1200">
                          <a:solidFill>
                            <a:schemeClr val="lt1"/>
                          </a:solidFill>
                          <a:latin typeface="等线"/>
                        </a:defRPr>
                      </a:lvl7pPr>
                      <a:lvl8pPr marL="2400300" algn="l" defTabSz="685800" rtl="0" eaLnBrk="1" latinLnBrk="0" hangingPunct="1">
                        <a:defRPr sz="1350" b="1" kern="1200">
                          <a:solidFill>
                            <a:schemeClr val="lt1"/>
                          </a:solidFill>
                          <a:latin typeface="等线"/>
                        </a:defRPr>
                      </a:lvl8pPr>
                      <a:lvl9pPr marL="2743200" algn="l" defTabSz="685800" rtl="0" eaLnBrk="1" latinLnBrk="0" hangingPunct="1">
                        <a:defRPr sz="1350" b="1" kern="1200">
                          <a:solidFill>
                            <a:schemeClr val="lt1"/>
                          </a:solidFill>
                          <a:latin typeface="等线"/>
                        </a:defRPr>
                      </a:lvl9pPr>
                    </a:lstStyle>
                    <a:p>
                      <a:pPr algn="ctr" fontAlgn="ctr">
                        <a:lnSpc>
                          <a:spcPct val="100000"/>
                        </a:lnSpc>
                      </a:pPr>
                      <a:r>
                        <a:rPr lang="zh-CN" altLang="en-US" sz="1100" u="none" strike="noStrike">
                          <a:effectLst/>
                        </a:rPr>
                        <a:t>返回值</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extLst>
                  <a:ext uri="{0D108BD9-81ED-4DB2-BD59-A6C34878D82A}">
                    <a16:rowId xmlns:a16="http://schemas.microsoft.com/office/drawing/2014/main" val="10000"/>
                  </a:ext>
                </a:extLst>
              </a:tr>
              <a:tr h="36004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fontAlgn="ctr">
                        <a:lnSpc>
                          <a:spcPct val="100000"/>
                        </a:lnSpc>
                      </a:pPr>
                      <a:r>
                        <a:rPr lang="en-US" sz="1100" u="none" strike="noStrike" dirty="0" err="1">
                          <a:effectLst/>
                        </a:rPr>
                        <a:t>fgetc</a:t>
                      </a:r>
                      <a:endParaRPr 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fontAlgn="ctr">
                        <a:lnSpc>
                          <a:spcPct val="100000"/>
                        </a:lnSpc>
                      </a:pPr>
                      <a:r>
                        <a:rPr lang="en-US" sz="1100" u="none" strike="noStrike" dirty="0" err="1">
                          <a:effectLst/>
                        </a:rPr>
                        <a:t>fgetc</a:t>
                      </a:r>
                      <a:r>
                        <a:rPr lang="en-US" sz="1100" u="none" strike="noStrike" dirty="0">
                          <a:effectLst/>
                        </a:rPr>
                        <a:t>(</a:t>
                      </a:r>
                      <a:r>
                        <a:rPr lang="en-US" sz="1100" u="none" strike="noStrike" dirty="0" err="1">
                          <a:effectLst/>
                        </a:rPr>
                        <a:t>fp</a:t>
                      </a:r>
                      <a:r>
                        <a:rPr lang="en-US" sz="1100" u="none" strike="noStrike" dirty="0">
                          <a:effectLst/>
                        </a:rPr>
                        <a:t>)</a:t>
                      </a:r>
                      <a:endParaRPr 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lnSpc>
                          <a:spcPct val="100000"/>
                        </a:lnSpc>
                      </a:pPr>
                      <a:r>
                        <a:rPr lang="zh-CN" altLang="en-US" sz="1100" u="none" strike="noStrike" dirty="0">
                          <a:effectLst/>
                        </a:rPr>
                        <a:t>从</a:t>
                      </a:r>
                      <a:r>
                        <a:rPr lang="en-US" altLang="zh-CN" sz="1100" u="none" strike="noStrike" dirty="0" err="1">
                          <a:effectLst/>
                        </a:rPr>
                        <a:t>fp</a:t>
                      </a:r>
                      <a:r>
                        <a:rPr lang="zh-CN" altLang="en-US" sz="1100" u="none" strike="noStrike" dirty="0">
                          <a:effectLst/>
                        </a:rPr>
                        <a:t>指向的文件读入一个字符</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lnSpc>
                          <a:spcPct val="100000"/>
                        </a:lnSpc>
                      </a:pPr>
                      <a:r>
                        <a:rPr lang="zh-CN" altLang="en-US" sz="1100" u="none" strike="noStrike" dirty="0">
                          <a:effectLst/>
                        </a:rPr>
                        <a:t>读成功，带回所读的字符，失败则返回文件结束标志</a:t>
                      </a:r>
                      <a:r>
                        <a:rPr lang="en-US" altLang="zh-CN" sz="1100" u="none" strike="noStrike" dirty="0">
                          <a:effectLst/>
                        </a:rPr>
                        <a:t>EOF(</a:t>
                      </a:r>
                      <a:r>
                        <a:rPr lang="zh-CN" altLang="en-US" sz="1100" u="none" strike="noStrike" dirty="0">
                          <a:effectLst/>
                        </a:rPr>
                        <a:t>即</a:t>
                      </a:r>
                      <a:r>
                        <a:rPr lang="en-US" altLang="zh-CN" sz="1100" u="none" strike="noStrike" dirty="0">
                          <a:effectLst/>
                        </a:rPr>
                        <a:t>-1)</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10001"/>
                  </a:ext>
                </a:extLst>
              </a:tr>
              <a:tr h="36004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fontAlgn="ctr">
                        <a:lnSpc>
                          <a:spcPct val="100000"/>
                        </a:lnSpc>
                      </a:pPr>
                      <a:r>
                        <a:rPr lang="en-US" sz="1100" u="none" strike="noStrike">
                          <a:effectLst/>
                        </a:rPr>
                        <a:t>fputc</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fontAlgn="ctr">
                        <a:lnSpc>
                          <a:spcPct val="100000"/>
                        </a:lnSpc>
                      </a:pPr>
                      <a:r>
                        <a:rPr lang="en-US" sz="1100" u="none" strike="noStrike" dirty="0" err="1">
                          <a:effectLst/>
                        </a:rPr>
                        <a:t>fputc</a:t>
                      </a:r>
                      <a:r>
                        <a:rPr lang="en-US" sz="1100" u="none" strike="noStrike" dirty="0">
                          <a:effectLst/>
                        </a:rPr>
                        <a:t>(</a:t>
                      </a:r>
                      <a:r>
                        <a:rPr lang="en-US" sz="1100" u="none" strike="noStrike" dirty="0" err="1">
                          <a:effectLst/>
                        </a:rPr>
                        <a:t>ch,fp</a:t>
                      </a:r>
                      <a:r>
                        <a:rPr lang="en-US" sz="1100" u="none" strike="noStrike" dirty="0">
                          <a:effectLst/>
                        </a:rPr>
                        <a:t>)</a:t>
                      </a:r>
                      <a:endParaRPr 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lnSpc>
                          <a:spcPct val="100000"/>
                        </a:lnSpc>
                      </a:pPr>
                      <a:r>
                        <a:rPr lang="zh-CN" altLang="en-US" sz="1100" u="none" strike="noStrike" dirty="0">
                          <a:effectLst/>
                        </a:rPr>
                        <a:t>把字符</a:t>
                      </a:r>
                      <a:r>
                        <a:rPr lang="en-US" altLang="zh-CN" sz="1100" u="none" strike="noStrike" dirty="0" err="1">
                          <a:effectLst/>
                        </a:rPr>
                        <a:t>ch</a:t>
                      </a:r>
                      <a:r>
                        <a:rPr lang="zh-CN" altLang="en-US" sz="1100" u="none" strike="noStrike" dirty="0">
                          <a:effectLst/>
                        </a:rPr>
                        <a:t>写到文件指针变量</a:t>
                      </a:r>
                      <a:r>
                        <a:rPr lang="en-US" altLang="zh-CN" sz="1100" u="none" strike="noStrike" dirty="0" err="1">
                          <a:effectLst/>
                        </a:rPr>
                        <a:t>fp</a:t>
                      </a:r>
                      <a:r>
                        <a:rPr lang="zh-CN" altLang="en-US" sz="1100" u="none" strike="noStrike" dirty="0">
                          <a:effectLst/>
                        </a:rPr>
                        <a:t>所指向的文件中</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l" fontAlgn="ctr">
                        <a:lnSpc>
                          <a:spcPct val="100000"/>
                        </a:lnSpc>
                      </a:pPr>
                      <a:r>
                        <a:rPr lang="zh-CN" altLang="en-US" sz="1100" u="none" strike="noStrike" dirty="0">
                          <a:effectLst/>
                        </a:rPr>
                        <a:t>写成功，返回值就是输出的字符；写失败，则返回</a:t>
                      </a:r>
                      <a:r>
                        <a:rPr lang="en-US" altLang="zh-CN" sz="1100" u="none" strike="noStrike" dirty="0">
                          <a:effectLst/>
                        </a:rPr>
                        <a:t>EOF</a:t>
                      </a:r>
                      <a:r>
                        <a:rPr lang="zh-CN" altLang="en-US" sz="1100" u="none" strike="noStrike" dirty="0">
                          <a:effectLst/>
                        </a:rPr>
                        <a:t>（即</a:t>
                      </a:r>
                      <a:r>
                        <a:rPr lang="en-US" altLang="zh-CN" sz="1100" u="none" strike="noStrike" dirty="0">
                          <a:effectLst/>
                        </a:rPr>
                        <a:t>-1</a:t>
                      </a:r>
                      <a:r>
                        <a:rPr lang="zh-CN" altLang="en-US" sz="1100" u="none" strike="noStrike" dirty="0">
                          <a:effectLst/>
                        </a:rPr>
                        <a:t>）</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10002"/>
                  </a:ext>
                </a:extLst>
              </a:tr>
              <a:tr h="864096">
                <a:tc>
                  <a:txBody>
                    <a:bodyPr/>
                    <a:lstStyle/>
                    <a:p>
                      <a:pPr algn="ctr" fontAlgn="ctr"/>
                      <a:r>
                        <a:rPr lang="en-US" sz="1100" u="none" strike="noStrike" kern="1200" dirty="0" err="1">
                          <a:solidFill>
                            <a:schemeClr val="dk1"/>
                          </a:solidFill>
                          <a:effectLst/>
                          <a:latin typeface="等线"/>
                          <a:ea typeface="+mn-ea"/>
                          <a:cs typeface="+mn-cs"/>
                        </a:rPr>
                        <a:t>fgets</a:t>
                      </a:r>
                      <a:endParaRPr lang="en-US" sz="1100" u="none" strike="noStrike" kern="1200" dirty="0">
                        <a:solidFill>
                          <a:schemeClr val="dk1"/>
                        </a:solidFill>
                        <a:effectLst/>
                        <a:latin typeface="等线"/>
                        <a:ea typeface="+mn-ea"/>
                        <a:cs typeface="+mn-cs"/>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fontAlgn="ctr"/>
                      <a:r>
                        <a:rPr lang="en-US" sz="1100" u="none" strike="noStrike" kern="1200" dirty="0" err="1">
                          <a:solidFill>
                            <a:schemeClr val="dk1"/>
                          </a:solidFill>
                          <a:effectLst/>
                          <a:latin typeface="等线"/>
                          <a:ea typeface="+mn-ea"/>
                          <a:cs typeface="+mn-cs"/>
                        </a:rPr>
                        <a:t>fgets</a:t>
                      </a:r>
                      <a:r>
                        <a:rPr lang="en-US" sz="1100" u="none" strike="noStrike" kern="1200" dirty="0">
                          <a:solidFill>
                            <a:schemeClr val="dk1"/>
                          </a:solidFill>
                          <a:effectLst/>
                          <a:latin typeface="等线"/>
                          <a:ea typeface="+mn-ea"/>
                          <a:cs typeface="+mn-cs"/>
                        </a:rPr>
                        <a:t>(</a:t>
                      </a:r>
                      <a:r>
                        <a:rPr lang="en-US" sz="1100" u="none" strike="noStrike" kern="1200" dirty="0" err="1">
                          <a:solidFill>
                            <a:schemeClr val="dk1"/>
                          </a:solidFill>
                          <a:effectLst/>
                          <a:latin typeface="等线"/>
                          <a:ea typeface="+mn-ea"/>
                          <a:cs typeface="+mn-cs"/>
                        </a:rPr>
                        <a:t>str,n,fp</a:t>
                      </a:r>
                      <a:r>
                        <a:rPr lang="en-US" sz="1100" u="none" strike="noStrike" kern="1200" dirty="0">
                          <a:solidFill>
                            <a:schemeClr val="dk1"/>
                          </a:solidFill>
                          <a:effectLst/>
                          <a:latin typeface="等线"/>
                          <a:ea typeface="+mn-ea"/>
                          <a:cs typeface="+mn-cs"/>
                        </a:rPr>
                        <a:t>)</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kern="1200" dirty="0">
                          <a:solidFill>
                            <a:schemeClr val="dk1"/>
                          </a:solidFill>
                          <a:effectLst/>
                          <a:latin typeface="等线"/>
                          <a:ea typeface="+mn-ea"/>
                          <a:cs typeface="+mn-cs"/>
                        </a:rPr>
                        <a:t>从</a:t>
                      </a:r>
                      <a:r>
                        <a:rPr lang="en-US" altLang="zh-CN" sz="1100" u="none" strike="noStrike" kern="1200" dirty="0" err="1">
                          <a:solidFill>
                            <a:schemeClr val="dk1"/>
                          </a:solidFill>
                          <a:effectLst/>
                          <a:latin typeface="等线"/>
                          <a:ea typeface="+mn-ea"/>
                          <a:cs typeface="+mn-cs"/>
                        </a:rPr>
                        <a:t>fp</a:t>
                      </a:r>
                      <a:r>
                        <a:rPr lang="zh-CN" altLang="en-US" sz="1100" u="none" strike="noStrike" kern="1200" dirty="0">
                          <a:solidFill>
                            <a:schemeClr val="dk1"/>
                          </a:solidFill>
                          <a:effectLst/>
                          <a:latin typeface="等线"/>
                          <a:ea typeface="+mn-ea"/>
                          <a:cs typeface="+mn-cs"/>
                        </a:rPr>
                        <a:t>指向的文件读入一个长度为</a:t>
                      </a:r>
                      <a:r>
                        <a:rPr lang="en-US" altLang="zh-CN" sz="1100" u="none" strike="noStrike" kern="1200" dirty="0">
                          <a:solidFill>
                            <a:schemeClr val="dk1"/>
                          </a:solidFill>
                          <a:effectLst/>
                          <a:latin typeface="等线"/>
                          <a:ea typeface="+mn-ea"/>
                          <a:cs typeface="+mn-cs"/>
                        </a:rPr>
                        <a:t>(n-1)</a:t>
                      </a:r>
                      <a:r>
                        <a:rPr lang="zh-CN" altLang="en-US" sz="1100" u="none" strike="noStrike" kern="1200" dirty="0">
                          <a:solidFill>
                            <a:schemeClr val="dk1"/>
                          </a:solidFill>
                          <a:effectLst/>
                          <a:latin typeface="等线"/>
                          <a:ea typeface="+mn-ea"/>
                          <a:cs typeface="+mn-cs"/>
                        </a:rPr>
                        <a:t>的字符串，存放到字符数组</a:t>
                      </a:r>
                      <a:r>
                        <a:rPr lang="en-US" altLang="zh-CN" sz="1100" u="none" strike="noStrike" kern="1200" dirty="0" err="1">
                          <a:solidFill>
                            <a:schemeClr val="dk1"/>
                          </a:solidFill>
                          <a:effectLst/>
                          <a:latin typeface="等线"/>
                          <a:ea typeface="+mn-ea"/>
                          <a:cs typeface="+mn-cs"/>
                        </a:rPr>
                        <a:t>str</a:t>
                      </a:r>
                      <a:r>
                        <a:rPr lang="zh-CN" altLang="en-US" sz="1100" u="none" strike="noStrike" kern="1200" dirty="0">
                          <a:solidFill>
                            <a:schemeClr val="dk1"/>
                          </a:solidFill>
                          <a:effectLst/>
                          <a:latin typeface="等线"/>
                          <a:ea typeface="+mn-ea"/>
                          <a:cs typeface="+mn-cs"/>
                        </a:rPr>
                        <a:t>中，</a:t>
                      </a:r>
                      <a:r>
                        <a:rPr lang="zh-CN" altLang="en-US" sz="1100" dirty="0">
                          <a:solidFill>
                            <a:schemeClr val="tx1"/>
                          </a:solidFill>
                        </a:rPr>
                        <a:t>在最后加一个</a:t>
                      </a:r>
                      <a:r>
                        <a:rPr lang="en-US" altLang="zh-CN" sz="1100" dirty="0">
                          <a:solidFill>
                            <a:schemeClr val="tx1"/>
                          </a:solidFill>
                        </a:rPr>
                        <a:t>′\0′</a:t>
                      </a:r>
                      <a:endParaRPr lang="zh-CN" altLang="en-US" sz="1100" u="none" strike="noStrike" kern="1200" dirty="0">
                        <a:solidFill>
                          <a:schemeClr val="dk1"/>
                        </a:solidFill>
                        <a:effectLst/>
                        <a:latin typeface="等线"/>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kern="1200" dirty="0">
                          <a:solidFill>
                            <a:schemeClr val="dk1"/>
                          </a:solidFill>
                          <a:effectLst/>
                          <a:latin typeface="等线"/>
                          <a:ea typeface="+mn-ea"/>
                          <a:cs typeface="+mn-cs"/>
                        </a:rPr>
                        <a:t>读成功，返回地址</a:t>
                      </a:r>
                      <a:r>
                        <a:rPr lang="en-US" altLang="zh-CN" sz="1100" u="none" strike="noStrike" kern="1200" dirty="0" err="1">
                          <a:solidFill>
                            <a:schemeClr val="dk1"/>
                          </a:solidFill>
                          <a:effectLst/>
                          <a:latin typeface="等线"/>
                          <a:ea typeface="+mn-ea"/>
                          <a:cs typeface="+mn-cs"/>
                        </a:rPr>
                        <a:t>str</a:t>
                      </a:r>
                      <a:r>
                        <a:rPr lang="zh-CN" altLang="en-US" sz="1100" u="none" strike="noStrike" kern="1200" dirty="0">
                          <a:solidFill>
                            <a:schemeClr val="dk1"/>
                          </a:solidFill>
                          <a:effectLst/>
                          <a:latin typeface="等线"/>
                          <a:ea typeface="+mn-ea"/>
                          <a:cs typeface="+mn-cs"/>
                        </a:rPr>
                        <a:t>，失败则返回</a:t>
                      </a:r>
                      <a:r>
                        <a:rPr lang="en-US" altLang="zh-CN" sz="1100" u="none" strike="noStrike" kern="1200" dirty="0">
                          <a:solidFill>
                            <a:schemeClr val="dk1"/>
                          </a:solidFill>
                          <a:effectLst/>
                          <a:latin typeface="等线"/>
                          <a:ea typeface="+mn-ea"/>
                          <a:cs typeface="+mn-cs"/>
                        </a:rPr>
                        <a:t>NULL</a:t>
                      </a:r>
                      <a:r>
                        <a:rPr lang="zh-CN" altLang="en-US" sz="1100" u="none" strike="noStrike" kern="1200" dirty="0">
                          <a:solidFill>
                            <a:schemeClr val="dk1"/>
                          </a:solidFill>
                          <a:effectLst/>
                          <a:latin typeface="等线"/>
                          <a:ea typeface="+mn-ea"/>
                          <a:cs typeface="+mn-cs"/>
                        </a:rPr>
                        <a:t>。</a:t>
                      </a:r>
                      <a:r>
                        <a:rPr lang="zh-CN" altLang="en-US" sz="1100" dirty="0">
                          <a:solidFill>
                            <a:schemeClr val="tx1"/>
                          </a:solidFill>
                        </a:rPr>
                        <a:t>在读完</a:t>
                      </a:r>
                      <a:r>
                        <a:rPr lang="en-US" altLang="zh-CN" sz="1100" dirty="0">
                          <a:solidFill>
                            <a:schemeClr val="tx1"/>
                          </a:solidFill>
                        </a:rPr>
                        <a:t>n</a:t>
                      </a:r>
                      <a:r>
                        <a:rPr lang="zh-CN" altLang="en-US" sz="1100" dirty="0">
                          <a:solidFill>
                            <a:schemeClr val="tx1"/>
                          </a:solidFill>
                        </a:rPr>
                        <a:t>－</a:t>
                      </a:r>
                      <a:r>
                        <a:rPr lang="en-US" altLang="zh-CN" sz="1100" dirty="0">
                          <a:solidFill>
                            <a:schemeClr val="tx1"/>
                          </a:solidFill>
                        </a:rPr>
                        <a:t>1</a:t>
                      </a:r>
                      <a:r>
                        <a:rPr lang="zh-CN" altLang="en-US" sz="1100" dirty="0">
                          <a:solidFill>
                            <a:schemeClr val="tx1"/>
                          </a:solidFill>
                        </a:rPr>
                        <a:t>个字符之前遇到换行符</a:t>
                      </a:r>
                      <a:r>
                        <a:rPr lang="en-US" altLang="zh-CN" sz="1100" dirty="0">
                          <a:solidFill>
                            <a:schemeClr val="tx1"/>
                          </a:solidFill>
                        </a:rPr>
                        <a:t>\n</a:t>
                      </a:r>
                      <a:r>
                        <a:rPr lang="zh-CN" altLang="en-US" sz="1100" dirty="0">
                          <a:solidFill>
                            <a:schemeClr val="tx1"/>
                          </a:solidFill>
                        </a:rPr>
                        <a:t>或文件结束符</a:t>
                      </a:r>
                      <a:r>
                        <a:rPr lang="en-US" altLang="zh-CN" sz="1100" dirty="0">
                          <a:solidFill>
                            <a:schemeClr val="tx1"/>
                          </a:solidFill>
                        </a:rPr>
                        <a:t>EOF</a:t>
                      </a:r>
                      <a:r>
                        <a:rPr lang="zh-CN" altLang="en-US" sz="1100" dirty="0">
                          <a:solidFill>
                            <a:schemeClr val="tx1"/>
                          </a:solidFill>
                        </a:rPr>
                        <a:t>，读入即结束。与</a:t>
                      </a:r>
                      <a:r>
                        <a:rPr lang="en-US" altLang="zh-CN" sz="1100" dirty="0">
                          <a:solidFill>
                            <a:schemeClr val="tx1"/>
                          </a:solidFill>
                        </a:rPr>
                        <a:t>gets</a:t>
                      </a:r>
                      <a:r>
                        <a:rPr lang="zh-CN" altLang="en-US" sz="1100" dirty="0">
                          <a:solidFill>
                            <a:schemeClr val="tx1"/>
                          </a:solidFill>
                        </a:rPr>
                        <a:t>不同，</a:t>
                      </a:r>
                      <a:r>
                        <a:rPr lang="en-US" altLang="zh-CN" sz="1100" dirty="0" err="1">
                          <a:solidFill>
                            <a:schemeClr val="tx1"/>
                          </a:solidFill>
                        </a:rPr>
                        <a:t>fgets</a:t>
                      </a:r>
                      <a:r>
                        <a:rPr lang="zh-CN" altLang="en-US" sz="1100" dirty="0">
                          <a:solidFill>
                            <a:schemeClr val="tx1"/>
                          </a:solidFill>
                        </a:rPr>
                        <a:t>将所遇到的换行符</a:t>
                      </a:r>
                      <a:r>
                        <a:rPr lang="en-US" altLang="zh-CN" sz="1100" dirty="0">
                          <a:solidFill>
                            <a:schemeClr val="tx1"/>
                          </a:solidFill>
                        </a:rPr>
                        <a:t>\n</a:t>
                      </a:r>
                      <a:r>
                        <a:rPr lang="zh-CN" altLang="en-US" sz="1100" dirty="0">
                          <a:solidFill>
                            <a:schemeClr val="tx1"/>
                          </a:solidFill>
                        </a:rPr>
                        <a:t>也作为一个字符读入。</a:t>
                      </a:r>
                      <a:endParaRPr lang="en-US" altLang="zh-CN" sz="1100" u="none" strike="noStrike" kern="1200" dirty="0">
                        <a:solidFill>
                          <a:schemeClr val="dk1"/>
                        </a:solidFill>
                        <a:effectLst/>
                        <a:latin typeface="等线"/>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10003"/>
                  </a:ext>
                </a:extLst>
              </a:tr>
              <a:tr h="360040">
                <a:tc>
                  <a:txBody>
                    <a:bodyPr/>
                    <a:lstStyle/>
                    <a:p>
                      <a:pPr algn="ctr" fontAlgn="ctr"/>
                      <a:r>
                        <a:rPr lang="en-US" sz="1100" u="none" strike="noStrike" kern="1200" dirty="0" err="1">
                          <a:solidFill>
                            <a:schemeClr val="dk1"/>
                          </a:solidFill>
                          <a:effectLst/>
                          <a:latin typeface="等线"/>
                          <a:ea typeface="+mn-ea"/>
                          <a:cs typeface="+mn-cs"/>
                        </a:rPr>
                        <a:t>fputs</a:t>
                      </a:r>
                      <a:endParaRPr lang="en-US" sz="1100" u="none" strike="noStrike" kern="1200" dirty="0">
                        <a:solidFill>
                          <a:schemeClr val="dk1"/>
                        </a:solidFill>
                        <a:effectLst/>
                        <a:latin typeface="等线"/>
                        <a:ea typeface="+mn-ea"/>
                        <a:cs typeface="+mn-cs"/>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algn="ctr" fontAlgn="ctr"/>
                      <a:r>
                        <a:rPr lang="en-US" sz="1100" u="none" strike="noStrike" kern="1200" dirty="0" err="1">
                          <a:solidFill>
                            <a:schemeClr val="dk1"/>
                          </a:solidFill>
                          <a:effectLst/>
                          <a:latin typeface="等线"/>
                          <a:ea typeface="+mn-ea"/>
                          <a:cs typeface="+mn-cs"/>
                        </a:rPr>
                        <a:t>fputs</a:t>
                      </a:r>
                      <a:r>
                        <a:rPr lang="en-US" sz="1100" u="none" strike="noStrike" kern="1200" dirty="0">
                          <a:solidFill>
                            <a:schemeClr val="dk1"/>
                          </a:solidFill>
                          <a:effectLst/>
                          <a:latin typeface="等线"/>
                          <a:ea typeface="+mn-ea"/>
                          <a:cs typeface="+mn-cs"/>
                        </a:rPr>
                        <a:t>(</a:t>
                      </a:r>
                      <a:r>
                        <a:rPr lang="en-US" sz="1100" u="none" strike="noStrike" kern="1200" dirty="0" err="1">
                          <a:solidFill>
                            <a:schemeClr val="dk1"/>
                          </a:solidFill>
                          <a:effectLst/>
                          <a:latin typeface="等线"/>
                          <a:ea typeface="+mn-ea"/>
                          <a:cs typeface="+mn-cs"/>
                        </a:rPr>
                        <a:t>str,fp</a:t>
                      </a:r>
                      <a:r>
                        <a:rPr lang="en-US" sz="1100" u="none" strike="noStrike" kern="1200" dirty="0">
                          <a:solidFill>
                            <a:schemeClr val="dk1"/>
                          </a:solidFill>
                          <a:effectLst/>
                          <a:latin typeface="等线"/>
                          <a:ea typeface="+mn-ea"/>
                          <a:cs typeface="+mn-cs"/>
                        </a:rPr>
                        <a:t>)</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kern="1200" dirty="0">
                          <a:solidFill>
                            <a:schemeClr val="dk1"/>
                          </a:solidFill>
                          <a:effectLst/>
                          <a:latin typeface="等线"/>
                          <a:ea typeface="+mn-ea"/>
                          <a:cs typeface="+mn-cs"/>
                        </a:rPr>
                        <a:t>把</a:t>
                      </a:r>
                      <a:r>
                        <a:rPr lang="en-US" altLang="zh-CN" sz="1100" u="none" strike="noStrike" kern="1200" dirty="0" err="1">
                          <a:solidFill>
                            <a:schemeClr val="dk1"/>
                          </a:solidFill>
                          <a:effectLst/>
                          <a:latin typeface="等线"/>
                          <a:ea typeface="+mn-ea"/>
                          <a:cs typeface="+mn-cs"/>
                        </a:rPr>
                        <a:t>str</a:t>
                      </a:r>
                      <a:r>
                        <a:rPr lang="zh-CN" altLang="en-US" sz="1100" u="none" strike="noStrike" kern="1200" dirty="0">
                          <a:solidFill>
                            <a:schemeClr val="dk1"/>
                          </a:solidFill>
                          <a:effectLst/>
                          <a:latin typeface="等线"/>
                          <a:ea typeface="+mn-ea"/>
                          <a:cs typeface="+mn-cs"/>
                        </a:rPr>
                        <a:t>所指向的字符串写到文件指针变量</a:t>
                      </a:r>
                      <a:r>
                        <a:rPr lang="en-US" altLang="zh-CN" sz="1100" u="none" strike="noStrike" kern="1200" dirty="0" err="1">
                          <a:solidFill>
                            <a:schemeClr val="dk1"/>
                          </a:solidFill>
                          <a:effectLst/>
                          <a:latin typeface="等线"/>
                          <a:ea typeface="+mn-ea"/>
                          <a:cs typeface="+mn-cs"/>
                        </a:rPr>
                        <a:t>fp</a:t>
                      </a:r>
                      <a:r>
                        <a:rPr lang="zh-CN" altLang="en-US" sz="1100" u="none" strike="noStrike" kern="1200" dirty="0">
                          <a:solidFill>
                            <a:schemeClr val="dk1"/>
                          </a:solidFill>
                          <a:effectLst/>
                          <a:latin typeface="等线"/>
                          <a:ea typeface="+mn-ea"/>
                          <a:cs typeface="+mn-cs"/>
                        </a:rPr>
                        <a:t>所指向的文件中</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dirty="0">
                          <a:effectLst/>
                        </a:rPr>
                        <a:t>写</a:t>
                      </a:r>
                      <a:r>
                        <a:rPr lang="zh-CN" altLang="en-US" sz="1100" u="none" strike="noStrike" kern="1200" dirty="0">
                          <a:solidFill>
                            <a:schemeClr val="dk1"/>
                          </a:solidFill>
                          <a:effectLst/>
                          <a:latin typeface="等线"/>
                          <a:ea typeface="+mn-ea"/>
                          <a:cs typeface="+mn-cs"/>
                        </a:rPr>
                        <a:t>成功，返回</a:t>
                      </a:r>
                      <a:r>
                        <a:rPr lang="en-US" altLang="zh-CN" sz="1100" u="none" strike="noStrike" kern="1200" dirty="0">
                          <a:solidFill>
                            <a:schemeClr val="dk1"/>
                          </a:solidFill>
                          <a:effectLst/>
                          <a:latin typeface="等线"/>
                          <a:ea typeface="+mn-ea"/>
                          <a:cs typeface="+mn-cs"/>
                        </a:rPr>
                        <a:t>0</a:t>
                      </a:r>
                      <a:r>
                        <a:rPr lang="zh-CN" altLang="en-US" sz="1100" u="none" strike="noStrike" kern="1200" dirty="0">
                          <a:solidFill>
                            <a:schemeClr val="dk1"/>
                          </a:solidFill>
                          <a:effectLst/>
                          <a:latin typeface="等线"/>
                          <a:ea typeface="+mn-ea"/>
                          <a:cs typeface="+mn-cs"/>
                        </a:rPr>
                        <a:t>；写</a:t>
                      </a:r>
                      <a:r>
                        <a:rPr lang="zh-CN" altLang="en-US" sz="1100" u="none" strike="noStrike" dirty="0">
                          <a:effectLst/>
                        </a:rPr>
                        <a:t>失败，则返回</a:t>
                      </a:r>
                      <a:r>
                        <a:rPr lang="en-US" altLang="zh-CN" sz="1100" u="none" strike="noStrike" dirty="0">
                          <a:effectLst/>
                        </a:rPr>
                        <a:t>EOF</a:t>
                      </a:r>
                      <a:r>
                        <a:rPr lang="zh-CN" altLang="en-US" sz="1100" u="none" strike="noStrike" dirty="0">
                          <a:effectLst/>
                        </a:rPr>
                        <a:t>（即</a:t>
                      </a:r>
                      <a:r>
                        <a:rPr lang="en-US" altLang="zh-CN" sz="1100" u="none" strike="noStrike" dirty="0">
                          <a:effectLst/>
                        </a:rPr>
                        <a:t>-1</a:t>
                      </a:r>
                      <a:r>
                        <a:rPr lang="zh-CN" altLang="en-US" sz="1100" u="none" strike="noStrike" dirty="0">
                          <a:effectLst/>
                        </a:rPr>
                        <a:t>）</a:t>
                      </a:r>
                      <a:endParaRPr lang="zh-CN" altLang="en-US" sz="1100" u="none" strike="noStrike" kern="1200" dirty="0">
                        <a:solidFill>
                          <a:schemeClr val="dk1"/>
                        </a:solidFill>
                        <a:effectLst/>
                        <a:latin typeface="等线"/>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10004"/>
                  </a:ext>
                </a:extLst>
              </a:tr>
            </a:tbl>
          </a:graphicData>
        </a:graphic>
      </p:graphicFrame>
      <p:sp>
        <p:nvSpPr>
          <p:cNvPr id="7" name="矩形 6"/>
          <p:cNvSpPr/>
          <p:nvPr/>
        </p:nvSpPr>
        <p:spPr>
          <a:xfrm>
            <a:off x="130845" y="5013176"/>
            <a:ext cx="4153123"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500" b="1" i="0" u="none" strike="noStrike" kern="0" cap="none" spc="0" normalizeH="0" baseline="0" noProof="0" dirty="0">
                <a:ln>
                  <a:noFill/>
                </a:ln>
                <a:solidFill>
                  <a:schemeClr val="accent5"/>
                </a:solidFill>
                <a:effectLst/>
                <a:uLnTx/>
                <a:uFillTx/>
                <a:latin typeface="等线"/>
                <a:ea typeface="等线"/>
                <a:cs typeface="+mn-cs"/>
              </a:rPr>
              <a:t> </a:t>
            </a:r>
            <a:r>
              <a:rPr kumimoji="0" lang="en-US" altLang="zh-CN" sz="1500" b="1" i="0" u="none" strike="noStrike" kern="0" cap="none" spc="0" normalizeH="0" baseline="0" noProof="0" dirty="0" err="1">
                <a:ln>
                  <a:noFill/>
                </a:ln>
                <a:solidFill>
                  <a:schemeClr val="accent5"/>
                </a:solidFill>
                <a:effectLst/>
                <a:uLnTx/>
                <a:uFillTx/>
                <a:latin typeface="等线"/>
                <a:ea typeface="等线"/>
                <a:cs typeface="+mn-cs"/>
              </a:rPr>
              <a:t>f</a:t>
            </a:r>
            <a:r>
              <a:rPr kumimoji="0" lang="en-US" altLang="zh-CN" sz="1500" b="0" i="0" u="none" strike="noStrike" kern="0" cap="none" spc="0" normalizeH="0" baseline="0" noProof="0" dirty="0" err="1">
                <a:ln>
                  <a:noFill/>
                </a:ln>
                <a:solidFill>
                  <a:prstClr val="white"/>
                </a:solidFill>
                <a:effectLst/>
                <a:uLnTx/>
                <a:uFillTx/>
                <a:latin typeface="等线"/>
                <a:ea typeface="等线"/>
                <a:cs typeface="+mn-cs"/>
              </a:rPr>
              <a:t>printf</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a:t>
            </a:r>
            <a:r>
              <a:rPr kumimoji="0" lang="zh-CN" altLang="en-US" sz="1500" b="1" i="0" u="none" strike="noStrike" kern="0" cap="none" spc="0" normalizeH="0" baseline="0" noProof="0" dirty="0">
                <a:ln>
                  <a:noFill/>
                </a:ln>
                <a:solidFill>
                  <a:schemeClr val="accent5"/>
                </a:solidFill>
                <a:effectLst/>
                <a:uLnTx/>
                <a:uFillTx/>
                <a:latin typeface="等线"/>
                <a:ea typeface="等线"/>
                <a:cs typeface="+mn-cs"/>
              </a:rPr>
              <a:t>文件指针</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 </a:t>
            </a:r>
            <a:r>
              <a:rPr kumimoji="0" lang="zh-CN" altLang="en-US" sz="1500" b="0" i="0" u="none" strike="noStrike" kern="0" cap="none" spc="0" normalizeH="0" baseline="0" noProof="0" dirty="0">
                <a:ln>
                  <a:noFill/>
                </a:ln>
                <a:solidFill>
                  <a:prstClr val="white"/>
                </a:solidFill>
                <a:effectLst/>
                <a:uLnTx/>
                <a:uFillTx/>
                <a:latin typeface="等线"/>
                <a:ea typeface="等线"/>
                <a:cs typeface="+mn-cs"/>
              </a:rPr>
              <a:t>格式字符串</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 </a:t>
            </a:r>
            <a:r>
              <a:rPr kumimoji="0" lang="zh-CN" altLang="en-US" sz="1500" b="0" i="0" u="none" strike="noStrike" kern="0" cap="none" spc="0" normalizeH="0" baseline="0" noProof="0" dirty="0">
                <a:ln>
                  <a:noFill/>
                </a:ln>
                <a:solidFill>
                  <a:prstClr val="white"/>
                </a:solidFill>
                <a:effectLst/>
                <a:uLnTx/>
                <a:uFillTx/>
                <a:latin typeface="等线"/>
                <a:ea typeface="等线"/>
                <a:cs typeface="+mn-cs"/>
              </a:rPr>
              <a:t>输出表列</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a:t>
            </a:r>
          </a:p>
        </p:txBody>
      </p:sp>
      <p:sp>
        <p:nvSpPr>
          <p:cNvPr id="8" name="矩形 7"/>
          <p:cNvSpPr/>
          <p:nvPr/>
        </p:nvSpPr>
        <p:spPr>
          <a:xfrm>
            <a:off x="4860032" y="5013176"/>
            <a:ext cx="4153123"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500" b="1" i="0" u="none" strike="noStrike" kern="0" cap="none" spc="0" normalizeH="0" baseline="0" noProof="0" dirty="0">
                <a:ln>
                  <a:noFill/>
                </a:ln>
                <a:solidFill>
                  <a:schemeClr val="accent5"/>
                </a:solidFill>
                <a:effectLst/>
                <a:uLnTx/>
                <a:uFillTx/>
                <a:latin typeface="等线"/>
                <a:ea typeface="等线"/>
                <a:cs typeface="+mn-cs"/>
              </a:rPr>
              <a:t> </a:t>
            </a:r>
            <a:r>
              <a:rPr kumimoji="0" lang="en-US" altLang="zh-CN" sz="1500" b="1" i="0" u="none" strike="noStrike" kern="0" cap="none" spc="0" normalizeH="0" baseline="0" noProof="0" dirty="0" err="1">
                <a:ln>
                  <a:noFill/>
                </a:ln>
                <a:solidFill>
                  <a:schemeClr val="accent5"/>
                </a:solidFill>
                <a:effectLst/>
                <a:uLnTx/>
                <a:uFillTx/>
                <a:latin typeface="等线"/>
                <a:ea typeface="等线"/>
                <a:cs typeface="+mn-cs"/>
              </a:rPr>
              <a:t>f</a:t>
            </a:r>
            <a:r>
              <a:rPr kumimoji="0" lang="en-US" altLang="zh-CN" sz="1500" b="0" i="0" u="none" strike="noStrike" kern="0" cap="none" spc="0" normalizeH="0" baseline="0" noProof="0" dirty="0" err="1">
                <a:ln>
                  <a:noFill/>
                </a:ln>
                <a:solidFill>
                  <a:prstClr val="white"/>
                </a:solidFill>
                <a:effectLst/>
                <a:uLnTx/>
                <a:uFillTx/>
                <a:latin typeface="等线"/>
                <a:ea typeface="等线"/>
                <a:cs typeface="+mn-cs"/>
              </a:rPr>
              <a:t>scanf</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a:t>
            </a:r>
            <a:r>
              <a:rPr kumimoji="0" lang="zh-CN" altLang="en-US" sz="1500" b="1" i="0" u="none" strike="noStrike" kern="0" cap="none" spc="0" normalizeH="0" baseline="0" noProof="0" dirty="0">
                <a:ln>
                  <a:noFill/>
                </a:ln>
                <a:solidFill>
                  <a:schemeClr val="accent5"/>
                </a:solidFill>
                <a:effectLst/>
                <a:uLnTx/>
                <a:uFillTx/>
                <a:latin typeface="等线"/>
                <a:ea typeface="等线"/>
                <a:cs typeface="+mn-cs"/>
              </a:rPr>
              <a:t>文件指针</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 </a:t>
            </a:r>
            <a:r>
              <a:rPr kumimoji="0" lang="zh-CN" altLang="en-US" sz="1500" b="0" i="0" u="none" strike="noStrike" kern="0" cap="none" spc="0" normalizeH="0" baseline="0" noProof="0" dirty="0">
                <a:ln>
                  <a:noFill/>
                </a:ln>
                <a:solidFill>
                  <a:prstClr val="white"/>
                </a:solidFill>
                <a:effectLst/>
                <a:uLnTx/>
                <a:uFillTx/>
                <a:latin typeface="等线"/>
                <a:ea typeface="等线"/>
                <a:cs typeface="+mn-cs"/>
              </a:rPr>
              <a:t>格式字符串</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 </a:t>
            </a:r>
            <a:r>
              <a:rPr kumimoji="0" lang="zh-CN" altLang="en-US" sz="1500" b="0" i="0" u="none" strike="noStrike" kern="0" cap="none" spc="0" normalizeH="0" baseline="0" noProof="0" dirty="0">
                <a:ln>
                  <a:noFill/>
                </a:ln>
                <a:solidFill>
                  <a:prstClr val="white"/>
                </a:solidFill>
                <a:effectLst/>
                <a:uLnTx/>
                <a:uFillTx/>
                <a:latin typeface="等线"/>
                <a:ea typeface="等线"/>
                <a:cs typeface="+mn-cs"/>
              </a:rPr>
              <a:t>输出表列</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a:t>
            </a:r>
          </a:p>
        </p:txBody>
      </p:sp>
      <p:sp>
        <p:nvSpPr>
          <p:cNvPr id="10" name="TextBox 9"/>
          <p:cNvSpPr txBox="1"/>
          <p:nvPr/>
        </p:nvSpPr>
        <p:spPr>
          <a:xfrm>
            <a:off x="130845" y="5887217"/>
            <a:ext cx="8952259" cy="369332"/>
          </a:xfrm>
          <a:prstGeom prst="rect">
            <a:avLst/>
          </a:prstGeom>
          <a:noFill/>
        </p:spPr>
        <p:txBody>
          <a:bodyPr wrap="none" rtlCol="0">
            <a:spAutoFit/>
          </a:bodyPr>
          <a:lstStyle/>
          <a:p>
            <a:r>
              <a:rPr lang="zh-CN" altLang="en-US" dirty="0">
                <a:solidFill>
                  <a:srgbClr val="FF0000"/>
                </a:solidFill>
              </a:rPr>
              <a:t>注：</a:t>
            </a:r>
            <a:r>
              <a:rPr lang="en-US" altLang="zh-CN" dirty="0" err="1">
                <a:solidFill>
                  <a:srgbClr val="FF0000"/>
                </a:solidFill>
              </a:rPr>
              <a:t>fgetc</a:t>
            </a:r>
            <a:r>
              <a:rPr lang="en-US" altLang="zh-CN" dirty="0">
                <a:solidFill>
                  <a:srgbClr val="FF0000"/>
                </a:solidFill>
              </a:rPr>
              <a:t>/</a:t>
            </a:r>
            <a:r>
              <a:rPr lang="en-US" altLang="zh-CN" dirty="0" err="1">
                <a:solidFill>
                  <a:srgbClr val="FF0000"/>
                </a:solidFill>
              </a:rPr>
              <a:t>fputc</a:t>
            </a:r>
            <a:r>
              <a:rPr lang="en-US" altLang="zh-CN" dirty="0">
                <a:solidFill>
                  <a:srgbClr val="FF0000"/>
                </a:solidFill>
              </a:rPr>
              <a:t>, </a:t>
            </a:r>
            <a:r>
              <a:rPr lang="en-US" altLang="zh-CN" dirty="0" err="1">
                <a:solidFill>
                  <a:srgbClr val="FF0000"/>
                </a:solidFill>
              </a:rPr>
              <a:t>fgets</a:t>
            </a:r>
            <a:r>
              <a:rPr lang="en-US" altLang="zh-CN" dirty="0">
                <a:solidFill>
                  <a:srgbClr val="FF0000"/>
                </a:solidFill>
              </a:rPr>
              <a:t>/</a:t>
            </a:r>
            <a:r>
              <a:rPr lang="en-US" altLang="zh-CN" dirty="0" err="1">
                <a:solidFill>
                  <a:srgbClr val="FF0000"/>
                </a:solidFill>
              </a:rPr>
              <a:t>fputs</a:t>
            </a:r>
            <a:r>
              <a:rPr lang="en-US" altLang="zh-CN" dirty="0">
                <a:solidFill>
                  <a:srgbClr val="FF0000"/>
                </a:solidFill>
              </a:rPr>
              <a:t>, </a:t>
            </a:r>
            <a:r>
              <a:rPr lang="en-US" altLang="zh-CN" dirty="0" err="1">
                <a:solidFill>
                  <a:srgbClr val="FF0000"/>
                </a:solidFill>
              </a:rPr>
              <a:t>fscanf</a:t>
            </a:r>
            <a:r>
              <a:rPr lang="en-US" altLang="zh-CN" dirty="0">
                <a:solidFill>
                  <a:srgbClr val="FF0000"/>
                </a:solidFill>
              </a:rPr>
              <a:t>/</a:t>
            </a:r>
            <a:r>
              <a:rPr lang="en-US" altLang="zh-CN" dirty="0" err="1">
                <a:solidFill>
                  <a:srgbClr val="FF0000"/>
                </a:solidFill>
              </a:rPr>
              <a:t>fprintf</a:t>
            </a:r>
            <a:r>
              <a:rPr lang="zh-CN" altLang="en-US" dirty="0">
                <a:solidFill>
                  <a:srgbClr val="FF0000"/>
                </a:solidFill>
              </a:rPr>
              <a:t>这几个函数，均是按</a:t>
            </a:r>
            <a:r>
              <a:rPr lang="en-US" altLang="zh-CN" dirty="0">
                <a:solidFill>
                  <a:srgbClr val="FF0000"/>
                </a:solidFill>
              </a:rPr>
              <a:t>ASCII</a:t>
            </a:r>
            <a:r>
              <a:rPr lang="zh-CN" altLang="en-US" dirty="0">
                <a:solidFill>
                  <a:srgbClr val="FF0000"/>
                </a:solidFill>
              </a:rPr>
              <a:t>码方式进行输入输出。</a:t>
            </a:r>
          </a:p>
        </p:txBody>
      </p:sp>
      <p:sp>
        <p:nvSpPr>
          <p:cNvPr id="9" name="矩形 8"/>
          <p:cNvSpPr/>
          <p:nvPr/>
        </p:nvSpPr>
        <p:spPr>
          <a:xfrm>
            <a:off x="4860031" y="5418637"/>
            <a:ext cx="4153123" cy="295466"/>
          </a:xfrm>
          <a:prstGeom prst="rect">
            <a:avLst/>
          </a:prstGeom>
          <a:solidFill>
            <a:srgbClr val="E84C22">
              <a:lumMod val="20000"/>
              <a:lumOff val="80000"/>
            </a:srgbClr>
          </a:solidFill>
        </p:spPr>
        <p:txBody>
          <a:bodyPr wrap="square" lIns="36000" rIns="36000">
            <a:spAutoFit/>
          </a:bodyPr>
          <a:lstStyle/>
          <a:p>
            <a:pPr marR="0" lvl="0" defTabSz="914400" eaLnBrk="1" fontAlgn="auto" latinLnBrk="0" hangingPunct="1">
              <a:lnSpc>
                <a:spcPct val="120000"/>
              </a:lnSpc>
              <a:spcBef>
                <a:spcPts val="0"/>
              </a:spcBef>
              <a:spcAft>
                <a:spcPts val="0"/>
              </a:spcAft>
              <a:buClrTx/>
              <a:buSzTx/>
              <a:buFontTx/>
              <a:buNone/>
              <a:tabLst/>
              <a:defRPr/>
            </a:pPr>
            <a:r>
              <a:rPr lang="zh-CN" altLang="en-US" sz="1100" kern="0" noProof="0" dirty="0">
                <a:solidFill>
                  <a:prstClr val="black"/>
                </a:solidFill>
                <a:latin typeface="等线"/>
                <a:ea typeface="等线"/>
              </a:rPr>
              <a:t>若执行成功，则返回读入的参数个数；执行失败，则返回</a:t>
            </a:r>
            <a:r>
              <a:rPr lang="en-US" altLang="zh-CN" sz="1100" kern="0" noProof="0" dirty="0">
                <a:solidFill>
                  <a:prstClr val="black"/>
                </a:solidFill>
                <a:latin typeface="等线"/>
                <a:ea typeface="等线"/>
              </a:rPr>
              <a:t>EOF</a:t>
            </a:r>
            <a:r>
              <a:rPr lang="zh-CN" altLang="en-US" sz="1100" kern="0" dirty="0">
                <a:solidFill>
                  <a:prstClr val="black"/>
                </a:solidFill>
                <a:latin typeface="等线"/>
                <a:ea typeface="等线"/>
              </a:rPr>
              <a:t>。</a:t>
            </a:r>
            <a:endParaRPr kumimoji="0" lang="zh-CN" altLang="en-US" sz="1100" b="0" i="0" u="none" strike="noStrike" kern="0" cap="none" spc="0" normalizeH="0" baseline="0" noProof="0" dirty="0">
              <a:ln>
                <a:noFill/>
              </a:ln>
              <a:solidFill>
                <a:prstClr val="black"/>
              </a:solidFill>
              <a:effectLst/>
              <a:uLnTx/>
              <a:uFillTx/>
              <a:latin typeface="等线"/>
              <a:ea typeface="等线"/>
            </a:endParaRPr>
          </a:p>
        </p:txBody>
      </p:sp>
      <p:sp>
        <p:nvSpPr>
          <p:cNvPr id="14" name="矩形 13"/>
          <p:cNvSpPr/>
          <p:nvPr/>
        </p:nvSpPr>
        <p:spPr>
          <a:xfrm>
            <a:off x="130845" y="5409025"/>
            <a:ext cx="4153124" cy="295466"/>
          </a:xfrm>
          <a:prstGeom prst="rect">
            <a:avLst/>
          </a:prstGeom>
          <a:solidFill>
            <a:srgbClr val="E84C22">
              <a:lumMod val="20000"/>
              <a:lumOff val="80000"/>
            </a:srgbClr>
          </a:solidFill>
        </p:spPr>
        <p:txBody>
          <a:bodyPr wrap="square" lIns="36000" rIns="36000">
            <a:spAutoFit/>
          </a:bodyPr>
          <a:lstStyle/>
          <a:p>
            <a:pPr lvl="0">
              <a:lnSpc>
                <a:spcPct val="120000"/>
              </a:lnSpc>
              <a:defRPr/>
            </a:pPr>
            <a:r>
              <a:rPr lang="zh-CN" altLang="en-US" sz="1100" kern="0" dirty="0">
                <a:solidFill>
                  <a:prstClr val="black"/>
                </a:solidFill>
                <a:latin typeface="等线"/>
                <a:ea typeface="等线"/>
              </a:rPr>
              <a:t>若执行成功，则返回写入字符的个数，否则返回一个负数。</a:t>
            </a:r>
          </a:p>
        </p:txBody>
      </p:sp>
    </p:spTree>
    <p:extLst>
      <p:ext uri="{BB962C8B-B14F-4D97-AF65-F5344CB8AC3E}">
        <p14:creationId xmlns:p14="http://schemas.microsoft.com/office/powerpoint/2010/main" val="352982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顺序读写数据文件</a:t>
            </a:r>
          </a:p>
        </p:txBody>
      </p:sp>
      <p:sp>
        <p:nvSpPr>
          <p:cNvPr id="2" name="内容占位符 1"/>
          <p:cNvSpPr>
            <a:spLocks noGrp="1"/>
          </p:cNvSpPr>
          <p:nvPr>
            <p:ph idx="1"/>
          </p:nvPr>
        </p:nvSpPr>
        <p:spPr/>
        <p:txBody>
          <a:bodyPr/>
          <a:lstStyle/>
          <a:p>
            <a:r>
              <a:rPr lang="zh-CN" altLang="en-US" dirty="0"/>
              <a:t>以二进制方式从文件读写一组数据</a:t>
            </a:r>
            <a:endParaRPr lang="en-US" altLang="zh-CN" dirty="0"/>
          </a:p>
          <a:p>
            <a:pPr lvl="1"/>
            <a:r>
              <a:rPr lang="zh-CN" altLang="en-US" sz="1800" dirty="0"/>
              <a:t>用</a:t>
            </a:r>
            <a:r>
              <a:rPr lang="en-US" altLang="zh-CN" sz="1800" dirty="0" err="1">
                <a:solidFill>
                  <a:srgbClr val="FF0000"/>
                </a:solidFill>
              </a:rPr>
              <a:t>fread</a:t>
            </a:r>
            <a:r>
              <a:rPr lang="zh-CN" altLang="en-US" sz="1800" dirty="0"/>
              <a:t>函数从文件中读一个数据块，用</a:t>
            </a:r>
            <a:r>
              <a:rPr lang="en-US" altLang="zh-CN" sz="1800" dirty="0" err="1">
                <a:solidFill>
                  <a:srgbClr val="FF0000"/>
                </a:solidFill>
              </a:rPr>
              <a:t>fwrite</a:t>
            </a:r>
            <a:r>
              <a:rPr lang="zh-CN" altLang="en-US" sz="1800" dirty="0"/>
              <a:t>函数向文件写一个数据块。在读写时是以二进制形式进行的。</a:t>
            </a:r>
            <a:endParaRPr lang="en-US" altLang="zh-CN" sz="1800" dirty="0"/>
          </a:p>
          <a:p>
            <a:pPr lvl="1"/>
            <a:r>
              <a:rPr lang="zh-CN" altLang="en-US" sz="1800" dirty="0"/>
              <a:t>在向磁盘写数据时，直接将内存中一组数据原封不动、不加转换地复制到磁盘文件上；在读入时，将磁盘文件中若干字节的内容批量读入内存。在内存与磁盘频繁交换数据的情况下，最好用</a:t>
            </a:r>
            <a:r>
              <a:rPr lang="en-US" altLang="zh-CN" sz="1800" dirty="0" err="1"/>
              <a:t>fread</a:t>
            </a:r>
            <a:r>
              <a:rPr lang="en-US" altLang="zh-CN" sz="1800" dirty="0"/>
              <a:t>()</a:t>
            </a:r>
            <a:r>
              <a:rPr lang="zh-CN" altLang="en-US" sz="1800" dirty="0"/>
              <a:t>和</a:t>
            </a:r>
            <a:r>
              <a:rPr lang="en-US" altLang="zh-CN" sz="1800" dirty="0" err="1"/>
              <a:t>fwrite</a:t>
            </a:r>
            <a:r>
              <a:rPr lang="en-US" altLang="zh-CN" sz="1800" dirty="0"/>
              <a:t>()</a:t>
            </a:r>
            <a:r>
              <a:rPr lang="zh-CN" altLang="en-US" sz="1800" dirty="0"/>
              <a:t>函数</a:t>
            </a:r>
          </a:p>
        </p:txBody>
      </p:sp>
      <p:sp>
        <p:nvSpPr>
          <p:cNvPr id="4" name="矩形 3"/>
          <p:cNvSpPr/>
          <p:nvPr/>
        </p:nvSpPr>
        <p:spPr>
          <a:xfrm>
            <a:off x="145747" y="3530336"/>
            <a:ext cx="2767827" cy="330712"/>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500" b="0" i="0" u="none" strike="noStrike" kern="0" cap="none" spc="0" normalizeH="0" baseline="0" noProof="0" dirty="0" err="1">
                <a:ln>
                  <a:noFill/>
                </a:ln>
                <a:solidFill>
                  <a:prstClr val="white"/>
                </a:solidFill>
                <a:effectLst/>
                <a:uLnTx/>
                <a:uFillTx/>
                <a:latin typeface="等线"/>
                <a:ea typeface="等线"/>
                <a:cs typeface="+mn-cs"/>
              </a:rPr>
              <a:t>fread</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(buffer, size, count, </a:t>
            </a:r>
            <a:r>
              <a:rPr kumimoji="0" lang="en-US" altLang="zh-CN" sz="1500" b="0" i="0" u="none" strike="noStrike" kern="0" cap="none" spc="0" normalizeH="0" baseline="0" noProof="0" dirty="0" err="1">
                <a:ln>
                  <a:noFill/>
                </a:ln>
                <a:solidFill>
                  <a:prstClr val="white"/>
                </a:solidFill>
                <a:effectLst/>
                <a:uLnTx/>
                <a:uFillTx/>
                <a:latin typeface="等线"/>
                <a:ea typeface="等线"/>
                <a:cs typeface="+mn-cs"/>
              </a:rPr>
              <a:t>fp</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a:t>
            </a:r>
          </a:p>
        </p:txBody>
      </p:sp>
      <p:sp>
        <p:nvSpPr>
          <p:cNvPr id="5" name="圆角矩形 4"/>
          <p:cNvSpPr/>
          <p:nvPr/>
        </p:nvSpPr>
        <p:spPr>
          <a:xfrm>
            <a:off x="212835" y="5286655"/>
            <a:ext cx="8602717" cy="1080120"/>
          </a:xfrm>
          <a:prstGeom prst="roundRect">
            <a:avLst>
              <a:gd name="adj" fmla="val 8070"/>
            </a:avLst>
          </a:prstGeom>
          <a:solidFill>
            <a:sysClr val="window" lastClr="FFFFFF"/>
          </a:solidFill>
          <a:ln w="12700" cap="flat" cmpd="sng" algn="ctr">
            <a:solidFill>
              <a:srgbClr val="E84C22"/>
            </a:solidFill>
            <a:prstDash val="solid"/>
            <a:miter lim="800000"/>
          </a:ln>
          <a:effectLst/>
        </p:spPr>
        <p:txBody>
          <a:bodyPr rtlCol="0" anchor="ct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500" b="0" i="0" u="none" strike="noStrike" kern="0" cap="none" spc="0" normalizeH="0" baseline="0" noProof="0" dirty="0">
                <a:ln>
                  <a:noFill/>
                </a:ln>
                <a:solidFill>
                  <a:prstClr val="black"/>
                </a:solidFill>
                <a:effectLst/>
                <a:uLnTx/>
                <a:uFillTx/>
                <a:latin typeface="等线"/>
                <a:ea typeface="等线"/>
              </a:rPr>
              <a:t>float f[10];</a:t>
            </a:r>
          </a:p>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500" b="0" i="0" u="none" strike="noStrike" kern="0" cap="none" spc="0" normalizeH="0" baseline="0" noProof="0" dirty="0" err="1">
                <a:ln>
                  <a:noFill/>
                </a:ln>
                <a:solidFill>
                  <a:prstClr val="black"/>
                </a:solidFill>
                <a:effectLst/>
                <a:uLnTx/>
                <a:uFillTx/>
                <a:latin typeface="等线"/>
                <a:ea typeface="等线"/>
              </a:rPr>
              <a:t>fread</a:t>
            </a:r>
            <a:r>
              <a:rPr kumimoji="0" lang="en-US" altLang="zh-CN" sz="1500" b="0" i="0" u="none" strike="noStrike" kern="0" cap="none" spc="0" normalizeH="0" baseline="0" noProof="0" dirty="0">
                <a:ln>
                  <a:noFill/>
                </a:ln>
                <a:solidFill>
                  <a:prstClr val="black"/>
                </a:solidFill>
                <a:effectLst/>
                <a:uLnTx/>
                <a:uFillTx/>
                <a:latin typeface="等线"/>
                <a:ea typeface="等线"/>
              </a:rPr>
              <a:t>(f,4,10,fp);	</a:t>
            </a:r>
            <a:r>
              <a:rPr kumimoji="0" lang="en-US" altLang="zh-CN" sz="1500" b="0" i="0" u="none" strike="noStrike" kern="0" cap="none" spc="0" normalizeH="0" baseline="0" noProof="0" dirty="0">
                <a:ln>
                  <a:noFill/>
                </a:ln>
                <a:solidFill>
                  <a:srgbClr val="008000"/>
                </a:solidFill>
                <a:effectLst/>
                <a:uLnTx/>
                <a:uFillTx/>
                <a:latin typeface="等线"/>
                <a:ea typeface="等线"/>
              </a:rPr>
              <a:t>//</a:t>
            </a:r>
            <a:r>
              <a:rPr kumimoji="0" lang="zh-CN" altLang="en-US" sz="1500" b="0" i="0" u="none" strike="noStrike" kern="0" cap="none" spc="0" normalizeH="0" baseline="0" noProof="0" dirty="0">
                <a:ln>
                  <a:noFill/>
                </a:ln>
                <a:solidFill>
                  <a:srgbClr val="008000"/>
                </a:solidFill>
                <a:effectLst/>
                <a:uLnTx/>
                <a:uFillTx/>
                <a:latin typeface="等线"/>
                <a:ea typeface="等线"/>
              </a:rPr>
              <a:t>从</a:t>
            </a:r>
            <a:r>
              <a:rPr kumimoji="0" lang="en-US" altLang="zh-CN" sz="1500" b="0" i="0" u="none" strike="noStrike" kern="0" cap="none" spc="0" normalizeH="0" baseline="0" noProof="0" dirty="0" err="1">
                <a:ln>
                  <a:noFill/>
                </a:ln>
                <a:solidFill>
                  <a:srgbClr val="008000"/>
                </a:solidFill>
                <a:effectLst/>
                <a:uLnTx/>
                <a:uFillTx/>
                <a:latin typeface="等线"/>
                <a:ea typeface="等线"/>
              </a:rPr>
              <a:t>fp</a:t>
            </a:r>
            <a:r>
              <a:rPr kumimoji="0" lang="zh-CN" altLang="en-US" sz="1500" b="0" i="0" u="none" strike="noStrike" kern="0" cap="none" spc="0" normalizeH="0" baseline="0" noProof="0" dirty="0">
                <a:ln>
                  <a:noFill/>
                </a:ln>
                <a:solidFill>
                  <a:srgbClr val="008000"/>
                </a:solidFill>
                <a:effectLst/>
                <a:uLnTx/>
                <a:uFillTx/>
                <a:latin typeface="等线"/>
                <a:ea typeface="等线"/>
              </a:rPr>
              <a:t>所指向的文件读入</a:t>
            </a:r>
            <a:r>
              <a:rPr kumimoji="0" lang="en-US" altLang="zh-CN" sz="1500" b="0" i="0" u="none" strike="noStrike" kern="0" cap="none" spc="0" normalizeH="0" baseline="0" noProof="0" dirty="0">
                <a:ln>
                  <a:noFill/>
                </a:ln>
                <a:solidFill>
                  <a:srgbClr val="008000"/>
                </a:solidFill>
                <a:effectLst/>
                <a:uLnTx/>
                <a:uFillTx/>
                <a:latin typeface="等线"/>
                <a:ea typeface="等线"/>
              </a:rPr>
              <a:t>10</a:t>
            </a:r>
            <a:r>
              <a:rPr kumimoji="0" lang="zh-CN" altLang="en-US" sz="1500" b="0" i="0" u="none" strike="noStrike" kern="0" cap="none" spc="0" normalizeH="0" baseline="0" noProof="0" dirty="0">
                <a:ln>
                  <a:noFill/>
                </a:ln>
                <a:solidFill>
                  <a:srgbClr val="008000"/>
                </a:solidFill>
                <a:effectLst/>
                <a:uLnTx/>
                <a:uFillTx/>
                <a:latin typeface="等线"/>
                <a:ea typeface="等线"/>
              </a:rPr>
              <a:t>个</a:t>
            </a:r>
            <a:r>
              <a:rPr kumimoji="0" lang="en-US" altLang="zh-CN" sz="1500" b="0" i="0" u="none" strike="noStrike" kern="0" cap="none" spc="0" normalizeH="0" baseline="0" noProof="0" dirty="0">
                <a:ln>
                  <a:noFill/>
                </a:ln>
                <a:solidFill>
                  <a:srgbClr val="008000"/>
                </a:solidFill>
                <a:effectLst/>
                <a:uLnTx/>
                <a:uFillTx/>
                <a:latin typeface="等线"/>
                <a:ea typeface="等线"/>
              </a:rPr>
              <a:t>4</a:t>
            </a:r>
            <a:r>
              <a:rPr kumimoji="0" lang="zh-CN" altLang="en-US" sz="1500" b="0" i="0" u="none" strike="noStrike" kern="0" cap="none" spc="0" normalizeH="0" baseline="0" noProof="0" dirty="0">
                <a:ln>
                  <a:noFill/>
                </a:ln>
                <a:solidFill>
                  <a:srgbClr val="008000"/>
                </a:solidFill>
                <a:effectLst/>
                <a:uLnTx/>
                <a:uFillTx/>
                <a:latin typeface="等线"/>
                <a:ea typeface="等线"/>
              </a:rPr>
              <a:t>个字节的数据，存储到数组</a:t>
            </a:r>
            <a:r>
              <a:rPr kumimoji="0" lang="en-US" altLang="zh-CN" sz="1500" b="0" i="0" u="none" strike="noStrike" kern="0" cap="none" spc="0" normalizeH="0" baseline="0" noProof="0" dirty="0">
                <a:ln>
                  <a:noFill/>
                </a:ln>
                <a:solidFill>
                  <a:srgbClr val="008000"/>
                </a:solidFill>
                <a:effectLst/>
                <a:uLnTx/>
                <a:uFillTx/>
                <a:latin typeface="等线"/>
                <a:ea typeface="等线"/>
              </a:rPr>
              <a:t>f</a:t>
            </a:r>
            <a:r>
              <a:rPr kumimoji="0" lang="zh-CN" altLang="en-US" sz="1500" b="0" i="0" u="none" strike="noStrike" kern="0" cap="none" spc="0" normalizeH="0" baseline="0" noProof="0" dirty="0">
                <a:ln>
                  <a:noFill/>
                </a:ln>
                <a:solidFill>
                  <a:srgbClr val="008000"/>
                </a:solidFill>
                <a:effectLst/>
                <a:uLnTx/>
                <a:uFillTx/>
                <a:latin typeface="等线"/>
                <a:ea typeface="等线"/>
              </a:rPr>
              <a:t>中</a:t>
            </a:r>
            <a:endParaRPr kumimoji="0" lang="en-US" altLang="zh-CN" sz="1500" b="0" i="0" u="none" strike="noStrike" kern="0" cap="none" spc="0" normalizeH="0" baseline="0" noProof="0" dirty="0">
              <a:ln>
                <a:noFill/>
              </a:ln>
              <a:solidFill>
                <a:srgbClr val="008000"/>
              </a:solidFill>
              <a:effectLst/>
              <a:uLnTx/>
              <a:uFillTx/>
              <a:latin typeface="等线"/>
              <a:ea typeface="等线"/>
            </a:endParaRPr>
          </a:p>
          <a:p>
            <a:pPr lvl="0" algn="just">
              <a:lnSpc>
                <a:spcPct val="150000"/>
              </a:lnSpc>
              <a:defRPr/>
            </a:pPr>
            <a:r>
              <a:rPr lang="en-US" altLang="zh-CN" sz="1500" kern="0" dirty="0" err="1">
                <a:solidFill>
                  <a:prstClr val="black"/>
                </a:solidFill>
                <a:latin typeface="等线"/>
                <a:ea typeface="等线"/>
              </a:rPr>
              <a:t>fwrite</a:t>
            </a:r>
            <a:r>
              <a:rPr lang="en-US" altLang="zh-CN" sz="1500" kern="0" dirty="0">
                <a:solidFill>
                  <a:prstClr val="black"/>
                </a:solidFill>
                <a:latin typeface="等线"/>
                <a:ea typeface="等线"/>
              </a:rPr>
              <a:t>(f, 4, 10, </a:t>
            </a:r>
            <a:r>
              <a:rPr lang="en-US" altLang="zh-CN" sz="1500" kern="0" dirty="0" err="1">
                <a:solidFill>
                  <a:prstClr val="black"/>
                </a:solidFill>
                <a:latin typeface="等线"/>
                <a:ea typeface="等线"/>
              </a:rPr>
              <a:t>fp</a:t>
            </a:r>
            <a:r>
              <a:rPr lang="en-US" altLang="zh-CN" sz="1500" kern="0" dirty="0">
                <a:solidFill>
                  <a:prstClr val="black"/>
                </a:solidFill>
                <a:latin typeface="等线"/>
                <a:ea typeface="等线"/>
              </a:rPr>
              <a:t>);        </a:t>
            </a:r>
            <a:r>
              <a:rPr lang="en-US" altLang="zh-CN" sz="1500" kern="0" dirty="0">
                <a:solidFill>
                  <a:srgbClr val="008000"/>
                </a:solidFill>
                <a:latin typeface="等线"/>
                <a:ea typeface="等线"/>
              </a:rPr>
              <a:t>//</a:t>
            </a:r>
            <a:r>
              <a:rPr lang="zh-CN" altLang="en-US" sz="1500" kern="0" dirty="0">
                <a:solidFill>
                  <a:srgbClr val="008000"/>
                </a:solidFill>
                <a:latin typeface="等线"/>
                <a:ea typeface="等线"/>
              </a:rPr>
              <a:t>向</a:t>
            </a:r>
            <a:r>
              <a:rPr lang="en-US" altLang="zh-CN" sz="1500" kern="0" dirty="0" err="1">
                <a:solidFill>
                  <a:srgbClr val="008000"/>
                </a:solidFill>
                <a:latin typeface="等线"/>
                <a:ea typeface="等线"/>
              </a:rPr>
              <a:t>fp</a:t>
            </a:r>
            <a:r>
              <a:rPr lang="zh-CN" altLang="en-US" sz="1500" kern="0" dirty="0">
                <a:solidFill>
                  <a:srgbClr val="008000"/>
                </a:solidFill>
                <a:latin typeface="等线"/>
                <a:ea typeface="等线"/>
              </a:rPr>
              <a:t>所指向的文件写入</a:t>
            </a:r>
            <a:r>
              <a:rPr lang="en-US" altLang="zh-CN" sz="1500" kern="0" dirty="0">
                <a:solidFill>
                  <a:srgbClr val="008000"/>
                </a:solidFill>
                <a:latin typeface="等线"/>
                <a:ea typeface="等线"/>
              </a:rPr>
              <a:t>10</a:t>
            </a:r>
            <a:r>
              <a:rPr lang="zh-CN" altLang="en-US" sz="1500" kern="0" dirty="0">
                <a:solidFill>
                  <a:srgbClr val="008000"/>
                </a:solidFill>
                <a:latin typeface="等线"/>
                <a:ea typeface="等线"/>
              </a:rPr>
              <a:t>个</a:t>
            </a:r>
            <a:r>
              <a:rPr lang="en-US" altLang="zh-CN" sz="1500" kern="0" dirty="0">
                <a:solidFill>
                  <a:srgbClr val="008000"/>
                </a:solidFill>
                <a:latin typeface="等线"/>
                <a:ea typeface="等线"/>
              </a:rPr>
              <a:t>4</a:t>
            </a:r>
            <a:r>
              <a:rPr lang="zh-CN" altLang="en-US" sz="1500" kern="0" dirty="0">
                <a:solidFill>
                  <a:srgbClr val="008000"/>
                </a:solidFill>
                <a:latin typeface="等线"/>
                <a:ea typeface="等线"/>
              </a:rPr>
              <a:t>个字节的数据，数据来源于数组</a:t>
            </a:r>
            <a:r>
              <a:rPr lang="en-US" altLang="zh-CN" sz="1500" kern="0" dirty="0">
                <a:solidFill>
                  <a:srgbClr val="008000"/>
                </a:solidFill>
                <a:latin typeface="等线"/>
                <a:ea typeface="等线"/>
              </a:rPr>
              <a:t>f</a:t>
            </a:r>
            <a:endParaRPr kumimoji="0" lang="en-US" altLang="zh-CN" sz="1500" b="0" i="0" u="none" strike="noStrike" kern="0" cap="none" spc="0" normalizeH="0" baseline="0" noProof="0" dirty="0">
              <a:ln>
                <a:noFill/>
              </a:ln>
              <a:solidFill>
                <a:srgbClr val="008000"/>
              </a:solidFill>
              <a:effectLst/>
              <a:uLnTx/>
              <a:uFillTx/>
              <a:latin typeface="等线"/>
              <a:ea typeface="等线"/>
            </a:endParaRPr>
          </a:p>
        </p:txBody>
      </p:sp>
      <p:sp>
        <p:nvSpPr>
          <p:cNvPr id="6" name="矩形 5"/>
          <p:cNvSpPr/>
          <p:nvPr/>
        </p:nvSpPr>
        <p:spPr>
          <a:xfrm>
            <a:off x="143507" y="4026367"/>
            <a:ext cx="2767828" cy="330712"/>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500" b="0" i="0" u="none" strike="noStrike" kern="0" cap="none" spc="0" normalizeH="0" baseline="0" noProof="0" dirty="0" err="1">
                <a:ln>
                  <a:noFill/>
                </a:ln>
                <a:solidFill>
                  <a:prstClr val="white"/>
                </a:solidFill>
                <a:effectLst/>
                <a:uLnTx/>
                <a:uFillTx/>
                <a:latin typeface="等线"/>
                <a:ea typeface="等线"/>
                <a:cs typeface="+mn-cs"/>
              </a:rPr>
              <a:t>fwrite</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(buffer, size, count, </a:t>
            </a:r>
            <a:r>
              <a:rPr kumimoji="0" lang="en-US" altLang="zh-CN" sz="1500" b="0" i="0" u="none" strike="noStrike" kern="0" cap="none" spc="0" normalizeH="0" baseline="0" noProof="0" dirty="0" err="1">
                <a:ln>
                  <a:noFill/>
                </a:ln>
                <a:solidFill>
                  <a:prstClr val="white"/>
                </a:solidFill>
                <a:effectLst/>
                <a:uLnTx/>
                <a:uFillTx/>
                <a:latin typeface="等线"/>
                <a:ea typeface="等线"/>
                <a:cs typeface="+mn-cs"/>
              </a:rPr>
              <a:t>fp</a:t>
            </a:r>
            <a:r>
              <a:rPr kumimoji="0" lang="en-US" altLang="zh-CN" sz="1500" b="0" i="0" u="none" strike="noStrike" kern="0" cap="none" spc="0" normalizeH="0" baseline="0" noProof="0" dirty="0">
                <a:ln>
                  <a:noFill/>
                </a:ln>
                <a:solidFill>
                  <a:prstClr val="white"/>
                </a:solidFill>
                <a:effectLst/>
                <a:uLnTx/>
                <a:uFillTx/>
                <a:latin typeface="等线"/>
                <a:ea typeface="等线"/>
                <a:cs typeface="+mn-cs"/>
              </a:rPr>
              <a:t>);</a:t>
            </a:r>
          </a:p>
        </p:txBody>
      </p:sp>
      <p:sp>
        <p:nvSpPr>
          <p:cNvPr id="7" name="矩形 6"/>
          <p:cNvSpPr/>
          <p:nvPr/>
        </p:nvSpPr>
        <p:spPr>
          <a:xfrm>
            <a:off x="3021589" y="3530336"/>
            <a:ext cx="5793963" cy="1626856"/>
          </a:xfrm>
          <a:prstGeom prst="rect">
            <a:avLst/>
          </a:prstGeom>
          <a:solidFill>
            <a:srgbClr val="E84C22">
              <a:lumMod val="20000"/>
              <a:lumOff val="80000"/>
            </a:srgbClr>
          </a:solidFill>
        </p:spPr>
        <p:txBody>
          <a:bodyPr wrap="square" lIns="72000" rIns="72000">
            <a:spAutoFit/>
          </a:bodyPr>
          <a:lstStyle/>
          <a:p>
            <a:pPr marL="893763" marR="0" lvl="0" indent="-893763"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等线"/>
                <a:ea typeface="等线"/>
              </a:rPr>
              <a:t>buffer： </a:t>
            </a:r>
            <a:r>
              <a:rPr kumimoji="0" lang="en-US" altLang="zh-CN" sz="1400" b="0" i="0" u="none" strike="noStrike" kern="0" cap="none" spc="0" normalizeH="0" baseline="0" noProof="0" dirty="0">
                <a:ln>
                  <a:noFill/>
                </a:ln>
                <a:solidFill>
                  <a:prstClr val="black"/>
                </a:solidFill>
                <a:effectLst/>
                <a:uLnTx/>
                <a:uFillTx/>
                <a:latin typeface="等线"/>
                <a:ea typeface="等线"/>
              </a:rPr>
              <a:t>	</a:t>
            </a:r>
            <a:r>
              <a:rPr kumimoji="0" lang="zh-CN" altLang="en-US" sz="1400" b="0" i="0" u="none" strike="noStrike" kern="0" cap="none" spc="0" normalizeH="0" baseline="0" noProof="0" dirty="0">
                <a:ln>
                  <a:noFill/>
                </a:ln>
                <a:solidFill>
                  <a:prstClr val="black"/>
                </a:solidFill>
                <a:effectLst/>
                <a:uLnTx/>
                <a:uFillTx/>
                <a:latin typeface="等线"/>
                <a:ea typeface="等线"/>
              </a:rPr>
              <a:t>是一个地址。对fread，它是用来存放从文件读入的数据的存储区的地址。对fwrite，是要把此地址开始的存储区中的数据向文件输出（以上指的是起始地址）。</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等线"/>
                <a:ea typeface="等线"/>
              </a:rPr>
              <a:t>size： </a:t>
            </a:r>
            <a:r>
              <a:rPr kumimoji="0" lang="en-US" altLang="zh-CN" sz="1400" b="0" i="0" u="none" strike="noStrike" kern="0" cap="none" spc="0" normalizeH="0" baseline="0" noProof="0" dirty="0">
                <a:ln>
                  <a:noFill/>
                </a:ln>
                <a:solidFill>
                  <a:prstClr val="black"/>
                </a:solidFill>
                <a:effectLst/>
                <a:uLnTx/>
                <a:uFillTx/>
                <a:latin typeface="等线"/>
                <a:ea typeface="等线"/>
              </a:rPr>
              <a:t>	</a:t>
            </a:r>
            <a:r>
              <a:rPr kumimoji="0" lang="zh-CN" altLang="en-US" sz="1400" b="0" i="0" u="none" strike="noStrike" kern="0" cap="none" spc="0" normalizeH="0" baseline="0" noProof="0" dirty="0">
                <a:ln>
                  <a:noFill/>
                </a:ln>
                <a:solidFill>
                  <a:prstClr val="black"/>
                </a:solidFill>
                <a:effectLst/>
                <a:uLnTx/>
                <a:uFillTx/>
                <a:latin typeface="等线"/>
                <a:ea typeface="等线"/>
              </a:rPr>
              <a:t>要读写的</a:t>
            </a:r>
            <a:r>
              <a:rPr lang="zh-CN" altLang="en-US" sz="1400" kern="0" dirty="0">
                <a:solidFill>
                  <a:prstClr val="black"/>
                </a:solidFill>
                <a:latin typeface="等线"/>
                <a:ea typeface="等线"/>
              </a:rPr>
              <a:t>单位</a:t>
            </a:r>
            <a:r>
              <a:rPr kumimoji="0" lang="zh-CN" altLang="en-US" sz="1400" b="0" i="0" u="none" strike="noStrike" kern="0" cap="none" spc="0" normalizeH="0" baseline="0" noProof="0" dirty="0">
                <a:ln>
                  <a:noFill/>
                </a:ln>
                <a:solidFill>
                  <a:prstClr val="black"/>
                </a:solidFill>
                <a:effectLst/>
                <a:uLnTx/>
                <a:uFillTx/>
                <a:latin typeface="等线"/>
                <a:ea typeface="等线"/>
              </a:rPr>
              <a:t>字节数。</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等线"/>
                <a:ea typeface="等线"/>
              </a:rPr>
              <a:t>count： </a:t>
            </a:r>
            <a:r>
              <a:rPr kumimoji="0" lang="en-US" altLang="zh-CN" sz="1400" b="0" i="0" u="none" strike="noStrike" kern="0" cap="none" spc="0" normalizeH="0" baseline="0" noProof="0" dirty="0">
                <a:ln>
                  <a:noFill/>
                </a:ln>
                <a:solidFill>
                  <a:prstClr val="black"/>
                </a:solidFill>
                <a:effectLst/>
                <a:uLnTx/>
                <a:uFillTx/>
                <a:latin typeface="等线"/>
                <a:ea typeface="等线"/>
              </a:rPr>
              <a:t>	</a:t>
            </a:r>
            <a:r>
              <a:rPr kumimoji="0" lang="zh-CN" altLang="en-US" sz="1400" b="0" i="0" u="none" strike="noStrike" kern="0" cap="none" spc="0" normalizeH="0" baseline="0" noProof="0" dirty="0">
                <a:ln>
                  <a:noFill/>
                </a:ln>
                <a:solidFill>
                  <a:prstClr val="black"/>
                </a:solidFill>
                <a:effectLst/>
                <a:uLnTx/>
                <a:uFillTx/>
                <a:latin typeface="等线"/>
                <a:ea typeface="等线"/>
              </a:rPr>
              <a:t>要读写多少个数据项(每个数据项长度为size)。</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等线"/>
                <a:ea typeface="等线"/>
              </a:rPr>
              <a:t>fp： </a:t>
            </a:r>
            <a:r>
              <a:rPr kumimoji="0" lang="en-US" altLang="zh-CN" sz="1400" b="0" i="0" u="none" strike="noStrike" kern="0" cap="none" spc="0" normalizeH="0" baseline="0" noProof="0" dirty="0">
                <a:ln>
                  <a:noFill/>
                </a:ln>
                <a:solidFill>
                  <a:prstClr val="black"/>
                </a:solidFill>
                <a:effectLst/>
                <a:uLnTx/>
                <a:uFillTx/>
                <a:latin typeface="等线"/>
                <a:ea typeface="等线"/>
              </a:rPr>
              <a:t>	</a:t>
            </a:r>
            <a:r>
              <a:rPr kumimoji="0" lang="zh-CN" altLang="en-US" sz="1400" b="0" i="0" u="none" strike="noStrike" kern="0" cap="none" spc="0" normalizeH="0" baseline="0" noProof="0" dirty="0">
                <a:ln>
                  <a:noFill/>
                </a:ln>
                <a:solidFill>
                  <a:prstClr val="black"/>
                </a:solidFill>
                <a:effectLst/>
                <a:uLnTx/>
                <a:uFillTx/>
                <a:latin typeface="等线"/>
                <a:ea typeface="等线"/>
              </a:rPr>
              <a:t>FILE类型指针。</a:t>
            </a:r>
          </a:p>
        </p:txBody>
      </p:sp>
      <p:sp>
        <p:nvSpPr>
          <p:cNvPr id="8" name="矩形 7"/>
          <p:cNvSpPr/>
          <p:nvPr/>
        </p:nvSpPr>
        <p:spPr>
          <a:xfrm>
            <a:off x="143507" y="4455461"/>
            <a:ext cx="2770067" cy="701731"/>
          </a:xfrm>
          <a:prstGeom prst="rect">
            <a:avLst/>
          </a:prstGeom>
          <a:solidFill>
            <a:srgbClr val="E84C22">
              <a:lumMod val="20000"/>
              <a:lumOff val="80000"/>
            </a:srgbClr>
          </a:solidFill>
        </p:spPr>
        <p:txBody>
          <a:bodyPr wrap="square" lIns="36000" rIns="36000">
            <a:spAutoFit/>
          </a:bodyPr>
          <a:lstStyle/>
          <a:p>
            <a:pPr marR="0" lvl="0" defTabSz="914400" eaLnBrk="1" fontAlgn="auto" latinLnBrk="0" hangingPunct="1">
              <a:lnSpc>
                <a:spcPct val="120000"/>
              </a:lnSpc>
              <a:spcBef>
                <a:spcPts val="0"/>
              </a:spcBef>
              <a:spcAft>
                <a:spcPts val="0"/>
              </a:spcAft>
              <a:buClrTx/>
              <a:buSzTx/>
              <a:buFontTx/>
              <a:buNone/>
              <a:tabLst/>
              <a:defRPr/>
            </a:pPr>
            <a:r>
              <a:rPr lang="zh-CN" altLang="en-US" sz="1100" kern="0" dirty="0">
                <a:solidFill>
                  <a:prstClr val="black"/>
                </a:solidFill>
                <a:latin typeface="等线"/>
                <a:ea typeface="等线"/>
              </a:rPr>
              <a:t>两个函数的返回值是实际读取</a:t>
            </a:r>
            <a:r>
              <a:rPr lang="en-US" altLang="zh-CN" sz="1100" kern="0" dirty="0">
                <a:solidFill>
                  <a:prstClr val="black"/>
                </a:solidFill>
                <a:latin typeface="等线"/>
                <a:ea typeface="等线"/>
              </a:rPr>
              <a:t>/</a:t>
            </a:r>
            <a:r>
              <a:rPr lang="zh-CN" altLang="en-US" sz="1100" kern="0" dirty="0">
                <a:solidFill>
                  <a:prstClr val="black"/>
                </a:solidFill>
                <a:latin typeface="等线"/>
                <a:ea typeface="等线"/>
              </a:rPr>
              <a:t>写入的</a:t>
            </a:r>
            <a:r>
              <a:rPr lang="en-US" altLang="zh-CN" sz="1100" kern="0" dirty="0">
                <a:solidFill>
                  <a:prstClr val="black"/>
                </a:solidFill>
                <a:latin typeface="等线"/>
                <a:ea typeface="等线"/>
              </a:rPr>
              <a:t>count</a:t>
            </a:r>
            <a:r>
              <a:rPr lang="zh-CN" altLang="en-US" sz="1100" kern="0" dirty="0">
                <a:solidFill>
                  <a:prstClr val="black"/>
                </a:solidFill>
                <a:latin typeface="等线"/>
                <a:ea typeface="等线"/>
              </a:rPr>
              <a:t>数目。返回值小于指定的</a:t>
            </a:r>
            <a:r>
              <a:rPr lang="en-US" altLang="zh-CN" sz="1100" kern="0" dirty="0">
                <a:solidFill>
                  <a:prstClr val="black"/>
                </a:solidFill>
                <a:latin typeface="等线"/>
                <a:ea typeface="等线"/>
              </a:rPr>
              <a:t>count</a:t>
            </a:r>
            <a:r>
              <a:rPr lang="zh-CN" altLang="en-US" sz="1100" kern="0" dirty="0">
                <a:solidFill>
                  <a:prstClr val="black"/>
                </a:solidFill>
                <a:latin typeface="等线"/>
                <a:ea typeface="等线"/>
              </a:rPr>
              <a:t>值，则代表错误发生。</a:t>
            </a:r>
            <a:endParaRPr kumimoji="0" lang="zh-CN" altLang="en-US" sz="1100" b="0" i="0" u="none" strike="noStrike" kern="0" cap="none" spc="0" normalizeH="0" baseline="0" noProof="0" dirty="0">
              <a:ln>
                <a:noFill/>
              </a:ln>
              <a:solidFill>
                <a:prstClr val="black"/>
              </a:solidFill>
              <a:effectLst/>
              <a:uLnTx/>
              <a:uFillTx/>
              <a:latin typeface="等线"/>
              <a:ea typeface="等线"/>
            </a:endParaRPr>
          </a:p>
        </p:txBody>
      </p:sp>
    </p:spTree>
    <p:extLst>
      <p:ext uri="{BB962C8B-B14F-4D97-AF65-F5344CB8AC3E}">
        <p14:creationId xmlns:p14="http://schemas.microsoft.com/office/powerpoint/2010/main" val="507489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sz="1800" dirty="0"/>
              <a:t>例</a:t>
            </a:r>
            <a:r>
              <a:rPr lang="en-US" altLang="zh-CN" sz="1800" dirty="0"/>
              <a:t>14-1</a:t>
            </a:r>
            <a:r>
              <a:rPr lang="zh-CN" altLang="en-US" sz="1800" dirty="0"/>
              <a:t>：内存数据写入数据文件和文本文件</a:t>
            </a:r>
          </a:p>
        </p:txBody>
      </p:sp>
      <p:sp>
        <p:nvSpPr>
          <p:cNvPr id="3" name="标题 2"/>
          <p:cNvSpPr>
            <a:spLocks noGrp="1"/>
          </p:cNvSpPr>
          <p:nvPr>
            <p:ph type="title"/>
          </p:nvPr>
        </p:nvSpPr>
        <p:spPr/>
        <p:txBody>
          <a:bodyPr/>
          <a:lstStyle/>
          <a:p>
            <a:r>
              <a:rPr lang="zh-CN" altLang="en-US" dirty="0"/>
              <a:t>文件</a:t>
            </a:r>
          </a:p>
        </p:txBody>
      </p:sp>
      <p:sp>
        <p:nvSpPr>
          <p:cNvPr id="4" name="矩形 3">
            <a:extLst>
              <a:ext uri="{FF2B5EF4-FFF2-40B4-BE49-F238E27FC236}">
                <a16:creationId xmlns:a16="http://schemas.microsoft.com/office/drawing/2014/main" id="{6544952A-7496-49E7-BBB6-1378AC7B06A0}"/>
              </a:ext>
            </a:extLst>
          </p:cNvPr>
          <p:cNvSpPr/>
          <p:nvPr/>
        </p:nvSpPr>
        <p:spPr>
          <a:xfrm>
            <a:off x="514906" y="1687354"/>
            <a:ext cx="6858000" cy="5170646"/>
          </a:xfrm>
          <a:prstGeom prst="rect">
            <a:avLst/>
          </a:prstGeom>
        </p:spPr>
        <p:txBody>
          <a:bodyPr wrap="square">
            <a:spAutoFit/>
          </a:bodyPr>
          <a:lstStyle/>
          <a:p>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main()</a:t>
            </a:r>
          </a:p>
          <a:p>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FILE *</a:t>
            </a:r>
            <a:r>
              <a:rPr lang="en-US" sz="1100" dirty="0" err="1">
                <a:solidFill>
                  <a:srgbClr val="000000"/>
                </a:solidFill>
                <a:latin typeface="Consolas" panose="020B0609020204030204" pitchFamily="49" charset="0"/>
              </a:rPr>
              <a:t>fpt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fpb</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Student stud[</a:t>
            </a:r>
            <a:r>
              <a:rPr lang="en-US" sz="1100" dirty="0">
                <a:solidFill>
                  <a:srgbClr val="098658"/>
                </a:solidFill>
                <a:latin typeface="Consolas" panose="020B0609020204030204" pitchFamily="49" charset="0"/>
              </a:rPr>
              <a:t>2</a:t>
            </a:r>
            <a:r>
              <a:rPr lang="en-US" sz="1100" dirty="0">
                <a:solidFill>
                  <a:srgbClr val="000000"/>
                </a:solidFill>
                <a:latin typeface="Consolas" panose="020B0609020204030204" pitchFamily="49" charset="0"/>
              </a:rPr>
              <a:t>] = {{</a:t>
            </a:r>
            <a:r>
              <a:rPr lang="en-US" sz="1100" dirty="0">
                <a:solidFill>
                  <a:srgbClr val="098658"/>
                </a:solidFill>
                <a:latin typeface="Consolas" panose="020B0609020204030204" pitchFamily="49" charset="0"/>
              </a:rPr>
              <a:t>2021123456</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a:t>
            </a:r>
            <a:r>
              <a:rPr lang="en-US" sz="1100" dirty="0" err="1">
                <a:solidFill>
                  <a:srgbClr val="A31515"/>
                </a:solidFill>
                <a:latin typeface="Consolas" panose="020B0609020204030204" pitchFamily="49" charset="0"/>
              </a:rPr>
              <a:t>Zhangsan</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'F'</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18</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2021654321</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a:t>
            </a:r>
            <a:r>
              <a:rPr lang="en-US" sz="1100" dirty="0" err="1">
                <a:solidFill>
                  <a:srgbClr val="A31515"/>
                </a:solidFill>
                <a:latin typeface="Consolas" panose="020B0609020204030204" pitchFamily="49" charset="0"/>
              </a:rPr>
              <a:t>Lisi</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'M'</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19</a:t>
            </a:r>
            <a:r>
              <a:rPr lang="en-US" sz="1100" dirty="0">
                <a:solidFill>
                  <a:srgbClr val="000000"/>
                </a:solidFill>
                <a:latin typeface="Consolas" panose="020B0609020204030204" pitchFamily="49" charset="0"/>
              </a:rPr>
              <a:t>}};</a:t>
            </a:r>
          </a:p>
          <a:p>
            <a:br>
              <a:rPr lang="en-US" sz="1100" dirty="0">
                <a:solidFill>
                  <a:srgbClr val="000000"/>
                </a:solidFill>
                <a:latin typeface="Consolas" panose="020B0609020204030204" pitchFamily="49" charset="0"/>
              </a:rPr>
            </a:b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fpt</a:t>
            </a:r>
            <a:r>
              <a:rPr lang="en-US" sz="1100" dirty="0">
                <a:solidFill>
                  <a:srgbClr val="000000"/>
                </a:solidFill>
                <a:latin typeface="Consolas" panose="020B0609020204030204" pitchFamily="49" charset="0"/>
              </a:rPr>
              <a:t> = </a:t>
            </a:r>
            <a:r>
              <a:rPr lang="en-US" sz="1100" dirty="0" err="1">
                <a:solidFill>
                  <a:srgbClr val="000000"/>
                </a:solidFill>
                <a:latin typeface="Consolas" panose="020B0609020204030204" pitchFamily="49" charset="0"/>
              </a:rPr>
              <a:t>fopen</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"student.txt"</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"w"</a:t>
            </a:r>
            <a:r>
              <a:rPr lang="en-US" sz="1100" dirty="0">
                <a:solidFill>
                  <a:srgbClr val="000000"/>
                </a:solidFill>
                <a:latin typeface="Consolas" panose="020B0609020204030204" pitchFamily="49" charset="0"/>
              </a:rPr>
              <a:t>)) == </a:t>
            </a:r>
            <a:r>
              <a:rPr lang="en-US" sz="1100" dirty="0">
                <a:solidFill>
                  <a:srgbClr val="0000FF"/>
                </a:solidFill>
                <a:latin typeface="Consolas" panose="020B0609020204030204" pitchFamily="49" charset="0"/>
              </a:rPr>
              <a:t>NULL</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8000"/>
                </a:solidFill>
                <a:latin typeface="Consolas" panose="020B0609020204030204" pitchFamily="49" charset="0"/>
              </a:rPr>
              <a:t> // </a:t>
            </a:r>
            <a:r>
              <a:rPr lang="zh-CN" altLang="en-US" sz="1100" dirty="0">
                <a:solidFill>
                  <a:srgbClr val="008000"/>
                </a:solidFill>
                <a:latin typeface="Consolas" panose="020B0609020204030204" pitchFamily="49" charset="0"/>
              </a:rPr>
              <a:t>以读写方式创建文本文件</a:t>
            </a:r>
            <a:endParaRPr lang="zh-CN" altLang="en-US" sz="1100" dirty="0">
              <a:solidFill>
                <a:srgbClr val="000000"/>
              </a:solidFill>
              <a:latin typeface="Consolas" panose="020B0609020204030204" pitchFamily="49" charset="0"/>
            </a:endParaRPr>
          </a:p>
          <a:p>
            <a:r>
              <a:rPr lang="zh-CN" alt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printf</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"can create file\n"</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exit(</a:t>
            </a:r>
            <a:r>
              <a:rPr lang="en-US" sz="1100" dirty="0">
                <a:solidFill>
                  <a:srgbClr val="098658"/>
                </a:solidFill>
                <a:latin typeface="Consolas" panose="020B0609020204030204" pitchFamily="49" charset="0"/>
              </a:rPr>
              <a:t>0</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p>
          <a:p>
            <a:br>
              <a:rPr lang="en-US" sz="1100" dirty="0">
                <a:solidFill>
                  <a:srgbClr val="000000"/>
                </a:solidFill>
                <a:latin typeface="Consolas" panose="020B0609020204030204" pitchFamily="49" charset="0"/>
              </a:rPr>
            </a:b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fpb</a:t>
            </a:r>
            <a:r>
              <a:rPr lang="en-US" sz="1100" dirty="0">
                <a:solidFill>
                  <a:srgbClr val="000000"/>
                </a:solidFill>
                <a:latin typeface="Consolas" panose="020B0609020204030204" pitchFamily="49" charset="0"/>
              </a:rPr>
              <a:t> = </a:t>
            </a:r>
            <a:r>
              <a:rPr lang="en-US" sz="1100" dirty="0" err="1">
                <a:solidFill>
                  <a:srgbClr val="000000"/>
                </a:solidFill>
                <a:latin typeface="Consolas" panose="020B0609020204030204" pitchFamily="49" charset="0"/>
              </a:rPr>
              <a:t>fopen</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a:t>
            </a:r>
            <a:r>
              <a:rPr lang="en-US" sz="1100" dirty="0" err="1">
                <a:solidFill>
                  <a:srgbClr val="A31515"/>
                </a:solidFill>
                <a:latin typeface="Consolas" panose="020B0609020204030204" pitchFamily="49" charset="0"/>
              </a:rPr>
              <a:t>student.bin</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a:t>
            </a:r>
            <a:r>
              <a:rPr lang="en-US" sz="1100" dirty="0" err="1">
                <a:solidFill>
                  <a:srgbClr val="A31515"/>
                </a:solidFill>
                <a:latin typeface="Consolas" panose="020B0609020204030204" pitchFamily="49" charset="0"/>
              </a:rPr>
              <a:t>wb</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 </a:t>
            </a:r>
            <a:r>
              <a:rPr lang="en-US" sz="1100" dirty="0">
                <a:solidFill>
                  <a:srgbClr val="0000FF"/>
                </a:solidFill>
                <a:latin typeface="Consolas" panose="020B0609020204030204" pitchFamily="49" charset="0"/>
              </a:rPr>
              <a:t>NULL</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8000"/>
                </a:solidFill>
                <a:latin typeface="Consolas" panose="020B0609020204030204" pitchFamily="49" charset="0"/>
              </a:rPr>
              <a:t> // </a:t>
            </a:r>
            <a:r>
              <a:rPr lang="zh-CN" altLang="en-US" sz="1100" dirty="0">
                <a:solidFill>
                  <a:srgbClr val="008000"/>
                </a:solidFill>
                <a:latin typeface="Consolas" panose="020B0609020204030204" pitchFamily="49" charset="0"/>
              </a:rPr>
              <a:t>以读写方式打开二进制文件</a:t>
            </a:r>
            <a:endParaRPr lang="zh-CN" altLang="en-US" sz="1100" dirty="0">
              <a:solidFill>
                <a:srgbClr val="000000"/>
              </a:solidFill>
              <a:latin typeface="Consolas" panose="020B0609020204030204" pitchFamily="49" charset="0"/>
            </a:endParaRPr>
          </a:p>
          <a:p>
            <a:r>
              <a:rPr lang="zh-CN" alt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printf</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"cannot open file\n"</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exit(</a:t>
            </a:r>
            <a:r>
              <a:rPr lang="en-US" sz="1100" dirty="0">
                <a:solidFill>
                  <a:srgbClr val="098658"/>
                </a:solidFill>
                <a:latin typeface="Consolas" panose="020B0609020204030204" pitchFamily="49" charset="0"/>
              </a:rPr>
              <a:t>0</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printf</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"%d\n"</a:t>
            </a:r>
            <a:r>
              <a:rPr lang="en-US" sz="1100" dirty="0">
                <a:solidFill>
                  <a:srgbClr val="000000"/>
                </a:solidFill>
                <a:latin typeface="Consolas" panose="020B0609020204030204" pitchFamily="49" charset="0"/>
              </a:rPr>
              <a:t>, </a:t>
            </a:r>
            <a:r>
              <a:rPr lang="en-US" sz="1100" dirty="0" err="1">
                <a:solidFill>
                  <a:srgbClr val="0000FF"/>
                </a:solidFill>
                <a:latin typeface="Consolas" panose="020B0609020204030204" pitchFamily="49" charset="0"/>
              </a:rPr>
              <a:t>sizeof</a:t>
            </a:r>
            <a:r>
              <a:rPr lang="en-US" sz="1100" dirty="0">
                <a:solidFill>
                  <a:srgbClr val="000000"/>
                </a:solidFill>
                <a:latin typeface="Consolas" panose="020B0609020204030204" pitchFamily="49" charset="0"/>
              </a:rPr>
              <a:t>(Student));</a:t>
            </a:r>
          </a:p>
          <a:p>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fwrite</a:t>
            </a:r>
            <a:r>
              <a:rPr lang="en-US" sz="1100" dirty="0">
                <a:solidFill>
                  <a:srgbClr val="000000"/>
                </a:solidFill>
                <a:latin typeface="Consolas" panose="020B0609020204030204" pitchFamily="49" charset="0"/>
              </a:rPr>
              <a:t>(stud, </a:t>
            </a:r>
            <a:r>
              <a:rPr lang="en-US" sz="1100" dirty="0" err="1">
                <a:solidFill>
                  <a:srgbClr val="0000FF"/>
                </a:solidFill>
                <a:latin typeface="Consolas" panose="020B0609020204030204" pitchFamily="49" charset="0"/>
              </a:rPr>
              <a:t>sizeof</a:t>
            </a:r>
            <a:r>
              <a:rPr lang="en-US" sz="1100" dirty="0">
                <a:solidFill>
                  <a:srgbClr val="000000"/>
                </a:solidFill>
                <a:latin typeface="Consolas" panose="020B0609020204030204" pitchFamily="49" charset="0"/>
              </a:rPr>
              <a:t>(Student), </a:t>
            </a:r>
            <a:r>
              <a:rPr lang="en-US" sz="1100" dirty="0">
                <a:solidFill>
                  <a:srgbClr val="098658"/>
                </a:solidFill>
                <a:latin typeface="Consolas" panose="020B0609020204030204" pitchFamily="49" charset="0"/>
              </a:rPr>
              <a:t>2</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fpb</a:t>
            </a:r>
            <a:r>
              <a:rPr lang="en-US" sz="1100" dirty="0">
                <a:solidFill>
                  <a:srgbClr val="000000"/>
                </a:solidFill>
                <a:latin typeface="Consolas" panose="020B0609020204030204" pitchFamily="49" charset="0"/>
              </a:rPr>
              <a:t>);</a:t>
            </a:r>
          </a:p>
          <a:p>
            <a:br>
              <a:rPr lang="en-US" sz="1100" dirty="0">
                <a:solidFill>
                  <a:srgbClr val="000000"/>
                </a:solidFill>
                <a:latin typeface="Consolas" panose="020B0609020204030204" pitchFamily="49" charset="0"/>
              </a:rPr>
            </a:b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for</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 = </a:t>
            </a:r>
            <a:r>
              <a:rPr lang="en-US" sz="1100" dirty="0">
                <a:solidFill>
                  <a:srgbClr val="098658"/>
                </a:solidFill>
                <a:latin typeface="Consolas" panose="020B0609020204030204" pitchFamily="49" charset="0"/>
              </a:rPr>
              <a:t>0</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 &lt; </a:t>
            </a:r>
            <a:r>
              <a:rPr lang="en-US" sz="1100" dirty="0">
                <a:solidFill>
                  <a:srgbClr val="098658"/>
                </a:solidFill>
                <a:latin typeface="Consolas" panose="020B0609020204030204" pitchFamily="49" charset="0"/>
              </a:rPr>
              <a:t>2</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fprintf</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fpt</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"%d %s %c %d\n"</a:t>
            </a:r>
            <a:r>
              <a:rPr lang="en-US" sz="1100" dirty="0">
                <a:solidFill>
                  <a:srgbClr val="000000"/>
                </a:solidFill>
                <a:latin typeface="Consolas" panose="020B0609020204030204" pitchFamily="49" charset="0"/>
              </a:rPr>
              <a:t>, stud[</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sno</a:t>
            </a:r>
            <a:r>
              <a:rPr lang="en-US" sz="1100" dirty="0">
                <a:solidFill>
                  <a:srgbClr val="000000"/>
                </a:solidFill>
                <a:latin typeface="Consolas" panose="020B0609020204030204" pitchFamily="49" charset="0"/>
              </a:rPr>
              <a:t>, stud[</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].name, </a:t>
            </a:r>
          </a:p>
          <a:p>
            <a:r>
              <a:rPr lang="en-US" sz="1100" dirty="0">
                <a:solidFill>
                  <a:srgbClr val="000000"/>
                </a:solidFill>
                <a:latin typeface="Consolas" panose="020B0609020204030204" pitchFamily="49" charset="0"/>
              </a:rPr>
              <a:t>			stud[</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].sex, stud[</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].age);</a:t>
            </a:r>
          </a:p>
          <a:p>
            <a:br>
              <a:rPr lang="en-US" sz="1100" dirty="0">
                <a:solidFill>
                  <a:srgbClr val="000000"/>
                </a:solidFill>
                <a:latin typeface="Consolas" panose="020B0609020204030204" pitchFamily="49" charset="0"/>
              </a:rPr>
            </a:b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fclose</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fpt</a:t>
            </a:r>
            <a:r>
              <a:rPr lang="en-US" sz="1100" dirty="0">
                <a:solidFill>
                  <a:srgbClr val="000000"/>
                </a:solidFill>
                <a:latin typeface="Consolas" panose="020B0609020204030204" pitchFamily="49" charset="0"/>
              </a:rPr>
              <a:t>);</a:t>
            </a:r>
            <a:r>
              <a:rPr lang="en-US" sz="1100" dirty="0">
                <a:solidFill>
                  <a:srgbClr val="008000"/>
                </a:solidFill>
                <a:latin typeface="Consolas" panose="020B0609020204030204" pitchFamily="49" charset="0"/>
              </a:rPr>
              <a:t> // </a:t>
            </a:r>
            <a:r>
              <a:rPr lang="zh-CN" altLang="en-US" sz="1100" dirty="0">
                <a:solidFill>
                  <a:srgbClr val="008000"/>
                </a:solidFill>
                <a:latin typeface="Consolas" panose="020B0609020204030204" pitchFamily="49" charset="0"/>
              </a:rPr>
              <a:t>关闭读文件</a:t>
            </a:r>
            <a:endParaRPr lang="zh-CN" altLang="en-US" sz="1100" dirty="0">
              <a:solidFill>
                <a:srgbClr val="000000"/>
              </a:solidFill>
              <a:latin typeface="Consolas" panose="020B0609020204030204" pitchFamily="49" charset="0"/>
            </a:endParaRPr>
          </a:p>
          <a:p>
            <a:r>
              <a:rPr lang="zh-CN" alt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fclose</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fpb</a:t>
            </a:r>
            <a:r>
              <a:rPr lang="en-US" sz="1100" dirty="0">
                <a:solidFill>
                  <a:srgbClr val="000000"/>
                </a:solidFill>
                <a:latin typeface="Consolas" panose="020B0609020204030204" pitchFamily="49" charset="0"/>
              </a:rPr>
              <a:t>);</a:t>
            </a:r>
            <a:r>
              <a:rPr lang="en-US" sz="1100" dirty="0">
                <a:solidFill>
                  <a:srgbClr val="008000"/>
                </a:solidFill>
                <a:latin typeface="Consolas" panose="020B0609020204030204" pitchFamily="49" charset="0"/>
              </a:rPr>
              <a:t> // </a:t>
            </a:r>
            <a:r>
              <a:rPr lang="zh-CN" altLang="en-US" sz="1100" dirty="0">
                <a:solidFill>
                  <a:srgbClr val="008000"/>
                </a:solidFill>
                <a:latin typeface="Consolas" panose="020B0609020204030204" pitchFamily="49" charset="0"/>
              </a:rPr>
              <a:t>关闭写文件</a:t>
            </a:r>
            <a:endParaRPr lang="zh-CN" altLang="en-US" sz="1100" dirty="0">
              <a:solidFill>
                <a:srgbClr val="000000"/>
              </a:solidFill>
              <a:latin typeface="Consolas" panose="020B0609020204030204" pitchFamily="49" charset="0"/>
            </a:endParaRPr>
          </a:p>
          <a:p>
            <a:r>
              <a:rPr lang="zh-CN" alt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0</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endParaRPr lang="en-US" sz="2400" b="0" dirty="0">
              <a:solidFill>
                <a:srgbClr val="000000"/>
              </a:solidFill>
              <a:effectLst/>
              <a:latin typeface="Consolas" panose="020B0609020204030204" pitchFamily="49" charset="0"/>
            </a:endParaRPr>
          </a:p>
        </p:txBody>
      </p:sp>
      <p:sp>
        <p:nvSpPr>
          <p:cNvPr id="5" name="矩形 4">
            <a:extLst>
              <a:ext uri="{FF2B5EF4-FFF2-40B4-BE49-F238E27FC236}">
                <a16:creationId xmlns:a16="http://schemas.microsoft.com/office/drawing/2014/main" id="{2673523C-0408-417E-821C-937941017ED8}"/>
              </a:ext>
            </a:extLst>
          </p:cNvPr>
          <p:cNvSpPr/>
          <p:nvPr/>
        </p:nvSpPr>
        <p:spPr>
          <a:xfrm>
            <a:off x="6263196" y="2869092"/>
            <a:ext cx="2531710" cy="1954381"/>
          </a:xfrm>
          <a:prstGeom prst="rect">
            <a:avLst/>
          </a:prstGeom>
          <a:solidFill>
            <a:schemeClr val="bg1">
              <a:lumMod val="75000"/>
            </a:schemeClr>
          </a:solidFill>
        </p:spPr>
        <p:txBody>
          <a:bodyPr wrap="square">
            <a:spAutoFit/>
          </a:bodyPr>
          <a:lstStyle/>
          <a:p>
            <a:r>
              <a:rPr lang="en-US" sz="1100" dirty="0">
                <a:solidFill>
                  <a:srgbClr val="008000"/>
                </a:solidFill>
                <a:latin typeface="Consolas" panose="020B0609020204030204" pitchFamily="49" charset="0"/>
              </a:rPr>
              <a:t>// write files</a:t>
            </a:r>
            <a:endParaRPr lang="en-US" sz="1100" dirty="0">
              <a:solidFill>
                <a:srgbClr val="000000"/>
              </a:solidFill>
              <a:latin typeface="Consolas" panose="020B0609020204030204" pitchFamily="49" charset="0"/>
            </a:endParaRPr>
          </a:p>
          <a:p>
            <a:r>
              <a:rPr lang="en-US" sz="1100" dirty="0">
                <a:solidFill>
                  <a:srgbClr val="0000FF"/>
                </a:solidFill>
                <a:latin typeface="Consolas" panose="020B0609020204030204" pitchFamily="49" charset="0"/>
              </a:rPr>
              <a:t>#include </a:t>
            </a:r>
            <a:r>
              <a:rPr lang="en-US" sz="1100" dirty="0">
                <a:solidFill>
                  <a:srgbClr val="A31515"/>
                </a:solidFill>
                <a:latin typeface="Consolas" panose="020B0609020204030204" pitchFamily="49" charset="0"/>
              </a:rPr>
              <a:t>&lt;</a:t>
            </a:r>
            <a:r>
              <a:rPr lang="en-US" sz="1100" dirty="0" err="1">
                <a:solidFill>
                  <a:srgbClr val="A31515"/>
                </a:solidFill>
                <a:latin typeface="Consolas" panose="020B0609020204030204" pitchFamily="49" charset="0"/>
              </a:rPr>
              <a:t>stdio.h</a:t>
            </a:r>
            <a:r>
              <a:rPr lang="en-US" sz="1100" dirty="0">
                <a:solidFill>
                  <a:srgbClr val="A31515"/>
                </a:solidFill>
                <a:latin typeface="Consolas" panose="020B0609020204030204" pitchFamily="49" charset="0"/>
              </a:rPr>
              <a:t>&gt;</a:t>
            </a:r>
            <a:endParaRPr lang="en-US" sz="1100" dirty="0">
              <a:solidFill>
                <a:srgbClr val="000000"/>
              </a:solidFill>
              <a:latin typeface="Consolas" panose="020B0609020204030204" pitchFamily="49" charset="0"/>
            </a:endParaRPr>
          </a:p>
          <a:p>
            <a:r>
              <a:rPr lang="en-US" sz="1100" dirty="0">
                <a:solidFill>
                  <a:srgbClr val="0000FF"/>
                </a:solidFill>
                <a:latin typeface="Consolas" panose="020B0609020204030204" pitchFamily="49" charset="0"/>
              </a:rPr>
              <a:t>#include </a:t>
            </a:r>
            <a:r>
              <a:rPr lang="en-US" sz="1100" dirty="0">
                <a:solidFill>
                  <a:srgbClr val="A31515"/>
                </a:solidFill>
                <a:latin typeface="Consolas" panose="020B0609020204030204" pitchFamily="49" charset="0"/>
              </a:rPr>
              <a:t>&lt;</a:t>
            </a:r>
            <a:r>
              <a:rPr lang="en-US" sz="1100" dirty="0" err="1">
                <a:solidFill>
                  <a:srgbClr val="A31515"/>
                </a:solidFill>
                <a:latin typeface="Consolas" panose="020B0609020204030204" pitchFamily="49" charset="0"/>
              </a:rPr>
              <a:t>stdlib.h</a:t>
            </a:r>
            <a:r>
              <a:rPr lang="en-US" sz="1100" dirty="0">
                <a:solidFill>
                  <a:srgbClr val="A31515"/>
                </a:solidFill>
                <a:latin typeface="Consolas" panose="020B0609020204030204" pitchFamily="49" charset="0"/>
              </a:rPr>
              <a:t>&gt;</a:t>
            </a:r>
            <a:endParaRPr lang="en-US" sz="1100" dirty="0">
              <a:solidFill>
                <a:srgbClr val="000000"/>
              </a:solidFill>
              <a:latin typeface="Consolas" panose="020B0609020204030204" pitchFamily="49" charset="0"/>
            </a:endParaRPr>
          </a:p>
          <a:p>
            <a:br>
              <a:rPr lang="en-US" sz="1100" dirty="0">
                <a:solidFill>
                  <a:srgbClr val="000000"/>
                </a:solidFill>
                <a:latin typeface="Consolas" panose="020B0609020204030204" pitchFamily="49" charset="0"/>
              </a:rPr>
            </a:br>
            <a:r>
              <a:rPr lang="en-US" sz="1100" dirty="0">
                <a:solidFill>
                  <a:srgbClr val="0000FF"/>
                </a:solidFill>
                <a:latin typeface="Consolas" panose="020B0609020204030204" pitchFamily="49" charset="0"/>
              </a:rPr>
              <a:t>typedef</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struct</a:t>
            </a:r>
            <a:endParaRPr lang="en-US"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sno</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char</a:t>
            </a:r>
            <a:r>
              <a:rPr lang="en-US" sz="1100" dirty="0">
                <a:solidFill>
                  <a:srgbClr val="000000"/>
                </a:solidFill>
                <a:latin typeface="Consolas" panose="020B0609020204030204" pitchFamily="49" charset="0"/>
              </a:rPr>
              <a:t> name[</a:t>
            </a:r>
            <a:r>
              <a:rPr lang="en-US" sz="1100" dirty="0">
                <a:solidFill>
                  <a:srgbClr val="098658"/>
                </a:solidFill>
                <a:latin typeface="Consolas" panose="020B0609020204030204" pitchFamily="49" charset="0"/>
              </a:rPr>
              <a:t>10</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char</a:t>
            </a:r>
            <a:r>
              <a:rPr lang="en-US" sz="1100" dirty="0">
                <a:solidFill>
                  <a:srgbClr val="000000"/>
                </a:solidFill>
                <a:latin typeface="Consolas" panose="020B0609020204030204" pitchFamily="49" charset="0"/>
              </a:rPr>
              <a:t> sex;</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age;</a:t>
            </a:r>
          </a:p>
          <a:p>
            <a:r>
              <a:rPr lang="en-US" sz="1100" dirty="0">
                <a:solidFill>
                  <a:srgbClr val="000000"/>
                </a:solidFill>
                <a:latin typeface="Consolas" panose="020B0609020204030204" pitchFamily="49" charset="0"/>
              </a:rPr>
              <a:t>} Student;</a:t>
            </a:r>
            <a:r>
              <a:rPr lang="en-US" sz="1100" dirty="0">
                <a:solidFill>
                  <a:srgbClr val="008000"/>
                </a:solidFill>
                <a:latin typeface="Consolas" panose="020B0609020204030204" pitchFamily="49" charset="0"/>
              </a:rPr>
              <a:t> // </a:t>
            </a:r>
            <a:r>
              <a:rPr lang="zh-CN" altLang="en-US" sz="1100" dirty="0">
                <a:solidFill>
                  <a:srgbClr val="008000"/>
                </a:solidFill>
                <a:latin typeface="Consolas" panose="020B0609020204030204" pitchFamily="49" charset="0"/>
              </a:rPr>
              <a:t>学生数据类型</a:t>
            </a:r>
            <a:endParaRPr lang="zh-CN" alt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263417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69" y="5401621"/>
            <a:ext cx="8197081" cy="1267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569" y="3873388"/>
            <a:ext cx="8197081" cy="995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标题 2"/>
          <p:cNvSpPr>
            <a:spLocks noGrp="1"/>
          </p:cNvSpPr>
          <p:nvPr>
            <p:ph type="title"/>
          </p:nvPr>
        </p:nvSpPr>
        <p:spPr/>
        <p:txBody>
          <a:bodyPr/>
          <a:lstStyle/>
          <a:p>
            <a:r>
              <a:rPr lang="zh-CN" altLang="en-US" dirty="0"/>
              <a:t>顺序读写数据文件</a:t>
            </a:r>
          </a:p>
        </p:txBody>
      </p:sp>
      <p:sp>
        <p:nvSpPr>
          <p:cNvPr id="2" name="内容占位符 1"/>
          <p:cNvSpPr>
            <a:spLocks noGrp="1"/>
          </p:cNvSpPr>
          <p:nvPr>
            <p:ph idx="1"/>
          </p:nvPr>
        </p:nvSpPr>
        <p:spPr/>
        <p:txBody>
          <a:bodyPr>
            <a:normAutofit/>
          </a:bodyPr>
          <a:lstStyle/>
          <a:p>
            <a:r>
              <a:rPr lang="zh-CN" altLang="en-US" sz="2000" dirty="0"/>
              <a:t>示例：以二进制形式进行存储的文件和以</a:t>
            </a:r>
            <a:r>
              <a:rPr lang="en-US" altLang="zh-CN" sz="2000" dirty="0"/>
              <a:t>ASCII</a:t>
            </a:r>
            <a:r>
              <a:rPr lang="zh-CN" altLang="en-US" sz="2000" dirty="0"/>
              <a:t>码形式存储文件</a:t>
            </a:r>
          </a:p>
        </p:txBody>
      </p:sp>
      <p:sp>
        <p:nvSpPr>
          <p:cNvPr id="4" name="矩形 3"/>
          <p:cNvSpPr/>
          <p:nvPr/>
        </p:nvSpPr>
        <p:spPr>
          <a:xfrm>
            <a:off x="3491880" y="1988842"/>
            <a:ext cx="1336452" cy="1200329"/>
          </a:xfrm>
          <a:prstGeom prst="rect">
            <a:avLst/>
          </a:prstGeom>
          <a:ln w="12700">
            <a:solidFill>
              <a:schemeClr val="tx1"/>
            </a:solidFill>
          </a:ln>
        </p:spPr>
        <p:txBody>
          <a:bodyPr wrap="square">
            <a:spAutoFit/>
          </a:bodyPr>
          <a:lstStyle/>
          <a:p>
            <a:r>
              <a:rPr lang="en-US" altLang="zh-CN" sz="1200" dirty="0" err="1"/>
              <a:t>typedef</a:t>
            </a:r>
            <a:r>
              <a:rPr lang="en-US" altLang="zh-CN" sz="1200" dirty="0"/>
              <a:t> </a:t>
            </a:r>
            <a:r>
              <a:rPr lang="en-US" altLang="zh-CN" sz="1200" dirty="0" err="1"/>
              <a:t>struct</a:t>
            </a:r>
            <a:r>
              <a:rPr lang="en-US" altLang="zh-CN" sz="1200" dirty="0"/>
              <a:t> {</a:t>
            </a:r>
          </a:p>
          <a:p>
            <a:r>
              <a:rPr lang="en-US" altLang="zh-CN" sz="1200" dirty="0"/>
              <a:t>    </a:t>
            </a:r>
            <a:r>
              <a:rPr lang="en-US" altLang="zh-CN" sz="1200" dirty="0" err="1"/>
              <a:t>int</a:t>
            </a:r>
            <a:r>
              <a:rPr lang="en-US" altLang="zh-CN" sz="1200" dirty="0"/>
              <a:t> </a:t>
            </a:r>
            <a:r>
              <a:rPr lang="en-US" altLang="zh-CN" sz="1200" dirty="0" err="1"/>
              <a:t>sno</a:t>
            </a:r>
            <a:r>
              <a:rPr lang="en-US" altLang="zh-CN" sz="1200" dirty="0"/>
              <a:t>;</a:t>
            </a:r>
          </a:p>
          <a:p>
            <a:r>
              <a:rPr lang="en-US" altLang="zh-CN" sz="1200" dirty="0"/>
              <a:t>    char name[10];</a:t>
            </a:r>
          </a:p>
          <a:p>
            <a:r>
              <a:rPr lang="en-US" altLang="zh-CN" sz="1200" dirty="0"/>
              <a:t>    char sex;</a:t>
            </a:r>
          </a:p>
          <a:p>
            <a:r>
              <a:rPr lang="en-US" altLang="zh-CN" sz="1200" dirty="0"/>
              <a:t>    </a:t>
            </a:r>
            <a:r>
              <a:rPr lang="en-US" altLang="zh-CN" sz="1200" dirty="0" err="1"/>
              <a:t>int</a:t>
            </a:r>
            <a:r>
              <a:rPr lang="en-US" altLang="zh-CN" sz="1200" dirty="0"/>
              <a:t> age;</a:t>
            </a:r>
          </a:p>
          <a:p>
            <a:r>
              <a:rPr lang="en-US" altLang="zh-CN" sz="1200" dirty="0"/>
              <a:t>} Student;</a:t>
            </a:r>
          </a:p>
        </p:txBody>
      </p:sp>
      <p:graphicFrame>
        <p:nvGraphicFramePr>
          <p:cNvPr id="5" name="表格 4"/>
          <p:cNvGraphicFramePr>
            <a:graphicFrameLocks noGrp="1"/>
          </p:cNvGraphicFramePr>
          <p:nvPr>
            <p:extLst/>
          </p:nvPr>
        </p:nvGraphicFramePr>
        <p:xfrm>
          <a:off x="5144268" y="1988840"/>
          <a:ext cx="3100140" cy="1200330"/>
        </p:xfrm>
        <a:graphic>
          <a:graphicData uri="http://schemas.openxmlformats.org/drawingml/2006/table">
            <a:tbl>
              <a:tblPr/>
              <a:tblGrid>
                <a:gridCol w="1060300">
                  <a:extLst>
                    <a:ext uri="{9D8B030D-6E8A-4147-A177-3AD203B41FA5}">
                      <a16:colId xmlns:a16="http://schemas.microsoft.com/office/drawing/2014/main" val="20000"/>
                    </a:ext>
                  </a:extLst>
                </a:gridCol>
                <a:gridCol w="902755">
                  <a:extLst>
                    <a:ext uri="{9D8B030D-6E8A-4147-A177-3AD203B41FA5}">
                      <a16:colId xmlns:a16="http://schemas.microsoft.com/office/drawing/2014/main" val="20001"/>
                    </a:ext>
                  </a:extLst>
                </a:gridCol>
                <a:gridCol w="453060">
                  <a:extLst>
                    <a:ext uri="{9D8B030D-6E8A-4147-A177-3AD203B41FA5}">
                      <a16:colId xmlns:a16="http://schemas.microsoft.com/office/drawing/2014/main" val="20002"/>
                    </a:ext>
                  </a:extLst>
                </a:gridCol>
                <a:gridCol w="684025">
                  <a:extLst>
                    <a:ext uri="{9D8B030D-6E8A-4147-A177-3AD203B41FA5}">
                      <a16:colId xmlns:a16="http://schemas.microsoft.com/office/drawing/2014/main" val="20003"/>
                    </a:ext>
                  </a:extLst>
                </a:gridCol>
              </a:tblGrid>
              <a:tr h="40011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a:r>
                        <a:rPr lang="en-US" altLang="zh-CN" sz="1300" b="1" dirty="0" err="1"/>
                        <a:t>sno</a:t>
                      </a:r>
                      <a:endParaRPr lang="zh-CN" altLang="en-US" sz="13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a:r>
                        <a:rPr lang="en-US" altLang="zh-CN" sz="1300" b="1" dirty="0"/>
                        <a:t>name</a:t>
                      </a:r>
                      <a:endParaRPr lang="zh-CN" altLang="en-US" sz="13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a:r>
                        <a:rPr lang="en-US" altLang="zh-CN" sz="1300" b="1" dirty="0"/>
                        <a:t>sex</a:t>
                      </a:r>
                      <a:endParaRPr lang="zh-CN" altLang="en-US" sz="13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300" b="1" dirty="0"/>
                        <a:t>age</a:t>
                      </a:r>
                      <a:endParaRPr lang="zh-CN" altLang="en-US" sz="13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0110">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a:r>
                        <a:rPr lang="en-US" altLang="zh-CN" sz="1300" dirty="0"/>
                        <a:t>2021123456</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a:r>
                        <a:rPr lang="en-US" altLang="zh-CN" sz="1300" dirty="0" err="1"/>
                        <a:t>ZhangSan</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a:defRPr>
                      </a:lvl1pPr>
                      <a:lvl2pPr marL="342900" algn="l" defTabSz="685800" rtl="0" eaLnBrk="1" latinLnBrk="0" hangingPunct="1">
                        <a:defRPr sz="1350" kern="1200">
                          <a:solidFill>
                            <a:schemeClr val="dk1"/>
                          </a:solidFill>
                          <a:latin typeface="等线"/>
                        </a:defRPr>
                      </a:lvl2pPr>
                      <a:lvl3pPr marL="685800" algn="l" defTabSz="685800" rtl="0" eaLnBrk="1" latinLnBrk="0" hangingPunct="1">
                        <a:defRPr sz="1350" kern="1200">
                          <a:solidFill>
                            <a:schemeClr val="dk1"/>
                          </a:solidFill>
                          <a:latin typeface="等线"/>
                        </a:defRPr>
                      </a:lvl3pPr>
                      <a:lvl4pPr marL="1028700" algn="l" defTabSz="685800" rtl="0" eaLnBrk="1" latinLnBrk="0" hangingPunct="1">
                        <a:defRPr sz="1350" kern="1200">
                          <a:solidFill>
                            <a:schemeClr val="dk1"/>
                          </a:solidFill>
                          <a:latin typeface="等线"/>
                        </a:defRPr>
                      </a:lvl4pPr>
                      <a:lvl5pPr marL="1371600" algn="l" defTabSz="685800" rtl="0" eaLnBrk="1" latinLnBrk="0" hangingPunct="1">
                        <a:defRPr sz="1350" kern="1200">
                          <a:solidFill>
                            <a:schemeClr val="dk1"/>
                          </a:solidFill>
                          <a:latin typeface="等线"/>
                        </a:defRPr>
                      </a:lvl5pPr>
                      <a:lvl6pPr marL="1714500" algn="l" defTabSz="685800" rtl="0" eaLnBrk="1" latinLnBrk="0" hangingPunct="1">
                        <a:defRPr sz="1350" kern="1200">
                          <a:solidFill>
                            <a:schemeClr val="dk1"/>
                          </a:solidFill>
                          <a:latin typeface="等线"/>
                        </a:defRPr>
                      </a:lvl6pPr>
                      <a:lvl7pPr marL="2057400" algn="l" defTabSz="685800" rtl="0" eaLnBrk="1" latinLnBrk="0" hangingPunct="1">
                        <a:defRPr sz="1350" kern="1200">
                          <a:solidFill>
                            <a:schemeClr val="dk1"/>
                          </a:solidFill>
                          <a:latin typeface="等线"/>
                        </a:defRPr>
                      </a:lvl7pPr>
                      <a:lvl8pPr marL="2400300" algn="l" defTabSz="685800" rtl="0" eaLnBrk="1" latinLnBrk="0" hangingPunct="1">
                        <a:defRPr sz="1350" kern="1200">
                          <a:solidFill>
                            <a:schemeClr val="dk1"/>
                          </a:solidFill>
                          <a:latin typeface="等线"/>
                        </a:defRPr>
                      </a:lvl8pPr>
                      <a:lvl9pPr marL="2743200" algn="l" defTabSz="685800" rtl="0" eaLnBrk="1" latinLnBrk="0" hangingPunct="1">
                        <a:defRPr sz="1350" kern="1200">
                          <a:solidFill>
                            <a:schemeClr val="dk1"/>
                          </a:solidFill>
                          <a:latin typeface="等线"/>
                        </a:defRPr>
                      </a:lvl9pPr>
                    </a:lstStyle>
                    <a:p>
                      <a:pPr algn="ctr"/>
                      <a:r>
                        <a:rPr lang="en-US" altLang="zh-CN" sz="1300" dirty="0"/>
                        <a:t>F</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300" dirty="0"/>
                        <a:t>18</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10001"/>
                  </a:ext>
                </a:extLst>
              </a:tr>
              <a:tr h="400110">
                <a:tc>
                  <a:txBody>
                    <a:bodyPr/>
                    <a:lstStyle/>
                    <a:p>
                      <a:pPr algn="ctr"/>
                      <a:r>
                        <a:rPr lang="en-US" altLang="zh-CN" sz="1300" dirty="0"/>
                        <a:t>2021654321</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300" dirty="0" err="1"/>
                        <a:t>LiSi</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300" dirty="0"/>
                        <a:t>M</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300" dirty="0"/>
                        <a:t>19</a:t>
                      </a:r>
                      <a:endParaRPr lang="zh-CN" alt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extLst>
                  <a:ext uri="{0D108BD9-81ED-4DB2-BD59-A6C34878D82A}">
                    <a16:rowId xmlns:a16="http://schemas.microsoft.com/office/drawing/2014/main" val="10002"/>
                  </a:ext>
                </a:extLst>
              </a:tr>
            </a:tbl>
          </a:graphicData>
        </a:graphic>
      </p:graphicFrame>
      <p:sp>
        <p:nvSpPr>
          <p:cNvPr id="6" name="线形标注 1 5"/>
          <p:cNvSpPr/>
          <p:nvPr/>
        </p:nvSpPr>
        <p:spPr>
          <a:xfrm>
            <a:off x="2840365" y="3356992"/>
            <a:ext cx="2128708" cy="360040"/>
          </a:xfrm>
          <a:prstGeom prst="borderCallout1">
            <a:avLst>
              <a:gd name="adj1" fmla="val 51521"/>
              <a:gd name="adj2" fmla="val -365"/>
              <a:gd name="adj3" fmla="val 206715"/>
              <a:gd name="adj4" fmla="val -4997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FF0000"/>
                </a:solidFill>
              </a:rPr>
              <a:t>(7877E580)</a:t>
            </a:r>
            <a:r>
              <a:rPr lang="en-US" altLang="zh-CN" sz="1200" baseline="-25000" dirty="0">
                <a:solidFill>
                  <a:srgbClr val="FF0000"/>
                </a:solidFill>
              </a:rPr>
              <a:t>H</a:t>
            </a:r>
            <a:r>
              <a:rPr lang="en-US" altLang="zh-CN" sz="1200" dirty="0">
                <a:solidFill>
                  <a:srgbClr val="FF0000"/>
                </a:solidFill>
              </a:rPr>
              <a:t> = (2021123456)D</a:t>
            </a:r>
            <a:endParaRPr lang="zh-CN" altLang="en-US" sz="1200" dirty="0">
              <a:solidFill>
                <a:srgbClr val="FF0000"/>
              </a:solidFill>
            </a:endParaRPr>
          </a:p>
        </p:txBody>
      </p:sp>
      <p:sp>
        <p:nvSpPr>
          <p:cNvPr id="7" name="矩形 6"/>
          <p:cNvSpPr/>
          <p:nvPr/>
        </p:nvSpPr>
        <p:spPr>
          <a:xfrm>
            <a:off x="1296665" y="4122000"/>
            <a:ext cx="1080120" cy="198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376785" y="4122000"/>
            <a:ext cx="2128540"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444208" y="4122000"/>
            <a:ext cx="1440160"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432569" y="3563724"/>
            <a:ext cx="1058880" cy="323165"/>
          </a:xfrm>
          <a:prstGeom prst="rect">
            <a:avLst/>
          </a:prstGeom>
          <a:noFill/>
        </p:spPr>
        <p:txBody>
          <a:bodyPr wrap="none" rtlCol="0">
            <a:spAutoFit/>
          </a:bodyPr>
          <a:lstStyle/>
          <a:p>
            <a:r>
              <a:rPr lang="en-US" altLang="zh-CN" sz="1500" dirty="0" err="1"/>
              <a:t>student.bin</a:t>
            </a:r>
            <a:endParaRPr lang="zh-CN" altLang="en-US" sz="1500" dirty="0"/>
          </a:p>
        </p:txBody>
      </p:sp>
      <p:sp>
        <p:nvSpPr>
          <p:cNvPr id="14" name="TextBox 13"/>
          <p:cNvSpPr txBox="1"/>
          <p:nvPr/>
        </p:nvSpPr>
        <p:spPr>
          <a:xfrm>
            <a:off x="416776" y="5085184"/>
            <a:ext cx="1020792" cy="323165"/>
          </a:xfrm>
          <a:prstGeom prst="rect">
            <a:avLst/>
          </a:prstGeom>
          <a:noFill/>
        </p:spPr>
        <p:txBody>
          <a:bodyPr wrap="none" rtlCol="0">
            <a:spAutoFit/>
          </a:bodyPr>
          <a:lstStyle/>
          <a:p>
            <a:r>
              <a:rPr lang="en-US" altLang="zh-CN" sz="1500" dirty="0"/>
              <a:t>student.txt</a:t>
            </a:r>
            <a:endParaRPr lang="zh-CN" altLang="en-US" sz="1500" dirty="0"/>
          </a:p>
        </p:txBody>
      </p:sp>
      <p:sp>
        <p:nvSpPr>
          <p:cNvPr id="17" name="矩形 16"/>
          <p:cNvSpPr/>
          <p:nvPr/>
        </p:nvSpPr>
        <p:spPr>
          <a:xfrm>
            <a:off x="1331640" y="5661248"/>
            <a:ext cx="2632596" cy="198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315668" y="5661248"/>
            <a:ext cx="1264444"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331640" y="5949280"/>
            <a:ext cx="760388"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724128" y="5661248"/>
            <a:ext cx="1840508" cy="198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700044" y="5661248"/>
            <a:ext cx="904404"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5724128" y="5949280"/>
            <a:ext cx="544364"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663444" y="2374721"/>
            <a:ext cx="2596993" cy="461665"/>
          </a:xfrm>
          <a:prstGeom prst="rect">
            <a:avLst/>
          </a:prstGeom>
          <a:noFill/>
        </p:spPr>
        <p:txBody>
          <a:bodyPr wrap="none" rtlCol="0">
            <a:spAutoFit/>
          </a:bodyPr>
          <a:lstStyle/>
          <a:p>
            <a:r>
              <a:rPr lang="zh-CN" altLang="en-US" sz="1200" dirty="0">
                <a:solidFill>
                  <a:srgbClr val="FF0000"/>
                </a:solidFill>
              </a:rPr>
              <a:t>注：可在</a:t>
            </a:r>
            <a:r>
              <a:rPr lang="en-US" altLang="zh-CN" sz="1200" dirty="0" err="1">
                <a:solidFill>
                  <a:srgbClr val="FF0000"/>
                </a:solidFill>
              </a:rPr>
              <a:t>vscode</a:t>
            </a:r>
            <a:r>
              <a:rPr lang="zh-CN" altLang="en-US" sz="1200" dirty="0">
                <a:solidFill>
                  <a:srgbClr val="FF0000"/>
                </a:solidFill>
              </a:rPr>
              <a:t>中安装</a:t>
            </a:r>
            <a:r>
              <a:rPr lang="en-US" altLang="zh-CN" sz="1200" dirty="0" err="1">
                <a:solidFill>
                  <a:srgbClr val="FF0000"/>
                </a:solidFill>
              </a:rPr>
              <a:t>HexEditor</a:t>
            </a:r>
            <a:r>
              <a:rPr lang="zh-CN" altLang="en-US" sz="1200" dirty="0">
                <a:solidFill>
                  <a:srgbClr val="FF0000"/>
                </a:solidFill>
              </a:rPr>
              <a:t>插件</a:t>
            </a:r>
            <a:endParaRPr lang="en-US" altLang="zh-CN" sz="1200" dirty="0">
              <a:solidFill>
                <a:srgbClr val="FF0000"/>
              </a:solidFill>
            </a:endParaRPr>
          </a:p>
          <a:p>
            <a:r>
              <a:rPr lang="zh-CN" altLang="en-US" sz="1200" dirty="0">
                <a:solidFill>
                  <a:srgbClr val="FF0000"/>
                </a:solidFill>
              </a:rPr>
              <a:t>查看二进制文件。</a:t>
            </a:r>
          </a:p>
        </p:txBody>
      </p:sp>
    </p:spTree>
    <p:extLst>
      <p:ext uri="{BB962C8B-B14F-4D97-AF65-F5344CB8AC3E}">
        <p14:creationId xmlns:p14="http://schemas.microsoft.com/office/powerpoint/2010/main" val="3362993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sz="2000" dirty="0"/>
              <a:t>例</a:t>
            </a:r>
            <a:r>
              <a:rPr lang="en-US" altLang="zh-CN" sz="2000" dirty="0"/>
              <a:t>14-2</a:t>
            </a:r>
            <a:r>
              <a:rPr lang="zh-CN" altLang="en-US" sz="2000" dirty="0"/>
              <a:t>：读入数据文件并将读入结果输出到屏幕</a:t>
            </a:r>
          </a:p>
        </p:txBody>
      </p:sp>
      <p:sp>
        <p:nvSpPr>
          <p:cNvPr id="3" name="标题 2"/>
          <p:cNvSpPr>
            <a:spLocks noGrp="1"/>
          </p:cNvSpPr>
          <p:nvPr>
            <p:ph type="title"/>
          </p:nvPr>
        </p:nvSpPr>
        <p:spPr/>
        <p:txBody>
          <a:bodyPr/>
          <a:lstStyle/>
          <a:p>
            <a:r>
              <a:rPr lang="zh-CN" altLang="en-US" dirty="0"/>
              <a:t>顺序读数据文件</a:t>
            </a:r>
          </a:p>
        </p:txBody>
      </p:sp>
      <p:sp>
        <p:nvSpPr>
          <p:cNvPr id="6" name="矩形 5">
            <a:extLst>
              <a:ext uri="{FF2B5EF4-FFF2-40B4-BE49-F238E27FC236}">
                <a16:creationId xmlns:a16="http://schemas.microsoft.com/office/drawing/2014/main" id="{5FF24AD8-8FB9-46FC-BBC7-07E10D32FAD4}"/>
              </a:ext>
            </a:extLst>
          </p:cNvPr>
          <p:cNvSpPr/>
          <p:nvPr/>
        </p:nvSpPr>
        <p:spPr>
          <a:xfrm>
            <a:off x="639192" y="1817028"/>
            <a:ext cx="6267635" cy="4893647"/>
          </a:xfrm>
          <a:prstGeom prst="rect">
            <a:avLst/>
          </a:prstGeom>
        </p:spPr>
        <p:txBody>
          <a:bodyPr wrap="square">
            <a:spAutoFit/>
          </a:bodyPr>
          <a:lstStyle/>
          <a:p>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p>
          <a:p>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FILE *</a:t>
            </a:r>
            <a:r>
              <a:rPr lang="en-US" sz="1400" dirty="0" err="1">
                <a:solidFill>
                  <a:srgbClr val="000000"/>
                </a:solidFill>
                <a:latin typeface="Consolas" panose="020B0609020204030204" pitchFamily="49" charset="0"/>
              </a:rPr>
              <a:t>fpt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Student stud[</a:t>
            </a:r>
            <a:r>
              <a:rPr lang="en-US" sz="1400" dirty="0">
                <a:solidFill>
                  <a:srgbClr val="098658"/>
                </a:solidFill>
                <a:latin typeface="Consolas" panose="020B0609020204030204" pitchFamily="49" charset="0"/>
              </a:rPr>
              <a:t>2</a:t>
            </a:r>
            <a:r>
              <a:rPr lang="en-US" sz="1400" dirty="0">
                <a:solidFill>
                  <a:srgbClr val="000000"/>
                </a:solidFill>
                <a:latin typeface="Consolas" panose="020B0609020204030204" pitchFamily="49" charset="0"/>
              </a:rPr>
              <a:t>];</a:t>
            </a:r>
          </a:p>
          <a:p>
            <a:br>
              <a:rPr lang="en-US" sz="1400" dirty="0">
                <a:solidFill>
                  <a:srgbClr val="000000"/>
                </a:solidFill>
                <a:latin typeface="Consolas" panose="020B0609020204030204" pitchFamily="49" charset="0"/>
              </a:rPr>
            </a:b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fopen</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student.bin</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rb</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NULL</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以读写方式打开二进制文件</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"cannot open file\n"</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exit(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fread</a:t>
            </a:r>
            <a:r>
              <a:rPr lang="en-US" sz="1400" dirty="0">
                <a:solidFill>
                  <a:srgbClr val="000000"/>
                </a:solidFill>
                <a:latin typeface="Consolas" panose="020B0609020204030204" pitchFamily="49" charset="0"/>
              </a:rPr>
              <a:t>(stud, </a:t>
            </a:r>
            <a:r>
              <a:rPr lang="en-US" sz="1400" dirty="0" err="1">
                <a:solidFill>
                  <a:srgbClr val="0000FF"/>
                </a:solidFill>
                <a:latin typeface="Consolas" panose="020B0609020204030204" pitchFamily="49" charset="0"/>
              </a:rPr>
              <a:t>sizeof</a:t>
            </a:r>
            <a:r>
              <a:rPr lang="en-US" sz="1400" dirty="0">
                <a:solidFill>
                  <a:srgbClr val="000000"/>
                </a:solidFill>
                <a:latin typeface="Consolas" panose="020B0609020204030204" pitchFamily="49" charset="0"/>
              </a:rPr>
              <a:t>(Student), </a:t>
            </a:r>
            <a:r>
              <a:rPr lang="en-US" sz="1400" dirty="0">
                <a:solidFill>
                  <a:srgbClr val="098658"/>
                </a:solidFill>
                <a:latin typeface="Consolas" panose="020B0609020204030204" pitchFamily="49" charset="0"/>
              </a:rPr>
              <a:t>2</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a:t>
            </a: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for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&lt; </a:t>
            </a:r>
            <a:r>
              <a:rPr lang="en-US" sz="1400" dirty="0">
                <a:solidFill>
                  <a:srgbClr val="098658"/>
                </a:solidFill>
                <a:latin typeface="Consolas" panose="020B0609020204030204" pitchFamily="49" charset="0"/>
              </a:rPr>
              <a:t>2</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fprintf</a:t>
            </a:r>
            <a:r>
              <a:rPr lang="en-US" sz="1400" dirty="0">
                <a:solidFill>
                  <a:srgbClr val="000000"/>
                </a:solidFill>
                <a:latin typeface="Consolas" panose="020B0609020204030204" pitchFamily="49" charset="0"/>
              </a:rPr>
              <a:t>(</a:t>
            </a:r>
            <a:r>
              <a:rPr lang="en-US" sz="1400" dirty="0" err="1">
                <a:solidFill>
                  <a:srgbClr val="FF0000"/>
                </a:solidFill>
                <a:latin typeface="Consolas" panose="020B0609020204030204" pitchFamily="49" charset="0"/>
              </a:rPr>
              <a:t>stdout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"%d %s %c %d\n"</a:t>
            </a:r>
            <a:r>
              <a:rPr lang="en-US" sz="1400" dirty="0">
                <a:solidFill>
                  <a:srgbClr val="000000"/>
                </a:solidFill>
                <a:latin typeface="Consolas" panose="020B0609020204030204" pitchFamily="49" charset="0"/>
              </a:rPr>
              <a:t>,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sno</a:t>
            </a:r>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].name,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].sex,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].age);</a:t>
            </a: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fclose</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关闭写文件</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7" name="矩形 6">
            <a:extLst>
              <a:ext uri="{FF2B5EF4-FFF2-40B4-BE49-F238E27FC236}">
                <a16:creationId xmlns:a16="http://schemas.microsoft.com/office/drawing/2014/main" id="{8CD0684A-7662-4CBB-B9FF-B8721D0FE302}"/>
              </a:ext>
            </a:extLst>
          </p:cNvPr>
          <p:cNvSpPr/>
          <p:nvPr/>
        </p:nvSpPr>
        <p:spPr>
          <a:xfrm>
            <a:off x="6387482" y="849325"/>
            <a:ext cx="2531710" cy="1785104"/>
          </a:xfrm>
          <a:prstGeom prst="rect">
            <a:avLst/>
          </a:prstGeom>
          <a:solidFill>
            <a:schemeClr val="bg1">
              <a:lumMod val="75000"/>
            </a:schemeClr>
          </a:solidFill>
        </p:spPr>
        <p:txBody>
          <a:bodyPr wrap="square">
            <a:spAutoFit/>
          </a:bodyPr>
          <a:lstStyle/>
          <a:p>
            <a:r>
              <a:rPr lang="en-US" sz="1100" dirty="0">
                <a:solidFill>
                  <a:srgbClr val="0000FF"/>
                </a:solidFill>
                <a:latin typeface="Consolas" panose="020B0609020204030204" pitchFamily="49" charset="0"/>
              </a:rPr>
              <a:t>#include </a:t>
            </a:r>
            <a:r>
              <a:rPr lang="en-US" sz="1100" dirty="0">
                <a:solidFill>
                  <a:srgbClr val="A31515"/>
                </a:solidFill>
                <a:latin typeface="Consolas" panose="020B0609020204030204" pitchFamily="49" charset="0"/>
              </a:rPr>
              <a:t>&lt;</a:t>
            </a:r>
            <a:r>
              <a:rPr lang="en-US" sz="1100" dirty="0" err="1">
                <a:solidFill>
                  <a:srgbClr val="A31515"/>
                </a:solidFill>
                <a:latin typeface="Consolas" panose="020B0609020204030204" pitchFamily="49" charset="0"/>
              </a:rPr>
              <a:t>stdio.h</a:t>
            </a:r>
            <a:r>
              <a:rPr lang="en-US" sz="1100" dirty="0">
                <a:solidFill>
                  <a:srgbClr val="A31515"/>
                </a:solidFill>
                <a:latin typeface="Consolas" panose="020B0609020204030204" pitchFamily="49" charset="0"/>
              </a:rPr>
              <a:t>&gt;</a:t>
            </a:r>
            <a:endParaRPr lang="en-US" sz="1100" dirty="0">
              <a:solidFill>
                <a:srgbClr val="000000"/>
              </a:solidFill>
              <a:latin typeface="Consolas" panose="020B0609020204030204" pitchFamily="49" charset="0"/>
            </a:endParaRPr>
          </a:p>
          <a:p>
            <a:r>
              <a:rPr lang="en-US" sz="1100" dirty="0">
                <a:solidFill>
                  <a:srgbClr val="0000FF"/>
                </a:solidFill>
                <a:latin typeface="Consolas" panose="020B0609020204030204" pitchFamily="49" charset="0"/>
              </a:rPr>
              <a:t>#include </a:t>
            </a:r>
            <a:r>
              <a:rPr lang="en-US" sz="1100" dirty="0">
                <a:solidFill>
                  <a:srgbClr val="A31515"/>
                </a:solidFill>
                <a:latin typeface="Consolas" panose="020B0609020204030204" pitchFamily="49" charset="0"/>
              </a:rPr>
              <a:t>&lt;</a:t>
            </a:r>
            <a:r>
              <a:rPr lang="en-US" sz="1100" dirty="0" err="1">
                <a:solidFill>
                  <a:srgbClr val="A31515"/>
                </a:solidFill>
                <a:latin typeface="Consolas" panose="020B0609020204030204" pitchFamily="49" charset="0"/>
              </a:rPr>
              <a:t>stdlib.h</a:t>
            </a:r>
            <a:r>
              <a:rPr lang="en-US" sz="1100" dirty="0">
                <a:solidFill>
                  <a:srgbClr val="A31515"/>
                </a:solidFill>
                <a:latin typeface="Consolas" panose="020B0609020204030204" pitchFamily="49" charset="0"/>
              </a:rPr>
              <a:t>&gt;</a:t>
            </a:r>
            <a:endParaRPr lang="en-US" sz="1100" dirty="0">
              <a:solidFill>
                <a:srgbClr val="000000"/>
              </a:solidFill>
              <a:latin typeface="Consolas" panose="020B0609020204030204" pitchFamily="49" charset="0"/>
            </a:endParaRPr>
          </a:p>
          <a:p>
            <a:br>
              <a:rPr lang="en-US" sz="1100" dirty="0">
                <a:solidFill>
                  <a:srgbClr val="000000"/>
                </a:solidFill>
                <a:latin typeface="Consolas" panose="020B0609020204030204" pitchFamily="49" charset="0"/>
              </a:rPr>
            </a:br>
            <a:r>
              <a:rPr lang="en-US" sz="1100" dirty="0">
                <a:solidFill>
                  <a:srgbClr val="0000FF"/>
                </a:solidFill>
                <a:latin typeface="Consolas" panose="020B0609020204030204" pitchFamily="49" charset="0"/>
              </a:rPr>
              <a:t>typedef</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struct</a:t>
            </a:r>
            <a:endParaRPr lang="en-US"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sno</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char</a:t>
            </a:r>
            <a:r>
              <a:rPr lang="en-US" sz="1100" dirty="0">
                <a:solidFill>
                  <a:srgbClr val="000000"/>
                </a:solidFill>
                <a:latin typeface="Consolas" panose="020B0609020204030204" pitchFamily="49" charset="0"/>
              </a:rPr>
              <a:t> name[</a:t>
            </a:r>
            <a:r>
              <a:rPr lang="en-US" sz="1100" dirty="0">
                <a:solidFill>
                  <a:srgbClr val="098658"/>
                </a:solidFill>
                <a:latin typeface="Consolas" panose="020B0609020204030204" pitchFamily="49" charset="0"/>
              </a:rPr>
              <a:t>10</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char</a:t>
            </a:r>
            <a:r>
              <a:rPr lang="en-US" sz="1100" dirty="0">
                <a:solidFill>
                  <a:srgbClr val="000000"/>
                </a:solidFill>
                <a:latin typeface="Consolas" panose="020B0609020204030204" pitchFamily="49" charset="0"/>
              </a:rPr>
              <a:t> sex;</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age;</a:t>
            </a:r>
          </a:p>
          <a:p>
            <a:r>
              <a:rPr lang="en-US" sz="1100" dirty="0">
                <a:solidFill>
                  <a:srgbClr val="000000"/>
                </a:solidFill>
                <a:latin typeface="Consolas" panose="020B0609020204030204" pitchFamily="49" charset="0"/>
              </a:rPr>
              <a:t>} Student;</a:t>
            </a:r>
            <a:r>
              <a:rPr lang="en-US" sz="1100" dirty="0">
                <a:solidFill>
                  <a:srgbClr val="008000"/>
                </a:solidFill>
                <a:latin typeface="Consolas" panose="020B0609020204030204" pitchFamily="49" charset="0"/>
              </a:rPr>
              <a:t> // </a:t>
            </a:r>
            <a:r>
              <a:rPr lang="zh-CN" altLang="en-US" sz="1100" dirty="0">
                <a:solidFill>
                  <a:srgbClr val="008000"/>
                </a:solidFill>
                <a:latin typeface="Consolas" panose="020B0609020204030204" pitchFamily="49" charset="0"/>
              </a:rPr>
              <a:t>学生数据类型</a:t>
            </a:r>
            <a:endParaRPr lang="zh-CN" alt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708022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6" name="Rectangle 2"/>
          <p:cNvSpPr>
            <a:spLocks noGrp="1" noChangeArrowheads="1"/>
          </p:cNvSpPr>
          <p:nvPr>
            <p:ph type="title"/>
          </p:nvPr>
        </p:nvSpPr>
        <p:spPr/>
        <p:txBody>
          <a:bodyPr/>
          <a:lstStyle/>
          <a:p>
            <a:r>
              <a:rPr lang="zh-CN" altLang="en-US" dirty="0">
                <a:latin typeface="华文新魏" pitchFamily="2" charset="-122"/>
              </a:rPr>
              <a:t>例：文本文件的读写</a:t>
            </a:r>
          </a:p>
        </p:txBody>
      </p:sp>
      <p:sp>
        <p:nvSpPr>
          <p:cNvPr id="1362947" name="Rectangle 3"/>
          <p:cNvSpPr>
            <a:spLocks noGrp="1" noChangeArrowheads="1"/>
          </p:cNvSpPr>
          <p:nvPr>
            <p:ph idx="1"/>
          </p:nvPr>
        </p:nvSpPr>
        <p:spPr>
          <a:xfrm>
            <a:off x="432000" y="1115692"/>
            <a:ext cx="8280000" cy="781864"/>
          </a:xfrm>
        </p:spPr>
        <p:txBody>
          <a:bodyPr/>
          <a:lstStyle/>
          <a:p>
            <a:r>
              <a:rPr lang="zh-CN" altLang="en-US" sz="2000" dirty="0"/>
              <a:t>例</a:t>
            </a:r>
            <a:r>
              <a:rPr lang="en-US" altLang="zh-CN" sz="2000" dirty="0">
                <a:latin typeface="华文新魏" pitchFamily="2" charset="-122"/>
              </a:rPr>
              <a:t>14-3</a:t>
            </a:r>
            <a:r>
              <a:rPr lang="zh-CN" altLang="en-US" sz="2000" dirty="0">
                <a:latin typeface="华文新魏" pitchFamily="2" charset="-122"/>
              </a:rPr>
              <a:t> 文本文件的复制</a:t>
            </a:r>
            <a:endParaRPr lang="zh-CN" altLang="en-US" sz="2000" dirty="0"/>
          </a:p>
          <a:p>
            <a:pPr marL="302418" lvl="1" indent="0">
              <a:buNone/>
            </a:pPr>
            <a:r>
              <a:rPr lang="zh-CN" altLang="en-US" sz="1800" dirty="0"/>
              <a:t>打开“</a:t>
            </a:r>
            <a:r>
              <a:rPr lang="en-US" altLang="zh-CN" sz="1800" dirty="0"/>
              <a:t>student.txt”</a:t>
            </a:r>
            <a:r>
              <a:rPr lang="zh-CN" altLang="en-US" sz="1800" dirty="0"/>
              <a:t>文件，然后将其复制到“</a:t>
            </a:r>
            <a:r>
              <a:rPr lang="en-US" altLang="zh-CN" sz="1800" dirty="0"/>
              <a:t>stud_copy.txt”</a:t>
            </a:r>
            <a:endParaRPr lang="zh-CN" altLang="en-US" sz="1800" dirty="0"/>
          </a:p>
        </p:txBody>
      </p:sp>
      <p:sp>
        <p:nvSpPr>
          <p:cNvPr id="2" name="矩形 1">
            <a:extLst>
              <a:ext uri="{FF2B5EF4-FFF2-40B4-BE49-F238E27FC236}">
                <a16:creationId xmlns:a16="http://schemas.microsoft.com/office/drawing/2014/main" id="{5A99366B-976A-46A2-B1AE-236736F9C44A}"/>
              </a:ext>
            </a:extLst>
          </p:cNvPr>
          <p:cNvSpPr/>
          <p:nvPr/>
        </p:nvSpPr>
        <p:spPr>
          <a:xfrm>
            <a:off x="790111" y="1799384"/>
            <a:ext cx="7124330" cy="5078313"/>
          </a:xfrm>
          <a:prstGeom prst="rect">
            <a:avLst/>
          </a:prstGeom>
        </p:spPr>
        <p:txBody>
          <a:bodyPr wrap="square">
            <a:spAutoFit/>
          </a:bodyPr>
          <a:lstStyle/>
          <a:p>
            <a:r>
              <a:rPr lang="en-US" sz="1200" dirty="0">
                <a:solidFill>
                  <a:srgbClr val="0000FF"/>
                </a:solidFill>
                <a:latin typeface="Consolas" panose="020B0609020204030204" pitchFamily="49" charset="0"/>
              </a:rPr>
              <a:t>#include </a:t>
            </a:r>
            <a:r>
              <a:rPr lang="en-US" sz="1200" dirty="0">
                <a:solidFill>
                  <a:srgbClr val="A31515"/>
                </a:solidFill>
                <a:latin typeface="Consolas" panose="020B0609020204030204" pitchFamily="49" charset="0"/>
              </a:rPr>
              <a:t>&lt;</a:t>
            </a:r>
            <a:r>
              <a:rPr lang="en-US" sz="1200" dirty="0" err="1">
                <a:solidFill>
                  <a:srgbClr val="A31515"/>
                </a:solidFill>
                <a:latin typeface="Consolas" panose="020B0609020204030204" pitchFamily="49" charset="0"/>
              </a:rPr>
              <a:t>stdio.h</a:t>
            </a:r>
            <a:r>
              <a:rPr lang="en-US" sz="1200" dirty="0">
                <a:solidFill>
                  <a:srgbClr val="A31515"/>
                </a:solidFill>
                <a:latin typeface="Consolas" panose="020B0609020204030204" pitchFamily="49" charset="0"/>
              </a:rPr>
              <a:t>&gt;</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#include </a:t>
            </a:r>
            <a:r>
              <a:rPr lang="en-US" sz="1200" dirty="0">
                <a:solidFill>
                  <a:srgbClr val="A31515"/>
                </a:solidFill>
                <a:latin typeface="Consolas" panose="020B0609020204030204" pitchFamily="49" charset="0"/>
              </a:rPr>
              <a:t>&lt;</a:t>
            </a:r>
            <a:r>
              <a:rPr lang="en-US" sz="1200" dirty="0" err="1">
                <a:solidFill>
                  <a:srgbClr val="A31515"/>
                </a:solidFill>
                <a:latin typeface="Consolas" panose="020B0609020204030204" pitchFamily="49" charset="0"/>
              </a:rPr>
              <a:t>stdlib.h</a:t>
            </a:r>
            <a:r>
              <a:rPr lang="en-US" sz="1200" dirty="0">
                <a:solidFill>
                  <a:srgbClr val="A31515"/>
                </a:solidFill>
                <a:latin typeface="Consolas" panose="020B0609020204030204" pitchFamily="49" charset="0"/>
              </a:rPr>
              <a:t>&gt;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main()</a:t>
            </a:r>
          </a:p>
          <a:p>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FILE *</a:t>
            </a:r>
            <a:r>
              <a:rPr lang="en-US" sz="1200" dirty="0" err="1">
                <a:solidFill>
                  <a:srgbClr val="000000"/>
                </a:solidFill>
                <a:latin typeface="Consolas" panose="020B0609020204030204" pitchFamily="49" charset="0"/>
              </a:rPr>
              <a:t>infp</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outfp</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int </a:t>
            </a:r>
            <a:r>
              <a:rPr lang="en-US" sz="1200" dirty="0" err="1">
                <a:solidFill>
                  <a:srgbClr val="000000"/>
                </a:solidFill>
                <a:latin typeface="Consolas" panose="020B0609020204030204" pitchFamily="49" charset="0"/>
              </a:rPr>
              <a:t>ch</a:t>
            </a:r>
            <a:r>
              <a:rPr lang="en-US" sz="1200" dirty="0">
                <a:solidFill>
                  <a:srgbClr val="000000"/>
                </a:solidFill>
                <a:latin typeface="Consolas" panose="020B0609020204030204" pitchFamily="49" charset="0"/>
              </a:rPr>
              <a:t>;</a:t>
            </a:r>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infp</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fopen</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"student.txt"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"r"</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NULL</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printf</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"Cannot open input file.\n"</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exit(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outfp</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fopen</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"stud_copy.txt"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"w"</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NULL</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printf</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"Cannot open output file.\n"</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exit(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err="1">
                <a:solidFill>
                  <a:srgbClr val="FF0000"/>
                </a:solidFill>
                <a:latin typeface="Consolas" panose="020B0609020204030204" pitchFamily="49" charset="0"/>
              </a:rPr>
              <a:t>feof</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infp</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ch</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fgetc</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infp</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EOF</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fputc</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ch</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outfp</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fclose</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infp</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fclose</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outfp</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387551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对文件进行顺序读写比较容易理解和操作，但有时效率不高</a:t>
            </a:r>
            <a:endParaRPr lang="en-US" altLang="zh-CN" dirty="0"/>
          </a:p>
          <a:p>
            <a:r>
              <a:rPr lang="zh-CN" altLang="en-US" dirty="0"/>
              <a:t>随机访问不是按数据在文件中的物理位置次序进行读写，而是可以对任何位置上的数据进行访问，比顺序访问效率高</a:t>
            </a:r>
            <a:endParaRPr lang="en-US" altLang="zh-CN" dirty="0"/>
          </a:p>
          <a:p>
            <a:r>
              <a:rPr lang="zh-CN" altLang="en-US" dirty="0"/>
              <a:t>随机读写时，需要先将</a:t>
            </a:r>
            <a:r>
              <a:rPr lang="zh-CN" altLang="en-US" dirty="0">
                <a:solidFill>
                  <a:srgbClr val="0070C0"/>
                </a:solidFill>
              </a:rPr>
              <a:t>文件位置标记</a:t>
            </a:r>
            <a:r>
              <a:rPr lang="zh-CN" altLang="en-US" dirty="0"/>
              <a:t>定位在目标访问位置上，然后再进行读写。</a:t>
            </a:r>
          </a:p>
        </p:txBody>
      </p:sp>
      <p:sp>
        <p:nvSpPr>
          <p:cNvPr id="3" name="标题 2"/>
          <p:cNvSpPr>
            <a:spLocks noGrp="1"/>
          </p:cNvSpPr>
          <p:nvPr>
            <p:ph type="title"/>
          </p:nvPr>
        </p:nvSpPr>
        <p:spPr/>
        <p:txBody>
          <a:bodyPr/>
          <a:lstStyle/>
          <a:p>
            <a:r>
              <a:rPr lang="zh-CN" altLang="en-US" dirty="0"/>
              <a:t>随机读写数据文件</a:t>
            </a:r>
          </a:p>
        </p:txBody>
      </p:sp>
    </p:spTree>
    <p:extLst>
      <p:ext uri="{BB962C8B-B14F-4D97-AF65-F5344CB8AC3E}">
        <p14:creationId xmlns:p14="http://schemas.microsoft.com/office/powerpoint/2010/main" val="924632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文件位置标记</a:t>
            </a:r>
          </a:p>
        </p:txBody>
      </p:sp>
      <p:sp>
        <p:nvSpPr>
          <p:cNvPr id="7" name="MH_Desc_1"/>
          <p:cNvSpPr/>
          <p:nvPr>
            <p:custDataLst>
              <p:tags r:id="rId1"/>
            </p:custDataLst>
          </p:nvPr>
        </p:nvSpPr>
        <p:spPr>
          <a:xfrm>
            <a:off x="50103" y="1382470"/>
            <a:ext cx="8914385" cy="528689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为了对读写进行控制，系统为每个文件设置了一个</a:t>
            </a:r>
            <a:r>
              <a:rPr kumimoji="0" lang="zh-CN" altLang="en-US" sz="1800" b="1" i="0" u="none" strike="noStrike" kern="0" cap="none" spc="0" normalizeH="0" baseline="0" noProof="0" dirty="0">
                <a:ln>
                  <a:noFill/>
                </a:ln>
                <a:solidFill>
                  <a:srgbClr val="0070C0"/>
                </a:solidFill>
                <a:effectLst/>
                <a:uLnTx/>
                <a:uFillTx/>
                <a:latin typeface="等线"/>
                <a:ea typeface="等线"/>
                <a:cs typeface="+mn-cs"/>
              </a:rPr>
              <a:t>文件位置标记</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，用来指示“接下来要</a:t>
            </a:r>
            <a:br>
              <a:rPr kumimoji="0" lang="en-US" altLang="zh-CN" sz="1800" b="0" i="0" u="none" strike="noStrike" kern="0" cap="none" spc="0" normalizeH="0" baseline="0" noProof="0" dirty="0">
                <a:ln>
                  <a:noFill/>
                </a:ln>
                <a:solidFill>
                  <a:prstClr val="black"/>
                </a:solidFill>
                <a:effectLst/>
                <a:uLnTx/>
                <a:uFillTx/>
                <a:latin typeface="等线"/>
                <a:ea typeface="等线"/>
                <a:cs typeface="+mn-cs"/>
              </a:rPr>
            </a:b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读写的下一个字符的位置”。一般情况下，在对字符文件进行顺序读写时，文件位置标记指向文件开头。对文件进行读</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写操作，读</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写完</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1</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个字符后，文件位置标记顺序向后移一个位置，在下一次执行读</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写操作时，就将位置标记指向的字符进行读出或写入。依此类推，直到遇文件尾，此时文件位置标记在最后一个数据之后。</a:t>
            </a:r>
          </a:p>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2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20000"/>
              </a:lnSpc>
              <a:spcBef>
                <a:spcPts val="60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对流式文件既可以进行顺序读写，也可以进行随机读写。关键在于控制文件的位置标记。如果文件位置标记是按字节位置顺序移动的，就是顺序读写。如果能将文件位置标记按需要移动到任意位置，就可以实现随机读写。</a:t>
            </a: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20000"/>
              </a:lnSpc>
              <a:spcBef>
                <a:spcPts val="120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所谓随机读写，是指读写完上一个字符（字节）后，不一定要读写其后续字符（字节），而可以读写文件中任意位置上所需要的字符（字节）。即对文件读写数据的顺序和数据在文件中的物理顺序一般是不一致的。可以在任何位置写入数据，在任何位置读取数据。</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293" y="3212976"/>
            <a:ext cx="8285163"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8342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文件位置标记的定位</a:t>
            </a:r>
          </a:p>
        </p:txBody>
      </p:sp>
      <p:sp>
        <p:nvSpPr>
          <p:cNvPr id="4" name="MH_Desc_1"/>
          <p:cNvSpPr/>
          <p:nvPr>
            <p:custDataLst>
              <p:tags r:id="rId1"/>
            </p:custDataLst>
          </p:nvPr>
        </p:nvSpPr>
        <p:spPr>
          <a:xfrm>
            <a:off x="122111" y="1412776"/>
            <a:ext cx="8914385" cy="528689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(1) </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用</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rewind</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函数使文件位置标记指向文件开头</a:t>
            </a:r>
          </a:p>
          <a:p>
            <a:pPr marL="0" marR="0" lvl="0" indent="307975" algn="just"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rewind</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函数的作用是使文件位置标记重新返回文件的开头，此函数没有返回值。</a:t>
            </a: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(2) </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用</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fseek</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函数改变文件位置标记</a:t>
            </a:r>
          </a:p>
          <a:p>
            <a:pPr marL="0" marR="0" lvl="0" indent="0" algn="just" defTabSz="914400" eaLnBrk="1" fontAlgn="auto" latinLnBrk="0" hangingPunct="1">
              <a:lnSpc>
                <a:spcPct val="15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a:ea typeface="等线"/>
              <a:cs typeface="+mn-cs"/>
            </a:endParaRPr>
          </a:p>
          <a:p>
            <a:pPr marL="0" marR="0" lvl="0" indent="307975" algn="just"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fseek</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函数一般用于二进制文件。</a:t>
            </a:r>
          </a:p>
          <a:p>
            <a:pPr marL="0" marR="0" lvl="0" indent="0" algn="just" defTabSz="914400" eaLnBrk="1" fontAlgn="auto" latinLnBrk="0" hangingPunct="1">
              <a:lnSpc>
                <a:spcPct val="15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120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(3) </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用</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ftell</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函数测定文件位置标记的当前位置</a:t>
            </a:r>
          </a:p>
        </p:txBody>
      </p:sp>
      <p:sp>
        <p:nvSpPr>
          <p:cNvPr id="5" name="矩形 4"/>
          <p:cNvSpPr/>
          <p:nvPr/>
        </p:nvSpPr>
        <p:spPr>
          <a:xfrm>
            <a:off x="4861541" y="1507946"/>
            <a:ext cx="2014715"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等线"/>
                <a:ea typeface="等线"/>
                <a:cs typeface="+mn-cs"/>
              </a:rPr>
              <a:t>rewind(</a:t>
            </a:r>
            <a:r>
              <a:rPr kumimoji="0" lang="zh-CN" altLang="en-US" sz="1800" b="0" i="0" u="none" strike="noStrike" kern="0" cap="none" spc="0" normalizeH="0" baseline="0" noProof="0" dirty="0">
                <a:ln>
                  <a:noFill/>
                </a:ln>
                <a:solidFill>
                  <a:prstClr val="white"/>
                </a:solidFill>
                <a:effectLst/>
                <a:uLnTx/>
                <a:uFillTx/>
                <a:latin typeface="等线"/>
                <a:ea typeface="等线"/>
                <a:cs typeface="+mn-cs"/>
              </a:rPr>
              <a:t>文件指针</a:t>
            </a:r>
            <a:r>
              <a:rPr kumimoji="0" lang="en-US" altLang="zh-CN" sz="1800" b="0" i="0" u="none" strike="noStrike" kern="0" cap="none" spc="0" normalizeH="0" baseline="0" noProof="0" dirty="0">
                <a:ln>
                  <a:noFill/>
                </a:ln>
                <a:solidFill>
                  <a:prstClr val="white"/>
                </a:solidFill>
                <a:effectLst/>
                <a:uLnTx/>
                <a:uFillTx/>
                <a:latin typeface="等线"/>
                <a:ea typeface="等线"/>
                <a:cs typeface="+mn-cs"/>
              </a:rPr>
              <a:t>);</a:t>
            </a:r>
          </a:p>
        </p:txBody>
      </p:sp>
      <p:sp>
        <p:nvSpPr>
          <p:cNvPr id="6" name="矩形 5"/>
          <p:cNvSpPr/>
          <p:nvPr/>
        </p:nvSpPr>
        <p:spPr>
          <a:xfrm>
            <a:off x="420387" y="2732082"/>
            <a:ext cx="3863582"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white"/>
                </a:solidFill>
                <a:effectLst/>
                <a:uLnTx/>
                <a:uFillTx/>
                <a:latin typeface="等线"/>
                <a:ea typeface="等线"/>
                <a:cs typeface="+mn-cs"/>
              </a:rPr>
              <a:t>fseek</a:t>
            </a:r>
            <a:r>
              <a:rPr kumimoji="0" lang="en-US" altLang="zh-CN" sz="1800" b="0" i="0" u="none" strike="noStrike" kern="0" cap="none" spc="0" normalizeH="0" baseline="0" noProof="0" dirty="0">
                <a:ln>
                  <a:noFill/>
                </a:ln>
                <a:solidFill>
                  <a:prstClr val="white"/>
                </a:solidFill>
                <a:effectLst/>
                <a:uLnTx/>
                <a:uFillTx/>
                <a:latin typeface="等线"/>
                <a:ea typeface="等线"/>
                <a:cs typeface="+mn-cs"/>
              </a:rPr>
              <a:t>(</a:t>
            </a:r>
            <a:r>
              <a:rPr kumimoji="0" lang="zh-CN" altLang="en-US" sz="1800" b="0" i="0" u="none" strike="noStrike" kern="0" cap="none" spc="0" normalizeH="0" baseline="0" noProof="0" dirty="0">
                <a:ln>
                  <a:noFill/>
                </a:ln>
                <a:solidFill>
                  <a:prstClr val="white"/>
                </a:solidFill>
                <a:effectLst/>
                <a:uLnTx/>
                <a:uFillTx/>
                <a:latin typeface="等线"/>
                <a:ea typeface="等线"/>
                <a:cs typeface="+mn-cs"/>
              </a:rPr>
              <a:t>文件类型指针</a:t>
            </a:r>
            <a:r>
              <a:rPr kumimoji="0" lang="en-US" altLang="zh-CN" sz="1800" b="0" i="0" u="none" strike="noStrike" kern="0" cap="none" spc="0" normalizeH="0" baseline="0" noProof="0" dirty="0">
                <a:ln>
                  <a:noFill/>
                </a:ln>
                <a:solidFill>
                  <a:prstClr val="white"/>
                </a:solidFill>
                <a:effectLst/>
                <a:uLnTx/>
                <a:uFillTx/>
                <a:latin typeface="等线"/>
                <a:ea typeface="等线"/>
                <a:cs typeface="+mn-cs"/>
              </a:rPr>
              <a:t>, </a:t>
            </a:r>
            <a:r>
              <a:rPr kumimoji="0" lang="zh-CN" altLang="en-US" sz="1800" b="0" i="0" u="none" strike="noStrike" kern="0" cap="none" spc="0" normalizeH="0" baseline="0" noProof="0" dirty="0">
                <a:ln>
                  <a:noFill/>
                </a:ln>
                <a:solidFill>
                  <a:prstClr val="white"/>
                </a:solidFill>
                <a:effectLst/>
                <a:uLnTx/>
                <a:uFillTx/>
                <a:latin typeface="等线"/>
                <a:ea typeface="等线"/>
                <a:cs typeface="+mn-cs"/>
              </a:rPr>
              <a:t>位移量</a:t>
            </a:r>
            <a:r>
              <a:rPr kumimoji="0" lang="en-US" altLang="zh-CN" sz="1800" b="0" i="0" u="none" strike="noStrike" kern="0" cap="none" spc="0" normalizeH="0" baseline="0" noProof="0" dirty="0">
                <a:ln>
                  <a:noFill/>
                </a:ln>
                <a:solidFill>
                  <a:prstClr val="white"/>
                </a:solidFill>
                <a:effectLst/>
                <a:uLnTx/>
                <a:uFillTx/>
                <a:latin typeface="等线"/>
                <a:ea typeface="等线"/>
                <a:cs typeface="+mn-cs"/>
              </a:rPr>
              <a:t>, </a:t>
            </a:r>
            <a:r>
              <a:rPr kumimoji="0" lang="zh-CN" altLang="en-US" sz="1800" b="0" i="0" u="none" strike="noStrike" kern="0" cap="none" spc="0" normalizeH="0" baseline="0" noProof="0" dirty="0">
                <a:ln>
                  <a:noFill/>
                </a:ln>
                <a:solidFill>
                  <a:prstClr val="white"/>
                </a:solidFill>
                <a:effectLst/>
                <a:uLnTx/>
                <a:uFillTx/>
                <a:latin typeface="等线"/>
                <a:ea typeface="等线"/>
                <a:cs typeface="+mn-cs"/>
              </a:rPr>
              <a:t>起始点</a:t>
            </a:r>
            <a:r>
              <a:rPr kumimoji="0" lang="en-US" altLang="zh-CN" sz="1800" b="0" i="0" u="none" strike="noStrike" kern="0" cap="none" spc="0" normalizeH="0" baseline="0" noProof="0" dirty="0">
                <a:ln>
                  <a:noFill/>
                </a:ln>
                <a:solidFill>
                  <a:prstClr val="white"/>
                </a:solidFill>
                <a:effectLst/>
                <a:uLnTx/>
                <a:uFillTx/>
                <a:latin typeface="等线"/>
                <a:ea typeface="等线"/>
                <a:cs typeface="+mn-cs"/>
              </a:rPr>
              <a:t>);</a:t>
            </a:r>
          </a:p>
        </p:txBody>
      </p:sp>
      <p:sp>
        <p:nvSpPr>
          <p:cNvPr id="7" name="矩形 6"/>
          <p:cNvSpPr/>
          <p:nvPr/>
        </p:nvSpPr>
        <p:spPr>
          <a:xfrm>
            <a:off x="4355976" y="2633078"/>
            <a:ext cx="4176464" cy="867930"/>
          </a:xfrm>
          <a:prstGeom prst="rect">
            <a:avLst/>
          </a:prstGeom>
          <a:solidFill>
            <a:srgbClr val="E84C22">
              <a:lumMod val="20000"/>
              <a:lumOff val="80000"/>
            </a:srgbClr>
          </a:solidFill>
        </p:spPr>
        <p:txBody>
          <a:bodyPr wrap="square" lIns="72000" rIns="72000">
            <a:spAutoFit/>
          </a:bodyPr>
          <a:lstStyle/>
          <a:p>
            <a:pPr>
              <a:lnSpc>
                <a:spcPct val="120000"/>
              </a:lnSpc>
            </a:pPr>
            <a:r>
              <a:rPr lang="zh-CN" altLang="en-US" sz="1400" kern="0" dirty="0">
                <a:solidFill>
                  <a:prstClr val="black"/>
                </a:solidFill>
                <a:latin typeface="等线"/>
                <a:ea typeface="等线"/>
              </a:rPr>
              <a:t>起始点：</a:t>
            </a:r>
            <a:r>
              <a:rPr lang="en-US" altLang="zh-CN" sz="1400" kern="0" dirty="0">
                <a:solidFill>
                  <a:prstClr val="black"/>
                </a:solidFill>
                <a:latin typeface="等线"/>
                <a:ea typeface="等线"/>
              </a:rPr>
              <a:t>0</a:t>
            </a:r>
            <a:r>
              <a:rPr lang="zh-CN" altLang="en-US" sz="1400" kern="0" dirty="0">
                <a:solidFill>
                  <a:prstClr val="black"/>
                </a:solidFill>
                <a:latin typeface="等线"/>
                <a:ea typeface="等线"/>
              </a:rPr>
              <a:t>代表“文件开始位置”，</a:t>
            </a:r>
            <a:r>
              <a:rPr lang="en-US" altLang="zh-CN" sz="1400" kern="0" dirty="0">
                <a:solidFill>
                  <a:prstClr val="black"/>
                </a:solidFill>
                <a:latin typeface="等线"/>
                <a:ea typeface="等线"/>
              </a:rPr>
              <a:t>1</a:t>
            </a:r>
            <a:r>
              <a:rPr lang="zh-CN" altLang="en-US" sz="1400" kern="0" dirty="0">
                <a:solidFill>
                  <a:prstClr val="black"/>
                </a:solidFill>
                <a:latin typeface="等线"/>
                <a:ea typeface="等线"/>
              </a:rPr>
              <a:t>代表“当前位置”， </a:t>
            </a:r>
            <a:endParaRPr lang="en-US" altLang="zh-CN" sz="1400" kern="0" dirty="0">
              <a:solidFill>
                <a:prstClr val="black"/>
              </a:solidFill>
              <a:latin typeface="等线"/>
              <a:ea typeface="等线"/>
            </a:endParaRPr>
          </a:p>
          <a:p>
            <a:pPr>
              <a:lnSpc>
                <a:spcPct val="120000"/>
              </a:lnSpc>
            </a:pPr>
            <a:r>
              <a:rPr lang="en-US" altLang="zh-CN" sz="1400" kern="0" dirty="0">
                <a:solidFill>
                  <a:prstClr val="black"/>
                </a:solidFill>
                <a:latin typeface="等线"/>
                <a:ea typeface="等线"/>
              </a:rPr>
              <a:t>              2</a:t>
            </a:r>
            <a:r>
              <a:rPr lang="zh-CN" altLang="en-US" sz="1400" kern="0" dirty="0">
                <a:solidFill>
                  <a:prstClr val="black"/>
                </a:solidFill>
                <a:latin typeface="等线"/>
                <a:ea typeface="等线"/>
              </a:rPr>
              <a:t>代表“文件末尾位置”</a:t>
            </a:r>
            <a:endParaRPr lang="en-US" altLang="zh-CN" sz="1400" kern="0" dirty="0">
              <a:solidFill>
                <a:prstClr val="black"/>
              </a:solidFill>
              <a:latin typeface="等线"/>
              <a:ea typeface="等线"/>
            </a:endParaRPr>
          </a:p>
          <a:p>
            <a:pPr>
              <a:lnSpc>
                <a:spcPct val="120000"/>
              </a:lnSpc>
            </a:pPr>
            <a:r>
              <a:rPr lang="zh-CN" altLang="en-US" sz="1400" kern="0" dirty="0">
                <a:solidFill>
                  <a:prstClr val="black"/>
                </a:solidFill>
                <a:latin typeface="等线"/>
                <a:ea typeface="等线"/>
              </a:rPr>
              <a:t>位移量：以“起始点”为基点，向前移动的字节数</a:t>
            </a:r>
          </a:p>
        </p:txBody>
      </p:sp>
      <p:sp>
        <p:nvSpPr>
          <p:cNvPr id="8" name="圆角矩形 7"/>
          <p:cNvSpPr/>
          <p:nvPr/>
        </p:nvSpPr>
        <p:spPr>
          <a:xfrm>
            <a:off x="420387" y="3573016"/>
            <a:ext cx="8112053" cy="826571"/>
          </a:xfrm>
          <a:prstGeom prst="roundRect">
            <a:avLst>
              <a:gd name="adj" fmla="val 8070"/>
            </a:avLst>
          </a:prstGeom>
          <a:solidFill>
            <a:sysClr val="window" lastClr="FFFFFF"/>
          </a:solidFill>
          <a:ln w="12700" cap="flat" cmpd="sng" algn="ctr">
            <a:solidFill>
              <a:srgbClr val="E84C22"/>
            </a:solidFill>
            <a:prstDash val="solid"/>
            <a:miter lim="800000"/>
          </a:ln>
          <a:effectLst/>
        </p:spPr>
        <p:txBody>
          <a:bodyPr rtlCol="0" anchor="ct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fseek</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 (fp,100L,0);		</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将文件位置标记向前移到离文件开头</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100</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个字节处</a:t>
            </a:r>
          </a:p>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fseek</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 (fp,50L,1); 		</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将文件位置标记向前移到离当前位置</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50</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个字节处</a:t>
            </a:r>
          </a:p>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fseek</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 (fp,-10L,2);		</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将文件位置标记从文件末尾处向后退</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10</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个字节</a:t>
            </a:r>
          </a:p>
        </p:txBody>
      </p:sp>
      <p:sp>
        <p:nvSpPr>
          <p:cNvPr id="9" name="圆角矩形 8"/>
          <p:cNvSpPr/>
          <p:nvPr/>
        </p:nvSpPr>
        <p:spPr>
          <a:xfrm>
            <a:off x="420385" y="5877272"/>
            <a:ext cx="8112055" cy="653048"/>
          </a:xfrm>
          <a:prstGeom prst="roundRect">
            <a:avLst>
              <a:gd name="adj" fmla="val 8070"/>
            </a:avLst>
          </a:prstGeom>
          <a:solidFill>
            <a:sysClr val="window" lastClr="FFFFFF"/>
          </a:solidFill>
          <a:ln w="12700" cap="flat" cmpd="sng" algn="ctr">
            <a:solidFill>
              <a:srgbClr val="E84C22"/>
            </a:solidFill>
            <a:prstDash val="solid"/>
            <a:miter lim="800000"/>
          </a:ln>
          <a:effectLst/>
        </p:spPr>
        <p:txBody>
          <a:bodyPr rtlCol="0" anchor="ct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i</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a:t>
            </a: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ftell</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a:t>
            </a: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fp</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			 </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变量</a:t>
            </a:r>
            <a:r>
              <a:rPr kumimoji="0" lang="en-US" altLang="zh-CN" sz="1400" b="0" i="0" u="none" strike="noStrike" kern="0" cap="none" spc="0" normalizeH="0" baseline="0" noProof="0" dirty="0" err="1">
                <a:ln>
                  <a:noFill/>
                </a:ln>
                <a:solidFill>
                  <a:srgbClr val="008000"/>
                </a:solidFill>
                <a:effectLst/>
                <a:uLnTx/>
                <a:uFillTx/>
                <a:latin typeface="等线"/>
                <a:ea typeface="等线"/>
                <a:cs typeface="+mn-cs"/>
              </a:rPr>
              <a:t>i</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存放文件当前</a:t>
            </a:r>
            <a:r>
              <a:rPr lang="zh-CN" altLang="en-US" sz="1400" kern="0" dirty="0">
                <a:solidFill>
                  <a:srgbClr val="008000"/>
                </a:solidFill>
                <a:latin typeface="等线"/>
                <a:ea typeface="等线"/>
              </a:rPr>
              <a:t>读写</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位置</a:t>
            </a:r>
          </a:p>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if(</a:t>
            </a: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i</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==-1L) </a:t>
            </a:r>
            <a:r>
              <a:rPr kumimoji="0" lang="en-US" altLang="zh-CN" sz="1400" b="0" i="0" u="none" strike="noStrike" kern="0" cap="none" spc="0" normalizeH="0" baseline="0" noProof="0" dirty="0" err="1">
                <a:ln>
                  <a:noFill/>
                </a:ln>
                <a:solidFill>
                  <a:prstClr val="black"/>
                </a:solidFill>
                <a:effectLst/>
                <a:uLnTx/>
                <a:uFillTx/>
                <a:latin typeface="等线"/>
                <a:ea typeface="等线"/>
                <a:cs typeface="+mn-cs"/>
              </a:rPr>
              <a:t>printf</a:t>
            </a:r>
            <a:r>
              <a:rPr kumimoji="0" lang="en-US" altLang="zh-CN" sz="1400" b="0" i="0" u="none" strike="noStrike" kern="0" cap="none" spc="0" normalizeH="0" baseline="0" noProof="0" dirty="0">
                <a:ln>
                  <a:noFill/>
                </a:ln>
                <a:solidFill>
                  <a:prstClr val="black"/>
                </a:solidFill>
                <a:effectLst/>
                <a:uLnTx/>
                <a:uFillTx/>
                <a:latin typeface="等线"/>
                <a:ea typeface="等线"/>
                <a:cs typeface="+mn-cs"/>
              </a:rPr>
              <a:t>(″error\n″); 	</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a:t>
            </a:r>
            <a:r>
              <a:rPr kumimoji="0" lang="zh-CN" altLang="en-US" sz="1400" b="0" i="0" u="none" strike="noStrike" kern="0" cap="none" spc="0" normalizeH="0" baseline="0" noProof="0" dirty="0">
                <a:ln>
                  <a:noFill/>
                </a:ln>
                <a:solidFill>
                  <a:srgbClr val="008000"/>
                </a:solidFill>
                <a:effectLst/>
                <a:uLnTx/>
                <a:uFillTx/>
                <a:latin typeface="等线"/>
                <a:ea typeface="等线"/>
                <a:cs typeface="+mn-cs"/>
              </a:rPr>
              <a:t>如果调用函数时出错，输出</a:t>
            </a:r>
            <a:r>
              <a:rPr kumimoji="0" lang="en-US" altLang="zh-CN" sz="1400" b="0" i="0" u="none" strike="noStrike" kern="0" cap="none" spc="0" normalizeH="0" baseline="0" noProof="0" dirty="0">
                <a:ln>
                  <a:noFill/>
                </a:ln>
                <a:solidFill>
                  <a:srgbClr val="008000"/>
                </a:solidFill>
                <a:effectLst/>
                <a:uLnTx/>
                <a:uFillTx/>
                <a:latin typeface="等线"/>
                <a:ea typeface="等线"/>
                <a:cs typeface="+mn-cs"/>
              </a:rPr>
              <a:t>″error″</a:t>
            </a:r>
          </a:p>
        </p:txBody>
      </p:sp>
      <p:sp>
        <p:nvSpPr>
          <p:cNvPr id="10" name="矩形 9"/>
          <p:cNvSpPr/>
          <p:nvPr/>
        </p:nvSpPr>
        <p:spPr>
          <a:xfrm>
            <a:off x="338400" y="4941168"/>
            <a:ext cx="8338056" cy="923330"/>
          </a:xfrm>
          <a:prstGeom prst="rect">
            <a:avLst/>
          </a:prstGeom>
        </p:spPr>
        <p:txBody>
          <a:bodyPr wrap="square">
            <a:spAutoFit/>
          </a:bodyPr>
          <a:lstStyle/>
          <a:p>
            <a:pPr algn="just">
              <a:lnSpc>
                <a:spcPct val="150000"/>
              </a:lnSpc>
              <a:defRPr/>
            </a:pPr>
            <a:r>
              <a:rPr lang="en-US" altLang="zh-CN" dirty="0" err="1">
                <a:solidFill>
                  <a:prstClr val="black"/>
                </a:solidFill>
                <a:latin typeface="等线"/>
                <a:ea typeface="等线"/>
              </a:rPr>
              <a:t>ftell</a:t>
            </a:r>
            <a:r>
              <a:rPr lang="zh-CN" altLang="en-US" dirty="0">
                <a:solidFill>
                  <a:prstClr val="black"/>
                </a:solidFill>
                <a:latin typeface="等线"/>
                <a:ea typeface="等线"/>
              </a:rPr>
              <a:t>函数的作用是得到流式文件中文件位置标记的当前位置，用相对于文件开头的位移量来表示。若调用函数时出错（如不存在</a:t>
            </a:r>
            <a:r>
              <a:rPr lang="en-US" altLang="zh-CN" dirty="0" err="1">
                <a:solidFill>
                  <a:prstClr val="black"/>
                </a:solidFill>
                <a:latin typeface="等线"/>
                <a:ea typeface="等线"/>
              </a:rPr>
              <a:t>fp</a:t>
            </a:r>
            <a:r>
              <a:rPr lang="zh-CN" altLang="en-US" dirty="0">
                <a:solidFill>
                  <a:prstClr val="black"/>
                </a:solidFill>
                <a:latin typeface="等线"/>
                <a:ea typeface="等线"/>
              </a:rPr>
              <a:t>指向的文件），返回值为</a:t>
            </a:r>
            <a:r>
              <a:rPr lang="en-US" altLang="zh-CN" dirty="0">
                <a:solidFill>
                  <a:prstClr val="black"/>
                </a:solidFill>
                <a:latin typeface="等线"/>
                <a:ea typeface="等线"/>
              </a:rPr>
              <a:t>-1L</a:t>
            </a:r>
            <a:r>
              <a:rPr lang="zh-CN" altLang="en-US" dirty="0">
                <a:solidFill>
                  <a:prstClr val="black"/>
                </a:solidFill>
                <a:latin typeface="等线"/>
                <a:ea typeface="等线"/>
              </a:rPr>
              <a:t>。</a:t>
            </a:r>
          </a:p>
        </p:txBody>
      </p:sp>
      <p:pic>
        <p:nvPicPr>
          <p:cNvPr id="2" name="图片 1">
            <a:extLst>
              <a:ext uri="{FF2B5EF4-FFF2-40B4-BE49-F238E27FC236}">
                <a16:creationId xmlns:a16="http://schemas.microsoft.com/office/drawing/2014/main" id="{F08B2A63-24EE-4B7E-835D-6A28395F9939}"/>
              </a:ext>
            </a:extLst>
          </p:cNvPr>
          <p:cNvPicPr>
            <a:picLocks noChangeAspect="1"/>
          </p:cNvPicPr>
          <p:nvPr/>
        </p:nvPicPr>
        <p:blipFill>
          <a:blip r:embed="rId3"/>
          <a:stretch>
            <a:fillRect/>
          </a:stretch>
        </p:blipFill>
        <p:spPr>
          <a:xfrm>
            <a:off x="5540362" y="409125"/>
            <a:ext cx="3292284" cy="919514"/>
          </a:xfrm>
          <a:prstGeom prst="rect">
            <a:avLst/>
          </a:prstGeom>
        </p:spPr>
      </p:pic>
    </p:spTree>
    <p:extLst>
      <p:ext uri="{BB962C8B-B14F-4D97-AF65-F5344CB8AC3E}">
        <p14:creationId xmlns:p14="http://schemas.microsoft.com/office/powerpoint/2010/main" val="4165616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227" y="1018038"/>
            <a:ext cx="8280000" cy="5040000"/>
          </a:xfrm>
        </p:spPr>
        <p:txBody>
          <a:bodyPr/>
          <a:lstStyle/>
          <a:p>
            <a:r>
              <a:rPr lang="zh-CN" altLang="en-US" sz="2000" dirty="0"/>
              <a:t>示例</a:t>
            </a:r>
            <a:r>
              <a:rPr lang="en-US" altLang="zh-CN" sz="2000" dirty="0"/>
              <a:t>14-04</a:t>
            </a:r>
            <a:r>
              <a:rPr lang="zh-CN" altLang="en-US" sz="2000" dirty="0"/>
              <a:t>：向磁盘文件中写入</a:t>
            </a:r>
            <a:r>
              <a:rPr lang="en-US" altLang="zh-CN" sz="2000" dirty="0"/>
              <a:t>2</a:t>
            </a:r>
            <a:r>
              <a:rPr lang="zh-CN" altLang="en-US" sz="2000" dirty="0"/>
              <a:t>个学生的数据，逆序读取学生信息。</a:t>
            </a:r>
          </a:p>
          <a:p>
            <a:endParaRPr lang="zh-CN" altLang="en-US" dirty="0"/>
          </a:p>
        </p:txBody>
      </p:sp>
      <p:sp>
        <p:nvSpPr>
          <p:cNvPr id="3" name="标题 2"/>
          <p:cNvSpPr>
            <a:spLocks noGrp="1"/>
          </p:cNvSpPr>
          <p:nvPr>
            <p:ph type="title"/>
          </p:nvPr>
        </p:nvSpPr>
        <p:spPr>
          <a:xfrm>
            <a:off x="428227" y="334346"/>
            <a:ext cx="8280000" cy="683692"/>
          </a:xfrm>
        </p:spPr>
        <p:txBody>
          <a:bodyPr/>
          <a:lstStyle/>
          <a:p>
            <a:r>
              <a:rPr lang="zh-CN" altLang="en-US" dirty="0"/>
              <a:t>随机读写数据文件</a:t>
            </a:r>
          </a:p>
        </p:txBody>
      </p:sp>
      <p:sp>
        <p:nvSpPr>
          <p:cNvPr id="5" name="圆角矩形 4"/>
          <p:cNvSpPr/>
          <p:nvPr/>
        </p:nvSpPr>
        <p:spPr>
          <a:xfrm>
            <a:off x="357205" y="1485194"/>
            <a:ext cx="8283773" cy="5256536"/>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#include&lt;</a:t>
            </a:r>
            <a:r>
              <a:rPr lang="en-US" altLang="zh-CN" sz="1000" dirty="0" err="1">
                <a:latin typeface="Courier New" panose="02070309020205020404" pitchFamily="49" charset="0"/>
                <a:cs typeface="Courier New" panose="02070309020205020404" pitchFamily="49" charset="0"/>
              </a:rPr>
              <a:t>stdio.h</a:t>
            </a:r>
            <a:r>
              <a:rPr lang="en-US" altLang="zh-CN" sz="1000" dirty="0">
                <a:latin typeface="Courier New" panose="02070309020205020404" pitchFamily="49" charset="0"/>
                <a:cs typeface="Courier New" panose="02070309020205020404" pitchFamily="49" charset="0"/>
              </a:rPr>
              <a:t>&gt;</a:t>
            </a: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#include &lt;</a:t>
            </a:r>
            <a:r>
              <a:rPr lang="en-US" altLang="zh-CN" sz="1000" dirty="0" err="1">
                <a:latin typeface="Courier New" panose="02070309020205020404" pitchFamily="49" charset="0"/>
                <a:cs typeface="Courier New" panose="02070309020205020404" pitchFamily="49" charset="0"/>
              </a:rPr>
              <a:t>stdlib.h</a:t>
            </a:r>
            <a:r>
              <a:rPr lang="en-US" altLang="zh-CN" sz="1000" dirty="0">
                <a:latin typeface="Courier New" panose="02070309020205020404" pitchFamily="49" charset="0"/>
                <a:cs typeface="Courier New" panose="02070309020205020404" pitchFamily="49" charset="0"/>
              </a:rPr>
              <a:t>&gt;</a:t>
            </a: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err="1">
                <a:latin typeface="Courier New" panose="02070309020205020404" pitchFamily="49" charset="0"/>
                <a:cs typeface="Courier New" panose="02070309020205020404" pitchFamily="49" charset="0"/>
              </a:rPr>
              <a:t>typedef</a:t>
            </a: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struct</a:t>
            </a:r>
            <a:r>
              <a:rPr lang="en-US" altLang="zh-CN" sz="1000" dirty="0">
                <a:latin typeface="Courier New" panose="02070309020205020404" pitchFamily="49" charset="0"/>
                <a:cs typeface="Courier New" panose="02070309020205020404" pitchFamily="49" charset="0"/>
              </a:rPr>
              <a:t> { </a:t>
            </a:r>
            <a:r>
              <a:rPr lang="en-US" altLang="zh-CN" sz="1000" dirty="0" err="1">
                <a:latin typeface="Courier New" panose="02070309020205020404" pitchFamily="49" charset="0"/>
                <a:cs typeface="Courier New" panose="02070309020205020404" pitchFamily="49" charset="0"/>
              </a:rPr>
              <a:t>int</a:t>
            </a: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sno</a:t>
            </a:r>
            <a:r>
              <a:rPr lang="en-US" altLang="zh-CN" sz="1000" dirty="0">
                <a:latin typeface="Courier New" panose="02070309020205020404" pitchFamily="49" charset="0"/>
                <a:cs typeface="Courier New" panose="02070309020205020404" pitchFamily="49" charset="0"/>
              </a:rPr>
              <a:t>; char name[10]; char sex; </a:t>
            </a:r>
            <a:r>
              <a:rPr lang="en-US" altLang="zh-CN" sz="1000" dirty="0" err="1">
                <a:latin typeface="Courier New" panose="02070309020205020404" pitchFamily="49" charset="0"/>
                <a:cs typeface="Courier New" panose="02070309020205020404" pitchFamily="49" charset="0"/>
              </a:rPr>
              <a:t>int</a:t>
            </a:r>
            <a:r>
              <a:rPr lang="en-US" altLang="zh-CN" sz="1000" dirty="0">
                <a:latin typeface="Courier New" panose="02070309020205020404" pitchFamily="49" charset="0"/>
                <a:cs typeface="Courier New" panose="02070309020205020404" pitchFamily="49" charset="0"/>
              </a:rPr>
              <a:t> age; } Student;                 </a:t>
            </a:r>
            <a:r>
              <a:rPr lang="en-US" altLang="zh-CN" sz="1000" dirty="0">
                <a:solidFill>
                  <a:srgbClr val="008000"/>
                </a:solidFill>
              </a:rPr>
              <a:t>//</a:t>
            </a:r>
            <a:r>
              <a:rPr lang="zh-CN" altLang="en-US" sz="1000" dirty="0">
                <a:solidFill>
                  <a:srgbClr val="008000"/>
                </a:solidFill>
              </a:rPr>
              <a:t>学生数据类型</a:t>
            </a:r>
            <a:endParaRPr lang="en-US" altLang="zh-CN" sz="10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Student studs[2] = {{2021123456, "</a:t>
            </a:r>
            <a:r>
              <a:rPr lang="en-US" altLang="zh-CN" sz="1000" dirty="0" err="1">
                <a:latin typeface="Courier New" panose="02070309020205020404" pitchFamily="49" charset="0"/>
                <a:cs typeface="Courier New" panose="02070309020205020404" pitchFamily="49" charset="0"/>
              </a:rPr>
              <a:t>ZhangSan</a:t>
            </a:r>
            <a:r>
              <a:rPr lang="en-US" altLang="zh-CN" sz="1000" dirty="0">
                <a:latin typeface="Courier New" panose="02070309020205020404" pitchFamily="49" charset="0"/>
                <a:cs typeface="Courier New" panose="02070309020205020404" pitchFamily="49" charset="0"/>
              </a:rPr>
              <a:t>", 'F', 18}, {2021654321, "</a:t>
            </a:r>
            <a:r>
              <a:rPr lang="en-US" altLang="zh-CN" sz="1000" dirty="0" err="1">
                <a:latin typeface="Courier New" panose="02070309020205020404" pitchFamily="49" charset="0"/>
                <a:cs typeface="Courier New" panose="02070309020205020404" pitchFamily="49" charset="0"/>
              </a:rPr>
              <a:t>LiSi</a:t>
            </a:r>
            <a:r>
              <a:rPr lang="en-US" altLang="zh-CN" sz="1000" dirty="0">
                <a:latin typeface="Courier New" panose="02070309020205020404" pitchFamily="49" charset="0"/>
                <a:cs typeface="Courier New" panose="02070309020205020404" pitchFamily="49" charset="0"/>
              </a:rPr>
              <a:t>", 'M', 19}}; </a:t>
            </a:r>
            <a:r>
              <a:rPr lang="en-US" altLang="zh-CN" sz="1000" dirty="0">
                <a:solidFill>
                  <a:srgbClr val="008000"/>
                </a:solidFill>
              </a:rPr>
              <a:t>//</a:t>
            </a:r>
            <a:r>
              <a:rPr lang="zh-CN" altLang="en-US" sz="1000" dirty="0">
                <a:solidFill>
                  <a:srgbClr val="008000"/>
                </a:solidFill>
              </a:rPr>
              <a:t>初始化结构体数组</a:t>
            </a:r>
            <a:endParaRPr lang="en-US" altLang="zh-CN" sz="10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int main() {</a:t>
            </a: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FILE *</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 </a:t>
            </a: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Student stud;</a:t>
            </a: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if (</a:t>
            </a:r>
            <a:r>
              <a:rPr lang="nl-NL" altLang="zh-CN" sz="1000" dirty="0">
                <a:latin typeface="Courier New" panose="02070309020205020404" pitchFamily="49" charset="0"/>
                <a:cs typeface="Courier New" panose="02070309020205020404" pitchFamily="49" charset="0"/>
              </a:rPr>
              <a:t>(fp = fopen("student.bin", "wb+")) == NULL</a:t>
            </a:r>
            <a:r>
              <a:rPr lang="en-US" altLang="zh-CN" sz="1000" dirty="0">
                <a:latin typeface="Courier New" panose="02070309020205020404" pitchFamily="49" charset="0"/>
                <a:cs typeface="Courier New" panose="02070309020205020404" pitchFamily="49" charset="0"/>
              </a:rPr>
              <a:t>) { 	</a:t>
            </a:r>
            <a:r>
              <a:rPr lang="en-US" altLang="zh-CN" sz="1000" dirty="0">
                <a:solidFill>
                  <a:srgbClr val="008000"/>
                </a:solidFill>
              </a:rPr>
              <a:t>//</a:t>
            </a:r>
            <a:r>
              <a:rPr lang="zh-CN" altLang="en-US" sz="1000" dirty="0">
                <a:solidFill>
                  <a:srgbClr val="008000"/>
                </a:solidFill>
              </a:rPr>
              <a:t>以读写方式建立二进制文件</a:t>
            </a:r>
            <a:endParaRPr lang="en-US" altLang="zh-CN" sz="10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printf</a:t>
            </a:r>
            <a:r>
              <a:rPr lang="en-US" altLang="zh-CN" sz="1000" dirty="0">
                <a:latin typeface="Courier New" panose="02070309020205020404" pitchFamily="49" charset="0"/>
                <a:cs typeface="Courier New" panose="02070309020205020404" pitchFamily="49" charset="0"/>
              </a:rPr>
              <a:t>("cannot create file\n"); exit(0);</a:t>
            </a: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fwrite</a:t>
            </a:r>
            <a:r>
              <a:rPr lang="en-US" altLang="zh-CN" sz="1000" dirty="0">
                <a:latin typeface="Courier New" panose="02070309020205020404" pitchFamily="49" charset="0"/>
                <a:cs typeface="Courier New" panose="02070309020205020404" pitchFamily="49" charset="0"/>
              </a:rPr>
              <a:t>(studs, </a:t>
            </a:r>
            <a:r>
              <a:rPr lang="en-US" altLang="zh-CN" sz="1000" dirty="0" err="1">
                <a:latin typeface="Courier New" panose="02070309020205020404" pitchFamily="49" charset="0"/>
                <a:cs typeface="Courier New" panose="02070309020205020404" pitchFamily="49" charset="0"/>
              </a:rPr>
              <a:t>sizeof</a:t>
            </a:r>
            <a:r>
              <a:rPr lang="en-US" altLang="zh-CN" sz="1000" dirty="0">
                <a:latin typeface="Courier New" panose="02070309020205020404" pitchFamily="49" charset="0"/>
                <a:cs typeface="Courier New" panose="02070309020205020404" pitchFamily="49" charset="0"/>
              </a:rPr>
              <a:t>(Student), 2, </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                 </a:t>
            </a:r>
            <a:r>
              <a:rPr lang="en-US" altLang="zh-CN" sz="1000" dirty="0">
                <a:solidFill>
                  <a:srgbClr val="008000"/>
                </a:solidFill>
              </a:rPr>
              <a:t>//</a:t>
            </a:r>
            <a:r>
              <a:rPr lang="zh-CN" altLang="en-US" sz="1000" dirty="0">
                <a:solidFill>
                  <a:srgbClr val="008000"/>
                </a:solidFill>
              </a:rPr>
              <a:t>将</a:t>
            </a:r>
            <a:r>
              <a:rPr lang="en-US" altLang="zh-CN" sz="1000" dirty="0">
                <a:solidFill>
                  <a:srgbClr val="008000"/>
                </a:solidFill>
              </a:rPr>
              <a:t>studs</a:t>
            </a:r>
            <a:r>
              <a:rPr lang="zh-CN" altLang="en-US" sz="1000" dirty="0">
                <a:solidFill>
                  <a:srgbClr val="008000"/>
                </a:solidFill>
              </a:rPr>
              <a:t>结构体的数据写入文件</a:t>
            </a:r>
            <a:endParaRPr lang="en-US" altLang="zh-CN" sz="10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printf</a:t>
            </a:r>
            <a:r>
              <a:rPr lang="en-US" altLang="zh-CN" sz="1000" dirty="0">
                <a:latin typeface="Courier New" panose="02070309020205020404" pitchFamily="49" charset="0"/>
                <a:cs typeface="Courier New" panose="02070309020205020404" pitchFamily="49" charset="0"/>
              </a:rPr>
              <a:t>("cur offset: %d\n", </a:t>
            </a:r>
            <a:r>
              <a:rPr lang="en-US" altLang="zh-CN" sz="1000" dirty="0" err="1">
                <a:latin typeface="Courier New" panose="02070309020205020404" pitchFamily="49" charset="0"/>
                <a:cs typeface="Courier New" panose="02070309020205020404" pitchFamily="49" charset="0"/>
              </a:rPr>
              <a:t>ftell</a:t>
            </a:r>
            <a:r>
              <a:rPr lang="en-US" altLang="zh-CN" sz="1000" dirty="0">
                <a:latin typeface="Courier New" panose="02070309020205020404" pitchFamily="49" charset="0"/>
                <a:cs typeface="Courier New" panose="02070309020205020404" pitchFamily="49" charset="0"/>
              </a:rPr>
              <a:t>(</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                 </a:t>
            </a:r>
            <a:r>
              <a:rPr lang="en-US" altLang="zh-CN" sz="1000" dirty="0">
                <a:solidFill>
                  <a:srgbClr val="008000"/>
                </a:solidFill>
              </a:rPr>
              <a:t>//</a:t>
            </a:r>
            <a:r>
              <a:rPr lang="zh-CN" altLang="en-US" sz="1000" dirty="0">
                <a:solidFill>
                  <a:srgbClr val="008000"/>
                </a:solidFill>
              </a:rPr>
              <a:t>输出文件读写指针当前的位置（相对于文件头的偏移量）</a:t>
            </a:r>
            <a:endParaRPr lang="en-US" altLang="zh-CN" sz="10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fseek</a:t>
            </a:r>
            <a:r>
              <a:rPr lang="en-US" altLang="zh-CN" sz="1000" dirty="0">
                <a:latin typeface="Courier New" panose="02070309020205020404" pitchFamily="49" charset="0"/>
                <a:cs typeface="Courier New" panose="02070309020205020404" pitchFamily="49" charset="0"/>
              </a:rPr>
              <a:t>(</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sizeof</a:t>
            </a:r>
            <a:r>
              <a:rPr lang="en-US" altLang="zh-CN" sz="1000" dirty="0">
                <a:latin typeface="Courier New" panose="02070309020205020404" pitchFamily="49" charset="0"/>
                <a:cs typeface="Courier New" panose="02070309020205020404" pitchFamily="49" charset="0"/>
              </a:rPr>
              <a:t>(Student), 1);                        </a:t>
            </a:r>
            <a:r>
              <a:rPr lang="en-US" altLang="zh-CN" sz="1000" dirty="0">
                <a:solidFill>
                  <a:srgbClr val="008000"/>
                </a:solidFill>
              </a:rPr>
              <a:t>//</a:t>
            </a:r>
            <a:r>
              <a:rPr lang="zh-CN" altLang="en-US" sz="1000" dirty="0">
                <a:solidFill>
                  <a:srgbClr val="008000"/>
                </a:solidFill>
              </a:rPr>
              <a:t>移动文件位置标记至第一个数据块后 </a:t>
            </a:r>
            <a:endParaRPr lang="en-US" altLang="zh-CN" sz="10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fread</a:t>
            </a:r>
            <a:r>
              <a:rPr lang="en-US" altLang="zh-CN" sz="1000" dirty="0">
                <a:latin typeface="Courier New" panose="02070309020205020404" pitchFamily="49" charset="0"/>
                <a:cs typeface="Courier New" panose="02070309020205020404" pitchFamily="49" charset="0"/>
              </a:rPr>
              <a:t>(&amp;stud, </a:t>
            </a:r>
            <a:r>
              <a:rPr lang="en-US" altLang="zh-CN" sz="1000" dirty="0" err="1">
                <a:latin typeface="Courier New" panose="02070309020205020404" pitchFamily="49" charset="0"/>
                <a:cs typeface="Courier New" panose="02070309020205020404" pitchFamily="49" charset="0"/>
              </a:rPr>
              <a:t>sizeof</a:t>
            </a:r>
            <a:r>
              <a:rPr lang="en-US" altLang="zh-CN" sz="1000" dirty="0">
                <a:latin typeface="Courier New" panose="02070309020205020404" pitchFamily="49" charset="0"/>
                <a:cs typeface="Courier New" panose="02070309020205020404" pitchFamily="49" charset="0"/>
              </a:rPr>
              <a:t>(Student), 1, </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                  </a:t>
            </a:r>
            <a:r>
              <a:rPr lang="en-US" altLang="zh-CN" sz="1000" dirty="0">
                <a:solidFill>
                  <a:srgbClr val="008000"/>
                </a:solidFill>
              </a:rPr>
              <a:t>//</a:t>
            </a:r>
            <a:r>
              <a:rPr lang="zh-CN" altLang="en-US" sz="1000" dirty="0">
                <a:solidFill>
                  <a:srgbClr val="008000"/>
                </a:solidFill>
              </a:rPr>
              <a:t>读一个数据块到结构体变量</a:t>
            </a: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printf</a:t>
            </a:r>
            <a:r>
              <a:rPr lang="en-US" altLang="zh-CN" sz="1000" dirty="0">
                <a:latin typeface="Courier New" panose="02070309020205020404" pitchFamily="49" charset="0"/>
                <a:cs typeface="Courier New" panose="02070309020205020404" pitchFamily="49" charset="0"/>
              </a:rPr>
              <a:t>("%10d %-10s %c %2d\n", </a:t>
            </a:r>
            <a:r>
              <a:rPr lang="en-US" altLang="zh-CN" sz="1000" dirty="0" err="1">
                <a:latin typeface="Courier New" panose="02070309020205020404" pitchFamily="49" charset="0"/>
                <a:cs typeface="Courier New" panose="02070309020205020404" pitchFamily="49" charset="0"/>
              </a:rPr>
              <a:t>stud.sno</a:t>
            </a:r>
            <a:r>
              <a:rPr lang="en-US" altLang="zh-CN" sz="1000" dirty="0">
                <a:latin typeface="Courier New" panose="02070309020205020404" pitchFamily="49" charset="0"/>
                <a:cs typeface="Courier New" panose="02070309020205020404" pitchFamily="49" charset="0"/>
              </a:rPr>
              <a:t>, stud.name, </a:t>
            </a:r>
            <a:r>
              <a:rPr lang="en-US" altLang="zh-CN" sz="1000" dirty="0" err="1">
                <a:latin typeface="Courier New" panose="02070309020205020404" pitchFamily="49" charset="0"/>
                <a:cs typeface="Courier New" panose="02070309020205020404" pitchFamily="49" charset="0"/>
              </a:rPr>
              <a:t>stud.sex</a:t>
            </a: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stud.age</a:t>
            </a:r>
            <a:r>
              <a:rPr lang="en-US" altLang="zh-CN" sz="1000" dirty="0">
                <a:latin typeface="Courier New" panose="02070309020205020404" pitchFamily="49" charset="0"/>
                <a:cs typeface="Courier New" panose="02070309020205020404" pitchFamily="49" charset="0"/>
              </a:rPr>
              <a:t>);   </a:t>
            </a:r>
            <a:r>
              <a:rPr lang="en-US" altLang="zh-CN" sz="1000" dirty="0">
                <a:solidFill>
                  <a:srgbClr val="008000"/>
                </a:solidFill>
              </a:rPr>
              <a:t>//</a:t>
            </a:r>
            <a:r>
              <a:rPr lang="zh-CN" altLang="en-US" sz="1000" dirty="0">
                <a:solidFill>
                  <a:srgbClr val="008000"/>
                </a:solidFill>
              </a:rPr>
              <a:t>在屏幕输出</a:t>
            </a:r>
            <a:endParaRPr lang="en-US" altLang="zh-CN" sz="10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rewind(</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                                            </a:t>
            </a:r>
            <a:r>
              <a:rPr lang="en-US" altLang="zh-CN" sz="1000" dirty="0">
                <a:solidFill>
                  <a:srgbClr val="008000"/>
                </a:solidFill>
              </a:rPr>
              <a:t>//</a:t>
            </a:r>
            <a:r>
              <a:rPr lang="zh-CN" altLang="en-US" sz="1000" dirty="0">
                <a:solidFill>
                  <a:srgbClr val="008000"/>
                </a:solidFill>
              </a:rPr>
              <a:t>将文件位置标记重新返回文件的开头</a:t>
            </a: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fread</a:t>
            </a:r>
            <a:r>
              <a:rPr lang="en-US" altLang="zh-CN" sz="1000" dirty="0">
                <a:latin typeface="Courier New" panose="02070309020205020404" pitchFamily="49" charset="0"/>
                <a:cs typeface="Courier New" panose="02070309020205020404" pitchFamily="49" charset="0"/>
              </a:rPr>
              <a:t>(&amp;stud, </a:t>
            </a:r>
            <a:r>
              <a:rPr lang="en-US" altLang="zh-CN" sz="1000" dirty="0" err="1">
                <a:latin typeface="Courier New" panose="02070309020205020404" pitchFamily="49" charset="0"/>
                <a:cs typeface="Courier New" panose="02070309020205020404" pitchFamily="49" charset="0"/>
              </a:rPr>
              <a:t>sizeof</a:t>
            </a:r>
            <a:r>
              <a:rPr lang="en-US" altLang="zh-CN" sz="1000" dirty="0">
                <a:latin typeface="Courier New" panose="02070309020205020404" pitchFamily="49" charset="0"/>
                <a:cs typeface="Courier New" panose="02070309020205020404" pitchFamily="49" charset="0"/>
              </a:rPr>
              <a:t>(Student), 1, </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                  </a:t>
            </a:r>
            <a:r>
              <a:rPr lang="en-US" altLang="zh-CN" sz="1000" dirty="0">
                <a:solidFill>
                  <a:srgbClr val="008000"/>
                </a:solidFill>
              </a:rPr>
              <a:t>//</a:t>
            </a:r>
            <a:r>
              <a:rPr lang="zh-CN" altLang="en-US" sz="1000" dirty="0">
                <a:solidFill>
                  <a:srgbClr val="008000"/>
                </a:solidFill>
              </a:rPr>
              <a:t>读一个数据块到结构体变量</a:t>
            </a: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printf</a:t>
            </a:r>
            <a:r>
              <a:rPr lang="en-US" altLang="zh-CN" sz="1000" dirty="0">
                <a:latin typeface="Courier New" panose="02070309020205020404" pitchFamily="49" charset="0"/>
                <a:cs typeface="Courier New" panose="02070309020205020404" pitchFamily="49" charset="0"/>
              </a:rPr>
              <a:t>("%10d %-10s %c %2d\n", </a:t>
            </a:r>
            <a:r>
              <a:rPr lang="en-US" altLang="zh-CN" sz="1000" dirty="0" err="1">
                <a:latin typeface="Courier New" panose="02070309020205020404" pitchFamily="49" charset="0"/>
                <a:cs typeface="Courier New" panose="02070309020205020404" pitchFamily="49" charset="0"/>
              </a:rPr>
              <a:t>stud.sno</a:t>
            </a:r>
            <a:r>
              <a:rPr lang="en-US" altLang="zh-CN" sz="1000" dirty="0">
                <a:latin typeface="Courier New" panose="02070309020205020404" pitchFamily="49" charset="0"/>
                <a:cs typeface="Courier New" panose="02070309020205020404" pitchFamily="49" charset="0"/>
              </a:rPr>
              <a:t>, stud.name, </a:t>
            </a:r>
            <a:r>
              <a:rPr lang="en-US" altLang="zh-CN" sz="1000" dirty="0" err="1">
                <a:latin typeface="Courier New" panose="02070309020205020404" pitchFamily="49" charset="0"/>
                <a:cs typeface="Courier New" panose="02070309020205020404" pitchFamily="49" charset="0"/>
              </a:rPr>
              <a:t>stud.sex</a:t>
            </a: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stud.age</a:t>
            </a:r>
            <a:r>
              <a:rPr lang="en-US" altLang="zh-CN" sz="1000" dirty="0">
                <a:latin typeface="Courier New" panose="02070309020205020404" pitchFamily="49" charset="0"/>
                <a:cs typeface="Courier New" panose="02070309020205020404" pitchFamily="49" charset="0"/>
              </a:rPr>
              <a:t>);</a:t>
            </a: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a:t>
            </a:r>
            <a:r>
              <a:rPr lang="en-US" altLang="zh-CN" sz="1000" dirty="0" err="1">
                <a:latin typeface="Courier New" panose="02070309020205020404" pitchFamily="49" charset="0"/>
                <a:cs typeface="Courier New" panose="02070309020205020404" pitchFamily="49" charset="0"/>
              </a:rPr>
              <a:t>fclose</a:t>
            </a:r>
            <a:r>
              <a:rPr lang="en-US" altLang="zh-CN" sz="1000" dirty="0">
                <a:latin typeface="Courier New" panose="02070309020205020404" pitchFamily="49" charset="0"/>
                <a:cs typeface="Courier New" panose="02070309020205020404" pitchFamily="49" charset="0"/>
              </a:rPr>
              <a:t>(</a:t>
            </a:r>
            <a:r>
              <a:rPr lang="en-US" altLang="zh-CN" sz="1000" dirty="0" err="1">
                <a:latin typeface="Courier New" panose="02070309020205020404" pitchFamily="49" charset="0"/>
                <a:cs typeface="Courier New" panose="02070309020205020404" pitchFamily="49" charset="0"/>
              </a:rPr>
              <a:t>fp</a:t>
            </a:r>
            <a:r>
              <a:rPr lang="en-US" altLang="zh-CN" sz="1000" dirty="0">
                <a:latin typeface="Courier New" panose="02070309020205020404" pitchFamily="49" charset="0"/>
                <a:cs typeface="Courier New" panose="02070309020205020404" pitchFamily="49" charset="0"/>
              </a:rPr>
              <a:t>);</a:t>
            </a: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  return 0;</a:t>
            </a: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000" dirty="0">
                <a:latin typeface="Courier New" panose="02070309020205020404" pitchFamily="49" charset="0"/>
                <a:cs typeface="Courier New" panose="02070309020205020404" pitchFamily="49" charset="0"/>
              </a:rPr>
              <a:t>}</a:t>
            </a: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89323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文件读写的出错检测</a:t>
            </a:r>
          </a:p>
        </p:txBody>
      </p:sp>
      <p:sp>
        <p:nvSpPr>
          <p:cNvPr id="4" name="MH_Desc_1"/>
          <p:cNvSpPr/>
          <p:nvPr>
            <p:custDataLst>
              <p:tags r:id="rId1"/>
            </p:custDataLst>
          </p:nvPr>
        </p:nvSpPr>
        <p:spPr>
          <a:xfrm>
            <a:off x="50103" y="1427106"/>
            <a:ext cx="8626353" cy="5170246"/>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1. </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ferror</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a:t>
            </a: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在调用各种输入输出函数（如</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putc,getc,fread,fwrite</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等）时，如果出现错误，除了函数返回值有所反映外，还可以用</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ferror</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函数检查。</a:t>
            </a: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如果</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ferror</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返回值为</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0</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（假），表示未出错；</a:t>
            </a: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如果返回一个非零值，表示出错。</a:t>
            </a:r>
          </a:p>
          <a:p>
            <a:pPr marL="0" marR="0" lvl="0" indent="0" algn="just" defTabSz="914400" eaLnBrk="1" fontAlgn="auto" latinLnBrk="0" hangingPunct="1">
              <a:lnSpc>
                <a:spcPct val="15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2. </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clearerr</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a:t>
            </a:r>
          </a:p>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clearerr</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的作用是使文件出错标志和文件结束标志置为</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0</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a:t>
            </a:r>
            <a:endParaRPr kumimoji="0" lang="en-US" altLang="zh-CN" sz="18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假设在调用一个输入输出函数时出现错误，</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ferror</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函数值为一个非零值。应该立即调用</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clearerr</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fp</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，使</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ferror</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fp</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的值变成</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0</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，以便再进行下一次的检测。</a:t>
            </a: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只要出现文件读写出错标志，它就一直保留，直到对同一文件调用</a:t>
            </a:r>
            <a:r>
              <a:rPr kumimoji="0" lang="en-US" altLang="zh-CN" sz="1800" b="0" i="0" u="none" strike="noStrike" kern="0" cap="none" spc="0" normalizeH="0" baseline="0" noProof="0" dirty="0" err="1">
                <a:ln>
                  <a:noFill/>
                </a:ln>
                <a:solidFill>
                  <a:prstClr val="black"/>
                </a:solidFill>
                <a:effectLst/>
                <a:uLnTx/>
                <a:uFillTx/>
                <a:latin typeface="等线"/>
                <a:ea typeface="等线"/>
                <a:cs typeface="+mn-cs"/>
              </a:rPr>
              <a:t>clearerr</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函数或</a:t>
            </a:r>
            <a:r>
              <a:rPr kumimoji="0" lang="en-US" altLang="zh-CN" sz="1800" b="0" i="0" u="none" strike="noStrike" kern="0" cap="none" spc="0" normalizeH="0" baseline="0" noProof="0" dirty="0">
                <a:ln>
                  <a:noFill/>
                </a:ln>
                <a:solidFill>
                  <a:prstClr val="black"/>
                </a:solidFill>
                <a:effectLst/>
                <a:uLnTx/>
                <a:uFillTx/>
                <a:latin typeface="等线"/>
                <a:ea typeface="等线"/>
                <a:cs typeface="+mn-cs"/>
              </a:rPr>
              <a:t>rewind</a:t>
            </a:r>
            <a:r>
              <a:rPr kumimoji="0" lang="zh-CN" altLang="en-US" sz="1800" b="0" i="0" u="none" strike="noStrike" kern="0" cap="none" spc="0" normalizeH="0" baseline="0" noProof="0" dirty="0">
                <a:ln>
                  <a:noFill/>
                </a:ln>
                <a:solidFill>
                  <a:prstClr val="black"/>
                </a:solidFill>
                <a:effectLst/>
                <a:uLnTx/>
                <a:uFillTx/>
                <a:latin typeface="等线"/>
                <a:ea typeface="等线"/>
                <a:cs typeface="+mn-cs"/>
              </a:rPr>
              <a:t>函数，或任何其他一个输入输出函数。</a:t>
            </a:r>
          </a:p>
        </p:txBody>
      </p:sp>
      <p:sp>
        <p:nvSpPr>
          <p:cNvPr id="5" name="矩形 4"/>
          <p:cNvSpPr/>
          <p:nvPr/>
        </p:nvSpPr>
        <p:spPr>
          <a:xfrm>
            <a:off x="1492176" y="1541961"/>
            <a:ext cx="2497198"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a:ln>
                  <a:noFill/>
                </a:ln>
                <a:solidFill>
                  <a:prstClr val="white"/>
                </a:solidFill>
                <a:effectLst/>
                <a:uLnTx/>
                <a:uFillTx/>
                <a:latin typeface="等线"/>
                <a:ea typeface="等线"/>
                <a:cs typeface="+mn-cs"/>
              </a:rPr>
              <a:t> ferror(fp); </a:t>
            </a:r>
          </a:p>
        </p:txBody>
      </p:sp>
      <p:grpSp>
        <p:nvGrpSpPr>
          <p:cNvPr id="6" name="组合 5">
            <a:extLst>
              <a:ext uri="{FF2B5EF4-FFF2-40B4-BE49-F238E27FC236}">
                <a16:creationId xmlns:a16="http://schemas.microsoft.com/office/drawing/2014/main" id="{17545ED2-DA8A-47EF-94D4-E66974757BFA}"/>
              </a:ext>
            </a:extLst>
          </p:cNvPr>
          <p:cNvGrpSpPr/>
          <p:nvPr/>
        </p:nvGrpSpPr>
        <p:grpSpPr>
          <a:xfrm>
            <a:off x="4788024" y="2409604"/>
            <a:ext cx="3816424" cy="1883492"/>
            <a:chOff x="8582294" y="4088154"/>
            <a:chExt cx="6819168" cy="1636882"/>
          </a:xfrm>
        </p:grpSpPr>
        <p:sp>
          <p:nvSpPr>
            <p:cNvPr id="7" name="MH_Other_1">
              <a:extLst>
                <a:ext uri="{FF2B5EF4-FFF2-40B4-BE49-F238E27FC236}">
                  <a16:creationId xmlns:a16="http://schemas.microsoft.com/office/drawing/2014/main" id="{98756F42-E805-44E1-B206-210FDC56FF02}"/>
                </a:ext>
              </a:extLst>
            </p:cNvPr>
            <p:cNvSpPr/>
            <p:nvPr>
              <p:custDataLst>
                <p:tags r:id="rId2"/>
              </p:custDataLst>
            </p:nvPr>
          </p:nvSpPr>
          <p:spPr>
            <a:xfrm>
              <a:off x="8582294" y="4088154"/>
              <a:ext cx="774700" cy="522287"/>
            </a:xfrm>
            <a:custGeom>
              <a:avLst/>
              <a:gdLst>
                <a:gd name="connsiteX0" fmla="*/ 0 w 2429934"/>
                <a:gd name="connsiteY0" fmla="*/ 360367 h 372534"/>
                <a:gd name="connsiteX1" fmla="*/ 2429934 w 2429934"/>
                <a:gd name="connsiteY1" fmla="*/ 360367 h 372534"/>
                <a:gd name="connsiteX2" fmla="*/ 2429934 w 2429934"/>
                <a:gd name="connsiteY2" fmla="*/ 372534 h 372534"/>
                <a:gd name="connsiteX3" fmla="*/ 0 w 2429934"/>
                <a:gd name="connsiteY3" fmla="*/ 372534 h 372534"/>
                <a:gd name="connsiteX4" fmla="*/ 0 w 2429934"/>
                <a:gd name="connsiteY4" fmla="*/ 30167 h 372534"/>
                <a:gd name="connsiteX5" fmla="*/ 2429934 w 2429934"/>
                <a:gd name="connsiteY5" fmla="*/ 30167 h 372534"/>
                <a:gd name="connsiteX6" fmla="*/ 2429934 w 2429934"/>
                <a:gd name="connsiteY6" fmla="*/ 342367 h 372534"/>
                <a:gd name="connsiteX7" fmla="*/ 0 w 2429934"/>
                <a:gd name="connsiteY7" fmla="*/ 342367 h 372534"/>
                <a:gd name="connsiteX8" fmla="*/ 0 w 2429934"/>
                <a:gd name="connsiteY8" fmla="*/ 0 h 372534"/>
                <a:gd name="connsiteX9" fmla="*/ 2429934 w 2429934"/>
                <a:gd name="connsiteY9" fmla="*/ 0 h 372534"/>
                <a:gd name="connsiteX10" fmla="*/ 2429934 w 2429934"/>
                <a:gd name="connsiteY10" fmla="*/ 12167 h 372534"/>
                <a:gd name="connsiteX11" fmla="*/ 0 w 2429934"/>
                <a:gd name="connsiteY11" fmla="*/ 12167 h 372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9934" h="372534">
                  <a:moveTo>
                    <a:pt x="0" y="360367"/>
                  </a:moveTo>
                  <a:lnTo>
                    <a:pt x="2429934" y="360367"/>
                  </a:lnTo>
                  <a:lnTo>
                    <a:pt x="2429934" y="372534"/>
                  </a:lnTo>
                  <a:lnTo>
                    <a:pt x="0" y="372534"/>
                  </a:lnTo>
                  <a:close/>
                  <a:moveTo>
                    <a:pt x="0" y="30167"/>
                  </a:moveTo>
                  <a:lnTo>
                    <a:pt x="2429934" y="30167"/>
                  </a:lnTo>
                  <a:lnTo>
                    <a:pt x="2429934" y="342367"/>
                  </a:lnTo>
                  <a:lnTo>
                    <a:pt x="0" y="342367"/>
                  </a:lnTo>
                  <a:close/>
                  <a:moveTo>
                    <a:pt x="0" y="0"/>
                  </a:moveTo>
                  <a:lnTo>
                    <a:pt x="2429934" y="0"/>
                  </a:lnTo>
                  <a:lnTo>
                    <a:pt x="2429934" y="12167"/>
                  </a:lnTo>
                  <a:lnTo>
                    <a:pt x="0" y="12167"/>
                  </a:lnTo>
                  <a:close/>
                </a:path>
              </a:pathLst>
            </a:custGeom>
            <a:solidFill>
              <a:srgbClr val="FF0000"/>
            </a:solidFill>
            <a:ln w="12700" cap="flat" cmpd="sng" algn="ctr">
              <a:noFill/>
              <a:prstDash val="solid"/>
              <a:miter lim="800000"/>
            </a:ln>
            <a:effectLst/>
          </p:spPr>
          <p:txBody>
            <a:bodyPr lIns="36000" rIns="360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300" b="0" i="0" u="none" strike="noStrike" kern="0" cap="none" spc="0" normalizeH="0" baseline="0" noProof="0" dirty="0">
                  <a:ln>
                    <a:noFill/>
                  </a:ln>
                  <a:solidFill>
                    <a:srgbClr val="FEFFFF"/>
                  </a:solidFill>
                  <a:effectLst/>
                  <a:uLnTx/>
                  <a:uFillTx/>
                  <a:latin typeface="等线"/>
                  <a:ea typeface="等线"/>
                  <a:cs typeface="+mn-cs"/>
                </a:rPr>
                <a:t>注意</a:t>
              </a:r>
            </a:p>
          </p:txBody>
        </p:sp>
        <p:sp>
          <p:nvSpPr>
            <p:cNvPr id="8" name="MH_SubTitle_1">
              <a:extLst>
                <a:ext uri="{FF2B5EF4-FFF2-40B4-BE49-F238E27FC236}">
                  <a16:creationId xmlns:a16="http://schemas.microsoft.com/office/drawing/2014/main" id="{69E4BA76-C13A-4969-92D9-9D00A59EA9BD}"/>
                </a:ext>
              </a:extLst>
            </p:cNvPr>
            <p:cNvSpPr/>
            <p:nvPr>
              <p:custDataLst>
                <p:tags r:id="rId3"/>
              </p:custDataLst>
            </p:nvPr>
          </p:nvSpPr>
          <p:spPr>
            <a:xfrm>
              <a:off x="9371543" y="4088154"/>
              <a:ext cx="6029918" cy="1636882"/>
            </a:xfrm>
            <a:prstGeom prst="rect">
              <a:avLst/>
            </a:prstGeom>
            <a:solidFill>
              <a:srgbClr val="FEFFFF"/>
            </a:solidFill>
            <a:ln w="9525" cap="flat" cmpd="sng" algn="ctr">
              <a:solidFill>
                <a:srgbClr val="B2B2B2"/>
              </a:solidFill>
              <a:prstDash val="solid"/>
              <a:miter lim="800000"/>
            </a:ln>
            <a:effectLst>
              <a:outerShdw blurRad="50800" dist="38100" dir="10800000" algn="r" rotWithShape="0">
                <a:prstClr val="black">
                  <a:alpha val="40000"/>
                </a:prstClr>
              </a:outerShdw>
            </a:effectLst>
          </p:spPr>
          <p:txBody>
            <a:bodyPr lIns="72000" tIns="72000" rIns="72000" bIns="72000" anchor="t">
              <a:noAutofit/>
            </a:bodyPr>
            <a:lstStyle/>
            <a:p>
              <a:pPr marL="0" marR="0" lvl="0" indent="0" algn="just" defTabSz="914400" eaLnBrk="1" fontAlgn="auto" latinLnBrk="0" hangingPunct="1">
                <a:lnSpc>
                  <a:spcPct val="120000"/>
                </a:lnSpc>
                <a:spcBef>
                  <a:spcPts val="600"/>
                </a:spcBef>
                <a:spcAft>
                  <a:spcPts val="1200"/>
                </a:spcAft>
                <a:buClrTx/>
                <a:buSzTx/>
                <a:buFontTx/>
                <a:buNone/>
                <a:tabLst/>
                <a:defRPr/>
              </a:pPr>
              <a:r>
                <a:rPr kumimoji="0" lang="zh-CN" altLang="en-US" sz="1300" b="0" i="0" u="none" strike="noStrike" kern="0" cap="none" spc="0" normalizeH="0" baseline="0" noProof="0" dirty="0">
                  <a:ln>
                    <a:noFill/>
                  </a:ln>
                  <a:solidFill>
                    <a:prstClr val="black"/>
                  </a:solidFill>
                  <a:effectLst/>
                  <a:uLnTx/>
                  <a:uFillTx/>
                  <a:latin typeface="等线"/>
                  <a:ea typeface="等线"/>
                  <a:cs typeface="+mn-cs"/>
                </a:rPr>
                <a:t>对同一个文件每一次调用输入输出函数，都会产生一个新的</a:t>
              </a:r>
              <a:r>
                <a:rPr kumimoji="0" lang="en-US" altLang="zh-CN" sz="1300" b="0" i="0" u="none" strike="noStrike" kern="0" cap="none" spc="0" normalizeH="0" baseline="0" noProof="0" dirty="0" err="1">
                  <a:ln>
                    <a:noFill/>
                  </a:ln>
                  <a:solidFill>
                    <a:prstClr val="black"/>
                  </a:solidFill>
                  <a:effectLst/>
                  <a:uLnTx/>
                  <a:uFillTx/>
                  <a:latin typeface="等线"/>
                  <a:ea typeface="等线"/>
                  <a:cs typeface="+mn-cs"/>
                </a:rPr>
                <a:t>ferror</a:t>
              </a:r>
              <a:r>
                <a:rPr kumimoji="0" lang="zh-CN" altLang="en-US" sz="1300" b="0" i="0" u="none" strike="noStrike" kern="0" cap="none" spc="0" normalizeH="0" baseline="0" noProof="0" dirty="0">
                  <a:ln>
                    <a:noFill/>
                  </a:ln>
                  <a:solidFill>
                    <a:prstClr val="black"/>
                  </a:solidFill>
                  <a:effectLst/>
                  <a:uLnTx/>
                  <a:uFillTx/>
                  <a:latin typeface="等线"/>
                  <a:ea typeface="等线"/>
                  <a:cs typeface="+mn-cs"/>
                </a:rPr>
                <a:t>函数值，因此，应当在调用一个输入输出函数后立即检查</a:t>
              </a:r>
              <a:r>
                <a:rPr kumimoji="0" lang="en-US" altLang="zh-CN" sz="1300" b="0" i="0" u="none" strike="noStrike" kern="0" cap="none" spc="0" normalizeH="0" baseline="0" noProof="0" dirty="0" err="1">
                  <a:ln>
                    <a:noFill/>
                  </a:ln>
                  <a:solidFill>
                    <a:prstClr val="black"/>
                  </a:solidFill>
                  <a:effectLst/>
                  <a:uLnTx/>
                  <a:uFillTx/>
                  <a:latin typeface="等线"/>
                  <a:ea typeface="等线"/>
                  <a:cs typeface="+mn-cs"/>
                </a:rPr>
                <a:t>ferror</a:t>
              </a:r>
              <a:r>
                <a:rPr kumimoji="0" lang="zh-CN" altLang="en-US" sz="1300" b="0" i="0" u="none" strike="noStrike" kern="0" cap="none" spc="0" normalizeH="0" baseline="0" noProof="0" dirty="0">
                  <a:ln>
                    <a:noFill/>
                  </a:ln>
                  <a:solidFill>
                    <a:prstClr val="black"/>
                  </a:solidFill>
                  <a:effectLst/>
                  <a:uLnTx/>
                  <a:uFillTx/>
                  <a:latin typeface="等线"/>
                  <a:ea typeface="等线"/>
                  <a:cs typeface="+mn-cs"/>
                </a:rPr>
                <a:t>函数的值，否则信息会丢失。</a:t>
              </a:r>
              <a:endParaRPr kumimoji="0" lang="en-US" altLang="zh-CN" sz="1300" b="0" i="0" u="none" strike="noStrike" kern="0" cap="none" spc="0" normalizeH="0" baseline="0" noProof="0" dirty="0">
                <a:ln>
                  <a:noFill/>
                </a:ln>
                <a:solidFill>
                  <a:prstClr val="black"/>
                </a:solidFill>
                <a:effectLst/>
                <a:uLnTx/>
                <a:uFillTx/>
                <a:latin typeface="等线"/>
                <a:ea typeface="等线"/>
                <a:cs typeface="+mn-cs"/>
              </a:endParaRPr>
            </a:p>
            <a:p>
              <a:pPr marL="0" marR="0" lvl="0" indent="0" algn="just" defTabSz="914400" eaLnBrk="1" fontAlgn="auto" latinLnBrk="0" hangingPunct="1">
                <a:lnSpc>
                  <a:spcPct val="120000"/>
                </a:lnSpc>
                <a:spcBef>
                  <a:spcPts val="600"/>
                </a:spcBef>
                <a:spcAft>
                  <a:spcPts val="1200"/>
                </a:spcAft>
                <a:buClrTx/>
                <a:buSzTx/>
                <a:buFontTx/>
                <a:buNone/>
                <a:tabLst/>
                <a:defRPr/>
              </a:pPr>
              <a:r>
                <a:rPr kumimoji="0" lang="zh-CN" altLang="en-US" sz="1300" b="0" i="0" u="none" strike="noStrike" kern="0" cap="none" spc="0" normalizeH="0" baseline="0" noProof="0" dirty="0">
                  <a:ln>
                    <a:noFill/>
                  </a:ln>
                  <a:solidFill>
                    <a:prstClr val="black"/>
                  </a:solidFill>
                  <a:effectLst/>
                  <a:uLnTx/>
                  <a:uFillTx/>
                  <a:latin typeface="等线"/>
                  <a:ea typeface="等线"/>
                  <a:cs typeface="+mn-cs"/>
                </a:rPr>
                <a:t>在执行</a:t>
              </a:r>
              <a:r>
                <a:rPr kumimoji="0" lang="en-US" altLang="zh-CN" sz="1300" b="0" i="0" u="none" strike="noStrike" kern="0" cap="none" spc="0" normalizeH="0" baseline="0" noProof="0" dirty="0" err="1">
                  <a:ln>
                    <a:noFill/>
                  </a:ln>
                  <a:solidFill>
                    <a:prstClr val="black"/>
                  </a:solidFill>
                  <a:effectLst/>
                  <a:uLnTx/>
                  <a:uFillTx/>
                  <a:latin typeface="等线"/>
                  <a:ea typeface="等线"/>
                  <a:cs typeface="+mn-cs"/>
                </a:rPr>
                <a:t>fopen</a:t>
              </a:r>
              <a:r>
                <a:rPr kumimoji="0" lang="zh-CN" altLang="en-US" sz="1300" b="0" i="0" u="none" strike="noStrike" kern="0" cap="none" spc="0" normalizeH="0" baseline="0" noProof="0" dirty="0">
                  <a:ln>
                    <a:noFill/>
                  </a:ln>
                  <a:solidFill>
                    <a:prstClr val="black"/>
                  </a:solidFill>
                  <a:effectLst/>
                  <a:uLnTx/>
                  <a:uFillTx/>
                  <a:latin typeface="等线"/>
                  <a:ea typeface="等线"/>
                  <a:cs typeface="+mn-cs"/>
                </a:rPr>
                <a:t>函数时，</a:t>
              </a:r>
              <a:r>
                <a:rPr kumimoji="0" lang="en-US" altLang="zh-CN" sz="1300" b="0" i="0" u="none" strike="noStrike" kern="0" cap="none" spc="0" normalizeH="0" baseline="0" noProof="0" dirty="0" err="1">
                  <a:ln>
                    <a:noFill/>
                  </a:ln>
                  <a:solidFill>
                    <a:prstClr val="black"/>
                  </a:solidFill>
                  <a:effectLst/>
                  <a:uLnTx/>
                  <a:uFillTx/>
                  <a:latin typeface="等线"/>
                  <a:ea typeface="等线"/>
                  <a:cs typeface="+mn-cs"/>
                </a:rPr>
                <a:t>ferror</a:t>
              </a:r>
              <a:r>
                <a:rPr kumimoji="0" lang="zh-CN" altLang="en-US" sz="1300" b="0" i="0" u="none" strike="noStrike" kern="0" cap="none" spc="0" normalizeH="0" baseline="0" noProof="0" dirty="0">
                  <a:ln>
                    <a:noFill/>
                  </a:ln>
                  <a:solidFill>
                    <a:prstClr val="black"/>
                  </a:solidFill>
                  <a:effectLst/>
                  <a:uLnTx/>
                  <a:uFillTx/>
                  <a:latin typeface="等线"/>
                  <a:ea typeface="等线"/>
                  <a:cs typeface="+mn-cs"/>
                </a:rPr>
                <a:t>函数的初始值自动置为</a:t>
              </a:r>
              <a:r>
                <a:rPr kumimoji="0" lang="en-US" altLang="zh-CN" sz="1300" b="0" i="0" u="none" strike="noStrike" kern="0" cap="none" spc="0" normalizeH="0" baseline="0" noProof="0" dirty="0">
                  <a:ln>
                    <a:noFill/>
                  </a:ln>
                  <a:solidFill>
                    <a:prstClr val="black"/>
                  </a:solidFill>
                  <a:effectLst/>
                  <a:uLnTx/>
                  <a:uFillTx/>
                  <a:latin typeface="等线"/>
                  <a:ea typeface="等线"/>
                  <a:cs typeface="+mn-cs"/>
                </a:rPr>
                <a:t>0</a:t>
              </a:r>
              <a:r>
                <a:rPr kumimoji="0" lang="zh-CN" altLang="en-US" sz="1300" b="0" i="0" u="none" strike="noStrike" kern="0" cap="none" spc="0" normalizeH="0" baseline="0" noProof="0" dirty="0">
                  <a:ln>
                    <a:noFill/>
                  </a:ln>
                  <a:solidFill>
                    <a:prstClr val="black"/>
                  </a:solidFill>
                  <a:effectLst/>
                  <a:uLnTx/>
                  <a:uFillTx/>
                  <a:latin typeface="等线"/>
                  <a:ea typeface="等线"/>
                  <a:cs typeface="+mn-cs"/>
                </a:rPr>
                <a:t>。</a:t>
              </a:r>
            </a:p>
          </p:txBody>
        </p:sp>
        <p:sp>
          <p:nvSpPr>
            <p:cNvPr id="9" name="MH_Other_2">
              <a:extLst>
                <a:ext uri="{FF2B5EF4-FFF2-40B4-BE49-F238E27FC236}">
                  <a16:creationId xmlns:a16="http://schemas.microsoft.com/office/drawing/2014/main" id="{3CA80AA9-E20C-418F-9461-7E1AE248D8DE}"/>
                </a:ext>
              </a:extLst>
            </p:cNvPr>
            <p:cNvSpPr/>
            <p:nvPr>
              <p:custDataLst>
                <p:tags r:id="rId4"/>
              </p:custDataLst>
            </p:nvPr>
          </p:nvSpPr>
          <p:spPr>
            <a:xfrm rot="16200000">
              <a:off x="15099837" y="5423410"/>
              <a:ext cx="301625" cy="301625"/>
            </a:xfrm>
            <a:prstGeom prst="rtTriangle">
              <a:avLst/>
            </a:prstGeom>
            <a:solidFill>
              <a:srgbClr val="B2B2B2"/>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a:cs typeface="+mn-cs"/>
              </a:endParaRPr>
            </a:p>
          </p:txBody>
        </p:sp>
      </p:grpSp>
    </p:spTree>
    <p:extLst>
      <p:ext uri="{BB962C8B-B14F-4D97-AF65-F5344CB8AC3E}">
        <p14:creationId xmlns:p14="http://schemas.microsoft.com/office/powerpoint/2010/main" val="1253770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8BDF8-9BFB-43C4-84AF-8BCB8E385387}"/>
              </a:ext>
            </a:extLst>
          </p:cNvPr>
          <p:cNvSpPr>
            <a:spLocks noGrp="1"/>
          </p:cNvSpPr>
          <p:nvPr>
            <p:ph type="title"/>
          </p:nvPr>
        </p:nvSpPr>
        <p:spPr/>
        <p:txBody>
          <a:bodyPr/>
          <a:lstStyle/>
          <a:p>
            <a:r>
              <a:rPr lang="zh-CN" altLang="en-US" dirty="0"/>
              <a:t>工程</a:t>
            </a:r>
            <a:endParaRPr lang="en-US" dirty="0"/>
          </a:p>
        </p:txBody>
      </p:sp>
      <p:sp>
        <p:nvSpPr>
          <p:cNvPr id="3" name="内容占位符 2">
            <a:extLst>
              <a:ext uri="{FF2B5EF4-FFF2-40B4-BE49-F238E27FC236}">
                <a16:creationId xmlns:a16="http://schemas.microsoft.com/office/drawing/2014/main" id="{4A6811DF-CBC2-4E5C-826A-61D01F9ED6A1}"/>
              </a:ext>
            </a:extLst>
          </p:cNvPr>
          <p:cNvSpPr>
            <a:spLocks noGrp="1"/>
          </p:cNvSpPr>
          <p:nvPr>
            <p:ph idx="1"/>
          </p:nvPr>
        </p:nvSpPr>
        <p:spPr/>
        <p:txBody>
          <a:bodyPr/>
          <a:lstStyle/>
          <a:p>
            <a:r>
              <a:rPr lang="en-US" altLang="zh-CN" dirty="0"/>
              <a:t>C/C++</a:t>
            </a:r>
            <a:r>
              <a:rPr lang="zh-CN" altLang="en-US" dirty="0"/>
              <a:t>语言多文件程序设计</a:t>
            </a:r>
            <a:endParaRPr lang="en-US" altLang="zh-CN" dirty="0"/>
          </a:p>
          <a:p>
            <a:pPr lvl="1"/>
            <a:r>
              <a:rPr lang="zh-CN" altLang="en-US" dirty="0"/>
              <a:t>头文件</a:t>
            </a:r>
            <a:r>
              <a:rPr lang="en-US" altLang="zh-CN" dirty="0"/>
              <a:t>(.h)</a:t>
            </a:r>
          </a:p>
          <a:p>
            <a:pPr lvl="2"/>
            <a:r>
              <a:rPr lang="zh-CN" altLang="en-US" dirty="0"/>
              <a:t>头文件是源文件（</a:t>
            </a:r>
            <a:r>
              <a:rPr lang="en-US" altLang="zh-CN" dirty="0"/>
              <a:t>.c</a:t>
            </a:r>
            <a:r>
              <a:rPr lang="zh-CN" altLang="en-US" dirty="0"/>
              <a:t>）的接口定义文件</a:t>
            </a:r>
            <a:endParaRPr lang="en-US" altLang="zh-CN" dirty="0"/>
          </a:p>
          <a:p>
            <a:pPr lvl="2"/>
            <a:r>
              <a:rPr lang="zh-CN" altLang="en-US" dirty="0"/>
              <a:t>接口指的是可被其他文件访问的</a:t>
            </a:r>
            <a:r>
              <a:rPr lang="zh-CN" altLang="en-US" dirty="0">
                <a:solidFill>
                  <a:srgbClr val="FF0000"/>
                </a:solidFill>
              </a:rPr>
              <a:t>函数</a:t>
            </a:r>
            <a:r>
              <a:rPr lang="zh-CN" altLang="en-US" dirty="0"/>
              <a:t>或者</a:t>
            </a:r>
            <a:r>
              <a:rPr lang="zh-CN" altLang="en-US" dirty="0">
                <a:solidFill>
                  <a:srgbClr val="FF0000"/>
                </a:solidFill>
              </a:rPr>
              <a:t>数据</a:t>
            </a:r>
            <a:endParaRPr lang="en-US" altLang="zh-CN" dirty="0">
              <a:solidFill>
                <a:srgbClr val="FF0000"/>
              </a:solidFill>
            </a:endParaRPr>
          </a:p>
          <a:p>
            <a:pPr lvl="3"/>
            <a:r>
              <a:rPr lang="zh-CN" altLang="en-US" dirty="0"/>
              <a:t>例如</a:t>
            </a:r>
            <a:r>
              <a:rPr lang="en-US" altLang="zh-CN" dirty="0" err="1"/>
              <a:t>a.c</a:t>
            </a:r>
            <a:r>
              <a:rPr lang="zh-CN" altLang="en-US" dirty="0"/>
              <a:t>中想使用</a:t>
            </a:r>
            <a:r>
              <a:rPr lang="en-US" altLang="zh-CN" dirty="0" err="1"/>
              <a:t>b.c</a:t>
            </a:r>
            <a:r>
              <a:rPr lang="zh-CN" altLang="en-US" dirty="0"/>
              <a:t>中定义的函数或变量，就可以通过</a:t>
            </a:r>
            <a:r>
              <a:rPr lang="en-US" altLang="zh-CN" dirty="0" err="1"/>
              <a:t>b.h</a:t>
            </a:r>
            <a:r>
              <a:rPr lang="zh-CN" altLang="en-US" dirty="0"/>
              <a:t>来使用，</a:t>
            </a:r>
            <a:r>
              <a:rPr lang="en-US" altLang="zh-CN" dirty="0" err="1"/>
              <a:t>b.h</a:t>
            </a:r>
            <a:r>
              <a:rPr lang="zh-CN" altLang="en-US" dirty="0"/>
              <a:t>中则需要声明了</a:t>
            </a:r>
            <a:r>
              <a:rPr lang="en-US" altLang="zh-CN" dirty="0" err="1"/>
              <a:t>b.c</a:t>
            </a:r>
            <a:r>
              <a:rPr lang="zh-CN" altLang="en-US" dirty="0"/>
              <a:t>中的函数和变量。</a:t>
            </a:r>
            <a:endParaRPr lang="en-US" dirty="0"/>
          </a:p>
          <a:p>
            <a:pPr lvl="2"/>
            <a:r>
              <a:rPr lang="zh-CN" altLang="en-US" sz="1600" dirty="0"/>
              <a:t>不要有函数实现</a:t>
            </a:r>
            <a:endParaRPr lang="en-US" altLang="zh-CN" sz="1600" dirty="0"/>
          </a:p>
          <a:p>
            <a:pPr lvl="2"/>
            <a:r>
              <a:rPr lang="zh-CN" altLang="en-US" sz="1600" dirty="0"/>
              <a:t>尽量不要定义变量：被多个文件包含的时候会出现多次定义同一个变量，链接错误</a:t>
            </a:r>
            <a:endParaRPr lang="en-US" altLang="zh-CN" sz="1600" dirty="0"/>
          </a:p>
          <a:p>
            <a:pPr lvl="1"/>
            <a:r>
              <a:rPr lang="zh-CN" altLang="en-US" sz="2000" dirty="0"/>
              <a:t>模块文件（</a:t>
            </a:r>
            <a:r>
              <a:rPr lang="en-US" altLang="zh-CN" sz="2000" dirty="0"/>
              <a:t>.c/.</a:t>
            </a:r>
            <a:r>
              <a:rPr lang="en-US" altLang="zh-CN" sz="2000" dirty="0" err="1"/>
              <a:t>cpp</a:t>
            </a:r>
            <a:r>
              <a:rPr lang="zh-CN" altLang="en-US" sz="2000" dirty="0"/>
              <a:t>）</a:t>
            </a:r>
            <a:endParaRPr lang="en-US" altLang="zh-CN" sz="2000" dirty="0"/>
          </a:p>
          <a:p>
            <a:pPr lvl="2"/>
            <a:r>
              <a:rPr lang="zh-CN" altLang="en-US" sz="1600" dirty="0"/>
              <a:t>放置一些函数定义，也称为功能模块。</a:t>
            </a:r>
          </a:p>
          <a:p>
            <a:pPr lvl="1"/>
            <a:r>
              <a:rPr lang="zh-CN" altLang="en-US" sz="2000" dirty="0"/>
              <a:t>主程序文件（</a:t>
            </a:r>
            <a:r>
              <a:rPr lang="en-US" altLang="zh-CN" sz="2000" dirty="0"/>
              <a:t>.c/.</a:t>
            </a:r>
            <a:r>
              <a:rPr lang="en-US" altLang="zh-CN" sz="2000" dirty="0" err="1"/>
              <a:t>cpp</a:t>
            </a:r>
            <a:r>
              <a:rPr lang="zh-CN" altLang="en-US" sz="2000" dirty="0"/>
              <a:t>）</a:t>
            </a:r>
            <a:endParaRPr lang="en-US" altLang="zh-CN" sz="2000" dirty="0"/>
          </a:p>
          <a:p>
            <a:pPr lvl="2"/>
            <a:r>
              <a:rPr lang="zh-CN" altLang="en-US" dirty="0"/>
              <a:t>包含</a:t>
            </a:r>
            <a:r>
              <a:rPr lang="en-US" altLang="zh-CN" dirty="0"/>
              <a:t>main()</a:t>
            </a:r>
            <a:r>
              <a:rPr lang="zh-CN" altLang="en-US" dirty="0"/>
              <a:t>的文件：程序入口，调用模块文件实现的函数。</a:t>
            </a:r>
            <a:endParaRPr lang="en-US" dirty="0"/>
          </a:p>
        </p:txBody>
      </p:sp>
    </p:spTree>
    <p:extLst>
      <p:ext uri="{BB962C8B-B14F-4D97-AF65-F5344CB8AC3E}">
        <p14:creationId xmlns:p14="http://schemas.microsoft.com/office/powerpoint/2010/main" val="3683751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1C89C0-7246-40D8-8836-A70737B1B7F7}"/>
              </a:ext>
            </a:extLst>
          </p:cNvPr>
          <p:cNvSpPr>
            <a:spLocks noGrp="1"/>
          </p:cNvSpPr>
          <p:nvPr>
            <p:ph type="title"/>
          </p:nvPr>
        </p:nvSpPr>
        <p:spPr/>
        <p:txBody>
          <a:bodyPr/>
          <a:lstStyle/>
          <a:p>
            <a:r>
              <a:rPr lang="zh-CN" altLang="en-US" dirty="0"/>
              <a:t>多文件程序设计</a:t>
            </a:r>
            <a:endParaRPr lang="en-US" dirty="0"/>
          </a:p>
        </p:txBody>
      </p:sp>
      <p:sp>
        <p:nvSpPr>
          <p:cNvPr id="3" name="内容占位符 2">
            <a:extLst>
              <a:ext uri="{FF2B5EF4-FFF2-40B4-BE49-F238E27FC236}">
                <a16:creationId xmlns:a16="http://schemas.microsoft.com/office/drawing/2014/main" id="{123F5B6F-3ACC-47AB-ABF9-FDC66A1A2DA3}"/>
              </a:ext>
            </a:extLst>
          </p:cNvPr>
          <p:cNvSpPr>
            <a:spLocks noGrp="1"/>
          </p:cNvSpPr>
          <p:nvPr>
            <p:ph idx="1"/>
          </p:nvPr>
        </p:nvSpPr>
        <p:spPr>
          <a:xfrm>
            <a:off x="432000" y="1260000"/>
            <a:ext cx="8280000" cy="5040000"/>
          </a:xfrm>
        </p:spPr>
        <p:txBody>
          <a:bodyPr/>
          <a:lstStyle/>
          <a:p>
            <a:r>
              <a:rPr lang="zh-CN" altLang="en-US"/>
              <a:t>以某作业</a:t>
            </a:r>
            <a:r>
              <a:rPr lang="zh-CN" altLang="en-US" dirty="0"/>
              <a:t>要求为例：</a:t>
            </a:r>
            <a:endParaRPr lang="en-US" altLang="zh-CN" dirty="0"/>
          </a:p>
          <a:p>
            <a:pPr marL="397800" lvl="1" indent="0">
              <a:buNone/>
            </a:pPr>
            <a:endParaRPr lang="en-US" dirty="0"/>
          </a:p>
        </p:txBody>
      </p:sp>
      <p:sp>
        <p:nvSpPr>
          <p:cNvPr id="4" name="矩形 3">
            <a:extLst>
              <a:ext uri="{FF2B5EF4-FFF2-40B4-BE49-F238E27FC236}">
                <a16:creationId xmlns:a16="http://schemas.microsoft.com/office/drawing/2014/main" id="{BF98F80D-C321-406E-9EA2-8D09AEE5785A}"/>
              </a:ext>
            </a:extLst>
          </p:cNvPr>
          <p:cNvSpPr/>
          <p:nvPr/>
        </p:nvSpPr>
        <p:spPr>
          <a:xfrm>
            <a:off x="754602" y="1961962"/>
            <a:ext cx="1580226" cy="6836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quicksort.cpp</a:t>
            </a:r>
          </a:p>
        </p:txBody>
      </p:sp>
      <p:sp>
        <p:nvSpPr>
          <p:cNvPr id="5" name="矩形 4">
            <a:extLst>
              <a:ext uri="{FF2B5EF4-FFF2-40B4-BE49-F238E27FC236}">
                <a16:creationId xmlns:a16="http://schemas.microsoft.com/office/drawing/2014/main" id="{B80D4491-B359-40AC-8306-5F774828E3F6}"/>
              </a:ext>
            </a:extLst>
          </p:cNvPr>
          <p:cNvSpPr/>
          <p:nvPr/>
        </p:nvSpPr>
        <p:spPr>
          <a:xfrm>
            <a:off x="754602" y="3331878"/>
            <a:ext cx="1580226" cy="6836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project.cpp</a:t>
            </a:r>
          </a:p>
        </p:txBody>
      </p:sp>
      <p:sp>
        <p:nvSpPr>
          <p:cNvPr id="6" name="矩形: 圆角 5">
            <a:extLst>
              <a:ext uri="{FF2B5EF4-FFF2-40B4-BE49-F238E27FC236}">
                <a16:creationId xmlns:a16="http://schemas.microsoft.com/office/drawing/2014/main" id="{18648EB5-F631-40EE-B983-21E87595CD4B}"/>
              </a:ext>
            </a:extLst>
          </p:cNvPr>
          <p:cNvSpPr/>
          <p:nvPr/>
        </p:nvSpPr>
        <p:spPr>
          <a:xfrm>
            <a:off x="3879541" y="1961962"/>
            <a:ext cx="1420427" cy="683692"/>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quicksort.o</a:t>
            </a:r>
            <a:endParaRPr lang="en-US" dirty="0"/>
          </a:p>
        </p:txBody>
      </p:sp>
      <p:sp>
        <p:nvSpPr>
          <p:cNvPr id="7" name="矩形: 圆角 6">
            <a:extLst>
              <a:ext uri="{FF2B5EF4-FFF2-40B4-BE49-F238E27FC236}">
                <a16:creationId xmlns:a16="http://schemas.microsoft.com/office/drawing/2014/main" id="{4BE43FC2-B0DF-4B6D-AC48-F95AB48AA61D}"/>
              </a:ext>
            </a:extLst>
          </p:cNvPr>
          <p:cNvSpPr/>
          <p:nvPr/>
        </p:nvSpPr>
        <p:spPr>
          <a:xfrm>
            <a:off x="3879541" y="3340755"/>
            <a:ext cx="1420427" cy="683692"/>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project.o</a:t>
            </a:r>
            <a:endParaRPr lang="en-US" dirty="0"/>
          </a:p>
        </p:txBody>
      </p:sp>
      <p:sp>
        <p:nvSpPr>
          <p:cNvPr id="8" name="箭头: 右 7">
            <a:extLst>
              <a:ext uri="{FF2B5EF4-FFF2-40B4-BE49-F238E27FC236}">
                <a16:creationId xmlns:a16="http://schemas.microsoft.com/office/drawing/2014/main" id="{71C91C5A-3BE7-4D85-BA00-4D7F942B8F87}"/>
              </a:ext>
            </a:extLst>
          </p:cNvPr>
          <p:cNvSpPr/>
          <p:nvPr/>
        </p:nvSpPr>
        <p:spPr>
          <a:xfrm>
            <a:off x="6007246" y="2816632"/>
            <a:ext cx="1123024" cy="25295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D16AF60B-141E-431A-B53F-98F5E27C2198}"/>
              </a:ext>
            </a:extLst>
          </p:cNvPr>
          <p:cNvSpPr/>
          <p:nvPr/>
        </p:nvSpPr>
        <p:spPr>
          <a:xfrm>
            <a:off x="6195897" y="2485856"/>
            <a:ext cx="674703" cy="319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链接</a:t>
            </a:r>
            <a:endParaRPr lang="en-US" dirty="0">
              <a:solidFill>
                <a:schemeClr val="tx1"/>
              </a:solidFill>
            </a:endParaRPr>
          </a:p>
        </p:txBody>
      </p:sp>
      <p:sp>
        <p:nvSpPr>
          <p:cNvPr id="10" name="箭头: 右 9">
            <a:extLst>
              <a:ext uri="{FF2B5EF4-FFF2-40B4-BE49-F238E27FC236}">
                <a16:creationId xmlns:a16="http://schemas.microsoft.com/office/drawing/2014/main" id="{C665A32E-8A1E-4821-8AC3-E9C4222A643F}"/>
              </a:ext>
            </a:extLst>
          </p:cNvPr>
          <p:cNvSpPr/>
          <p:nvPr/>
        </p:nvSpPr>
        <p:spPr>
          <a:xfrm>
            <a:off x="2545672" y="3696150"/>
            <a:ext cx="1123024" cy="25295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BB70F779-B2B6-4828-8E02-76CA06956D01}"/>
              </a:ext>
            </a:extLst>
          </p:cNvPr>
          <p:cNvSpPr/>
          <p:nvPr/>
        </p:nvSpPr>
        <p:spPr>
          <a:xfrm>
            <a:off x="2734323" y="3365374"/>
            <a:ext cx="674703" cy="319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编译</a:t>
            </a:r>
            <a:endParaRPr lang="en-US" dirty="0">
              <a:solidFill>
                <a:schemeClr val="tx1"/>
              </a:solidFill>
            </a:endParaRPr>
          </a:p>
        </p:txBody>
      </p:sp>
      <p:sp>
        <p:nvSpPr>
          <p:cNvPr id="13" name="右大括号 12">
            <a:extLst>
              <a:ext uri="{FF2B5EF4-FFF2-40B4-BE49-F238E27FC236}">
                <a16:creationId xmlns:a16="http://schemas.microsoft.com/office/drawing/2014/main" id="{9EA58489-E419-43D7-B73D-8B143D8133E2}"/>
              </a:ext>
            </a:extLst>
          </p:cNvPr>
          <p:cNvSpPr/>
          <p:nvPr/>
        </p:nvSpPr>
        <p:spPr>
          <a:xfrm>
            <a:off x="5459768" y="2177329"/>
            <a:ext cx="355108" cy="16755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椭圆 13">
            <a:extLst>
              <a:ext uri="{FF2B5EF4-FFF2-40B4-BE49-F238E27FC236}">
                <a16:creationId xmlns:a16="http://schemas.microsoft.com/office/drawing/2014/main" id="{21B6ACDA-8327-4626-9719-D0E6EC8A024F}"/>
              </a:ext>
            </a:extLst>
          </p:cNvPr>
          <p:cNvSpPr/>
          <p:nvPr/>
        </p:nvSpPr>
        <p:spPr>
          <a:xfrm>
            <a:off x="7130270" y="2645654"/>
            <a:ext cx="1605358" cy="6836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project.exe</a:t>
            </a:r>
          </a:p>
        </p:txBody>
      </p:sp>
      <p:sp>
        <p:nvSpPr>
          <p:cNvPr id="15" name="箭头: 右 14">
            <a:extLst>
              <a:ext uri="{FF2B5EF4-FFF2-40B4-BE49-F238E27FC236}">
                <a16:creationId xmlns:a16="http://schemas.microsoft.com/office/drawing/2014/main" id="{8C95AED1-5E56-4BC8-A838-78361295E80F}"/>
              </a:ext>
            </a:extLst>
          </p:cNvPr>
          <p:cNvSpPr/>
          <p:nvPr/>
        </p:nvSpPr>
        <p:spPr>
          <a:xfrm>
            <a:off x="2495344" y="2235938"/>
            <a:ext cx="1123024" cy="25295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15">
            <a:extLst>
              <a:ext uri="{FF2B5EF4-FFF2-40B4-BE49-F238E27FC236}">
                <a16:creationId xmlns:a16="http://schemas.microsoft.com/office/drawing/2014/main" id="{0B301910-1CB6-4D9A-B212-0D14A3E0C8AD}"/>
              </a:ext>
            </a:extLst>
          </p:cNvPr>
          <p:cNvSpPr/>
          <p:nvPr/>
        </p:nvSpPr>
        <p:spPr>
          <a:xfrm>
            <a:off x="2683995" y="1905162"/>
            <a:ext cx="674703" cy="319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编译</a:t>
            </a:r>
            <a:endParaRPr lang="en-US" dirty="0">
              <a:solidFill>
                <a:schemeClr val="tx1"/>
              </a:solidFill>
            </a:endParaRPr>
          </a:p>
        </p:txBody>
      </p:sp>
      <p:sp>
        <p:nvSpPr>
          <p:cNvPr id="17" name="矩形 16">
            <a:extLst>
              <a:ext uri="{FF2B5EF4-FFF2-40B4-BE49-F238E27FC236}">
                <a16:creationId xmlns:a16="http://schemas.microsoft.com/office/drawing/2014/main" id="{F18E8FAD-2F2F-4F89-A567-5CC36225EDD8}"/>
              </a:ext>
            </a:extLst>
          </p:cNvPr>
          <p:cNvSpPr/>
          <p:nvPr/>
        </p:nvSpPr>
        <p:spPr>
          <a:xfrm>
            <a:off x="528222" y="4691681"/>
            <a:ext cx="4771746" cy="923330"/>
          </a:xfrm>
          <a:prstGeom prst="rect">
            <a:avLst/>
          </a:prstGeom>
        </p:spPr>
        <p:txBody>
          <a:bodyPr wrap="square">
            <a:spAutoFit/>
          </a:bodyPr>
          <a:lstStyle/>
          <a:p>
            <a:r>
              <a:rPr lang="pt-BR" dirty="0"/>
              <a:t>gcc -c quicksort.cpp -o quicksort.o</a:t>
            </a:r>
          </a:p>
          <a:p>
            <a:r>
              <a:rPr lang="pt-BR" dirty="0"/>
              <a:t>gcc -c project.cpp -o project.o </a:t>
            </a:r>
          </a:p>
          <a:p>
            <a:r>
              <a:rPr lang="pt-BR" dirty="0"/>
              <a:t>gcc -o project.exe project.o quicksort.o</a:t>
            </a:r>
          </a:p>
        </p:txBody>
      </p:sp>
      <p:pic>
        <p:nvPicPr>
          <p:cNvPr id="18" name="图片 17">
            <a:extLst>
              <a:ext uri="{FF2B5EF4-FFF2-40B4-BE49-F238E27FC236}">
                <a16:creationId xmlns:a16="http://schemas.microsoft.com/office/drawing/2014/main" id="{F180379D-6D7C-48FB-A587-C8777C19D060}"/>
              </a:ext>
            </a:extLst>
          </p:cNvPr>
          <p:cNvPicPr>
            <a:picLocks noChangeAspect="1"/>
          </p:cNvPicPr>
          <p:nvPr/>
        </p:nvPicPr>
        <p:blipFill>
          <a:blip r:embed="rId3"/>
          <a:stretch>
            <a:fillRect/>
          </a:stretch>
        </p:blipFill>
        <p:spPr>
          <a:xfrm>
            <a:off x="5181622" y="4261103"/>
            <a:ext cx="3252415" cy="2414015"/>
          </a:xfrm>
          <a:prstGeom prst="rect">
            <a:avLst/>
          </a:prstGeom>
        </p:spPr>
      </p:pic>
    </p:spTree>
    <p:extLst>
      <p:ext uri="{BB962C8B-B14F-4D97-AF65-F5344CB8AC3E}">
        <p14:creationId xmlns:p14="http://schemas.microsoft.com/office/powerpoint/2010/main" val="3351298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70804144137"/>
  <p:tag name="MH_LIBRARY" val="GRAPHIC"/>
  <p:tag name="MH_TYPE" val="Desc"/>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70804144137"/>
  <p:tag name="MH_LIBRARY" val="GRAPHIC"/>
  <p:tag name="MH_TYPE" val="Desc"/>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70804144137"/>
  <p:tag name="MH_LIBRARY" val="GRAPHIC"/>
  <p:tag name="MH_TYPE" val="Desc"/>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70804144137"/>
  <p:tag name="MH_LIBRARY" val="GRAPHIC"/>
  <p:tag name="MH_TYPE" val="Desc"/>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70804144137"/>
  <p:tag name="MH_LIBRARY" val="GRAPHIC"/>
  <p:tag name="MH_TYPE" val="Desc"/>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70806120343"/>
  <p:tag name="MH_LIBRARY" val="GRAPHIC"/>
  <p:tag name="MH_TYPE" val="Other"/>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70806120343"/>
  <p:tag name="MH_LIBRARY" val="GRAPHIC"/>
  <p:tag name="MH_TYPE" val="SubTitle"/>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70806120343"/>
  <p:tag name="MH_LIBRARY" val="GRAPHIC"/>
  <p:tag name="MH_TYPE" val="Other"/>
  <p:tag name="MH_ORDER" val="2"/>
</p:tagLst>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PPT模板" id="{351F00F9-9781-4493-A8BE-AE75F947CCD5}" vid="{D9AAA92C-2A04-455B-AC88-7D4E4CA3D87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23861</TotalTime>
  <Words>5387</Words>
  <Application>Microsoft Office PowerPoint</Application>
  <PresentationFormat>全屏显示(4:3)</PresentationFormat>
  <Paragraphs>589</Paragraphs>
  <Slides>32</Slides>
  <Notes>15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等线</vt:lpstr>
      <vt:lpstr>华文新魏</vt:lpstr>
      <vt:lpstr>宋体</vt:lpstr>
      <vt:lpstr>微软雅黑</vt:lpstr>
      <vt:lpstr>微软雅黑 Light</vt:lpstr>
      <vt:lpstr>Arial</vt:lpstr>
      <vt:lpstr>Calibri</vt:lpstr>
      <vt:lpstr>Calibri Light</vt:lpstr>
      <vt:lpstr>Consolas</vt:lpstr>
      <vt:lpstr>Courier New</vt:lpstr>
      <vt:lpstr>Times New Roman</vt:lpstr>
      <vt:lpstr>Wingdings</vt:lpstr>
      <vt:lpstr>课程PPT模板</vt:lpstr>
      <vt:lpstr>第12讲 文件</vt:lpstr>
      <vt:lpstr>内容要点</vt:lpstr>
      <vt:lpstr>文件的概念</vt:lpstr>
      <vt:lpstr>文件的概念</vt:lpstr>
      <vt:lpstr>文件的概念</vt:lpstr>
      <vt:lpstr>文件的基本概念</vt:lpstr>
      <vt:lpstr>文件的概念</vt:lpstr>
      <vt:lpstr>文件的概念</vt:lpstr>
      <vt:lpstr>文件的概念</vt:lpstr>
      <vt:lpstr>文件指针</vt:lpstr>
      <vt:lpstr>文件的打开与关闭</vt:lpstr>
      <vt:lpstr>文件操作函数一览表1</vt:lpstr>
      <vt:lpstr>文件操作函数一览表2</vt:lpstr>
      <vt:lpstr>文件的打开</vt:lpstr>
      <vt:lpstr>fopen( )举例</vt:lpstr>
      <vt:lpstr>文件的关闭</vt:lpstr>
      <vt:lpstr>文件操作</vt:lpstr>
      <vt:lpstr>文件的读写</vt:lpstr>
      <vt:lpstr>字符的读写</vt:lpstr>
      <vt:lpstr>顺序读写数据文件</vt:lpstr>
      <vt:lpstr>顺序读写数据文件</vt:lpstr>
      <vt:lpstr>文件</vt:lpstr>
      <vt:lpstr>顺序读写数据文件</vt:lpstr>
      <vt:lpstr>顺序读数据文件</vt:lpstr>
      <vt:lpstr>例：文本文件的读写</vt:lpstr>
      <vt:lpstr>随机读写数据文件</vt:lpstr>
      <vt:lpstr>文件位置标记</vt:lpstr>
      <vt:lpstr>文件位置标记的定位</vt:lpstr>
      <vt:lpstr>随机读写数据文件</vt:lpstr>
      <vt:lpstr>文件读写的出错检测</vt:lpstr>
      <vt:lpstr>工程</vt:lpstr>
      <vt:lpstr>多文件程序设计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Hui Sun</cp:lastModifiedBy>
  <cp:revision>505</cp:revision>
  <dcterms:created xsi:type="dcterms:W3CDTF">2020-10-14T02:47:39Z</dcterms:created>
  <dcterms:modified xsi:type="dcterms:W3CDTF">2023-12-19T05:12:51Z</dcterms:modified>
</cp:coreProperties>
</file>