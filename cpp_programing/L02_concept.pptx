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03"/>
  </p:handoutMasterIdLst>
  <p:sldIdLst>
    <p:sldId id="1092" r:id="rId3"/>
    <p:sldId id="719" r:id="rId4"/>
    <p:sldId id="720" r:id="rId5"/>
    <p:sldId id="721" r:id="rId7"/>
    <p:sldId id="563" r:id="rId8"/>
    <p:sldId id="718" r:id="rId9"/>
    <p:sldId id="722" r:id="rId10"/>
    <p:sldId id="725" r:id="rId11"/>
    <p:sldId id="723" r:id="rId12"/>
    <p:sldId id="724" r:id="rId13"/>
    <p:sldId id="726" r:id="rId14"/>
    <p:sldId id="1093" r:id="rId15"/>
    <p:sldId id="729" r:id="rId16"/>
    <p:sldId id="401" r:id="rId17"/>
    <p:sldId id="406" r:id="rId18"/>
    <p:sldId id="409" r:id="rId19"/>
    <p:sldId id="728" r:id="rId20"/>
    <p:sldId id="876" r:id="rId21"/>
    <p:sldId id="1095" r:id="rId22"/>
    <p:sldId id="880" r:id="rId23"/>
    <p:sldId id="1096" r:id="rId24"/>
    <p:sldId id="782" r:id="rId25"/>
    <p:sldId id="783" r:id="rId26"/>
    <p:sldId id="784" r:id="rId27"/>
    <p:sldId id="589" r:id="rId28"/>
    <p:sldId id="569" r:id="rId29"/>
    <p:sldId id="570" r:id="rId30"/>
    <p:sldId id="571" r:id="rId31"/>
    <p:sldId id="572" r:id="rId32"/>
    <p:sldId id="785" r:id="rId33"/>
    <p:sldId id="788" r:id="rId34"/>
    <p:sldId id="789" r:id="rId35"/>
    <p:sldId id="791" r:id="rId36"/>
    <p:sldId id="793" r:id="rId37"/>
    <p:sldId id="795" r:id="rId38"/>
    <p:sldId id="796" r:id="rId39"/>
    <p:sldId id="797" r:id="rId40"/>
    <p:sldId id="830" r:id="rId41"/>
    <p:sldId id="831" r:id="rId42"/>
    <p:sldId id="882" r:id="rId43"/>
    <p:sldId id="1098" r:id="rId44"/>
    <p:sldId id="368" r:id="rId45"/>
    <p:sldId id="367" r:id="rId46"/>
    <p:sldId id="403" r:id="rId47"/>
    <p:sldId id="883" r:id="rId48"/>
    <p:sldId id="373" r:id="rId49"/>
    <p:sldId id="374" r:id="rId50"/>
    <p:sldId id="884" r:id="rId51"/>
    <p:sldId id="885" r:id="rId52"/>
    <p:sldId id="886" r:id="rId53"/>
    <p:sldId id="888" r:id="rId54"/>
    <p:sldId id="865" r:id="rId55"/>
    <p:sldId id="866" r:id="rId56"/>
    <p:sldId id="869" r:id="rId57"/>
    <p:sldId id="870" r:id="rId58"/>
    <p:sldId id="890" r:id="rId59"/>
    <p:sldId id="1100" r:id="rId60"/>
    <p:sldId id="455" r:id="rId61"/>
    <p:sldId id="474" r:id="rId62"/>
    <p:sldId id="475" r:id="rId63"/>
    <p:sldId id="479" r:id="rId64"/>
    <p:sldId id="478" r:id="rId65"/>
    <p:sldId id="410" r:id="rId66"/>
    <p:sldId id="411" r:id="rId67"/>
    <p:sldId id="1101" r:id="rId68"/>
    <p:sldId id="822" r:id="rId69"/>
    <p:sldId id="414" r:id="rId70"/>
    <p:sldId id="415" r:id="rId71"/>
    <p:sldId id="416" r:id="rId72"/>
    <p:sldId id="881" r:id="rId73"/>
    <p:sldId id="859" r:id="rId74"/>
    <p:sldId id="860" r:id="rId75"/>
    <p:sldId id="861" r:id="rId76"/>
    <p:sldId id="862" r:id="rId77"/>
    <p:sldId id="863" r:id="rId78"/>
    <p:sldId id="833" r:id="rId79"/>
    <p:sldId id="834" r:id="rId80"/>
    <p:sldId id="835" r:id="rId81"/>
    <p:sldId id="836" r:id="rId82"/>
    <p:sldId id="837" r:id="rId83"/>
    <p:sldId id="488" r:id="rId84"/>
    <p:sldId id="839" r:id="rId85"/>
    <p:sldId id="841" r:id="rId86"/>
    <p:sldId id="842" r:id="rId87"/>
    <p:sldId id="1102" r:id="rId88"/>
    <p:sldId id="489" r:id="rId89"/>
    <p:sldId id="1103" r:id="rId90"/>
    <p:sldId id="843" r:id="rId91"/>
    <p:sldId id="868" r:id="rId92"/>
    <p:sldId id="1097" r:id="rId93"/>
    <p:sldId id="418" r:id="rId94"/>
    <p:sldId id="438" r:id="rId95"/>
    <p:sldId id="432" r:id="rId96"/>
    <p:sldId id="433" r:id="rId97"/>
    <p:sldId id="434" r:id="rId98"/>
    <p:sldId id="435" r:id="rId99"/>
    <p:sldId id="891" r:id="rId100"/>
    <p:sldId id="972" r:id="rId101"/>
    <p:sldId id="480" r:id="rId10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9" autoAdjust="0"/>
    <p:restoredTop sz="75810" autoAdjust="0"/>
  </p:normalViewPr>
  <p:slideViewPr>
    <p:cSldViewPr snapToGrid="0" showGuides="1">
      <p:cViewPr varScale="1">
        <p:scale>
          <a:sx n="66" d="100"/>
          <a:sy n="66" d="100"/>
        </p:scale>
        <p:origin x="106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handoutMaster" Target="handoutMasters/handoutMaster1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编译：</a:t>
            </a:r>
            <a:endParaRPr lang="zh-CN" altLang="en-US" dirty="0"/>
          </a:p>
          <a:p>
            <a:r>
              <a:rPr lang="en-US" dirty="0"/>
              <a:t>UNIX</a:t>
            </a:r>
            <a:r>
              <a:rPr lang="zh-CN" altLang="en-US" dirty="0"/>
              <a:t>下：“</a:t>
            </a:r>
            <a:r>
              <a:rPr lang="en-US" altLang="zh-CN" dirty="0"/>
              <a:t>.</a:t>
            </a:r>
            <a:r>
              <a:rPr lang="en-US" dirty="0"/>
              <a:t>o”</a:t>
            </a:r>
            <a:endParaRPr lang="en-US" dirty="0"/>
          </a:p>
          <a:p>
            <a:r>
              <a:rPr lang="en-US" dirty="0"/>
              <a:t>MS-DOS</a:t>
            </a:r>
            <a:r>
              <a:rPr lang="zh-CN" altLang="en-US" dirty="0"/>
              <a:t>或</a:t>
            </a:r>
            <a:r>
              <a:rPr lang="en-US" dirty="0"/>
              <a:t>MS Windows</a:t>
            </a:r>
            <a:r>
              <a:rPr lang="zh-CN" altLang="en-US" dirty="0"/>
              <a:t>下：“</a:t>
            </a:r>
            <a:r>
              <a:rPr lang="en-US" altLang="zh-CN" dirty="0"/>
              <a:t>.</a:t>
            </a:r>
            <a:r>
              <a:rPr lang="en-US" dirty="0"/>
              <a:t>obj”</a:t>
            </a:r>
            <a:endParaRPr lang="en-US" dirty="0"/>
          </a:p>
          <a:p>
            <a:r>
              <a:rPr lang="zh-CN" altLang="en-US" dirty="0"/>
              <a:t>链接</a:t>
            </a:r>
            <a:endParaRPr lang="zh-CN" altLang="en-US" dirty="0"/>
          </a:p>
          <a:p>
            <a:r>
              <a:rPr lang="en-US" dirty="0"/>
              <a:t>UNIX</a:t>
            </a:r>
            <a:r>
              <a:rPr lang="zh-CN" altLang="en-US" dirty="0"/>
              <a:t>下后缀为“</a:t>
            </a:r>
            <a:r>
              <a:rPr lang="en-US" altLang="zh-CN" dirty="0"/>
              <a:t>.</a:t>
            </a:r>
            <a:r>
              <a:rPr lang="en-US" dirty="0"/>
              <a:t>out”</a:t>
            </a:r>
            <a:endParaRPr lang="en-US" dirty="0"/>
          </a:p>
          <a:p>
            <a:r>
              <a:rPr lang="zh-CN" altLang="en-US" dirty="0"/>
              <a:t>在</a:t>
            </a:r>
            <a:r>
              <a:rPr lang="en-US" dirty="0"/>
              <a:t>MS-DOS</a:t>
            </a:r>
            <a:r>
              <a:rPr lang="zh-CN" altLang="en-US" dirty="0"/>
              <a:t>或</a:t>
            </a:r>
            <a:r>
              <a:rPr lang="en-US" dirty="0"/>
              <a:t>MS Windows</a:t>
            </a:r>
            <a:r>
              <a:rPr lang="zh-CN" altLang="en-US" dirty="0"/>
              <a:t>下为“</a:t>
            </a:r>
            <a:r>
              <a:rPr lang="en-US" altLang="zh-CN" dirty="0"/>
              <a:t>.</a:t>
            </a:r>
            <a:r>
              <a:rPr lang="en-US" dirty="0"/>
              <a:t>exe”</a:t>
            </a:r>
            <a:r>
              <a:rPr lang="zh-CN" altLang="en-US" dirty="0"/>
              <a:t>或“</a:t>
            </a:r>
            <a:r>
              <a:rPr lang="en-US" altLang="zh-CN" dirty="0"/>
              <a:t>.</a:t>
            </a:r>
            <a:r>
              <a:rPr lang="en-US" dirty="0"/>
              <a:t>com”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8 4 4</a:t>
            </a:r>
            <a:endParaRPr lang="en-US" dirty="0"/>
          </a:p>
          <a:p>
            <a:r>
              <a:rPr lang="en-US" dirty="0"/>
              <a:t>4 8 16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830D47-B0CA-440D-A27D-6684CEE0F9BF}" type="slidenum">
              <a:rPr lang="it-IT" smtClean="0"/>
            </a:fld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IEEE754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浮点数的表示方法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228600" marR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long double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原始的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标准中是没有这个类型的，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C99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+mn-cs"/>
              </a:rPr>
              <a:t>中才添加了该类型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存在形式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字符常量中不能直接使用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'</a:t>
            </a:r>
            <a:r>
              <a:rPr lang="zh-CN" altLang="en-US" dirty="0"/>
              <a:t>、 </a:t>
            </a:r>
            <a:r>
              <a:rPr lang="en-US" altLang="zh-CN" dirty="0">
                <a:solidFill>
                  <a:srgbClr val="FF0000"/>
                </a:solidFill>
              </a:rPr>
              <a:t>\</a:t>
            </a:r>
            <a:r>
              <a:rPr lang="zh-CN" altLang="en-US" dirty="0"/>
              <a:t>作为字符，必须使用转义字符</a:t>
            </a:r>
            <a:r>
              <a:rPr lang="en-US" altLang="zh-CN" dirty="0">
                <a:solidFill>
                  <a:srgbClr val="FF0000"/>
                </a:solidFill>
              </a:rPr>
              <a:t>\'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\\</a:t>
            </a:r>
            <a:r>
              <a:rPr lang="en-US" altLang="zh-CN" dirty="0"/>
              <a:t>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注意：</a:t>
            </a:r>
            <a:r>
              <a:rPr lang="en-US" altLang="zh-CN" dirty="0"/>
              <a:t>PPT</a:t>
            </a:r>
            <a:r>
              <a:rPr lang="zh-CN" altLang="en-US" dirty="0"/>
              <a:t>中的代码直接粘贴到</a:t>
            </a:r>
            <a:r>
              <a:rPr lang="en-US" altLang="zh-CN" dirty="0"/>
              <a:t>IDE</a:t>
            </a:r>
            <a:r>
              <a:rPr lang="zh-CN" altLang="en-US" dirty="0"/>
              <a:t>下可能会有很多错误，如中文字符的问题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13E42DC-6B23-4DBA-AE41-FC875B675FD0}" type="slidenum">
              <a:rPr lang="en-US" altLang="zh-CN"/>
            </a:fld>
            <a:endParaRPr lang="en-US" altLang="zh-CN"/>
          </a:p>
        </p:txBody>
      </p:sp>
      <p:sp>
        <p:nvSpPr>
          <p:cNvPr id="138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69D1047-938C-4BF9-8D29-FD7F90275583}" type="slidenum">
              <a:rPr lang="en-US" altLang="zh-CN"/>
            </a:fld>
            <a:endParaRPr lang="en-US" altLang="zh-CN"/>
          </a:p>
        </p:txBody>
      </p:sp>
      <p:sp>
        <p:nvSpPr>
          <p:cNvPr id="138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：确保程序继续运行前刷新输出（将其立即显示在屏幕上）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https://cplusplus.com/reference/cmath/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32298" y="2155310"/>
            <a:ext cx="544750" cy="558709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7D5434C-79F0-46EF-A5D7-C0937C6B1901}" type="datetime1">
              <a:rPr lang="en-US" altLang="zh-CN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45" indent="-360045">
              <a:buFont typeface="Wingdings" panose="05000000000000000000" pitchFamily="2" charset="2"/>
              <a:buChar char="§"/>
              <a:defRPr sz="2800"/>
            </a:lvl1pPr>
            <a:lvl2pPr marL="685800" indent="-288290">
              <a:buFont typeface="Wingdings" panose="05000000000000000000" pitchFamily="2" charset="2"/>
              <a:buChar char="§"/>
              <a:defRPr sz="2400"/>
            </a:lvl2pPr>
            <a:lvl3pPr marL="1143000" indent="-230505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9F4613-3226-4F5E-B3D4-5A761C17207E}" type="datetime1">
              <a:rPr lang="en-US" altLang="zh-CN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066800" y="304800"/>
            <a:ext cx="75438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869B4-C8C8-4E82-B7F1-5B415035D9E0}" type="datetime1">
              <a:rPr lang="en-US" altLang="zh-CN" smtClean="0"/>
            </a:fld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5B8FE-ED44-4771-BB53-0D0766575EB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5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1" Type="http://schemas.openxmlformats.org/officeDocument/2006/relationships/tags" Target="../tags/tag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9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hyperlink" Target="http://blog.csdn.net/qq_36016407/article/details/70254640" TargetMode="Externa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0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1.emf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268873" y="3646001"/>
            <a:ext cx="5429250" cy="165576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zh-CN" altLang="en-US" dirty="0"/>
              <a:t>授课教师：孙 辉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上课地点：立德</a:t>
            </a:r>
            <a:r>
              <a:rPr lang="en-US" altLang="zh-CN" dirty="0"/>
              <a:t>901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上机实验：理工楼</a:t>
            </a:r>
            <a:r>
              <a:rPr lang="en-US" altLang="zh-CN" dirty="0"/>
              <a:t>2</a:t>
            </a:r>
            <a:r>
              <a:rPr lang="zh-CN" altLang="en-US" dirty="0"/>
              <a:t>层机房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上机时间：每周</a:t>
            </a:r>
            <a:r>
              <a:rPr lang="en-US" altLang="zh-CN" dirty="0"/>
              <a:t>2</a:t>
            </a:r>
            <a:r>
              <a:rPr lang="zh-CN" altLang="en-US" dirty="0"/>
              <a:t>  </a:t>
            </a:r>
            <a:r>
              <a:rPr lang="en-US" altLang="zh-CN" dirty="0"/>
              <a:t>18:00-21:00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课程主页：</a:t>
            </a:r>
            <a:r>
              <a:rPr lang="en-US" altLang="zh-CN" dirty="0"/>
              <a:t>yoj.ruc.edu.cn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7694821" cy="16557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程序设计基本概念</a:t>
            </a:r>
            <a:br>
              <a:rPr lang="en-US" altLang="zh-CN" dirty="0"/>
            </a:br>
            <a:r>
              <a:rPr lang="en-US" altLang="zh-CN" dirty="0"/>
              <a:t>                ——</a:t>
            </a:r>
            <a:r>
              <a:rPr lang="zh-CN" altLang="en-US" dirty="0"/>
              <a:t>数据与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5533055" y="81256"/>
            <a:ext cx="35363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程序设计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I 2025-2026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秋季学</a:t>
            </a:r>
            <a:r>
              <a:rPr lang="zh-CN" altLang="en-US" dirty="0">
                <a:solidFill>
                  <a:srgbClr val="002554"/>
                </a:solidFill>
              </a:rPr>
              <a:t>期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定义问题、分析问题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输入、输出是什么？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有什么限制条件，关键点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设计算法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实现程序</a:t>
            </a:r>
            <a:r>
              <a:rPr lang="en-US" altLang="zh-CN" dirty="0"/>
              <a:t>(coding)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运行、调试通过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完成文档、维护程序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上节内容回顾</a:t>
            </a:r>
            <a:r>
              <a:rPr lang="en-US" altLang="zh-CN" dirty="0"/>
              <a:t>1</a:t>
            </a:r>
            <a:r>
              <a:rPr lang="zh-CN" altLang="en-US" dirty="0"/>
              <a:t>：计算机解题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上节内容回顾</a:t>
            </a:r>
            <a:r>
              <a:rPr lang="en-US" altLang="zh-CN" dirty="0"/>
              <a:t>2</a:t>
            </a:r>
            <a:r>
              <a:rPr lang="zh-CN" altLang="en-US" dirty="0"/>
              <a:t>：代码生成、调试和运行</a:t>
            </a:r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647700" y="2559201"/>
            <a:ext cx="7848600" cy="2557463"/>
            <a:chOff x="1159046" y="2269950"/>
            <a:chExt cx="7848600" cy="2557463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310023" y="2422350"/>
              <a:ext cx="553998" cy="1143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编辑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338848" y="2422350"/>
              <a:ext cx="553998" cy="1143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编译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272423" y="2422350"/>
              <a:ext cx="553998" cy="1143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连接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8453648" y="2831423"/>
              <a:ext cx="553998" cy="1143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执行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1235246" y="3031950"/>
              <a:ext cx="10668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835446" y="3031950"/>
              <a:ext cx="14478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4892846" y="3031950"/>
              <a:ext cx="12954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6874046" y="3031950"/>
              <a:ext cx="15240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235246" y="242235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输入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159046" y="310815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源程序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987846" y="2269950"/>
              <a:ext cx="1524000" cy="683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kumimoji="1" lang="en-US" altLang="zh-CN" sz="2400" dirty="0">
                  <a:latin typeface="Times New Roman" panose="02020503050405090304" pitchFamily="18" charset="0"/>
                </a:rPr>
                <a:t>.c/.</a:t>
              </a:r>
              <a:r>
                <a:rPr kumimoji="1" lang="en-US" altLang="zh-CN" sz="2400" dirty="0" err="1">
                  <a:latin typeface="Times New Roman" panose="02020503050405090304" pitchFamily="18" charset="0"/>
                </a:rPr>
                <a:t>cpp</a:t>
              </a:r>
              <a:endParaRPr kumimoji="1" lang="en-US" altLang="zh-CN" sz="2400" dirty="0">
                <a:latin typeface="Times New Roman" panose="02020503050405090304" pitchFamily="18" charset="0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kumimoji="1" lang="zh-CN" altLang="zh-CN" sz="2400" dirty="0">
                  <a:latin typeface="Times New Roman" panose="02020503050405090304" pitchFamily="18" charset="0"/>
                </a:rPr>
                <a:t>磁盘文件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4892846" y="2346150"/>
              <a:ext cx="1905000" cy="613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kumimoji="1" lang="en-US" altLang="zh-CN" sz="2400" dirty="0">
                  <a:latin typeface="Times New Roman" panose="02020503050405090304" pitchFamily="18" charset="0"/>
                </a:rPr>
                <a:t>.</a:t>
              </a:r>
              <a:r>
                <a:rPr kumimoji="1" lang="en-US" altLang="zh-CN" sz="2400" dirty="0" err="1">
                  <a:solidFill>
                    <a:srgbClr val="FF0000"/>
                  </a:solidFill>
                  <a:latin typeface="Times New Roman" panose="02020503050405090304" pitchFamily="18" charset="0"/>
                </a:rPr>
                <a:t>obj</a:t>
              </a:r>
              <a:endParaRPr kumimoji="1"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  <a:p>
              <a:pPr eaLnBrk="1" hangingPunct="1">
                <a:lnSpc>
                  <a:spcPct val="70000"/>
                </a:lnSpc>
              </a:pPr>
              <a:r>
                <a:rPr kumimoji="1" lang="zh-CN" altLang="zh-CN" sz="2400" dirty="0">
                  <a:latin typeface="Times New Roman" panose="02020503050405090304" pitchFamily="18" charset="0"/>
                </a:rPr>
                <a:t>目标文件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797846" y="2269950"/>
              <a:ext cx="1752600" cy="609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kumimoji="1" lang="en-US" altLang="zh-CN" sz="2400" dirty="0">
                  <a:latin typeface="Times New Roman" panose="02020503050405090304" pitchFamily="18" charset="0"/>
                </a:rPr>
                <a:t>.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exe</a:t>
              </a:r>
              <a:endParaRPr kumimoji="1"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  <a:p>
              <a:pPr eaLnBrk="1" hangingPunct="1">
                <a:lnSpc>
                  <a:spcPct val="70000"/>
                </a:lnSpc>
              </a:pPr>
              <a:r>
                <a:rPr kumimoji="1" lang="zh-CN" altLang="zh-CN" sz="2400" dirty="0">
                  <a:latin typeface="Times New Roman" panose="02020503050405090304" pitchFamily="18" charset="0"/>
                </a:rPr>
                <a:t>可执行文件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387771" y="4211463"/>
              <a:ext cx="1198563" cy="61595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endParaRPr kumimoji="1" lang="zh-CN" altLang="en-US" sz="2400">
                <a:latin typeface="Times New Roman" panose="02020503050405090304" pitchFamily="18" charset="0"/>
              </a:endParaRPr>
            </a:p>
            <a:p>
              <a:pPr eaLnBrk="1" hangingPunct="1">
                <a:lnSpc>
                  <a:spcPct val="70000"/>
                </a:lnSpc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调试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8739359" y="3565350"/>
              <a:ext cx="0" cy="9540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3586334" y="4519438"/>
              <a:ext cx="515302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6505746" y="3565350"/>
              <a:ext cx="0" cy="9540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4705521" y="3565350"/>
              <a:ext cx="0" cy="9540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2617959" y="3565350"/>
              <a:ext cx="0" cy="64611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上机课任务</a:t>
            </a:r>
            <a:r>
              <a:rPr lang="en-US" altLang="zh-CN" dirty="0"/>
              <a:t>1(</a:t>
            </a:r>
            <a:r>
              <a:rPr lang="zh-CN" altLang="en-US" dirty="0"/>
              <a:t>以</a:t>
            </a:r>
            <a:r>
              <a:rPr lang="en-US" altLang="zh-CN" dirty="0"/>
              <a:t>vs code</a:t>
            </a:r>
            <a:r>
              <a:rPr lang="zh-CN" altLang="en-US" dirty="0"/>
              <a:t>为例）</a:t>
            </a:r>
            <a:r>
              <a:rPr lang="en-US" altLang="zh-CN" dirty="0"/>
              <a:t>: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69" y="1310922"/>
            <a:ext cx="7548465" cy="48509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思考：可以不用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IDE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吗？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8914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原则上讲，一个文本编辑器足矣</a:t>
            </a:r>
            <a:endParaRPr lang="en-US" altLang="zh-CN" dirty="0">
              <a:solidFill>
                <a:srgbClr val="0000CC"/>
              </a:solidFill>
            </a:endParaRPr>
          </a:p>
          <a:p>
            <a:endParaRPr lang="en-US" altLang="en-US" dirty="0">
              <a:solidFill>
                <a:srgbClr val="0000CC"/>
              </a:solidFill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zh-CN" dirty="0">
              <a:solidFill>
                <a:srgbClr val="0000CC"/>
              </a:solidFill>
            </a:endParaRPr>
          </a:p>
          <a:p>
            <a:endParaRPr lang="en-US" altLang="zh-CN" dirty="0">
              <a:solidFill>
                <a:srgbClr val="0000CC"/>
              </a:solidFill>
            </a:endParaRPr>
          </a:p>
          <a:p>
            <a:endParaRPr lang="en-US" altLang="zh-CN" dirty="0">
              <a:solidFill>
                <a:srgbClr val="0000CC"/>
              </a:solidFill>
            </a:endParaRPr>
          </a:p>
          <a:p>
            <a:r>
              <a:rPr lang="zh-CN" altLang="en-US" dirty="0">
                <a:solidFill>
                  <a:srgbClr val="0000CC"/>
                </a:solidFill>
              </a:rPr>
              <a:t>关于调试</a:t>
            </a:r>
            <a:endParaRPr lang="en-US" altLang="zh-CN" dirty="0">
              <a:solidFill>
                <a:srgbClr val="0000CC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7700" y="1976988"/>
            <a:ext cx="7848600" cy="2773362"/>
            <a:chOff x="1187450" y="2420938"/>
            <a:chExt cx="7848600" cy="2773362"/>
          </a:xfrm>
        </p:grpSpPr>
        <p:sp>
          <p:nvSpPr>
            <p:cNvPr id="38920" name="Text Box 7"/>
            <p:cNvSpPr txBox="1">
              <a:spLocks noChangeArrowheads="1"/>
            </p:cNvSpPr>
            <p:nvPr/>
          </p:nvSpPr>
          <p:spPr bwMode="auto">
            <a:xfrm>
              <a:off x="8482052" y="2789238"/>
              <a:ext cx="553998" cy="1143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32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Font typeface="Verdana" panose="020B0804030504040204" pitchFamily="34" charset="0"/>
                <a:buChar char="◦"/>
                <a:defRPr sz="2800">
                  <a:solidFill>
                    <a:srgbClr val="0000CC"/>
                  </a:solidFill>
                  <a:latin typeface="Gill Sans MT" pitchFamily="34" charset="0"/>
                  <a:ea typeface="华文中宋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BBB59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8064A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064A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064A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064A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064A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Gill Sans MT" pitchFamily="34" charset="0"/>
                  <a:ea typeface="华文中宋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503050405090304" pitchFamily="18" charset="0"/>
                  <a:ea typeface="宋体" pitchFamily="2" charset="-122"/>
                </a:rPr>
                <a:t>执行</a:t>
              </a:r>
              <a:endParaRPr kumimoji="1" lang="zh-CN" altLang="en-US" sz="240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187450" y="2420938"/>
              <a:ext cx="7580313" cy="2773362"/>
              <a:chOff x="1187450" y="2420938"/>
              <a:chExt cx="7580313" cy="2773362"/>
            </a:xfrm>
          </p:grpSpPr>
          <p:sp>
            <p:nvSpPr>
              <p:cNvPr id="38917" name="Text Box 4"/>
              <p:cNvSpPr txBox="1">
                <a:spLocks noChangeArrowheads="1"/>
              </p:cNvSpPr>
              <p:nvPr/>
            </p:nvSpPr>
            <p:spPr bwMode="auto">
              <a:xfrm>
                <a:off x="2338427" y="2789238"/>
                <a:ext cx="553998" cy="114300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编辑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18" name="Text Box 5"/>
              <p:cNvSpPr txBox="1">
                <a:spLocks noChangeArrowheads="1"/>
              </p:cNvSpPr>
              <p:nvPr/>
            </p:nvSpPr>
            <p:spPr bwMode="auto">
              <a:xfrm>
                <a:off x="4367252" y="2789238"/>
                <a:ext cx="553998" cy="114300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编译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19" name="Text Box 6"/>
              <p:cNvSpPr txBox="1">
                <a:spLocks noChangeArrowheads="1"/>
              </p:cNvSpPr>
              <p:nvPr/>
            </p:nvSpPr>
            <p:spPr bwMode="auto">
              <a:xfrm>
                <a:off x="6300827" y="2789238"/>
                <a:ext cx="553998" cy="114300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连接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21" name="Line 8"/>
              <p:cNvSpPr>
                <a:spLocks noChangeShapeType="1"/>
              </p:cNvSpPr>
              <p:nvPr/>
            </p:nvSpPr>
            <p:spPr bwMode="auto">
              <a:xfrm flipV="1">
                <a:off x="1263650" y="3398838"/>
                <a:ext cx="106680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2" name="Line 9"/>
              <p:cNvSpPr>
                <a:spLocks noChangeShapeType="1"/>
              </p:cNvSpPr>
              <p:nvPr/>
            </p:nvSpPr>
            <p:spPr bwMode="auto">
              <a:xfrm>
                <a:off x="2863850" y="3398838"/>
                <a:ext cx="144780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3" name="Line 10"/>
              <p:cNvSpPr>
                <a:spLocks noChangeShapeType="1"/>
              </p:cNvSpPr>
              <p:nvPr/>
            </p:nvSpPr>
            <p:spPr bwMode="auto">
              <a:xfrm>
                <a:off x="4921250" y="3398838"/>
                <a:ext cx="129540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4" name="Line 11"/>
              <p:cNvSpPr>
                <a:spLocks noChangeShapeType="1"/>
              </p:cNvSpPr>
              <p:nvPr/>
            </p:nvSpPr>
            <p:spPr bwMode="auto">
              <a:xfrm>
                <a:off x="6902450" y="3398838"/>
                <a:ext cx="152400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5" name="Text Box 12"/>
              <p:cNvSpPr txBox="1">
                <a:spLocks noChangeArrowheads="1"/>
              </p:cNvSpPr>
              <p:nvPr/>
            </p:nvSpPr>
            <p:spPr bwMode="auto">
              <a:xfrm>
                <a:off x="1263650" y="2789238"/>
                <a:ext cx="8382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输入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26" name="Text Box 13"/>
              <p:cNvSpPr txBox="1">
                <a:spLocks noChangeArrowheads="1"/>
              </p:cNvSpPr>
              <p:nvPr/>
            </p:nvSpPr>
            <p:spPr bwMode="auto">
              <a:xfrm>
                <a:off x="1187450" y="3475038"/>
                <a:ext cx="1143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源程序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27" name="Text Box 14"/>
              <p:cNvSpPr txBox="1">
                <a:spLocks noChangeArrowheads="1"/>
              </p:cNvSpPr>
              <p:nvPr/>
            </p:nvSpPr>
            <p:spPr bwMode="auto">
              <a:xfrm>
                <a:off x="3016250" y="2454275"/>
                <a:ext cx="1524000" cy="830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</a:rPr>
                  <a:t>.c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zh-CN" sz="2400">
                    <a:latin typeface="Times New Roman" panose="02020503050405090304" pitchFamily="18" charset="0"/>
                    <a:ea typeface="宋体" pitchFamily="2" charset="-122"/>
                  </a:rPr>
                  <a:t>磁盘文件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28" name="Text Box 15"/>
              <p:cNvSpPr txBox="1">
                <a:spLocks noChangeArrowheads="1"/>
              </p:cNvSpPr>
              <p:nvPr/>
            </p:nvSpPr>
            <p:spPr bwMode="auto">
              <a:xfrm>
                <a:off x="4921250" y="2420938"/>
                <a:ext cx="1905000" cy="830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</a:rPr>
                  <a:t>.obj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zh-CN" sz="2400">
                    <a:latin typeface="Times New Roman" panose="02020503050405090304" pitchFamily="18" charset="0"/>
                    <a:ea typeface="宋体" pitchFamily="2" charset="-122"/>
                  </a:rPr>
                  <a:t>目标文件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29" name="Text Box 16"/>
              <p:cNvSpPr txBox="1">
                <a:spLocks noChangeArrowheads="1"/>
              </p:cNvSpPr>
              <p:nvPr/>
            </p:nvSpPr>
            <p:spPr bwMode="auto">
              <a:xfrm>
                <a:off x="6826250" y="2636838"/>
                <a:ext cx="1752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</a:endParaRPr>
              </a:p>
              <a:p>
                <a:pPr eaLnBrk="1" hangingPunct="1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zh-CN" sz="2400">
                    <a:latin typeface="Times New Roman" panose="02020503050405090304" pitchFamily="18" charset="0"/>
                    <a:ea typeface="宋体" pitchFamily="2" charset="-122"/>
                  </a:rPr>
                  <a:t>可执行文件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30" name="Text Box 17"/>
              <p:cNvSpPr txBox="1">
                <a:spLocks noChangeArrowheads="1"/>
              </p:cNvSpPr>
              <p:nvPr/>
            </p:nvSpPr>
            <p:spPr bwMode="auto">
              <a:xfrm>
                <a:off x="2416175" y="4578350"/>
                <a:ext cx="1198563" cy="61595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"/>
                  <a:defRPr sz="32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Font typeface="Verdana" panose="020B0804030504040204" pitchFamily="34" charset="0"/>
                  <a:buChar char="◦"/>
                  <a:defRPr sz="2800">
                    <a:solidFill>
                      <a:srgbClr val="0000CC"/>
                    </a:solidFill>
                    <a:latin typeface="Gill Sans MT" pitchFamily="34" charset="0"/>
                    <a:ea typeface="华文中宋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BBB59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064A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Gill Sans MT" pitchFamily="34" charset="0"/>
                    <a:ea typeface="华文中宋" pitchFamily="2" charset="-122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  <a:p>
                <a:pPr eaLnBrk="1" hangingPunct="1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>
                    <a:latin typeface="Times New Roman" panose="02020503050405090304" pitchFamily="18" charset="0"/>
                    <a:ea typeface="宋体" pitchFamily="2" charset="-122"/>
                  </a:rPr>
                  <a:t>调试</a:t>
                </a:r>
                <a:endParaRPr kumimoji="1" lang="zh-CN" altLang="en-US" sz="2400">
                  <a:latin typeface="Times New Roman" panose="02020503050405090304" pitchFamily="18" charset="0"/>
                  <a:ea typeface="宋体" pitchFamily="2" charset="-122"/>
                </a:endParaRPr>
              </a:p>
            </p:txBody>
          </p:sp>
          <p:sp>
            <p:nvSpPr>
              <p:cNvPr id="38931" name="Line 18"/>
              <p:cNvSpPr>
                <a:spLocks noChangeShapeType="1"/>
              </p:cNvSpPr>
              <p:nvPr/>
            </p:nvSpPr>
            <p:spPr bwMode="auto">
              <a:xfrm>
                <a:off x="8767763" y="3932238"/>
                <a:ext cx="0" cy="95408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2" name="Line 19"/>
              <p:cNvSpPr>
                <a:spLocks noChangeShapeType="1"/>
              </p:cNvSpPr>
              <p:nvPr/>
            </p:nvSpPr>
            <p:spPr bwMode="auto">
              <a:xfrm flipH="1">
                <a:off x="3614738" y="4886325"/>
                <a:ext cx="515302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3" name="Line 20"/>
              <p:cNvSpPr>
                <a:spLocks noChangeShapeType="1"/>
              </p:cNvSpPr>
              <p:nvPr/>
            </p:nvSpPr>
            <p:spPr bwMode="auto">
              <a:xfrm>
                <a:off x="6534150" y="3932238"/>
                <a:ext cx="0" cy="95408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4" name="Line 21"/>
              <p:cNvSpPr>
                <a:spLocks noChangeShapeType="1"/>
              </p:cNvSpPr>
              <p:nvPr/>
            </p:nvSpPr>
            <p:spPr bwMode="auto">
              <a:xfrm>
                <a:off x="4733925" y="3932238"/>
                <a:ext cx="0" cy="95408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5" name="Line 22"/>
              <p:cNvSpPr>
                <a:spLocks noChangeShapeType="1"/>
              </p:cNvSpPr>
              <p:nvPr/>
            </p:nvSpPr>
            <p:spPr bwMode="auto">
              <a:xfrm flipV="1">
                <a:off x="2646363" y="3932238"/>
                <a:ext cx="0" cy="64611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上节内容回顾</a:t>
            </a:r>
            <a:r>
              <a:rPr lang="en-US" altLang="zh-CN" dirty="0"/>
              <a:t>3</a:t>
            </a:r>
            <a:r>
              <a:rPr lang="zh-CN" altLang="en-US" dirty="0"/>
              <a:t>：代码结构</a:t>
            </a:r>
            <a:endParaRPr lang="en-US" dirty="0"/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1702961" y="1507701"/>
            <a:ext cx="0" cy="4392612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6"/>
          <p:cNvSpPr/>
          <p:nvPr/>
        </p:nvSpPr>
        <p:spPr>
          <a:xfrm>
            <a:off x="1702963" y="1436263"/>
            <a:ext cx="1954231" cy="647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程序 </a:t>
            </a:r>
            <a:r>
              <a:rPr lang="en-US" altLang="zh-CN" dirty="0"/>
              <a:t>(first.cpp)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2278678" y="2485266"/>
            <a:ext cx="165618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#include</a:t>
            </a:r>
            <a:endParaRPr lang="en-US" altLang="zh-CN" dirty="0"/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1702963" y="2809451"/>
            <a:ext cx="576263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4079449" y="2809451"/>
            <a:ext cx="576262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4798588" y="2577676"/>
            <a:ext cx="1724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预处理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命令</a:t>
            </a:r>
            <a:endParaRPr lang="en-US" altLang="en-US" sz="2400">
              <a:solidFill>
                <a:srgbClr val="0000CC"/>
              </a:solidFill>
              <a:latin typeface="Gill Sans MT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78678" y="3380504"/>
            <a:ext cx="165618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err="1"/>
              <a:t>int</a:t>
            </a:r>
            <a:r>
              <a:rPr lang="zh-CN" altLang="en-US" dirty="0"/>
              <a:t> </a:t>
            </a:r>
            <a:r>
              <a:rPr lang="en-US" altLang="zh-CN" dirty="0"/>
              <a:t>main()</a:t>
            </a:r>
            <a:endParaRPr lang="en-US" altLang="zh-CN" dirty="0"/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>
            <a:off x="1702963" y="3704801"/>
            <a:ext cx="576263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4079449" y="3682576"/>
            <a:ext cx="576262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4798588" y="3452390"/>
            <a:ext cx="3878263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主函数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：总是第一个被调用</a:t>
            </a:r>
            <a:endParaRPr lang="en-US" altLang="en-US" sz="24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9100" y="4393478"/>
            <a:ext cx="1656184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statements</a:t>
            </a:r>
            <a:endParaRPr lang="en-US" altLang="zh-CN" dirty="0"/>
          </a:p>
        </p:txBody>
      </p: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>
            <a:off x="4628724" y="4733501"/>
            <a:ext cx="576262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5146249" y="4503315"/>
            <a:ext cx="3262312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语句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：实现主函数功能</a:t>
            </a:r>
            <a:endParaRPr lang="en-US" altLang="en-US" sz="2400">
              <a:solidFill>
                <a:srgbClr val="000000"/>
              </a:solidFill>
              <a:latin typeface="Gill Sans MT" pitchFamily="34" charset="0"/>
            </a:endParaRPr>
          </a:p>
        </p:txBody>
      </p:sp>
      <p:cxnSp>
        <p:nvCxnSpPr>
          <p:cNvPr id="19" name="Elbow Connector 18"/>
          <p:cNvCxnSpPr>
            <a:cxnSpLocks noChangeShapeType="1"/>
          </p:cNvCxnSpPr>
          <p:nvPr/>
        </p:nvCxnSpPr>
        <p:spPr bwMode="auto">
          <a:xfrm rot="16200000" flipH="1">
            <a:off x="2317326" y="4206453"/>
            <a:ext cx="688975" cy="333375"/>
          </a:xfrm>
          <a:prstGeom prst="bentConnector2">
            <a:avLst/>
          </a:prstGeom>
          <a:noFill/>
          <a:ln w="25400">
            <a:solidFill>
              <a:schemeClr val="accent1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2134761" y="5468515"/>
            <a:ext cx="456565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注释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//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开始的单行与</a:t>
            </a:r>
            <a:r>
              <a:rPr lang="en-US" altLang="zh-CN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* *</a:t>
            </a:r>
            <a:r>
              <a:rPr lang="en-US" altLang="zh-CN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的多行</a:t>
            </a:r>
            <a:endParaRPr lang="en-US" altLang="en-US" sz="2400">
              <a:solidFill>
                <a:srgbClr val="000000"/>
              </a:solidFill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代码结构：基本概念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24248" y="1446245"/>
            <a:ext cx="7340958" cy="4853755"/>
          </a:xfrm>
        </p:spPr>
        <p:txBody>
          <a:bodyPr>
            <a:normAutofit lnSpcReduction="10000"/>
          </a:bodyPr>
          <a:lstStyle/>
          <a:p>
            <a:r>
              <a:rPr lang="en-US" altLang="en-US" sz="2000" dirty="0">
                <a:ea typeface="华文中宋" pitchFamily="2" charset="-122"/>
              </a:rPr>
              <a:t>#include &lt;</a:t>
            </a:r>
            <a:r>
              <a:rPr lang="en-US" altLang="en-US" sz="2000" dirty="0" err="1">
                <a:ea typeface="华文中宋" pitchFamily="2" charset="-122"/>
              </a:rPr>
              <a:t>stdio.h</a:t>
            </a:r>
            <a:r>
              <a:rPr lang="en-US" altLang="en-US" sz="2000" dirty="0">
                <a:ea typeface="华文中宋" pitchFamily="2" charset="-122"/>
              </a:rPr>
              <a:t>&gt;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预处理</a:t>
            </a:r>
            <a:r>
              <a:rPr lang="zh-CN" altLang="en-US" sz="1800" dirty="0"/>
              <a:t>命令，包含</a:t>
            </a:r>
            <a:r>
              <a:rPr lang="zh-CN" altLang="en-US" sz="1800" dirty="0">
                <a:solidFill>
                  <a:srgbClr val="0000CC"/>
                </a:solidFill>
              </a:rPr>
              <a:t>系统头文件</a:t>
            </a:r>
            <a:endParaRPr lang="en-US" altLang="en-US" sz="1800" dirty="0">
              <a:solidFill>
                <a:srgbClr val="0000CC"/>
              </a:solidFill>
              <a:ea typeface="华文中宋" pitchFamily="2" charset="-122"/>
            </a:endParaRPr>
          </a:p>
          <a:p>
            <a:r>
              <a:rPr lang="en-US" altLang="en-US" sz="2000" dirty="0">
                <a:ea typeface="华文中宋" pitchFamily="2" charset="-122"/>
              </a:rPr>
              <a:t>int main()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主函数</a:t>
            </a:r>
            <a:r>
              <a:rPr lang="zh-CN" altLang="en-US" sz="1800" dirty="0"/>
              <a:t>头</a:t>
            </a:r>
            <a:endParaRPr lang="en-US" altLang="en-US" sz="1800" dirty="0">
              <a:ea typeface="华文中宋" pitchFamily="2" charset="-122"/>
            </a:endParaRPr>
          </a:p>
          <a:p>
            <a:r>
              <a:rPr lang="en-US" altLang="en-US" sz="2000" dirty="0">
                <a:ea typeface="华文中宋" pitchFamily="2" charset="-122"/>
              </a:rPr>
              <a:t>int </a:t>
            </a:r>
            <a:r>
              <a:rPr lang="en-US" altLang="zh-CN" sz="2000" dirty="0">
                <a:ea typeface="华文中宋" pitchFamily="2" charset="-122"/>
              </a:rPr>
              <a:t>sum</a:t>
            </a:r>
            <a:r>
              <a:rPr lang="en-US" altLang="en-US" sz="2000" dirty="0">
                <a:ea typeface="华文中宋" pitchFamily="2" charset="-122"/>
              </a:rPr>
              <a:t>;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声明</a:t>
            </a:r>
            <a:r>
              <a:rPr lang="zh-CN" altLang="en-US" sz="1800" dirty="0"/>
              <a:t>语句</a:t>
            </a:r>
            <a:endParaRPr lang="en-US" altLang="en-US" sz="1800" dirty="0">
              <a:ea typeface="华文中宋" pitchFamily="2" charset="-122"/>
            </a:endParaRPr>
          </a:p>
          <a:p>
            <a:r>
              <a:rPr lang="en-US" altLang="en-US" sz="2000" dirty="0">
                <a:ea typeface="华文中宋" pitchFamily="2" charset="-122"/>
              </a:rPr>
              <a:t>num = a</a:t>
            </a:r>
            <a:r>
              <a:rPr lang="zh-CN" altLang="en-US" sz="2000" dirty="0">
                <a:ea typeface="华文中宋" pitchFamily="2" charset="-122"/>
              </a:rPr>
              <a:t> </a:t>
            </a:r>
            <a:r>
              <a:rPr lang="en-US" altLang="zh-CN" sz="2000" dirty="0">
                <a:ea typeface="华文中宋" pitchFamily="2" charset="-122"/>
              </a:rPr>
              <a:t>+ b</a:t>
            </a:r>
            <a:r>
              <a:rPr lang="en-US" altLang="en-US" sz="2000" dirty="0">
                <a:ea typeface="华文中宋" pitchFamily="2" charset="-122"/>
              </a:rPr>
              <a:t>;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赋值</a:t>
            </a:r>
            <a:r>
              <a:rPr lang="zh-CN" altLang="en-US" sz="1800" dirty="0"/>
              <a:t>语句</a:t>
            </a:r>
            <a:endParaRPr lang="en-US" altLang="en-US" sz="1800" dirty="0">
              <a:ea typeface="华文中宋" pitchFamily="2" charset="-122"/>
            </a:endParaRPr>
          </a:p>
          <a:p>
            <a:r>
              <a:rPr lang="en-US" altLang="zh-CN" sz="2000" dirty="0" err="1"/>
              <a:t>p</a:t>
            </a:r>
            <a:r>
              <a:rPr lang="en-US" altLang="en-US" sz="2000" dirty="0" err="1">
                <a:ea typeface="华文中宋" pitchFamily="2" charset="-122"/>
              </a:rPr>
              <a:t>rintf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is-IS" altLang="zh-CN" sz="2000" dirty="0"/>
              <a:t>…</a:t>
            </a:r>
            <a:r>
              <a:rPr lang="en-US" altLang="zh-CN" sz="2000" dirty="0"/>
              <a:t>);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函数调用</a:t>
            </a:r>
            <a:r>
              <a:rPr lang="zh-CN" altLang="en-US" sz="1800" dirty="0"/>
              <a:t>语句</a:t>
            </a:r>
            <a:endParaRPr lang="en-US" altLang="zh-CN" sz="1800" dirty="0"/>
          </a:p>
          <a:p>
            <a:pPr lvl="1"/>
            <a:r>
              <a:rPr lang="en-US" altLang="zh-CN" sz="1800" dirty="0"/>
              <a:t>(“ </a:t>
            </a:r>
            <a:r>
              <a:rPr lang="en-US" altLang="zh-CN" sz="1800" dirty="0" err="1"/>
              <a:t>abcd</a:t>
            </a:r>
            <a:r>
              <a:rPr lang="en-US" altLang="zh-CN" sz="1800" dirty="0"/>
              <a:t>”),</a:t>
            </a:r>
            <a:r>
              <a:rPr lang="zh-CN" altLang="en-US" sz="1800" dirty="0"/>
              <a:t>  </a:t>
            </a:r>
            <a:r>
              <a:rPr lang="en-US" altLang="zh-CN" sz="1800" dirty="0"/>
              <a:t>(“</a:t>
            </a:r>
            <a:r>
              <a:rPr lang="en-US" altLang="zh-CN" sz="1800" dirty="0" err="1"/>
              <a:t>abcd</a:t>
            </a:r>
            <a:r>
              <a:rPr lang="en-US" altLang="zh-CN" sz="1800" dirty="0"/>
              <a:t>\n”),</a:t>
            </a:r>
            <a:r>
              <a:rPr lang="zh-CN" altLang="en-US" sz="1800" dirty="0"/>
              <a:t>  </a:t>
            </a:r>
            <a:r>
              <a:rPr lang="en-US" altLang="zh-CN" sz="1800" dirty="0"/>
              <a:t>(“</a:t>
            </a:r>
            <a:r>
              <a:rPr lang="en-US" altLang="zh-CN" sz="1800" dirty="0" err="1"/>
              <a:t>abc%d</a:t>
            </a:r>
            <a:r>
              <a:rPr lang="en-US" altLang="zh-CN" sz="1800" dirty="0"/>
              <a:t>”,</a:t>
            </a:r>
            <a:r>
              <a:rPr lang="zh-CN" altLang="en-US" sz="1800" dirty="0"/>
              <a:t> </a:t>
            </a:r>
            <a:r>
              <a:rPr lang="en-US" altLang="zh-CN" sz="1800" dirty="0"/>
              <a:t>123)</a:t>
            </a:r>
            <a:endParaRPr lang="en-US" altLang="en-US" sz="1800" dirty="0">
              <a:ea typeface="华文中宋" pitchFamily="2" charset="-122"/>
            </a:endParaRPr>
          </a:p>
          <a:p>
            <a:r>
              <a:rPr lang="en-US" altLang="zh-CN" sz="2000" dirty="0"/>
              <a:t>//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* *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00CC"/>
                </a:solidFill>
              </a:rPr>
              <a:t>注释</a:t>
            </a:r>
            <a:endParaRPr lang="en-US" altLang="en-US" sz="1800" dirty="0">
              <a:solidFill>
                <a:srgbClr val="0000CC"/>
              </a:solidFill>
              <a:ea typeface="华文中宋" pitchFamily="2" charset="-122"/>
            </a:endParaRPr>
          </a:p>
          <a:p>
            <a:endParaRPr lang="en-US" dirty="0"/>
          </a:p>
        </p:txBody>
      </p:sp>
      <p:sp>
        <p:nvSpPr>
          <p:cNvPr id="6" name="爆炸形: 14 pt  5"/>
          <p:cNvSpPr/>
          <p:nvPr/>
        </p:nvSpPr>
        <p:spPr>
          <a:xfrm>
            <a:off x="6355348" y="846140"/>
            <a:ext cx="2707105" cy="1925053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大堆术语</a:t>
            </a:r>
            <a:endParaRPr lang="en-US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1032" name="Picture 8" descr="宝宝挠头、揪耳朵？出现这几种行为，说明孩子可能病了！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45"/>
          <a:stretch>
            <a:fillRect/>
          </a:stretch>
        </p:blipFill>
        <p:spPr bwMode="auto">
          <a:xfrm>
            <a:off x="5457243" y="2213396"/>
            <a:ext cx="3477208" cy="243120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上节内容补充：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894826" y="1266107"/>
            <a:ext cx="5354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sin20cos20 - cos10/tan10 </a:t>
            </a:r>
            <a:endParaRPr 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1232357" y="142991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计算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328495" y="2063635"/>
            <a:ext cx="8233897" cy="31393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#include &lt;iostream&gt;		// </a:t>
            </a:r>
            <a:r>
              <a:rPr lang="zh-CN" altLang="en-US" dirty="0"/>
              <a:t>预编译命令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en-US" dirty="0"/>
              <a:t>include &lt;</a:t>
            </a:r>
            <a:r>
              <a:rPr lang="en-US" dirty="0" err="1"/>
              <a:t>cmath</a:t>
            </a:r>
            <a:r>
              <a:rPr lang="en-US" dirty="0"/>
              <a:t>&gt;</a:t>
            </a:r>
            <a:endParaRPr lang="en-US" dirty="0"/>
          </a:p>
          <a:p>
            <a:r>
              <a:rPr lang="en-US" dirty="0"/>
              <a:t>using namespace std;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 main()</a:t>
            </a:r>
            <a:endParaRPr lang="en-US" dirty="0"/>
          </a:p>
          <a:p>
            <a:r>
              <a:rPr lang="en-US" dirty="0"/>
              <a:t>{		</a:t>
            </a:r>
            <a:endParaRPr lang="en-US" dirty="0"/>
          </a:p>
          <a:p>
            <a:r>
              <a:rPr lang="en-US" dirty="0"/>
              <a:t>	// </a:t>
            </a:r>
            <a:r>
              <a:rPr lang="zh-CN" altLang="en-US" dirty="0"/>
              <a:t>计算三角函数式直接输出</a:t>
            </a:r>
            <a:endParaRPr lang="en-US" altLang="zh-CN" dirty="0"/>
          </a:p>
          <a:p>
            <a:r>
              <a:rPr lang="en-US" dirty="0"/>
              <a:t>	double a1 = 20.0 / 180 * 3.14159, a2 = 10.0 / 180 * 3.14159;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sin(a1) * cos(a1) - cos(a2)/tan(a2)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	return 0;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634591"/>
            <a:ext cx="8280000" cy="466540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基本数据类型</a:t>
            </a:r>
            <a:endParaRPr lang="zh-CN" altLang="en-US" sz="3200" dirty="0"/>
          </a:p>
          <a:p>
            <a:r>
              <a:rPr lang="zh-CN" altLang="en-US" sz="3200" dirty="0"/>
              <a:t>变量与常量</a:t>
            </a:r>
            <a:endParaRPr lang="en-US" altLang="zh-CN" sz="3200" dirty="0"/>
          </a:p>
          <a:p>
            <a:r>
              <a:rPr lang="zh-CN" altLang="en-US" sz="3200" dirty="0"/>
              <a:t>运算符与表达式</a:t>
            </a:r>
            <a:endParaRPr lang="zh-CN" altLang="en-US" sz="3200" dirty="0"/>
          </a:p>
          <a:p>
            <a:r>
              <a:rPr lang="zh-CN" altLang="en-US" sz="3200" dirty="0"/>
              <a:t>类型转换</a:t>
            </a:r>
            <a:endParaRPr lang="en-US" altLang="zh-CN" sz="3200" dirty="0"/>
          </a:p>
          <a:p>
            <a:r>
              <a:rPr lang="zh-CN" altLang="en-US" sz="3200" dirty="0"/>
              <a:t>输入和输出</a:t>
            </a:r>
            <a:endParaRPr lang="zh-CN" altLang="en-US" sz="3200" dirty="0"/>
          </a:p>
          <a:p>
            <a:endParaRPr lang="zh-CN" altLang="en-US" sz="3200" dirty="0"/>
          </a:p>
          <a:p>
            <a:pPr marL="6223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数据类型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存在不同类型的数据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数据可能是</a:t>
            </a:r>
            <a:r>
              <a:rPr lang="zh-CN" altLang="en-US" dirty="0"/>
              <a:t>整数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/>
              <a:t>实数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/>
              <a:t>字母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等等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/>
              <a:t>为什么</a:t>
            </a:r>
            <a:r>
              <a:rPr lang="en-US" altLang="zh-CN" dirty="0"/>
              <a:t>C</a:t>
            </a:r>
            <a:r>
              <a:rPr lang="zh-CN" altLang="en-US" dirty="0"/>
              <a:t>语言要区分不同数据类型？</a:t>
            </a:r>
            <a:endParaRPr lang="en-US" altLang="zh-CN" dirty="0"/>
          </a:p>
          <a:p>
            <a:pPr lvl="2"/>
            <a:r>
              <a:rPr lang="zh-CN" altLang="en-US" dirty="0"/>
              <a:t>不同类型的数据占用的空间不同</a:t>
            </a:r>
            <a:endParaRPr lang="en-US" altLang="zh-CN" dirty="0"/>
          </a:p>
          <a:p>
            <a:pPr lvl="2"/>
            <a:r>
              <a:rPr lang="zh-CN" altLang="en-US" dirty="0"/>
              <a:t>计算的方式不同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  <a:endParaRPr lang="en-US" altLang="zh-CN" dirty="0"/>
          </a:p>
          <a:p>
            <a:pPr lvl="2"/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语言支持的数据类型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CC"/>
                </a:solidFill>
              </a:rPr>
              <a:t>数值型数据 </a:t>
            </a:r>
            <a:r>
              <a:rPr lang="en-US" altLang="zh-CN" dirty="0">
                <a:solidFill>
                  <a:srgbClr val="0000CC"/>
                </a:solidFill>
              </a:rPr>
              <a:t>(short,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int,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long, float,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double)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>
                <a:solidFill>
                  <a:srgbClr val="0000CC"/>
                </a:solidFill>
              </a:rPr>
              <a:t>字符型数据 </a:t>
            </a:r>
            <a:r>
              <a:rPr lang="en-US" altLang="zh-CN" dirty="0">
                <a:solidFill>
                  <a:srgbClr val="0000CC"/>
                </a:solidFill>
              </a:rPr>
              <a:t>(char)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>
                <a:solidFill>
                  <a:srgbClr val="7F7F7F"/>
                </a:solidFill>
              </a:rPr>
              <a:t>用户自定义数据 </a:t>
            </a:r>
            <a:r>
              <a:rPr lang="en-US" altLang="zh-CN" dirty="0">
                <a:solidFill>
                  <a:srgbClr val="7F7F7F"/>
                </a:solidFill>
              </a:rPr>
              <a:t>(pointer, struct,</a:t>
            </a:r>
            <a:r>
              <a:rPr lang="zh-CN" altLang="en-US" dirty="0">
                <a:solidFill>
                  <a:srgbClr val="7F7F7F"/>
                </a:solidFill>
              </a:rPr>
              <a:t> </a:t>
            </a:r>
            <a:r>
              <a:rPr lang="en-US" altLang="zh-CN" dirty="0">
                <a:solidFill>
                  <a:srgbClr val="7F7F7F"/>
                </a:solidFill>
              </a:rPr>
              <a:t>union)</a:t>
            </a:r>
            <a:endParaRPr lang="en-US" altLang="zh-CN" dirty="0">
              <a:solidFill>
                <a:srgbClr val="7F7F7F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9" name="对话气泡: 椭圆形 8"/>
          <p:cNvSpPr/>
          <p:nvPr/>
        </p:nvSpPr>
        <p:spPr>
          <a:xfrm>
            <a:off x="3813177" y="404572"/>
            <a:ext cx="2744035" cy="954505"/>
          </a:xfrm>
          <a:prstGeom prst="wedgeEllipseCallout">
            <a:avLst>
              <a:gd name="adj1" fmla="val -55929"/>
              <a:gd name="adj2" fmla="val 7905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维度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：类型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2387" y="303211"/>
            <a:ext cx="8230387" cy="899650"/>
          </a:xfrm>
        </p:spPr>
        <p:txBody>
          <a:bodyPr/>
          <a:lstStyle/>
          <a:p>
            <a:r>
              <a:rPr lang="zh-CN" altLang="en-US" dirty="0"/>
              <a:t>基本数据类型概览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202861"/>
            <a:ext cx="8280000" cy="50971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C/C++</a:t>
            </a:r>
            <a:r>
              <a:rPr lang="zh-CN" altLang="en-US" dirty="0"/>
              <a:t>程序员可以使用的基本数据类型</a:t>
            </a:r>
            <a:endParaRPr lang="en-US" altLang="zh-CN" dirty="0"/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endParaRPr lang="en-US" altLang="en-US" dirty="0">
              <a:ea typeface="华文中宋" pitchFamily="2" charset="-122"/>
            </a:endParaRPr>
          </a:p>
          <a:p>
            <a:pPr lvl="1">
              <a:spcBef>
                <a:spcPts val="2400"/>
              </a:spcBef>
            </a:pPr>
            <a:endParaRPr lang="en-US" altLang="zh-CN" dirty="0"/>
          </a:p>
          <a:p>
            <a:pPr lvl="1">
              <a:spcBef>
                <a:spcPts val="2400"/>
              </a:spcBef>
            </a:pPr>
            <a:endParaRPr lang="en-US" altLang="zh-CN" dirty="0"/>
          </a:p>
          <a:p>
            <a:pPr lvl="1">
              <a:spcBef>
                <a:spcPts val="2400"/>
              </a:spcBef>
            </a:pPr>
            <a:r>
              <a:rPr lang="zh-CN" altLang="en-US" dirty="0"/>
              <a:t>有符号</a:t>
            </a:r>
            <a:r>
              <a:rPr lang="en-US" altLang="zh-CN" dirty="0"/>
              <a:t>(signed)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dirty="0"/>
              <a:t>无符号</a:t>
            </a:r>
            <a:r>
              <a:rPr lang="en-US" altLang="zh-CN" dirty="0"/>
              <a:t>(unsigned)</a:t>
            </a:r>
            <a:r>
              <a:rPr lang="zh-CN" altLang="en-US" dirty="0">
                <a:solidFill>
                  <a:schemeClr val="tx1"/>
                </a:solidFill>
              </a:rPr>
              <a:t>的区分</a:t>
            </a:r>
            <a:endParaRPr lang="en-US" altLang="en-US" dirty="0">
              <a:solidFill>
                <a:schemeClr val="tx1"/>
              </a:solidFill>
              <a:ea typeface="华文中宋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zh-CN" altLang="en-US" dirty="0"/>
              <a:t>整数</a:t>
            </a:r>
            <a:r>
              <a:rPr lang="zh-CN" altLang="en-US" dirty="0">
                <a:solidFill>
                  <a:schemeClr val="tx1"/>
                </a:solidFill>
              </a:rPr>
              <a:t>常用</a:t>
            </a:r>
            <a:r>
              <a:rPr lang="en-US" altLang="zh-CN" dirty="0"/>
              <a:t>int,</a:t>
            </a:r>
            <a:r>
              <a:rPr lang="zh-CN" altLang="en-US" dirty="0"/>
              <a:t> </a:t>
            </a:r>
            <a:r>
              <a:rPr lang="en-US" altLang="zh-CN" dirty="0"/>
              <a:t>short,</a:t>
            </a:r>
            <a:r>
              <a:rPr lang="zh-CN" altLang="en-US" dirty="0"/>
              <a:t> </a:t>
            </a:r>
            <a:r>
              <a:rPr lang="en-US" altLang="zh-CN" dirty="0"/>
              <a:t>long, long </a:t>
            </a:r>
            <a:r>
              <a:rPr lang="en-US" altLang="zh-CN" dirty="0" err="1"/>
              <a:t>long</a:t>
            </a:r>
            <a:r>
              <a:rPr lang="zh-CN" altLang="en-US" dirty="0"/>
              <a:t>四</a:t>
            </a:r>
            <a:r>
              <a:rPr lang="zh-CN" altLang="en-US" dirty="0">
                <a:solidFill>
                  <a:schemeClr val="tx1"/>
                </a:solidFill>
              </a:rPr>
              <a:t>种类型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zh-CN" altLang="en-US" dirty="0"/>
              <a:t>实数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/>
              <a:t>float,</a:t>
            </a:r>
            <a:r>
              <a:rPr lang="zh-CN" altLang="en-US" dirty="0"/>
              <a:t> </a:t>
            </a:r>
            <a:r>
              <a:rPr lang="en-US" altLang="zh-CN" dirty="0"/>
              <a:t>double, long double </a:t>
            </a:r>
            <a:r>
              <a:rPr lang="zh-CN" altLang="en-US" dirty="0"/>
              <a:t>三</a:t>
            </a:r>
            <a:r>
              <a:rPr lang="zh-CN" altLang="en-US" dirty="0">
                <a:solidFill>
                  <a:schemeClr val="tx1"/>
                </a:solidFill>
              </a:rPr>
              <a:t>种类型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zh-CN" altLang="en-US" dirty="0"/>
              <a:t>字符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/>
              <a:t>char</a:t>
            </a:r>
            <a:r>
              <a:rPr lang="zh-CN" altLang="en-US" dirty="0">
                <a:solidFill>
                  <a:schemeClr val="tx1"/>
                </a:solidFill>
              </a:rPr>
              <a:t>类型</a:t>
            </a:r>
            <a:endParaRPr lang="en-US" altLang="en-US" dirty="0">
              <a:solidFill>
                <a:schemeClr val="tx1"/>
              </a:solidFill>
              <a:ea typeface="华文中宋" pitchFamily="2" charset="-122"/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454822" y="1601089"/>
              <a:ext cx="8279999" cy="289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8277"/>
                    <a:gridCol w="1485245"/>
                    <a:gridCol w="3273531"/>
                    <a:gridCol w="2412946"/>
                  </a:tblGrid>
                  <a:tr h="22124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b="1" dirty="0"/>
                            <a:t>类型</a:t>
                          </a:r>
                          <a:endParaRPr lang="zh-CN" altLang="en-US" sz="1300" b="1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b="1" dirty="0"/>
                            <a:t>占用内存字节数</a:t>
                          </a:r>
                          <a:endParaRPr lang="en-US" altLang="zh-CN" sz="1300" b="1" dirty="0"/>
                        </a:p>
                        <a:p>
                          <a:pPr algn="ctr"/>
                          <a:r>
                            <a:rPr lang="zh-CN" altLang="en-US" sz="1300" b="1" dirty="0"/>
                            <a:t>（</a:t>
                          </a:r>
                          <a:r>
                            <a:rPr lang="en-US" altLang="zh-CN" sz="1300" b="1" dirty="0" err="1"/>
                            <a:t>sizeof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dirty="0"/>
                            <a:t>值域</a:t>
                          </a:r>
                          <a:endParaRPr lang="zh-CN" altLang="en-US" sz="1300" dirty="0"/>
                        </a:p>
                      </a:txBody>
                      <a:tcPr/>
                    </a:tc>
                    <a:tc hMerge="1">
                      <a:tcPr/>
                    </a:tc>
                  </a:tr>
                  <a:tr h="221244">
                    <a:tc vMerge="1">
                      <a:tcPr/>
                    </a:tc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signed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unsigned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char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1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7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7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[-128, 127]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8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255]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short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2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15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15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[-32768, 32767]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16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65535]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 err="1"/>
                            <a:t>int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4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[-2147483648, 2147483647]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32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4294967295]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long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[-2147483648, 2147483647]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32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4294967295]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long</a:t>
                          </a:r>
                          <a:r>
                            <a:rPr lang="en-US" altLang="zh-CN" sz="1300" b="1" baseline="0" dirty="0"/>
                            <a:t> </a:t>
                          </a:r>
                          <a:r>
                            <a:rPr lang="en-US" altLang="zh-CN" sz="1300" b="1" baseline="0" dirty="0" err="1"/>
                            <a:t>long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8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[-2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63</a:t>
                          </a:r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63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-1]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[0,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64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-1]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float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4</a:t>
                          </a:r>
                          <a:r>
                            <a:rPr lang="en-US" altLang="zh-CN" sz="1300" b="1" baseline="0" dirty="0"/>
                            <a:t> (</a:t>
                          </a:r>
                          <a:r>
                            <a:rPr lang="zh-CN" altLang="en-US" sz="1300" b="1" baseline="0" dirty="0"/>
                            <a:t>有效数字</a:t>
                          </a:r>
                          <a:r>
                            <a:rPr lang="en-US" altLang="zh-CN" sz="1300" b="1" baseline="0" dirty="0"/>
                            <a:t>: 6)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4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38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38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38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4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38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altLang="en-US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double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8</a:t>
                          </a:r>
                          <a:r>
                            <a:rPr lang="en-US" altLang="zh-CN" sz="1300" b="1" baseline="0" dirty="0"/>
                            <a:t> (</a:t>
                          </a:r>
                          <a:r>
                            <a:rPr lang="zh-CN" altLang="en-US" sz="1300" b="1" baseline="0" dirty="0"/>
                            <a:t>有效数字</a:t>
                          </a:r>
                          <a:r>
                            <a:rPr lang="en-US" altLang="zh-CN" sz="1300" b="1" baseline="0" dirty="0"/>
                            <a:t>: 15)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12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7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308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308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308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7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308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altLang="en-US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long double</a:t>
                          </a:r>
                          <a:r>
                            <a:rPr lang="en-US" altLang="zh-CN" sz="1300" b="1" baseline="300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  <a:endParaRPr lang="zh-CN" altLang="en-US" sz="1300" b="1" baseline="30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16</a:t>
                          </a:r>
                          <a:r>
                            <a:rPr lang="en-US" altLang="zh-CN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 (</a:t>
                          </a:r>
                          <a:r>
                            <a:rPr lang="zh-CN" altLang="en-US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有效数字</a:t>
                          </a:r>
                          <a:r>
                            <a:rPr lang="en-US" altLang="zh-CN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: 19)</a:t>
                          </a:r>
                          <a:endParaRPr lang="zh-CN" altLang="en-US" sz="1300" b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1200" b="0" i="1" baseline="0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4932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,−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4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4932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altLang="zh-CN" sz="1200" b="0" i="0" baseline="0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1200" b="0" i="1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3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4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4932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1200" b="0" i="0" baseline="0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×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0" baseline="0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4932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altLang="en-US" sz="1200" b="0" i="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454822" y="1601089"/>
              <a:ext cx="8279999" cy="289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8277"/>
                    <a:gridCol w="1485245"/>
                    <a:gridCol w="3273531"/>
                    <a:gridCol w="2412946"/>
                  </a:tblGrid>
                  <a:tr h="22124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b="1" dirty="0"/>
                            <a:t>类型</a:t>
                          </a:r>
                          <a:endParaRPr lang="zh-CN" altLang="en-US" sz="1300" b="1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b="1" dirty="0"/>
                            <a:t>占用内存字节数</a:t>
                          </a:r>
                          <a:endParaRPr lang="en-US" altLang="zh-CN" sz="1300" b="1" dirty="0"/>
                        </a:p>
                        <a:p>
                          <a:pPr algn="ctr"/>
                          <a:r>
                            <a:rPr lang="zh-CN" altLang="en-US" sz="1300" b="1" dirty="0"/>
                            <a:t>（</a:t>
                          </a:r>
                          <a:r>
                            <a:rPr lang="en-US" altLang="zh-CN" sz="1300" b="1" dirty="0" err="1"/>
                            <a:t>sizeof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300" dirty="0"/>
                            <a:t>值域</a:t>
                          </a:r>
                          <a:endParaRPr lang="zh-CN" altLang="en-US" sz="1300" dirty="0"/>
                        </a:p>
                      </a:txBody>
                      <a:tcPr/>
                    </a:tc>
                    <a:tc hMerge="1">
                      <a:tcPr/>
                    </a:tc>
                  </a:tr>
                  <a:tr h="221244">
                    <a:tc vMerge="1">
                      <a:tcPr/>
                    </a:tc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signed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unsigned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char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1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7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7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[-128, 127]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8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255]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short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2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15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15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[-32768, 32767]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16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65535]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 err="1"/>
                            <a:t>int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4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[-2147483648, 2147483647]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32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4294967295]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long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[-2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dirty="0"/>
                            <a:t>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31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baseline="0" dirty="0"/>
                            <a:t>[-2147483648, 2147483647]</a:t>
                          </a:r>
                          <a:r>
                            <a:rPr lang="zh-CN" altLang="en-US" sz="1300" b="1" baseline="0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[0,</a:t>
                          </a:r>
                          <a:r>
                            <a:rPr lang="en-US" altLang="zh-CN" sz="1300" b="1" baseline="0" dirty="0"/>
                            <a:t> 2</a:t>
                          </a:r>
                          <a:r>
                            <a:rPr lang="en-US" altLang="zh-CN" sz="1300" b="1" baseline="30000" dirty="0"/>
                            <a:t>32</a:t>
                          </a:r>
                          <a:r>
                            <a:rPr lang="en-US" altLang="zh-CN" sz="1300" b="1" baseline="0" dirty="0"/>
                            <a:t>-1]</a:t>
                          </a:r>
                          <a:r>
                            <a:rPr lang="zh-CN" altLang="en-US" sz="1300" b="1" baseline="0" dirty="0"/>
                            <a:t>（</a:t>
                          </a:r>
                          <a:r>
                            <a:rPr lang="en-US" altLang="zh-CN" sz="1300" b="1" dirty="0"/>
                            <a:t>[0, 4294967295]</a:t>
                          </a:r>
                          <a:r>
                            <a:rPr lang="zh-CN" altLang="en-US" sz="1300" b="1" dirty="0"/>
                            <a:t>）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</a:tr>
                  <a:tr h="236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long</a:t>
                          </a:r>
                          <a:r>
                            <a:rPr lang="en-US" altLang="zh-CN" sz="1300" b="1" baseline="0" dirty="0"/>
                            <a:t> </a:t>
                          </a:r>
                          <a:r>
                            <a:rPr lang="en-US" altLang="zh-CN" sz="1300" b="1" baseline="0" dirty="0" err="1"/>
                            <a:t>long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8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[-2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63</a:t>
                          </a:r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63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-1]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tx1"/>
                              </a:solidFill>
                            </a:rPr>
                            <a:t>[0,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  <a:r>
                            <a:rPr lang="en-US" altLang="zh-CN" sz="1300" b="1" baseline="30000" dirty="0">
                              <a:solidFill>
                                <a:schemeClr val="tx1"/>
                              </a:solidFill>
                            </a:rPr>
                            <a:t>64</a:t>
                          </a:r>
                          <a:r>
                            <a:rPr lang="en-US" altLang="zh-CN" sz="1300" b="1" baseline="0" dirty="0">
                              <a:solidFill>
                                <a:schemeClr val="tx1"/>
                              </a:solidFill>
                            </a:rPr>
                            <a:t>-1]</a:t>
                          </a:r>
                          <a:endParaRPr lang="zh-CN" altLang="en-US" sz="13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09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float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4</a:t>
                          </a:r>
                          <a:r>
                            <a:rPr lang="en-US" altLang="zh-CN" sz="1300" b="1" baseline="0" dirty="0"/>
                            <a:t> (</a:t>
                          </a:r>
                          <a:r>
                            <a:rPr lang="zh-CN" altLang="en-US" sz="1300" b="1" baseline="0" dirty="0"/>
                            <a:t>有效数字</a:t>
                          </a:r>
                          <a:r>
                            <a:rPr lang="en-US" altLang="zh-CN" sz="1300" b="1" baseline="0" dirty="0"/>
                            <a:t>: 6)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</a:tr>
                  <a:tr h="309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double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/>
                            <a:t>8</a:t>
                          </a:r>
                          <a:r>
                            <a:rPr lang="en-US" altLang="zh-CN" sz="1300" b="1" baseline="0" dirty="0"/>
                            <a:t> (</a:t>
                          </a:r>
                          <a:r>
                            <a:rPr lang="zh-CN" altLang="en-US" sz="1300" b="1" baseline="0" dirty="0"/>
                            <a:t>有效数字</a:t>
                          </a:r>
                          <a:r>
                            <a:rPr lang="en-US" altLang="zh-CN" sz="1300" b="1" baseline="0" dirty="0"/>
                            <a:t>: 15)</a:t>
                          </a:r>
                          <a:endParaRPr lang="zh-CN" altLang="en-US" sz="1300" b="1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long double</a:t>
                          </a:r>
                          <a:r>
                            <a:rPr lang="en-US" altLang="zh-CN" sz="1300" b="1" baseline="300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  <a:endParaRPr lang="zh-CN" altLang="en-US" sz="1300" b="1" baseline="300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16</a:t>
                          </a:r>
                          <a:r>
                            <a:rPr lang="en-US" altLang="zh-CN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 (</a:t>
                          </a:r>
                          <a:r>
                            <a:rPr lang="zh-CN" altLang="en-US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有效数字</a:t>
                          </a:r>
                          <a:r>
                            <a:rPr lang="en-US" altLang="zh-CN" sz="1300" b="1" baseline="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: 19)</a:t>
                          </a:r>
                          <a:endParaRPr lang="zh-CN" altLang="en-US" sz="1300" b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 hMerge="1"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5"/>
          <p:cNvSpPr txBox="1"/>
          <p:nvPr/>
        </p:nvSpPr>
        <p:spPr>
          <a:xfrm>
            <a:off x="419569" y="6005732"/>
            <a:ext cx="8193205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注：以上是在</a:t>
            </a:r>
            <a:r>
              <a:rPr lang="en-US" altLang="zh-CN" sz="1300" dirty="0"/>
              <a:t>64</a:t>
            </a:r>
            <a:r>
              <a:rPr lang="zh-CN" altLang="en-US" sz="1300" dirty="0"/>
              <a:t>位</a:t>
            </a:r>
            <a:r>
              <a:rPr lang="en-US" altLang="zh-CN" sz="1300" dirty="0"/>
              <a:t>Windows</a:t>
            </a:r>
            <a:r>
              <a:rPr lang="zh-CN" altLang="en-US" sz="1300" dirty="0"/>
              <a:t>希统上的结果，不同平台可能略有差异。可以用</a:t>
            </a:r>
            <a:r>
              <a:rPr lang="en-US" altLang="zh-CN" sz="1300" dirty="0" err="1">
                <a:solidFill>
                  <a:srgbClr val="FF0000"/>
                </a:solidFill>
              </a:rPr>
              <a:t>sizeof</a:t>
            </a:r>
            <a:r>
              <a:rPr lang="zh-CN" altLang="en-US" sz="1300" dirty="0"/>
              <a:t>操作符查看占用内存字节数。</a:t>
            </a:r>
            <a:endParaRPr lang="en-US" altLang="zh-CN" sz="1300" dirty="0"/>
          </a:p>
          <a:p>
            <a:r>
              <a:rPr lang="en-US" altLang="zh-CN" sz="1300" dirty="0"/>
              <a:t>         C</a:t>
            </a:r>
            <a:r>
              <a:rPr lang="zh-CN" altLang="en-US" sz="1300" dirty="0"/>
              <a:t>标准并未具体规定各种类型占多少字节，只要求：</a:t>
            </a:r>
            <a:r>
              <a:rPr lang="en-US" altLang="zh-CN" sz="1300" dirty="0"/>
              <a:t>short</a:t>
            </a:r>
            <a:r>
              <a:rPr lang="zh-CN" altLang="en-US" sz="1300" dirty="0"/>
              <a:t>型长度≤</a:t>
            </a:r>
            <a:r>
              <a:rPr lang="en-US" altLang="zh-CN" sz="1300" dirty="0"/>
              <a:t>int</a:t>
            </a:r>
            <a:r>
              <a:rPr lang="zh-CN" altLang="en-US" sz="1300" dirty="0"/>
              <a:t>型长度≤</a:t>
            </a:r>
            <a:r>
              <a:rPr lang="en-US" altLang="zh-CN" sz="1300" dirty="0"/>
              <a:t>long</a:t>
            </a:r>
            <a:r>
              <a:rPr lang="zh-CN" altLang="en-US" sz="1300" dirty="0"/>
              <a:t>型长度</a:t>
            </a:r>
            <a:endParaRPr lang="en-US" altLang="zh-CN" sz="1300" dirty="0"/>
          </a:p>
          <a:p>
            <a:r>
              <a:rPr lang="en-US" altLang="zh-CN" sz="1300" dirty="0"/>
              <a:t>         long </a:t>
            </a:r>
            <a:r>
              <a:rPr lang="zh-CN" altLang="en-US" sz="1300" dirty="0"/>
              <a:t>是</a:t>
            </a:r>
            <a:r>
              <a:rPr lang="en-US" altLang="zh-CN" sz="1300" dirty="0"/>
              <a:t>C99</a:t>
            </a:r>
            <a:r>
              <a:rPr lang="zh-CN" altLang="en-US" sz="1300" dirty="0"/>
              <a:t>的标准关键字，但对 </a:t>
            </a:r>
            <a:r>
              <a:rPr lang="en-US" altLang="zh-CN" sz="1300" dirty="0"/>
              <a:t>long double </a:t>
            </a:r>
            <a:r>
              <a:rPr lang="zh-CN" altLang="en-US" sz="1300" dirty="0"/>
              <a:t>的处理，取决于平台和编译器，可能有</a:t>
            </a:r>
            <a:r>
              <a:rPr lang="en-US" altLang="zh-CN" sz="1300" dirty="0"/>
              <a:t>10</a:t>
            </a:r>
            <a:r>
              <a:rPr lang="zh-CN" altLang="en-US" sz="1300" dirty="0"/>
              <a:t>，</a:t>
            </a:r>
            <a:r>
              <a:rPr lang="en-US" altLang="zh-CN" sz="1300" dirty="0"/>
              <a:t>12</a:t>
            </a:r>
            <a:r>
              <a:rPr lang="zh-CN" altLang="en-US" sz="1300" dirty="0"/>
              <a:t>，</a:t>
            </a:r>
            <a:r>
              <a:rPr lang="en-US" altLang="zh-CN" sz="1300" dirty="0"/>
              <a:t>16</a:t>
            </a:r>
            <a:r>
              <a:rPr lang="zh-CN" altLang="en-US" sz="1300" dirty="0"/>
              <a:t>字节</a:t>
            </a:r>
            <a:endParaRPr lang="zh-CN" alt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示例代码：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55535" y="1782395"/>
            <a:ext cx="863292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lln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ln;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lln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(ln) &lt;&lt;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(n)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&lt;&lt;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61147" y="875331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查看不同数据类型占用内存空间大小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320" name="Group 128"/>
          <p:cNvGraphicFramePr>
            <a:graphicFrameLocks noGrp="1"/>
          </p:cNvGraphicFramePr>
          <p:nvPr/>
        </p:nvGraphicFramePr>
        <p:xfrm>
          <a:off x="1035052" y="2143719"/>
          <a:ext cx="7192963" cy="620713"/>
        </p:xfrm>
        <a:graphic>
          <a:graphicData uri="http://schemas.openxmlformats.org/drawingml/2006/table">
            <a:tbl>
              <a:tblPr/>
              <a:tblGrid>
                <a:gridCol w="449263"/>
                <a:gridCol w="449262"/>
                <a:gridCol w="450850"/>
                <a:gridCol w="449263"/>
                <a:gridCol w="449262"/>
                <a:gridCol w="449263"/>
                <a:gridCol w="449262"/>
                <a:gridCol w="450850"/>
                <a:gridCol w="449263"/>
                <a:gridCol w="449262"/>
                <a:gridCol w="449263"/>
                <a:gridCol w="449262"/>
                <a:gridCol w="449263"/>
                <a:gridCol w="450850"/>
                <a:gridCol w="449262"/>
                <a:gridCol w="449263"/>
              </a:tblGrid>
              <a:tr h="620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64360" name="Object 168"/>
              <p:cNvSpPr txBox="1"/>
              <p:nvPr/>
            </p:nvSpPr>
            <p:spPr bwMode="auto">
              <a:xfrm>
                <a:off x="4567240" y="1782681"/>
                <a:ext cx="509587" cy="515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0" name="Object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7240" y="1782681"/>
                <a:ext cx="509587" cy="515938"/>
              </a:xfrm>
              <a:prstGeom prst="rect">
                <a:avLst/>
              </a:prstGeom>
              <a:blipFill rotWithShape="1">
                <a:blip r:embed="rId1"/>
                <a:stretch>
                  <a:fillRect l="-63" t="-46" b="1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1" name="Object 169"/>
              <p:cNvSpPr txBox="1"/>
              <p:nvPr/>
            </p:nvSpPr>
            <p:spPr bwMode="auto">
              <a:xfrm>
                <a:off x="4943477" y="1750931"/>
                <a:ext cx="523875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1" name="Object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3477" y="1750931"/>
                <a:ext cx="523875" cy="560388"/>
              </a:xfrm>
              <a:prstGeom prst="rect">
                <a:avLst/>
              </a:prstGeom>
              <a:blipFill rotWithShape="1">
                <a:blip r:embed="rId2"/>
                <a:stretch>
                  <a:fillRect t="-42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2" name="Object 170"/>
              <p:cNvSpPr txBox="1"/>
              <p:nvPr/>
            </p:nvSpPr>
            <p:spPr bwMode="auto">
              <a:xfrm>
                <a:off x="5443540" y="1750931"/>
                <a:ext cx="485775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2" name="Object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3540" y="1750931"/>
                <a:ext cx="485775" cy="560388"/>
              </a:xfrm>
              <a:prstGeom prst="rect">
                <a:avLst/>
              </a:prstGeom>
              <a:blipFill rotWithShape="1">
                <a:blip r:embed="rId3"/>
                <a:stretch>
                  <a:fillRect l="-66" t="-42" r="66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3" name="Object 171"/>
              <p:cNvSpPr txBox="1"/>
              <p:nvPr/>
            </p:nvSpPr>
            <p:spPr bwMode="auto">
              <a:xfrm>
                <a:off x="5880102" y="1750931"/>
                <a:ext cx="523875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3" name="Object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0102" y="1750931"/>
                <a:ext cx="523875" cy="560388"/>
              </a:xfrm>
              <a:prstGeom prst="rect">
                <a:avLst/>
              </a:prstGeom>
              <a:blipFill rotWithShape="1">
                <a:blip r:embed="rId4"/>
                <a:stretch>
                  <a:fillRect t="-42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4" name="Object 172"/>
              <p:cNvSpPr txBox="1"/>
              <p:nvPr/>
            </p:nvSpPr>
            <p:spPr bwMode="auto">
              <a:xfrm>
                <a:off x="6384927" y="1750931"/>
                <a:ext cx="485775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4" name="Object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4927" y="1750931"/>
                <a:ext cx="485775" cy="560388"/>
              </a:xfrm>
              <a:prstGeom prst="rect">
                <a:avLst/>
              </a:prstGeom>
              <a:blipFill rotWithShape="1">
                <a:blip r:embed="rId5"/>
                <a:stretch>
                  <a:fillRect t="-42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5" name="Object 173"/>
              <p:cNvSpPr txBox="1"/>
              <p:nvPr/>
            </p:nvSpPr>
            <p:spPr bwMode="auto">
              <a:xfrm>
                <a:off x="6889750" y="1750931"/>
                <a:ext cx="522288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5" name="Object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9750" y="1750931"/>
                <a:ext cx="522288" cy="560388"/>
              </a:xfrm>
              <a:prstGeom prst="rect">
                <a:avLst/>
              </a:prstGeom>
              <a:blipFill rotWithShape="1">
                <a:blip r:embed="rId6"/>
                <a:stretch>
                  <a:fillRect t="-42" r="61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6" name="Object 174"/>
              <p:cNvSpPr txBox="1"/>
              <p:nvPr/>
            </p:nvSpPr>
            <p:spPr bwMode="auto">
              <a:xfrm>
                <a:off x="7385052" y="1750931"/>
                <a:ext cx="449263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6" name="Object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5052" y="1750931"/>
                <a:ext cx="449263" cy="560388"/>
              </a:xfrm>
              <a:prstGeom prst="rect">
                <a:avLst/>
              </a:prstGeom>
              <a:blipFill rotWithShape="1">
                <a:blip r:embed="rId7"/>
                <a:stretch>
                  <a:fillRect t="-42" r="71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367" name="Object 175"/>
              <p:cNvSpPr txBox="1"/>
              <p:nvPr/>
            </p:nvSpPr>
            <p:spPr bwMode="auto">
              <a:xfrm>
                <a:off x="7896227" y="1750931"/>
                <a:ext cx="523875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4367" name="Object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6227" y="1750931"/>
                <a:ext cx="523875" cy="560388"/>
              </a:xfrm>
              <a:prstGeom prst="rect">
                <a:avLst/>
              </a:prstGeom>
              <a:blipFill rotWithShape="1">
                <a:blip r:embed="rId8"/>
                <a:stretch>
                  <a:fillRect t="-42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4368" name="Group 176"/>
          <p:cNvGraphicFramePr>
            <a:graphicFrameLocks noGrp="1"/>
          </p:cNvGraphicFramePr>
          <p:nvPr/>
        </p:nvGraphicFramePr>
        <p:xfrm>
          <a:off x="2224883" y="1512081"/>
          <a:ext cx="1141413" cy="520320"/>
        </p:xfrm>
        <a:graphic>
          <a:graphicData uri="http://schemas.openxmlformats.org/drawingml/2006/table">
            <a:tbl>
              <a:tblPr/>
              <a:tblGrid>
                <a:gridCol w="1141413"/>
              </a:tblGrid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90204" pitchFamily="34" charset="0"/>
                          <a:ea typeface="宋体" pitchFamily="2" charset="-122"/>
                        </a:rPr>
                        <a:t>……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64374" name="Object 182"/>
              <p:cNvSpPr txBox="1"/>
              <p:nvPr/>
            </p:nvSpPr>
            <p:spPr bwMode="auto">
              <a:xfrm>
                <a:off x="981826" y="1699524"/>
                <a:ext cx="422274" cy="393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4374" name="Object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1826" y="1699524"/>
                <a:ext cx="422274" cy="393061"/>
              </a:xfrm>
              <a:prstGeom prst="rect">
                <a:avLst/>
              </a:prstGeom>
              <a:blipFill rotWithShape="1">
                <a:blip r:embed="rId9"/>
                <a:stretch>
                  <a:fillRect l="-27" t="-67" r="27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376" name="Rectangle 184"/>
          <p:cNvSpPr>
            <a:spLocks noChangeArrowheads="1"/>
          </p:cNvSpPr>
          <p:nvPr/>
        </p:nvSpPr>
        <p:spPr bwMode="auto">
          <a:xfrm>
            <a:off x="3843129" y="642804"/>
            <a:ext cx="4857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占用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字节，数的表示范围是</a:t>
            </a:r>
            <a:b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</a:b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0  ~  65535</a:t>
            </a:r>
            <a:endParaRPr lang="zh-CN" altLang="en-US" sz="2800" b="1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88252" y="120028"/>
            <a:ext cx="3040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16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位无符号整数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8" name="Group 2"/>
          <p:cNvGraphicFramePr/>
          <p:nvPr/>
        </p:nvGraphicFramePr>
        <p:xfrm>
          <a:off x="1696688" y="5742184"/>
          <a:ext cx="6497885" cy="549274"/>
        </p:xfrm>
        <a:graphic>
          <a:graphicData uri="http://schemas.openxmlformats.org/drawingml/2006/table">
            <a:tbl>
              <a:tblPr/>
              <a:tblGrid>
                <a:gridCol w="406733"/>
                <a:gridCol w="405093"/>
                <a:gridCol w="406733"/>
                <a:gridCol w="406733"/>
                <a:gridCol w="405092"/>
                <a:gridCol w="406733"/>
                <a:gridCol w="405093"/>
                <a:gridCol w="406733"/>
                <a:gridCol w="406733"/>
                <a:gridCol w="406733"/>
                <a:gridCol w="405092"/>
                <a:gridCol w="405093"/>
                <a:gridCol w="406733"/>
                <a:gridCol w="406733"/>
                <a:gridCol w="405092"/>
                <a:gridCol w="406733"/>
              </a:tblGrid>
              <a:tr h="549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42"/>
              <p:cNvSpPr txBox="1"/>
              <p:nvPr/>
            </p:nvSpPr>
            <p:spPr bwMode="auto">
              <a:xfrm>
                <a:off x="4946884" y="5380826"/>
                <a:ext cx="431800" cy="46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9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6884" y="5380826"/>
                <a:ext cx="431800" cy="463550"/>
              </a:xfrm>
              <a:prstGeom prst="rect">
                <a:avLst/>
              </a:prstGeom>
              <a:blipFill rotWithShape="1">
                <a:blip r:embed="rId10"/>
                <a:stretch>
                  <a:fillRect l="-54" t="-102" r="5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43"/>
              <p:cNvSpPr txBox="1"/>
              <p:nvPr/>
            </p:nvSpPr>
            <p:spPr bwMode="auto">
              <a:xfrm>
                <a:off x="5404084" y="5382415"/>
                <a:ext cx="431800" cy="461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1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4084" y="5382415"/>
                <a:ext cx="431800" cy="461963"/>
              </a:xfrm>
              <a:prstGeom prst="rect">
                <a:avLst/>
              </a:prstGeom>
              <a:blipFill rotWithShape="1">
                <a:blip r:embed="rId11"/>
                <a:stretch>
                  <a:fillRect l="-54" t="-34" r="5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44"/>
              <p:cNvSpPr txBox="1"/>
              <p:nvPr/>
            </p:nvSpPr>
            <p:spPr bwMode="auto">
              <a:xfrm>
                <a:off x="5815249" y="5380826"/>
                <a:ext cx="401637" cy="46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2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5249" y="5380826"/>
                <a:ext cx="401637" cy="463550"/>
              </a:xfrm>
              <a:prstGeom prst="rect">
                <a:avLst/>
              </a:prstGeom>
              <a:blipFill rotWithShape="1">
                <a:blip r:embed="rId12"/>
                <a:stretch>
                  <a:fillRect l="-138" t="-102" r="59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45"/>
              <p:cNvSpPr txBox="1"/>
              <p:nvPr/>
            </p:nvSpPr>
            <p:spPr bwMode="auto">
              <a:xfrm>
                <a:off x="6166084" y="5382415"/>
                <a:ext cx="431800" cy="461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6084" y="5382415"/>
                <a:ext cx="431800" cy="461963"/>
              </a:xfrm>
              <a:prstGeom prst="rect">
                <a:avLst/>
              </a:prstGeom>
              <a:blipFill rotWithShape="1">
                <a:blip r:embed="rId13"/>
                <a:stretch>
                  <a:fillRect l="-54" t="-34" r="5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46"/>
              <p:cNvSpPr txBox="1"/>
              <p:nvPr/>
            </p:nvSpPr>
            <p:spPr bwMode="auto">
              <a:xfrm>
                <a:off x="6577249" y="5380826"/>
                <a:ext cx="401637" cy="46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4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7249" y="5380826"/>
                <a:ext cx="401637" cy="463550"/>
              </a:xfrm>
              <a:prstGeom prst="rect">
                <a:avLst/>
              </a:prstGeom>
              <a:blipFill rotWithShape="1">
                <a:blip r:embed="rId14"/>
                <a:stretch>
                  <a:fillRect l="-138" t="-102" r="59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47"/>
              <p:cNvSpPr txBox="1"/>
              <p:nvPr/>
            </p:nvSpPr>
            <p:spPr bwMode="auto">
              <a:xfrm>
                <a:off x="7080484" y="5380826"/>
                <a:ext cx="431800" cy="46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484" y="5380826"/>
                <a:ext cx="431800" cy="463550"/>
              </a:xfrm>
              <a:prstGeom prst="rect">
                <a:avLst/>
              </a:prstGeom>
              <a:blipFill rotWithShape="1">
                <a:blip r:embed="rId15"/>
                <a:stretch>
                  <a:fillRect l="-54" t="-102" r="5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48"/>
              <p:cNvSpPr txBox="1"/>
              <p:nvPr/>
            </p:nvSpPr>
            <p:spPr bwMode="auto">
              <a:xfrm>
                <a:off x="7521811" y="5380826"/>
                <a:ext cx="371475" cy="46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6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1811" y="5380826"/>
                <a:ext cx="371475" cy="463550"/>
              </a:xfrm>
              <a:prstGeom prst="rect">
                <a:avLst/>
              </a:prstGeom>
              <a:blipFill rotWithShape="1">
                <a:blip r:embed="rId16"/>
                <a:stretch>
                  <a:fillRect l="-64" t="-102" r="6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49"/>
              <p:cNvSpPr txBox="1"/>
              <p:nvPr/>
            </p:nvSpPr>
            <p:spPr bwMode="auto">
              <a:xfrm>
                <a:off x="7871059" y="5382415"/>
                <a:ext cx="431800" cy="461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7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71059" y="5382415"/>
                <a:ext cx="431800" cy="461963"/>
              </a:xfrm>
              <a:prstGeom prst="rect">
                <a:avLst/>
              </a:prstGeom>
              <a:blipFill rotWithShape="1">
                <a:blip r:embed="rId17"/>
                <a:stretch>
                  <a:fillRect l="-54" t="-34" r="54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utoShape 50"/>
          <p:cNvSpPr>
            <a:spLocks noChangeArrowheads="1"/>
          </p:cNvSpPr>
          <p:nvPr/>
        </p:nvSpPr>
        <p:spPr bwMode="auto">
          <a:xfrm>
            <a:off x="2090386" y="4794449"/>
            <a:ext cx="1282700" cy="452437"/>
          </a:xfrm>
          <a:prstGeom prst="wedgeRoundRectCallout">
            <a:avLst>
              <a:gd name="adj1" fmla="val -68194"/>
              <a:gd name="adj2" fmla="val 150000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en-US" b="1" dirty="0">
                <a:ea typeface="黑体" panose="02010609060101010101" pitchFamily="49" charset="-122"/>
              </a:rPr>
              <a:t>符号位</a:t>
            </a:r>
            <a:endParaRPr kumimoji="1" lang="zh-CN" altLang="en-US" b="1" dirty="0">
              <a:ea typeface="黑体" panose="02010609060101010101" pitchFamily="49" charset="-122"/>
            </a:endParaRPr>
          </a:p>
        </p:txBody>
      </p:sp>
      <p:graphicFrame>
        <p:nvGraphicFramePr>
          <p:cNvPr id="39" name="Group 119"/>
          <p:cNvGraphicFramePr>
            <a:graphicFrameLocks noGrp="1"/>
          </p:cNvGraphicFramePr>
          <p:nvPr/>
        </p:nvGraphicFramePr>
        <p:xfrm>
          <a:off x="3373086" y="5101918"/>
          <a:ext cx="1109662" cy="549275"/>
        </p:xfrm>
        <a:graphic>
          <a:graphicData uri="http://schemas.openxmlformats.org/drawingml/2006/table">
            <a:tbl>
              <a:tblPr/>
              <a:tblGrid>
                <a:gridCol w="1109662"/>
              </a:tblGrid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90204" pitchFamily="34" charset="0"/>
                          <a:ea typeface="宋体" pitchFamily="2" charset="-122"/>
                        </a:rPr>
                        <a:t>……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Rectangle 127"/>
          <p:cNvSpPr>
            <a:spLocks noChangeArrowheads="1"/>
          </p:cNvSpPr>
          <p:nvPr/>
        </p:nvSpPr>
        <p:spPr bwMode="auto">
          <a:xfrm>
            <a:off x="3693803" y="4051886"/>
            <a:ext cx="4857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占用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字节，数的表示范围是</a:t>
            </a:r>
            <a:b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</a:b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</a:rPr>
              <a:t>-32768 ~ 32767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69978" y="3486987"/>
            <a:ext cx="5013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16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位有符号整数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原码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3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7998"/>
                <a:ext cx="7886700" cy="549000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/>
                  <a:t>假设一个二进制整数有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tx1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zh-CN" altLang="en-US" dirty="0"/>
                  <a:t>位，位向量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无符号整数</a:t>
                </a:r>
                <a:endParaRPr lang="en-US" altLang="zh-CN" dirty="0"/>
              </a:p>
              <a:p>
                <a:pPr marL="3346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500" i="1">
                          <a:latin typeface="Cambria Math"/>
                        </a:rPr>
                        <m:t>𝐵</m:t>
                      </m:r>
                      <m:r>
                        <a:rPr lang="en-US" altLang="zh-CN" sz="1500" i="1">
                          <a:latin typeface="Cambria Math"/>
                        </a:rPr>
                        <m:t>2</m:t>
                      </m:r>
                      <m:r>
                        <a:rPr lang="en-US" altLang="zh-CN" sz="1500" i="1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5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500" i="1">
                          <a:latin typeface="Cambria Math"/>
                        </a:rPr>
                        <m:t>≝</m:t>
                      </m:r>
                      <m:nary>
                        <m:naryPr>
                          <m:chr m:val="∑"/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5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500" dirty="0"/>
              </a:p>
              <a:p>
                <a:r>
                  <a:rPr lang="zh-CN" altLang="en-US" dirty="0"/>
                  <a:t>有符号整数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原码（</a:t>
                </a:r>
                <a:r>
                  <a:rPr lang="en-US" altLang="zh-CN" dirty="0"/>
                  <a:t>Sign-Magnitude</a:t>
                </a:r>
                <a:r>
                  <a:rPr lang="zh-CN" altLang="en-US" dirty="0"/>
                  <a:t>）：除符号位以外，其余位保持原样</a:t>
                </a:r>
                <a:endParaRPr lang="en-US" altLang="zh-CN" dirty="0"/>
              </a:p>
              <a:p>
                <a:pPr marL="3346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/>
                            </a:rPr>
                            <m:t>𝐵</m:t>
                          </m:r>
                          <m:r>
                            <a:rPr lang="en-US" altLang="zh-CN" sz="1600" i="1">
                              <a:latin typeface="Cambria Math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1600" i="1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600" i="1">
                          <a:latin typeface="Cambria Math"/>
                        </a:rPr>
                        <m:t>≝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600" i="1">
                                  <a:latin typeface="Cambria Math"/>
                                </a:rPr>
                                <m:t>𝜔</m:t>
                              </m:r>
                              <m:r>
                                <a:rPr lang="en-US" altLang="zh-CN" sz="16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1600" i="1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16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1600" dirty="0"/>
              </a:p>
              <a:p>
                <a:pPr lvl="1"/>
                <a:r>
                  <a:rPr lang="zh-CN" altLang="en-US" dirty="0"/>
                  <a:t>反码（</a:t>
                </a:r>
                <a:r>
                  <a:rPr lang="en-US" altLang="zh-CN" dirty="0"/>
                  <a:t>Ones’-Complement</a:t>
                </a:r>
                <a:r>
                  <a:rPr lang="zh-CN" altLang="en-US" dirty="0"/>
                  <a:t>）：</a:t>
                </a:r>
                <a14:m>
                  <m:oMath xmlns:m="http://schemas.openxmlformats.org/officeDocument/2006/math">
                    <m:r>
                      <a:rPr lang="zh-CN" altLang="en-US" dirty="0">
                        <a:latin typeface="Cambria Math"/>
                      </a:rPr>
                      <m:t>反</m:t>
                    </m:r>
                    <m:r>
                      <m:rPr>
                        <m:nor/>
                      </m:rPr>
                      <a:rPr lang="zh-CN" altLang="en-US" dirty="0">
                        <a:latin typeface="DejaVu Math TeX Gyre" panose="02000503000000000000" charset="0"/>
                      </a:rPr>
                      <m:t>码 </m:t>
                    </m:r>
                    <m:r>
                      <m:rPr>
                        <m:nor/>
                      </m:rPr>
                      <a:rPr lang="en-US" altLang="zh-CN" dirty="0">
                        <a:latin typeface="DejaVu Math TeX Gyre" panose="02000503000000000000" charset="0"/>
                      </a:rPr>
                      <m:t>+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dirty="0">
                            <a:latin typeface="DejaVu Math TeX Gyre" panose="02000503000000000000" charset="0"/>
                          </a:rPr>
                          <m:t>负数</m:t>
                        </m:r>
                      </m:e>
                    </m:d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zh-CN" altLang="en-US" sz="1200" i="1">
                            <a:latin typeface="Cambria Math"/>
                            <a:ea typeface="Cambria Math"/>
                          </a:rPr>
                          <m:t>𝜔</m:t>
                        </m:r>
                      </m:sup>
                    </m:sSup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1</m:t>
                    </m:r>
                  </m:oMath>
                </a14:m>
                <a:r>
                  <a:rPr lang="zh-CN" altLang="en-US" dirty="0"/>
                  <a:t>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𝜔</m:t>
                    </m:r>
                    <m:r>
                      <a:rPr lang="zh-CN" altLang="en-US" i="1" smtClean="0">
                        <a:latin typeface="Cambria Math"/>
                      </a:rPr>
                      <m:t>位</m:t>
                    </m:r>
                    <m:r>
                      <a:rPr lang="zh-CN" altLang="en-US" i="1">
                        <a:latin typeface="Cambria Math"/>
                      </a:rPr>
                      <m:t>二进制</m:t>
                    </m:r>
                    <m:r>
                      <a:rPr lang="zh-CN" altLang="en-US" i="1" smtClean="0">
                        <a:latin typeface="Cambria Math"/>
                      </a:rPr>
                      <m:t>所能</m:t>
                    </m:r>
                    <m:r>
                      <a:rPr lang="zh-CN" altLang="en-US" i="1">
                        <a:latin typeface="Cambria Math"/>
                      </a:rPr>
                      <m:t>表示</m:t>
                    </m:r>
                    <m:r>
                      <a:rPr lang="zh-CN" altLang="en-US" b="0" i="1" smtClean="0">
                        <a:latin typeface="Cambria Math"/>
                      </a:rPr>
                      <m:t>的</m:t>
                    </m:r>
                  </m:oMath>
                </a14:m>
                <a:r>
                  <a:rPr lang="zh-CN" altLang="en-US" dirty="0"/>
                  <a:t>最大无符号整数）</a:t>
                </a:r>
                <a:endParaRPr lang="en-US" altLang="zh-CN" dirty="0"/>
              </a:p>
              <a:p>
                <a:pPr marL="3346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/>
                            </a:rPr>
                            <m:t>𝐵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2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zh-CN" altLang="en-US" sz="1500" i="1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5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500" i="1">
                          <a:latin typeface="Cambria Math"/>
                        </a:rPr>
                        <m:t>≝−</m:t>
                      </m:r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1500" i="1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1500" i="1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1500" i="1">
                                  <a:latin typeface="Cambria Math"/>
                                </a:rPr>
                                <m:t>𝜔</m:t>
                              </m:r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1</m:t>
                          </m:r>
                        </m:e>
                      </m:d>
                      <m:r>
                        <a:rPr lang="en-US" altLang="zh-CN" sz="1500" i="1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5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500" dirty="0"/>
              </a:p>
              <a:p>
                <a:pPr lvl="1"/>
                <a:r>
                  <a:rPr lang="zh-CN" altLang="en-US" dirty="0"/>
                  <a:t>补码（</a:t>
                </a:r>
                <a:r>
                  <a:rPr lang="en-US" altLang="zh-CN" dirty="0"/>
                  <a:t>Two’s-Complement)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zh-CN" altLang="en-US" sz="1900" dirty="0" smtClean="0">
                        <a:latin typeface="Cambria Math"/>
                      </a:rPr>
                      <m:t>补</m:t>
                    </m:r>
                    <m:r>
                      <m:rPr>
                        <m:nor/>
                      </m:rPr>
                      <a:rPr lang="zh-CN" altLang="en-US" sz="1900" dirty="0">
                        <a:latin typeface="DejaVu Math TeX Gyre" panose="02000503000000000000" charset="0"/>
                      </a:rPr>
                      <m:t>码 </m:t>
                    </m:r>
                    <m:r>
                      <m:rPr>
                        <m:nor/>
                      </m:rPr>
                      <a:rPr lang="en-US" altLang="zh-CN" sz="1900" dirty="0">
                        <a:latin typeface="DejaVu Math TeX Gyre" panose="02000503000000000000" charset="0"/>
                      </a:rPr>
                      <m:t>+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1900" dirty="0">
                            <a:latin typeface="DejaVu Math TeX Gyre" panose="02000503000000000000" charset="0"/>
                          </a:rPr>
                          <m:t>负数</m:t>
                        </m:r>
                      </m:e>
                    </m:d>
                    <m:r>
                      <a:rPr lang="en-US" altLang="zh-CN" sz="19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zh-CN" altLang="en-US" sz="1900" i="1">
                            <a:latin typeface="Cambria Math"/>
                            <a:ea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zh-CN" altLang="en-US" dirty="0"/>
                  <a:t>（模数）</a:t>
                </a:r>
                <a:r>
                  <a:rPr lang="en-US" altLang="zh-CN" dirty="0"/>
                  <a:t>, </a:t>
                </a:r>
                <a14:m>
                  <m:oMath xmlns:m="http://schemas.openxmlformats.org/officeDocument/2006/math">
                    <m:r>
                      <a:rPr lang="zh-CN" altLang="en-US" dirty="0">
                        <a:latin typeface="Cambria Math"/>
                      </a:rPr>
                      <m:t>补</m:t>
                    </m:r>
                    <m:r>
                      <m:rPr>
                        <m:nor/>
                      </m:rPr>
                      <a:rPr lang="zh-CN" altLang="en-US" dirty="0">
                        <a:latin typeface="DejaVu Math TeX Gyre" panose="02000503000000000000" charset="0"/>
                      </a:rPr>
                      <m:t>码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DejaVu Math TeX Gyre" panose="02000503000000000000" charset="0"/>
                      </a:rPr>
                      <m:t>=</m:t>
                    </m:r>
                    <m:r>
                      <a:rPr lang="zh-CN" altLang="en-US" dirty="0">
                        <a:latin typeface="Cambria Math"/>
                      </a:rPr>
                      <m:t>反</m:t>
                    </m:r>
                    <m:r>
                      <m:rPr>
                        <m:nor/>
                      </m:rPr>
                      <a:rPr lang="zh-CN" altLang="en-US" dirty="0">
                        <a:latin typeface="DejaVu Math TeX Gyre" panose="02000503000000000000" charset="0"/>
                      </a:rPr>
                      <m:t>码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DejaVu Math TeX Gyre" panose="02000503000000000000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DejaVu Math TeX Gyre" panose="02000503000000000000" charset="0"/>
                      </a:rPr>
                      <m:t>1</m:t>
                    </m:r>
                  </m:oMath>
                </a14:m>
                <a:endParaRPr lang="en-US" altLang="zh-CN" dirty="0"/>
              </a:p>
              <a:p>
                <a:pPr marL="3346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/>
                            </a:rPr>
                            <m:t>𝐵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2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1500" i="1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5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500" i="1">
                          <a:latin typeface="Cambria Math"/>
                        </a:rPr>
                        <m:t>≝−</m:t>
                      </m:r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1500" i="1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15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altLang="en-US" sz="1500" i="1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1</m:t>
                          </m:r>
                        </m:sup>
                      </m:sSup>
                      <m:r>
                        <a:rPr lang="en-US" altLang="zh-CN" sz="1500" i="1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5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500" dirty="0"/>
              </a:p>
              <a:p>
                <a:pPr lvl="1"/>
                <a:r>
                  <a:rPr lang="zh-CN" altLang="en-US" dirty="0"/>
                  <a:t>移码（</a:t>
                </a:r>
                <a:r>
                  <a:rPr lang="en-US" altLang="zh-CN" dirty="0"/>
                  <a:t>Frame Shift</a:t>
                </a:r>
                <a:r>
                  <a:rPr lang="zh-CN" altLang="en-US" dirty="0"/>
                  <a:t>）：</a:t>
                </a:r>
                <a14:m>
                  <m:oMath xmlns:m="http://schemas.openxmlformats.org/officeDocument/2006/math">
                    <m:r>
                      <a:rPr lang="zh-CN" altLang="en-US" sz="1900" dirty="0">
                        <a:latin typeface="Cambria Math"/>
                      </a:rPr>
                      <m:t>移</m:t>
                    </m:r>
                    <m:r>
                      <m:rPr>
                        <m:nor/>
                      </m:rPr>
                      <a:rPr lang="zh-CN" altLang="en-US" sz="1900" dirty="0">
                        <a:latin typeface="DejaVu Math TeX Gyre" panose="02000503000000000000" charset="0"/>
                      </a:rPr>
                      <m:t>码</m:t>
                    </m:r>
                    <m:r>
                      <a:rPr lang="en-US" altLang="zh-CN" sz="1900" b="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900" i="1" dirty="0">
                            <a:latin typeface="Cambria Math"/>
                          </a:rPr>
                          <m:t>补码</m:t>
                        </m:r>
                        <m:r>
                          <a:rPr lang="en-US" altLang="zh-CN" sz="1900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altLang="zh-CN" sz="19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zh-CN" altLang="en-US" sz="1900" i="1">
                            <a:latin typeface="Cambria Math"/>
                            <a:ea typeface="Cambria Math"/>
                          </a:rPr>
                          <m:t>𝜔</m:t>
                        </m:r>
                        <m:r>
                          <a:rPr lang="en-US" altLang="zh-CN" sz="19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19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sz="1900" dirty="0"/>
              </a:p>
              <a:p>
                <a:pPr marL="3346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i="1">
                          <a:latin typeface="Cambria Math"/>
                        </a:rPr>
                        <m:t>𝐵</m:t>
                      </m:r>
                      <m:r>
                        <a:rPr lang="en-US" altLang="zh-CN" sz="1500" i="1">
                          <a:latin typeface="Cambria Math"/>
                        </a:rPr>
                        <m:t>2</m:t>
                      </m:r>
                      <m:r>
                        <a:rPr lang="en-US" altLang="zh-CN" sz="1500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5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500" i="1">
                          <a:latin typeface="Cambria Math"/>
                        </a:rPr>
                        <m:t>≝</m:t>
                      </m:r>
                      <m:sSup>
                        <m:sSupPr>
                          <m:ctrlPr>
                            <a:rPr lang="en-US" altLang="zh-CN" sz="1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500" i="1">
                                      <a:latin typeface="Cambria Math"/>
                                    </a:rPr>
                                    <m:t>𝜔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5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1500" i="1">
                                      <a:latin typeface="Cambria Math"/>
                                    </a:rPr>
                                    <m:t>𝜔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altLang="zh-CN" sz="15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15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500" i="1">
                                      <a:latin typeface="Cambria Math"/>
                                    </a:rPr>
                                    <m:t>𝜔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15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altLang="zh-CN" sz="1500" i="1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5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5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5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7998"/>
                <a:ext cx="7886700" cy="5490001"/>
              </a:xfrm>
              <a:blipFill rotWithShape="1">
                <a:blip r:embed="rId1"/>
                <a:stretch>
                  <a:fillRect t="-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定点整数的表示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36088" y="967716"/>
            <a:ext cx="324000" cy="32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60232" y="967716"/>
            <a:ext cx="324000" cy="32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984232" y="967716"/>
            <a:ext cx="1620000" cy="32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......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604232" y="967716"/>
            <a:ext cx="324000" cy="32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156176" y="1291716"/>
                <a:ext cx="28083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1100" i="1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11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11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/>
                            </a:rPr>
                            <m:t>  </m:t>
                          </m:r>
                          <m:r>
                            <a:rPr lang="en-US" altLang="zh-CN" sz="11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1100" i="1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11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11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/>
                        </a:rPr>
                        <m:t>                                                     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/>
                            </a:rPr>
                            <m:t>    </m:t>
                          </m:r>
                          <m:r>
                            <a:rPr lang="en-US" altLang="zh-CN" sz="11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  <a:p>
                <a:endParaRPr lang="zh-CN" altLang="en-US" sz="11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291716"/>
                <a:ext cx="2808312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17" t="-29" r="7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930037" y="2348880"/>
                <a:ext cx="173695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00" dirty="0"/>
                  <a:t>值的范围：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/>
                          </a:rPr>
                          <m:t>0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4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3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037" y="2348880"/>
                <a:ext cx="1736950" cy="292388"/>
              </a:xfrm>
              <a:prstGeom prst="rect">
                <a:avLst/>
              </a:prstGeom>
              <a:blipFill rotWithShape="1">
                <a:blip r:embed="rId3"/>
                <a:stretch>
                  <a:fillRect l="-23" t="-5" r="36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940152" y="3558401"/>
                <a:ext cx="244073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00" dirty="0"/>
                  <a:t>值的范围：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altLang="zh-CN" sz="12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3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3558401"/>
                <a:ext cx="2440733" cy="292388"/>
              </a:xfrm>
              <a:prstGeom prst="rect">
                <a:avLst/>
              </a:prstGeom>
              <a:blipFill rotWithShape="1">
                <a:blip r:embed="rId4"/>
                <a:stretch>
                  <a:fillRect l="-15" t="-170" r="6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940152" y="4437112"/>
                <a:ext cx="244073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00" dirty="0"/>
                  <a:t>值的范围：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altLang="zh-CN" sz="12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3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4437112"/>
                <a:ext cx="2440733" cy="292388"/>
              </a:xfrm>
              <a:prstGeom prst="rect">
                <a:avLst/>
              </a:prstGeom>
              <a:blipFill rotWithShape="1">
                <a:blip r:embed="rId4"/>
                <a:stretch>
                  <a:fillRect l="-15" t="-126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5947691" y="5229200"/>
                <a:ext cx="217482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00" dirty="0"/>
                  <a:t>值的范围：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3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691" y="5229200"/>
                <a:ext cx="2174826" cy="292388"/>
              </a:xfrm>
              <a:prstGeom prst="rect">
                <a:avLst/>
              </a:prstGeom>
              <a:blipFill rotWithShape="1">
                <a:blip r:embed="rId5"/>
                <a:stretch>
                  <a:fillRect l="-13" t="-209" r="11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940152" y="6160948"/>
                <a:ext cx="217482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00" dirty="0"/>
                  <a:t>值的范围：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00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11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300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6160948"/>
                <a:ext cx="2174826" cy="292388"/>
              </a:xfrm>
              <a:prstGeom prst="rect">
                <a:avLst/>
              </a:prstGeom>
              <a:blipFill rotWithShape="1">
                <a:blip r:embed="rId5"/>
                <a:stretch>
                  <a:fillRect l="-17" t="-61" r="14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744057" y="112409"/>
                <a:ext cx="2721001" cy="766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200" b="1" dirty="0">
                    <a:solidFill>
                      <a:srgbClr val="FF0000"/>
                    </a:solidFill>
                  </a:rPr>
                  <a:t>注意：</a:t>
                </a:r>
                <a:endParaRPr lang="en-US" altLang="zh-CN" sz="1200" b="1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25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𝐵</m:t>
                    </m:r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𝑈</m:t>
                    </m:r>
                  </m:oMath>
                </a14:m>
                <a:r>
                  <a:rPr lang="zh-CN" altLang="en-US" sz="1200" b="1" dirty="0">
                    <a:solidFill>
                      <a:srgbClr val="FF0000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zh-CN" altLang="en-US" sz="1200" b="0" i="1" smtClean="0">
                        <a:solidFill>
                          <a:srgbClr val="FF0000"/>
                        </a:solidFill>
                        <a:latin typeface="Cambria Math"/>
                      </a:rPr>
                      <m:t>、</m:t>
                    </m:r>
                  </m:oMath>
                </a14:m>
                <a:r>
                  <a:rPr lang="en-US" altLang="zh-CN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𝐵</m:t>
                    </m:r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/>
                      </a:rPr>
                      <m:t>𝐹</m:t>
                    </m:r>
                    <m:r>
                      <a:rPr lang="zh-CN" altLang="en-US" sz="1200" b="0" i="1" smtClean="0">
                        <a:solidFill>
                          <a:srgbClr val="FF0000"/>
                        </a:solidFill>
                        <a:latin typeface="Cambria Math"/>
                      </a:rPr>
                      <m:t>是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/>
                      </a:rPr>
                      <m:t>双</m:t>
                    </m:r>
                    <m:r>
                      <a:rPr lang="zh-CN" altLang="en-US" sz="1200" i="1" smtClean="0">
                        <a:solidFill>
                          <a:srgbClr val="FF0000"/>
                        </a:solidFill>
                        <a:latin typeface="Cambria Math"/>
                      </a:rPr>
                      <m:t>射</m:t>
                    </m:r>
                  </m:oMath>
                </a14:m>
                <a:endParaRPr lang="en-US" altLang="zh-CN" sz="1200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25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altLang="zh-CN" sz="11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CN" sz="11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zh-CN" altLang="en-US" sz="11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altLang="zh-CN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CN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zh-CN" altLang="en-US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zh-CN" altLang="en-US" sz="1200" b="0" i="1" smtClean="0">
                        <a:solidFill>
                          <a:srgbClr val="FF0000"/>
                        </a:solidFill>
                        <a:latin typeface="Cambria Math"/>
                      </a:rPr>
                      <m:t>是</m:t>
                    </m:r>
                    <m:r>
                      <a:rPr lang="zh-CN" altLang="en-US" sz="1200" b="0" i="1">
                        <a:solidFill>
                          <a:srgbClr val="FF0000"/>
                        </a:solidFill>
                        <a:latin typeface="Cambria Math"/>
                      </a:rPr>
                      <m:t>满射</m:t>
                    </m:r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，但不是单射</a:t>
                </a:r>
                <a:endParaRPr lang="en-US" altLang="zh-CN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057" y="112409"/>
                <a:ext cx="2721001" cy="766620"/>
              </a:xfrm>
              <a:prstGeom prst="rect">
                <a:avLst/>
              </a:prstGeom>
              <a:blipFill rotWithShape="1">
                <a:blip r:embed="rId6"/>
                <a:stretch>
                  <a:fillRect l="-18" t="-2" r="19" b="-5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定点整数的表示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25366"/>
            <a:ext cx="8136904" cy="5016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716016" y="112409"/>
            <a:ext cx="4389343" cy="21441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>
                <a:solidFill>
                  <a:srgbClr val="FF0000"/>
                </a:solidFill>
              </a:rPr>
              <a:t>规律：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正整数的原码、反码、补码相同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负整数的原码符号位为</a:t>
            </a:r>
            <a:r>
              <a:rPr lang="en-US" altLang="zh-CN" sz="1500" b="1" dirty="0">
                <a:solidFill>
                  <a:srgbClr val="FF0000"/>
                </a:solidFill>
              </a:rPr>
              <a:t>1</a:t>
            </a:r>
            <a:r>
              <a:rPr lang="zh-CN" altLang="en-US" sz="1500" b="1" dirty="0">
                <a:solidFill>
                  <a:srgbClr val="FF0000"/>
                </a:solidFill>
              </a:rPr>
              <a:t>，其余位不变，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负整数的反码在其原码基础上，按位取反，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负整数的补码在其反码基础上，末位加</a:t>
            </a:r>
            <a:r>
              <a:rPr lang="en-US" altLang="zh-CN" sz="1500" b="1" dirty="0">
                <a:solidFill>
                  <a:srgbClr val="FF0000"/>
                </a:solidFill>
              </a:rPr>
              <a:t>1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正</a:t>
            </a:r>
            <a:r>
              <a:rPr lang="en-US" altLang="zh-CN" sz="1500" b="1" dirty="0">
                <a:solidFill>
                  <a:srgbClr val="FF0000"/>
                </a:solidFill>
              </a:rPr>
              <a:t>/</a:t>
            </a:r>
            <a:r>
              <a:rPr lang="zh-CN" altLang="en-US" sz="1500" b="1" dirty="0">
                <a:solidFill>
                  <a:srgbClr val="FF0000"/>
                </a:solidFill>
              </a:rPr>
              <a:t>负整数的移码在其补码基础上，符号位取反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硬件局限：只有加法器，没有减法器</a:t>
            </a:r>
            <a:endParaRPr lang="en-US" altLang="zh-CN" dirty="0"/>
          </a:p>
          <a:p>
            <a:r>
              <a:rPr lang="zh-CN" altLang="en-US" dirty="0"/>
              <a:t>编码目标：</a:t>
            </a:r>
            <a:endParaRPr lang="en-US" altLang="zh-CN" dirty="0"/>
          </a:p>
          <a:p>
            <a:pPr lvl="1"/>
            <a:r>
              <a:rPr lang="zh-CN" altLang="en-US" dirty="0"/>
              <a:t>运算的操作数和运算结果使用相同的编码</a:t>
            </a:r>
            <a:endParaRPr lang="en-US" altLang="zh-CN" dirty="0"/>
          </a:p>
          <a:p>
            <a:pPr lvl="1"/>
            <a:r>
              <a:rPr lang="zh-CN" altLang="en-US" dirty="0"/>
              <a:t>能简单判断正负和比较值的大小</a:t>
            </a:r>
            <a:endParaRPr lang="en-US" altLang="zh-CN" dirty="0"/>
          </a:p>
          <a:p>
            <a:pPr lvl="1"/>
            <a:r>
              <a:rPr lang="zh-CN" altLang="en-US" dirty="0"/>
              <a:t>运算过程不需要判断正负和比较值的大小</a:t>
            </a:r>
            <a:endParaRPr lang="en-US" altLang="zh-CN" dirty="0"/>
          </a:p>
          <a:p>
            <a:pPr lvl="1"/>
            <a:r>
              <a:rPr lang="zh-CN" altLang="en-US" dirty="0"/>
              <a:t>所有的减法操作都能转换成加法操作</a:t>
            </a:r>
            <a:endParaRPr lang="en-US" altLang="zh-CN" dirty="0"/>
          </a:p>
          <a:p>
            <a:r>
              <a:rPr lang="zh-CN" altLang="en-US" dirty="0"/>
              <a:t>在绝大多数计算机中，使用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来表示定点整数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编码的意义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</a:t>
            </a:r>
            <a:r>
              <a:rPr lang="en-US" altLang="zh-CN" dirty="0"/>
              <a:t>——</a:t>
            </a:r>
            <a:r>
              <a:rPr lang="zh-CN" altLang="en-US" dirty="0"/>
              <a:t>实型</a:t>
            </a:r>
            <a:r>
              <a:rPr lang="en-US" altLang="zh-CN" dirty="0"/>
              <a:t>(</a:t>
            </a:r>
            <a:r>
              <a:rPr lang="zh-CN" altLang="en-US" dirty="0"/>
              <a:t>浮点数）</a:t>
            </a:r>
            <a:endParaRPr lang="en-US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821463" y="2323323"/>
          <a:ext cx="7711008" cy="2502227"/>
        </p:xfrm>
        <a:graphic>
          <a:graphicData uri="http://schemas.openxmlformats.org/drawingml/2006/table">
            <a:tbl>
              <a:tblPr/>
              <a:tblGrid>
                <a:gridCol w="1693532"/>
                <a:gridCol w="1006112"/>
                <a:gridCol w="1398477"/>
                <a:gridCol w="3612887"/>
              </a:tblGrid>
              <a:tr h="612017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类型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字节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有效数字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数值范围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07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float</a:t>
                      </a:r>
                      <a:endParaRPr lang="en-US" b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4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6~7</a:t>
                      </a:r>
                      <a:endParaRPr lang="en-US" b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-3.4*10</a:t>
                      </a:r>
                      <a:r>
                        <a:rPr lang="en-US" altLang="zh-CN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38</a:t>
                      </a:r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～+3.4*10</a:t>
                      </a:r>
                      <a:r>
                        <a:rPr lang="en-US" altLang="zh-CN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38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3007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double</a:t>
                      </a:r>
                      <a:endParaRPr lang="en-US" b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8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15~16</a:t>
                      </a:r>
                      <a:endParaRPr lang="en-US" b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-1.7*10</a:t>
                      </a:r>
                      <a:r>
                        <a:rPr lang="en-US" altLang="zh-CN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308</a:t>
                      </a:r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~1.7*10</a:t>
                      </a:r>
                      <a:r>
                        <a:rPr lang="en-US" altLang="zh-CN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38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07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long double</a:t>
                      </a:r>
                      <a:r>
                        <a:rPr lang="zh-CN" altLang="en-US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*</a:t>
                      </a:r>
                      <a:endParaRPr lang="en-US" b="0" baseline="3000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16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18~19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-1.2*10</a:t>
                      </a:r>
                      <a:r>
                        <a:rPr lang="en-US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4932</a:t>
                      </a:r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~1.2*10</a:t>
                      </a:r>
                      <a:r>
                        <a:rPr lang="en-US" b="0" baseline="30000" dirty="0">
                          <a:solidFill>
                            <a:srgbClr val="4F4F4F"/>
                          </a:solidFill>
                          <a:effectLst/>
                          <a:latin typeface="微软雅黑"/>
                        </a:rPr>
                        <a:t>4932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  <a:latin typeface="微软雅黑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/>
              <a:t>在计算机中如何表示和存储实数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5999" y="1197736"/>
                <a:ext cx="8712001" cy="1808016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ru-RU" dirty="0"/>
                  <a:t>浮点数的标准格式</a:t>
                </a:r>
                <a:r>
                  <a:rPr lang="ru-RU" altLang="zh-CN" dirty="0"/>
                  <a:t>IEEE754</a:t>
                </a:r>
                <a:endParaRPr lang="en-US" altLang="zh-CN" dirty="0"/>
              </a:p>
              <a:p>
                <a:pPr lvl="1"/>
                <a:r>
                  <a:rPr lang="zh-CN" altLang="zh-CN" sz="1900" dirty="0"/>
                  <a:t>尾数</a:t>
                </a:r>
                <a:r>
                  <a:rPr lang="zh-CN" altLang="en-US" sz="1900" dirty="0"/>
                  <a:t>（</a:t>
                </a:r>
                <a:r>
                  <a:rPr lang="en-US" altLang="zh-CN" sz="1900" dirty="0"/>
                  <a:t>M</a:t>
                </a:r>
                <a:r>
                  <a:rPr lang="zh-CN" altLang="en-US" sz="1900" dirty="0"/>
                  <a:t>）：</a:t>
                </a:r>
                <a:r>
                  <a:rPr lang="zh-CN" altLang="zh-CN" sz="1900" dirty="0"/>
                  <a:t>用原码</a:t>
                </a:r>
                <a:r>
                  <a:rPr lang="zh-CN" altLang="en-US" sz="1900" dirty="0"/>
                  <a:t>表示，规格化后使用隐藏位技术，尾数符号在数据首位</a:t>
                </a:r>
                <a:endParaRPr lang="en-US" altLang="zh-CN" sz="1900" dirty="0"/>
              </a:p>
              <a:p>
                <a:pPr lvl="1"/>
                <a:r>
                  <a:rPr lang="zh-CN" altLang="zh-CN" sz="1900" dirty="0"/>
                  <a:t>阶码</a:t>
                </a:r>
                <a:r>
                  <a:rPr lang="zh-CN" altLang="en-US" sz="1900" dirty="0"/>
                  <a:t>（</a:t>
                </a:r>
                <a:r>
                  <a:rPr lang="en-US" altLang="zh-CN" sz="1900" dirty="0"/>
                  <a:t>E</a:t>
                </a:r>
                <a:r>
                  <a:rPr lang="zh-CN" altLang="en-US" sz="1900" dirty="0"/>
                  <a:t>）：</a:t>
                </a:r>
                <a:r>
                  <a:rPr lang="zh-CN" altLang="zh-CN" sz="1900" dirty="0"/>
                  <a:t>用移码</a:t>
                </a:r>
                <a:r>
                  <a:rPr lang="zh-CN" altLang="en-US" sz="1900" dirty="0"/>
                  <a:t>表示，偏移值为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19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900" i="1">
                            <a:latin typeface="Cambria Math"/>
                            <a:ea typeface="Cambria Math"/>
                          </a:rPr>
                          <m:t>m</m:t>
                        </m:r>
                        <m:r>
                          <a:rPr lang="en-US" altLang="zh-CN" sz="19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1900" i="1">
                            <a:latin typeface="Cambria Math"/>
                            <a:ea typeface="Cambria Math"/>
                          </a:rPr>
                          <m:t>1</m:t>
                        </m:r>
                      </m:sup>
                    </m:sSup>
                    <m:r>
                      <a:rPr lang="en-US" altLang="zh-CN" sz="1900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1900" i="1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1700" dirty="0"/>
                  <a:t>（</a:t>
                </a:r>
                <a:r>
                  <a:rPr lang="en-US" altLang="zh-CN" sz="1700" dirty="0"/>
                  <a:t>float</a:t>
                </a:r>
                <a:r>
                  <a:rPr lang="zh-CN" altLang="en-US" sz="1700" dirty="0"/>
                  <a:t>偏移量</a:t>
                </a:r>
                <a:r>
                  <a:rPr lang="en-US" altLang="zh-CN" sz="1700" dirty="0"/>
                  <a:t>127</a:t>
                </a:r>
                <a:r>
                  <a:rPr lang="zh-CN" altLang="en-US" sz="1700" dirty="0"/>
                  <a:t>，</a:t>
                </a:r>
                <a:r>
                  <a:rPr lang="en-US" altLang="zh-CN" sz="1700" dirty="0"/>
                  <a:t>double</a:t>
                </a:r>
                <a:r>
                  <a:rPr lang="zh-CN" altLang="en-US" sz="1700" dirty="0"/>
                  <a:t>偏移量</a:t>
                </a:r>
                <a:r>
                  <a:rPr lang="en-US" altLang="zh-CN" sz="1700" dirty="0"/>
                  <a:t>1023</a:t>
                </a:r>
                <a:r>
                  <a:rPr lang="zh-CN" altLang="en-US" sz="1700" dirty="0"/>
                  <a:t>）</a:t>
                </a:r>
                <a:endParaRPr lang="en-US" altLang="zh-CN" sz="1700" dirty="0"/>
              </a:p>
              <a:p>
                <a:pPr lvl="1"/>
                <a:r>
                  <a:rPr lang="zh-CN" altLang="en-US" sz="1900" dirty="0"/>
                  <a:t>基值（</a:t>
                </a:r>
                <a:r>
                  <a:rPr lang="en-US" altLang="zh-CN" sz="1900" dirty="0"/>
                  <a:t>R</a:t>
                </a:r>
                <a:r>
                  <a:rPr lang="zh-CN" altLang="en-US" sz="1900" dirty="0"/>
                  <a:t>）：等于</a:t>
                </a:r>
                <a:r>
                  <a:rPr lang="en-US" altLang="zh-CN" sz="1900" dirty="0"/>
                  <a:t>2</a:t>
                </a:r>
                <a:endParaRPr lang="en-US" altLang="zh-CN" sz="1900" dirty="0"/>
              </a:p>
              <a:p>
                <a:pPr lvl="1"/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en-US" dirty="0">
                  <a:solidFill>
                    <a:schemeClr val="tx1"/>
                  </a:solidFill>
                  <a:ea typeface="华文中宋" pitchFamily="2" charset="-122"/>
                </a:endParaRPr>
              </a:p>
              <a:p>
                <a:pPr marL="397510" lvl="1" indent="0">
                  <a:buNone/>
                </a:pPr>
                <a:endParaRPr lang="en-US" altLang="en-US" dirty="0">
                  <a:solidFill>
                    <a:schemeClr val="tx1"/>
                  </a:solidFill>
                  <a:ea typeface="华文中宋" pitchFamily="2" charset="-122"/>
                </a:endParaRPr>
              </a:p>
              <a:p>
                <a:pPr marL="302260" lvl="1" indent="0">
                  <a:buNone/>
                </a:pPr>
                <a:endParaRPr lang="en-US" altLang="en-US" dirty="0">
                  <a:solidFill>
                    <a:schemeClr val="tx1"/>
                  </a:solidFill>
                  <a:ea typeface="华文中宋" pitchFamily="2" charset="-122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99" y="1197736"/>
                <a:ext cx="8712001" cy="1808016"/>
              </a:xfrm>
              <a:blipFill rotWithShape="1">
                <a:blip r:embed="rId1"/>
                <a:stretch>
                  <a:fillRect l="-1" t="-7" r="6" b="-84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18"/>
              <p:cNvSpPr>
                <a:spLocks noChangeArrowheads="1"/>
              </p:cNvSpPr>
              <p:nvPr/>
            </p:nvSpPr>
            <p:spPr bwMode="auto">
              <a:xfrm>
                <a:off x="2470052" y="2803711"/>
                <a:ext cx="2744214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500" dirty="0">
                    <a:solidFill>
                      <a:srgbClr val="FF0000"/>
                    </a:solidFill>
                    <a:latin typeface="Times New Roman" panose="02020503050405090304" pitchFamily="18" charset="0"/>
                  </a:rPr>
                  <a:t>科学计数法：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𝑁</m:t>
                    </m:r>
                    <m:r>
                      <a:rPr lang="en-US" altLang="zh-CN" sz="2000" i="1">
                        <a:latin typeface="Cambria Math"/>
                      </a:rPr>
                      <m:t>=</m:t>
                    </m:r>
                    <m:r>
                      <a:rPr lang="en-US" altLang="zh-CN" sz="2000" i="1">
                        <a:latin typeface="Cambria Math"/>
                      </a:rPr>
                      <m:t>𝑀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𝐸</m:t>
                        </m:r>
                      </m:sup>
                    </m:sSup>
                  </m:oMath>
                </a14:m>
                <a:endParaRPr kumimoji="1" lang="zh-CN" altLang="ru-RU" sz="2000" dirty="0">
                  <a:solidFill>
                    <a:srgbClr val="FF0000"/>
                  </a:solidFill>
                  <a:latin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8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0052" y="2803711"/>
                <a:ext cx="2744214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20" t="-46" r="10" b="-5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113"/>
          <p:cNvGrpSpPr/>
          <p:nvPr/>
        </p:nvGrpSpPr>
        <p:grpSpPr bwMode="auto">
          <a:xfrm>
            <a:off x="921146" y="3456770"/>
            <a:ext cx="4489451" cy="1000526"/>
            <a:chOff x="931" y="655"/>
            <a:chExt cx="2828" cy="600"/>
          </a:xfrm>
        </p:grpSpPr>
        <p:sp>
          <p:nvSpPr>
            <p:cNvPr id="10" name="Rectangle 114"/>
            <p:cNvSpPr>
              <a:spLocks noChangeArrowheads="1"/>
            </p:cNvSpPr>
            <p:nvPr/>
          </p:nvSpPr>
          <p:spPr bwMode="auto">
            <a:xfrm>
              <a:off x="1359" y="917"/>
              <a:ext cx="2360" cy="317"/>
            </a:xfrm>
            <a:prstGeom prst="rect">
              <a:avLst/>
            </a:prstGeom>
            <a:solidFill>
              <a:srgbClr val="CCFFFF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ru-RU" altLang="zh-CN" sz="2800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sz="2800" dirty="0">
                  <a:solidFill>
                    <a:srgbClr val="00B050"/>
                  </a:solidFill>
                  <a:latin typeface="Times New Roman" panose="02020503050405090304" pitchFamily="18" charset="0"/>
                </a:rPr>
                <a:t>S</a:t>
              </a:r>
              <a:r>
                <a:rPr kumimoji="1" lang="ru-RU" altLang="zh-CN" sz="2800" dirty="0">
                  <a:latin typeface="Times New Roman" panose="02020503050405090304" pitchFamily="18" charset="0"/>
                </a:rPr>
                <a:t>     </a:t>
              </a:r>
              <a:r>
                <a:rPr kumimoji="1" lang="ru-RU" altLang="zh-CN" sz="2800" dirty="0">
                  <a:solidFill>
                    <a:srgbClr val="0000FF"/>
                  </a:solidFill>
                  <a:latin typeface="Times New Roman" panose="02020503050405090304" pitchFamily="18" charset="0"/>
                  <a:ea typeface="微软雅黑 Light" panose="020B0502040204020203" pitchFamily="34" charset="-122"/>
                </a:rPr>
                <a:t>E</a:t>
              </a:r>
              <a:r>
                <a:rPr kumimoji="1" lang="en-US" altLang="zh-CN" sz="2800" baseline="-25000" dirty="0">
                  <a:solidFill>
                    <a:srgbClr val="0000FF"/>
                  </a:solidFill>
                  <a:latin typeface="Times New Roman" panose="02020503050405090304" pitchFamily="18" charset="0"/>
                  <a:ea typeface="微软雅黑 Light" panose="020B0502040204020203" pitchFamily="34" charset="-122"/>
                </a:rPr>
                <a:t>1..m    </a:t>
              </a:r>
              <a:r>
                <a:rPr kumimoji="1" lang="ru-RU" altLang="zh-CN" sz="2800" baseline="-25000" dirty="0">
                  <a:solidFill>
                    <a:srgbClr val="0000FF"/>
                  </a:solidFill>
                  <a:latin typeface="Times New Roman" panose="02020503050405090304" pitchFamily="18" charset="0"/>
                  <a:ea typeface="微软雅黑 Light" panose="020B0502040204020203" pitchFamily="34" charset="-122"/>
                </a:rPr>
                <a:t>           </a:t>
              </a:r>
              <a:r>
                <a:rPr kumimoji="1" lang="ru-RU" altLang="zh-CN" sz="2800" dirty="0">
                  <a:solidFill>
                    <a:schemeClr val="accent2"/>
                  </a:solidFill>
                  <a:latin typeface="Times New Roman" panose="02020503050405090304" pitchFamily="18" charset="0"/>
                </a:rPr>
                <a:t>M</a:t>
              </a:r>
              <a:r>
                <a:rPr kumimoji="1" lang="en-US" altLang="zh-CN" sz="2800" baseline="-25000" dirty="0">
                  <a:solidFill>
                    <a:schemeClr val="accent2"/>
                  </a:solidFill>
                  <a:latin typeface="Times New Roman" panose="02020503050405090304" pitchFamily="18" charset="0"/>
                </a:rPr>
                <a:t>1..n</a:t>
              </a:r>
              <a:endParaRPr kumimoji="1" lang="ru-RU" altLang="zh-CN" sz="2800" baseline="-25000" dirty="0">
                <a:solidFill>
                  <a:schemeClr val="accent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1" name="Line 115"/>
            <p:cNvSpPr>
              <a:spLocks noChangeShapeType="1"/>
            </p:cNvSpPr>
            <p:nvPr/>
          </p:nvSpPr>
          <p:spPr bwMode="auto">
            <a:xfrm>
              <a:off x="1704" y="917"/>
              <a:ext cx="1" cy="333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6"/>
            <p:cNvSpPr>
              <a:spLocks noChangeShapeType="1"/>
            </p:cNvSpPr>
            <p:nvPr/>
          </p:nvSpPr>
          <p:spPr bwMode="auto">
            <a:xfrm>
              <a:off x="2424" y="917"/>
              <a:ext cx="1" cy="333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17"/>
            <p:cNvSpPr>
              <a:spLocks noChangeArrowheads="1"/>
            </p:cNvSpPr>
            <p:nvPr/>
          </p:nvSpPr>
          <p:spPr bwMode="auto">
            <a:xfrm>
              <a:off x="1389" y="655"/>
              <a:ext cx="237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ru-RU" altLang="zh-CN" dirty="0">
                  <a:latin typeface="Times New Roman" panose="02020503050405090304" pitchFamily="18" charset="0"/>
                </a:rPr>
                <a:t>31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30    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23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22         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    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         0</a:t>
              </a:r>
              <a:endParaRPr kumimoji="1" lang="ru-RU" altLang="zh-CN" dirty="0">
                <a:latin typeface="Times New Roman" panose="02020503050405090304" pitchFamily="18" charset="0"/>
              </a:endParaRPr>
            </a:p>
          </p:txBody>
        </p:sp>
        <p:sp>
          <p:nvSpPr>
            <p:cNvPr id="14" name="Rectangle 118"/>
            <p:cNvSpPr>
              <a:spLocks noChangeArrowheads="1"/>
            </p:cNvSpPr>
            <p:nvPr/>
          </p:nvSpPr>
          <p:spPr bwMode="auto">
            <a:xfrm>
              <a:off x="931" y="923"/>
              <a:ext cx="41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ru-RU" altLang="zh-CN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32</a:t>
              </a:r>
              <a:r>
                <a:rPr kumimoji="1" lang="zh-CN" altLang="ru-RU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位</a:t>
              </a:r>
              <a:endParaRPr kumimoji="1" lang="en-US" altLang="zh-CN" sz="15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  <a:p>
              <a:pPr algn="ctr"/>
              <a:r>
                <a:rPr kumimoji="1" lang="en-US" altLang="zh-CN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(float)</a:t>
              </a:r>
              <a:endParaRPr kumimoji="1" lang="zh-CN" altLang="ru-RU" sz="15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</p:txBody>
        </p:sp>
      </p:grpSp>
      <p:grpSp>
        <p:nvGrpSpPr>
          <p:cNvPr id="15" name="Group 119"/>
          <p:cNvGrpSpPr/>
          <p:nvPr/>
        </p:nvGrpSpPr>
        <p:grpSpPr bwMode="auto">
          <a:xfrm>
            <a:off x="806508" y="4928175"/>
            <a:ext cx="7118386" cy="957263"/>
            <a:chOff x="780" y="1293"/>
            <a:chExt cx="4889" cy="603"/>
          </a:xfrm>
        </p:grpSpPr>
        <p:sp>
          <p:nvSpPr>
            <p:cNvPr id="16" name="Rectangle 120"/>
            <p:cNvSpPr>
              <a:spLocks noChangeArrowheads="1"/>
            </p:cNvSpPr>
            <p:nvPr/>
          </p:nvSpPr>
          <p:spPr bwMode="auto">
            <a:xfrm>
              <a:off x="1351" y="1555"/>
              <a:ext cx="4241" cy="330"/>
            </a:xfrm>
            <a:prstGeom prst="rect">
              <a:avLst/>
            </a:prstGeom>
            <a:solidFill>
              <a:srgbClr val="CCFFCC"/>
            </a:solidFill>
            <a:ln w="9525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ru-RU" altLang="zh-CN" sz="2800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sz="2800" dirty="0">
                  <a:solidFill>
                    <a:srgbClr val="00B050"/>
                  </a:solidFill>
                  <a:latin typeface="Times New Roman" panose="02020503050405090304" pitchFamily="18" charset="0"/>
                </a:rPr>
                <a:t>S</a:t>
              </a:r>
              <a:r>
                <a:rPr kumimoji="1" lang="ru-RU" altLang="zh-CN" sz="2800" dirty="0">
                  <a:latin typeface="Times New Roman" panose="02020503050405090304" pitchFamily="18" charset="0"/>
                </a:rPr>
                <a:t>         </a:t>
              </a:r>
              <a:r>
                <a:rPr kumimoji="1" lang="en-US" altLang="zh-CN" sz="2800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sz="2800" dirty="0">
                  <a:solidFill>
                    <a:srgbClr val="0000FF"/>
                  </a:solidFill>
                  <a:latin typeface="Times New Roman" panose="02020503050405090304" pitchFamily="18" charset="0"/>
                  <a:ea typeface="微软雅黑 Light" panose="020B0502040204020203" pitchFamily="34" charset="-122"/>
                </a:rPr>
                <a:t>E</a:t>
              </a:r>
              <a:r>
                <a:rPr kumimoji="1" lang="en-US" altLang="zh-CN" sz="2800" baseline="-25000" dirty="0">
                  <a:solidFill>
                    <a:srgbClr val="0000FF"/>
                  </a:solidFill>
                  <a:latin typeface="Times New Roman" panose="02020503050405090304" pitchFamily="18" charset="0"/>
                  <a:ea typeface="微软雅黑 Light" panose="020B0502040204020203" pitchFamily="34" charset="-122"/>
                </a:rPr>
                <a:t>1..m</a:t>
              </a:r>
              <a:r>
                <a:rPr kumimoji="1" lang="ru-RU" altLang="zh-CN" sz="2800" dirty="0">
                  <a:latin typeface="Times New Roman" panose="02020503050405090304" pitchFamily="18" charset="0"/>
                </a:rPr>
                <a:t>                       </a:t>
              </a:r>
              <a:r>
                <a:rPr kumimoji="1" lang="en-US" altLang="zh-CN" sz="2800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sz="2800" dirty="0">
                  <a:solidFill>
                    <a:schemeClr val="accent2"/>
                  </a:solidFill>
                  <a:latin typeface="Times New Roman" panose="02020503050405090304" pitchFamily="18" charset="0"/>
                </a:rPr>
                <a:t>M</a:t>
              </a:r>
              <a:r>
                <a:rPr kumimoji="1" lang="en-US" altLang="zh-CN" sz="2800" baseline="-25000" dirty="0">
                  <a:solidFill>
                    <a:schemeClr val="accent2"/>
                  </a:solidFill>
                  <a:latin typeface="Times New Roman" panose="02020503050405090304" pitchFamily="18" charset="0"/>
                </a:rPr>
                <a:t>1..n</a:t>
              </a:r>
              <a:endParaRPr kumimoji="1" lang="ru-RU" altLang="zh-CN" sz="2800" baseline="-25000" dirty="0">
                <a:solidFill>
                  <a:schemeClr val="accent2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17" name="Group 121"/>
            <p:cNvGrpSpPr/>
            <p:nvPr/>
          </p:nvGrpSpPr>
          <p:grpSpPr bwMode="auto">
            <a:xfrm>
              <a:off x="1696" y="1555"/>
              <a:ext cx="1477" cy="333"/>
              <a:chOff x="1696" y="1555"/>
              <a:chExt cx="1477" cy="333"/>
            </a:xfrm>
          </p:grpSpPr>
          <p:sp>
            <p:nvSpPr>
              <p:cNvPr id="20" name="Line 122"/>
              <p:cNvSpPr>
                <a:spLocks noChangeShapeType="1"/>
              </p:cNvSpPr>
              <p:nvPr/>
            </p:nvSpPr>
            <p:spPr bwMode="auto">
              <a:xfrm>
                <a:off x="1696" y="1555"/>
                <a:ext cx="1" cy="33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23"/>
              <p:cNvSpPr>
                <a:spLocks noChangeShapeType="1"/>
              </p:cNvSpPr>
              <p:nvPr/>
            </p:nvSpPr>
            <p:spPr bwMode="auto">
              <a:xfrm>
                <a:off x="3172" y="1555"/>
                <a:ext cx="1" cy="33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Rectangle 124"/>
            <p:cNvSpPr>
              <a:spLocks noChangeArrowheads="1"/>
            </p:cNvSpPr>
            <p:nvPr/>
          </p:nvSpPr>
          <p:spPr bwMode="auto">
            <a:xfrm>
              <a:off x="1381" y="1293"/>
              <a:ext cx="4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ru-RU" altLang="zh-CN" dirty="0">
                  <a:latin typeface="Times New Roman" panose="02020503050405090304" pitchFamily="18" charset="0"/>
                </a:rPr>
                <a:t>63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62                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     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52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51                                        </a:t>
              </a:r>
              <a:r>
                <a:rPr kumimoji="1" lang="en-US" altLang="zh-CN" dirty="0">
                  <a:latin typeface="Times New Roman" panose="02020503050405090304" pitchFamily="18" charset="0"/>
                </a:rPr>
                <a:t>             </a:t>
              </a:r>
              <a:r>
                <a:rPr kumimoji="1" lang="ru-RU" altLang="zh-CN" dirty="0">
                  <a:latin typeface="Times New Roman" panose="02020503050405090304" pitchFamily="18" charset="0"/>
                </a:rPr>
                <a:t>0</a:t>
              </a:r>
              <a:endParaRPr kumimoji="1" lang="ru-RU" altLang="zh-CN" dirty="0">
                <a:latin typeface="Times New Roman" panose="02020503050405090304" pitchFamily="18" charset="0"/>
              </a:endParaRPr>
            </a:p>
          </p:txBody>
        </p:sp>
        <p:sp>
          <p:nvSpPr>
            <p:cNvPr id="19" name="Rectangle 125"/>
            <p:cNvSpPr>
              <a:spLocks noChangeArrowheads="1"/>
            </p:cNvSpPr>
            <p:nvPr/>
          </p:nvSpPr>
          <p:spPr bwMode="auto">
            <a:xfrm>
              <a:off x="780" y="1547"/>
              <a:ext cx="574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64</a:t>
              </a:r>
              <a:r>
                <a:rPr kumimoji="1" lang="zh-CN" altLang="en-US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位</a:t>
              </a:r>
              <a:endParaRPr kumimoji="1" lang="en-US" altLang="zh-CN" sz="15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  <a:p>
              <a:pPr algn="ctr"/>
              <a:r>
                <a:rPr kumimoji="1" lang="en-US" altLang="zh-CN" sz="1500" dirty="0">
                  <a:solidFill>
                    <a:srgbClr val="FF0000"/>
                  </a:solidFill>
                  <a:latin typeface="Times New Roman" panose="02020503050405090304" pitchFamily="18" charset="0"/>
                </a:rPr>
                <a:t>(double)</a:t>
              </a:r>
              <a:endParaRPr kumimoji="1" lang="zh-CN" altLang="ru-RU" sz="1500" dirty="0">
                <a:solidFill>
                  <a:srgbClr val="FF0000"/>
                </a:solidFill>
                <a:latin typeface="Times New Roman" panose="02020503050405090304" pitchFamily="18" charset="0"/>
              </a:endParaRPr>
            </a:p>
          </p:txBody>
        </p:sp>
      </p:grpSp>
      <p:sp>
        <p:nvSpPr>
          <p:cNvPr id="22" name="左大括号 21"/>
          <p:cNvSpPr/>
          <p:nvPr/>
        </p:nvSpPr>
        <p:spPr>
          <a:xfrm rot="16200000">
            <a:off x="2639336" y="3991783"/>
            <a:ext cx="180282" cy="1123614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16200000">
            <a:off x="4246809" y="3535499"/>
            <a:ext cx="180282" cy="2020294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19"/>
          <p:cNvSpPr txBox="1"/>
          <p:nvPr/>
        </p:nvSpPr>
        <p:spPr>
          <a:xfrm>
            <a:off x="2482335" y="4631431"/>
            <a:ext cx="4844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/>
              <a:t>m=8</a:t>
            </a:r>
            <a:endParaRPr lang="zh-CN" altLang="en-US" sz="1300" dirty="0"/>
          </a:p>
        </p:txBody>
      </p:sp>
      <p:sp>
        <p:nvSpPr>
          <p:cNvPr id="25" name="TextBox 20"/>
          <p:cNvSpPr txBox="1"/>
          <p:nvPr/>
        </p:nvSpPr>
        <p:spPr>
          <a:xfrm>
            <a:off x="4046883" y="4635787"/>
            <a:ext cx="5245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/>
              <a:t>n=23</a:t>
            </a:r>
            <a:endParaRPr lang="zh-CN" altLang="en-US" sz="1300" dirty="0"/>
          </a:p>
        </p:txBody>
      </p:sp>
      <p:sp>
        <p:nvSpPr>
          <p:cNvPr id="26" name="左大括号 25"/>
          <p:cNvSpPr/>
          <p:nvPr/>
        </p:nvSpPr>
        <p:spPr>
          <a:xfrm rot="16200000">
            <a:off x="3125147" y="4946131"/>
            <a:ext cx="180282" cy="2095237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 rot="16200000">
            <a:off x="5934927" y="4291583"/>
            <a:ext cx="180282" cy="3388446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914383" y="6071591"/>
            <a:ext cx="5693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/>
              <a:t>m=11</a:t>
            </a:r>
            <a:endParaRPr lang="zh-CN" alt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5775075" y="6075947"/>
            <a:ext cx="5245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/>
              <a:t>n=52</a:t>
            </a:r>
            <a:endParaRPr lang="zh-CN" alt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52856"/>
          </a:xfrm>
        </p:spPr>
        <p:txBody>
          <a:bodyPr/>
          <a:lstStyle/>
          <a:p>
            <a:r>
              <a:rPr lang="ru-RU" altLang="zh-CN" dirty="0"/>
              <a:t>IEEE754</a:t>
            </a:r>
            <a:r>
              <a:rPr lang="zh-CN" altLang="en-US" dirty="0"/>
              <a:t>的精妙之处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zh-CN" altLang="en-US" sz="2000" dirty="0"/>
              <a:t>为什么阶码使用移码表示：便于浮点数加减运算时对阶（比较大小）</a:t>
            </a:r>
            <a:endParaRPr lang="zh-CN" altLang="en-US" sz="2000" dirty="0"/>
          </a:p>
          <a:p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为什么偏移量为</a:t>
            </a:r>
            <a:r>
              <a:rPr lang="en-US" altLang="zh-CN" sz="2000" dirty="0"/>
              <a:t>2^(m−1)−1</a:t>
            </a:r>
            <a:r>
              <a:rPr lang="zh-CN" altLang="en-US" sz="2000" dirty="0"/>
              <a:t>，而不是</a:t>
            </a:r>
            <a:r>
              <a:rPr lang="en-US" altLang="zh-CN" sz="2000" dirty="0"/>
              <a:t>2^(m−1)</a:t>
            </a:r>
            <a:endParaRPr lang="en-US" altLang="zh-CN" sz="2000" dirty="0"/>
          </a:p>
          <a:p>
            <a:pPr lvl="1"/>
            <a:r>
              <a:rPr lang="zh-CN" altLang="en-US" sz="1800" dirty="0"/>
              <a:t>阶码全为</a:t>
            </a:r>
            <a:r>
              <a:rPr lang="en-US" altLang="zh-CN" sz="1800" dirty="0"/>
              <a:t>0</a:t>
            </a:r>
            <a:r>
              <a:rPr lang="zh-CN" altLang="en-US" sz="1800" dirty="0"/>
              <a:t>（即</a:t>
            </a:r>
            <a:r>
              <a:rPr lang="en-US" altLang="zh-CN" sz="1800" dirty="0"/>
              <a:t>0</a:t>
            </a:r>
            <a:r>
              <a:rPr lang="zh-CN" altLang="en-US" sz="1800" dirty="0"/>
              <a:t>）和阶码全为</a:t>
            </a:r>
            <a:r>
              <a:rPr lang="en-US" altLang="zh-CN" sz="1800" dirty="0"/>
              <a:t>1</a:t>
            </a:r>
            <a:r>
              <a:rPr lang="zh-CN" altLang="en-US" sz="1800" dirty="0"/>
              <a:t>（即</a:t>
            </a:r>
            <a:r>
              <a:rPr lang="en-US" altLang="zh-CN" sz="1800" dirty="0"/>
              <a:t>2^m−1</a:t>
            </a:r>
            <a:r>
              <a:rPr lang="zh-CN" altLang="en-US" sz="1800" dirty="0"/>
              <a:t>）这两个数保留做特殊用途</a:t>
            </a:r>
            <a:endParaRPr lang="zh-CN" altLang="en-US" sz="1800" dirty="0"/>
          </a:p>
          <a:p>
            <a:pPr lvl="1"/>
            <a:r>
              <a:rPr lang="zh-CN" altLang="en-US" sz="1800" dirty="0"/>
              <a:t>去除保留的两个数，阶码的范围为</a:t>
            </a:r>
            <a:r>
              <a:rPr lang="en-US" altLang="zh-CN" sz="1800" dirty="0"/>
              <a:t>[1,2^m−2]</a:t>
            </a:r>
            <a:r>
              <a:rPr lang="zh-CN" altLang="en-US" sz="1800" dirty="0"/>
              <a:t>，中位数为</a:t>
            </a:r>
            <a:r>
              <a:rPr lang="en-US" altLang="zh-CN" sz="1800" dirty="0"/>
              <a:t>2^(m−1)−1</a:t>
            </a:r>
            <a:r>
              <a:rPr lang="zh-CN" altLang="en-US" sz="1800" dirty="0"/>
              <a:t>和</a:t>
            </a:r>
            <a:r>
              <a:rPr lang="en-US" altLang="zh-CN" sz="1800" dirty="0"/>
              <a:t>2^(m−1)</a:t>
            </a:r>
            <a:endParaRPr lang="en-US" altLang="zh-CN" sz="1800" dirty="0"/>
          </a:p>
          <a:p>
            <a:pPr lvl="1"/>
            <a:r>
              <a:rPr lang="zh-CN" altLang="en-US" sz="1800" dirty="0"/>
              <a:t>偏移值取</a:t>
            </a:r>
            <a:r>
              <a:rPr lang="en-US" altLang="zh-CN" sz="1800" dirty="0"/>
              <a:t>2^(m−1)−1</a:t>
            </a:r>
            <a:r>
              <a:rPr lang="zh-CN" altLang="en-US" sz="1800" dirty="0"/>
              <a:t>，相比于</a:t>
            </a:r>
            <a:r>
              <a:rPr lang="en-US" altLang="zh-CN" sz="1800" dirty="0"/>
              <a:t>2^(m−1)</a:t>
            </a:r>
            <a:r>
              <a:rPr lang="zh-CN" altLang="en-US" sz="1800" dirty="0"/>
              <a:t>，所能表示的浮点数绝对值范围在指数层面更对称</a:t>
            </a:r>
            <a:endParaRPr lang="zh-CN" altLang="en-US" sz="1800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56" y="1801061"/>
            <a:ext cx="5118893" cy="84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3"/>
              <p:cNvSpPr txBox="1"/>
              <p:nvPr/>
            </p:nvSpPr>
            <p:spPr>
              <a:xfrm>
                <a:off x="1561831" y="4790941"/>
                <a:ext cx="6633409" cy="1861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1300" dirty="0"/>
                  <a:t>例：对于</a:t>
                </a:r>
                <a:r>
                  <a:rPr kumimoji="1" lang="en-US" altLang="zh-CN" sz="1300" dirty="0"/>
                  <a:t>float</a:t>
                </a:r>
                <a:r>
                  <a:rPr kumimoji="1" lang="zh-CN" altLang="en-US" sz="1300" dirty="0"/>
                  <a:t>类型，</a:t>
                </a:r>
                <a:r>
                  <a:rPr kumimoji="1" lang="en-US" altLang="zh-CN" sz="1300" dirty="0"/>
                  <a:t>m=8</a:t>
                </a:r>
                <a:endParaRPr kumimoji="1" lang="en-US" altLang="zh-CN" sz="1300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300" dirty="0"/>
                  <a:t>取偏移值</a:t>
                </a:r>
                <a:r>
                  <a:rPr kumimoji="1" lang="en-US" altLang="zh-CN" sz="1300" dirty="0"/>
                  <a:t>128</a:t>
                </a:r>
                <a:r>
                  <a:rPr kumimoji="1" lang="zh-CN" altLang="en-US" sz="1300" dirty="0"/>
                  <a:t>时，阶码的真值范围</a:t>
                </a:r>
                <a:r>
                  <a:rPr kumimoji="1" lang="en-US" altLang="zh-CN" sz="1300" dirty="0"/>
                  <a:t>[-127, 126]</a:t>
                </a:r>
                <a:r>
                  <a:rPr kumimoji="1" lang="zh-CN" altLang="en-US" sz="1300" dirty="0"/>
                  <a:t>，</a:t>
                </a:r>
                <a:br>
                  <a:rPr kumimoji="1" lang="en-US" altLang="zh-CN" sz="1300" dirty="0"/>
                </a:br>
                <a:r>
                  <a:rPr kumimoji="1" lang="en-US" altLang="zh-CN" sz="1300" dirty="0"/>
                  <a:t>                                 </a:t>
                </a:r>
                <a:r>
                  <a:rPr kumimoji="1" lang="zh-CN" altLang="en-US" sz="1300" dirty="0"/>
                  <a:t>所能表示的浮点数绝对值范围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300" b="0" i="0" smtClean="0">
                            <a:latin typeface="Cambria Math"/>
                          </a:rPr>
                          <m:t>5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.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877</m:t>
                        </m:r>
                        <m:r>
                          <a:rPr kumimoji="1" lang="en-US" altLang="zh-CN" sz="13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1300" b="0" i="0" smtClean="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1300" b="0" i="0" smtClean="0">
                                <a:latin typeface="Cambria Math"/>
                              </a:rPr>
                              <m:t>−</m:t>
                            </m:r>
                            <m:r>
                              <a:rPr kumimoji="1" lang="en-US" altLang="zh-CN" sz="1300" b="0" i="0" smtClean="0">
                                <a:latin typeface="Cambria Math"/>
                              </a:rPr>
                              <m:t>39</m:t>
                            </m:r>
                          </m:sup>
                        </m:sSup>
                        <m:r>
                          <a:rPr kumimoji="1" lang="en-US" altLang="zh-CN" sz="1300" b="0" i="1" smtClean="0">
                            <a:latin typeface="Cambria Math"/>
                          </a:rPr>
                          <m:t>,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1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.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7</m:t>
                        </m:r>
                        <m:r>
                          <a:rPr kumimoji="1" lang="en-US" altLang="zh-CN" sz="13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130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1300" b="0" i="0" smtClean="0">
                                <a:latin typeface="Cambria Math"/>
                              </a:rPr>
                              <m:t>38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300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300" dirty="0"/>
                  <a:t>取偏移值</a:t>
                </a:r>
                <a:r>
                  <a:rPr kumimoji="1" lang="en-US" altLang="zh-CN" sz="1300" dirty="0"/>
                  <a:t>127</a:t>
                </a:r>
                <a:r>
                  <a:rPr kumimoji="1" lang="zh-CN" altLang="en-US" sz="1300" dirty="0"/>
                  <a:t>时，阶码的真值范围</a:t>
                </a:r>
                <a:r>
                  <a:rPr kumimoji="1" lang="en-US" altLang="zh-CN" sz="1300" dirty="0"/>
                  <a:t>[-126, 127]</a:t>
                </a:r>
                <a:r>
                  <a:rPr kumimoji="1" lang="zh-CN" altLang="en-US" sz="1300" dirty="0"/>
                  <a:t>，</a:t>
                </a:r>
                <a:br>
                  <a:rPr kumimoji="1" lang="en-US" altLang="zh-CN" sz="1300" dirty="0"/>
                </a:br>
                <a:r>
                  <a:rPr kumimoji="1" lang="en-US" altLang="zh-CN" sz="1300" dirty="0"/>
                  <a:t>                                 </a:t>
                </a:r>
                <a:r>
                  <a:rPr kumimoji="1" lang="zh-CN" altLang="en-US" sz="1300" dirty="0"/>
                  <a:t>所能表示的浮点数绝对值范围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300" b="0" i="0" smtClean="0">
                            <a:latin typeface="Cambria Math"/>
                          </a:rPr>
                          <m:t>1</m:t>
                        </m:r>
                        <m:r>
                          <a:rPr kumimoji="1" lang="en-US" altLang="zh-CN" sz="1300">
                            <a:latin typeface="Cambria Math"/>
                          </a:rPr>
                          <m:t>.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175</m:t>
                        </m:r>
                        <m:r>
                          <a:rPr kumimoji="1" lang="en-US" altLang="zh-CN" sz="1300" i="1">
                            <a:latin typeface="Cambria Math"/>
                            <a:ea typeface="Cambria Math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130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1300">
                                <a:latin typeface="Cambria Math"/>
                              </a:rPr>
                              <m:t>−</m:t>
                            </m:r>
                            <m:r>
                              <a:rPr kumimoji="1" lang="en-US" altLang="zh-CN" sz="1300">
                                <a:latin typeface="Cambria Math"/>
                              </a:rPr>
                              <m:t>3</m:t>
                            </m:r>
                            <m:r>
                              <a:rPr kumimoji="1" lang="en-US" altLang="zh-CN" sz="1300" b="0" i="0" smtClean="0">
                                <a:latin typeface="Cambria Math"/>
                              </a:rPr>
                              <m:t>8</m:t>
                            </m:r>
                          </m:sup>
                        </m:sSup>
                        <m:r>
                          <a:rPr kumimoji="1" lang="en-US" altLang="zh-CN" sz="1300" i="1">
                            <a:latin typeface="Cambria Math"/>
                          </a:rPr>
                          <m:t>,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3</m:t>
                        </m:r>
                        <m:r>
                          <a:rPr kumimoji="1" lang="en-US" altLang="zh-CN" sz="1300">
                            <a:latin typeface="Cambria Math"/>
                          </a:rPr>
                          <m:t>.</m:t>
                        </m:r>
                        <m:r>
                          <a:rPr kumimoji="1" lang="en-US" altLang="zh-CN" sz="1300" b="0" i="0" smtClean="0">
                            <a:latin typeface="Cambria Math"/>
                          </a:rPr>
                          <m:t>4</m:t>
                        </m:r>
                        <m:r>
                          <a:rPr kumimoji="1" lang="en-US" altLang="zh-CN" sz="1300" i="1">
                            <a:latin typeface="Cambria Math"/>
                            <a:ea typeface="Cambria Math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130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1300">
                                <a:latin typeface="Cambria Math"/>
                              </a:rPr>
                              <m:t>38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CN" sz="1300" dirty="0"/>
              </a:p>
              <a:p>
                <a:pPr marL="0" lvl="2">
                  <a:lnSpc>
                    <a:spcPct val="150000"/>
                  </a:lnSpc>
                </a:pPr>
                <a:r>
                  <a:rPr kumimoji="1" lang="zh-CN" altLang="en-US" sz="1300" dirty="0"/>
                  <a:t>相对而言，取偏移值</a:t>
                </a:r>
                <a:r>
                  <a:rPr kumimoji="1" lang="en-US" altLang="zh-CN" sz="1300" dirty="0"/>
                  <a:t>127</a:t>
                </a:r>
                <a:r>
                  <a:rPr kumimoji="1" lang="zh-CN" altLang="en-US" sz="1300" dirty="0"/>
                  <a:t>时，所能表示的浮点数绝对值范围在指数层面更对称</a:t>
                </a:r>
                <a:endParaRPr kumimoji="1" lang="en-US" altLang="zh-CN" sz="1300" dirty="0"/>
              </a:p>
            </p:txBody>
          </p:sp>
        </mc:Choice>
        <mc:Fallback>
          <p:sp>
            <p:nvSpPr>
              <p:cNvPr id="5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831" y="4790941"/>
                <a:ext cx="6633409" cy="1861151"/>
              </a:xfrm>
              <a:prstGeom prst="rect">
                <a:avLst/>
              </a:prstGeom>
              <a:blipFill rotWithShape="1">
                <a:blip r:embed="rId2"/>
                <a:stretch>
                  <a:fillRect l="-6" t="-27" r="9" b="-3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7350" y="1266917"/>
            <a:ext cx="8280000" cy="4705165"/>
          </a:xfrm>
        </p:spPr>
        <p:txBody>
          <a:bodyPr/>
          <a:lstStyle/>
          <a:p>
            <a:r>
              <a:rPr lang="zh-CN" altLang="en-US" dirty="0"/>
              <a:t>占用</a:t>
            </a:r>
            <a:r>
              <a:rPr lang="en-US" altLang="zh-CN" dirty="0"/>
              <a:t>1</a:t>
            </a:r>
            <a:r>
              <a:rPr lang="zh-CN" altLang="en-US" dirty="0"/>
              <a:t>个字节字符类型的数据</a:t>
            </a:r>
            <a:endParaRPr lang="zh-CN" altLang="en-US" dirty="0"/>
          </a:p>
          <a:p>
            <a:r>
              <a:rPr lang="zh-CN" altLang="en-US" dirty="0"/>
              <a:t>在内存中以相应的</a:t>
            </a:r>
            <a:r>
              <a:rPr lang="en-US" altLang="zh-CN" dirty="0"/>
              <a:t>ASCII</a:t>
            </a:r>
            <a:r>
              <a:rPr lang="zh-CN" altLang="en-US" dirty="0"/>
              <a:t>码存放。</a:t>
            </a:r>
            <a:endParaRPr lang="zh-CN" altLang="en-US" dirty="0"/>
          </a:p>
          <a:p>
            <a:pPr lvl="1"/>
            <a:r>
              <a:rPr lang="zh-CN" altLang="en-US" dirty="0"/>
              <a:t>例：</a:t>
            </a:r>
            <a:r>
              <a:rPr lang="en-US" altLang="zh-CN" dirty="0"/>
              <a:t>'a'</a:t>
            </a:r>
            <a:r>
              <a:rPr lang="zh-CN" altLang="en-US" dirty="0"/>
              <a:t>的</a:t>
            </a:r>
            <a:r>
              <a:rPr lang="en-US" altLang="zh-CN" dirty="0"/>
              <a:t>ASCII</a:t>
            </a:r>
            <a:r>
              <a:rPr lang="zh-CN" altLang="en-US" dirty="0"/>
              <a:t>码为</a:t>
            </a:r>
            <a:r>
              <a:rPr lang="en-US" altLang="zh-CN" dirty="0"/>
              <a:t>97</a:t>
            </a:r>
            <a:r>
              <a:rPr lang="zh-CN" altLang="en-US" dirty="0"/>
              <a:t>，内存中的存储形式：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字符型数据</a:t>
            </a:r>
            <a:r>
              <a:rPr lang="en-US" altLang="zh-CN"/>
              <a:t>char</a:t>
            </a:r>
            <a:endParaRPr lang="en-US" dirty="0"/>
          </a:p>
        </p:txBody>
      </p:sp>
      <p:pic>
        <p:nvPicPr>
          <p:cNvPr id="7" name="Picture 2" descr="âASCIIâçå¾çæç´¢ç»æ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522" y="3005679"/>
            <a:ext cx="5157626" cy="358974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492406" y="2777079"/>
            <a:ext cx="2971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outerShdw blurRad="63500" dist="216273" dir="8385819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altLang="zh-CN" sz="2400" dirty="0">
                <a:latin typeface="Times New Roman" panose="02020503050405090304" pitchFamily="18" charset="0"/>
                <a:ea typeface="宋体" charset="0"/>
                <a:cs typeface="宋体" charset="0"/>
              </a:rPr>
              <a:t>0   1   1   0   0   0   0   1</a:t>
            </a:r>
            <a:endParaRPr kumimoji="1" lang="en-US" altLang="zh-CN" sz="2400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6015" y="11963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cout&lt;&lt;(int)’...’;</a:t>
            </a:r>
            <a:r>
              <a:rPr lang="zh-CN" altLang="en-US"/>
              <a:t>转换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</a:t>
            </a:r>
            <a:r>
              <a:rPr lang="en-US" altLang="zh-CN" dirty="0"/>
              <a:t>'1'</a:t>
            </a:r>
            <a:r>
              <a:rPr lang="zh-CN" altLang="en-US" dirty="0"/>
              <a:t>与整数</a:t>
            </a:r>
            <a:r>
              <a:rPr lang="en-US" altLang="zh-CN" dirty="0"/>
              <a:t>1</a:t>
            </a:r>
            <a:r>
              <a:rPr lang="zh-CN" altLang="en-US" dirty="0"/>
              <a:t>在内存中的存在形式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267515" y="3659237"/>
            <a:ext cx="860896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600"/>
              </a:spcBef>
            </a:pPr>
            <a:r>
              <a:rPr lang="zh-CN" altLang="en-US" dirty="0"/>
              <a:t>字符</a:t>
            </a:r>
            <a:r>
              <a:rPr lang="en-US" altLang="zh-CN" dirty="0"/>
              <a:t>'1'</a:t>
            </a:r>
            <a:r>
              <a:rPr lang="zh-CN" altLang="en-US" dirty="0"/>
              <a:t>与整数</a:t>
            </a:r>
            <a:r>
              <a:rPr lang="en-US" altLang="zh-CN" dirty="0"/>
              <a:t>1</a:t>
            </a:r>
            <a:r>
              <a:rPr lang="zh-CN" altLang="en-US" dirty="0"/>
              <a:t>是不同的概念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字符</a:t>
            </a:r>
            <a:r>
              <a:rPr lang="en-US" altLang="zh-CN" dirty="0">
                <a:solidFill>
                  <a:srgbClr val="FF0000"/>
                </a:solidFill>
              </a:rPr>
              <a:t>'1'</a:t>
            </a:r>
            <a:r>
              <a:rPr lang="zh-CN" altLang="en-US" dirty="0"/>
              <a:t>代表一个形状为</a:t>
            </a:r>
            <a:r>
              <a:rPr lang="en-US" altLang="zh-CN" dirty="0"/>
              <a:t>'1'</a:t>
            </a:r>
            <a:r>
              <a:rPr lang="zh-CN" altLang="en-US" dirty="0"/>
              <a:t>的符号，在内存中</a:t>
            </a:r>
            <a:r>
              <a:rPr lang="zh-CN" altLang="en-US" dirty="0">
                <a:solidFill>
                  <a:srgbClr val="FF0000"/>
                </a:solidFill>
              </a:rPr>
              <a:t>以</a:t>
            </a:r>
            <a:r>
              <a:rPr lang="en-US" altLang="zh-CN" dirty="0">
                <a:solidFill>
                  <a:srgbClr val="FF0000"/>
                </a:solidFill>
              </a:rPr>
              <a:t>ASCII</a:t>
            </a:r>
            <a:r>
              <a:rPr lang="zh-CN" altLang="en-US" dirty="0">
                <a:solidFill>
                  <a:srgbClr val="FF0000"/>
                </a:solidFill>
              </a:rPr>
              <a:t>码形式存储</a:t>
            </a:r>
            <a:r>
              <a:rPr lang="zh-CN" altLang="en-US" dirty="0"/>
              <a:t>，占</a:t>
            </a:r>
            <a:r>
              <a:rPr lang="en-US" altLang="zh-CN" dirty="0"/>
              <a:t>1</a:t>
            </a:r>
            <a:r>
              <a:rPr lang="zh-CN" altLang="en-US" dirty="0"/>
              <a:t>个字节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整数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是一个数值，在内存中</a:t>
            </a:r>
            <a:r>
              <a:rPr lang="zh-CN" altLang="en-US" dirty="0">
                <a:solidFill>
                  <a:srgbClr val="FF0000"/>
                </a:solidFill>
              </a:rPr>
              <a:t>以二进制补码形式存储</a:t>
            </a:r>
            <a:r>
              <a:rPr lang="zh-CN" altLang="en-US" dirty="0"/>
              <a:t>，占</a:t>
            </a:r>
            <a:r>
              <a:rPr lang="en-US" altLang="zh-CN" dirty="0"/>
              <a:t>2/4/8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1 + 1 = 2</a:t>
            </a:r>
            <a:r>
              <a:rPr lang="zh-CN" altLang="en-US" dirty="0"/>
              <a:t>，</a:t>
            </a:r>
            <a:r>
              <a:rPr lang="en-US" altLang="zh-CN" dirty="0"/>
              <a:t>'1' + '1' ≠ 2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char</a:t>
            </a:r>
            <a:r>
              <a:rPr lang="zh-CN" altLang="en-US" dirty="0"/>
              <a:t>类型除了表示字符，还可以看作是一个特殊的整数类型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个字节的整数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char</a:t>
            </a:r>
            <a:r>
              <a:rPr lang="zh-CN" altLang="en-US" dirty="0"/>
              <a:t>的范围</a:t>
            </a:r>
            <a:r>
              <a:rPr lang="en-US" altLang="zh-CN" dirty="0"/>
              <a:t>[-128, 127]</a:t>
            </a:r>
            <a:r>
              <a:rPr lang="zh-CN" altLang="en-US" dirty="0"/>
              <a:t>，</a:t>
            </a:r>
            <a:r>
              <a:rPr lang="en-US" altLang="zh-CN" dirty="0"/>
              <a:t>unsigned char</a:t>
            </a:r>
            <a:r>
              <a:rPr lang="zh-CN" altLang="en-US" dirty="0"/>
              <a:t>的范围</a:t>
            </a:r>
            <a:r>
              <a:rPr lang="en-US" altLang="zh-CN" dirty="0"/>
              <a:t>[0, 255]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9022" y="2439069"/>
            <a:ext cx="2448272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outerShdw blurRad="63500" dist="216273" dir="8385819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altLang="zh-CN" sz="2000" dirty="0">
                <a:latin typeface="Times New Roman" panose="02020503050405090304" pitchFamily="18" charset="0"/>
                <a:ea typeface="宋体" charset="0"/>
                <a:cs typeface="宋体" charset="0"/>
              </a:rPr>
              <a:t>0   0   1   1   0   0   0   1</a:t>
            </a:r>
            <a:endParaRPr kumimoji="1" lang="en-US" altLang="zh-CN" sz="2000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481350" y="2439069"/>
            <a:ext cx="4896544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outerShdw blurRad="63500" dist="216273" dir="8385819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altLang="zh-CN" sz="2000" dirty="0">
                <a:latin typeface="Times New Roman" panose="02020503050405090304" pitchFamily="18" charset="0"/>
                <a:ea typeface="宋体" charset="0"/>
                <a:cs typeface="宋体" charset="0"/>
              </a:rPr>
              <a:t>0   0   0   0   0   0   0   0   0   0   0   0   0   0   0   1</a:t>
            </a:r>
            <a:endParaRPr kumimoji="1" lang="en-US" altLang="zh-CN" sz="2000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</p:txBody>
      </p:sp>
      <p:cxnSp>
        <p:nvCxnSpPr>
          <p:cNvPr id="7" name="直接连接符 6"/>
          <p:cNvCxnSpPr>
            <a:endCxn id="6" idx="2"/>
          </p:cNvCxnSpPr>
          <p:nvPr/>
        </p:nvCxnSpPr>
        <p:spPr>
          <a:xfrm>
            <a:off x="5929622" y="2439069"/>
            <a:ext cx="0" cy="457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0"/>
          <p:cNvSpPr txBox="1"/>
          <p:nvPr/>
        </p:nvSpPr>
        <p:spPr>
          <a:xfrm>
            <a:off x="776686" y="3035929"/>
            <a:ext cx="18405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字符</a:t>
            </a:r>
            <a:r>
              <a:rPr lang="en-US" altLang="zh-CN" sz="1300" dirty="0"/>
              <a:t>'1'</a:t>
            </a:r>
            <a:r>
              <a:rPr lang="zh-CN" altLang="en-US" sz="1300" dirty="0"/>
              <a:t>在内存中的存储</a:t>
            </a:r>
            <a:endParaRPr lang="zh-CN" altLang="en-US" sz="1300" dirty="0"/>
          </a:p>
        </p:txBody>
      </p:sp>
      <p:sp>
        <p:nvSpPr>
          <p:cNvPr id="9" name="TextBox 11"/>
          <p:cNvSpPr txBox="1"/>
          <p:nvPr/>
        </p:nvSpPr>
        <p:spPr>
          <a:xfrm>
            <a:off x="5025158" y="3040285"/>
            <a:ext cx="177003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整数</a:t>
            </a:r>
            <a:r>
              <a:rPr lang="en-US" altLang="zh-CN" sz="1300" dirty="0"/>
              <a:t>1</a:t>
            </a:r>
            <a:r>
              <a:rPr lang="zh-CN" altLang="en-US" sz="1300" dirty="0"/>
              <a:t>在内存中的存储</a:t>
            </a:r>
            <a:endParaRPr lang="zh-CN" alt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2.2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变量与常量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维度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：程序执行过程数据是否变化？</a:t>
            </a:r>
            <a:endParaRPr lang="en-US" altLang="zh-CN" sz="2400" dirty="0"/>
          </a:p>
          <a:p>
            <a:pPr lvl="1"/>
            <a:r>
              <a:rPr lang="zh-CN" altLang="en-US" sz="2000" dirty="0"/>
              <a:t>常量：值直接给定、程序执行期间不能发生变化的量（数据）</a:t>
            </a:r>
            <a:endParaRPr lang="en-US" altLang="zh-CN" sz="2000" dirty="0"/>
          </a:p>
          <a:p>
            <a:pPr lvl="1"/>
            <a:r>
              <a:rPr lang="zh-CN" altLang="en-US" sz="2000" dirty="0"/>
              <a:t>变量：相对于常量而言，其值在程序中可以被赋值而发生变化</a:t>
            </a:r>
            <a:endParaRPr lang="en-US" altLang="zh-CN" sz="2000" dirty="0"/>
          </a:p>
          <a:p>
            <a:pPr lvl="1"/>
            <a:r>
              <a:rPr lang="zh-CN" altLang="en-US" sz="2000" dirty="0"/>
              <a:t>常量和变量均区分不同类型</a:t>
            </a:r>
            <a:endParaRPr lang="en-US" altLang="zh-CN" sz="2000" dirty="0"/>
          </a:p>
          <a:p>
            <a:pPr lvl="1"/>
            <a:endParaRPr lang="zh-CN" altLang="en-US" sz="2000" dirty="0"/>
          </a:p>
          <a:p>
            <a:r>
              <a:rPr lang="zh-CN" altLang="en-US" sz="2400" dirty="0"/>
              <a:t>变量的命名规则</a:t>
            </a:r>
            <a:endParaRPr lang="en-US" altLang="zh-CN" sz="2400" dirty="0"/>
          </a:p>
          <a:p>
            <a:pPr lvl="1"/>
            <a:r>
              <a:rPr lang="zh-CN" altLang="en-US" sz="2000" dirty="0"/>
              <a:t>变量名可以包含字母、数字和</a:t>
            </a:r>
            <a:r>
              <a:rPr lang="en-US" altLang="zh-CN" sz="2000" dirty="0"/>
              <a:t>’_’</a:t>
            </a:r>
            <a:endParaRPr lang="en-US" altLang="zh-CN" sz="2000" dirty="0"/>
          </a:p>
          <a:p>
            <a:pPr lvl="1"/>
            <a:r>
              <a:rPr lang="zh-CN" altLang="en-US" sz="2000" dirty="0"/>
              <a:t>变量名只能以字母或下划线开头</a:t>
            </a:r>
            <a:endParaRPr lang="en-US" altLang="zh-CN" sz="2000" dirty="0"/>
          </a:p>
          <a:p>
            <a:pPr lvl="1"/>
            <a:r>
              <a:rPr lang="en-US" altLang="zh-CN" sz="2000" dirty="0"/>
              <a:t>C</a:t>
            </a:r>
            <a:r>
              <a:rPr lang="zh-CN" altLang="en-US" sz="2000" dirty="0"/>
              <a:t>语言的关键字不能作为变量名</a:t>
            </a:r>
            <a:endParaRPr lang="en-US" altLang="zh-CN" sz="2000" dirty="0"/>
          </a:p>
          <a:p>
            <a:pPr lvl="1"/>
            <a:r>
              <a:rPr lang="zh-CN" altLang="en-US" sz="2000" dirty="0"/>
              <a:t>变量名是大小写敏感的</a:t>
            </a:r>
            <a:endParaRPr lang="en-US" altLang="zh-CN" sz="2000" dirty="0"/>
          </a:p>
          <a:p>
            <a:pPr lvl="1"/>
            <a:r>
              <a:rPr lang="zh-CN" altLang="en-US" sz="2000" dirty="0"/>
              <a:t>变量在一个函数范围内不能重名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/>
              <a:t>小测试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下列变量命名是否正确</a:t>
            </a:r>
            <a:r>
              <a:rPr lang="en-US" altLang="zh-CN" dirty="0"/>
              <a:t>?</a:t>
            </a:r>
            <a:endParaRPr lang="en-US" altLang="zh-CN" dirty="0"/>
          </a:p>
          <a:p>
            <a:pPr lvl="1"/>
            <a:r>
              <a:rPr lang="en-US" altLang="zh-CN" dirty="0"/>
              <a:t>int </a:t>
            </a:r>
            <a:r>
              <a:rPr lang="en-US" altLang="zh-CN" dirty="0" err="1"/>
              <a:t>money$owed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int </a:t>
            </a:r>
            <a:r>
              <a:rPr lang="en-US" altLang="zh-CN" dirty="0" err="1"/>
              <a:t>total_count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en-US" altLang="zh-CN" dirty="0"/>
              <a:t>int score2;</a:t>
            </a:r>
            <a:endParaRPr lang="en-US" altLang="zh-CN" dirty="0"/>
          </a:p>
          <a:p>
            <a:pPr lvl="1"/>
            <a:r>
              <a:rPr lang="en-US" altLang="zh-CN" dirty="0"/>
              <a:t>int 2ndscore;</a:t>
            </a:r>
            <a:endParaRPr lang="en-US" altLang="zh-CN" dirty="0"/>
          </a:p>
          <a:p>
            <a:pPr lvl="1"/>
            <a:r>
              <a:rPr lang="en-US" altLang="zh-CN" dirty="0"/>
              <a:t>int long;</a:t>
            </a:r>
            <a:endParaRPr lang="en-US" altLang="zh-CN" dirty="0"/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x,</a:t>
            </a:r>
            <a:r>
              <a:rPr lang="zh-CN" altLang="en-US" dirty="0"/>
              <a:t> </a:t>
            </a:r>
            <a:r>
              <a:rPr lang="en-US" altLang="zh-CN" dirty="0"/>
              <a:t>X;</a:t>
            </a:r>
            <a:r>
              <a:rPr lang="zh-CN" altLang="en-US" dirty="0"/>
              <a:t> 定义了几个变量？</a:t>
            </a:r>
            <a:endParaRPr lang="en-US" altLang="zh-CN" dirty="0"/>
          </a:p>
          <a:p>
            <a:pPr lvl="1"/>
            <a:endParaRPr lang="en-US" altLang="en-US" dirty="0">
              <a:ea typeface="华文中宋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变量的概念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6628" name="Rectangle 7"/>
          <p:cNvSpPr txBox="1">
            <a:spLocks noChangeArrowheads="1"/>
          </p:cNvSpPr>
          <p:nvPr/>
        </p:nvSpPr>
        <p:spPr bwMode="auto">
          <a:xfrm>
            <a:off x="422275" y="1430013"/>
            <a:ext cx="82581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804030504040204" pitchFamily="34" charset="0"/>
              <a:buChar char="◦"/>
              <a:defRPr sz="28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zh-CN" altLang="en-US" dirty="0"/>
              <a:t>代表内存中具有特定属性的一个存储单元，用于存储数据，也就是</a:t>
            </a:r>
            <a:r>
              <a:rPr lang="zh-CN" altLang="en-US" dirty="0">
                <a:solidFill>
                  <a:srgbClr val="FF0000"/>
                </a:solidFill>
              </a:rPr>
              <a:t>变量的值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570163" y="3284538"/>
            <a:ext cx="5105400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2">
              <a:spcAft>
                <a:spcPct val="30000"/>
              </a:spcAft>
            </a:pPr>
            <a:r>
              <a:rPr kumimoji="1" lang="zh-CN" altLang="en-US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变量</a:t>
            </a:r>
            <a:r>
              <a:rPr kumimoji="1" lang="en-US" altLang="zh-CN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a</a:t>
            </a:r>
            <a:endParaRPr kumimoji="1" lang="en-US" altLang="zh-CN" sz="2800" b="1" dirty="0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lvl="2"/>
            <a:r>
              <a:rPr kumimoji="1" lang="zh-CN" altLang="en-US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         ————变量值</a:t>
            </a:r>
            <a:endParaRPr kumimoji="1" lang="zh-CN" altLang="en-US" sz="2800" b="1" dirty="0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lvl="2"/>
            <a:endParaRPr kumimoji="1" lang="zh-CN" altLang="en-US" sz="2800" b="1" dirty="0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lvl="2"/>
            <a:r>
              <a:rPr kumimoji="1" lang="zh-CN" altLang="en-US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内存单元地址</a:t>
            </a:r>
            <a:r>
              <a:rPr kumimoji="1" lang="en-US" altLang="zh-CN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XXXX</a:t>
            </a:r>
            <a:endParaRPr kumimoji="1" lang="zh-CN" altLang="en-US" sz="2800" b="1" dirty="0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332163" y="3906838"/>
            <a:ext cx="1219200" cy="531812"/>
          </a:xfrm>
          <a:prstGeom prst="rect">
            <a:avLst/>
          </a:prstGeom>
          <a:noFill/>
          <a:ln w="12700" cap="sq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804030504040204" pitchFamily="34" charset="0"/>
              <a:buChar char="◦"/>
              <a:defRPr sz="28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latin typeface="Times New Roman" panose="02020503050405090304" pitchFamily="18" charset="0"/>
                <a:ea typeface="隶书" panose="02010509060101010101" pitchFamily="49" charset="-122"/>
              </a:rPr>
              <a:t>30</a:t>
            </a:r>
            <a:endParaRPr kumimoji="1" lang="zh-CN" altLang="en-US" sz="2800" b="1" dirty="0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60523" y="5763883"/>
            <a:ext cx="84319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4F8927"/>
                </a:solidFill>
              </a:rPr>
              <a:t>建立起变量与变量地址的概念：提到变量就想到有一个地址与之联系</a:t>
            </a:r>
            <a:endParaRPr lang="zh-CN" altLang="en-US" sz="2000" b="1" dirty="0">
              <a:solidFill>
                <a:srgbClr val="4F892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声明（定义）变量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对变量进行定义，提出合适的精度要求，指出变量的数据类型，目的是为变量分配内存单元</a:t>
            </a:r>
            <a:endParaRPr lang="zh-CN" altLang="en-US" dirty="0"/>
          </a:p>
          <a:p>
            <a:pPr lvl="1"/>
            <a:r>
              <a:rPr lang="zh-CN" altLang="en-US" dirty="0"/>
              <a:t>比如：</a:t>
            </a:r>
            <a:r>
              <a:rPr lang="en-US" altLang="zh-CN" dirty="0" err="1"/>
              <a:t>int</a:t>
            </a:r>
            <a:r>
              <a:rPr lang="en-US" altLang="zh-CN" dirty="0"/>
              <a:t> a = 30;</a:t>
            </a:r>
            <a:endParaRPr lang="en-US" altLang="zh-CN" dirty="0"/>
          </a:p>
          <a:p>
            <a:pPr lvl="1"/>
            <a:r>
              <a:rPr lang="zh-CN" altLang="en-US" dirty="0"/>
              <a:t>定义变量名为“</a:t>
            </a:r>
            <a:r>
              <a:rPr lang="en-US" altLang="zh-CN" dirty="0"/>
              <a:t>a”</a:t>
            </a:r>
            <a:r>
              <a:rPr lang="zh-CN" altLang="en-US" dirty="0"/>
              <a:t>的整型变量，并同时赋初值</a:t>
            </a:r>
            <a:endParaRPr lang="zh-CN" altLang="en-US" dirty="0"/>
          </a:p>
          <a:p>
            <a:pPr lvl="1"/>
            <a:r>
              <a:rPr lang="zh-CN" altLang="en-US" dirty="0"/>
              <a:t>系统会根据这个精度的要求，安排</a:t>
            </a:r>
            <a:r>
              <a:rPr lang="en-US" altLang="zh-CN" dirty="0"/>
              <a:t>4</a:t>
            </a:r>
            <a:r>
              <a:rPr lang="zh-CN" altLang="en-US" dirty="0"/>
              <a:t>个字节的内存单元存放 “</a:t>
            </a:r>
            <a:r>
              <a:rPr lang="en-US" altLang="zh-CN" dirty="0"/>
              <a:t>a” </a:t>
            </a:r>
            <a:r>
              <a:rPr lang="zh-CN" altLang="en-US" dirty="0"/>
              <a:t>变量的整数值。变量名“ </a:t>
            </a:r>
            <a:r>
              <a:rPr lang="en-US" altLang="zh-CN" dirty="0"/>
              <a:t>a” </a:t>
            </a:r>
            <a:r>
              <a:rPr lang="zh-CN" altLang="en-US" dirty="0"/>
              <a:t>是这个内存单元的符号地址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变量赋值</a:t>
            </a:r>
            <a:endParaRPr lang="zh-CN" altLang="en-US" dirty="0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c/</a:t>
            </a:r>
            <a:r>
              <a:rPr lang="en-US" altLang="zh-CN" dirty="0" err="1"/>
              <a:t>c++</a:t>
            </a:r>
            <a:r>
              <a:rPr lang="zh-CN" altLang="en-US" dirty="0"/>
              <a:t>中的赋值符号：</a:t>
            </a:r>
            <a:r>
              <a:rPr lang="en-US" altLang="zh-CN" dirty="0">
                <a:solidFill>
                  <a:srgbClr val="4F8927"/>
                </a:solidFill>
              </a:rPr>
              <a:t>=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/>
              <a:t>赋值表达式的格式</a:t>
            </a:r>
            <a:endParaRPr lang="zh-CN" altLang="en-US" dirty="0"/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  <a:ea typeface="黑体" panose="02010609060101010101" pitchFamily="49" charset="-122"/>
              </a:rPr>
              <a:t>		</a:t>
            </a:r>
            <a:r>
              <a:rPr lang="en-US" altLang="zh-CN" dirty="0">
                <a:solidFill>
                  <a:srgbClr val="4F8927"/>
                </a:solidFill>
                <a:ea typeface="黑体" panose="02010609060101010101" pitchFamily="49" charset="-122"/>
              </a:rPr>
              <a:t>&lt;</a:t>
            </a:r>
            <a:r>
              <a:rPr lang="zh-CN" altLang="en-US" dirty="0">
                <a:solidFill>
                  <a:srgbClr val="4F8927"/>
                </a:solidFill>
                <a:ea typeface="黑体" panose="02010609060101010101" pitchFamily="49" charset="-122"/>
              </a:rPr>
              <a:t>变量</a:t>
            </a:r>
            <a:r>
              <a:rPr lang="en-US" altLang="zh-CN" dirty="0">
                <a:solidFill>
                  <a:srgbClr val="4F8927"/>
                </a:solidFill>
                <a:ea typeface="黑体" panose="02010609060101010101" pitchFamily="49" charset="-122"/>
              </a:rPr>
              <a:t>&gt; = &lt;</a:t>
            </a:r>
            <a:r>
              <a:rPr lang="zh-CN" altLang="en-US" dirty="0">
                <a:solidFill>
                  <a:srgbClr val="4F8927"/>
                </a:solidFill>
                <a:ea typeface="黑体" panose="02010609060101010101" pitchFamily="49" charset="-122"/>
              </a:rPr>
              <a:t>表达式</a:t>
            </a:r>
            <a:r>
              <a:rPr lang="en-US" altLang="zh-CN" dirty="0">
                <a:solidFill>
                  <a:srgbClr val="4F8927"/>
                </a:solidFill>
                <a:ea typeface="黑体" panose="02010609060101010101" pitchFamily="49" charset="-122"/>
              </a:rPr>
              <a:t>&gt;</a:t>
            </a:r>
            <a:endParaRPr lang="en-US" altLang="zh-CN" dirty="0">
              <a:solidFill>
                <a:srgbClr val="4F8927"/>
              </a:solidFill>
              <a:ea typeface="黑体" panose="02010609060101010101" pitchFamily="49" charset="-122"/>
            </a:endParaRPr>
          </a:p>
          <a:p>
            <a:r>
              <a:rPr lang="zh-CN" altLang="en-US" dirty="0"/>
              <a:t>举例</a:t>
            </a:r>
            <a:endParaRPr lang="zh-CN" altLang="en-US" dirty="0"/>
          </a:p>
          <a:p>
            <a:pPr lvl="1">
              <a:buFontTx/>
              <a:buNone/>
            </a:pPr>
            <a:r>
              <a:rPr lang="en-US" altLang="zh-CN" dirty="0"/>
              <a:t>	</a:t>
            </a:r>
            <a:r>
              <a:rPr lang="en-US" altLang="zh-CN" b="1" dirty="0"/>
              <a:t>PI=3.14159; 	// 3.14159</a:t>
            </a:r>
            <a:r>
              <a:rPr lang="zh-CN" altLang="en-US" b="1" dirty="0"/>
              <a:t>赋给变量</a:t>
            </a:r>
            <a:r>
              <a:rPr lang="en-US" altLang="zh-CN" b="1" dirty="0"/>
              <a:t>PI</a:t>
            </a:r>
            <a:endParaRPr lang="en-US" altLang="zh-CN" b="1" dirty="0"/>
          </a:p>
          <a:p>
            <a:pPr lvl="1">
              <a:buFontTx/>
              <a:buNone/>
            </a:pPr>
            <a:r>
              <a:rPr lang="en-US" altLang="zh-CN" b="1" dirty="0"/>
              <a:t>	C=sin(PI/4);  	// </a:t>
            </a:r>
            <a:r>
              <a:rPr lang="zh-CN" altLang="en-US" b="1" dirty="0"/>
              <a:t>正弦函数值赋给变量</a:t>
            </a:r>
            <a:r>
              <a:rPr lang="en-US" altLang="zh-CN" b="1" dirty="0"/>
              <a:t>C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变量必须先定义再使用</a:t>
            </a:r>
            <a:endParaRPr lang="en-US" altLang="zh-CN" dirty="0"/>
          </a:p>
          <a:p>
            <a:r>
              <a:rPr lang="zh-CN" altLang="en-US" dirty="0"/>
              <a:t>在变量定义时就要赋初值</a:t>
            </a:r>
            <a:r>
              <a:rPr lang="en-US" altLang="zh-CN" dirty="0"/>
              <a:t>——</a:t>
            </a:r>
            <a:r>
              <a:rPr lang="zh-CN" altLang="en-US" dirty="0"/>
              <a:t>变量的初始</a:t>
            </a:r>
            <a:endParaRPr lang="en-US" altLang="zh-CN" dirty="0"/>
          </a:p>
          <a:p>
            <a:pPr lvl="1"/>
            <a:r>
              <a:rPr lang="zh-CN" altLang="en-US" dirty="0"/>
              <a:t>变量初始化是好的编程习惯</a:t>
            </a:r>
            <a:endParaRPr lang="zh-CN" altLang="en-US" dirty="0"/>
          </a:p>
          <a:p>
            <a:r>
              <a:rPr lang="zh-CN" altLang="en-US" dirty="0"/>
              <a:t>对变量的赋值过程是“覆盖”过程</a:t>
            </a:r>
            <a:endParaRPr lang="en-US" altLang="zh-CN" dirty="0"/>
          </a:p>
          <a:p>
            <a:pPr lvl="1"/>
            <a:r>
              <a:rPr lang="zh-CN" altLang="en-US" dirty="0"/>
              <a:t>“覆盖”是在变量地址单元中用新值去替换旧值</a:t>
            </a:r>
            <a:endParaRPr lang="zh-CN" altLang="en-US" dirty="0"/>
          </a:p>
          <a:p>
            <a:r>
              <a:rPr lang="zh-CN" altLang="en-US" dirty="0"/>
              <a:t>读取变量的值，该变量保持不变，相当于拷贝一份出来</a:t>
            </a:r>
            <a:endParaRPr lang="zh-CN" altLang="en-US" dirty="0"/>
          </a:p>
          <a:p>
            <a:r>
              <a:rPr lang="zh-CN" altLang="en-US" dirty="0"/>
              <a:t>参与运算的所有变量都保持原来的值不变。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变量赋值的特点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ChangeArrowheads="1"/>
          </p:cNvSpPr>
          <p:nvPr/>
        </p:nvSpPr>
        <p:spPr bwMode="auto">
          <a:xfrm>
            <a:off x="781551" y="1137193"/>
            <a:ext cx="7580898" cy="4224839"/>
          </a:xfrm>
          <a:prstGeom prst="rect">
            <a:avLst/>
          </a:prstGeom>
          <a:noFill/>
          <a:ln w="12700" cap="sq">
            <a:solidFill>
              <a:srgbClr val="0070C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3pPr>
            <a:lvl4pPr marL="1752600" indent="-3810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4pPr>
            <a:lvl5pPr marL="2209800" indent="-3810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/>
                <a:ea typeface="黑体" panose="02010609060101010101" pitchFamily="49" charset="-122"/>
              </a:rPr>
              <a:t>int a=0, b=0, c=0;	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声明</a:t>
            </a:r>
            <a:r>
              <a:rPr lang="en-US" altLang="zh-CN" sz="2400" b="0" dirty="0" err="1">
                <a:effectLst/>
                <a:ea typeface="黑体" panose="02010609060101010101" pitchFamily="49" charset="-122"/>
              </a:rPr>
              <a:t>a,b,c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为整型变量</a:t>
            </a:r>
            <a:br>
              <a:rPr lang="zh-CN" altLang="en-US" sz="2400" b="0" dirty="0">
                <a:effectLst/>
                <a:ea typeface="黑体" panose="02010609060101010101" pitchFamily="49" charset="-122"/>
              </a:rPr>
            </a:br>
            <a:r>
              <a:rPr lang="zh-CN" altLang="en-US" sz="2400" b="0" dirty="0">
                <a:effectLst/>
                <a:ea typeface="黑体" panose="02010609060101010101" pitchFamily="49" charset="-122"/>
              </a:rPr>
              <a:t>				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均初始化为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0</a:t>
            </a:r>
            <a:endParaRPr lang="en-US" altLang="zh-CN" sz="2400" b="0" dirty="0">
              <a:effectLst/>
              <a:ea typeface="黑体" panose="02010609060101010101" pitchFamily="49" charset="-122"/>
            </a:endParaRPr>
          </a:p>
          <a:p>
            <a:pPr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/>
                <a:ea typeface="黑体" panose="02010609060101010101" pitchFamily="49" charset="-122"/>
              </a:rPr>
              <a:t>a=7;		// 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赋值为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7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，覆盖了原来的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0</a:t>
            </a:r>
            <a:endParaRPr lang="en-US" altLang="zh-CN" sz="2400" b="0" dirty="0">
              <a:effectLst/>
              <a:ea typeface="黑体" panose="02010609060101010101" pitchFamily="49" charset="-122"/>
            </a:endParaRPr>
          </a:p>
          <a:p>
            <a:pPr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/>
                <a:ea typeface="黑体" panose="02010609060101010101" pitchFamily="49" charset="-122"/>
              </a:rPr>
              <a:t>b=a;		// b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赋值为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中的值覆盖了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b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中的值</a:t>
            </a:r>
            <a:br>
              <a:rPr lang="zh-CN" altLang="en-US" sz="2400" b="0" dirty="0">
                <a:effectLst/>
                <a:ea typeface="黑体" panose="02010609060101010101" pitchFamily="49" charset="-122"/>
              </a:rPr>
            </a:br>
            <a:r>
              <a:rPr lang="zh-CN" altLang="en-US" sz="2400" b="0" dirty="0">
                <a:effectLst/>
                <a:ea typeface="黑体" panose="02010609060101010101" pitchFamily="49" charset="-122"/>
              </a:rPr>
              <a:t>		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但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中的值不变</a:t>
            </a:r>
            <a:endParaRPr lang="zh-CN" altLang="en-US" sz="2400" b="0" dirty="0">
              <a:effectLst/>
              <a:ea typeface="黑体" panose="02010609060101010101" pitchFamily="49" charset="-122"/>
            </a:endParaRPr>
          </a:p>
          <a:p>
            <a:pPr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/>
                <a:ea typeface="黑体" panose="02010609060101010101" pitchFamily="49" charset="-122"/>
              </a:rPr>
              <a:t>c=</a:t>
            </a:r>
            <a:r>
              <a:rPr lang="en-US" altLang="zh-CN" sz="2400" b="0" dirty="0" err="1">
                <a:effectLst/>
                <a:ea typeface="黑体" panose="02010609060101010101" pitchFamily="49" charset="-122"/>
              </a:rPr>
              <a:t>a+b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;	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将</a:t>
            </a:r>
            <a:r>
              <a:rPr lang="en-US" altLang="zh-CN" sz="2400" b="0" dirty="0" err="1">
                <a:effectLst/>
                <a:ea typeface="黑体" panose="02010609060101010101" pitchFamily="49" charset="-122"/>
              </a:rPr>
              <a:t>a+b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的值赋给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c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，</a:t>
            </a:r>
            <a:r>
              <a:rPr lang="en-US" altLang="zh-CN" sz="2400" b="0" dirty="0" err="1">
                <a:effectLst/>
                <a:ea typeface="黑体" panose="02010609060101010101" pitchFamily="49" charset="-122"/>
              </a:rPr>
              <a:t>a+b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的值为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14</a:t>
            </a:r>
            <a:br>
              <a:rPr lang="en-US" altLang="zh-CN" sz="2400" b="0" dirty="0">
                <a:effectLst/>
                <a:ea typeface="黑体" panose="02010609060101010101" pitchFamily="49" charset="-122"/>
              </a:rPr>
            </a:br>
            <a:r>
              <a:rPr lang="en-US" altLang="zh-CN" sz="2400" b="0" dirty="0">
                <a:effectLst/>
                <a:ea typeface="黑体" panose="02010609060101010101" pitchFamily="49" charset="-122"/>
              </a:rPr>
              <a:t>		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去覆盖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c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中的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0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与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b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保持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7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不变</a:t>
            </a:r>
            <a:endParaRPr lang="zh-CN" altLang="en-US" sz="2400" b="0" dirty="0">
              <a:effectLst/>
              <a:ea typeface="黑体" panose="02010609060101010101" pitchFamily="49" charset="-122"/>
            </a:endParaRPr>
          </a:p>
          <a:p>
            <a:pPr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/>
                <a:ea typeface="黑体" panose="02010609060101010101" pitchFamily="49" charset="-122"/>
              </a:rPr>
              <a:t>a=a+1;	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将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a+1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的值赋给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a+1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的值为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8</a:t>
            </a:r>
            <a:br>
              <a:rPr lang="en-US" altLang="zh-CN" sz="2400" b="0" dirty="0">
                <a:effectLst/>
                <a:ea typeface="黑体" panose="02010609060101010101" pitchFamily="49" charset="-122"/>
              </a:rPr>
            </a:br>
            <a:r>
              <a:rPr lang="en-US" altLang="zh-CN" sz="2400" b="0" dirty="0">
                <a:effectLst/>
                <a:ea typeface="黑体" panose="02010609060101010101" pitchFamily="49" charset="-122"/>
              </a:rPr>
              <a:t>		// </a:t>
            </a:r>
            <a:r>
              <a:rPr lang="zh-CN" altLang="en-US" sz="2400" b="0" dirty="0">
                <a:effectLst/>
                <a:ea typeface="黑体" panose="02010609060101010101" pitchFamily="49" charset="-122"/>
              </a:rPr>
              <a:t>覆盖了原来的</a:t>
            </a:r>
            <a:r>
              <a:rPr lang="en-US" altLang="zh-CN" sz="2400" b="0" dirty="0">
                <a:effectLst/>
                <a:ea typeface="黑体" panose="02010609060101010101" pitchFamily="49" charset="-122"/>
              </a:rPr>
              <a:t>7</a:t>
            </a:r>
            <a:endParaRPr lang="en-US" altLang="zh-CN" sz="2400" b="0" dirty="0">
              <a:effectLst/>
              <a:ea typeface="黑体" panose="02010609060101010101" pitchFamily="49" charset="-122"/>
            </a:endParaRPr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323850" y="-26988"/>
            <a:ext cx="3887788" cy="977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r>
              <a:rPr lang="zh-CN" altLang="en-US" sz="3600" b="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举例说明上述特点</a:t>
            </a:r>
            <a:endParaRPr lang="zh-CN" altLang="en-US" sz="3600" b="0" dirty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1239253" y="5548313"/>
            <a:ext cx="5510464" cy="49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3pPr>
            <a:lvl4pPr marL="1752600" indent="-3810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4pPr>
            <a:lvl5pPr marL="2209800" indent="-3810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  <a:buClr>
                <a:schemeClr val="folHlink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en-US" sz="2000" b="0" dirty="0">
                <a:effectLst/>
                <a:latin typeface="+mn-ea"/>
                <a:ea typeface="+mn-ea"/>
              </a:rPr>
              <a:t>说明：</a:t>
            </a:r>
            <a:r>
              <a:rPr lang="en-US" altLang="zh-CN" sz="2000" b="0" dirty="0">
                <a:effectLst/>
                <a:latin typeface="+mn-ea"/>
                <a:ea typeface="+mn-ea"/>
              </a:rPr>
              <a:t>a=a+1;</a:t>
            </a:r>
            <a:r>
              <a:rPr lang="zh-CN" altLang="en-US" sz="2000" b="0" dirty="0">
                <a:effectLst/>
                <a:latin typeface="+mn-ea"/>
                <a:ea typeface="+mn-ea"/>
              </a:rPr>
              <a:t>可简化写作</a:t>
            </a:r>
            <a:r>
              <a:rPr lang="en-US" altLang="zh-CN" sz="2000" b="0" dirty="0">
                <a:effectLst/>
                <a:latin typeface="+mn-ea"/>
                <a:ea typeface="+mn-ea"/>
              </a:rPr>
              <a:t>a++;</a:t>
            </a:r>
            <a:endParaRPr lang="en-US" altLang="zh-CN" sz="2000" b="0" dirty="0"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Text Box 2"/>
          <p:cNvSpPr txBox="1">
            <a:spLocks noChangeArrowheads="1"/>
          </p:cNvSpPr>
          <p:nvPr/>
        </p:nvSpPr>
        <p:spPr bwMode="auto">
          <a:xfrm>
            <a:off x="647700" y="1557338"/>
            <a:ext cx="22288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定义并初始化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291" name="Group 3"/>
          <p:cNvGrpSpPr/>
          <p:nvPr/>
        </p:nvGrpSpPr>
        <p:grpSpPr bwMode="auto">
          <a:xfrm>
            <a:off x="3162300" y="1587502"/>
            <a:ext cx="4991100" cy="538163"/>
            <a:chOff x="1992" y="912"/>
            <a:chExt cx="3144" cy="339"/>
          </a:xfrm>
        </p:grpSpPr>
        <p:sp>
          <p:nvSpPr>
            <p:cNvPr id="268292" name="Text Box 4"/>
            <p:cNvSpPr txBox="1">
              <a:spLocks noChangeArrowheads="1"/>
            </p:cNvSpPr>
            <p:nvPr/>
          </p:nvSpPr>
          <p:spPr bwMode="auto">
            <a:xfrm>
              <a:off x="1992" y="912"/>
              <a:ext cx="408" cy="33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 </a:t>
              </a:r>
              <a:r>
                <a:rPr lang="zh-CN" altLang="en-US" sz="2600" b="1">
                  <a:solidFill>
                    <a:srgbClr val="FF66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68293" name="Text Box 5"/>
            <p:cNvSpPr txBox="1">
              <a:spLocks noChangeArrowheads="1"/>
            </p:cNvSpPr>
            <p:nvPr/>
          </p:nvSpPr>
          <p:spPr bwMode="auto">
            <a:xfrm>
              <a:off x="3408" y="912"/>
              <a:ext cx="408" cy="339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66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68294" name="Text Box 6"/>
            <p:cNvSpPr txBox="1">
              <a:spLocks noChangeArrowheads="1"/>
            </p:cNvSpPr>
            <p:nvPr/>
          </p:nvSpPr>
          <p:spPr bwMode="auto">
            <a:xfrm>
              <a:off x="4728" y="912"/>
              <a:ext cx="408" cy="339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66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268295" name="Rectangle 7"/>
          <p:cNvSpPr>
            <a:spLocks noChangeArrowheads="1"/>
          </p:cNvSpPr>
          <p:nvPr/>
        </p:nvSpPr>
        <p:spPr bwMode="auto">
          <a:xfrm>
            <a:off x="0" y="295275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8296" name="Text Box 8"/>
          <p:cNvSpPr txBox="1">
            <a:spLocks noChangeArrowheads="1"/>
          </p:cNvSpPr>
          <p:nvPr/>
        </p:nvSpPr>
        <p:spPr bwMode="auto">
          <a:xfrm>
            <a:off x="228600" y="363540"/>
            <a:ext cx="2743200" cy="57943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2"/>
                </a:solidFill>
                <a:latin typeface="Times New Roman" panose="02020503050405090304" pitchFamily="18" charset="0"/>
                <a:ea typeface="隶书" panose="02010509060101010101" pitchFamily="49" charset="-122"/>
              </a:rPr>
              <a:t>变量赋值过程</a:t>
            </a:r>
            <a:endParaRPr kumimoji="1" lang="zh-CN" altLang="en-US" sz="3200" b="1">
              <a:solidFill>
                <a:schemeClr val="tx2"/>
              </a:solidFill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297" name="Text Box 9"/>
          <p:cNvSpPr txBox="1">
            <a:spLocks noChangeArrowheads="1"/>
          </p:cNvSpPr>
          <p:nvPr/>
        </p:nvSpPr>
        <p:spPr bwMode="auto">
          <a:xfrm>
            <a:off x="990600" y="3397252"/>
            <a:ext cx="17526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执行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algn="ctr"/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b=a</a:t>
            </a:r>
            <a:endParaRPr kumimoji="1" lang="en-US" altLang="zh-CN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298" name="Text Box 10"/>
          <p:cNvSpPr txBox="1">
            <a:spLocks noChangeArrowheads="1"/>
          </p:cNvSpPr>
          <p:nvPr/>
        </p:nvSpPr>
        <p:spPr bwMode="auto">
          <a:xfrm>
            <a:off x="5400675" y="3549652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0</a:t>
            </a:r>
            <a:endParaRPr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299" name="Text Box 11"/>
          <p:cNvSpPr txBox="1">
            <a:spLocks noChangeArrowheads="1"/>
          </p:cNvSpPr>
          <p:nvPr/>
        </p:nvSpPr>
        <p:spPr bwMode="auto">
          <a:xfrm>
            <a:off x="990600" y="4403727"/>
            <a:ext cx="17526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执行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algn="ctr"/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c=a+b</a:t>
            </a:r>
            <a:endParaRPr kumimoji="1" lang="en-US" altLang="zh-CN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300" name="Group 12"/>
          <p:cNvGrpSpPr/>
          <p:nvPr/>
        </p:nvGrpSpPr>
        <p:grpSpPr bwMode="auto">
          <a:xfrm>
            <a:off x="3176588" y="4494213"/>
            <a:ext cx="2857500" cy="512762"/>
            <a:chOff x="1992" y="2958"/>
            <a:chExt cx="1800" cy="323"/>
          </a:xfrm>
        </p:grpSpPr>
        <p:sp>
          <p:nvSpPr>
            <p:cNvPr id="268301" name="Text Box 13"/>
            <p:cNvSpPr txBox="1">
              <a:spLocks noChangeArrowheads="1"/>
            </p:cNvSpPr>
            <p:nvPr/>
          </p:nvSpPr>
          <p:spPr bwMode="auto">
            <a:xfrm>
              <a:off x="1992" y="2958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7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68302" name="Text Box 14"/>
            <p:cNvSpPr txBox="1">
              <a:spLocks noChangeArrowheads="1"/>
            </p:cNvSpPr>
            <p:nvPr/>
          </p:nvSpPr>
          <p:spPr bwMode="auto">
            <a:xfrm>
              <a:off x="3384" y="296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7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</p:grpSp>
      <p:sp>
        <p:nvSpPr>
          <p:cNvPr id="268303" name="Text Box 15"/>
          <p:cNvSpPr txBox="1">
            <a:spLocks noChangeArrowheads="1"/>
          </p:cNvSpPr>
          <p:nvPr/>
        </p:nvSpPr>
        <p:spPr bwMode="auto">
          <a:xfrm>
            <a:off x="7505700" y="4502152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0</a:t>
            </a:r>
            <a:endParaRPr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304" name="Group 16"/>
          <p:cNvGrpSpPr/>
          <p:nvPr/>
        </p:nvGrpSpPr>
        <p:grpSpPr bwMode="auto">
          <a:xfrm>
            <a:off x="3810000" y="3868738"/>
            <a:ext cx="3695700" cy="819150"/>
            <a:chOff x="2400" y="2564"/>
            <a:chExt cx="2328" cy="516"/>
          </a:xfrm>
        </p:grpSpPr>
        <p:sp>
          <p:nvSpPr>
            <p:cNvPr id="268305" name="Line 17"/>
            <p:cNvSpPr>
              <a:spLocks noChangeShapeType="1"/>
            </p:cNvSpPr>
            <p:nvPr/>
          </p:nvSpPr>
          <p:spPr bwMode="auto">
            <a:xfrm>
              <a:off x="3792" y="2564"/>
              <a:ext cx="453" cy="212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6" name="Line 18"/>
            <p:cNvSpPr>
              <a:spLocks noChangeShapeType="1"/>
            </p:cNvSpPr>
            <p:nvPr/>
          </p:nvSpPr>
          <p:spPr bwMode="auto">
            <a:xfrm>
              <a:off x="4338" y="2910"/>
              <a:ext cx="390" cy="17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68307" name="AutoShape 19"/>
            <p:cNvCxnSpPr>
              <a:cxnSpLocks noChangeShapeType="1"/>
              <a:endCxn id="268308" idx="2"/>
            </p:cNvCxnSpPr>
            <p:nvPr/>
          </p:nvCxnSpPr>
          <p:spPr bwMode="auto">
            <a:xfrm>
              <a:off x="2400" y="2572"/>
              <a:ext cx="1786" cy="271"/>
            </a:xfrm>
            <a:prstGeom prst="curvedConnector3">
              <a:avLst>
                <a:gd name="adj1" fmla="val 50222"/>
              </a:avLst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8308" name="AutoShape 20"/>
            <p:cNvSpPr>
              <a:spLocks noChangeArrowheads="1"/>
            </p:cNvSpPr>
            <p:nvPr/>
          </p:nvSpPr>
          <p:spPr bwMode="auto">
            <a:xfrm>
              <a:off x="4194" y="2776"/>
              <a:ext cx="144" cy="134"/>
            </a:xfrm>
            <a:prstGeom prst="flowChartOr">
              <a:avLst/>
            </a:prstGeom>
            <a:noFill/>
            <a:ln w="25400" cap="sq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8309" name="Text Box 21"/>
          <p:cNvSpPr txBox="1">
            <a:spLocks noChangeArrowheads="1"/>
          </p:cNvSpPr>
          <p:nvPr/>
        </p:nvSpPr>
        <p:spPr bwMode="auto">
          <a:xfrm>
            <a:off x="990600" y="2351090"/>
            <a:ext cx="17526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执行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algn="ctr"/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a=7</a:t>
            </a:r>
            <a:endParaRPr kumimoji="1" lang="en-US" altLang="zh-CN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310" name="Text Box 22"/>
          <p:cNvSpPr txBox="1">
            <a:spLocks noChangeArrowheads="1"/>
          </p:cNvSpPr>
          <p:nvPr/>
        </p:nvSpPr>
        <p:spPr bwMode="auto">
          <a:xfrm>
            <a:off x="990600" y="5445127"/>
            <a:ext cx="17526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执行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 algn="ctr"/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a=a+1</a:t>
            </a:r>
            <a:endParaRPr kumimoji="1" lang="en-US" altLang="zh-CN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311" name="Group 23"/>
          <p:cNvGrpSpPr/>
          <p:nvPr/>
        </p:nvGrpSpPr>
        <p:grpSpPr bwMode="auto">
          <a:xfrm>
            <a:off x="5372100" y="5683252"/>
            <a:ext cx="2781300" cy="504825"/>
            <a:chOff x="3384" y="3707"/>
            <a:chExt cx="1752" cy="318"/>
          </a:xfrm>
        </p:grpSpPr>
        <p:sp>
          <p:nvSpPr>
            <p:cNvPr id="268312" name="Text Box 24"/>
            <p:cNvSpPr txBox="1">
              <a:spLocks noChangeArrowheads="1"/>
            </p:cNvSpPr>
            <p:nvPr/>
          </p:nvSpPr>
          <p:spPr bwMode="auto">
            <a:xfrm>
              <a:off x="3384" y="3707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7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68313" name="Text Box 25"/>
            <p:cNvSpPr txBox="1">
              <a:spLocks noChangeArrowheads="1"/>
            </p:cNvSpPr>
            <p:nvPr/>
          </p:nvSpPr>
          <p:spPr bwMode="auto">
            <a:xfrm>
              <a:off x="4728" y="3707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14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</p:grpSp>
      <p:sp>
        <p:nvSpPr>
          <p:cNvPr id="268314" name="Text Box 26"/>
          <p:cNvSpPr txBox="1">
            <a:spLocks noChangeArrowheads="1"/>
          </p:cNvSpPr>
          <p:nvPr/>
        </p:nvSpPr>
        <p:spPr bwMode="auto">
          <a:xfrm>
            <a:off x="3190875" y="5683252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rPr>
              <a:t>8</a:t>
            </a:r>
            <a:endParaRPr lang="zh-CN" altLang="en-US" sz="2600" b="1">
              <a:solidFill>
                <a:srgbClr val="FF66FF"/>
              </a:solidFill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315" name="Group 27"/>
          <p:cNvGrpSpPr/>
          <p:nvPr/>
        </p:nvGrpSpPr>
        <p:grpSpPr bwMode="auto">
          <a:xfrm>
            <a:off x="3838575" y="4652965"/>
            <a:ext cx="1282700" cy="1271587"/>
            <a:chOff x="2232" y="3078"/>
            <a:chExt cx="808" cy="801"/>
          </a:xfrm>
        </p:grpSpPr>
        <p:sp>
          <p:nvSpPr>
            <p:cNvPr id="268316" name="Line 28"/>
            <p:cNvSpPr>
              <a:spLocks noChangeShapeType="1"/>
            </p:cNvSpPr>
            <p:nvPr/>
          </p:nvSpPr>
          <p:spPr bwMode="auto">
            <a:xfrm>
              <a:off x="2586" y="3471"/>
              <a:ext cx="192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7" name="AutoShape 29"/>
            <p:cNvSpPr>
              <a:spLocks noChangeArrowheads="1"/>
            </p:cNvSpPr>
            <p:nvPr/>
          </p:nvSpPr>
          <p:spPr bwMode="auto">
            <a:xfrm>
              <a:off x="2450" y="3426"/>
              <a:ext cx="144" cy="134"/>
            </a:xfrm>
            <a:prstGeom prst="flowChartOr">
              <a:avLst/>
            </a:prstGeom>
            <a:noFill/>
            <a:ln w="25400" cap="sq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318" name="Line 30"/>
            <p:cNvSpPr>
              <a:spLocks noChangeShapeType="1"/>
            </p:cNvSpPr>
            <p:nvPr/>
          </p:nvSpPr>
          <p:spPr bwMode="auto">
            <a:xfrm>
              <a:off x="2232" y="3078"/>
              <a:ext cx="255" cy="393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9" name="Line 31"/>
            <p:cNvSpPr>
              <a:spLocks noChangeShapeType="1"/>
            </p:cNvSpPr>
            <p:nvPr/>
          </p:nvSpPr>
          <p:spPr bwMode="auto">
            <a:xfrm flipH="1">
              <a:off x="2232" y="3512"/>
              <a:ext cx="246" cy="367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0" name="Text Box 32"/>
            <p:cNvSpPr txBox="1">
              <a:spLocks noChangeArrowheads="1"/>
            </p:cNvSpPr>
            <p:nvPr/>
          </p:nvSpPr>
          <p:spPr bwMode="auto">
            <a:xfrm>
              <a:off x="2632" y="3290"/>
              <a:ext cx="40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/>
              <a:r>
                <a:rPr lang="zh-CN" altLang="en-US" sz="2400">
                  <a:latin typeface="Times New Roman" panose="02020503050405090304" pitchFamily="18" charset="0"/>
                </a:rPr>
                <a:t>1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</p:grpSp>
      <p:grpSp>
        <p:nvGrpSpPr>
          <p:cNvPr id="268325" name="Group 37"/>
          <p:cNvGrpSpPr/>
          <p:nvPr/>
        </p:nvGrpSpPr>
        <p:grpSpPr bwMode="auto">
          <a:xfrm>
            <a:off x="3838575" y="2782890"/>
            <a:ext cx="2209800" cy="1271587"/>
            <a:chOff x="2400" y="1880"/>
            <a:chExt cx="1392" cy="801"/>
          </a:xfrm>
        </p:grpSpPr>
        <p:sp>
          <p:nvSpPr>
            <p:cNvPr id="268326" name="Line 38"/>
            <p:cNvSpPr>
              <a:spLocks noChangeShapeType="1"/>
            </p:cNvSpPr>
            <p:nvPr/>
          </p:nvSpPr>
          <p:spPr bwMode="auto">
            <a:xfrm>
              <a:off x="2400" y="1880"/>
              <a:ext cx="984" cy="572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7" name="Text Box 39"/>
            <p:cNvSpPr txBox="1">
              <a:spLocks noChangeArrowheads="1"/>
            </p:cNvSpPr>
            <p:nvPr/>
          </p:nvSpPr>
          <p:spPr bwMode="auto">
            <a:xfrm>
              <a:off x="3384" y="236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66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7</a:t>
              </a:r>
              <a:endPara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268328" name="Group 40"/>
          <p:cNvGrpSpPr/>
          <p:nvPr/>
        </p:nvGrpSpPr>
        <p:grpSpPr bwMode="auto">
          <a:xfrm>
            <a:off x="5410200" y="2597152"/>
            <a:ext cx="2781300" cy="504825"/>
            <a:chOff x="3384" y="1763"/>
            <a:chExt cx="1752" cy="318"/>
          </a:xfrm>
        </p:grpSpPr>
        <p:sp>
          <p:nvSpPr>
            <p:cNvPr id="268329" name="Text Box 41"/>
            <p:cNvSpPr txBox="1">
              <a:spLocks noChangeArrowheads="1"/>
            </p:cNvSpPr>
            <p:nvPr/>
          </p:nvSpPr>
          <p:spPr bwMode="auto">
            <a:xfrm>
              <a:off x="3384" y="176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68330" name="Text Box 42"/>
            <p:cNvSpPr txBox="1">
              <a:spLocks noChangeArrowheads="1"/>
            </p:cNvSpPr>
            <p:nvPr/>
          </p:nvSpPr>
          <p:spPr bwMode="auto">
            <a:xfrm>
              <a:off x="4728" y="176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</p:grpSp>
      <p:sp>
        <p:nvSpPr>
          <p:cNvPr id="268331" name="Text Box 43"/>
          <p:cNvSpPr txBox="1">
            <a:spLocks noChangeArrowheads="1"/>
          </p:cNvSpPr>
          <p:nvPr/>
        </p:nvSpPr>
        <p:spPr bwMode="auto">
          <a:xfrm>
            <a:off x="3162300" y="2554290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0</a:t>
            </a:r>
            <a:endParaRPr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332" name="Text Box 44"/>
          <p:cNvSpPr txBox="1">
            <a:spLocks noChangeArrowheads="1"/>
          </p:cNvSpPr>
          <p:nvPr/>
        </p:nvSpPr>
        <p:spPr bwMode="auto">
          <a:xfrm>
            <a:off x="3162300" y="2554290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rPr>
              <a:t>7</a:t>
            </a:r>
            <a:endParaRPr lang="zh-CN" altLang="en-US" sz="2600" b="1">
              <a:solidFill>
                <a:srgbClr val="FF66FF"/>
              </a:solidFill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68333" name="Group 45"/>
          <p:cNvGrpSpPr/>
          <p:nvPr/>
        </p:nvGrpSpPr>
        <p:grpSpPr bwMode="auto">
          <a:xfrm>
            <a:off x="3162300" y="3532188"/>
            <a:ext cx="4991100" cy="520700"/>
            <a:chOff x="1992" y="2353"/>
            <a:chExt cx="3144" cy="328"/>
          </a:xfrm>
        </p:grpSpPr>
        <p:sp>
          <p:nvSpPr>
            <p:cNvPr id="268334" name="Text Box 46"/>
            <p:cNvSpPr txBox="1">
              <a:spLocks noChangeArrowheads="1"/>
            </p:cNvSpPr>
            <p:nvPr/>
          </p:nvSpPr>
          <p:spPr bwMode="auto">
            <a:xfrm>
              <a:off x="4728" y="236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0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68335" name="Text Box 47"/>
            <p:cNvSpPr txBox="1">
              <a:spLocks noChangeArrowheads="1"/>
            </p:cNvSpPr>
            <p:nvPr/>
          </p:nvSpPr>
          <p:spPr bwMode="auto">
            <a:xfrm>
              <a:off x="1992" y="2353"/>
              <a:ext cx="408" cy="31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600" b="1">
                  <a:solidFill>
                    <a:srgbClr val="FFFFFF"/>
                  </a:solidFill>
                  <a:latin typeface="Times New Roman" panose="02020503050405090304" pitchFamily="18" charset="0"/>
                  <a:ea typeface="隶书" panose="02010509060101010101" pitchFamily="49" charset="-122"/>
                </a:rPr>
                <a:t>7</a:t>
              </a:r>
              <a:endParaRPr lang="zh-CN" altLang="en-US" sz="2400">
                <a:latin typeface="Times New Roman" panose="02020503050405090304" pitchFamily="18" charset="0"/>
              </a:endParaRPr>
            </a:p>
          </p:txBody>
        </p:sp>
      </p:grpSp>
      <p:sp>
        <p:nvSpPr>
          <p:cNvPr id="268336" name="Text Box 48"/>
          <p:cNvSpPr txBox="1">
            <a:spLocks noChangeArrowheads="1"/>
          </p:cNvSpPr>
          <p:nvPr/>
        </p:nvSpPr>
        <p:spPr bwMode="auto">
          <a:xfrm>
            <a:off x="7505700" y="4502152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solidFill>
                  <a:srgbClr val="FF66FF"/>
                </a:solidFill>
                <a:latin typeface="Times New Roman" panose="02020503050405090304" pitchFamily="18" charset="0"/>
                <a:ea typeface="隶书" panose="02010509060101010101" pitchFamily="49" charset="-122"/>
              </a:rPr>
              <a:t>14</a:t>
            </a:r>
            <a:endParaRPr lang="zh-CN" altLang="en-US" sz="2600" b="1">
              <a:solidFill>
                <a:srgbClr val="FF66FF"/>
              </a:solidFill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  <p:sp>
        <p:nvSpPr>
          <p:cNvPr id="268337" name="Text Box 49"/>
          <p:cNvSpPr txBox="1">
            <a:spLocks noChangeArrowheads="1"/>
          </p:cNvSpPr>
          <p:nvPr/>
        </p:nvSpPr>
        <p:spPr bwMode="auto">
          <a:xfrm>
            <a:off x="3190875" y="5683252"/>
            <a:ext cx="647700" cy="5048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600" b="1">
                <a:solidFill>
                  <a:srgbClr val="FFFFFF"/>
                </a:solidFill>
                <a:latin typeface="Times New Roman" panose="02020503050405090304" pitchFamily="18" charset="0"/>
                <a:ea typeface="隶书" panose="02010509060101010101" pitchFamily="49" charset="-122"/>
              </a:rPr>
              <a:t>7</a:t>
            </a:r>
            <a:endParaRPr lang="zh-CN" altLang="en-US" sz="2400">
              <a:latin typeface="Times New Roman" panose="02020503050405090304" pitchFamily="18" charset="0"/>
            </a:endParaRPr>
          </a:p>
        </p:txBody>
      </p:sp>
      <p:sp>
        <p:nvSpPr>
          <p:cNvPr id="268338" name="Text Box 50"/>
          <p:cNvSpPr txBox="1">
            <a:spLocks noChangeArrowheads="1"/>
          </p:cNvSpPr>
          <p:nvPr/>
        </p:nvSpPr>
        <p:spPr bwMode="auto">
          <a:xfrm>
            <a:off x="647700" y="1117600"/>
            <a:ext cx="8001000" cy="5264150"/>
          </a:xfrm>
          <a:prstGeom prst="rect">
            <a:avLst/>
          </a:prstGeom>
          <a:noFill/>
          <a:ln w="12700" cap="sq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                          </a:t>
            </a:r>
            <a:r>
              <a:rPr kumimoji="1" lang="en-US" altLang="zh-CN" sz="2000" b="1">
                <a:latin typeface="Times New Roman" panose="02020503050405090304" pitchFamily="18" charset="0"/>
                <a:ea typeface="隶书" panose="02010509060101010101" pitchFamily="49" charset="-122"/>
              </a:rPr>
              <a:t>a</a:t>
            </a:r>
            <a:r>
              <a:rPr kumimoji="1" lang="zh-CN" altLang="en-US" sz="2000" b="1">
                <a:latin typeface="Times New Roman" panose="02020503050405090304" pitchFamily="18" charset="0"/>
                <a:ea typeface="隶书" panose="02010509060101010101" pitchFamily="49" charset="-122"/>
              </a:rPr>
              <a:t>的地址单元</a:t>
            </a:r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         </a:t>
            </a:r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b</a:t>
            </a:r>
            <a:r>
              <a:rPr kumimoji="1" lang="zh-CN" altLang="en-US" sz="2000" b="1">
                <a:latin typeface="Times New Roman" panose="02020503050405090304" pitchFamily="18" charset="0"/>
                <a:ea typeface="隶书" panose="02010509060101010101" pitchFamily="49" charset="-122"/>
              </a:rPr>
              <a:t>的地址单元</a:t>
            </a:r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600" b="1">
                <a:latin typeface="Times New Roman" panose="02020503050405090304" pitchFamily="18" charset="0"/>
                <a:ea typeface="隶书" panose="02010509060101010101" pitchFamily="49" charset="-122"/>
              </a:rPr>
              <a:t>c</a:t>
            </a:r>
            <a:r>
              <a:rPr kumimoji="1" lang="zh-CN" altLang="en-US" sz="2000" b="1">
                <a:latin typeface="Times New Roman" panose="02020503050405090304" pitchFamily="18" charset="0"/>
                <a:ea typeface="隶书" panose="02010509060101010101" pitchFamily="49" charset="-122"/>
              </a:rPr>
              <a:t>的地址单元</a:t>
            </a:r>
            <a:endParaRPr kumimoji="1" lang="en-US" altLang="zh-CN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600" b="1">
                <a:latin typeface="Times New Roman" panose="02020503050405090304" pitchFamily="18" charset="0"/>
                <a:ea typeface="隶书" panose="02010509060101010101" pitchFamily="49" charset="-122"/>
              </a:rPr>
              <a:t>                       </a:t>
            </a: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sz="2600" b="1">
              <a:latin typeface="Times New Roman" panose="0202050305040509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8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6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6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6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6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683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6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6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6" grpId="0" animBg="1" autoUpdateAnimBg="0"/>
      <p:bldP spid="268297" grpId="0" autoUpdateAnimBg="0"/>
      <p:bldP spid="268298" grpId="0" animBg="1" autoUpdateAnimBg="0"/>
      <p:bldP spid="268299" grpId="0" autoUpdateAnimBg="0"/>
      <p:bldP spid="268303" grpId="0" animBg="1" autoUpdateAnimBg="0"/>
      <p:bldP spid="268309" grpId="0" autoUpdateAnimBg="0"/>
      <p:bldP spid="268310" grpId="0" autoUpdateAnimBg="0"/>
      <p:bldP spid="268314" grpId="0" animBg="1"/>
      <p:bldP spid="268314" grpId="1" animBg="1"/>
      <p:bldP spid="268331" grpId="0" animBg="1" autoUpdateAnimBg="0"/>
      <p:bldP spid="268332" grpId="0" animBg="1" autoUpdateAnimBg="0"/>
      <p:bldP spid="268336" grpId="0" animBg="1" autoUpdateAnimBg="0"/>
      <p:bldP spid="26833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思考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变量的声明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语句</a:t>
            </a: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a;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 系统实际做了什么？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语句</a:t>
            </a: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a = 30;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 系统实际做了什么？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变量的赋值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变量必须先声明才能赋值（为什么？）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语句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50;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 系统实际做了什么？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en-US" dirty="0">
              <a:ea typeface="华文中宋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常量</a:t>
            </a:r>
            <a:endParaRPr lang="zh-CN" altLang="en-US" dirty="0"/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数字常量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整型、实型</a:t>
            </a:r>
            <a:endParaRPr lang="zh-CN" altLang="en-US" dirty="0"/>
          </a:p>
          <a:p>
            <a:pPr eaLnBrk="1" hangingPunct="1"/>
            <a:r>
              <a:rPr lang="zh-CN" altLang="en-US" dirty="0"/>
              <a:t>字符常量</a:t>
            </a:r>
            <a:endParaRPr lang="zh-CN" altLang="en-US" dirty="0"/>
          </a:p>
          <a:p>
            <a:pPr lvl="1" eaLnBrk="1" hangingPunct="1"/>
            <a:r>
              <a:rPr lang="en-US" altLang="zh-CN" dirty="0">
                <a:latin typeface="Arial" panose="020B0604020202090204" pitchFamily="34" charset="0"/>
              </a:rPr>
              <a:t>‘</a:t>
            </a:r>
            <a:r>
              <a:rPr lang="en-US" altLang="zh-CN" dirty="0"/>
              <a:t>a</a:t>
            </a:r>
            <a:r>
              <a:rPr lang="en-US" altLang="zh-CN" dirty="0">
                <a:latin typeface="Arial" panose="020B0604020202090204" pitchFamily="34" charset="0"/>
              </a:rPr>
              <a:t>’</a:t>
            </a:r>
            <a:r>
              <a:rPr lang="zh-CN" altLang="en-US" dirty="0"/>
              <a:t>、</a:t>
            </a:r>
            <a:r>
              <a:rPr lang="en-US" altLang="zh-CN" dirty="0">
                <a:latin typeface="Arial" panose="020B0604020202090204" pitchFamily="34" charset="0"/>
              </a:rPr>
              <a:t>’</a:t>
            </a:r>
            <a:r>
              <a:rPr lang="en-US" altLang="zh-CN" dirty="0"/>
              <a:t>b</a:t>
            </a:r>
            <a:r>
              <a:rPr lang="en-US" altLang="zh-CN" dirty="0">
                <a:latin typeface="Arial" panose="020B0604020202090204" pitchFamily="34" charset="0"/>
              </a:rPr>
              <a:t>’</a:t>
            </a:r>
            <a:r>
              <a:rPr lang="zh-CN" altLang="en-US" dirty="0">
                <a:latin typeface="Arial" panose="020B0604020202090204" pitchFamily="34" charset="0"/>
              </a:rPr>
              <a:t>、</a:t>
            </a:r>
            <a:r>
              <a:rPr lang="en-US" altLang="zh-CN" dirty="0">
                <a:latin typeface="Arial" panose="020B0604020202090204" pitchFamily="34" charset="0"/>
              </a:rPr>
              <a:t>’</a:t>
            </a:r>
            <a:r>
              <a:rPr lang="en-US" altLang="zh-CN" dirty="0"/>
              <a:t>2</a:t>
            </a:r>
            <a:r>
              <a:rPr lang="en-US" altLang="zh-CN" dirty="0">
                <a:latin typeface="Arial" panose="020B0604020202090204" pitchFamily="34" charset="0"/>
              </a:rPr>
              <a:t>’</a:t>
            </a:r>
            <a:endParaRPr lang="en-US" altLang="zh-CN" dirty="0"/>
          </a:p>
          <a:p>
            <a:pPr lvl="1"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字符串常量</a:t>
            </a:r>
            <a:endParaRPr lang="zh-CN" altLang="en-US" dirty="0"/>
          </a:p>
          <a:p>
            <a:pPr lvl="1" eaLnBrk="1" hangingPunct="1"/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Hello World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常量的书写格式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432000" y="1447062"/>
            <a:ext cx="8280000" cy="4705165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整型常量</a:t>
            </a:r>
            <a:endParaRPr lang="en-US" altLang="zh-CN" dirty="0"/>
          </a:p>
          <a:p>
            <a:pPr lvl="1"/>
            <a:r>
              <a:rPr lang="zh-CN" altLang="en-US" dirty="0"/>
              <a:t>默认：一个整型常量，默认是十进制表示的 </a:t>
            </a:r>
            <a:r>
              <a:rPr lang="en-US" altLang="zh-CN" dirty="0"/>
              <a:t>int </a:t>
            </a:r>
            <a:r>
              <a:rPr lang="zh-CN" altLang="en-US" dirty="0"/>
              <a:t>类型（若范围允许）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前缀</a:t>
            </a:r>
            <a:r>
              <a:rPr lang="zh-CN" altLang="en-US" dirty="0"/>
              <a:t>：改变当前字面常量的进制（</a:t>
            </a:r>
            <a:r>
              <a:rPr lang="en-US" altLang="zh-CN" dirty="0"/>
              <a:t>0x/0X: </a:t>
            </a:r>
            <a:r>
              <a:rPr lang="zh-CN" altLang="en-US" dirty="0"/>
              <a:t>十六进制，</a:t>
            </a:r>
            <a:r>
              <a:rPr lang="en-US" altLang="zh-CN" dirty="0"/>
              <a:t>0: </a:t>
            </a:r>
            <a:r>
              <a:rPr lang="zh-CN" altLang="en-US" dirty="0"/>
              <a:t>八进制）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后缀</a:t>
            </a:r>
            <a:r>
              <a:rPr lang="zh-CN" altLang="en-US" dirty="0"/>
              <a:t>：改变当前字面常量的类型（</a:t>
            </a:r>
            <a:r>
              <a:rPr lang="en-US" altLang="zh-CN" dirty="0"/>
              <a:t>U/u: unsigned</a:t>
            </a:r>
            <a:r>
              <a:rPr lang="zh-CN" altLang="en-US" dirty="0"/>
              <a:t>，</a:t>
            </a:r>
            <a:r>
              <a:rPr lang="en-US" altLang="zh-CN" dirty="0"/>
              <a:t>L/l: long</a:t>
            </a:r>
            <a:r>
              <a:rPr lang="zh-CN" altLang="en-US" dirty="0"/>
              <a:t>，</a:t>
            </a:r>
            <a:r>
              <a:rPr lang="en-US" altLang="zh-CN" dirty="0"/>
              <a:t>LL/</a:t>
            </a:r>
            <a:r>
              <a:rPr lang="en-US" altLang="zh-CN" dirty="0" err="1"/>
              <a:t>ll</a:t>
            </a:r>
            <a:r>
              <a:rPr lang="en-US" altLang="zh-CN" dirty="0"/>
              <a:t>: long </a:t>
            </a:r>
            <a:r>
              <a:rPr lang="en-US" altLang="zh-CN" dirty="0" err="1"/>
              <a:t>long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例：整型常量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5121(</a:t>
            </a:r>
            <a:r>
              <a:rPr lang="zh-CN" altLang="en-US" dirty="0">
                <a:solidFill>
                  <a:schemeClr val="tx1"/>
                </a:solidFill>
              </a:rPr>
              <a:t>十进制</a:t>
            </a:r>
            <a:r>
              <a:rPr lang="en-US" altLang="zh-CN" dirty="0">
                <a:solidFill>
                  <a:schemeClr val="tx1"/>
                </a:solidFill>
              </a:rPr>
              <a:t>) 		0177777(</a:t>
            </a:r>
            <a:r>
              <a:rPr lang="zh-CN" altLang="en-US" dirty="0">
                <a:solidFill>
                  <a:schemeClr val="tx1"/>
                </a:solidFill>
              </a:rPr>
              <a:t>八进制</a:t>
            </a:r>
            <a:r>
              <a:rPr lang="en-US" altLang="zh-CN" dirty="0">
                <a:solidFill>
                  <a:schemeClr val="tx1"/>
                </a:solidFill>
              </a:rPr>
              <a:t>,65537)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-32768(</a:t>
            </a:r>
            <a:r>
              <a:rPr lang="zh-CN" altLang="en-US" dirty="0">
                <a:solidFill>
                  <a:schemeClr val="tx1"/>
                </a:solidFill>
              </a:rPr>
              <a:t>十进制</a:t>
            </a:r>
            <a:r>
              <a:rPr lang="en-US" altLang="zh-CN" dirty="0">
                <a:solidFill>
                  <a:schemeClr val="tx1"/>
                </a:solidFill>
              </a:rPr>
              <a:t>)		0xFFFF(</a:t>
            </a:r>
            <a:r>
              <a:rPr lang="zh-CN" altLang="en-US" dirty="0">
                <a:solidFill>
                  <a:schemeClr val="tx1"/>
                </a:solidFill>
              </a:rPr>
              <a:t>十六进制</a:t>
            </a:r>
            <a:r>
              <a:rPr lang="en-US" altLang="zh-CN" dirty="0">
                <a:solidFill>
                  <a:schemeClr val="tx1"/>
                </a:solidFill>
              </a:rPr>
              <a:t>,65537)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0111(</a:t>
            </a:r>
            <a:r>
              <a:rPr lang="zh-CN" altLang="en-US" dirty="0">
                <a:solidFill>
                  <a:schemeClr val="tx1"/>
                </a:solidFill>
              </a:rPr>
              <a:t>八进制</a:t>
            </a:r>
            <a:r>
              <a:rPr lang="en-US" altLang="zh-CN" dirty="0">
                <a:solidFill>
                  <a:schemeClr val="tx1"/>
                </a:solidFill>
              </a:rPr>
              <a:t>,73)		0xA3(</a:t>
            </a:r>
            <a:r>
              <a:rPr lang="zh-CN" altLang="en-US" dirty="0">
                <a:solidFill>
                  <a:schemeClr val="tx1"/>
                </a:solidFill>
              </a:rPr>
              <a:t>十六进制</a:t>
            </a:r>
            <a:r>
              <a:rPr lang="en-US" altLang="zh-CN" dirty="0">
                <a:solidFill>
                  <a:schemeClr val="tx1"/>
                </a:solidFill>
              </a:rPr>
              <a:t>,163)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/>
              <a:t>076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zh-CN" altLang="en-US" dirty="0"/>
              <a:t>（八进制，</a:t>
            </a:r>
            <a:r>
              <a:rPr lang="en-US" altLang="zh-CN" dirty="0"/>
              <a:t>32768</a:t>
            </a:r>
            <a:r>
              <a:rPr lang="zh-CN" altLang="en-US" dirty="0"/>
              <a:t>）</a:t>
            </a:r>
            <a:r>
              <a:rPr lang="en-US" altLang="zh-CN" dirty="0"/>
              <a:t>	0100000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zh-CN" altLang="en-US" dirty="0"/>
              <a:t>（八进制，</a:t>
            </a:r>
            <a:r>
              <a:rPr lang="en-US" altLang="zh-CN" dirty="0"/>
              <a:t>62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en-US" altLang="zh-CN" dirty="0"/>
              <a:t>0X12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zh-CN" altLang="en-US" dirty="0"/>
              <a:t>（十六进制，</a:t>
            </a:r>
            <a:r>
              <a:rPr lang="en-US" altLang="zh-CN" dirty="0"/>
              <a:t>18</a:t>
            </a:r>
            <a:r>
              <a:rPr lang="zh-CN" altLang="en-US" dirty="0"/>
              <a:t>）</a:t>
            </a:r>
            <a:r>
              <a:rPr lang="en-US" altLang="zh-CN" dirty="0"/>
              <a:t>	0x8000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zh-CN" altLang="en-US" dirty="0"/>
              <a:t>（十六进制，</a:t>
            </a:r>
            <a:r>
              <a:rPr lang="en-US" altLang="zh-CN" dirty="0"/>
              <a:t>32768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endParaRPr lang="en-US" altLang="zh-CN" dirty="0"/>
          </a:p>
          <a:p>
            <a:r>
              <a:rPr lang="zh-CN" altLang="en-US" dirty="0"/>
              <a:t>小测试</a:t>
            </a:r>
            <a:endParaRPr lang="en-US" altLang="zh-CN" dirty="0"/>
          </a:p>
          <a:p>
            <a:pPr lvl="1"/>
            <a:r>
              <a:rPr lang="zh-CN" altLang="en-US" dirty="0"/>
              <a:t>写出</a:t>
            </a:r>
            <a:r>
              <a:rPr lang="en-US" altLang="zh-CN" dirty="0"/>
              <a:t>65535</a:t>
            </a:r>
            <a:r>
              <a:rPr lang="zh-CN" altLang="en-US" dirty="0"/>
              <a:t>在不同进制下的表示形式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实型常量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2000" y="1447062"/>
                <a:ext cx="8390028" cy="470516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2000" dirty="0"/>
                  <a:t>十进制小数形式：</a:t>
                </a:r>
                <a:r>
                  <a:rPr lang="en-US" altLang="zh-CN" sz="2000" dirty="0"/>
                  <a:t>34.5   3.14   .345   345. </a:t>
                </a:r>
                <a:endParaRPr lang="zh-CN" altLang="en-US" sz="2000" dirty="0"/>
              </a:p>
              <a:p>
                <a:pPr>
                  <a:lnSpc>
                    <a:spcPct val="90000"/>
                  </a:lnSpc>
                </a:pPr>
                <a:r>
                  <a:rPr lang="zh-CN" altLang="en-US" sz="2000" dirty="0"/>
                  <a:t>指数形式：</a:t>
                </a:r>
                <a:r>
                  <a:rPr lang="en-US" altLang="zh-CN" sz="2000" dirty="0"/>
                  <a:t>1.5e-3(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/>
                      </a:rPr>
                      <m:t>5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000" dirty="0"/>
                  <a:t>)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 -346.87e-25(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346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87</m:t>
                    </m:r>
                    <m:r>
                      <a:rPr lang="en-US" altLang="zh-CN" sz="20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altLang="zh-CN" sz="2000" dirty="0"/>
                  <a:t>)</a:t>
                </a:r>
                <a:endParaRPr lang="en-US" altLang="zh-CN" sz="2000" dirty="0"/>
              </a:p>
              <a:p>
                <a:pPr lvl="1">
                  <a:lnSpc>
                    <a:spcPct val="90000"/>
                  </a:lnSpc>
                </a:pPr>
                <a:r>
                  <a:rPr lang="zh-CN" altLang="en-US" sz="2000" dirty="0"/>
                  <a:t>注意</a:t>
                </a:r>
                <a:r>
                  <a:rPr lang="en-US" altLang="zh-CN" sz="2000" dirty="0"/>
                  <a:t>:</a:t>
                </a:r>
                <a:r>
                  <a:rPr lang="zh-CN" altLang="en-US" sz="2000" dirty="0"/>
                  <a:t>字母</a:t>
                </a:r>
                <a:r>
                  <a:rPr lang="en-US" altLang="zh-CN" sz="2000" dirty="0"/>
                  <a:t>e(</a:t>
                </a:r>
                <a:r>
                  <a:rPr lang="zh-CN" altLang="en-US" sz="2000" dirty="0"/>
                  <a:t>或</a:t>
                </a:r>
                <a:r>
                  <a:rPr lang="en-US" altLang="zh-CN" sz="2000" dirty="0"/>
                  <a:t>E)</a:t>
                </a:r>
                <a:r>
                  <a:rPr lang="zh-CN" altLang="en-US" sz="2000" dirty="0"/>
                  <a:t>之前必须有数字，且</a:t>
                </a:r>
                <a:r>
                  <a:rPr lang="en-US" altLang="zh-CN" sz="2000" dirty="0"/>
                  <a:t>e</a:t>
                </a:r>
                <a:r>
                  <a:rPr lang="zh-CN" altLang="en-US" sz="2000" dirty="0"/>
                  <a:t>后面的指数必须为整数</a:t>
                </a:r>
                <a:endParaRPr lang="zh-CN" altLang="en-US" sz="2000" dirty="0"/>
              </a:p>
              <a:p>
                <a:pPr lvl="1">
                  <a:lnSpc>
                    <a:spcPct val="90000"/>
                  </a:lnSpc>
                </a:pPr>
                <a:r>
                  <a:rPr lang="zh-CN" altLang="en-US" sz="2000" dirty="0"/>
                  <a:t>规范化的指数形式：</a:t>
                </a:r>
                <a:endParaRPr lang="en-US" altLang="zh-CN" sz="2000" dirty="0"/>
              </a:p>
              <a:p>
                <a:pPr lvl="2">
                  <a:lnSpc>
                    <a:spcPct val="90000"/>
                  </a:lnSpc>
                </a:pPr>
                <a:r>
                  <a:rPr lang="zh-CN" altLang="en-US" dirty="0"/>
                  <a:t>在字母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（或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）之前的小数部分中，小数点左边应有一位（且只能有一位）非零的数字</a:t>
                </a:r>
                <a:r>
                  <a:rPr lang="en-US" altLang="zh-CN" dirty="0"/>
                  <a:t>.</a:t>
                </a:r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:r>
                  <a:rPr lang="zh-CN" altLang="en-US" dirty="0"/>
                  <a:t>例如：</a:t>
                </a:r>
                <a:r>
                  <a:rPr lang="en-US" altLang="zh-CN" dirty="0"/>
                  <a:t>123.456</a:t>
                </a:r>
                <a:r>
                  <a:rPr lang="zh-CN" altLang="en-US" dirty="0"/>
                  <a:t>可以表示为：</a:t>
                </a:r>
                <a:r>
                  <a:rPr lang="en-US" altLang="zh-CN" dirty="0"/>
                  <a:t>123.456e0,   12.3456e1,  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1.23456e2</a:t>
                </a:r>
                <a:r>
                  <a:rPr lang="en-US" altLang="zh-CN" dirty="0"/>
                  <a:t>,  0.123456e3,  0.0123456e4,  0.00123456e</a:t>
                </a:r>
                <a:endParaRPr lang="zh-CN" altLang="en-US" dirty="0"/>
              </a:p>
              <a:p>
                <a:pPr>
                  <a:lnSpc>
                    <a:spcPct val="90000"/>
                  </a:lnSpc>
                </a:pPr>
                <a:r>
                  <a:rPr lang="zh-CN" altLang="en-US" sz="2000" dirty="0"/>
                  <a:t>默认：</a:t>
                </a:r>
                <a:r>
                  <a:rPr lang="en-US" altLang="zh-CN" sz="2000" dirty="0"/>
                  <a:t>double </a:t>
                </a:r>
                <a:r>
                  <a:rPr lang="zh-CN" altLang="en-US" sz="2000" dirty="0"/>
                  <a:t>类型（若范围允许）</a:t>
                </a:r>
                <a:endParaRPr lang="en-US" altLang="zh-CN" sz="2000" dirty="0"/>
              </a:p>
              <a:p>
                <a:pPr>
                  <a:lnSpc>
                    <a:spcPct val="90000"/>
                  </a:lnSpc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后缀</a:t>
                </a:r>
                <a:r>
                  <a:rPr lang="zh-CN" altLang="en-US" sz="2000" dirty="0"/>
                  <a:t>：改变常量的类型（</a:t>
                </a:r>
                <a:r>
                  <a:rPr lang="en-US" altLang="zh-CN" sz="2000" dirty="0"/>
                  <a:t>F/f: float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L/l: long double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sz="2000" dirty="0"/>
                  <a:t>C99</a:t>
                </a:r>
                <a:r>
                  <a:rPr lang="zh-CN" altLang="en-US" sz="2000" dirty="0"/>
                  <a:t>标准新增的表示方式：以</a:t>
                </a:r>
                <a:r>
                  <a:rPr lang="en-US" altLang="zh-CN" sz="2000" dirty="0"/>
                  <a:t>0x</a:t>
                </a:r>
                <a:r>
                  <a:rPr lang="zh-CN" altLang="en-US" sz="2000" dirty="0"/>
                  <a:t>开头，然后是</a:t>
                </a:r>
                <a:r>
                  <a:rPr lang="en-US" altLang="zh-CN" sz="2000" dirty="0"/>
                  <a:t>16</a:t>
                </a:r>
                <a:r>
                  <a:rPr lang="zh-CN" altLang="en-US" sz="2000" dirty="0"/>
                  <a:t>进制尾数部分，接着是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，后面是以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为底的阶码。例：</a:t>
                </a:r>
                <a:r>
                  <a:rPr lang="en-US" altLang="zh-CN" sz="2000" dirty="0"/>
                  <a:t>0xa.1fp10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</a:rPr>
                          <m:t>10</m:t>
                        </m:r>
                        <m:r>
                          <a:rPr lang="en-US" altLang="zh-CN" sz="2000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/>
                              </a:rPr>
                              <m:t>16</m:t>
                            </m:r>
                          </m:den>
                        </m:f>
                        <m:r>
                          <a:rPr lang="en-US" altLang="zh-CN" sz="2000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/>
                              </a:rPr>
                              <m:t>15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/>
                              </a:rPr>
                              <m:t>256</m:t>
                            </m:r>
                          </m:den>
                        </m:f>
                      </m:e>
                    </m:d>
                    <m:r>
                      <a:rPr lang="en-US" altLang="zh-CN" sz="20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Cambria Math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sz="2000" dirty="0"/>
                  <a:t> = 10364</a:t>
                </a:r>
                <a:endParaRPr lang="en-US" altLang="zh-CN" sz="2000" dirty="0"/>
              </a:p>
              <a:p>
                <a:pPr>
                  <a:lnSpc>
                    <a:spcPct val="90000"/>
                  </a:lnSpc>
                </a:pPr>
                <a:endParaRPr lang="en-US" altLang="en-US" dirty="0">
                  <a:ea typeface="华文中宋" pitchFamily="2" charset="-122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447062"/>
                <a:ext cx="8390028" cy="4705165"/>
              </a:xfrm>
              <a:blipFill rotWithShape="1">
                <a:blip r:embed="rId1"/>
                <a:stretch>
                  <a:fillRect l="-2" t="-11" r="7" b="-7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062220" y="622935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\t</a:t>
            </a:r>
            <a:r>
              <a:rPr lang="zh-CN" altLang="en-US"/>
              <a:t>是</a:t>
            </a:r>
            <a:r>
              <a:rPr lang="en-US" altLang="zh-CN"/>
              <a:t>tab</a:t>
            </a:r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字符常量</a:t>
            </a:r>
            <a:endParaRPr lang="en-US" dirty="0"/>
          </a:p>
        </p:txBody>
      </p:sp>
      <p:sp>
        <p:nvSpPr>
          <p:cNvPr id="34818" name="Content Placeholder 5"/>
          <p:cNvSpPr>
            <a:spLocks noGrp="1"/>
          </p:cNvSpPr>
          <p:nvPr>
            <p:ph idx="1"/>
          </p:nvPr>
        </p:nvSpPr>
        <p:spPr>
          <a:xfrm>
            <a:off x="432000" y="1318662"/>
            <a:ext cx="8280000" cy="4833565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普通字符：用单引号括起来的一个字符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: 'a'     'A'     '?'     '#'     '8'     ''     '  '   ' \n'</a:t>
            </a:r>
            <a:endParaRPr lang="en-US" altLang="zh-CN" dirty="0"/>
          </a:p>
          <a:p>
            <a:pPr lvl="1"/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 ' 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称为定界符，不是字符常量的一部分。</a:t>
            </a:r>
            <a:endParaRPr lang="zh-CN" altLang="en-US" dirty="0"/>
          </a:p>
          <a:p>
            <a:pPr lvl="1"/>
            <a:r>
              <a:rPr lang="zh-CN" altLang="en-US" dirty="0"/>
              <a:t>不能用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 </a:t>
            </a:r>
            <a:r>
              <a:rPr lang="en-US" altLang="zh-CN" dirty="0"/>
              <a:t>" 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代替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 </a:t>
            </a:r>
            <a:r>
              <a:rPr lang="en-US" altLang="zh-CN" dirty="0"/>
              <a:t>' 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， 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 </a:t>
            </a:r>
            <a:r>
              <a:rPr lang="en-US" altLang="zh-CN" dirty="0"/>
              <a:t>" 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在一些</a:t>
            </a:r>
            <a:r>
              <a:rPr lang="en-US" altLang="zh-CN" dirty="0"/>
              <a:t>C</a:t>
            </a:r>
            <a:r>
              <a:rPr lang="zh-CN" altLang="en-US" dirty="0"/>
              <a:t>语言中为字符串的定界符。</a:t>
            </a:r>
            <a:endParaRPr lang="zh-CN" altLang="en-US" dirty="0"/>
          </a:p>
          <a:p>
            <a:r>
              <a:rPr lang="zh-CN" altLang="en-US" dirty="0"/>
              <a:t>转义字符：用“</a:t>
            </a:r>
            <a:r>
              <a:rPr lang="en-US" altLang="zh-CN" dirty="0"/>
              <a:t>\”</a:t>
            </a:r>
            <a:r>
              <a:rPr lang="zh-CN" altLang="en-US" dirty="0"/>
              <a:t>开头的字符序列表示特殊字符</a:t>
            </a:r>
            <a:endParaRPr lang="zh-CN" altLang="en-US" dirty="0"/>
          </a:p>
          <a:p>
            <a:pPr lvl="1"/>
            <a:r>
              <a:rPr lang="zh-CN" altLang="en-US" dirty="0"/>
              <a:t>常用的特殊字符：</a:t>
            </a:r>
            <a:endParaRPr lang="en-US" altLang="zh-CN" dirty="0"/>
          </a:p>
          <a:p>
            <a:pPr lvl="1"/>
            <a:r>
              <a:rPr lang="zh-CN" altLang="en-US" dirty="0"/>
              <a:t>制表符：</a:t>
            </a:r>
            <a:r>
              <a:rPr lang="en-US" altLang="zh-CN" dirty="0"/>
              <a:t>\t</a:t>
            </a:r>
            <a:r>
              <a:rPr lang="zh-CN" altLang="en-US" dirty="0"/>
              <a:t>，</a:t>
            </a:r>
            <a:r>
              <a:rPr lang="en-US" altLang="zh-CN" dirty="0"/>
              <a:t>\v</a:t>
            </a:r>
            <a:endParaRPr lang="en-US" altLang="zh-CN" dirty="0"/>
          </a:p>
          <a:p>
            <a:pPr lvl="1"/>
            <a:r>
              <a:rPr lang="zh-CN" altLang="en-US" dirty="0"/>
              <a:t>回车换行：</a:t>
            </a:r>
            <a:r>
              <a:rPr lang="en-US" altLang="zh-CN" dirty="0"/>
              <a:t>\n</a:t>
            </a:r>
            <a:r>
              <a:rPr lang="zh-CN" altLang="en-US" dirty="0"/>
              <a:t>，</a:t>
            </a:r>
            <a:r>
              <a:rPr lang="en-US" altLang="zh-CN" dirty="0"/>
              <a:t>\r</a:t>
            </a:r>
            <a:endParaRPr lang="en-US" altLang="zh-CN" dirty="0"/>
          </a:p>
          <a:p>
            <a:pPr lvl="1"/>
            <a:r>
              <a:rPr lang="zh-CN" altLang="en-US" dirty="0"/>
              <a:t>问号：</a:t>
            </a:r>
            <a:r>
              <a:rPr lang="en-US" altLang="zh-CN" dirty="0"/>
              <a:t>\?</a:t>
            </a:r>
            <a:endParaRPr lang="en-US" altLang="zh-CN" dirty="0"/>
          </a:p>
          <a:p>
            <a:pPr lvl="1"/>
            <a:r>
              <a:rPr lang="zh-CN" altLang="en-US" dirty="0"/>
              <a:t>反斜杆：</a:t>
            </a:r>
            <a:r>
              <a:rPr lang="en-US" altLang="zh-CN" dirty="0"/>
              <a:t>\\</a:t>
            </a:r>
            <a:endParaRPr lang="en-US" altLang="zh-CN" dirty="0"/>
          </a:p>
          <a:p>
            <a:r>
              <a:rPr lang="zh-CN" altLang="en-US" dirty="0"/>
              <a:t>使用转义字符表示</a:t>
            </a:r>
            <a:endParaRPr lang="en-US" altLang="zh-CN" dirty="0"/>
          </a:p>
          <a:p>
            <a:pPr lvl="1"/>
            <a:r>
              <a:rPr lang="en-US" altLang="zh-CN" dirty="0"/>
              <a:t>\o</a:t>
            </a:r>
            <a:r>
              <a:rPr lang="zh-CN" altLang="en-US" dirty="0"/>
              <a:t>或者</a:t>
            </a:r>
            <a:r>
              <a:rPr lang="en-US" altLang="zh-CN" dirty="0"/>
              <a:t>\</a:t>
            </a:r>
            <a:r>
              <a:rPr lang="en-US" altLang="zh-CN" dirty="0" err="1"/>
              <a:t>oo</a:t>
            </a:r>
            <a:r>
              <a:rPr lang="zh-CN" altLang="en-US" dirty="0"/>
              <a:t>或者</a:t>
            </a:r>
            <a:r>
              <a:rPr lang="en-US" altLang="zh-CN" dirty="0"/>
              <a:t>\</a:t>
            </a:r>
            <a:r>
              <a:rPr lang="en-US" altLang="zh-CN" dirty="0" err="1"/>
              <a:t>ooo</a:t>
            </a:r>
            <a:r>
              <a:rPr lang="zh-CN" altLang="en-US" dirty="0"/>
              <a:t>：与该八进制码对应的字符（最多</a:t>
            </a:r>
            <a:r>
              <a:rPr lang="en-US" altLang="zh-CN" dirty="0"/>
              <a:t>3</a:t>
            </a:r>
            <a:r>
              <a:rPr lang="zh-CN" altLang="en-US" dirty="0"/>
              <a:t>位八进制数）</a:t>
            </a:r>
            <a:endParaRPr lang="zh-CN" altLang="en-US" dirty="0"/>
          </a:p>
          <a:p>
            <a:pPr lvl="1"/>
            <a:r>
              <a:rPr lang="en-US" altLang="zh-CN" dirty="0"/>
              <a:t>\</a:t>
            </a:r>
            <a:r>
              <a:rPr lang="en-US" altLang="zh-CN" dirty="0" err="1"/>
              <a:t>xh</a:t>
            </a:r>
            <a:r>
              <a:rPr lang="zh-CN" altLang="en-US" dirty="0"/>
              <a:t>或</a:t>
            </a:r>
            <a:r>
              <a:rPr lang="en-US" altLang="zh-CN" dirty="0"/>
              <a:t>\</a:t>
            </a:r>
            <a:r>
              <a:rPr lang="en-US" altLang="zh-CN" dirty="0" err="1"/>
              <a:t>xhh</a:t>
            </a:r>
            <a:r>
              <a:rPr lang="zh-CN" altLang="en-US" dirty="0"/>
              <a:t>：与该十六进制码对应的字符（最多</a:t>
            </a:r>
            <a:r>
              <a:rPr lang="en-US" altLang="zh-CN" dirty="0"/>
              <a:t>2</a:t>
            </a:r>
            <a:r>
              <a:rPr lang="zh-CN" altLang="en-US" dirty="0"/>
              <a:t>位十六进制数）</a:t>
            </a:r>
            <a:endParaRPr lang="zh-CN" altLang="en-US" dirty="0"/>
          </a:p>
          <a:p>
            <a:pPr lvl="1"/>
            <a:r>
              <a:rPr lang="zh-CN" altLang="en-US" dirty="0"/>
              <a:t>例：字符</a:t>
            </a:r>
            <a:r>
              <a:rPr lang="en-US" altLang="zh-CN" dirty="0"/>
              <a:t>'1'</a:t>
            </a:r>
            <a:r>
              <a:rPr lang="zh-CN" altLang="en-US" dirty="0"/>
              <a:t>的多种表示方式</a:t>
            </a:r>
            <a:r>
              <a:rPr lang="en-US" altLang="zh-CN" dirty="0"/>
              <a:t>——</a:t>
            </a:r>
            <a:r>
              <a:rPr lang="en-US" altLang="zh-CN" dirty="0">
                <a:solidFill>
                  <a:srgbClr val="FF0000"/>
                </a:solidFill>
              </a:rPr>
              <a:t>'1', '\061', '\x31'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字符串常量</a:t>
            </a:r>
            <a:endParaRPr lang="en-US" dirty="0"/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字符串常量是指在</a:t>
            </a:r>
            <a:r>
              <a:rPr lang="en-US" altLang="zh-CN" dirty="0"/>
              <a:t>C</a:t>
            </a:r>
            <a:r>
              <a:rPr lang="zh-CN" altLang="en-US" dirty="0"/>
              <a:t>语言中用一对双撇号括起来的零个或多个字符序列。</a:t>
            </a:r>
            <a:endParaRPr lang="en-US" altLang="zh-CN" dirty="0"/>
          </a:p>
          <a:p>
            <a:pPr lvl="1"/>
            <a:r>
              <a:rPr lang="zh-CN" altLang="en-US" dirty="0"/>
              <a:t>如：</a:t>
            </a:r>
            <a:r>
              <a:rPr lang="en-US" altLang="zh-CN" dirty="0"/>
              <a:t>"Hello"    "Programming in C"    "A"    ""</a:t>
            </a:r>
            <a:endParaRPr lang="en-US" altLang="zh-CN" dirty="0"/>
          </a:p>
          <a:p>
            <a:r>
              <a:rPr lang="zh-CN" altLang="en-US" dirty="0"/>
              <a:t>字符串以双撇号（</a:t>
            </a:r>
            <a:r>
              <a:rPr lang="en-US" altLang="zh-CN" dirty="0"/>
              <a:t>" "</a:t>
            </a:r>
            <a:r>
              <a:rPr lang="zh-CN" altLang="en-US" dirty="0"/>
              <a:t>）为定界符，但双撇号本身不属于字符串。</a:t>
            </a:r>
            <a:endParaRPr lang="zh-CN" altLang="en-US" dirty="0"/>
          </a:p>
          <a:p>
            <a:r>
              <a:rPr lang="zh-CN" altLang="en-US" dirty="0"/>
              <a:t>字符串中字符个数称为该字符串的长度。</a:t>
            </a:r>
            <a:endParaRPr lang="zh-CN" altLang="en-US" dirty="0"/>
          </a:p>
          <a:p>
            <a:r>
              <a:rPr lang="zh-CN" altLang="en-US" dirty="0"/>
              <a:t>字符串常数存储在机器中时，系统自动在字符串的末尾加一个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字符串结束标志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，它的转义字符为</a:t>
            </a:r>
            <a:r>
              <a:rPr lang="en-US" altLang="zh-CN" dirty="0"/>
              <a:t>'</a:t>
            </a:r>
            <a:r>
              <a:rPr lang="en-US" altLang="zh-CN" dirty="0">
                <a:solidFill>
                  <a:srgbClr val="FF0000"/>
                </a:solidFill>
              </a:rPr>
              <a:t>\0</a:t>
            </a:r>
            <a:r>
              <a:rPr lang="en-US" altLang="zh-CN" dirty="0"/>
              <a:t>'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字符串的存储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字符串：</a:t>
            </a:r>
            <a:endParaRPr lang="zh-CN" altLang="en-US" dirty="0"/>
          </a:p>
          <a:p>
            <a:pPr marL="62230" indent="0">
              <a:lnSpc>
                <a:spcPct val="90000"/>
              </a:lnSpc>
              <a:buNone/>
            </a:pPr>
            <a:r>
              <a:rPr lang="en-US" altLang="zh-CN" dirty="0"/>
              <a:t>	I say:'</a:t>
            </a:r>
            <a:r>
              <a:rPr lang="en-US" altLang="zh-CN" dirty="0" err="1"/>
              <a:t>Goodby</a:t>
            </a:r>
            <a:r>
              <a:rPr lang="en-US" altLang="zh-CN" dirty="0"/>
              <a:t>!'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可写成：</a:t>
            </a:r>
            <a:endParaRPr lang="zh-CN" altLang="en-US" dirty="0"/>
          </a:p>
          <a:p>
            <a:pPr marL="62230" indent="0">
              <a:lnSpc>
                <a:spcPct val="90000"/>
              </a:lnSpc>
              <a:buNone/>
            </a:pPr>
            <a:r>
              <a:rPr lang="en-US" altLang="zh-CN" dirty="0"/>
              <a:t>	"I say:\'</a:t>
            </a:r>
            <a:r>
              <a:rPr lang="en-US" altLang="zh-CN" dirty="0" err="1"/>
              <a:t>Goodby</a:t>
            </a:r>
            <a:r>
              <a:rPr lang="en-US" altLang="zh-CN" dirty="0"/>
              <a:t>!\'"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字符串“</a:t>
            </a:r>
            <a:r>
              <a:rPr lang="en-US" altLang="zh-CN" dirty="0"/>
              <a:t>hello”</a:t>
            </a:r>
            <a:r>
              <a:rPr lang="zh-CN" altLang="en-US" dirty="0"/>
              <a:t>存储为：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实际上每个字符都以</a:t>
            </a:r>
            <a:r>
              <a:rPr lang="en-US" altLang="zh-CN" dirty="0"/>
              <a:t>ASCII</a:t>
            </a:r>
            <a:r>
              <a:rPr lang="zh-CN" altLang="en-US" dirty="0"/>
              <a:t>码存储</a:t>
            </a:r>
            <a:endParaRPr lang="zh-CN" altLang="en-US" dirty="0"/>
          </a:p>
          <a:p>
            <a:pPr>
              <a:lnSpc>
                <a:spcPct val="90000"/>
              </a:lnSpc>
              <a:buFont typeface="Arial" panose="020B0604020202090204" pitchFamily="34" charset="0"/>
              <a:buChar char="•"/>
            </a:pPr>
            <a:endParaRPr lang="zh-CN" altLang="en-US" dirty="0"/>
          </a:p>
          <a:p>
            <a:pPr>
              <a:buFont typeface="Arial" panose="020B0604020202090204" pitchFamily="34" charset="0"/>
              <a:buChar char="•"/>
            </a:pPr>
            <a:endParaRPr lang="en-US" altLang="en-US" dirty="0">
              <a:ea typeface="华文中宋" pitchFamily="2" charset="-122"/>
            </a:endParaRPr>
          </a:p>
        </p:txBody>
      </p:sp>
      <p:grpSp>
        <p:nvGrpSpPr>
          <p:cNvPr id="36868" name="Group 3"/>
          <p:cNvGrpSpPr/>
          <p:nvPr/>
        </p:nvGrpSpPr>
        <p:grpSpPr bwMode="auto">
          <a:xfrm>
            <a:off x="2138265" y="3833957"/>
            <a:ext cx="4038600" cy="609600"/>
            <a:chOff x="1488" y="2976"/>
            <a:chExt cx="2544" cy="384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488" y="2976"/>
              <a:ext cx="254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81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kumimoji="1" lang="en-US" altLang="zh-CN" sz="2400" b="1" dirty="0">
                  <a:latin typeface="Times New Roman" panose="02020503050405090304" pitchFamily="18" charset="0"/>
                  <a:ea typeface="宋体" pitchFamily="2" charset="-122"/>
                </a:rPr>
                <a:t>   h     e        l        </a:t>
              </a:r>
              <a:r>
                <a:rPr kumimoji="1" lang="en-US" altLang="zh-CN" sz="2400" b="1" dirty="0" err="1">
                  <a:latin typeface="Times New Roman" panose="02020503050405090304" pitchFamily="18" charset="0"/>
                  <a:ea typeface="宋体" pitchFamily="2" charset="-122"/>
                </a:rPr>
                <a:t>l</a:t>
              </a:r>
              <a:r>
                <a:rPr kumimoji="1" lang="en-US" altLang="zh-CN" sz="2400" b="1" dirty="0">
                  <a:latin typeface="Times New Roman" panose="02020503050405090304" pitchFamily="18" charset="0"/>
                  <a:ea typeface="宋体" pitchFamily="2" charset="-122"/>
                </a:rPr>
                <a:t>         o     </a:t>
              </a:r>
              <a:r>
                <a:rPr kumimoji="1" lang="en-US" altLang="zh-CN" sz="3200" b="1" dirty="0">
                  <a:solidFill>
                    <a:srgbClr val="CC0000"/>
                  </a:solidFill>
                  <a:latin typeface="Times New Roman" panose="02020503050405090304" pitchFamily="18" charset="0"/>
                  <a:ea typeface="宋体" pitchFamily="2" charset="-122"/>
                </a:rPr>
                <a:t>\</a:t>
              </a:r>
              <a:r>
                <a:rPr kumimoji="1" lang="en-US" altLang="zh-CN" sz="3200" dirty="0">
                  <a:solidFill>
                    <a:srgbClr val="CC0000"/>
                  </a:solidFill>
                  <a:latin typeface="Times New Roman" panose="02020503050405090304" pitchFamily="18" charset="0"/>
                  <a:ea typeface="宋体" pitchFamily="2" charset="-122"/>
                </a:rPr>
                <a:t>0</a:t>
              </a:r>
              <a:endParaRPr kumimoji="1" lang="en-US" altLang="zh-CN" sz="2400" b="1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1872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304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736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16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648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36869" name="Group 11"/>
          <p:cNvGrpSpPr/>
          <p:nvPr/>
        </p:nvGrpSpPr>
        <p:grpSpPr bwMode="auto">
          <a:xfrm>
            <a:off x="2138265" y="5322163"/>
            <a:ext cx="4038600" cy="609600"/>
            <a:chOff x="1536" y="3648"/>
            <a:chExt cx="2544" cy="384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536" y="3648"/>
              <a:ext cx="254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81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kumimoji="1" lang="en-US" altLang="zh-CN" sz="2400" b="1" dirty="0">
                  <a:latin typeface="Times New Roman" panose="02020503050405090304" pitchFamily="18" charset="0"/>
                  <a:ea typeface="宋体" pitchFamily="2" charset="-122"/>
                </a:rPr>
                <a:t>104   101   108   108    111    </a:t>
              </a:r>
              <a:r>
                <a:rPr kumimoji="1" lang="en-US" altLang="zh-CN" sz="3200" dirty="0">
                  <a:solidFill>
                    <a:srgbClr val="CC0000"/>
                  </a:solidFill>
                  <a:latin typeface="Times New Roman" panose="02020503050405090304" pitchFamily="18" charset="0"/>
                  <a:ea typeface="宋体" pitchFamily="2" charset="-122"/>
                </a:rPr>
                <a:t>0</a:t>
              </a:r>
              <a:endParaRPr kumimoji="1" lang="en-US" altLang="zh-CN" sz="2400" b="1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920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352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784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264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696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符号常量的使用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dirty="0"/>
              <a:t>#define</a:t>
            </a:r>
            <a:r>
              <a:rPr lang="zh-CN" altLang="en-US" dirty="0"/>
              <a:t>是宏定义命令</a:t>
            </a:r>
            <a:endParaRPr lang="zh-CN" altLang="en-US" dirty="0"/>
          </a:p>
          <a:p>
            <a:pPr>
              <a:lnSpc>
                <a:spcPct val="80000"/>
              </a:lnSpc>
            </a:pPr>
            <a:r>
              <a:rPr lang="zh-CN" altLang="en-US" dirty="0"/>
              <a:t>在本程序中，用</a:t>
            </a:r>
            <a:r>
              <a:rPr lang="en-US" altLang="zh-CN" dirty="0"/>
              <a:t>PRICE</a:t>
            </a:r>
            <a:r>
              <a:rPr lang="zh-CN" altLang="en-US" dirty="0"/>
              <a:t>来替代</a:t>
            </a:r>
            <a:r>
              <a:rPr lang="en-US" altLang="zh-CN" dirty="0"/>
              <a:t>30</a:t>
            </a:r>
            <a:r>
              <a:rPr lang="zh-CN" altLang="en-US" dirty="0"/>
              <a:t>这个数字</a:t>
            </a:r>
            <a:endParaRPr lang="zh-CN" altLang="en-US" dirty="0"/>
          </a:p>
          <a:p>
            <a:pPr>
              <a:lnSpc>
                <a:spcPct val="80000"/>
              </a:lnSpc>
            </a:pPr>
            <a:r>
              <a:rPr lang="zh-CN" altLang="en-US" dirty="0"/>
              <a:t>宏定义不是语句，结尾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en-US" dirty="0">
              <a:ea typeface="华文中宋" pitchFamily="2" charset="-122"/>
            </a:endParaRPr>
          </a:p>
        </p:txBody>
      </p:sp>
      <p:sp>
        <p:nvSpPr>
          <p:cNvPr id="7" name="Rectangle 1"/>
          <p:cNvSpPr/>
          <p:nvPr/>
        </p:nvSpPr>
        <p:spPr>
          <a:xfrm>
            <a:off x="1565729" y="2883680"/>
            <a:ext cx="4929605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//</a:t>
            </a:r>
            <a:r>
              <a:rPr lang="en-US" dirty="0" err="1"/>
              <a:t>已知单价和数量，求总价</a:t>
            </a:r>
            <a:endParaRPr lang="en-US" dirty="0"/>
          </a:p>
          <a:p>
            <a:r>
              <a:rPr lang="en-US" dirty="0"/>
              <a:t>#include &lt;iostream&gt;</a:t>
            </a:r>
            <a:endParaRPr lang="en-US" dirty="0"/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#define PRICE 30</a:t>
            </a:r>
            <a:endParaRPr lang="en-US" dirty="0"/>
          </a:p>
          <a:p>
            <a:r>
              <a:rPr lang="en-US" dirty="0"/>
              <a:t>int main( ) 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dirty="0"/>
              <a:t>	int num, total;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num</a:t>
            </a:r>
            <a:r>
              <a:rPr lang="en-US" dirty="0"/>
              <a:t> = 10;</a:t>
            </a:r>
            <a:endParaRPr lang="en-US" dirty="0"/>
          </a:p>
          <a:p>
            <a:r>
              <a:rPr lang="en-US" dirty="0"/>
              <a:t>	total = </a:t>
            </a:r>
            <a:r>
              <a:rPr lang="en-US" dirty="0" err="1"/>
              <a:t>num</a:t>
            </a:r>
            <a:r>
              <a:rPr lang="en-US" dirty="0"/>
              <a:t> * PRICE;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"total = " &lt;&lt; total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	return 0;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小测验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下面几种情况分别使用什么数据类型？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tx1"/>
                </a:solidFill>
              </a:rPr>
              <a:t>北京市的人口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电影票的价格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《</a:t>
            </a:r>
            <a:r>
              <a:rPr lang="zh-CN" altLang="en-US">
                <a:solidFill>
                  <a:schemeClr val="tx1"/>
                </a:solidFill>
              </a:rPr>
              <a:t>程序设计导论</a:t>
            </a:r>
            <a:r>
              <a:rPr lang="en-US" altLang="zh-CN">
                <a:solidFill>
                  <a:schemeClr val="tx1"/>
                </a:solidFill>
              </a:rPr>
              <a:t>》</a:t>
            </a:r>
            <a:r>
              <a:rPr lang="zh-CN" altLang="en-US">
                <a:solidFill>
                  <a:schemeClr val="tx1"/>
                </a:solidFill>
              </a:rPr>
              <a:t>书中出现频率最高的字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《</a:t>
            </a:r>
            <a:r>
              <a:rPr lang="zh-CN" altLang="en-US">
                <a:solidFill>
                  <a:schemeClr val="tx1"/>
                </a:solidFill>
              </a:rPr>
              <a:t>程序设计导论</a:t>
            </a:r>
            <a:r>
              <a:rPr lang="en-US" altLang="zh-CN">
                <a:solidFill>
                  <a:schemeClr val="tx1"/>
                </a:solidFill>
              </a:rPr>
              <a:t>》</a:t>
            </a:r>
            <a:r>
              <a:rPr lang="zh-CN" altLang="en-US">
                <a:solidFill>
                  <a:schemeClr val="tx1"/>
                </a:solidFill>
              </a:rPr>
              <a:t>书中每个字的频率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某写字楼的楼层</a:t>
            </a:r>
            <a:endParaRPr lang="en-US" altLang="en-US">
              <a:solidFill>
                <a:schemeClr val="tx1"/>
              </a:solidFill>
              <a:ea typeface="华文中宋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小测验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挑出下面程序中的问题</a:t>
            </a:r>
            <a:endParaRPr lang="en-US" altLang="en-US"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019" y="2086660"/>
            <a:ext cx="585937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       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g; h;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tax, rate;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g = e21;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tax = rate * g;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运算符与表达式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</a:t>
            </a:r>
            <a:r>
              <a:rPr lang="zh-CN" altLang="en-US" dirty="0"/>
              <a:t>运算符与表达式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运算符：在</a:t>
            </a:r>
            <a:r>
              <a:rPr lang="en-US" altLang="zh-CN" dirty="0"/>
              <a:t>C</a:t>
            </a:r>
            <a:r>
              <a:rPr lang="zh-CN" altLang="en-US" dirty="0"/>
              <a:t>语言中用来表示某种计算的符号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操作数：运算符操作的对象叫操作数，可以为变量（已赋值）、常量或其它有切确值的表达式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表达式：由运算符连接常量、变量、函数所组成的式子。每个表达式都有一个</a:t>
            </a:r>
            <a:r>
              <a:rPr lang="zh-CN" altLang="en-US" dirty="0">
                <a:solidFill>
                  <a:srgbClr val="FF0000"/>
                </a:solidFill>
              </a:rPr>
              <a:t>值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类型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367998"/>
            <a:ext cx="8335838" cy="5301362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>
                <a:latin typeface="Comic Sans MS" panose="030F0902030302020204" pitchFamily="66" charset="0"/>
              </a:rPr>
              <a:t>运算符涉及的</a:t>
            </a:r>
            <a:r>
              <a:rPr lang="zh-CN" altLang="en-US" dirty="0"/>
              <a:t>操作数个数</a:t>
            </a:r>
            <a:endParaRPr lang="en-US" altLang="zh-CN" dirty="0"/>
          </a:p>
          <a:p>
            <a:pPr lvl="1"/>
            <a:r>
              <a:rPr lang="zh-CN" altLang="en-US" dirty="0"/>
              <a:t>单目运算符（一元运算符）：只有</a:t>
            </a:r>
            <a:r>
              <a:rPr lang="en-US" altLang="zh-CN" dirty="0"/>
              <a:t>1</a:t>
            </a:r>
            <a:r>
              <a:rPr lang="zh-CN" altLang="en-US" dirty="0"/>
              <a:t>个操作数。</a:t>
            </a:r>
            <a:endParaRPr lang="zh-CN" altLang="en-US" dirty="0"/>
          </a:p>
          <a:p>
            <a:pPr lvl="1"/>
            <a:r>
              <a:rPr lang="zh-CN" altLang="en-US" dirty="0"/>
              <a:t>双目运算符（二元运算符）：具有</a:t>
            </a:r>
            <a:r>
              <a:rPr lang="en-US" altLang="zh-CN" dirty="0"/>
              <a:t>2</a:t>
            </a:r>
            <a:r>
              <a:rPr lang="zh-CN" altLang="en-US" dirty="0"/>
              <a:t>个操作数。（主要）</a:t>
            </a:r>
            <a:endParaRPr lang="en-US" altLang="zh-CN" dirty="0"/>
          </a:p>
          <a:p>
            <a:pPr lvl="1"/>
            <a:r>
              <a:rPr lang="zh-CN" altLang="en-US" dirty="0"/>
              <a:t>三目运算符（三元运算符）：需要</a:t>
            </a:r>
            <a:r>
              <a:rPr lang="en-US" altLang="zh-CN" dirty="0"/>
              <a:t>3</a:t>
            </a:r>
            <a:r>
              <a:rPr lang="zh-CN" altLang="en-US" dirty="0"/>
              <a:t>个操作数。（唯一：条件运算符  </a:t>
            </a:r>
            <a:r>
              <a:rPr lang="en-US" altLang="zh-CN" dirty="0"/>
              <a:t>?  :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>
                <a:latin typeface="Comic Sans MS" panose="030F0902030302020204" pitchFamily="66" charset="0"/>
              </a:rPr>
              <a:t>运算符的优先级</a:t>
            </a:r>
            <a:endParaRPr lang="zh-CN" altLang="en-US" sz="2000" dirty="0">
              <a:solidFill>
                <a:srgbClr val="9900CC"/>
              </a:solidFill>
              <a:latin typeface="Comic Sans MS" panose="030F0902030302020204" pitchFamily="66" charset="0"/>
            </a:endParaRPr>
          </a:p>
          <a:p>
            <a:pPr lvl="1"/>
            <a:r>
              <a:rPr lang="zh-CN" altLang="en-US" dirty="0"/>
              <a:t>某些运算符先于其他运算符被执行</a:t>
            </a:r>
            <a:endParaRPr lang="zh-CN" altLang="en-US" dirty="0"/>
          </a:p>
          <a:p>
            <a:pPr lvl="2"/>
            <a:r>
              <a:rPr lang="zh-CN" altLang="en-US" dirty="0">
                <a:latin typeface="Courier New" panose="02070409020205090404" pitchFamily="49" charset="0"/>
              </a:rPr>
              <a:t>例如，</a:t>
            </a:r>
            <a:r>
              <a:rPr lang="en-US" altLang="zh-CN" dirty="0">
                <a:latin typeface="Courier New" panose="02070409020205090404" pitchFamily="49" charset="0"/>
              </a:rPr>
              <a:t>x + y * 4</a:t>
            </a:r>
            <a:r>
              <a:rPr lang="zh-CN" altLang="en-US" dirty="0">
                <a:latin typeface="Courier New" panose="02070409020205090404" pitchFamily="49" charset="0"/>
              </a:rPr>
              <a:t>，先乘除后加减。</a:t>
            </a:r>
            <a:endParaRPr lang="zh-CN" altLang="en-US" dirty="0">
              <a:latin typeface="Courier New" panose="02070409020205090404" pitchFamily="49" charset="0"/>
            </a:endParaRPr>
          </a:p>
          <a:p>
            <a:pPr lvl="1"/>
            <a:r>
              <a:rPr lang="zh-CN" altLang="en-US" dirty="0"/>
              <a:t>必要时可用</a:t>
            </a:r>
            <a:r>
              <a:rPr lang="zh-CN" altLang="en-US" dirty="0">
                <a:solidFill>
                  <a:srgbClr val="FF0000"/>
                </a:solidFill>
              </a:rPr>
              <a:t>圆括号（）</a:t>
            </a:r>
            <a:r>
              <a:rPr lang="zh-CN" altLang="en-US" dirty="0"/>
              <a:t>改变计算顺序</a:t>
            </a:r>
            <a:endParaRPr lang="zh-CN" altLang="en-US" dirty="0"/>
          </a:p>
          <a:p>
            <a:pPr lvl="2"/>
            <a:r>
              <a:rPr lang="zh-CN" altLang="en-US" dirty="0"/>
              <a:t>例如，求三个数的平均值。</a:t>
            </a:r>
            <a:endParaRPr lang="zh-CN" altLang="en-US" dirty="0"/>
          </a:p>
          <a:p>
            <a:pPr lvl="2"/>
            <a:r>
              <a:rPr lang="zh-CN" altLang="en-US" dirty="0">
                <a:latin typeface="Courier New" panose="02070409020205090404" pitchFamily="49" charset="0"/>
              </a:rPr>
              <a:t>错误的写法：</a:t>
            </a:r>
            <a:r>
              <a:rPr lang="en-US" altLang="zh-CN" dirty="0">
                <a:latin typeface="Courier New" panose="02070409020205090404" pitchFamily="49" charset="0"/>
              </a:rPr>
              <a:t>a + b + c / 3 </a:t>
            </a:r>
            <a:endParaRPr lang="en-US" altLang="zh-CN" dirty="0">
              <a:latin typeface="Courier New" panose="02070409020205090404" pitchFamily="49" charset="0"/>
            </a:endParaRPr>
          </a:p>
          <a:p>
            <a:pPr lvl="2"/>
            <a:r>
              <a:rPr lang="zh-CN" altLang="en-US" dirty="0">
                <a:latin typeface="Courier New" panose="02070409020205090404" pitchFamily="49" charset="0"/>
              </a:rPr>
              <a:t>正确的写法：</a:t>
            </a:r>
            <a:r>
              <a:rPr lang="en-US" altLang="zh-CN" dirty="0">
                <a:latin typeface="Courier New" panose="02070409020205090404" pitchFamily="49" charset="0"/>
              </a:rPr>
              <a:t>(a + b + c ) / 3</a:t>
            </a:r>
            <a:endParaRPr lang="en-US" altLang="zh-CN" dirty="0">
              <a:latin typeface="Courier New" panose="02070409020205090404" pitchFamily="49" charset="0"/>
            </a:endParaRPr>
          </a:p>
          <a:p>
            <a:r>
              <a:rPr lang="zh-CN" altLang="en-US" dirty="0"/>
              <a:t>运算符的结合性：</a:t>
            </a:r>
            <a:endParaRPr lang="zh-CN" altLang="en-US" dirty="0"/>
          </a:p>
          <a:p>
            <a:pPr lvl="1"/>
            <a:r>
              <a:rPr lang="zh-CN" altLang="en-US" dirty="0"/>
              <a:t>出现并列的优先级别相同的运算符时，由运算符的结合性决定计算的次序</a:t>
            </a:r>
            <a:endParaRPr lang="en-US" altLang="zh-CN" dirty="0"/>
          </a:p>
          <a:p>
            <a:pPr lvl="1"/>
            <a:r>
              <a:rPr lang="zh-CN" altLang="en-US" dirty="0"/>
              <a:t>常见的算术运算符左结合，赋值运算符右结合</a:t>
            </a:r>
            <a:endParaRPr lang="en-US" altLang="zh-CN" dirty="0"/>
          </a:p>
          <a:p>
            <a:pPr lvl="2"/>
            <a:r>
              <a:rPr lang="zh-CN" altLang="en-US" dirty="0">
                <a:latin typeface="Courier New" panose="02070409020205090404" pitchFamily="49" charset="0"/>
              </a:rPr>
              <a:t>例：</a:t>
            </a:r>
            <a:r>
              <a:rPr lang="en-US" altLang="zh-CN" dirty="0">
                <a:latin typeface="Courier New" panose="02070409020205090404" pitchFamily="49" charset="0"/>
              </a:rPr>
              <a:t>x * y / z </a:t>
            </a:r>
            <a:r>
              <a:rPr lang="zh-CN" altLang="en-US" dirty="0">
                <a:latin typeface="Courier New" panose="02070409020205090404" pitchFamily="49" charset="0"/>
              </a:rPr>
              <a:t>相当于 </a:t>
            </a:r>
            <a:r>
              <a:rPr lang="en-US" altLang="zh-CN" dirty="0">
                <a:latin typeface="Courier New" panose="02070409020205090404" pitchFamily="49" charset="0"/>
              </a:rPr>
              <a:t>(x * y) / z</a:t>
            </a:r>
            <a:endParaRPr lang="en-US" altLang="zh-CN" dirty="0">
              <a:latin typeface="Courier New" panose="02070409020205090404" pitchFamily="49" charset="0"/>
            </a:endParaRPr>
          </a:p>
          <a:p>
            <a:pPr lvl="2"/>
            <a:r>
              <a:rPr lang="zh-CN" altLang="en-US" dirty="0"/>
              <a:t>例：</a:t>
            </a:r>
            <a:r>
              <a:rPr lang="en-US" altLang="zh-CN" dirty="0"/>
              <a:t>x = y = z + 1 </a:t>
            </a:r>
            <a:r>
              <a:rPr lang="zh-CN" altLang="en-US" dirty="0">
                <a:latin typeface="Courier New" panose="02070409020205090404" pitchFamily="49" charset="0"/>
              </a:rPr>
              <a:t>相当于 </a:t>
            </a:r>
            <a:r>
              <a:rPr lang="en-US" altLang="zh-CN" dirty="0">
                <a:latin typeface="Courier New" panose="02070409020205090404" pitchFamily="49" charset="0"/>
              </a:rPr>
              <a:t>x = (y = </a:t>
            </a:r>
            <a:r>
              <a:rPr lang="en-US" altLang="zh-CN" dirty="0"/>
              <a:t>z + 1</a:t>
            </a:r>
            <a:r>
              <a:rPr lang="zh-CN" altLang="en-US" dirty="0"/>
              <a:t>）</a:t>
            </a:r>
            <a:r>
              <a:rPr lang="en-US" altLang="zh-CN" dirty="0">
                <a:latin typeface="Courier New" panose="02070409020205090404" pitchFamily="49" charset="0"/>
              </a:rPr>
              <a:t>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语言运算符概览</a:t>
            </a:r>
            <a:endParaRPr lang="zh-CN" altLang="en-US" dirty="0"/>
          </a:p>
        </p:txBody>
      </p:sp>
      <p:sp>
        <p:nvSpPr>
          <p:cNvPr id="4" name="Text Box 5"/>
          <p:cNvSpPr>
            <a:spLocks noChangeArrowheads="1"/>
          </p:cNvSpPr>
          <p:nvPr/>
        </p:nvSpPr>
        <p:spPr bwMode="auto">
          <a:xfrm>
            <a:off x="898525" y="1246832"/>
            <a:ext cx="7346950" cy="607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9pPr>
          </a:lstStyle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算术运算符：  （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+  -  *  /  %  ++  --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）</a:t>
            </a:r>
            <a:endParaRPr kumimoji="1" lang="en-US" altLang="zh-CN" sz="21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赋值运算符：  （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= 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及其扩展）</a:t>
            </a:r>
            <a:endParaRPr kumimoji="1" lang="zh-CN" altLang="en-US" sz="21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关系运算符：  （</a:t>
            </a:r>
            <a:r>
              <a:rPr kumimoji="1" lang="en-US" altLang="zh-CN" sz="2100" b="1" dirty="0">
                <a:latin typeface="宋体" pitchFamily="2" charset="-122"/>
              </a:rPr>
              <a:t>&lt;  &lt;=   ==   &gt;   &gt;=   !=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逻辑运算符：  （！  </a:t>
            </a:r>
            <a:r>
              <a:rPr kumimoji="1" lang="en-US" altLang="zh-CN" sz="2100" b="1" dirty="0">
                <a:latin typeface="宋体" pitchFamily="2" charset="-122"/>
              </a:rPr>
              <a:t>&amp;&amp;  ||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en-US" altLang="zh-CN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位运算符  ：  （</a:t>
            </a:r>
            <a:r>
              <a:rPr kumimoji="1" lang="en-US" altLang="zh-CN" sz="2100" b="1" dirty="0">
                <a:latin typeface="宋体" pitchFamily="2" charset="-122"/>
              </a:rPr>
              <a:t>&lt;&lt;   &gt;&gt;   ~  &amp;  |  ^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en-US" altLang="zh-CN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求字节数  ：  （</a:t>
            </a:r>
            <a:r>
              <a:rPr kumimoji="1" lang="en-US" altLang="zh-CN" sz="2100" b="1" dirty="0" err="1">
                <a:solidFill>
                  <a:srgbClr val="FF0000"/>
                </a:solidFill>
                <a:latin typeface="宋体" pitchFamily="2" charset="-122"/>
              </a:rPr>
              <a:t>sizeof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）</a:t>
            </a:r>
            <a:endParaRPr kumimoji="1" lang="en-US" altLang="zh-CN" sz="21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强制类型转换：（类型）</a:t>
            </a:r>
            <a:endParaRPr kumimoji="1" lang="en-US" altLang="zh-CN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条件运算符：  （</a:t>
            </a:r>
            <a:r>
              <a:rPr kumimoji="1" lang="en-US" altLang="zh-CN" sz="2100" b="1" dirty="0">
                <a:latin typeface="宋体" pitchFamily="2" charset="-122"/>
              </a:rPr>
              <a:t>?: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逗号运算符：  （</a:t>
            </a:r>
            <a:r>
              <a:rPr kumimoji="1" lang="en-US" altLang="zh-CN" sz="2100" b="1" dirty="0">
                <a:latin typeface="宋体" pitchFamily="2" charset="-122"/>
              </a:rPr>
              <a:t>,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指针运算符：  （*  </a:t>
            </a:r>
            <a:r>
              <a:rPr kumimoji="1" lang="en-US" altLang="zh-CN" sz="2100" b="1" dirty="0">
                <a:latin typeface="宋体" pitchFamily="2" charset="-122"/>
              </a:rPr>
              <a:t>&amp;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分量运算符：  （</a:t>
            </a:r>
            <a:r>
              <a:rPr kumimoji="1" lang="en-US" altLang="zh-CN" sz="2100" b="1" dirty="0">
                <a:latin typeface="宋体" pitchFamily="2" charset="-122"/>
              </a:rPr>
              <a:t>.  -&gt;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下标运算符：  （</a:t>
            </a:r>
            <a:r>
              <a:rPr kumimoji="1" lang="en-US" altLang="zh-CN" sz="2100" b="1" dirty="0">
                <a:latin typeface="宋体" pitchFamily="2" charset="-122"/>
              </a:rPr>
              <a:t>[]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其它      ：  （函数调用运算符</a:t>
            </a:r>
            <a:r>
              <a:rPr kumimoji="1" lang="en-US" altLang="zh-CN" sz="2100" b="1" dirty="0">
                <a:latin typeface="宋体" pitchFamily="2" charset="-122"/>
              </a:rPr>
              <a:t>( )</a:t>
            </a:r>
            <a:r>
              <a:rPr kumimoji="1" lang="zh-CN" altLang="en-US" sz="2100" b="1" dirty="0">
                <a:latin typeface="宋体" pitchFamily="2" charset="-122"/>
              </a:rPr>
              <a:t>）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buSzPct val="100000"/>
            </a:pPr>
            <a:endParaRPr kumimoji="1" lang="en-US" altLang="zh-CN" sz="28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537935"/>
            <a:ext cx="8263830" cy="549000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常见的算术运算符</a:t>
            </a:r>
            <a:endParaRPr lang="en-US" altLang="zh-CN" sz="2000" dirty="0"/>
          </a:p>
          <a:p>
            <a:pPr lvl="1"/>
            <a:r>
              <a:rPr lang="zh-CN" altLang="en-US" sz="1800" dirty="0"/>
              <a:t>正负号是单目运算符，其余是双目运算符</a:t>
            </a:r>
            <a:endParaRPr lang="en-US" altLang="zh-CN" sz="1800" dirty="0"/>
          </a:p>
          <a:p>
            <a:pPr lvl="1"/>
            <a:r>
              <a:rPr lang="zh-CN" altLang="en-US" sz="1800" dirty="0"/>
              <a:t>优先级：</a:t>
            </a:r>
            <a:endParaRPr lang="en-US" altLang="zh-CN" sz="1800" dirty="0"/>
          </a:p>
          <a:p>
            <a:pPr lvl="2"/>
            <a:r>
              <a:rPr lang="zh-CN" altLang="en-US" sz="1600" dirty="0"/>
              <a:t>第</a:t>
            </a:r>
            <a:r>
              <a:rPr lang="en-US" altLang="zh-CN" sz="1600" dirty="0"/>
              <a:t>1</a:t>
            </a:r>
            <a:r>
              <a:rPr lang="zh-CN" altLang="en-US" sz="1600" dirty="0"/>
              <a:t>优先级：正号、负号</a:t>
            </a:r>
            <a:endParaRPr lang="en-US" altLang="zh-CN" sz="1600" dirty="0"/>
          </a:p>
          <a:p>
            <a:pPr lvl="2"/>
            <a:r>
              <a:rPr lang="zh-CN" altLang="en-US" sz="1600" dirty="0"/>
              <a:t>第</a:t>
            </a:r>
            <a:r>
              <a:rPr lang="en-US" altLang="zh-CN" sz="1600" dirty="0"/>
              <a:t>2</a:t>
            </a:r>
            <a:r>
              <a:rPr lang="zh-CN" altLang="en-US" sz="1600" dirty="0"/>
              <a:t>优先级：乘、除、取模</a:t>
            </a:r>
            <a:endParaRPr lang="en-US" altLang="zh-CN" sz="1600" dirty="0"/>
          </a:p>
          <a:p>
            <a:pPr lvl="2"/>
            <a:r>
              <a:rPr lang="zh-CN" altLang="en-US" sz="1600" dirty="0"/>
              <a:t>第</a:t>
            </a:r>
            <a:r>
              <a:rPr lang="en-US" altLang="zh-CN" sz="1600" dirty="0"/>
              <a:t>3</a:t>
            </a:r>
            <a:r>
              <a:rPr lang="zh-CN" altLang="en-US" sz="1600" dirty="0"/>
              <a:t>优先级：加、减</a:t>
            </a:r>
            <a:endParaRPr lang="en-US" altLang="zh-CN" sz="1600" dirty="0"/>
          </a:p>
          <a:p>
            <a:pPr lvl="1"/>
            <a:r>
              <a:rPr lang="zh-CN" altLang="en-US" sz="1800" dirty="0"/>
              <a:t>结合性：左结合</a:t>
            </a:r>
            <a:endParaRPr lang="en-US" altLang="zh-CN" sz="1800" dirty="0"/>
          </a:p>
          <a:p>
            <a:pPr lvl="1"/>
            <a:r>
              <a:rPr lang="zh-CN" altLang="en-US" sz="1800" dirty="0"/>
              <a:t>除号运算符的使用问题：</a:t>
            </a:r>
            <a:endParaRPr lang="en-US" altLang="zh-CN" sz="1800" dirty="0"/>
          </a:p>
          <a:p>
            <a:pPr lvl="2"/>
            <a:r>
              <a:rPr lang="zh-CN" altLang="en-US" sz="1600" dirty="0"/>
              <a:t>两个操作数全为整型数（包括</a:t>
            </a:r>
            <a:r>
              <a:rPr lang="en-US" altLang="zh-CN" sz="1600" dirty="0"/>
              <a:t>char</a:t>
            </a:r>
            <a:r>
              <a:rPr lang="zh-CN" altLang="en-US" sz="1600" dirty="0"/>
              <a:t>、</a:t>
            </a:r>
            <a:r>
              <a:rPr lang="en-US" altLang="zh-CN" sz="1600" dirty="0"/>
              <a:t>short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int</a:t>
            </a:r>
            <a:r>
              <a:rPr lang="zh-CN" altLang="en-US" sz="1600" dirty="0"/>
              <a:t>、</a:t>
            </a:r>
            <a:r>
              <a:rPr lang="en-US" altLang="zh-CN" sz="1600" dirty="0"/>
              <a:t>long</a:t>
            </a:r>
            <a:r>
              <a:rPr lang="zh-CN" altLang="en-US" sz="1600" dirty="0"/>
              <a:t>、</a:t>
            </a:r>
            <a:r>
              <a:rPr lang="en-US" altLang="zh-CN" sz="1600" dirty="0"/>
              <a:t>long </a:t>
            </a:r>
            <a:r>
              <a:rPr lang="en-US" altLang="zh-CN" sz="1600" dirty="0" err="1"/>
              <a:t>long</a:t>
            </a:r>
            <a:r>
              <a:rPr lang="zh-CN" altLang="en-US" sz="1600" dirty="0"/>
              <a:t>）时，为整除运算</a:t>
            </a:r>
            <a:endParaRPr lang="en-US" altLang="zh-CN" sz="1600" dirty="0"/>
          </a:p>
          <a:p>
            <a:pPr lvl="2"/>
            <a:r>
              <a:rPr lang="zh-CN" altLang="en-US" sz="1600" dirty="0"/>
              <a:t>当有任一操作数为实型数时，为普通除法运算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2"/>
            <a:r>
              <a:rPr lang="en-US" altLang="zh-CN" sz="1600" dirty="0">
                <a:solidFill>
                  <a:srgbClr val="FF0000"/>
                </a:solidFill>
              </a:rPr>
              <a:t>C99</a:t>
            </a:r>
            <a:r>
              <a:rPr lang="zh-CN" altLang="en-US" sz="1600" dirty="0">
                <a:solidFill>
                  <a:srgbClr val="FF0000"/>
                </a:solidFill>
              </a:rPr>
              <a:t>标准</a:t>
            </a:r>
            <a:r>
              <a:rPr lang="zh-CN" altLang="en-US" sz="1600" dirty="0"/>
              <a:t>规定整数除法采用</a:t>
            </a:r>
            <a:r>
              <a:rPr lang="zh-CN" altLang="en-US" sz="1600" dirty="0">
                <a:solidFill>
                  <a:srgbClr val="FF0000"/>
                </a:solidFill>
              </a:rPr>
              <a:t>“趋零截尾”</a:t>
            </a:r>
            <a:r>
              <a:rPr lang="zh-CN" altLang="en-US" sz="1600" dirty="0"/>
              <a:t>，向</a:t>
            </a:r>
            <a:r>
              <a:rPr lang="en-US" altLang="zh-CN" sz="1600" dirty="0"/>
              <a:t>0</a:t>
            </a:r>
            <a:r>
              <a:rPr lang="zh-CN" altLang="en-US" sz="1600" dirty="0"/>
              <a:t>方向取最接近精确值的整数，换言之就是</a:t>
            </a:r>
            <a:r>
              <a:rPr lang="zh-CN" altLang="en-US" sz="1600" dirty="0">
                <a:solidFill>
                  <a:srgbClr val="FF0000"/>
                </a:solidFill>
              </a:rPr>
              <a:t>舍去小数部分</a:t>
            </a:r>
            <a:endParaRPr lang="zh-CN" altLang="en-US" sz="1600" dirty="0"/>
          </a:p>
          <a:p>
            <a:pPr lvl="1"/>
            <a:r>
              <a:rPr lang="zh-CN" altLang="en-US" sz="1800" dirty="0"/>
              <a:t>取模运算符的使用问题：</a:t>
            </a:r>
            <a:endParaRPr lang="en-US" altLang="zh-CN" sz="1800" dirty="0"/>
          </a:p>
          <a:p>
            <a:pPr lvl="2"/>
            <a:r>
              <a:rPr lang="zh-CN" altLang="en-US" sz="1600" dirty="0"/>
              <a:t>操作数只能整型数据（包括</a:t>
            </a:r>
            <a:r>
              <a:rPr lang="en-US" altLang="zh-CN" sz="1600" dirty="0"/>
              <a:t>char</a:t>
            </a:r>
            <a:r>
              <a:rPr lang="zh-CN" altLang="en-US" sz="1600" dirty="0"/>
              <a:t>、</a:t>
            </a:r>
            <a:r>
              <a:rPr lang="en-US" altLang="zh-CN" sz="1600" dirty="0"/>
              <a:t>short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int</a:t>
            </a:r>
            <a:r>
              <a:rPr lang="zh-CN" altLang="en-US" sz="1600" dirty="0"/>
              <a:t>、</a:t>
            </a:r>
            <a:r>
              <a:rPr lang="en-US" altLang="zh-CN" sz="1600" dirty="0"/>
              <a:t>long</a:t>
            </a:r>
            <a:r>
              <a:rPr lang="zh-CN" altLang="en-US" sz="1600" dirty="0"/>
              <a:t>、</a:t>
            </a:r>
            <a:r>
              <a:rPr lang="en-US" altLang="zh-CN" sz="1600" dirty="0"/>
              <a:t>long </a:t>
            </a:r>
            <a:r>
              <a:rPr lang="en-US" altLang="zh-CN" sz="1600" dirty="0" err="1"/>
              <a:t>long</a:t>
            </a:r>
            <a:r>
              <a:rPr lang="zh-CN" altLang="en-US" sz="1600" dirty="0"/>
              <a:t>） </a:t>
            </a:r>
            <a:endParaRPr lang="en-US" altLang="zh-CN" sz="1600" dirty="0"/>
          </a:p>
          <a:p>
            <a:pPr lvl="2"/>
            <a:r>
              <a:rPr lang="en-US" altLang="zh-CN" sz="1600" dirty="0"/>
              <a:t>C</a:t>
            </a:r>
            <a:r>
              <a:rPr lang="zh-CN" altLang="en-US" sz="1600" dirty="0"/>
              <a:t>语言中的取模运算：</a:t>
            </a:r>
            <a:r>
              <a:rPr lang="en-US" altLang="zh-CN" sz="1600" dirty="0">
                <a:solidFill>
                  <a:srgbClr val="FF0000"/>
                </a:solidFill>
              </a:rPr>
              <a:t>x % y = x – x/y*y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indent="0">
              <a:buNone/>
            </a:pPr>
            <a:endParaRPr lang="en-US" altLang="zh-CN" dirty="0"/>
          </a:p>
          <a:p>
            <a:pPr indent="0">
              <a:buNone/>
            </a:pPr>
            <a:endParaRPr lang="en-US" altLang="zh-CN" dirty="0"/>
          </a:p>
          <a:p>
            <a:pPr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算术运算符</a:t>
            </a:r>
            <a:endParaRPr lang="zh-CN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/>
        </p:nvGraphicFramePr>
        <p:xfrm>
          <a:off x="4572000" y="56752"/>
          <a:ext cx="4267200" cy="1767840"/>
        </p:xfrm>
        <a:graphic>
          <a:graphicData uri="http://schemas.openxmlformats.org/drawingml/2006/table">
            <a:tbl>
              <a:tblPr/>
              <a:tblGrid>
                <a:gridCol w="740410"/>
                <a:gridCol w="740410"/>
                <a:gridCol w="740410"/>
                <a:gridCol w="822960"/>
                <a:gridCol w="1223010"/>
              </a:tblGrid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运算符名称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-78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算术运算符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-78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代数表达式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-78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C</a:t>
                      </a: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语言表达式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-78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-78"/>
                          <a:ea typeface="黑体" panose="02010609060101010101" pitchFamily="49" charset="-122"/>
                        </a:rPr>
                        <a:t>适用的数据类型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-78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CC"/>
                    </a:solidFill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正号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 a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 a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负号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 b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 b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加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 + 7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 + 7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减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 – c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 – c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乘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*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bm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b * m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除</a:t>
                      </a:r>
                      <a:endParaRPr kumimoji="0" lang="zh-CN" altLang="en-US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/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 / y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 / y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整数、字符、浮点数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取模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%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r mod s</a:t>
                      </a:r>
                      <a:endParaRPr kumimoji="0" lang="en-US" altLang="zh-CN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8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r % s</a:t>
                      </a:r>
                      <a:endParaRPr kumimoji="0" lang="en-US" altLang="zh-CN" sz="85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8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整数、字符</a:t>
                      </a:r>
                      <a:endParaRPr kumimoji="0" lang="zh-CN" altLang="en-US" sz="8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39952" y="2420888"/>
            <a:ext cx="496855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b="1" dirty="0"/>
              <a:t>例：</a:t>
            </a:r>
            <a:r>
              <a:rPr lang="en-US" altLang="zh-CN" sz="1400" b="1" dirty="0"/>
              <a:t>7÷4 = 1.75    (-7) ÷4 = -1.75    7÷(-4) = -1.75    (-7)÷(-4) = 1.75</a:t>
            </a:r>
            <a:endParaRPr lang="en-US" altLang="zh-CN" sz="1400" b="1" dirty="0"/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500" b="1" dirty="0"/>
              <a:t>   </a:t>
            </a:r>
            <a:r>
              <a:rPr lang="en-US" altLang="zh-CN" sz="800" b="1" dirty="0"/>
              <a:t>     </a:t>
            </a:r>
            <a:endParaRPr lang="en-US" altLang="zh-CN" sz="800" b="1" dirty="0"/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7/4 = 1        (-7)/4 = -1         7/(-4) = -1        (-7)/(-4) = 1</a:t>
            </a: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7%4=3         (-7)%4 = -3       7%(-4) = 3        (-7)%(-4) = -3</a:t>
            </a:r>
            <a:endParaRPr lang="en-US" altLang="zh-CN" sz="1400" b="1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355976" y="3296017"/>
            <a:ext cx="4536504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11960" y="3296017"/>
            <a:ext cx="496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 New" panose="02070409020205090404" pitchFamily="49" charset="0"/>
                <a:cs typeface="Courier New" panose="02070409020205090404" pitchFamily="49" charset="0"/>
              </a:rPr>
              <a:t>-∞</a:t>
            </a:r>
            <a:r>
              <a:rPr lang="en-US" altLang="zh-CN" sz="900" dirty="0">
                <a:latin typeface="Courier New" panose="02070409020205090404" pitchFamily="49" charset="0"/>
                <a:cs typeface="Courier New" panose="02070409020205090404" pitchFamily="49" charset="0"/>
              </a:rPr>
              <a:t>    -2 </a:t>
            </a:r>
            <a:r>
              <a:rPr lang="en-US" altLang="zh-CN" sz="900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-1.75</a:t>
            </a:r>
            <a:r>
              <a:rPr lang="en-US" altLang="zh-CN" sz="900" dirty="0">
                <a:latin typeface="Courier New" panose="02070409020205090404" pitchFamily="49" charset="0"/>
                <a:cs typeface="Courier New" panose="02070409020205090404" pitchFamily="49" charset="0"/>
              </a:rPr>
              <a:t>    -1           0           +1     </a:t>
            </a:r>
            <a:r>
              <a:rPr lang="en-US" altLang="zh-CN" sz="900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+1.75</a:t>
            </a:r>
            <a:r>
              <a:rPr lang="en-US" altLang="zh-CN" sz="900" dirty="0">
                <a:latin typeface="Courier New" panose="02070409020205090404" pitchFamily="49" charset="0"/>
                <a:cs typeface="Courier New" panose="02070409020205090404" pitchFamily="49" charset="0"/>
              </a:rPr>
              <a:t> +2       </a:t>
            </a:r>
            <a:r>
              <a:rPr lang="en-US" altLang="zh-CN" sz="1200" dirty="0">
                <a:latin typeface="Courier New" panose="02070409020205090404" pitchFamily="49" charset="0"/>
                <a:cs typeface="Courier New" panose="02070409020205090404" pitchFamily="49" charset="0"/>
              </a:rPr>
              <a:t>+∞</a:t>
            </a:r>
            <a:endParaRPr lang="zh-CN" altLang="en-US" sz="1200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70120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94056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380312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956376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172400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860032" y="3188017"/>
            <a:ext cx="18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上弧形箭头 18"/>
          <p:cNvSpPr/>
          <p:nvPr/>
        </p:nvSpPr>
        <p:spPr>
          <a:xfrm>
            <a:off x="5094056" y="3044001"/>
            <a:ext cx="594064" cy="1440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下弧形箭头 21"/>
          <p:cNvSpPr/>
          <p:nvPr/>
        </p:nvSpPr>
        <p:spPr>
          <a:xfrm rot="10800000">
            <a:off x="7380312" y="3044017"/>
            <a:ext cx="594000" cy="144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572" y="116632"/>
            <a:ext cx="2772308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>
                <a:solidFill>
                  <a:srgbClr val="FF0000"/>
                </a:solidFill>
              </a:rPr>
              <a:t>思考：</a:t>
            </a:r>
            <a:r>
              <a:rPr lang="en-US" altLang="zh-CN" sz="1500" b="1" dirty="0">
                <a:solidFill>
                  <a:srgbClr val="FF0000"/>
                </a:solidFill>
              </a:rPr>
              <a:t>(-7)/(unsigned)(4)</a:t>
            </a:r>
            <a:r>
              <a:rPr lang="zh-CN" altLang="en-US" sz="1500" b="1" dirty="0">
                <a:solidFill>
                  <a:srgbClr val="FF0000"/>
                </a:solidFill>
              </a:rPr>
              <a:t>的结果？</a:t>
            </a:r>
            <a:endParaRPr lang="en-US" altLang="zh-CN" sz="1500" b="1" dirty="0">
              <a:solidFill>
                <a:srgbClr val="FF0000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444000" y="3258000"/>
            <a:ext cx="81880" cy="818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4" grpId="0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自增、自减运算符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dirty="0"/>
              <a:t> ++</a:t>
            </a:r>
            <a:r>
              <a:rPr lang="en-US" altLang="zh-CN" dirty="0" err="1"/>
              <a:t>i</a:t>
            </a:r>
            <a:r>
              <a:rPr lang="en-US" altLang="zh-CN" dirty="0"/>
              <a:t>,  --</a:t>
            </a:r>
            <a:r>
              <a:rPr lang="en-US" altLang="zh-CN" dirty="0" err="1"/>
              <a:t>i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在使用之前，先使</a:t>
            </a:r>
            <a:r>
              <a:rPr lang="en-US" altLang="zh-CN" dirty="0" err="1"/>
              <a:t>i</a:t>
            </a:r>
            <a:r>
              <a:rPr lang="zh-CN" altLang="en-US" dirty="0"/>
              <a:t>的值加</a:t>
            </a:r>
            <a:r>
              <a:rPr lang="en-US" altLang="zh-CN" dirty="0"/>
              <a:t>(</a:t>
            </a:r>
            <a:r>
              <a:rPr lang="zh-CN" altLang="en-US" dirty="0"/>
              <a:t>减</a:t>
            </a:r>
            <a:r>
              <a:rPr lang="en-US" altLang="zh-CN" dirty="0"/>
              <a:t>)1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i</a:t>
            </a:r>
            <a:r>
              <a:rPr lang="en-US" altLang="zh-CN" dirty="0"/>
              <a:t>++, </a:t>
            </a:r>
            <a:r>
              <a:rPr lang="en-US" altLang="zh-CN" dirty="0" err="1"/>
              <a:t>i</a:t>
            </a:r>
            <a:r>
              <a:rPr lang="en-US" altLang="zh-CN" dirty="0"/>
              <a:t>--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使用之后，使</a:t>
            </a:r>
            <a:r>
              <a:rPr lang="en-US" altLang="zh-CN" dirty="0" err="1"/>
              <a:t>i</a:t>
            </a:r>
            <a:r>
              <a:rPr lang="zh-CN" altLang="en-US" dirty="0"/>
              <a:t>的值加</a:t>
            </a:r>
            <a:r>
              <a:rPr lang="en-US" altLang="zh-CN" dirty="0"/>
              <a:t>(</a:t>
            </a:r>
            <a:r>
              <a:rPr lang="zh-CN" altLang="en-US" dirty="0"/>
              <a:t>减</a:t>
            </a:r>
            <a:r>
              <a:rPr lang="en-US" altLang="zh-CN" dirty="0"/>
              <a:t>)1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要先彻底理解，再进行使用</a:t>
            </a:r>
            <a:endParaRPr lang="en-US" altLang="zh-CN" dirty="0"/>
          </a:p>
          <a:p>
            <a:pPr lvl="1"/>
            <a:r>
              <a:rPr lang="zh-CN" altLang="en-US" dirty="0"/>
              <a:t>操作数必须是整型和字符型变量</a:t>
            </a:r>
            <a:endParaRPr lang="en-US" altLang="zh-CN" dirty="0"/>
          </a:p>
          <a:p>
            <a:pPr lvl="1"/>
            <a:r>
              <a:rPr lang="zh-CN" altLang="en-US" dirty="0"/>
              <a:t>单目运算符</a:t>
            </a:r>
            <a:endParaRPr lang="en-US" altLang="zh-CN" dirty="0"/>
          </a:p>
          <a:p>
            <a:pPr lvl="1"/>
            <a:r>
              <a:rPr lang="zh-CN" altLang="en-US" dirty="0"/>
              <a:t>优先级高于常见的算术运算符</a:t>
            </a:r>
            <a:endParaRPr lang="en-US" altLang="zh-CN" dirty="0"/>
          </a:p>
          <a:p>
            <a:pPr lvl="1"/>
            <a:r>
              <a:rPr lang="zh-CN" altLang="en-US" dirty="0"/>
              <a:t>结合性：右结合</a:t>
            </a:r>
            <a:endParaRPr lang="en-US" altLang="zh-CN" dirty="0"/>
          </a:p>
          <a:p>
            <a:pPr lvl="1"/>
            <a:r>
              <a:rPr lang="zh-CN" altLang="en-US" dirty="0"/>
              <a:t>使用时的注意事项：</a:t>
            </a:r>
            <a:endParaRPr lang="en-US" altLang="zh-CN" dirty="0"/>
          </a:p>
          <a:p>
            <a:pPr lvl="2"/>
            <a:r>
              <a:rPr lang="en-US" altLang="zh-CN" dirty="0"/>
              <a:t>++</a:t>
            </a:r>
            <a:r>
              <a:rPr lang="zh-CN" altLang="en-US" dirty="0"/>
              <a:t>（</a:t>
            </a:r>
            <a:r>
              <a:rPr lang="en-US" altLang="zh-CN" dirty="0"/>
              <a:t>--</a:t>
            </a:r>
            <a:r>
              <a:rPr lang="zh-CN" altLang="en-US" dirty="0"/>
              <a:t>）在前：先加（减）后用</a:t>
            </a:r>
            <a:endParaRPr lang="en-US" altLang="zh-CN" dirty="0"/>
          </a:p>
          <a:p>
            <a:pPr lvl="2"/>
            <a:r>
              <a:rPr lang="en-US" altLang="zh-CN" dirty="0"/>
              <a:t>++</a:t>
            </a:r>
            <a:r>
              <a:rPr lang="zh-CN" altLang="en-US" dirty="0"/>
              <a:t>（</a:t>
            </a:r>
            <a:r>
              <a:rPr lang="en-US" altLang="zh-CN" dirty="0"/>
              <a:t>--</a:t>
            </a:r>
            <a:r>
              <a:rPr lang="zh-CN" altLang="en-US" dirty="0"/>
              <a:t>）在后：先用后加（减）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32000" y="432000"/>
            <a:ext cx="8230387" cy="660425"/>
          </a:xfrm>
        </p:spPr>
        <p:txBody>
          <a:bodyPr/>
          <a:lstStyle/>
          <a:p>
            <a:r>
              <a:rPr lang="zh-CN" altLang="en-US" dirty="0"/>
              <a:t>赋值运算符</a:t>
            </a:r>
            <a:endParaRPr lang="zh-CN" altLang="en-US" dirty="0"/>
          </a:p>
        </p:txBody>
      </p:sp>
      <p:sp>
        <p:nvSpPr>
          <p:cNvPr id="137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67998"/>
            <a:ext cx="7886700" cy="5157345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赋值运算符</a:t>
            </a:r>
            <a:endParaRPr lang="zh-CN" altLang="en-US" dirty="0"/>
          </a:p>
          <a:p>
            <a:pPr lvl="1"/>
            <a:r>
              <a:rPr lang="zh-CN" altLang="en-US" dirty="0"/>
              <a:t>简单赋值运算符：</a:t>
            </a:r>
            <a:r>
              <a:rPr lang="en-US" altLang="zh-CN" dirty="0">
                <a:solidFill>
                  <a:srgbClr val="FF0000"/>
                </a:solidFill>
                <a:latin typeface="Courier New" panose="02070409020205090404" pitchFamily="49" charset="0"/>
              </a:rPr>
              <a:t>=</a:t>
            </a:r>
            <a:endParaRPr lang="en-US" altLang="zh-CN" dirty="0">
              <a:solidFill>
                <a:srgbClr val="FF0000"/>
              </a:solidFill>
              <a:latin typeface="Courier New" panose="02070409020205090404" pitchFamily="49" charset="0"/>
            </a:endParaRPr>
          </a:p>
          <a:p>
            <a:pPr lvl="1"/>
            <a:r>
              <a:rPr lang="zh-CN" altLang="en-US" dirty="0"/>
              <a:t>复合赋值运算符：</a:t>
            </a:r>
            <a:r>
              <a:rPr lang="en-US" altLang="zh-CN" dirty="0">
                <a:solidFill>
                  <a:srgbClr val="FF0000"/>
                </a:solidFill>
                <a:latin typeface="Courier New" panose="02070409020205090404" pitchFamily="49" charset="0"/>
              </a:rPr>
              <a:t>+=,-=,*=,/=,%=</a:t>
            </a:r>
            <a:endParaRPr lang="en-US" altLang="zh-CN" dirty="0">
              <a:solidFill>
                <a:srgbClr val="FF0000"/>
              </a:solidFill>
              <a:latin typeface="Courier New" panose="02070409020205090404" pitchFamily="49" charset="0"/>
            </a:endParaRPr>
          </a:p>
          <a:p>
            <a:pPr lvl="1"/>
            <a:r>
              <a:rPr lang="zh-CN" altLang="en-US" dirty="0"/>
              <a:t>优先级：低于算术运算符</a:t>
            </a:r>
            <a:endParaRPr lang="en-US" altLang="zh-CN" dirty="0"/>
          </a:p>
          <a:p>
            <a:pPr lvl="1"/>
            <a:r>
              <a:rPr lang="zh-CN" altLang="en-US" dirty="0"/>
              <a:t>结合性：右结合</a:t>
            </a:r>
            <a:endParaRPr lang="zh-CN" altLang="en-US" dirty="0">
              <a:solidFill>
                <a:srgbClr val="FF0000"/>
              </a:solidFill>
              <a:latin typeface="Courier New" panose="02070409020205090404" pitchFamily="49" charset="0"/>
            </a:endParaRPr>
          </a:p>
          <a:p>
            <a:r>
              <a:rPr lang="zh-CN" altLang="en-US" dirty="0"/>
              <a:t>赋值表达式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dirty="0">
                <a:solidFill>
                  <a:srgbClr val="FF00FF"/>
                </a:solidFill>
              </a:rPr>
              <a:t>赋值运算符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dirty="0">
                <a:solidFill>
                  <a:srgbClr val="FF00FF"/>
                </a:solidFill>
              </a:rPr>
              <a:t>表达式</a:t>
            </a:r>
            <a:r>
              <a:rPr lang="en-US" altLang="zh-CN" dirty="0">
                <a:solidFill>
                  <a:srgbClr val="FF0000"/>
                </a:solidFill>
              </a:rPr>
              <a:t>&gt;            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ourier New" panose="02070409020205090404" pitchFamily="49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Courier New" panose="02070409020205090404" pitchFamily="49" charset="0"/>
              </a:rPr>
              <a:t>d = 23</a:t>
            </a:r>
            <a:endParaRPr lang="en-US" altLang="zh-CN" dirty="0">
              <a:solidFill>
                <a:schemeClr val="tx1"/>
              </a:solidFill>
              <a:latin typeface="Courier New" panose="02070409020205090404" pitchFamily="49" charset="0"/>
            </a:endParaRPr>
          </a:p>
          <a:p>
            <a:pPr lvl="1"/>
            <a:r>
              <a:rPr lang="zh-CN" altLang="en-US" dirty="0"/>
              <a:t>作用：将表达式的值赋给变量</a:t>
            </a:r>
            <a:endParaRPr lang="en-US" altLang="zh-CN" dirty="0"/>
          </a:p>
          <a:p>
            <a:pPr lvl="1"/>
            <a:r>
              <a:rPr lang="zh-CN" altLang="en-US" dirty="0"/>
              <a:t>左值和右值：</a:t>
            </a:r>
            <a:endParaRPr lang="en-US" altLang="zh-CN" dirty="0"/>
          </a:p>
          <a:p>
            <a:pPr lvl="2"/>
            <a:r>
              <a:rPr lang="zh-CN" altLang="en-US" dirty="0"/>
              <a:t>左值是可寻址的变量，可以出现在等号左边或者右边</a:t>
            </a:r>
            <a:endParaRPr lang="en-US" altLang="zh-CN" dirty="0"/>
          </a:p>
          <a:p>
            <a:pPr lvl="2"/>
            <a:r>
              <a:rPr lang="zh-CN" altLang="en-US" dirty="0"/>
              <a:t>右值是不可寻址的常量，或在表达式求值过程中创建的临时量，只能出现在等号右边</a:t>
            </a:r>
            <a:endParaRPr lang="en-US" altLang="zh-CN" dirty="0"/>
          </a:p>
          <a:p>
            <a:pPr lvl="2"/>
            <a:r>
              <a:rPr lang="zh-CN" altLang="en-US" dirty="0"/>
              <a:t>例：</a:t>
            </a:r>
            <a:r>
              <a:rPr lang="en-US" altLang="zh-CN" dirty="0"/>
              <a:t>x = y + 1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685800" lvl="2" indent="0">
              <a:buNone/>
            </a:pPr>
            <a:r>
              <a:rPr lang="en-US" altLang="zh-CN" dirty="0"/>
              <a:t>   x</a:t>
            </a:r>
            <a:r>
              <a:rPr lang="zh-CN" altLang="en-US" dirty="0"/>
              <a:t>做左值，代表的是存储变量</a:t>
            </a:r>
            <a:r>
              <a:rPr lang="en-US" altLang="zh-CN" dirty="0"/>
              <a:t>x</a:t>
            </a:r>
            <a:r>
              <a:rPr lang="zh-CN" altLang="en-US" dirty="0"/>
              <a:t>的内存单元（地址）</a:t>
            </a:r>
            <a:endParaRPr lang="en-US" altLang="zh-CN" dirty="0"/>
          </a:p>
          <a:p>
            <a:pPr marL="685800" lvl="2" indent="0">
              <a:buNone/>
            </a:pPr>
            <a:r>
              <a:rPr lang="en-US" altLang="zh-CN" dirty="0"/>
              <a:t>   y</a:t>
            </a:r>
            <a:r>
              <a:rPr lang="zh-CN" altLang="en-US" dirty="0"/>
              <a:t>做右值，代表的事存储变量</a:t>
            </a:r>
            <a:r>
              <a:rPr lang="en-US" altLang="zh-CN" dirty="0"/>
              <a:t>y</a:t>
            </a:r>
            <a:r>
              <a:rPr lang="zh-CN" altLang="en-US" dirty="0"/>
              <a:t>的内存单元的值</a:t>
            </a:r>
            <a:endParaRPr lang="zh-CN" altLang="en-US" dirty="0"/>
          </a:p>
          <a:p>
            <a:pPr lvl="1"/>
            <a:r>
              <a:rPr lang="zh-CN" altLang="en-US" dirty="0"/>
              <a:t>赋值表达式的值就是被赋值的变量的值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赋值运算符举例</a:t>
            </a:r>
            <a:endParaRPr lang="zh-CN" altLang="en-US" dirty="0"/>
          </a:p>
        </p:txBody>
      </p:sp>
      <p:sp>
        <p:nvSpPr>
          <p:cNvPr id="138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简单赋值运算符：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endParaRPr lang="en-US" altLang="zh-CN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dirty="0"/>
              <a:t>   举例</a:t>
            </a:r>
            <a:endParaRPr lang="zh-CN" altLang="en-US" dirty="0"/>
          </a:p>
          <a:p>
            <a:endParaRPr lang="zh-CN" altLang="en-US" dirty="0"/>
          </a:p>
          <a:p>
            <a:pPr>
              <a:spcBef>
                <a:spcPts val="2400"/>
              </a:spcBef>
            </a:pPr>
            <a:r>
              <a:rPr lang="zh-CN" altLang="zh-CN" dirty="0"/>
              <a:t>复合赋值运算符：</a:t>
            </a:r>
            <a:r>
              <a:rPr lang="zh-CN" altLang="zh-CN" dirty="0">
                <a:solidFill>
                  <a:srgbClr val="FF0000"/>
                </a:solidFill>
                <a:latin typeface="Courier New" panose="02070409020205090404" pitchFamily="49" charset="0"/>
              </a:rPr>
              <a:t>+=, -=, *=, /=, %=</a:t>
            </a:r>
            <a:endParaRPr lang="zh-CN" altLang="zh-CN" dirty="0"/>
          </a:p>
          <a:p>
            <a:pPr lvl="1"/>
            <a:r>
              <a:rPr lang="zh-CN" altLang="zh-CN" dirty="0"/>
              <a:t>简化了赋值表达式</a:t>
            </a:r>
            <a:endParaRPr lang="zh-CN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FF00FF"/>
                </a:solidFill>
              </a:rPr>
              <a:t>	&lt;variable&gt; </a:t>
            </a:r>
            <a:r>
              <a:rPr lang="zh-CN" altLang="zh-CN" dirty="0">
                <a:solidFill>
                  <a:srgbClr val="FF0000"/>
                </a:solidFill>
              </a:rPr>
              <a:t>&lt;operator&gt;=</a:t>
            </a:r>
            <a:r>
              <a:rPr lang="zh-CN" altLang="zh-CN" dirty="0">
                <a:solidFill>
                  <a:srgbClr val="FF00FF"/>
                </a:solidFill>
              </a:rPr>
              <a:t> &lt;expression&gt;</a:t>
            </a:r>
            <a:endParaRPr lang="zh-CN" altLang="zh-CN" dirty="0">
              <a:solidFill>
                <a:srgbClr val="FF00FF"/>
              </a:solidFill>
            </a:endParaRPr>
          </a:p>
          <a:p>
            <a:pPr lvl="2"/>
            <a:r>
              <a:rPr lang="zh-CN" altLang="zh-CN" dirty="0"/>
              <a:t>由下面的表达式简化而来</a:t>
            </a:r>
            <a:endParaRPr lang="zh-CN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FF00FF"/>
                </a:solidFill>
              </a:rPr>
              <a:t>	&lt;variable&gt; </a:t>
            </a:r>
            <a:r>
              <a:rPr lang="zh-CN" altLang="zh-CN" dirty="0">
                <a:solidFill>
                  <a:srgbClr val="FF0000"/>
                </a:solidFill>
              </a:rPr>
              <a:t>=</a:t>
            </a:r>
            <a:r>
              <a:rPr lang="zh-CN" altLang="zh-CN" dirty="0">
                <a:solidFill>
                  <a:srgbClr val="FF00FF"/>
                </a:solidFill>
              </a:rPr>
              <a:t> &lt;variable&gt; </a:t>
            </a:r>
            <a:r>
              <a:rPr lang="zh-CN" altLang="zh-CN" dirty="0">
                <a:solidFill>
                  <a:srgbClr val="FF0000"/>
                </a:solidFill>
              </a:rPr>
              <a:t>&lt;operator&gt;</a:t>
            </a:r>
            <a:r>
              <a:rPr lang="zh-CN" altLang="zh-CN" dirty="0">
                <a:solidFill>
                  <a:srgbClr val="FF00FF"/>
                </a:solidFill>
              </a:rPr>
              <a:t> &lt;expression&gt;</a:t>
            </a:r>
            <a:endParaRPr lang="zh-CN" altLang="zh-CN" dirty="0">
              <a:solidFill>
                <a:srgbClr val="FF00FF"/>
              </a:solidFill>
            </a:endParaRPr>
          </a:p>
          <a:p>
            <a:pPr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举例</a:t>
            </a:r>
            <a:endParaRPr lang="zh-CN" altLang="en-US" dirty="0"/>
          </a:p>
        </p:txBody>
      </p:sp>
      <p:sp>
        <p:nvSpPr>
          <p:cNvPr id="1381381" name="Text Box 5"/>
          <p:cNvSpPr txBox="1">
            <a:spLocks noChangeArrowheads="1"/>
          </p:cNvSpPr>
          <p:nvPr/>
        </p:nvSpPr>
        <p:spPr bwMode="auto">
          <a:xfrm>
            <a:off x="2260639" y="2035388"/>
            <a:ext cx="1829990" cy="1076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c=</a:t>
            </a:r>
            <a:r>
              <a:rPr kumimoji="1" lang="en-US" altLang="zh-CN" sz="1600" b="1" dirty="0" err="1">
                <a:latin typeface="Courier New" panose="02070409020205090404" pitchFamily="49" charset="0"/>
              </a:rPr>
              <a:t>a+b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a=b=c=d=10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x=(a=5)+(b=8)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</p:txBody>
      </p:sp>
      <p:sp>
        <p:nvSpPr>
          <p:cNvPr id="1381382" name="Text Box 6"/>
          <p:cNvSpPr txBox="1">
            <a:spLocks noChangeArrowheads="1"/>
          </p:cNvSpPr>
          <p:nvPr/>
        </p:nvSpPr>
        <p:spPr bwMode="auto">
          <a:xfrm>
            <a:off x="5120271" y="2030625"/>
            <a:ext cx="2418184" cy="107721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c=(</a:t>
            </a:r>
            <a:r>
              <a:rPr kumimoji="1" lang="en-US" altLang="zh-CN" sz="1600" b="1" dirty="0" err="1">
                <a:latin typeface="Courier New" panose="02070409020205090404" pitchFamily="49" charset="0"/>
              </a:rPr>
              <a:t>a+b</a:t>
            </a:r>
            <a:r>
              <a:rPr kumimoji="1" lang="en-US" altLang="zh-CN" sz="1600" b="1" dirty="0">
                <a:latin typeface="Courier New" panose="02070409020205090404" pitchFamily="49" charset="0"/>
              </a:rPr>
              <a:t>)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a=(b=(c=(d=10)))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a=5, b=8, x=</a:t>
            </a:r>
            <a:r>
              <a:rPr kumimoji="1" lang="en-US" altLang="zh-CN" sz="1600" b="1" dirty="0" err="1">
                <a:latin typeface="Courier New" panose="02070409020205090404" pitchFamily="49" charset="0"/>
              </a:rPr>
              <a:t>a+b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370103" y="2225961"/>
            <a:ext cx="509588" cy="7239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latin typeface="Courier New" panose="02070409020205090404" pitchFamily="49" charset="0"/>
              </a:rPr>
              <a:t>≡</a:t>
            </a:r>
            <a:endParaRPr lang="en-US" altLang="zh-CN" b="1">
              <a:latin typeface="Courier New" panose="02070409020205090404" pitchFamily="49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260639" y="5349675"/>
            <a:ext cx="1464469" cy="1076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a+=5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x*=y+7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x+=x-=x*=x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400193" y="5344913"/>
            <a:ext cx="2494359" cy="107632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a=a+5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x=x*(y+7)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1600" b="1" dirty="0">
                <a:latin typeface="Courier New" panose="02070409020205090404" pitchFamily="49" charset="0"/>
              </a:rPr>
              <a:t>x=x+(x=x-(x=x*x))</a:t>
            </a:r>
            <a:endParaRPr kumimoji="1" lang="en-US" altLang="zh-CN" sz="1600" b="1" dirty="0">
              <a:latin typeface="Courier New" panose="02070409020205090404" pitchFamily="49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813214" y="5597324"/>
            <a:ext cx="509588" cy="7239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latin typeface="Courier New" panose="02070409020205090404" pitchFamily="49" charset="0"/>
              </a:rPr>
              <a:t>≡</a:t>
            </a:r>
            <a:endParaRPr lang="en-US" altLang="zh-CN" b="1">
              <a:latin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运算符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关系运算符</a:t>
            </a:r>
            <a:endParaRPr lang="en-US" altLang="zh-CN" dirty="0"/>
          </a:p>
          <a:p>
            <a:pPr lvl="1"/>
            <a:r>
              <a:rPr lang="en-US" altLang="zh-CN" dirty="0"/>
              <a:t>&gt;, &gt;=, &lt;, &lt;=, ==, !=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pPr lvl="1"/>
            <a:r>
              <a:rPr lang="en-US" altLang="zh-CN" dirty="0"/>
              <a:t>! , &amp;&amp; , ||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运算符的优先次序（参考）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540820" y="1503972"/>
            <a:ext cx="3903663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/>
              <a:t>., </a:t>
            </a:r>
            <a:r>
              <a:rPr lang="en-US" altLang="zh-CN" dirty="0">
                <a:sym typeface="Wingdings" panose="05000000000000000000" pitchFamily="2" charset="2"/>
              </a:rPr>
              <a:t>, [], ()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++, --, !, ~, (</a:t>
            </a:r>
            <a:r>
              <a:rPr lang="en-US" altLang="zh-CN" dirty="0" err="1">
                <a:sym typeface="Wingdings" panose="05000000000000000000" pitchFamily="2" charset="2"/>
              </a:rPr>
              <a:t>DataType</a:t>
            </a:r>
            <a:r>
              <a:rPr lang="en-US" altLang="zh-CN" dirty="0">
                <a:sym typeface="Wingdings" panose="05000000000000000000" pitchFamily="2" charset="2"/>
              </a:rPr>
              <a:t>), </a:t>
            </a:r>
            <a:r>
              <a:rPr lang="en-US" altLang="zh-CN" dirty="0" err="1">
                <a:sym typeface="Wingdings" panose="05000000000000000000" pitchFamily="2" charset="2"/>
              </a:rPr>
              <a:t>sizeof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*, /, %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+, -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&gt;&gt;, &lt;&lt;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&gt;, &lt;, &gt;=, &lt;=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==, !=</a:t>
            </a:r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530436" name="Rectangle 4"/>
          <p:cNvSpPr>
            <a:spLocks noChangeArrowheads="1"/>
          </p:cNvSpPr>
          <p:nvPr/>
        </p:nvSpPr>
        <p:spPr bwMode="auto">
          <a:xfrm>
            <a:off x="4696619" y="1349884"/>
            <a:ext cx="4356100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  <a:sym typeface="Wingdings" panose="05000000000000000000" pitchFamily="2" charset="2"/>
              </a:rPr>
              <a:t>&amp;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  <a:sym typeface="Wingdings" panose="05000000000000000000" pitchFamily="2" charset="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</a:rPr>
              <a:t>^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</a:rPr>
              <a:t>|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</a:rPr>
              <a:t>&amp;&amp;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  <a:sym typeface="Wingdings" panose="05000000000000000000" pitchFamily="2" charset="2"/>
              </a:rPr>
              <a:t>||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  <a:sym typeface="Wingdings" panose="05000000000000000000" pitchFamily="2" charset="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  <a:sym typeface="Wingdings" panose="05000000000000000000" pitchFamily="2" charset="2"/>
              </a:rPr>
              <a:t>?: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  <a:sym typeface="Wingdings" panose="05000000000000000000" pitchFamily="2" charset="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AutoNum type="arabicPeriod" startAt="8"/>
              <a:defRPr/>
            </a:pPr>
            <a:r>
              <a:rPr lang="en-US" altLang="zh-CN" sz="3200" b="1" dirty="0">
                <a:latin typeface="Arial" panose="020B0604020202090204" pitchFamily="34" charset="0"/>
                <a:ea typeface="宋体" pitchFamily="2" charset="-122"/>
                <a:sym typeface="Wingdings" panose="05000000000000000000" pitchFamily="2" charset="2"/>
              </a:rPr>
              <a:t>=, +=, -=, *=, </a:t>
            </a:r>
            <a:r>
              <a:rPr lang="en-US" altLang="zh-CN" sz="3200" b="1" dirty="0">
                <a:ea typeface="宋体" pitchFamily="2" charset="-122"/>
                <a:sym typeface="Wingdings" panose="05000000000000000000" pitchFamily="2" charset="2"/>
              </a:rPr>
              <a:t>……</a:t>
            </a:r>
            <a:endParaRPr lang="en-US" altLang="zh-CN" sz="3200" b="1" dirty="0">
              <a:latin typeface="Arial" panose="020B0604020202090204" pitchFamily="34" charset="0"/>
              <a:ea typeface="宋体" pitchFamily="2" charset="-122"/>
              <a:sym typeface="Wingdings" panose="05000000000000000000" pitchFamily="2" charset="2"/>
            </a:endParaRPr>
          </a:p>
        </p:txBody>
      </p:sp>
      <p:sp>
        <p:nvSpPr>
          <p:cNvPr id="530437" name="Rectangle 5"/>
          <p:cNvSpPr>
            <a:spLocks noChangeArrowheads="1"/>
          </p:cNvSpPr>
          <p:nvPr/>
        </p:nvSpPr>
        <p:spPr bwMode="auto">
          <a:xfrm>
            <a:off x="1258888" y="5949952"/>
            <a:ext cx="6875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CC"/>
                </a:solidFill>
              </a:rPr>
              <a:t>不用死记，复杂表达式中多用“</a:t>
            </a:r>
            <a:r>
              <a:rPr lang="en-US" altLang="zh-CN" sz="2800" b="1" dirty="0">
                <a:solidFill>
                  <a:srgbClr val="0000CC"/>
                </a:solidFill>
              </a:rPr>
              <a:t>( )”</a:t>
            </a:r>
            <a:r>
              <a:rPr lang="zh-CN" altLang="en-US" sz="2800" b="1" dirty="0">
                <a:solidFill>
                  <a:srgbClr val="0000CC"/>
                </a:solidFill>
              </a:rPr>
              <a:t>运算符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表达式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表达式</a:t>
            </a:r>
            <a:r>
              <a:rPr lang="zh-CN" altLang="en-US" sz="2400" dirty="0"/>
              <a:t>（</a:t>
            </a:r>
            <a:r>
              <a:rPr lang="en-US" altLang="zh-CN" sz="2400" dirty="0"/>
              <a:t>expression</a:t>
            </a:r>
            <a:r>
              <a:rPr lang="zh-CN" altLang="en-US" sz="2400" dirty="0"/>
              <a:t>）是由运算符（操作符，</a:t>
            </a:r>
            <a:r>
              <a:rPr lang="en-US" altLang="zh-CN" sz="2400" dirty="0"/>
              <a:t>operator</a:t>
            </a:r>
            <a:r>
              <a:rPr lang="zh-CN" altLang="en-US" sz="2400" dirty="0"/>
              <a:t>）和运算对象（操作数，</a:t>
            </a:r>
            <a:r>
              <a:rPr lang="en-US" altLang="zh-CN" sz="2400" dirty="0"/>
              <a:t>operand</a:t>
            </a:r>
            <a:r>
              <a:rPr lang="zh-CN" altLang="en-US" sz="2400" dirty="0"/>
              <a:t>）组成。</a:t>
            </a:r>
            <a:endParaRPr lang="zh-CN" altLang="en-US" sz="2400" dirty="0"/>
          </a:p>
          <a:p>
            <a:pPr lvl="1"/>
            <a:r>
              <a:rPr lang="zh-CN" altLang="en-US" sz="2000" dirty="0"/>
              <a:t>表达式的计算结果称为表达式的值</a:t>
            </a:r>
            <a:endParaRPr lang="zh-CN" altLang="en-US" sz="2000" dirty="0"/>
          </a:p>
          <a:p>
            <a:pPr lvl="1"/>
            <a:r>
              <a:rPr lang="zh-CN" altLang="en-US" sz="2000" dirty="0"/>
              <a:t>一个常量或一个变量是最简单的表达式，其值即该常量或变量的值</a:t>
            </a:r>
            <a:endParaRPr lang="zh-CN" altLang="en-US" sz="2000" dirty="0"/>
          </a:p>
          <a:p>
            <a:pPr lvl="1" algn="just"/>
            <a:r>
              <a:rPr lang="zh-CN" altLang="en-US" sz="2000" dirty="0"/>
              <a:t>运算符不能单独使用，必须有操作数与之共同构成表达式</a:t>
            </a:r>
            <a:endParaRPr lang="zh-CN" altLang="en-US" sz="2000" dirty="0"/>
          </a:p>
          <a:p>
            <a:pPr lvl="1"/>
            <a:r>
              <a:rPr lang="zh-CN" altLang="en-US" sz="2000" dirty="0"/>
              <a:t>表达式的值还可以用作其他运算的操作数，形成更复杂的表达式</a:t>
            </a:r>
            <a:endParaRPr lang="zh-CN" altLang="en-US" sz="2000" dirty="0"/>
          </a:p>
          <a:p>
            <a:r>
              <a:rPr lang="zh-CN" altLang="en-US" dirty="0"/>
              <a:t>表达式有类型区别，如：</a:t>
            </a:r>
            <a:endParaRPr lang="zh-CN" altLang="en-US" dirty="0"/>
          </a:p>
          <a:p>
            <a:pPr lvl="1"/>
            <a:r>
              <a:rPr lang="zh-CN" altLang="en-US" dirty="0"/>
              <a:t>算术表达式</a:t>
            </a:r>
            <a:endParaRPr lang="zh-CN" altLang="en-US" dirty="0"/>
          </a:p>
          <a:p>
            <a:pPr lvl="2"/>
            <a:r>
              <a:rPr lang="zh-CN" altLang="en-US" dirty="0"/>
              <a:t>用算术运算符和括号将操作数连接起来，符合</a:t>
            </a:r>
            <a:r>
              <a:rPr lang="en-US" altLang="zh-CN" dirty="0"/>
              <a:t>C</a:t>
            </a:r>
            <a:r>
              <a:rPr lang="zh-CN" altLang="en-US" dirty="0"/>
              <a:t>语法规则的式子</a:t>
            </a:r>
            <a:endParaRPr lang="zh-CN" altLang="en-US" dirty="0"/>
          </a:p>
          <a:p>
            <a:pPr lvl="1"/>
            <a:r>
              <a:rPr lang="zh-CN" altLang="en-US" dirty="0"/>
              <a:t>关系表达式</a:t>
            </a:r>
            <a:endParaRPr lang="zh-CN" altLang="en-US" dirty="0"/>
          </a:p>
          <a:p>
            <a:pPr lvl="1"/>
            <a:r>
              <a:rPr lang="zh-CN" altLang="en-US" dirty="0"/>
              <a:t>逻辑表达式</a:t>
            </a:r>
            <a:endParaRPr lang="zh-CN" altLang="en-US" dirty="0"/>
          </a:p>
          <a:p>
            <a:pPr lvl="1"/>
            <a:r>
              <a:rPr lang="zh-CN" altLang="en-US" dirty="0"/>
              <a:t>赋值表达式</a:t>
            </a:r>
            <a:endParaRPr lang="zh-CN" altLang="en-US" dirty="0"/>
          </a:p>
          <a:p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eaLnBrk="1" hangingPunct="1"/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整数算术表达式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如果在算术运算中只包含整数，任何结果的小数部分均被截去，即使结果赋给浮点型变量也是这样。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如果希望保留计算的小数部分，就必须强制编译程序把操作对象之一变成</a:t>
            </a:r>
            <a:r>
              <a:rPr lang="en-US" altLang="zh-CN" dirty="0"/>
              <a:t>float</a:t>
            </a:r>
            <a:r>
              <a:rPr lang="zh-CN" altLang="en-US" dirty="0"/>
              <a:t>型，方法可以是：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操作对象直接定义为</a:t>
            </a:r>
            <a:r>
              <a:rPr lang="en-US" altLang="zh-CN" dirty="0"/>
              <a:t>float</a:t>
            </a:r>
            <a:r>
              <a:rPr lang="zh-CN" altLang="en-US" dirty="0"/>
              <a:t>型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操作对象前加强制</a:t>
            </a:r>
            <a:r>
              <a:rPr lang="en-US" altLang="zh-CN" dirty="0"/>
              <a:t>float</a:t>
            </a:r>
            <a:r>
              <a:rPr lang="zh-CN" altLang="en-US" dirty="0"/>
              <a:t>类型转换，如 </a:t>
            </a:r>
            <a:r>
              <a:rPr lang="en-US" altLang="zh-CN" dirty="0"/>
              <a:t>2 </a:t>
            </a:r>
            <a:r>
              <a:rPr lang="en-US" altLang="zh-CN" dirty="0">
                <a:sym typeface="Monotype Sorts"/>
              </a:rPr>
              <a:t>→</a:t>
            </a:r>
            <a:r>
              <a:rPr lang="en-US" altLang="zh-CN" dirty="0"/>
              <a:t>(float)2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操作对象表示为实数，如  </a:t>
            </a:r>
            <a:r>
              <a:rPr lang="en-US" altLang="zh-CN" dirty="0"/>
              <a:t>2</a:t>
            </a:r>
            <a:r>
              <a:rPr lang="en-US" altLang="zh-CN" dirty="0">
                <a:sym typeface="Monotype Sorts"/>
              </a:rPr>
              <a:t>→</a:t>
            </a:r>
            <a:r>
              <a:rPr lang="en-US" altLang="zh-CN" dirty="0"/>
              <a:t>2.0</a:t>
            </a:r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关系表达式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0000CC"/>
                </a:solidFill>
              </a:rPr>
              <a:t>关系运算符</a:t>
            </a:r>
            <a:r>
              <a:rPr lang="zh-CN" altLang="en-US" dirty="0"/>
              <a:t>将两个表达式连接起来的式子，称关系表达式</a:t>
            </a:r>
            <a:endParaRPr lang="en-US" altLang="zh-CN" dirty="0"/>
          </a:p>
          <a:p>
            <a:r>
              <a:rPr lang="zh-CN" altLang="en-US" dirty="0"/>
              <a:t>关系表达式的值是一个逻辑值，即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真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或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假</a:t>
            </a:r>
            <a:r>
              <a:rPr lang="zh-CN" altLang="en-US" dirty="0">
                <a:latin typeface="Arial" panose="020B0604020202090204" pitchFamily="34" charset="0"/>
              </a:rPr>
              <a:t>”（实现上判断是否为</a:t>
            </a:r>
            <a:r>
              <a:rPr lang="en-US" altLang="zh-CN" dirty="0">
                <a:latin typeface="Arial" panose="020B0604020202090204" pitchFamily="34" charset="0"/>
              </a:rPr>
              <a:t>0</a:t>
            </a:r>
            <a:r>
              <a:rPr lang="zh-CN" altLang="en-US" dirty="0">
                <a:latin typeface="Arial" panose="020B0604020202090204" pitchFamily="34" charset="0"/>
              </a:rPr>
              <a:t>）</a:t>
            </a:r>
            <a:endParaRPr lang="en-US" altLang="en-US" dirty="0">
              <a:ea typeface="华文中宋" pitchFamily="2" charset="-122"/>
            </a:endParaRPr>
          </a:p>
        </p:txBody>
      </p:sp>
      <p:sp>
        <p:nvSpPr>
          <p:cNvPr id="20485" name="AutoShape 4"/>
          <p:cNvSpPr/>
          <p:nvPr/>
        </p:nvSpPr>
        <p:spPr bwMode="auto">
          <a:xfrm>
            <a:off x="5568950" y="3808413"/>
            <a:ext cx="304800" cy="16764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en-US" altLang="en-US"/>
          </a:p>
        </p:txBody>
      </p:sp>
      <p:sp>
        <p:nvSpPr>
          <p:cNvPr id="20486" name="AutoShape 5"/>
          <p:cNvSpPr/>
          <p:nvPr/>
        </p:nvSpPr>
        <p:spPr bwMode="auto">
          <a:xfrm>
            <a:off x="5584825" y="5578475"/>
            <a:ext cx="279400" cy="617538"/>
          </a:xfrm>
          <a:prstGeom prst="rightBrace">
            <a:avLst>
              <a:gd name="adj1" fmla="val 1872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en-US" altLang="en-US"/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6018215" y="4456113"/>
            <a:ext cx="26574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503050405090304" pitchFamily="18" charset="0"/>
              </a:rPr>
              <a:t>优先级相同（高）</a:t>
            </a:r>
            <a:endParaRPr kumimoji="1" lang="zh-CN" altLang="en-US" sz="2400">
              <a:latin typeface="Times New Roman" panose="02020503050405090304" pitchFamily="18" charset="0"/>
            </a:endParaRPr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6018215" y="5680077"/>
            <a:ext cx="26558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503050405090304" pitchFamily="18" charset="0"/>
              </a:rPr>
              <a:t>优先级相同（低）</a:t>
            </a:r>
            <a:endParaRPr kumimoji="1" lang="zh-CN" altLang="en-US" sz="2400">
              <a:latin typeface="Times New Roman" panose="0202050305040509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84327" y="3789363"/>
          <a:ext cx="3929063" cy="2413614"/>
        </p:xfrm>
        <a:graphic>
          <a:graphicData uri="http://schemas.openxmlformats.org/drawingml/2006/table">
            <a:tbl>
              <a:tblPr/>
              <a:tblGrid>
                <a:gridCol w="1912938"/>
                <a:gridCol w="2016125"/>
              </a:tblGrid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运算符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说明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   &gt;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大于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 &gt;=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大于等于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  &lt;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小于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&lt;=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小于等于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= =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等于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  !=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不等于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中宋" pitchFamily="2" charset="-122"/>
                      </a:endParaRPr>
                    </a:p>
                  </a:txBody>
                  <a:tcPr marL="9525" marR="9525" marT="9522" marB="0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逻辑运算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逻辑运算符如下：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!</a:t>
            </a:r>
            <a:r>
              <a:rPr lang="zh-CN" altLang="en-US" dirty="0"/>
              <a:t>为单目运算符，</a:t>
            </a:r>
            <a:r>
              <a:rPr lang="en-US" altLang="zh-CN" dirty="0"/>
              <a:t>&amp;&amp;</a:t>
            </a:r>
            <a:r>
              <a:rPr lang="zh-CN" altLang="en-US" dirty="0"/>
              <a:t>和</a:t>
            </a:r>
            <a:r>
              <a:rPr lang="en-US" altLang="zh-CN" dirty="0"/>
              <a:t>||</a:t>
            </a:r>
            <a:r>
              <a:rPr lang="zh-CN" altLang="en-US" dirty="0"/>
              <a:t>为双目运算符</a:t>
            </a:r>
            <a:endParaRPr lang="en-US" altLang="zh-CN" dirty="0"/>
          </a:p>
          <a:p>
            <a:r>
              <a:rPr lang="zh-CN" altLang="en-US" dirty="0"/>
              <a:t>优先级</a:t>
            </a:r>
            <a:endParaRPr lang="en-US" altLang="zh-CN" dirty="0"/>
          </a:p>
          <a:p>
            <a:pPr lvl="1"/>
            <a:r>
              <a:rPr lang="en-US" altLang="zh-CN" dirty="0"/>
              <a:t>! &gt; &amp;&amp; &gt;||</a:t>
            </a:r>
            <a:r>
              <a:rPr lang="zh-CN" altLang="en-US" dirty="0"/>
              <a:t>，即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!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为三者中最高。</a:t>
            </a:r>
            <a:endParaRPr lang="zh-CN" altLang="en-US" dirty="0"/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&amp;&amp;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/>
              <a:t>和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||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solidFill>
                  <a:srgbClr val="0000CC"/>
                </a:solidFill>
              </a:rPr>
              <a:t>低于</a:t>
            </a:r>
            <a:r>
              <a:rPr lang="zh-CN" altLang="en-US" dirty="0"/>
              <a:t>关系运算符。</a:t>
            </a:r>
            <a:endParaRPr lang="zh-CN" altLang="en-US" dirty="0"/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!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solidFill>
                  <a:srgbClr val="0000CC"/>
                </a:solidFill>
              </a:rPr>
              <a:t>高于</a:t>
            </a:r>
            <a:r>
              <a:rPr lang="zh-CN" altLang="en-US" dirty="0"/>
              <a:t>算术运算符。</a:t>
            </a:r>
            <a:endParaRPr lang="zh-CN" altLang="en-US" dirty="0"/>
          </a:p>
          <a:p>
            <a:endParaRPr lang="en-US" altLang="en-US" dirty="0">
              <a:ea typeface="华文中宋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8286" y="2033911"/>
          <a:ext cx="5183368" cy="1584792"/>
        </p:xfrm>
        <a:graphic>
          <a:graphicData uri="http://schemas.openxmlformats.org/drawingml/2006/table">
            <a:tbl>
              <a:tblPr/>
              <a:tblGrid>
                <a:gridCol w="2240389"/>
                <a:gridCol w="2942979"/>
              </a:tblGrid>
              <a:tr h="34877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运算符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说明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77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!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逻辑非（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NOT）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</a:tr>
              <a:tr h="34877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&amp;&amp;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逻辑与（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宋体" pitchFamily="2" charset="-122"/>
                        </a:rPr>
                        <a:t>AND）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77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||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宋体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itchFamily="34" charset="0"/>
                          <a:ea typeface="华文中宋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逻辑或（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OR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华文中宋" pitchFamily="2" charset="-122"/>
                        </a:rPr>
                        <a:t>）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华文中宋" pitchFamily="2" charset="-122"/>
                      </a:endParaRPr>
                    </a:p>
                  </a:txBody>
                  <a:tcPr marL="91437" marR="91437" marT="45699" marB="45699"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sz="4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逻辑表达式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用逻辑运算符将关系表达式或逻辑量连接起来的式子</a:t>
            </a:r>
            <a:endParaRPr lang="en-US" altLang="zh-CN" dirty="0"/>
          </a:p>
          <a:p>
            <a:r>
              <a:rPr lang="zh-CN" altLang="en-US" dirty="0"/>
              <a:t>求解：</a:t>
            </a:r>
            <a:r>
              <a:rPr lang="en-US" altLang="zh-CN"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5&gt;3&amp;&amp;</a:t>
            </a:r>
            <a:r>
              <a:rPr lang="en-US" altLang="zh-CN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8&lt;4-!0</a:t>
            </a:r>
            <a:r>
              <a:rPr lang="zh-CN" altLang="en-US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dirty="0"/>
              <a:t>的值</a:t>
            </a:r>
            <a:endParaRPr lang="en-US" altLang="en-US" dirty="0">
              <a:ea typeface="华文中宋" pitchFamily="2" charset="-122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15132" y="5084763"/>
            <a:ext cx="2232025" cy="9144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1&amp;&amp;0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逻辑值为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0</a:t>
            </a:r>
            <a:endParaRPr lang="en-US" altLang="zh-CN" sz="2200" dirty="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407517" y="5011738"/>
            <a:ext cx="1944688" cy="9144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8&lt;3</a:t>
            </a:r>
            <a:r>
              <a:rPr lang="zh-CN" altLang="en-US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逻辑值为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0</a:t>
            </a:r>
            <a:endParaRPr lang="en-US" altLang="zh-CN" sz="220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336080" y="3500438"/>
            <a:ext cx="1943100" cy="9144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4-1</a:t>
            </a:r>
            <a:r>
              <a:rPr lang="zh-CN" altLang="en-US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值为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3</a:t>
            </a:r>
            <a:endParaRPr lang="en-US" altLang="zh-CN" sz="220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959592" y="3500438"/>
            <a:ext cx="1944688" cy="9144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!0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逻辑值为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1</a:t>
            </a:r>
            <a:endParaRPr lang="en-US" altLang="zh-CN" sz="2200" dirty="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1295767" y="3500438"/>
            <a:ext cx="1944688" cy="9144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5&gt;3</a:t>
            </a:r>
            <a:r>
              <a:rPr lang="zh-CN" altLang="en-US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逻辑值为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</a:rPr>
              <a:t>1</a:t>
            </a:r>
            <a:endParaRPr lang="en-US" altLang="zh-CN" sz="220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238621" y="3861370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5904031" y="3861370"/>
            <a:ext cx="431800" cy="287338"/>
          </a:xfrm>
          <a:prstGeom prst="rightArrow">
            <a:avLst>
              <a:gd name="adj1" fmla="val 50000"/>
              <a:gd name="adj2" fmla="val 3756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7343896" y="4436047"/>
            <a:ext cx="287337" cy="576263"/>
          </a:xfrm>
          <a:prstGeom prst="downArrow">
            <a:avLst>
              <a:gd name="adj1" fmla="val 50000"/>
              <a:gd name="adj2" fmla="val 5013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AutoShape 12"/>
          <p:cNvSpPr>
            <a:spLocks noChangeArrowheads="1"/>
          </p:cNvSpPr>
          <p:nvPr/>
        </p:nvSpPr>
        <p:spPr bwMode="auto">
          <a:xfrm>
            <a:off x="6046908" y="5444110"/>
            <a:ext cx="360363" cy="217487"/>
          </a:xfrm>
          <a:prstGeom prst="leftArrow">
            <a:avLst>
              <a:gd name="adj1" fmla="val 50000"/>
              <a:gd name="adj2" fmla="val 4142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1151305" y="5084763"/>
            <a:ext cx="213836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400">
                <a:solidFill>
                  <a:srgbClr val="0000CC"/>
                </a:solidFill>
                <a:latin typeface="Times New Roman" panose="02020503050405090304" pitchFamily="18" charset="0"/>
              </a:rPr>
              <a:t>表达式值为</a:t>
            </a:r>
            <a:r>
              <a:rPr lang="en-US" altLang="zh-CN" sz="2400">
                <a:solidFill>
                  <a:srgbClr val="0000CC"/>
                </a:solidFill>
                <a:latin typeface="Times New Roman" panose="02020503050405090304" pitchFamily="18" charset="0"/>
              </a:rPr>
              <a:t>0</a:t>
            </a:r>
            <a:endParaRPr lang="en-US" altLang="zh-CN" sz="2400">
              <a:solidFill>
                <a:srgbClr val="0000CC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逻辑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表达式</a:t>
            </a:r>
            <a:r>
              <a:rPr lang="zh-CN" alt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 sz="440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在逻辑表达式的求解中，并不是所有的逻辑运算符都要被执行。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/>
                </a:solidFill>
              </a:rPr>
              <a:t>a&amp;&amp;b&amp;&amp;c</a:t>
            </a:r>
            <a:r>
              <a:rPr lang="zh-CN" altLang="en-US">
                <a:solidFill>
                  <a:schemeClr val="tx1"/>
                </a:solidFill>
              </a:rPr>
              <a:t>只有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为真时，才需要判断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的值，只有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都为真时，才需要判断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zh-CN" altLang="en-US">
                <a:solidFill>
                  <a:schemeClr val="tx1"/>
                </a:solidFill>
              </a:rPr>
              <a:t>的值。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a||b||c  </a:t>
            </a:r>
            <a:r>
              <a:rPr lang="zh-CN" altLang="en-US">
                <a:solidFill>
                  <a:schemeClr val="tx1"/>
                </a:solidFill>
              </a:rPr>
              <a:t>只要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为真，就不必判断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zh-CN" altLang="en-US">
                <a:solidFill>
                  <a:schemeClr val="tx1"/>
                </a:solidFill>
              </a:rPr>
              <a:t>的值，只有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为假，才判断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都为假才判断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例如：</a:t>
            </a:r>
            <a:r>
              <a:rPr lang="en-US" altLang="zh-CN">
                <a:solidFill>
                  <a:schemeClr val="tx1"/>
                </a:solidFill>
              </a:rPr>
              <a:t>(m=a&gt;b)&amp;&amp;(n=c&gt;d)</a:t>
            </a:r>
            <a:endParaRPr lang="en-US" altLang="zh-CN">
              <a:solidFill>
                <a:schemeClr val="tx1"/>
              </a:solidFill>
            </a:endParaRPr>
          </a:p>
          <a:p>
            <a:pPr lvl="2"/>
            <a:r>
              <a:rPr lang="en-US" altLang="zh-CN"/>
              <a:t>a=1,b=2,c=3,d=4,m</a:t>
            </a:r>
            <a:r>
              <a:rPr lang="zh-CN" altLang="en-US"/>
              <a:t>和</a:t>
            </a:r>
            <a:r>
              <a:rPr lang="en-US" altLang="zh-CN"/>
              <a:t>n</a:t>
            </a:r>
            <a:r>
              <a:rPr lang="zh-CN" altLang="en-US"/>
              <a:t>的原值为</a:t>
            </a:r>
            <a:r>
              <a:rPr lang="en-US" altLang="zh-CN"/>
              <a:t>1</a:t>
            </a:r>
            <a:r>
              <a:rPr lang="zh-CN" altLang="en-US"/>
              <a:t>时，由于“</a:t>
            </a:r>
            <a:r>
              <a:rPr lang="en-US" altLang="zh-CN"/>
              <a:t>a&gt;b”</a:t>
            </a:r>
            <a:r>
              <a:rPr lang="zh-CN" altLang="en-US"/>
              <a:t>的值为</a:t>
            </a:r>
            <a:r>
              <a:rPr lang="en-US" altLang="zh-CN"/>
              <a:t>0</a:t>
            </a:r>
            <a:r>
              <a:rPr lang="zh-CN" altLang="en-US"/>
              <a:t>，因此</a:t>
            </a:r>
            <a:r>
              <a:rPr lang="en-US" altLang="zh-CN"/>
              <a:t>m=0</a:t>
            </a:r>
            <a:r>
              <a:rPr lang="zh-CN" altLang="en-US"/>
              <a:t>，而“</a:t>
            </a:r>
            <a:r>
              <a:rPr lang="en-US" altLang="zh-CN"/>
              <a:t>n=c&gt;d”</a:t>
            </a:r>
            <a:r>
              <a:rPr lang="zh-CN" altLang="en-US"/>
              <a:t>不被执行，因此</a:t>
            </a:r>
            <a:r>
              <a:rPr lang="en-US" altLang="zh-CN"/>
              <a:t>n</a:t>
            </a:r>
            <a:r>
              <a:rPr lang="zh-CN" altLang="en-US"/>
              <a:t>的值不是</a:t>
            </a:r>
            <a:r>
              <a:rPr lang="en-US" altLang="zh-CN"/>
              <a:t>0</a:t>
            </a:r>
            <a:r>
              <a:rPr lang="zh-CN" altLang="en-US"/>
              <a:t>而仍保持原值</a:t>
            </a:r>
            <a:r>
              <a:rPr lang="en-US" altLang="zh-CN"/>
              <a:t>1</a:t>
            </a:r>
            <a:r>
              <a:rPr lang="zh-CN" altLang="en-US"/>
              <a:t>。</a:t>
            </a:r>
            <a:endParaRPr lang="en-US" altLang="en-US"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类型转换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20672" y="1331650"/>
            <a:ext cx="8102656" cy="537337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隐式类型转换：处理不同类型的数据时，计算机自动进行转换</a:t>
            </a:r>
            <a:endParaRPr lang="zh-CN" altLang="en-US" dirty="0"/>
          </a:p>
          <a:p>
            <a:pPr lvl="1"/>
            <a:r>
              <a:rPr lang="zh-CN" altLang="en-US" dirty="0"/>
              <a:t>运算转换：不同类型数据混合运算时</a:t>
            </a:r>
            <a:endParaRPr lang="zh-CN" altLang="en-US" dirty="0"/>
          </a:p>
          <a:p>
            <a:pPr lvl="1"/>
            <a:r>
              <a:rPr lang="zh-CN" altLang="en-US" dirty="0"/>
              <a:t>赋值转换：把一个值赋给与其类型不同的变量时</a:t>
            </a:r>
            <a:endParaRPr lang="zh-CN" altLang="en-US" dirty="0"/>
          </a:p>
          <a:p>
            <a:pPr lvl="1"/>
            <a:r>
              <a:rPr lang="zh-CN" altLang="en-US" dirty="0"/>
              <a:t>输出转换：输出时转换成指定的输出格式</a:t>
            </a:r>
            <a:endParaRPr lang="zh-CN" altLang="en-US" dirty="0"/>
          </a:p>
          <a:p>
            <a:pPr lvl="1"/>
            <a:r>
              <a:rPr lang="zh-CN" altLang="en-US" dirty="0"/>
              <a:t>函数调用转换：实参与形参类型不一致时转换</a:t>
            </a:r>
            <a:endParaRPr lang="en-US" altLang="zh-CN" dirty="0"/>
          </a:p>
          <a:p>
            <a:r>
              <a:rPr lang="zh-CN" altLang="en-US" dirty="0"/>
              <a:t>显式类型转换：程序员在代码中使用强制类型转换运算符</a:t>
            </a:r>
            <a:endParaRPr lang="en-US" altLang="zh-CN" dirty="0"/>
          </a:p>
          <a:p>
            <a:pPr lvl="1"/>
            <a:r>
              <a:rPr lang="zh-CN" altLang="en-US" dirty="0"/>
              <a:t>强制类型转换运算：</a:t>
            </a:r>
            <a:r>
              <a:rPr lang="zh-CN" altLang="en-US" b="1" dirty="0">
                <a:solidFill>
                  <a:srgbClr val="FF0000"/>
                </a:solidFill>
              </a:rPr>
              <a:t>（类型标识符）表达式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强制类型转换是一个单目运算符，各种数据类型都可用于显式转换运行符</a:t>
            </a:r>
            <a:endParaRPr lang="en-US" altLang="zh-CN" dirty="0"/>
          </a:p>
          <a:p>
            <a:pPr lvl="1"/>
            <a:r>
              <a:rPr lang="zh-CN" altLang="en-US" dirty="0"/>
              <a:t>例：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endParaRPr lang="en-US" altLang="zh-CN" dirty="0"/>
          </a:p>
          <a:p>
            <a:pPr lvl="2"/>
            <a:r>
              <a:rPr lang="zh-CN" altLang="en-US" sz="1600" dirty="0"/>
              <a:t>表达式应该用括号括起来：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) x + y</a:t>
            </a:r>
            <a:r>
              <a:rPr lang="zh-CN" altLang="en-US" sz="1600" dirty="0"/>
              <a:t>只将</a:t>
            </a:r>
            <a:r>
              <a:rPr lang="en-US" altLang="zh-CN" sz="1600" dirty="0"/>
              <a:t>x</a:t>
            </a:r>
            <a:r>
              <a:rPr lang="zh-CN" altLang="en-US" sz="1600" dirty="0"/>
              <a:t>转换成整型，然后与</a:t>
            </a:r>
            <a:r>
              <a:rPr lang="en-US" altLang="zh-CN" sz="1600" dirty="0"/>
              <a:t>y</a:t>
            </a:r>
            <a:r>
              <a:rPr lang="zh-CN" altLang="en-US" sz="1600" dirty="0"/>
              <a:t>相加</a:t>
            </a:r>
            <a:endParaRPr lang="en-US" altLang="zh-CN" sz="1600" dirty="0"/>
          </a:p>
          <a:p>
            <a:pPr lvl="2"/>
            <a:r>
              <a:rPr lang="zh-CN" altLang="en-US" sz="1600" dirty="0"/>
              <a:t>对一个变量进行显式转换后，得到一个所需类型的中间变量，原来变量类型不变</a:t>
            </a:r>
            <a:endParaRPr lang="zh-CN" altLang="en-US" sz="1600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4543960"/>
            <a:ext cx="3762568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  <a:buFont typeface="Wingdings 2" panose="05020102010507070707" pitchFamily="18" charset="2"/>
              <a:buNone/>
            </a:pP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(char)( 3 - 3.14159 * x )</a:t>
            </a:r>
            <a:endParaRPr lang="en-US" altLang="zh-CN" sz="15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>
              <a:lnSpc>
                <a:spcPct val="125000"/>
              </a:lnSpc>
              <a:buFont typeface="Wingdings 2" panose="05020102010507070707" pitchFamily="18" charset="2"/>
              <a:buNone/>
            </a:pP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k=(</a:t>
            </a:r>
            <a:r>
              <a:rPr lang="en-US" altLang="zh-CN" sz="15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)((</a:t>
            </a:r>
            <a:r>
              <a:rPr lang="en-US" altLang="zh-CN" sz="15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)x + (float)</a:t>
            </a:r>
            <a:r>
              <a:rPr lang="en-US" altLang="zh-CN" sz="15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 + j) </a:t>
            </a:r>
            <a:endParaRPr lang="en-US" altLang="zh-CN" sz="15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>
              <a:lnSpc>
                <a:spcPct val="125000"/>
              </a:lnSpc>
              <a:buFont typeface="Wingdings 2" panose="05020102010507070707" pitchFamily="18" charset="2"/>
              <a:buNone/>
            </a:pP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(float)(x = 99)</a:t>
            </a:r>
            <a:endParaRPr lang="en-US" altLang="zh-CN" sz="15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>
              <a:lnSpc>
                <a:spcPct val="125000"/>
              </a:lnSpc>
              <a:buFont typeface="Wingdings 2" panose="05020102010507070707" pitchFamily="18" charset="2"/>
              <a:buNone/>
            </a:pPr>
            <a:r>
              <a:rPr lang="en-US" altLang="zh-CN" sz="1500" dirty="0">
                <a:latin typeface="Courier New" panose="02070409020205090404" pitchFamily="49" charset="0"/>
                <a:cs typeface="Courier New" panose="02070409020205090404" pitchFamily="49" charset="0"/>
              </a:rPr>
              <a:t>(double)(5 % 3)</a:t>
            </a:r>
            <a:endParaRPr lang="en-US" altLang="zh-CN" sz="15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endParaRPr lang="zh-CN" altLang="en-US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331650"/>
            <a:ext cx="8280000" cy="5373369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sz="2200" dirty="0"/>
          </a:p>
          <a:p>
            <a:r>
              <a:rPr lang="zh-CN" altLang="en-US" sz="2000" dirty="0"/>
              <a:t>由低级别的数据类型转换为高级别的数据类型，称为</a:t>
            </a:r>
            <a:r>
              <a:rPr lang="zh-CN" altLang="en-US" sz="2000" dirty="0">
                <a:solidFill>
                  <a:srgbClr val="FF0000"/>
                </a:solidFill>
              </a:rPr>
              <a:t>类型提升（扩展）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由高级别的数据类型转换为低级别的数据类型，称为</a:t>
            </a:r>
            <a:r>
              <a:rPr lang="zh-CN" altLang="en-US" sz="2000" dirty="0">
                <a:solidFill>
                  <a:srgbClr val="FF0000"/>
                </a:solidFill>
              </a:rPr>
              <a:t>类型下降（截断）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同一长度的数据带符号与不带符号的属于相同级别，二者之间可转换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数据类型的级别</a:t>
            </a:r>
            <a:endParaRPr lang="zh-CN" altLang="en-US" dirty="0"/>
          </a:p>
        </p:txBody>
      </p:sp>
      <p:grpSp>
        <p:nvGrpSpPr>
          <p:cNvPr id="6" name="组合 30"/>
          <p:cNvGrpSpPr/>
          <p:nvPr/>
        </p:nvGrpSpPr>
        <p:grpSpPr bwMode="auto">
          <a:xfrm>
            <a:off x="4195583" y="432000"/>
            <a:ext cx="4466804" cy="3747370"/>
            <a:chOff x="609600" y="2286000"/>
            <a:chExt cx="4268788" cy="4344229"/>
          </a:xfrm>
        </p:grpSpPr>
        <p:grpSp>
          <p:nvGrpSpPr>
            <p:cNvPr id="7" name="Group 2"/>
            <p:cNvGrpSpPr/>
            <p:nvPr/>
          </p:nvGrpSpPr>
          <p:grpSpPr bwMode="auto">
            <a:xfrm>
              <a:off x="609600" y="2286000"/>
              <a:ext cx="4268788" cy="4344229"/>
              <a:chOff x="328" y="539"/>
              <a:chExt cx="2689" cy="2098"/>
            </a:xfrm>
          </p:grpSpPr>
          <p:sp>
            <p:nvSpPr>
              <p:cNvPr id="12" name="Rectangle 3"/>
              <p:cNvSpPr>
                <a:spLocks noChangeArrowheads="1"/>
              </p:cNvSpPr>
              <p:nvPr/>
            </p:nvSpPr>
            <p:spPr bwMode="auto">
              <a:xfrm>
                <a:off x="328" y="539"/>
                <a:ext cx="2689" cy="2098"/>
              </a:xfrm>
              <a:prstGeom prst="rect">
                <a:avLst/>
              </a:prstGeom>
              <a:solidFill>
                <a:srgbClr val="FFFFFF"/>
              </a:solidFill>
              <a:ln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algn="ctr" eaLnBrk="0" hangingPunct="0">
                  <a:buSzPct val="100000"/>
                </a:pPr>
                <a:endParaRPr kumimoji="1" lang="zh-CN" altLang="zh-CN" sz="400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3" name="Text Box 4"/>
              <p:cNvSpPr>
                <a:spLocks noChangeArrowheads="1"/>
              </p:cNvSpPr>
              <p:nvPr/>
            </p:nvSpPr>
            <p:spPr bwMode="auto">
              <a:xfrm>
                <a:off x="1007" y="608"/>
                <a:ext cx="557" cy="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en-US" altLang="zh-CN" sz="2800" b="1">
                    <a:latin typeface="Times New Roman" panose="02020503050405090304" pitchFamily="18" charset="0"/>
                  </a:rPr>
                  <a:t>float</a:t>
                </a:r>
                <a:endParaRPr kumimoji="1" lang="en-US" altLang="zh-CN" sz="280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4" name="Text Box 6"/>
              <p:cNvSpPr>
                <a:spLocks noChangeArrowheads="1"/>
              </p:cNvSpPr>
              <p:nvPr/>
            </p:nvSpPr>
            <p:spPr bwMode="auto">
              <a:xfrm>
                <a:off x="1096" y="1019"/>
                <a:ext cx="527" cy="3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en-US" altLang="zh-CN" sz="2800" b="1">
                    <a:latin typeface="Times New Roman" panose="02020503050405090304" pitchFamily="18" charset="0"/>
                  </a:rPr>
                  <a:t>long</a:t>
                </a:r>
                <a:endParaRPr kumimoji="1" lang="en-US" altLang="zh-CN" sz="280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5" name="Text Box 7"/>
              <p:cNvSpPr>
                <a:spLocks noChangeArrowheads="1"/>
              </p:cNvSpPr>
              <p:nvPr/>
            </p:nvSpPr>
            <p:spPr bwMode="auto">
              <a:xfrm>
                <a:off x="1192" y="1460"/>
                <a:ext cx="381" cy="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en-US" altLang="zh-CN" sz="2800" b="1">
                    <a:latin typeface="Times New Roman" panose="02020503050405090304" pitchFamily="18" charset="0"/>
                  </a:rPr>
                  <a:t>int</a:t>
                </a:r>
                <a:endParaRPr kumimoji="1" lang="en-US" altLang="zh-CN" sz="280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6" name="Text Box 8"/>
              <p:cNvSpPr>
                <a:spLocks noChangeArrowheads="1"/>
              </p:cNvSpPr>
              <p:nvPr/>
            </p:nvSpPr>
            <p:spPr bwMode="auto">
              <a:xfrm>
                <a:off x="1192" y="2305"/>
                <a:ext cx="381" cy="2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en-US" altLang="zh-CN" sz="2800" b="1">
                    <a:latin typeface="Times New Roman" panose="02020503050405090304" pitchFamily="18" charset="0"/>
                  </a:rPr>
                  <a:t>bit</a:t>
                </a:r>
                <a:endParaRPr kumimoji="1" lang="en-US" altLang="zh-CN" sz="280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7" name="Text Box 9"/>
              <p:cNvSpPr>
                <a:spLocks noChangeArrowheads="1"/>
              </p:cNvSpPr>
              <p:nvPr/>
            </p:nvSpPr>
            <p:spPr bwMode="auto">
              <a:xfrm>
                <a:off x="1048" y="1901"/>
                <a:ext cx="556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en-US" altLang="zh-CN" sz="2800" b="1">
                    <a:latin typeface="Times New Roman" panose="02020503050405090304" pitchFamily="18" charset="0"/>
                  </a:rPr>
                  <a:t>char</a:t>
                </a:r>
                <a:endParaRPr kumimoji="1" lang="en-US" altLang="zh-CN" sz="2800" b="1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 rot="10800000" flipH="1">
                <a:off x="1336" y="819"/>
                <a:ext cx="0" cy="24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1"/>
              <p:cNvSpPr>
                <a:spLocks noChangeShapeType="1"/>
              </p:cNvSpPr>
              <p:nvPr/>
            </p:nvSpPr>
            <p:spPr bwMode="auto">
              <a:xfrm rot="10800000" flipH="1">
                <a:off x="1336" y="1260"/>
                <a:ext cx="4" cy="235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2"/>
              <p:cNvSpPr>
                <a:spLocks noChangeShapeType="1"/>
              </p:cNvSpPr>
              <p:nvPr/>
            </p:nvSpPr>
            <p:spPr bwMode="auto">
              <a:xfrm rot="10800000" flipH="1">
                <a:off x="1336" y="1700"/>
                <a:ext cx="0" cy="24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5"/>
              <p:cNvSpPr>
                <a:spLocks noChangeShapeType="1"/>
              </p:cNvSpPr>
              <p:nvPr/>
            </p:nvSpPr>
            <p:spPr bwMode="auto">
              <a:xfrm flipH="1" flipV="1">
                <a:off x="659" y="983"/>
                <a:ext cx="23" cy="1522"/>
              </a:xfrm>
              <a:prstGeom prst="line">
                <a:avLst/>
              </a:prstGeom>
              <a:noFill/>
              <a:ln w="9525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Text Box 16"/>
              <p:cNvSpPr>
                <a:spLocks noChangeArrowheads="1"/>
              </p:cNvSpPr>
              <p:nvPr/>
            </p:nvSpPr>
            <p:spPr bwMode="auto">
              <a:xfrm>
                <a:off x="355" y="2315"/>
                <a:ext cx="344" cy="2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zh-CN" altLang="en-US" sz="2800" b="1">
                    <a:solidFill>
                      <a:srgbClr val="0000FF"/>
                    </a:solidFill>
                    <a:latin typeface="Times New Roman" panose="02020503050405090304" pitchFamily="18" charset="0"/>
                  </a:rPr>
                  <a:t>低</a:t>
                </a:r>
                <a:endParaRPr kumimoji="1" lang="zh-CN" altLang="en-US" sz="2800" b="1">
                  <a:solidFill>
                    <a:srgbClr val="0000FF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23" name="Text Box 17"/>
              <p:cNvSpPr>
                <a:spLocks noChangeArrowheads="1"/>
              </p:cNvSpPr>
              <p:nvPr/>
            </p:nvSpPr>
            <p:spPr bwMode="auto">
              <a:xfrm>
                <a:off x="355" y="661"/>
                <a:ext cx="344" cy="2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 eaLnBrk="0" hangingPunct="0">
                  <a:buSzPct val="100000"/>
                </a:pPr>
                <a:r>
                  <a:rPr kumimoji="1" lang="zh-CN" altLang="en-US" sz="2800" b="1">
                    <a:solidFill>
                      <a:srgbClr val="0000FF"/>
                    </a:solidFill>
                    <a:latin typeface="Times New Roman" panose="02020503050405090304" pitchFamily="18" charset="0"/>
                  </a:rPr>
                  <a:t>高</a:t>
                </a:r>
                <a:endParaRPr kumimoji="1" lang="zh-CN" altLang="en-US" sz="2800" b="1">
                  <a:solidFill>
                    <a:srgbClr val="0000FF"/>
                  </a:solidFill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8" name="Text Box 7"/>
            <p:cNvSpPr>
              <a:spLocks noChangeArrowheads="1"/>
            </p:cNvSpPr>
            <p:nvPr/>
          </p:nvSpPr>
          <p:spPr bwMode="auto">
            <a:xfrm>
              <a:off x="3048000" y="3505200"/>
              <a:ext cx="1549400" cy="622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 eaLnBrk="0" hangingPunct="0">
                <a:buSzPct val="100000"/>
              </a:pPr>
              <a:r>
                <a:rPr kumimoji="1" lang="en-US" altLang="zh-CN" sz="2800" b="1">
                  <a:latin typeface="Times New Roman" panose="02020503050405090304" pitchFamily="18" charset="0"/>
                </a:rPr>
                <a:t>unsigned</a:t>
              </a:r>
              <a:endParaRPr kumimoji="1" lang="en-US" altLang="zh-CN" sz="2800" b="1">
                <a:latin typeface="Times New Roman" panose="02020503050405090304" pitchFamily="18" charset="0"/>
              </a:endParaRPr>
            </a:p>
          </p:txBody>
        </p:sp>
        <p:sp>
          <p:nvSpPr>
            <p:cNvPr id="9" name="Text Box 7"/>
            <p:cNvSpPr>
              <a:spLocks noChangeArrowheads="1"/>
            </p:cNvSpPr>
            <p:nvPr/>
          </p:nvSpPr>
          <p:spPr bwMode="auto">
            <a:xfrm>
              <a:off x="3276600" y="4876800"/>
              <a:ext cx="1162498" cy="523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 eaLnBrk="0" hangingPunct="0">
                <a:buSzPct val="100000"/>
              </a:pPr>
              <a:r>
                <a:rPr kumimoji="1" lang="en-US" altLang="zh-CN" sz="2800" b="1">
                  <a:latin typeface="Times New Roman" panose="02020503050405090304" pitchFamily="18" charset="0"/>
                </a:rPr>
                <a:t>signed</a:t>
              </a:r>
              <a:endParaRPr kumimoji="1" lang="en-US" altLang="zh-CN" sz="2800" b="1">
                <a:latin typeface="Times New Roman" panose="02020503050405090304" pitchFamily="18" charset="0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rot="10800000" flipH="1">
              <a:off x="2286000" y="5486400"/>
              <a:ext cx="0" cy="45720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rot="10800000" flipH="1">
              <a:off x="3886200" y="4114799"/>
              <a:ext cx="0" cy="68580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signed</a:t>
            </a:r>
            <a:r>
              <a:rPr lang="zh-CN" altLang="en-US" dirty="0"/>
              <a:t>型的整型数提升为较长</a:t>
            </a:r>
            <a:r>
              <a:rPr lang="en-US" altLang="zh-CN" dirty="0"/>
              <a:t>signed</a:t>
            </a:r>
            <a:r>
              <a:rPr lang="zh-CN" altLang="en-US" dirty="0"/>
              <a:t>型时，增加的位的状态与原来较短的数据中的符号位相同，称为</a:t>
            </a:r>
            <a:r>
              <a:rPr lang="zh-CN" altLang="en-US" dirty="0">
                <a:solidFill>
                  <a:srgbClr val="FF0000"/>
                </a:solidFill>
              </a:rPr>
              <a:t>符号扩展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将</a:t>
            </a:r>
            <a:r>
              <a:rPr lang="en-US" altLang="zh-CN" dirty="0"/>
              <a:t>unsigned</a:t>
            </a:r>
            <a:r>
              <a:rPr lang="zh-CN" altLang="en-US" dirty="0"/>
              <a:t>型扩展为较长的整型数据时，增加的位全部置</a:t>
            </a:r>
            <a:r>
              <a:rPr lang="en-US" altLang="zh-CN" dirty="0"/>
              <a:t>0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FF0000"/>
                </a:solidFill>
              </a:rPr>
              <a:t>零扩展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符号扩展和零扩展的目的都是为了</a:t>
            </a:r>
            <a:r>
              <a:rPr lang="zh-CN" altLang="en-US" dirty="0">
                <a:solidFill>
                  <a:srgbClr val="FF0000"/>
                </a:solidFill>
              </a:rPr>
              <a:t>保证数值不变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整数的扩展：符号扩展与零扩展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整数的扩展：符号扩展与零扩展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1219200" y="1772816"/>
            <a:ext cx="4953000" cy="1371601"/>
            <a:chOff x="768" y="480"/>
            <a:chExt cx="3120" cy="1152"/>
          </a:xfrm>
        </p:grpSpPr>
        <p:grpSp>
          <p:nvGrpSpPr>
            <p:cNvPr id="5" name="Group 4"/>
            <p:cNvGrpSpPr/>
            <p:nvPr/>
          </p:nvGrpSpPr>
          <p:grpSpPr bwMode="auto">
            <a:xfrm>
              <a:off x="768" y="480"/>
              <a:ext cx="3072" cy="240"/>
              <a:chOff x="816" y="1104"/>
              <a:chExt cx="3072" cy="240"/>
            </a:xfrm>
          </p:grpSpPr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30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 dirty="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1  1  1  1  1  1  1  1  1  1  0  1  0  0  0  1</a:t>
                </a:r>
                <a:endPara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3" name="Line 6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4" name="Line 7"/>
              <p:cNvSpPr>
                <a:spLocks noChangeShapeType="1"/>
              </p:cNvSpPr>
              <p:nvPr/>
            </p:nvSpPr>
            <p:spPr bwMode="auto">
              <a:xfrm>
                <a:off x="120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5" name="Line 8"/>
              <p:cNvSpPr>
                <a:spLocks noChangeShapeType="1"/>
              </p:cNvSpPr>
              <p:nvPr/>
            </p:nvSpPr>
            <p:spPr bwMode="auto">
              <a:xfrm>
                <a:off x="139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6" name="Line 9"/>
              <p:cNvSpPr>
                <a:spLocks noChangeShapeType="1"/>
              </p:cNvSpPr>
              <p:nvPr/>
            </p:nvSpPr>
            <p:spPr bwMode="auto">
              <a:xfrm>
                <a:off x="158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>
                <a:off x="177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8" name="Line 11"/>
              <p:cNvSpPr>
                <a:spLocks noChangeShapeType="1"/>
              </p:cNvSpPr>
              <p:nvPr/>
            </p:nvSpPr>
            <p:spPr bwMode="auto">
              <a:xfrm>
                <a:off x="196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9" name="Line 12"/>
              <p:cNvSpPr>
                <a:spLocks noChangeShapeType="1"/>
              </p:cNvSpPr>
              <p:nvPr/>
            </p:nvSpPr>
            <p:spPr bwMode="auto">
              <a:xfrm>
                <a:off x="216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0" name="Line 13"/>
              <p:cNvSpPr>
                <a:spLocks noChangeShapeType="1"/>
              </p:cNvSpPr>
              <p:nvPr/>
            </p:nvSpPr>
            <p:spPr bwMode="auto">
              <a:xfrm>
                <a:off x="235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1" name="Line 14"/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2" name="Line 15"/>
              <p:cNvSpPr>
                <a:spLocks noChangeShapeType="1"/>
              </p:cNvSpPr>
              <p:nvPr/>
            </p:nvSpPr>
            <p:spPr bwMode="auto">
              <a:xfrm>
                <a:off x="273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3" name="Line 16"/>
              <p:cNvSpPr>
                <a:spLocks noChangeShapeType="1"/>
              </p:cNvSpPr>
              <p:nvPr/>
            </p:nvSpPr>
            <p:spPr bwMode="auto">
              <a:xfrm>
                <a:off x="292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312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5" name="Line 18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6" name="Line 19"/>
              <p:cNvSpPr>
                <a:spLocks noChangeShapeType="1"/>
              </p:cNvSpPr>
              <p:nvPr/>
            </p:nvSpPr>
            <p:spPr bwMode="auto">
              <a:xfrm>
                <a:off x="350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7" name="Line 20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6" name="Group 21"/>
            <p:cNvGrpSpPr/>
            <p:nvPr/>
          </p:nvGrpSpPr>
          <p:grpSpPr bwMode="auto">
            <a:xfrm>
              <a:off x="2304" y="1008"/>
              <a:ext cx="1536" cy="240"/>
              <a:chOff x="2592" y="1440"/>
              <a:chExt cx="1536" cy="240"/>
            </a:xfrm>
          </p:grpSpPr>
          <p:sp>
            <p:nvSpPr>
              <p:cNvPr id="14" name="Rectangle 22"/>
              <p:cNvSpPr>
                <a:spLocks noChangeArrowheads="1"/>
              </p:cNvSpPr>
              <p:nvPr/>
            </p:nvSpPr>
            <p:spPr bwMode="auto">
              <a:xfrm>
                <a:off x="2592" y="1440"/>
                <a:ext cx="15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1  1  0  1  0  0  0  1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5" name="Line 23"/>
              <p:cNvSpPr>
                <a:spLocks noChangeShapeType="1"/>
              </p:cNvSpPr>
              <p:nvPr/>
            </p:nvSpPr>
            <p:spPr bwMode="auto">
              <a:xfrm>
                <a:off x="278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6" name="Line 24"/>
              <p:cNvSpPr>
                <a:spLocks noChangeShapeType="1"/>
              </p:cNvSpPr>
              <p:nvPr/>
            </p:nvSpPr>
            <p:spPr bwMode="auto">
              <a:xfrm>
                <a:off x="297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7" name="Line 25"/>
              <p:cNvSpPr>
                <a:spLocks noChangeShapeType="1"/>
              </p:cNvSpPr>
              <p:nvPr/>
            </p:nvSpPr>
            <p:spPr bwMode="auto">
              <a:xfrm>
                <a:off x="3168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8" name="Line 26"/>
              <p:cNvSpPr>
                <a:spLocks noChangeShapeType="1"/>
              </p:cNvSpPr>
              <p:nvPr/>
            </p:nvSpPr>
            <p:spPr bwMode="auto">
              <a:xfrm>
                <a:off x="3360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" name="Line 27"/>
              <p:cNvSpPr>
                <a:spLocks noChangeShapeType="1"/>
              </p:cNvSpPr>
              <p:nvPr/>
            </p:nvSpPr>
            <p:spPr bwMode="auto">
              <a:xfrm>
                <a:off x="3552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" name="Line 28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" name="Line 29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7" name="Line 30"/>
            <p:cNvSpPr>
              <a:spLocks noChangeShapeType="1"/>
            </p:cNvSpPr>
            <p:nvPr/>
          </p:nvSpPr>
          <p:spPr bwMode="auto">
            <a:xfrm flipV="1">
              <a:off x="2496" y="7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" name="Text Box 31"/>
            <p:cNvSpPr txBox="1">
              <a:spLocks noChangeArrowheads="1"/>
            </p:cNvSpPr>
            <p:nvPr/>
          </p:nvSpPr>
          <p:spPr bwMode="auto">
            <a:xfrm>
              <a:off x="2592" y="768"/>
              <a:ext cx="81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>
                  <a:latin typeface="Times New Roman" panose="02020503050405090304" pitchFamily="18" charset="0"/>
                </a:rPr>
                <a:t>整数部分</a:t>
              </a:r>
              <a:endParaRPr kumimoji="1" lang="zh-CN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9" name="Line 32"/>
            <p:cNvSpPr>
              <a:spLocks noChangeShapeType="1"/>
            </p:cNvSpPr>
            <p:nvPr/>
          </p:nvSpPr>
          <p:spPr bwMode="auto">
            <a:xfrm flipV="1">
              <a:off x="3840" y="7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" name="Line 33"/>
            <p:cNvSpPr>
              <a:spLocks noChangeShapeType="1"/>
            </p:cNvSpPr>
            <p:nvPr/>
          </p:nvSpPr>
          <p:spPr bwMode="auto">
            <a:xfrm flipH="1" flipV="1">
              <a:off x="768" y="720"/>
              <a:ext cx="1536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" name="Text Box 34"/>
            <p:cNvSpPr txBox="1">
              <a:spLocks noChangeArrowheads="1"/>
            </p:cNvSpPr>
            <p:nvPr/>
          </p:nvSpPr>
          <p:spPr bwMode="auto">
            <a:xfrm>
              <a:off x="1020" y="818"/>
              <a:ext cx="86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latin typeface="Times New Roman" panose="02020503050405090304" pitchFamily="18" charset="0"/>
                </a:rPr>
                <a:t>符号扩展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2" name="Text Box 35"/>
            <p:cNvSpPr txBox="1">
              <a:spLocks noChangeArrowheads="1"/>
            </p:cNvSpPr>
            <p:nvPr/>
          </p:nvSpPr>
          <p:spPr bwMode="auto">
            <a:xfrm>
              <a:off x="2496" y="1296"/>
              <a:ext cx="1392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>
                  <a:latin typeface="Times New Roman" panose="02020503050405090304" pitchFamily="18" charset="0"/>
                </a:rPr>
                <a:t>符号位：</a:t>
              </a:r>
              <a:r>
                <a:rPr kumimoji="1" lang="en-US" altLang="zh-CN" sz="2000">
                  <a:latin typeface="Times New Roman" panose="02020503050405090304" pitchFamily="18" charset="0"/>
                </a:rPr>
                <a:t>1</a:t>
              </a:r>
              <a:r>
                <a:rPr kumimoji="1" lang="zh-CN" altLang="en-US" sz="2000">
                  <a:latin typeface="Times New Roman" panose="02020503050405090304" pitchFamily="18" charset="0"/>
                </a:rPr>
                <a:t>表示负</a:t>
              </a:r>
              <a:endParaRPr kumimoji="1" lang="zh-CN" altLang="en-US" sz="2000">
                <a:latin typeface="Times New Roman" panose="02020503050405090304" pitchFamily="18" charset="0"/>
              </a:endParaRPr>
            </a:p>
          </p:txBody>
        </p:sp>
        <p:sp>
          <p:nvSpPr>
            <p:cNvPr id="13" name="Line 36"/>
            <p:cNvSpPr>
              <a:spLocks noChangeShapeType="1"/>
            </p:cNvSpPr>
            <p:nvPr/>
          </p:nvSpPr>
          <p:spPr bwMode="auto">
            <a:xfrm flipH="1" flipV="1">
              <a:off x="2400" y="1248"/>
              <a:ext cx="144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6781800" y="2081188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anose="02020503050405090304" pitchFamily="18" charset="0"/>
              </a:rPr>
              <a:t>signed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型</a:t>
            </a:r>
            <a:endParaRPr kumimoji="1" lang="zh-CN" altLang="en-US" sz="2400" dirty="0">
              <a:latin typeface="Times New Roman" panose="02020503050405090304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 bwMode="auto">
          <a:xfrm>
            <a:off x="1219200" y="3341139"/>
            <a:ext cx="5029200" cy="1326358"/>
            <a:chOff x="768" y="1862"/>
            <a:chExt cx="3168" cy="1114"/>
          </a:xfrm>
        </p:grpSpPr>
        <p:grpSp>
          <p:nvGrpSpPr>
            <p:cNvPr id="40" name="Group 39"/>
            <p:cNvGrpSpPr/>
            <p:nvPr/>
          </p:nvGrpSpPr>
          <p:grpSpPr bwMode="auto">
            <a:xfrm>
              <a:off x="768" y="1862"/>
              <a:ext cx="3072" cy="240"/>
              <a:chOff x="816" y="1104"/>
              <a:chExt cx="3072" cy="240"/>
            </a:xfrm>
          </p:grpSpPr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30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0  0  0  0  0  0  0  0  0  1  0  1  0  0  0  1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9" name="Line 42"/>
              <p:cNvSpPr>
                <a:spLocks noChangeShapeType="1"/>
              </p:cNvSpPr>
              <p:nvPr/>
            </p:nvSpPr>
            <p:spPr bwMode="auto">
              <a:xfrm>
                <a:off x="120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0" name="Line 43"/>
              <p:cNvSpPr>
                <a:spLocks noChangeShapeType="1"/>
              </p:cNvSpPr>
              <p:nvPr/>
            </p:nvSpPr>
            <p:spPr bwMode="auto">
              <a:xfrm>
                <a:off x="139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1" name="Line 44"/>
              <p:cNvSpPr>
                <a:spLocks noChangeShapeType="1"/>
              </p:cNvSpPr>
              <p:nvPr/>
            </p:nvSpPr>
            <p:spPr bwMode="auto">
              <a:xfrm>
                <a:off x="158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2" name="Line 45"/>
              <p:cNvSpPr>
                <a:spLocks noChangeShapeType="1"/>
              </p:cNvSpPr>
              <p:nvPr/>
            </p:nvSpPr>
            <p:spPr bwMode="auto">
              <a:xfrm>
                <a:off x="177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3" name="Line 46"/>
              <p:cNvSpPr>
                <a:spLocks noChangeShapeType="1"/>
              </p:cNvSpPr>
              <p:nvPr/>
            </p:nvSpPr>
            <p:spPr bwMode="auto">
              <a:xfrm>
                <a:off x="196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4" name="Line 47"/>
              <p:cNvSpPr>
                <a:spLocks noChangeShapeType="1"/>
              </p:cNvSpPr>
              <p:nvPr/>
            </p:nvSpPr>
            <p:spPr bwMode="auto">
              <a:xfrm>
                <a:off x="216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5" name="Line 48"/>
              <p:cNvSpPr>
                <a:spLocks noChangeShapeType="1"/>
              </p:cNvSpPr>
              <p:nvPr/>
            </p:nvSpPr>
            <p:spPr bwMode="auto">
              <a:xfrm>
                <a:off x="235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6" name="Line 49"/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7" name="Line 50"/>
              <p:cNvSpPr>
                <a:spLocks noChangeShapeType="1"/>
              </p:cNvSpPr>
              <p:nvPr/>
            </p:nvSpPr>
            <p:spPr bwMode="auto">
              <a:xfrm>
                <a:off x="273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8" name="Line 51"/>
              <p:cNvSpPr>
                <a:spLocks noChangeShapeType="1"/>
              </p:cNvSpPr>
              <p:nvPr/>
            </p:nvSpPr>
            <p:spPr bwMode="auto">
              <a:xfrm>
                <a:off x="292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9" name="Line 52"/>
              <p:cNvSpPr>
                <a:spLocks noChangeShapeType="1"/>
              </p:cNvSpPr>
              <p:nvPr/>
            </p:nvSpPr>
            <p:spPr bwMode="auto">
              <a:xfrm>
                <a:off x="312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0" name="Line 53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1" name="Line 54"/>
              <p:cNvSpPr>
                <a:spLocks noChangeShapeType="1"/>
              </p:cNvSpPr>
              <p:nvPr/>
            </p:nvSpPr>
            <p:spPr bwMode="auto">
              <a:xfrm>
                <a:off x="350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2" name="Line 55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41" name="Group 56"/>
            <p:cNvGrpSpPr/>
            <p:nvPr/>
          </p:nvGrpSpPr>
          <p:grpSpPr bwMode="auto">
            <a:xfrm>
              <a:off x="2304" y="2390"/>
              <a:ext cx="1536" cy="240"/>
              <a:chOff x="2592" y="1440"/>
              <a:chExt cx="1536" cy="240"/>
            </a:xfrm>
          </p:grpSpPr>
          <p:sp>
            <p:nvSpPr>
              <p:cNvPr id="49" name="Rectangle 57"/>
              <p:cNvSpPr>
                <a:spLocks noChangeArrowheads="1"/>
              </p:cNvSpPr>
              <p:nvPr/>
            </p:nvSpPr>
            <p:spPr bwMode="auto">
              <a:xfrm>
                <a:off x="2592" y="1440"/>
                <a:ext cx="15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0  1  0  1  0  0  0  1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0" name="Line 58"/>
              <p:cNvSpPr>
                <a:spLocks noChangeShapeType="1"/>
              </p:cNvSpPr>
              <p:nvPr/>
            </p:nvSpPr>
            <p:spPr bwMode="auto">
              <a:xfrm>
                <a:off x="278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1" name="Line 59"/>
              <p:cNvSpPr>
                <a:spLocks noChangeShapeType="1"/>
              </p:cNvSpPr>
              <p:nvPr/>
            </p:nvSpPr>
            <p:spPr bwMode="auto">
              <a:xfrm>
                <a:off x="297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2" name="Line 60"/>
              <p:cNvSpPr>
                <a:spLocks noChangeShapeType="1"/>
              </p:cNvSpPr>
              <p:nvPr/>
            </p:nvSpPr>
            <p:spPr bwMode="auto">
              <a:xfrm>
                <a:off x="3168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3" name="Line 61"/>
              <p:cNvSpPr>
                <a:spLocks noChangeShapeType="1"/>
              </p:cNvSpPr>
              <p:nvPr/>
            </p:nvSpPr>
            <p:spPr bwMode="auto">
              <a:xfrm>
                <a:off x="3360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4" name="Line 62"/>
              <p:cNvSpPr>
                <a:spLocks noChangeShapeType="1"/>
              </p:cNvSpPr>
              <p:nvPr/>
            </p:nvSpPr>
            <p:spPr bwMode="auto">
              <a:xfrm>
                <a:off x="3552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5" name="Line 63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6" name="Line 64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42" name="Line 65"/>
            <p:cNvSpPr>
              <a:spLocks noChangeShapeType="1"/>
            </p:cNvSpPr>
            <p:nvPr/>
          </p:nvSpPr>
          <p:spPr bwMode="auto">
            <a:xfrm flipV="1">
              <a:off x="2496" y="2102"/>
              <a:ext cx="0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Text Box 66"/>
            <p:cNvSpPr txBox="1">
              <a:spLocks noChangeArrowheads="1"/>
            </p:cNvSpPr>
            <p:nvPr/>
          </p:nvSpPr>
          <p:spPr bwMode="auto">
            <a:xfrm>
              <a:off x="2592" y="2112"/>
              <a:ext cx="81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>
                  <a:latin typeface="Times New Roman" panose="02020503050405090304" pitchFamily="18" charset="0"/>
                </a:rPr>
                <a:t>整数部分</a:t>
              </a:r>
              <a:endParaRPr kumimoji="1" lang="zh-CN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44" name="Line 67"/>
            <p:cNvSpPr>
              <a:spLocks noChangeShapeType="1"/>
            </p:cNvSpPr>
            <p:nvPr/>
          </p:nvSpPr>
          <p:spPr bwMode="auto">
            <a:xfrm flipV="1">
              <a:off x="3840" y="2102"/>
              <a:ext cx="0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5" name="Line 68"/>
            <p:cNvSpPr>
              <a:spLocks noChangeShapeType="1"/>
            </p:cNvSpPr>
            <p:nvPr/>
          </p:nvSpPr>
          <p:spPr bwMode="auto">
            <a:xfrm flipH="1" flipV="1">
              <a:off x="768" y="2102"/>
              <a:ext cx="1536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6" name="Text Box 69"/>
            <p:cNvSpPr txBox="1">
              <a:spLocks noChangeArrowheads="1"/>
            </p:cNvSpPr>
            <p:nvPr/>
          </p:nvSpPr>
          <p:spPr bwMode="auto">
            <a:xfrm>
              <a:off x="1018" y="2232"/>
              <a:ext cx="86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latin typeface="Times New Roman" panose="02020503050405090304" pitchFamily="18" charset="0"/>
                </a:rPr>
                <a:t>符号扩展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7" name="Text Box 70"/>
            <p:cNvSpPr txBox="1">
              <a:spLocks noChangeArrowheads="1"/>
            </p:cNvSpPr>
            <p:nvPr/>
          </p:nvSpPr>
          <p:spPr bwMode="auto">
            <a:xfrm>
              <a:off x="2544" y="2640"/>
              <a:ext cx="1392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>
                  <a:latin typeface="Times New Roman" panose="02020503050405090304" pitchFamily="18" charset="0"/>
                </a:rPr>
                <a:t>符号位：</a:t>
              </a:r>
              <a:r>
                <a:rPr kumimoji="1" lang="en-US" altLang="zh-CN" sz="2000">
                  <a:latin typeface="Times New Roman" panose="02020503050405090304" pitchFamily="18" charset="0"/>
                </a:rPr>
                <a:t>0</a:t>
              </a:r>
              <a:r>
                <a:rPr kumimoji="1" lang="zh-CN" altLang="en-US" sz="2000">
                  <a:latin typeface="Times New Roman" panose="02020503050405090304" pitchFamily="18" charset="0"/>
                </a:rPr>
                <a:t>表示正</a:t>
              </a:r>
              <a:endParaRPr kumimoji="1" lang="zh-CN" altLang="en-US" sz="2000">
                <a:latin typeface="Times New Roman" panose="02020503050405090304" pitchFamily="18" charset="0"/>
              </a:endParaRPr>
            </a:p>
          </p:txBody>
        </p:sp>
        <p:sp>
          <p:nvSpPr>
            <p:cNvPr id="48" name="Line 71"/>
            <p:cNvSpPr>
              <a:spLocks noChangeShapeType="1"/>
            </p:cNvSpPr>
            <p:nvPr/>
          </p:nvSpPr>
          <p:spPr bwMode="auto">
            <a:xfrm flipH="1" flipV="1">
              <a:off x="2400" y="2630"/>
              <a:ext cx="144" cy="1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73" name="Text Box 72"/>
          <p:cNvSpPr txBox="1">
            <a:spLocks noChangeArrowheads="1"/>
          </p:cNvSpPr>
          <p:nvPr/>
        </p:nvSpPr>
        <p:spPr bwMode="auto">
          <a:xfrm>
            <a:off x="6781800" y="3604267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>
                <a:latin typeface="Times New Roman" panose="02020503050405090304" pitchFamily="18" charset="0"/>
              </a:rPr>
              <a:t>signed</a:t>
            </a:r>
            <a:r>
              <a:rPr kumimoji="1" lang="zh-CN" altLang="en-US" sz="2800">
                <a:latin typeface="Times New Roman" panose="02020503050405090304" pitchFamily="18" charset="0"/>
              </a:rPr>
              <a:t>型</a:t>
            </a:r>
            <a:endParaRPr kumimoji="1" lang="zh-CN" altLang="en-US" sz="2400">
              <a:latin typeface="Times New Roman" panose="02020503050405090304" pitchFamily="18" charset="0"/>
            </a:endParaRPr>
          </a:p>
        </p:txBody>
      </p:sp>
      <p:grpSp>
        <p:nvGrpSpPr>
          <p:cNvPr id="74" name="Group 73"/>
          <p:cNvGrpSpPr/>
          <p:nvPr/>
        </p:nvGrpSpPr>
        <p:grpSpPr bwMode="auto">
          <a:xfrm>
            <a:off x="1295400" y="5009727"/>
            <a:ext cx="4876800" cy="1371601"/>
            <a:chOff x="864" y="2832"/>
            <a:chExt cx="3072" cy="1152"/>
          </a:xfrm>
        </p:grpSpPr>
        <p:grpSp>
          <p:nvGrpSpPr>
            <p:cNvPr id="75" name="Group 74"/>
            <p:cNvGrpSpPr/>
            <p:nvPr/>
          </p:nvGrpSpPr>
          <p:grpSpPr bwMode="auto">
            <a:xfrm>
              <a:off x="864" y="2832"/>
              <a:ext cx="3072" cy="240"/>
              <a:chOff x="816" y="1104"/>
              <a:chExt cx="3072" cy="240"/>
            </a:xfrm>
          </p:grpSpPr>
          <p:sp>
            <p:nvSpPr>
              <p:cNvPr id="91" name="Rectangle 75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30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0  0  0  0  0  0  0  0  1  1  0  0  1  0  0  0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2" name="Line 76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3" name="Line 77"/>
              <p:cNvSpPr>
                <a:spLocks noChangeShapeType="1"/>
              </p:cNvSpPr>
              <p:nvPr/>
            </p:nvSpPr>
            <p:spPr bwMode="auto">
              <a:xfrm>
                <a:off x="120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4" name="Line 78"/>
              <p:cNvSpPr>
                <a:spLocks noChangeShapeType="1"/>
              </p:cNvSpPr>
              <p:nvPr/>
            </p:nvSpPr>
            <p:spPr bwMode="auto">
              <a:xfrm>
                <a:off x="139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5" name="Line 79"/>
              <p:cNvSpPr>
                <a:spLocks noChangeShapeType="1"/>
              </p:cNvSpPr>
              <p:nvPr/>
            </p:nvSpPr>
            <p:spPr bwMode="auto">
              <a:xfrm>
                <a:off x="158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6" name="Line 80"/>
              <p:cNvSpPr>
                <a:spLocks noChangeShapeType="1"/>
              </p:cNvSpPr>
              <p:nvPr/>
            </p:nvSpPr>
            <p:spPr bwMode="auto">
              <a:xfrm>
                <a:off x="177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7" name="Line 81"/>
              <p:cNvSpPr>
                <a:spLocks noChangeShapeType="1"/>
              </p:cNvSpPr>
              <p:nvPr/>
            </p:nvSpPr>
            <p:spPr bwMode="auto">
              <a:xfrm>
                <a:off x="196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8" name="Line 82"/>
              <p:cNvSpPr>
                <a:spLocks noChangeShapeType="1"/>
              </p:cNvSpPr>
              <p:nvPr/>
            </p:nvSpPr>
            <p:spPr bwMode="auto">
              <a:xfrm>
                <a:off x="216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9" name="Line 83"/>
              <p:cNvSpPr>
                <a:spLocks noChangeShapeType="1"/>
              </p:cNvSpPr>
              <p:nvPr/>
            </p:nvSpPr>
            <p:spPr bwMode="auto">
              <a:xfrm>
                <a:off x="235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0" name="Line 84"/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1" name="Line 85"/>
              <p:cNvSpPr>
                <a:spLocks noChangeShapeType="1"/>
              </p:cNvSpPr>
              <p:nvPr/>
            </p:nvSpPr>
            <p:spPr bwMode="auto">
              <a:xfrm>
                <a:off x="273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2" name="Line 86"/>
              <p:cNvSpPr>
                <a:spLocks noChangeShapeType="1"/>
              </p:cNvSpPr>
              <p:nvPr/>
            </p:nvSpPr>
            <p:spPr bwMode="auto">
              <a:xfrm>
                <a:off x="292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3" name="Line 87"/>
              <p:cNvSpPr>
                <a:spLocks noChangeShapeType="1"/>
              </p:cNvSpPr>
              <p:nvPr/>
            </p:nvSpPr>
            <p:spPr bwMode="auto">
              <a:xfrm>
                <a:off x="312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4" name="Line 88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5" name="Line 89"/>
              <p:cNvSpPr>
                <a:spLocks noChangeShapeType="1"/>
              </p:cNvSpPr>
              <p:nvPr/>
            </p:nvSpPr>
            <p:spPr bwMode="auto">
              <a:xfrm>
                <a:off x="350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6" name="Line 90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76" name="Group 91"/>
            <p:cNvGrpSpPr/>
            <p:nvPr/>
          </p:nvGrpSpPr>
          <p:grpSpPr bwMode="auto">
            <a:xfrm>
              <a:off x="2400" y="3360"/>
              <a:ext cx="1536" cy="240"/>
              <a:chOff x="2592" y="1440"/>
              <a:chExt cx="1536" cy="240"/>
            </a:xfrm>
          </p:grpSpPr>
          <p:sp>
            <p:nvSpPr>
              <p:cNvPr id="83" name="Rectangle 92"/>
              <p:cNvSpPr>
                <a:spLocks noChangeArrowheads="1"/>
              </p:cNvSpPr>
              <p:nvPr/>
            </p:nvSpPr>
            <p:spPr bwMode="auto">
              <a:xfrm>
                <a:off x="2592" y="1440"/>
                <a:ext cx="15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1  1  0  0  1  0  0  0</a:t>
                </a:r>
                <a:endParaRPr kumimoji="1" lang="en-US" altLang="zh-CN" sz="240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4" name="Line 93"/>
              <p:cNvSpPr>
                <a:spLocks noChangeShapeType="1"/>
              </p:cNvSpPr>
              <p:nvPr/>
            </p:nvSpPr>
            <p:spPr bwMode="auto">
              <a:xfrm>
                <a:off x="278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5" name="Line 94"/>
              <p:cNvSpPr>
                <a:spLocks noChangeShapeType="1"/>
              </p:cNvSpPr>
              <p:nvPr/>
            </p:nvSpPr>
            <p:spPr bwMode="auto">
              <a:xfrm>
                <a:off x="297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6" name="Line 95"/>
              <p:cNvSpPr>
                <a:spLocks noChangeShapeType="1"/>
              </p:cNvSpPr>
              <p:nvPr/>
            </p:nvSpPr>
            <p:spPr bwMode="auto">
              <a:xfrm>
                <a:off x="3168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7" name="Line 96"/>
              <p:cNvSpPr>
                <a:spLocks noChangeShapeType="1"/>
              </p:cNvSpPr>
              <p:nvPr/>
            </p:nvSpPr>
            <p:spPr bwMode="auto">
              <a:xfrm>
                <a:off x="3360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8" name="Line 97"/>
              <p:cNvSpPr>
                <a:spLocks noChangeShapeType="1"/>
              </p:cNvSpPr>
              <p:nvPr/>
            </p:nvSpPr>
            <p:spPr bwMode="auto">
              <a:xfrm>
                <a:off x="3552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89" name="Line 98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0" name="Line 99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77" name="Line 100"/>
            <p:cNvSpPr>
              <a:spLocks noChangeShapeType="1"/>
            </p:cNvSpPr>
            <p:nvPr/>
          </p:nvSpPr>
          <p:spPr bwMode="auto">
            <a:xfrm flipV="1">
              <a:off x="2400" y="3062"/>
              <a:ext cx="0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8" name="Text Box 101"/>
            <p:cNvSpPr txBox="1">
              <a:spLocks noChangeArrowheads="1"/>
            </p:cNvSpPr>
            <p:nvPr/>
          </p:nvSpPr>
          <p:spPr bwMode="auto">
            <a:xfrm>
              <a:off x="2688" y="3082"/>
              <a:ext cx="81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latin typeface="Times New Roman" panose="02020503050405090304" pitchFamily="18" charset="0"/>
                </a:rPr>
                <a:t>数值部分</a:t>
              </a:r>
              <a:endParaRPr kumimoji="1" lang="zh-CN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79" name="Line 102"/>
            <p:cNvSpPr>
              <a:spLocks noChangeShapeType="1"/>
            </p:cNvSpPr>
            <p:nvPr/>
          </p:nvSpPr>
          <p:spPr bwMode="auto">
            <a:xfrm flipV="1">
              <a:off x="3936" y="3072"/>
              <a:ext cx="0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0" name="Line 103"/>
            <p:cNvSpPr>
              <a:spLocks noChangeShapeType="1"/>
            </p:cNvSpPr>
            <p:nvPr/>
          </p:nvSpPr>
          <p:spPr bwMode="auto">
            <a:xfrm flipH="1" flipV="1">
              <a:off x="864" y="3072"/>
              <a:ext cx="1536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1" name="Text Box 104"/>
            <p:cNvSpPr txBox="1">
              <a:spLocks noChangeArrowheads="1"/>
            </p:cNvSpPr>
            <p:nvPr/>
          </p:nvSpPr>
          <p:spPr bwMode="auto">
            <a:xfrm>
              <a:off x="1250" y="3227"/>
              <a:ext cx="57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latin typeface="Times New Roman" panose="02020503050405090304" pitchFamily="18" charset="0"/>
                </a:rPr>
                <a:t>零扩展</a:t>
              </a:r>
              <a:endParaRPr kumimoji="1" lang="zh-CN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82" name="Text Box 105"/>
            <p:cNvSpPr txBox="1">
              <a:spLocks noChangeArrowheads="1"/>
            </p:cNvSpPr>
            <p:nvPr/>
          </p:nvSpPr>
          <p:spPr bwMode="auto">
            <a:xfrm>
              <a:off x="2736" y="3648"/>
              <a:ext cx="81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  <a:cs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>
                  <a:latin typeface="Times New Roman" panose="02020503050405090304" pitchFamily="18" charset="0"/>
                </a:rPr>
                <a:t>无符号位</a:t>
              </a:r>
              <a:endParaRPr kumimoji="1" lang="zh-CN" altLang="en-US" sz="2000">
                <a:latin typeface="Times New Roman" panose="02020503050405090304" pitchFamily="18" charset="0"/>
              </a:endParaRPr>
            </a:p>
          </p:txBody>
        </p:sp>
      </p:grpSp>
      <p:sp>
        <p:nvSpPr>
          <p:cNvPr id="107" name="Text Box 106"/>
          <p:cNvSpPr txBox="1">
            <a:spLocks noChangeArrowheads="1"/>
          </p:cNvSpPr>
          <p:nvPr/>
        </p:nvSpPr>
        <p:spPr bwMode="auto">
          <a:xfrm>
            <a:off x="6781800" y="5249041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>
                <a:latin typeface="Times New Roman" panose="02020503050405090304" pitchFamily="18" charset="0"/>
              </a:rPr>
              <a:t>unsigned</a:t>
            </a:r>
            <a:r>
              <a:rPr kumimoji="1" lang="zh-CN" altLang="en-US" sz="2800">
                <a:latin typeface="Times New Roman" panose="02020503050405090304" pitchFamily="18" charset="0"/>
              </a:rPr>
              <a:t>型</a:t>
            </a:r>
            <a:endParaRPr kumimoji="1" lang="zh-CN" altLang="en-US" sz="240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当较长的整数转换为较短的整数时，要将高位截去只将低位字节送过去，这会产生很大的误差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整数的截断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1779240" y="2993503"/>
            <a:ext cx="4876800" cy="914401"/>
            <a:chOff x="768" y="480"/>
            <a:chExt cx="3072" cy="768"/>
          </a:xfrm>
        </p:grpSpPr>
        <p:grpSp>
          <p:nvGrpSpPr>
            <p:cNvPr id="5" name="Group 4"/>
            <p:cNvGrpSpPr/>
            <p:nvPr/>
          </p:nvGrpSpPr>
          <p:grpSpPr bwMode="auto">
            <a:xfrm>
              <a:off x="768" y="480"/>
              <a:ext cx="3072" cy="240"/>
              <a:chOff x="816" y="1104"/>
              <a:chExt cx="3072" cy="240"/>
            </a:xfrm>
          </p:grpSpPr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30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 dirty="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1  0  0  0  0  0  1  0  0  1  0  0  1  0  1  0</a:t>
                </a:r>
                <a:endPara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3" name="Line 6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4" name="Line 7"/>
              <p:cNvSpPr>
                <a:spLocks noChangeShapeType="1"/>
              </p:cNvSpPr>
              <p:nvPr/>
            </p:nvSpPr>
            <p:spPr bwMode="auto">
              <a:xfrm>
                <a:off x="120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5" name="Line 8"/>
              <p:cNvSpPr>
                <a:spLocks noChangeShapeType="1"/>
              </p:cNvSpPr>
              <p:nvPr/>
            </p:nvSpPr>
            <p:spPr bwMode="auto">
              <a:xfrm>
                <a:off x="139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6" name="Line 9"/>
              <p:cNvSpPr>
                <a:spLocks noChangeShapeType="1"/>
              </p:cNvSpPr>
              <p:nvPr/>
            </p:nvSpPr>
            <p:spPr bwMode="auto">
              <a:xfrm>
                <a:off x="158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>
                <a:off x="177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8" name="Line 11"/>
              <p:cNvSpPr>
                <a:spLocks noChangeShapeType="1"/>
              </p:cNvSpPr>
              <p:nvPr/>
            </p:nvSpPr>
            <p:spPr bwMode="auto">
              <a:xfrm>
                <a:off x="196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9" name="Line 12"/>
              <p:cNvSpPr>
                <a:spLocks noChangeShapeType="1"/>
              </p:cNvSpPr>
              <p:nvPr/>
            </p:nvSpPr>
            <p:spPr bwMode="auto">
              <a:xfrm>
                <a:off x="216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0" name="Line 13"/>
              <p:cNvSpPr>
                <a:spLocks noChangeShapeType="1"/>
              </p:cNvSpPr>
              <p:nvPr/>
            </p:nvSpPr>
            <p:spPr bwMode="auto">
              <a:xfrm>
                <a:off x="235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1" name="Line 14"/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2" name="Line 15"/>
              <p:cNvSpPr>
                <a:spLocks noChangeShapeType="1"/>
              </p:cNvSpPr>
              <p:nvPr/>
            </p:nvSpPr>
            <p:spPr bwMode="auto">
              <a:xfrm>
                <a:off x="273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3" name="Line 16"/>
              <p:cNvSpPr>
                <a:spLocks noChangeShapeType="1"/>
              </p:cNvSpPr>
              <p:nvPr/>
            </p:nvSpPr>
            <p:spPr bwMode="auto">
              <a:xfrm>
                <a:off x="292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312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5" name="Line 18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6" name="Line 19"/>
              <p:cNvSpPr>
                <a:spLocks noChangeShapeType="1"/>
              </p:cNvSpPr>
              <p:nvPr/>
            </p:nvSpPr>
            <p:spPr bwMode="auto">
              <a:xfrm>
                <a:off x="350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7" name="Line 20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6" name="Group 21"/>
            <p:cNvGrpSpPr/>
            <p:nvPr/>
          </p:nvGrpSpPr>
          <p:grpSpPr bwMode="auto">
            <a:xfrm>
              <a:off x="2304" y="1008"/>
              <a:ext cx="1536" cy="240"/>
              <a:chOff x="2592" y="1440"/>
              <a:chExt cx="1536" cy="240"/>
            </a:xfrm>
          </p:grpSpPr>
          <p:sp>
            <p:nvSpPr>
              <p:cNvPr id="14" name="Rectangle 22"/>
              <p:cNvSpPr>
                <a:spLocks noChangeArrowheads="1"/>
              </p:cNvSpPr>
              <p:nvPr/>
            </p:nvSpPr>
            <p:spPr bwMode="auto">
              <a:xfrm>
                <a:off x="2592" y="1440"/>
                <a:ext cx="15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 dirty="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0  1  0  0  1  0  1  0</a:t>
                </a:r>
                <a:endPara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5" name="Line 23"/>
              <p:cNvSpPr>
                <a:spLocks noChangeShapeType="1"/>
              </p:cNvSpPr>
              <p:nvPr/>
            </p:nvSpPr>
            <p:spPr bwMode="auto">
              <a:xfrm>
                <a:off x="278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6" name="Line 24"/>
              <p:cNvSpPr>
                <a:spLocks noChangeShapeType="1"/>
              </p:cNvSpPr>
              <p:nvPr/>
            </p:nvSpPr>
            <p:spPr bwMode="auto">
              <a:xfrm>
                <a:off x="297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7" name="Line 25"/>
              <p:cNvSpPr>
                <a:spLocks noChangeShapeType="1"/>
              </p:cNvSpPr>
              <p:nvPr/>
            </p:nvSpPr>
            <p:spPr bwMode="auto">
              <a:xfrm>
                <a:off x="3168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8" name="Line 26"/>
              <p:cNvSpPr>
                <a:spLocks noChangeShapeType="1"/>
              </p:cNvSpPr>
              <p:nvPr/>
            </p:nvSpPr>
            <p:spPr bwMode="auto">
              <a:xfrm>
                <a:off x="3360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" name="Line 27"/>
              <p:cNvSpPr>
                <a:spLocks noChangeShapeType="1"/>
              </p:cNvSpPr>
              <p:nvPr/>
            </p:nvSpPr>
            <p:spPr bwMode="auto">
              <a:xfrm>
                <a:off x="3552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" name="Line 28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" name="Line 29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3840" y="733"/>
              <a:ext cx="0" cy="2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539552" y="299498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(-32182)</a:t>
            </a:r>
            <a:r>
              <a:rPr lang="en-US" altLang="zh-CN" baseline="-25000" dirty="0"/>
              <a:t>D</a:t>
            </a:r>
            <a:endParaRPr lang="zh-CN" altLang="en-US" baseline="-25000" dirty="0"/>
          </a:p>
        </p:txBody>
      </p:sp>
      <p:sp>
        <p:nvSpPr>
          <p:cNvPr id="40" name="TextBox 39"/>
          <p:cNvSpPr txBox="1"/>
          <p:nvPr/>
        </p:nvSpPr>
        <p:spPr>
          <a:xfrm>
            <a:off x="898127" y="363573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(74)</a:t>
            </a:r>
            <a:r>
              <a:rPr lang="en-US" altLang="zh-CN" baseline="-25000" dirty="0"/>
              <a:t>D</a:t>
            </a:r>
            <a:endParaRPr lang="zh-CN" altLang="en-US" baseline="-25000" dirty="0"/>
          </a:p>
        </p:txBody>
      </p:sp>
      <p:sp>
        <p:nvSpPr>
          <p:cNvPr id="41" name="Line 32"/>
          <p:cNvSpPr>
            <a:spLocks noChangeShapeType="1"/>
          </p:cNvSpPr>
          <p:nvPr/>
        </p:nvSpPr>
        <p:spPr bwMode="auto">
          <a:xfrm>
            <a:off x="1779240" y="3294731"/>
            <a:ext cx="2438400" cy="341001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Garamond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6781800" y="3140968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anose="02020503050405090304" pitchFamily="18" charset="0"/>
              </a:rPr>
              <a:t>signed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型</a:t>
            </a:r>
            <a:endParaRPr kumimoji="1" lang="zh-CN" altLang="en-US" sz="2400" dirty="0">
              <a:latin typeface="Times New Roman" panose="02020503050405090304" pitchFamily="18" charset="0"/>
            </a:endParaRPr>
          </a:p>
        </p:txBody>
      </p:sp>
      <p:grpSp>
        <p:nvGrpSpPr>
          <p:cNvPr id="43" name="Group 3"/>
          <p:cNvGrpSpPr/>
          <p:nvPr/>
        </p:nvGrpSpPr>
        <p:grpSpPr bwMode="auto">
          <a:xfrm>
            <a:off x="1779240" y="4649687"/>
            <a:ext cx="4876800" cy="914401"/>
            <a:chOff x="768" y="480"/>
            <a:chExt cx="3072" cy="768"/>
          </a:xfrm>
        </p:grpSpPr>
        <p:grpSp>
          <p:nvGrpSpPr>
            <p:cNvPr id="44" name="Group 4"/>
            <p:cNvGrpSpPr/>
            <p:nvPr/>
          </p:nvGrpSpPr>
          <p:grpSpPr bwMode="auto">
            <a:xfrm>
              <a:off x="768" y="480"/>
              <a:ext cx="3072" cy="240"/>
              <a:chOff x="816" y="1104"/>
              <a:chExt cx="3072" cy="240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307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 dirty="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1  0  0  0  0  0  1  0  0  1  0  0  1  0  1  0</a:t>
                </a:r>
                <a:endPara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6" name="Line 6"/>
              <p:cNvSpPr>
                <a:spLocks noChangeShapeType="1"/>
              </p:cNvSpPr>
              <p:nvPr/>
            </p:nvSpPr>
            <p:spPr bwMode="auto">
              <a:xfrm>
                <a:off x="100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7" name="Line 7"/>
              <p:cNvSpPr>
                <a:spLocks noChangeShapeType="1"/>
              </p:cNvSpPr>
              <p:nvPr/>
            </p:nvSpPr>
            <p:spPr bwMode="auto">
              <a:xfrm>
                <a:off x="120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8" name="Line 8"/>
              <p:cNvSpPr>
                <a:spLocks noChangeShapeType="1"/>
              </p:cNvSpPr>
              <p:nvPr/>
            </p:nvSpPr>
            <p:spPr bwMode="auto">
              <a:xfrm>
                <a:off x="139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9" name="Line 9"/>
              <p:cNvSpPr>
                <a:spLocks noChangeShapeType="1"/>
              </p:cNvSpPr>
              <p:nvPr/>
            </p:nvSpPr>
            <p:spPr bwMode="auto">
              <a:xfrm>
                <a:off x="158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0" name="Line 10"/>
              <p:cNvSpPr>
                <a:spLocks noChangeShapeType="1"/>
              </p:cNvSpPr>
              <p:nvPr/>
            </p:nvSpPr>
            <p:spPr bwMode="auto">
              <a:xfrm>
                <a:off x="177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1" name="Line 11"/>
              <p:cNvSpPr>
                <a:spLocks noChangeShapeType="1"/>
              </p:cNvSpPr>
              <p:nvPr/>
            </p:nvSpPr>
            <p:spPr bwMode="auto">
              <a:xfrm>
                <a:off x="196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2" name="Line 12"/>
              <p:cNvSpPr>
                <a:spLocks noChangeShapeType="1"/>
              </p:cNvSpPr>
              <p:nvPr/>
            </p:nvSpPr>
            <p:spPr bwMode="auto">
              <a:xfrm>
                <a:off x="216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3" name="Line 13"/>
              <p:cNvSpPr>
                <a:spLocks noChangeShapeType="1"/>
              </p:cNvSpPr>
              <p:nvPr/>
            </p:nvSpPr>
            <p:spPr bwMode="auto">
              <a:xfrm>
                <a:off x="235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4" name="Line 14"/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5" name="Line 15"/>
              <p:cNvSpPr>
                <a:spLocks noChangeShapeType="1"/>
              </p:cNvSpPr>
              <p:nvPr/>
            </p:nvSpPr>
            <p:spPr bwMode="auto">
              <a:xfrm>
                <a:off x="273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6" name="Line 16"/>
              <p:cNvSpPr>
                <a:spLocks noChangeShapeType="1"/>
              </p:cNvSpPr>
              <p:nvPr/>
            </p:nvSpPr>
            <p:spPr bwMode="auto">
              <a:xfrm>
                <a:off x="2928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7" name="Line 17"/>
              <p:cNvSpPr>
                <a:spLocks noChangeShapeType="1"/>
              </p:cNvSpPr>
              <p:nvPr/>
            </p:nvSpPr>
            <p:spPr bwMode="auto">
              <a:xfrm>
                <a:off x="3120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8" name="Line 18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9" name="Line 19"/>
              <p:cNvSpPr>
                <a:spLocks noChangeShapeType="1"/>
              </p:cNvSpPr>
              <p:nvPr/>
            </p:nvSpPr>
            <p:spPr bwMode="auto">
              <a:xfrm>
                <a:off x="3504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0" name="Line 20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45" name="Group 21"/>
            <p:cNvGrpSpPr/>
            <p:nvPr/>
          </p:nvGrpSpPr>
          <p:grpSpPr bwMode="auto">
            <a:xfrm>
              <a:off x="2304" y="1008"/>
              <a:ext cx="1536" cy="240"/>
              <a:chOff x="2592" y="1440"/>
              <a:chExt cx="1536" cy="240"/>
            </a:xfrm>
          </p:grpSpPr>
          <p:sp>
            <p:nvSpPr>
              <p:cNvPr id="47" name="Rectangle 22"/>
              <p:cNvSpPr>
                <a:spLocks noChangeArrowheads="1"/>
              </p:cNvSpPr>
              <p:nvPr/>
            </p:nvSpPr>
            <p:spPr bwMode="auto">
              <a:xfrm>
                <a:off x="2592" y="1440"/>
                <a:ext cx="15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dist">
                  <a:defRPr/>
                </a:pPr>
                <a:r>
                  <a:rPr kumimoji="1" lang="en-US" altLang="zh-CN" sz="2400" dirty="0">
                    <a:latin typeface="Times New Roman" panose="02020503050405090304" pitchFamily="18" charset="0"/>
                    <a:ea typeface="宋体" pitchFamily="2" charset="-122"/>
                    <a:cs typeface="宋体" pitchFamily="2" charset="-122"/>
                  </a:rPr>
                  <a:t>0  1  0  0  1  0  1  0</a:t>
                </a:r>
                <a:endPara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48" name="Line 23"/>
              <p:cNvSpPr>
                <a:spLocks noChangeShapeType="1"/>
              </p:cNvSpPr>
              <p:nvPr/>
            </p:nvSpPr>
            <p:spPr bwMode="auto">
              <a:xfrm>
                <a:off x="278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49" name="Line 24"/>
              <p:cNvSpPr>
                <a:spLocks noChangeShapeType="1"/>
              </p:cNvSpPr>
              <p:nvPr/>
            </p:nvSpPr>
            <p:spPr bwMode="auto">
              <a:xfrm>
                <a:off x="297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0" name="Line 25"/>
              <p:cNvSpPr>
                <a:spLocks noChangeShapeType="1"/>
              </p:cNvSpPr>
              <p:nvPr/>
            </p:nvSpPr>
            <p:spPr bwMode="auto">
              <a:xfrm>
                <a:off x="3168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1" name="Line 26"/>
              <p:cNvSpPr>
                <a:spLocks noChangeShapeType="1"/>
              </p:cNvSpPr>
              <p:nvPr/>
            </p:nvSpPr>
            <p:spPr bwMode="auto">
              <a:xfrm>
                <a:off x="3360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2" name="Line 27"/>
              <p:cNvSpPr>
                <a:spLocks noChangeShapeType="1"/>
              </p:cNvSpPr>
              <p:nvPr/>
            </p:nvSpPr>
            <p:spPr bwMode="auto">
              <a:xfrm>
                <a:off x="3552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3" name="Line 28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4" name="Line 29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Garamond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46" name="Line 32"/>
            <p:cNvSpPr>
              <a:spLocks noChangeShapeType="1"/>
            </p:cNvSpPr>
            <p:nvPr/>
          </p:nvSpPr>
          <p:spPr bwMode="auto">
            <a:xfrm>
              <a:off x="3840" y="733"/>
              <a:ext cx="0" cy="2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39552" y="4651172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(33354)</a:t>
            </a:r>
            <a:r>
              <a:rPr lang="en-US" altLang="zh-CN" baseline="-25000" dirty="0"/>
              <a:t>D</a:t>
            </a:r>
            <a:endParaRPr lang="zh-CN" altLang="en-US" baseline="-25000" dirty="0"/>
          </a:p>
        </p:txBody>
      </p:sp>
      <p:sp>
        <p:nvSpPr>
          <p:cNvPr id="72" name="TextBox 71"/>
          <p:cNvSpPr txBox="1"/>
          <p:nvPr/>
        </p:nvSpPr>
        <p:spPr>
          <a:xfrm>
            <a:off x="898127" y="529191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(74)</a:t>
            </a:r>
            <a:r>
              <a:rPr lang="en-US" altLang="zh-CN" baseline="-25000" dirty="0"/>
              <a:t>D</a:t>
            </a:r>
            <a:endParaRPr lang="zh-CN" altLang="en-US" baseline="-25000" dirty="0"/>
          </a:p>
        </p:txBody>
      </p:sp>
      <p:sp>
        <p:nvSpPr>
          <p:cNvPr id="73" name="Line 32"/>
          <p:cNvSpPr>
            <a:spLocks noChangeShapeType="1"/>
          </p:cNvSpPr>
          <p:nvPr/>
        </p:nvSpPr>
        <p:spPr bwMode="auto">
          <a:xfrm>
            <a:off x="1779240" y="4950915"/>
            <a:ext cx="2438400" cy="341001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Garamond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6781800" y="4797152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anose="02020503050405090304" pitchFamily="18" charset="0"/>
              </a:rPr>
              <a:t>unsigned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型</a:t>
            </a:r>
            <a:endParaRPr kumimoji="1" lang="zh-CN" altLang="en-US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500397"/>
            <a:ext cx="8280000" cy="4799603"/>
          </a:xfrm>
        </p:spPr>
        <p:txBody>
          <a:bodyPr>
            <a:normAutofit/>
          </a:bodyPr>
          <a:lstStyle/>
          <a:p>
            <a:r>
              <a:rPr lang="zh-CN" altLang="en-US" dirty="0"/>
              <a:t>一个无符号整型的数值范围绝对值比有符号整型大一倍。如</a:t>
            </a:r>
            <a:r>
              <a:rPr lang="en-US" altLang="zh-CN" dirty="0"/>
              <a:t>short</a:t>
            </a:r>
            <a:r>
              <a:rPr lang="zh-CN" altLang="en-US" dirty="0"/>
              <a:t>型变量占</a:t>
            </a:r>
            <a:r>
              <a:rPr lang="en-US" altLang="zh-CN" dirty="0"/>
              <a:t>2</a:t>
            </a:r>
            <a:r>
              <a:rPr lang="zh-CN" altLang="en-US" dirty="0"/>
              <a:t>个字节，其取值范围为</a:t>
            </a:r>
            <a:r>
              <a:rPr lang="en-US" altLang="zh-CN" dirty="0"/>
              <a:t>[-32768</a:t>
            </a:r>
            <a:r>
              <a:rPr lang="zh-CN" altLang="en-US" dirty="0"/>
              <a:t>，</a:t>
            </a:r>
            <a:r>
              <a:rPr lang="en-US" altLang="zh-CN" dirty="0"/>
              <a:t>32767]</a:t>
            </a:r>
            <a:r>
              <a:rPr lang="zh-CN" altLang="en-US" dirty="0"/>
              <a:t>，而</a:t>
            </a:r>
            <a:r>
              <a:rPr lang="en-US" altLang="zh-CN" dirty="0"/>
              <a:t>unsigned short</a:t>
            </a:r>
            <a:r>
              <a:rPr lang="zh-CN" altLang="en-US" dirty="0"/>
              <a:t>型变量数的范围为</a:t>
            </a:r>
            <a:r>
              <a:rPr lang="en-US" altLang="zh-CN" dirty="0"/>
              <a:t>[0</a:t>
            </a:r>
            <a:r>
              <a:rPr lang="zh-CN" altLang="en-US" dirty="0"/>
              <a:t>，</a:t>
            </a:r>
            <a:r>
              <a:rPr lang="en-US" altLang="zh-CN" dirty="0"/>
              <a:t>65535]</a:t>
            </a:r>
            <a:endParaRPr lang="zh-CN" altLang="en-US" dirty="0"/>
          </a:p>
          <a:p>
            <a:r>
              <a:rPr lang="zh-CN" altLang="en-US" dirty="0"/>
              <a:t>由</a:t>
            </a:r>
            <a:r>
              <a:rPr lang="en-US" altLang="zh-CN" dirty="0"/>
              <a:t>signed</a:t>
            </a:r>
            <a:r>
              <a:rPr lang="zh-CN" altLang="en-US" dirty="0"/>
              <a:t>型转换为同一长度的</a:t>
            </a:r>
            <a:r>
              <a:rPr lang="en-US" altLang="zh-CN" dirty="0"/>
              <a:t>unsigned</a:t>
            </a:r>
            <a:r>
              <a:rPr lang="zh-CN" altLang="en-US" dirty="0"/>
              <a:t>型时，原来的符号位不再作为符号位，而成为数据的一部分</a:t>
            </a:r>
            <a:endParaRPr lang="en-US" altLang="zh-CN" dirty="0"/>
          </a:p>
          <a:p>
            <a:pPr lvl="1"/>
            <a:r>
              <a:rPr lang="zh-CN" altLang="en-US" dirty="0"/>
              <a:t>正数的符号位是“</a:t>
            </a:r>
            <a:r>
              <a:rPr lang="en-US" altLang="zh-CN" dirty="0"/>
              <a:t>0”</a:t>
            </a:r>
            <a:r>
              <a:rPr lang="zh-CN" altLang="en-US" dirty="0"/>
              <a:t>，转换为</a:t>
            </a:r>
            <a:r>
              <a:rPr lang="en-US" altLang="zh-CN" dirty="0"/>
              <a:t>unsigned</a:t>
            </a:r>
            <a:r>
              <a:rPr lang="zh-CN" altLang="en-US" dirty="0"/>
              <a:t>时，数值不变</a:t>
            </a:r>
            <a:endParaRPr lang="zh-CN" altLang="en-US" dirty="0"/>
          </a:p>
          <a:p>
            <a:pPr lvl="1"/>
            <a:r>
              <a:rPr lang="zh-CN" altLang="en-US" dirty="0"/>
              <a:t>负数的符号位是“</a:t>
            </a:r>
            <a:r>
              <a:rPr lang="en-US" altLang="zh-CN" dirty="0"/>
              <a:t>1”</a:t>
            </a:r>
            <a:r>
              <a:rPr lang="zh-CN" altLang="en-US" dirty="0"/>
              <a:t>，转换为</a:t>
            </a:r>
            <a:r>
              <a:rPr lang="en-US" altLang="zh-CN" dirty="0"/>
              <a:t>unsigned</a:t>
            </a:r>
            <a:r>
              <a:rPr lang="zh-CN" altLang="en-US" dirty="0"/>
              <a:t>时，数值发生变化</a:t>
            </a:r>
            <a:endParaRPr lang="en-US" altLang="zh-CN" dirty="0"/>
          </a:p>
          <a:p>
            <a:r>
              <a:rPr lang="zh-CN" altLang="en-US" dirty="0"/>
              <a:t>由</a:t>
            </a:r>
            <a:r>
              <a:rPr lang="en-US" altLang="zh-CN" dirty="0"/>
              <a:t>unsigned</a:t>
            </a:r>
            <a:r>
              <a:rPr lang="zh-CN" altLang="en-US" dirty="0"/>
              <a:t>型转换为同一长度的</a:t>
            </a:r>
            <a:r>
              <a:rPr lang="en-US" altLang="zh-CN" dirty="0"/>
              <a:t>signed</a:t>
            </a:r>
            <a:r>
              <a:rPr lang="zh-CN" altLang="en-US" dirty="0"/>
              <a:t>型时，原数据的最高位被 作为符号位使用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17069"/>
          </a:xfrm>
        </p:spPr>
        <p:txBody>
          <a:bodyPr>
            <a:normAutofit/>
          </a:bodyPr>
          <a:lstStyle/>
          <a:p>
            <a:r>
              <a:rPr lang="zh-CN" altLang="en-US" dirty="0"/>
              <a:t>无符号整数与有符号整数的转换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00918" y="5343200"/>
            <a:ext cx="13548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无符号整数：</a:t>
            </a:r>
            <a:r>
              <a:rPr lang="en-US" altLang="zh-CN" sz="1300" dirty="0"/>
              <a:t>19</a:t>
            </a:r>
            <a:endParaRPr lang="zh-CN" altLang="en-US" sz="1300" dirty="0"/>
          </a:p>
        </p:txBody>
      </p:sp>
      <p:sp>
        <p:nvSpPr>
          <p:cNvPr id="13" name="TextBox 12"/>
          <p:cNvSpPr txBox="1"/>
          <p:nvPr/>
        </p:nvSpPr>
        <p:spPr>
          <a:xfrm>
            <a:off x="1187624" y="5986916"/>
            <a:ext cx="21884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有符号整数的补码形式：</a:t>
            </a:r>
            <a:r>
              <a:rPr lang="en-US" altLang="zh-CN" sz="1300" dirty="0"/>
              <a:t>19</a:t>
            </a:r>
            <a:endParaRPr lang="zh-CN" alt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5305374" y="5343200"/>
            <a:ext cx="14398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无符号整数：</a:t>
            </a:r>
            <a:r>
              <a:rPr lang="en-US" altLang="zh-CN" sz="1300" dirty="0"/>
              <a:t>147</a:t>
            </a:r>
            <a:endParaRPr lang="zh-CN" alt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5292080" y="5986916"/>
            <a:ext cx="232467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00" dirty="0"/>
              <a:t>有符号整数的补码形式：</a:t>
            </a:r>
            <a:r>
              <a:rPr lang="en-US" altLang="zh-CN" sz="1300" dirty="0"/>
              <a:t>-109</a:t>
            </a:r>
            <a:endParaRPr lang="zh-CN" altLang="en-US" sz="1300" dirty="0"/>
          </a:p>
        </p:txBody>
      </p:sp>
      <p:grpSp>
        <p:nvGrpSpPr>
          <p:cNvPr id="24" name="Group 21"/>
          <p:cNvGrpSpPr/>
          <p:nvPr/>
        </p:nvGrpSpPr>
        <p:grpSpPr bwMode="auto">
          <a:xfrm>
            <a:off x="1259632" y="5633513"/>
            <a:ext cx="2438400" cy="285751"/>
            <a:chOff x="2592" y="1440"/>
            <a:chExt cx="1536" cy="240"/>
          </a:xfrm>
        </p:grpSpPr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92" y="1440"/>
              <a:ext cx="15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dist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rPr>
                <a:t>0  0  0  1  0  0  1  1</a:t>
              </a:r>
              <a:endParaRPr kumimoji="1" lang="en-US" altLang="zh-CN" sz="2400" dirty="0">
                <a:latin typeface="Times New Roman" panose="02020503050405090304" pitchFamily="18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2784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2976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3168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3360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3552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3744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3936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33" name="Group 21"/>
          <p:cNvGrpSpPr/>
          <p:nvPr/>
        </p:nvGrpSpPr>
        <p:grpSpPr bwMode="auto">
          <a:xfrm>
            <a:off x="5364088" y="5631232"/>
            <a:ext cx="2438400" cy="285751"/>
            <a:chOff x="2592" y="1440"/>
            <a:chExt cx="1536" cy="240"/>
          </a:xfrm>
        </p:grpSpPr>
        <p:sp>
          <p:nvSpPr>
            <p:cNvPr id="34" name="Rectangle 22"/>
            <p:cNvSpPr>
              <a:spLocks noChangeArrowheads="1"/>
            </p:cNvSpPr>
            <p:nvPr/>
          </p:nvSpPr>
          <p:spPr bwMode="auto">
            <a:xfrm>
              <a:off x="2592" y="1440"/>
              <a:ext cx="15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dist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宋体" pitchFamily="2" charset="-122"/>
                  <a:cs typeface="宋体" pitchFamily="2" charset="-122"/>
                </a:rPr>
                <a:t>1  0  0  1  0  0  1  1</a:t>
              </a:r>
              <a:endParaRPr kumimoji="1" lang="en-US" altLang="zh-CN" sz="2400" dirty="0">
                <a:latin typeface="Times New Roman" panose="02020503050405090304" pitchFamily="18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>
              <a:off x="2784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>
              <a:off x="2976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>
              <a:off x="3168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>
              <a:off x="3360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>
              <a:off x="3552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0" name="Line 28"/>
            <p:cNvSpPr>
              <a:spLocks noChangeShapeType="1"/>
            </p:cNvSpPr>
            <p:nvPr/>
          </p:nvSpPr>
          <p:spPr bwMode="auto">
            <a:xfrm>
              <a:off x="3744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1" name="Line 29"/>
            <p:cNvSpPr>
              <a:spLocks noChangeShapeType="1"/>
            </p:cNvSpPr>
            <p:nvPr/>
          </p:nvSpPr>
          <p:spPr bwMode="auto">
            <a:xfrm>
              <a:off x="3936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97778" y="1591530"/>
            <a:ext cx="8326367" cy="4532309"/>
          </a:xfrm>
        </p:spPr>
        <p:txBody>
          <a:bodyPr>
            <a:normAutofit/>
          </a:bodyPr>
          <a:lstStyle/>
          <a:p>
            <a:r>
              <a:rPr lang="zh-CN" altLang="en-US" dirty="0"/>
              <a:t>转换目的：</a:t>
            </a:r>
            <a:endParaRPr lang="en-US" altLang="zh-CN" dirty="0"/>
          </a:p>
          <a:p>
            <a:pPr lvl="1"/>
            <a:r>
              <a:rPr lang="zh-CN" altLang="en-US" dirty="0"/>
              <a:t>将短的数扩展成机器处理的长度</a:t>
            </a:r>
            <a:endParaRPr lang="en-US" altLang="zh-CN" dirty="0"/>
          </a:p>
          <a:p>
            <a:pPr lvl="1"/>
            <a:r>
              <a:rPr lang="zh-CN" altLang="en-US" dirty="0"/>
              <a:t>使运算符两端具有共同的类型</a:t>
            </a:r>
            <a:endParaRPr lang="en-US" altLang="zh-CN" dirty="0"/>
          </a:p>
          <a:p>
            <a:r>
              <a:rPr lang="zh-CN" altLang="en-US" dirty="0"/>
              <a:t>转换准则：</a:t>
            </a:r>
            <a:endParaRPr lang="en-US" altLang="zh-CN" dirty="0"/>
          </a:p>
          <a:p>
            <a:pPr lvl="1"/>
            <a:r>
              <a:rPr lang="en-US" altLang="zh-CN" dirty="0"/>
              <a:t>char</a:t>
            </a:r>
            <a:r>
              <a:rPr lang="zh-CN" altLang="en-US" dirty="0"/>
              <a:t>或</a:t>
            </a:r>
            <a:r>
              <a:rPr lang="en-US" altLang="zh-CN" dirty="0"/>
              <a:t>short</a:t>
            </a:r>
            <a:r>
              <a:rPr lang="zh-CN" altLang="en-US" dirty="0"/>
              <a:t>全部自动转换为相应的带符号</a:t>
            </a:r>
            <a:r>
              <a:rPr lang="en-US" altLang="zh-CN" dirty="0"/>
              <a:t>/</a:t>
            </a:r>
            <a:r>
              <a:rPr lang="zh-CN" altLang="en-US" dirty="0"/>
              <a:t>不带符号的</a:t>
            </a:r>
            <a:r>
              <a:rPr lang="en-US" altLang="zh-CN" dirty="0" err="1"/>
              <a:t>int</a:t>
            </a:r>
            <a:r>
              <a:rPr lang="zh-CN" altLang="en-US" dirty="0"/>
              <a:t>型</a:t>
            </a:r>
            <a:endParaRPr lang="zh-CN" altLang="en-US" dirty="0"/>
          </a:p>
          <a:p>
            <a:pPr lvl="1"/>
            <a:r>
              <a:rPr lang="zh-CN" altLang="en-US" dirty="0"/>
              <a:t>同样整型（带符号或无符号），低级别转高级别</a:t>
            </a:r>
            <a:endParaRPr lang="zh-CN" altLang="en-US" dirty="0"/>
          </a:p>
          <a:p>
            <a:pPr lvl="1"/>
            <a:r>
              <a:rPr lang="zh-CN" altLang="en-US" dirty="0"/>
              <a:t>若无符号操作数级别高于或等于另一操作数，则另一带符号操作数转为无符号</a:t>
            </a:r>
            <a:endParaRPr lang="zh-CN" altLang="en-US" dirty="0"/>
          </a:p>
          <a:p>
            <a:pPr lvl="1"/>
            <a:r>
              <a:rPr lang="zh-CN" altLang="en-US" dirty="0"/>
              <a:t>如果带符号操作数能容纳无符号操作数的所有可能值，则无符号转为带符号</a:t>
            </a:r>
            <a:endParaRPr lang="zh-CN" altLang="en-US" dirty="0"/>
          </a:p>
          <a:p>
            <a:pPr lvl="1"/>
            <a:r>
              <a:rPr lang="zh-CN" altLang="en-US" dirty="0"/>
              <a:t>否则，</a:t>
            </a:r>
            <a:r>
              <a:rPr lang="en-US" altLang="zh-CN" dirty="0"/>
              <a:t>2</a:t>
            </a:r>
            <a:r>
              <a:rPr lang="zh-CN" altLang="en-US" dirty="0"/>
              <a:t>个操作数都转换为与带符号整型操作数对应的无符号整型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运算转换</a:t>
            </a:r>
            <a:endParaRPr lang="zh-CN" altLang="en-US" dirty="0"/>
          </a:p>
        </p:txBody>
      </p:sp>
      <p:sp>
        <p:nvSpPr>
          <p:cNvPr id="4" name="Text Box 45"/>
          <p:cNvSpPr>
            <a:spLocks noChangeArrowheads="1"/>
          </p:cNvSpPr>
          <p:nvPr/>
        </p:nvSpPr>
        <p:spPr bwMode="auto">
          <a:xfrm>
            <a:off x="5076056" y="-27384"/>
            <a:ext cx="3884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buSzPct val="100000"/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503050405090304" pitchFamily="18" charset="0"/>
              </a:rPr>
              <a:t>10+‘a’  +i*f   -      d / l</a:t>
            </a:r>
            <a:endParaRPr kumimoji="1" lang="en-US" altLang="zh-CN" sz="3200" b="1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5" name="Text Box 46"/>
          <p:cNvSpPr>
            <a:spLocks noChangeArrowheads="1"/>
          </p:cNvSpPr>
          <p:nvPr/>
        </p:nvSpPr>
        <p:spPr bwMode="auto">
          <a:xfrm>
            <a:off x="2987824" y="158584"/>
            <a:ext cx="2894012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buSzPct val="100000"/>
            </a:pPr>
            <a:r>
              <a:rPr kumimoji="1" lang="zh-CN" altLang="en-US" sz="2500" b="1" dirty="0">
                <a:latin typeface="Times New Roman" panose="02020503050405090304" pitchFamily="18" charset="0"/>
              </a:rPr>
              <a:t>例   </a:t>
            </a:r>
            <a:r>
              <a:rPr kumimoji="1" lang="en-US" altLang="zh-CN" sz="2500" b="1" dirty="0" err="1">
                <a:latin typeface="Times New Roman" panose="02020503050405090304" pitchFamily="18" charset="0"/>
              </a:rPr>
              <a:t>int</a:t>
            </a:r>
            <a:r>
              <a:rPr kumimoji="1" lang="en-US" altLang="zh-CN" sz="2500" b="1" dirty="0">
                <a:latin typeface="Times New Roman" panose="02020503050405090304" pitchFamily="18" charset="0"/>
              </a:rPr>
              <a:t>  </a:t>
            </a:r>
            <a:r>
              <a:rPr kumimoji="1" lang="en-US" altLang="zh-CN" sz="2500" b="1" dirty="0" err="1">
                <a:latin typeface="Times New Roman" panose="02020503050405090304" pitchFamily="18" charset="0"/>
              </a:rPr>
              <a:t>i</a:t>
            </a:r>
            <a:r>
              <a:rPr kumimoji="1" lang="en-US" altLang="zh-CN" sz="2500" b="1" dirty="0">
                <a:latin typeface="Times New Roman" panose="02020503050405090304" pitchFamily="18" charset="0"/>
              </a:rPr>
              <a:t>;</a:t>
            </a:r>
            <a:endParaRPr kumimoji="1" lang="en-US" altLang="zh-CN" sz="2500" b="1" dirty="0">
              <a:latin typeface="Times New Roman" panose="02020503050405090304" pitchFamily="18" charset="0"/>
            </a:endParaRPr>
          </a:p>
          <a:p>
            <a:pPr eaLnBrk="0" hangingPunct="0">
              <a:buSzPct val="100000"/>
            </a:pPr>
            <a:r>
              <a:rPr kumimoji="1" lang="en-US" altLang="zh-CN" sz="2500" b="1" dirty="0">
                <a:latin typeface="Times New Roman" panose="02020503050405090304" pitchFamily="18" charset="0"/>
              </a:rPr>
              <a:t>       float </a:t>
            </a:r>
            <a:r>
              <a:rPr kumimoji="1" lang="en-US" altLang="zh-CN" sz="2500" b="1" dirty="0" err="1">
                <a:latin typeface="Times New Roman" panose="02020503050405090304" pitchFamily="18" charset="0"/>
              </a:rPr>
              <a:t>d,f</a:t>
            </a:r>
            <a:r>
              <a:rPr kumimoji="1" lang="en-US" altLang="zh-CN" sz="2500" b="1" dirty="0">
                <a:latin typeface="Times New Roman" panose="02020503050405090304" pitchFamily="18" charset="0"/>
              </a:rPr>
              <a:t>;</a:t>
            </a:r>
            <a:endParaRPr kumimoji="1" lang="en-US" altLang="zh-CN" sz="2500" b="1" dirty="0">
              <a:latin typeface="Times New Roman" panose="02020503050405090304" pitchFamily="18" charset="0"/>
            </a:endParaRPr>
          </a:p>
          <a:p>
            <a:pPr eaLnBrk="0" hangingPunct="0">
              <a:buSzPct val="100000"/>
            </a:pPr>
            <a:r>
              <a:rPr kumimoji="1" lang="en-US" altLang="zh-CN" sz="2500" b="1" dirty="0">
                <a:latin typeface="Times New Roman" panose="02020503050405090304" pitchFamily="18" charset="0"/>
              </a:rPr>
              <a:t>       long l;</a:t>
            </a:r>
            <a:endParaRPr kumimoji="1" lang="en-US" altLang="zh-CN" sz="2500" b="1" dirty="0">
              <a:latin typeface="Times New Roman" panose="02020503050405090304" pitchFamily="18" charset="0"/>
            </a:endParaRPr>
          </a:p>
        </p:txBody>
      </p:sp>
      <p:grpSp>
        <p:nvGrpSpPr>
          <p:cNvPr id="6" name="组合 63"/>
          <p:cNvGrpSpPr/>
          <p:nvPr/>
        </p:nvGrpSpPr>
        <p:grpSpPr bwMode="auto">
          <a:xfrm>
            <a:off x="5317356" y="456804"/>
            <a:ext cx="4665663" cy="2611872"/>
            <a:chOff x="3886200" y="3505200"/>
            <a:chExt cx="4665662" cy="3452596"/>
          </a:xfrm>
        </p:grpSpPr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5257800" y="4419600"/>
              <a:ext cx="361950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组合 62"/>
            <p:cNvGrpSpPr/>
            <p:nvPr/>
          </p:nvGrpSpPr>
          <p:grpSpPr bwMode="auto">
            <a:xfrm>
              <a:off x="3886200" y="3505200"/>
              <a:ext cx="4665662" cy="3452596"/>
              <a:chOff x="3886200" y="3505200"/>
              <a:chExt cx="4665662" cy="3452596"/>
            </a:xfrm>
          </p:grpSpPr>
          <p:grpSp>
            <p:nvGrpSpPr>
              <p:cNvPr id="9" name="Group 3"/>
              <p:cNvGrpSpPr/>
              <p:nvPr/>
            </p:nvGrpSpPr>
            <p:grpSpPr bwMode="auto">
              <a:xfrm>
                <a:off x="3886200" y="3505200"/>
                <a:ext cx="4665662" cy="3452596"/>
                <a:chOff x="2821" y="2197"/>
                <a:chExt cx="2939" cy="1799"/>
              </a:xfrm>
            </p:grpSpPr>
            <p:grpSp>
              <p:nvGrpSpPr>
                <p:cNvPr id="14" name="Group 4"/>
                <p:cNvGrpSpPr/>
                <p:nvPr/>
              </p:nvGrpSpPr>
              <p:grpSpPr bwMode="auto">
                <a:xfrm>
                  <a:off x="2821" y="2197"/>
                  <a:ext cx="647" cy="958"/>
                  <a:chOff x="2821" y="2197"/>
                  <a:chExt cx="647" cy="958"/>
                </a:xfrm>
              </p:grpSpPr>
              <p:sp>
                <p:nvSpPr>
                  <p:cNvPr id="40" name="Line 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41" y="2197"/>
                    <a:ext cx="0" cy="166"/>
                  </a:xfrm>
                  <a:prstGeom prst="line">
                    <a:avLst/>
                  </a:prstGeom>
                  <a:noFill/>
                  <a:ln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Text Box 6"/>
                  <p:cNvSpPr>
                    <a:spLocks noChangeArrowheads="1"/>
                  </p:cNvSpPr>
                  <p:nvPr/>
                </p:nvSpPr>
                <p:spPr bwMode="auto">
                  <a:xfrm>
                    <a:off x="3118" y="2311"/>
                    <a:ext cx="35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 err="1"/>
                      <a:t>int</a:t>
                    </a:r>
                    <a:endParaRPr kumimoji="1" lang="en-US" altLang="zh-CN" sz="1500" b="1" dirty="0"/>
                  </a:p>
                </p:txBody>
              </p:sp>
              <p:grpSp>
                <p:nvGrpSpPr>
                  <p:cNvPr id="42" name="Group 7"/>
                  <p:cNvGrpSpPr/>
                  <p:nvPr/>
                </p:nvGrpSpPr>
                <p:grpSpPr bwMode="auto">
                  <a:xfrm>
                    <a:off x="2821" y="2223"/>
                    <a:ext cx="420" cy="701"/>
                    <a:chOff x="2821" y="2223"/>
                    <a:chExt cx="420" cy="701"/>
                  </a:xfrm>
                </p:grpSpPr>
                <p:sp>
                  <p:nvSpPr>
                    <p:cNvPr id="44" name="Line 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21" y="2223"/>
                      <a:ext cx="0" cy="51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5" name="Line 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241" y="2542"/>
                      <a:ext cx="0" cy="191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" name="Line 1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21" y="2733"/>
                      <a:ext cx="420" cy="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" name="Line 1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73" y="2733"/>
                      <a:ext cx="0" cy="191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3" name="Text Box 12"/>
                  <p:cNvSpPr>
                    <a:spLocks noChangeArrowheads="1"/>
                  </p:cNvSpPr>
                  <p:nvPr/>
                </p:nvSpPr>
                <p:spPr bwMode="auto">
                  <a:xfrm>
                    <a:off x="2948" y="2867"/>
                    <a:ext cx="42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 err="1"/>
                      <a:t>int</a:t>
                    </a:r>
                    <a:endParaRPr kumimoji="1" lang="en-US" altLang="zh-CN" sz="1500" b="1" dirty="0"/>
                  </a:p>
                </p:txBody>
              </p:sp>
            </p:grpSp>
            <p:grpSp>
              <p:nvGrpSpPr>
                <p:cNvPr id="15" name="Group 13"/>
                <p:cNvGrpSpPr/>
                <p:nvPr/>
              </p:nvGrpSpPr>
              <p:grpSpPr bwMode="auto">
                <a:xfrm>
                  <a:off x="3492" y="2243"/>
                  <a:ext cx="1009" cy="830"/>
                  <a:chOff x="3492" y="2243"/>
                  <a:chExt cx="1009" cy="830"/>
                </a:xfrm>
              </p:grpSpPr>
              <p:sp>
                <p:nvSpPr>
                  <p:cNvPr id="37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70" y="2243"/>
                    <a:ext cx="0" cy="191"/>
                  </a:xfrm>
                  <a:prstGeom prst="line">
                    <a:avLst/>
                  </a:prstGeom>
                  <a:noFill/>
                  <a:ln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Text Box 15"/>
                  <p:cNvSpPr>
                    <a:spLocks noChangeArrowheads="1"/>
                  </p:cNvSpPr>
                  <p:nvPr/>
                </p:nvSpPr>
                <p:spPr bwMode="auto">
                  <a:xfrm>
                    <a:off x="3492" y="2366"/>
                    <a:ext cx="525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  <p:sp>
                <p:nvSpPr>
                  <p:cNvPr id="39" name="Text Box 22"/>
                  <p:cNvSpPr>
                    <a:spLocks noChangeArrowheads="1"/>
                  </p:cNvSpPr>
                  <p:nvPr/>
                </p:nvSpPr>
                <p:spPr bwMode="auto">
                  <a:xfrm>
                    <a:off x="3637" y="2832"/>
                    <a:ext cx="864" cy="24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</p:grpSp>
            <p:grpSp>
              <p:nvGrpSpPr>
                <p:cNvPr id="16" name="Group 23"/>
                <p:cNvGrpSpPr/>
                <p:nvPr/>
              </p:nvGrpSpPr>
              <p:grpSpPr bwMode="auto">
                <a:xfrm>
                  <a:off x="4725" y="2198"/>
                  <a:ext cx="1035" cy="828"/>
                  <a:chOff x="4725" y="2198"/>
                  <a:chExt cx="1035" cy="828"/>
                </a:xfrm>
              </p:grpSpPr>
              <p:sp>
                <p:nvSpPr>
                  <p:cNvPr id="29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24" y="2198"/>
                    <a:ext cx="0" cy="191"/>
                  </a:xfrm>
                  <a:prstGeom prst="line">
                    <a:avLst/>
                  </a:prstGeom>
                  <a:noFill/>
                  <a:ln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" name="Text Box 25"/>
                  <p:cNvSpPr>
                    <a:spLocks noChangeArrowheads="1"/>
                  </p:cNvSpPr>
                  <p:nvPr/>
                </p:nvSpPr>
                <p:spPr bwMode="auto">
                  <a:xfrm>
                    <a:off x="4840" y="2319"/>
                    <a:ext cx="920" cy="24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  <p:grpSp>
                <p:nvGrpSpPr>
                  <p:cNvPr id="31" name="Group 26"/>
                  <p:cNvGrpSpPr/>
                  <p:nvPr/>
                </p:nvGrpSpPr>
                <p:grpSpPr bwMode="auto">
                  <a:xfrm>
                    <a:off x="4725" y="2236"/>
                    <a:ext cx="421" cy="637"/>
                    <a:chOff x="4840" y="2223"/>
                    <a:chExt cx="421" cy="637"/>
                  </a:xfrm>
                </p:grpSpPr>
                <p:sp>
                  <p:nvSpPr>
                    <p:cNvPr id="33" name="Line 2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840" y="2223"/>
                      <a:ext cx="0" cy="446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" name="Line 2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261" y="2541"/>
                      <a:ext cx="0" cy="128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40" y="2669"/>
                      <a:ext cx="421" cy="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" name="Line 3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092" y="2669"/>
                      <a:ext cx="0" cy="191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" name="Text Box 31"/>
                  <p:cNvSpPr>
                    <a:spLocks noChangeArrowheads="1"/>
                  </p:cNvSpPr>
                  <p:nvPr/>
                </p:nvSpPr>
                <p:spPr bwMode="auto">
                  <a:xfrm>
                    <a:off x="4762" y="2785"/>
                    <a:ext cx="525" cy="24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</p:grpSp>
            <p:grpSp>
              <p:nvGrpSpPr>
                <p:cNvPr id="17" name="Group 32"/>
                <p:cNvGrpSpPr/>
                <p:nvPr/>
              </p:nvGrpSpPr>
              <p:grpSpPr bwMode="auto">
                <a:xfrm>
                  <a:off x="3073" y="3004"/>
                  <a:ext cx="2020" cy="992"/>
                  <a:chOff x="3073" y="3004"/>
                  <a:chExt cx="2020" cy="992"/>
                </a:xfrm>
              </p:grpSpPr>
              <p:grpSp>
                <p:nvGrpSpPr>
                  <p:cNvPr id="18" name="Group 33"/>
                  <p:cNvGrpSpPr/>
                  <p:nvPr/>
                </p:nvGrpSpPr>
                <p:grpSpPr bwMode="auto">
                  <a:xfrm>
                    <a:off x="3073" y="3051"/>
                    <a:ext cx="926" cy="255"/>
                    <a:chOff x="3073" y="3051"/>
                    <a:chExt cx="926" cy="255"/>
                  </a:xfrm>
                </p:grpSpPr>
                <p:sp>
                  <p:nvSpPr>
                    <p:cNvPr id="26" name="Line 3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73" y="3051"/>
                      <a:ext cx="0" cy="128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179"/>
                      <a:ext cx="926" cy="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" name="Line 3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78" y="3179"/>
                      <a:ext cx="0" cy="127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9" name="Text Box 38"/>
                  <p:cNvSpPr>
                    <a:spLocks noChangeArrowheads="1"/>
                  </p:cNvSpPr>
                  <p:nvPr/>
                </p:nvSpPr>
                <p:spPr bwMode="auto">
                  <a:xfrm>
                    <a:off x="3401" y="3259"/>
                    <a:ext cx="525" cy="24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  <p:grpSp>
                <p:nvGrpSpPr>
                  <p:cNvPr id="20" name="Group 39"/>
                  <p:cNvGrpSpPr/>
                  <p:nvPr/>
                </p:nvGrpSpPr>
                <p:grpSpPr bwMode="auto">
                  <a:xfrm>
                    <a:off x="3668" y="3004"/>
                    <a:ext cx="1321" cy="794"/>
                    <a:chOff x="3578" y="2987"/>
                    <a:chExt cx="1321" cy="794"/>
                  </a:xfrm>
                </p:grpSpPr>
                <p:sp>
                  <p:nvSpPr>
                    <p:cNvPr id="22" name="Line 4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899" y="2987"/>
                      <a:ext cx="0" cy="574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" name="Line 4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78" y="3434"/>
                      <a:ext cx="0" cy="127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78" y="3561"/>
                      <a:ext cx="1321" cy="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" name="Line 4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264" y="3561"/>
                      <a:ext cx="0" cy="220"/>
                    </a:xfrm>
                    <a:prstGeom prst="line">
                      <a:avLst/>
                    </a:prstGeom>
                    <a:noFill/>
                    <a:ln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1" name="Text Box 44"/>
                  <p:cNvSpPr>
                    <a:spLocks noChangeArrowheads="1"/>
                  </p:cNvSpPr>
                  <p:nvPr/>
                </p:nvSpPr>
                <p:spPr bwMode="auto">
                  <a:xfrm>
                    <a:off x="4172" y="3755"/>
                    <a:ext cx="921" cy="24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1pPr>
                    <a:lvl2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2pPr>
                    <a:lvl3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defRPr>
                    </a:lvl9pPr>
                  </a:lstStyle>
                  <a:p>
                    <a:pPr>
                      <a:buSzPct val="100000"/>
                    </a:pPr>
                    <a:r>
                      <a:rPr kumimoji="1" lang="en-US" altLang="zh-CN" sz="1500" b="1" dirty="0"/>
                      <a:t>float</a:t>
                    </a:r>
                    <a:endParaRPr kumimoji="1" lang="en-US" altLang="zh-CN" sz="1500" b="1" dirty="0"/>
                  </a:p>
                </p:txBody>
              </p:sp>
            </p:grpSp>
          </p:grp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 flipH="1">
                <a:off x="5638800" y="3581400"/>
                <a:ext cx="0" cy="809625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 flipH="1">
                <a:off x="5257800" y="4114800"/>
                <a:ext cx="0" cy="30321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 flipH="1">
                <a:off x="5791200" y="5105400"/>
                <a:ext cx="0" cy="30321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5486400" y="4419600"/>
                <a:ext cx="0" cy="36656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通过赋值使 </a:t>
            </a:r>
            <a:r>
              <a:rPr lang="en-US" altLang="zh-CN" sz="2000" dirty="0">
                <a:latin typeface="Arial" panose="020B0604020202090204" pitchFamily="34" charset="0"/>
              </a:rPr>
              <a:t>“</a:t>
            </a:r>
            <a:r>
              <a:rPr lang="en-US" altLang="zh-CN" sz="2000" dirty="0"/>
              <a:t>=</a:t>
            </a:r>
            <a:r>
              <a:rPr lang="en-US" altLang="zh-CN" sz="2000" dirty="0">
                <a:latin typeface="Arial" panose="020B0604020202090204" pitchFamily="34" charset="0"/>
              </a:rPr>
              <a:t>” </a:t>
            </a:r>
            <a:r>
              <a:rPr lang="zh-CN" altLang="en-US" sz="2000" dirty="0"/>
              <a:t>右边表达式的类型自动转换为左边变量的类型</a:t>
            </a:r>
            <a:endParaRPr lang="zh-CN" altLang="en-US" sz="2000" dirty="0"/>
          </a:p>
          <a:p>
            <a:r>
              <a:rPr lang="zh-CN" altLang="en-US" sz="2000" dirty="0"/>
              <a:t>赋值转换具有强制性，可能是类型提升，也可能是类型下降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赋值转换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50614" y="2181983"/>
            <a:ext cx="4138613" cy="147161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-252095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Tx/>
              <a:buBlip>
                <a:blip r:embed="rId1"/>
              </a:buBlip>
              <a:defRPr sz="2100" kern="1200">
                <a:gradFill>
                  <a:gsLst>
                    <a:gs pos="0">
                      <a:srgbClr val="CC33CC"/>
                    </a:gs>
                    <a:gs pos="75000">
                      <a:srgbClr val="101C9E"/>
                    </a:gs>
                  </a:gsLst>
                  <a:lin ang="8100000" scaled="1"/>
                </a:gradFill>
                <a:latin typeface="微软雅黑" charset="-122"/>
                <a:ea typeface="微软雅黑" charset="-122"/>
                <a:cs typeface="+mn-cs"/>
              </a:defRPr>
            </a:lvl1pPr>
            <a:lvl2pPr marL="514350" indent="-179705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90000"/>
              <a:buFontTx/>
              <a:buBlip>
                <a:blip r:embed="rId1"/>
              </a:buBlip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35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</a:t>
            </a:r>
            <a:r>
              <a:rPr lang="zh-CN" altLang="en-US" sz="35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rPr>
              <a:t>实</a:t>
            </a:r>
            <a:r>
              <a:rPr lang="zh-CN" altLang="en-US" sz="35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整，舍弃小数。</a:t>
            </a:r>
            <a:endParaRPr lang="zh-CN" altLang="en-US" sz="3500" b="1" dirty="0">
              <a:solidFill>
                <a:srgbClr val="0000FF"/>
              </a:solidFill>
              <a:latin typeface="Times New Roman" panose="02020503050405090304" pitchFamily="18" charset="0"/>
              <a:ea typeface="隶书" panose="02010509060101010101" pitchFamily="49" charset="-122"/>
              <a:cs typeface="Times New Roman" panose="02020503050405090304" pitchFamily="18" charset="0"/>
              <a:sym typeface="Wingdings 3" panose="05040102010807070707" pitchFamily="18" charset="2"/>
            </a:endParaRPr>
          </a:p>
          <a:p>
            <a:pPr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sym typeface="Wingdings 3" panose="05040102010807070707" pitchFamily="18" charset="2"/>
              </a:rPr>
              <a:t>例： </a:t>
            </a:r>
            <a:r>
              <a:rPr lang="en-US" altLang="zh-CN" sz="2800" b="1" dirty="0" err="1">
                <a:solidFill>
                  <a:schemeClr val="tx1"/>
                </a:solidFill>
                <a:sym typeface="Wingdings 3" panose="05040102010807070707" pitchFamily="18" charset="2"/>
              </a:rPr>
              <a:t>int</a:t>
            </a:r>
            <a:r>
              <a:rPr lang="en-US" altLang="zh-CN" sz="2800" b="1" dirty="0">
                <a:solidFill>
                  <a:schemeClr val="tx1"/>
                </a:solidFill>
                <a:sym typeface="Wingdings 3" panose="05040102010807070707" pitchFamily="18" charset="2"/>
              </a:rPr>
              <a:t>  </a:t>
            </a:r>
            <a:r>
              <a:rPr lang="en-US" altLang="zh-CN" sz="2800" b="1" dirty="0" err="1">
                <a:solidFill>
                  <a:schemeClr val="tx1"/>
                </a:solidFill>
                <a:sym typeface="Wingdings 3" panose="05040102010807070707" pitchFamily="18" charset="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sym typeface="Wingdings 3" panose="05040102010807070707" pitchFamily="18" charset="2"/>
              </a:rPr>
              <a:t>;</a:t>
            </a:r>
            <a:endParaRPr lang="en-US" altLang="zh-CN" sz="2800" b="1" dirty="0">
              <a:solidFill>
                <a:schemeClr val="tx1"/>
              </a:solidFill>
              <a:sym typeface="Wingdings 3" panose="05040102010807070707" pitchFamily="18" charset="2"/>
            </a:endParaRPr>
          </a:p>
          <a:p>
            <a:pPr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sym typeface="Wingdings 3" panose="05040102010807070707" pitchFamily="18" charset="2"/>
              </a:rPr>
              <a:t>        </a:t>
            </a:r>
            <a:r>
              <a:rPr lang="en-US" altLang="zh-CN" sz="2800" b="1" dirty="0" err="1">
                <a:solidFill>
                  <a:schemeClr val="tx1"/>
                </a:solidFill>
                <a:sym typeface="Wingdings 3" panose="05040102010807070707" pitchFamily="18" charset="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sym typeface="Wingdings 3" panose="05040102010807070707" pitchFamily="18" charset="2"/>
              </a:rPr>
              <a:t>=375.986;</a:t>
            </a:r>
            <a:endParaRPr lang="en-US" altLang="zh-CN" sz="2800" b="1" dirty="0">
              <a:solidFill>
                <a:schemeClr val="tx1"/>
              </a:solidFill>
              <a:sym typeface="Wingdings 3" panose="05040102010807070707" pitchFamily="18" charset="2"/>
            </a:endParaRPr>
          </a:p>
        </p:txBody>
      </p:sp>
      <p:sp>
        <p:nvSpPr>
          <p:cNvPr id="5" name="Text Box 4"/>
          <p:cNvSpPr>
            <a:spLocks noChangeArrowheads="1"/>
          </p:cNvSpPr>
          <p:nvPr/>
        </p:nvSpPr>
        <p:spPr bwMode="auto">
          <a:xfrm>
            <a:off x="4515843" y="3025244"/>
            <a:ext cx="1789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SzPct val="100000"/>
            </a:pPr>
            <a:r>
              <a:rPr lang="en-US" altLang="zh-CN" sz="2800" b="1" dirty="0"/>
              <a:t> </a:t>
            </a:r>
            <a:r>
              <a:rPr lang="en-US" altLang="zh-CN" b="1" dirty="0" err="1">
                <a:latin typeface="微软雅黑" charset="-122"/>
                <a:ea typeface="微软雅黑" charset="-122"/>
                <a:cs typeface="+mn-cs"/>
              </a:rPr>
              <a:t>i</a:t>
            </a:r>
            <a:r>
              <a:rPr lang="en-US" altLang="zh-CN" b="1" dirty="0">
                <a:latin typeface="微软雅黑" charset="-122"/>
                <a:ea typeface="微软雅黑" charset="-122"/>
                <a:cs typeface="+mn-cs"/>
              </a:rPr>
              <a:t>=375</a:t>
            </a:r>
            <a:endParaRPr lang="en-US" altLang="zh-CN" b="1" dirty="0"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6" name="Text Box 5"/>
          <p:cNvSpPr>
            <a:spLocks noChangeArrowheads="1"/>
          </p:cNvSpPr>
          <p:nvPr/>
        </p:nvSpPr>
        <p:spPr bwMode="auto">
          <a:xfrm>
            <a:off x="432000" y="3666138"/>
            <a:ext cx="8167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SzPct val="100000"/>
            </a:pP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</a:t>
            </a:r>
            <a:r>
              <a:rPr lang="en-US" altLang="zh-CN" sz="2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int</a:t>
            </a:r>
            <a:r>
              <a:rPr lang="en-US" altLang="zh-CN" sz="2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 3" panose="05040102010807070707" pitchFamily="18" charset="2"/>
              </a:rPr>
              <a:t>float</a:t>
            </a: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 3" panose="05040102010807070707" pitchFamily="18" charset="2"/>
              </a:rPr>
              <a:t>,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数值不变，但以浮点形式存到变量中。</a:t>
            </a:r>
            <a:endParaRPr lang="zh-CN" altLang="en-US" sz="2200" b="1" dirty="0">
              <a:solidFill>
                <a:srgbClr val="0000FF"/>
              </a:solidFill>
              <a:latin typeface="Times New Roman" panose="02020503050405090304" pitchFamily="18" charset="0"/>
              <a:ea typeface="隶书" panose="02010509060101010101" pitchFamily="49" charset="-122"/>
              <a:cs typeface="Times New Roman" panose="02020503050405090304" pitchFamily="18" charset="0"/>
              <a:sym typeface="Wingdings 3" panose="05040102010807070707" pitchFamily="18" charset="2"/>
            </a:endParaRPr>
          </a:p>
        </p:txBody>
      </p:sp>
      <p:sp>
        <p:nvSpPr>
          <p:cNvPr id="7" name="Text Box 6"/>
          <p:cNvSpPr>
            <a:spLocks noChangeArrowheads="1"/>
          </p:cNvSpPr>
          <p:nvPr/>
        </p:nvSpPr>
        <p:spPr bwMode="auto">
          <a:xfrm>
            <a:off x="544313" y="4123266"/>
            <a:ext cx="292576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indent="-252095" defTabSz="685800">
              <a:lnSpc>
                <a:spcPct val="130000"/>
              </a:lnSpc>
              <a:spcBef>
                <a:spcPts val="750"/>
              </a:spcBef>
              <a:buSzPct val="100000"/>
            </a:pPr>
            <a:r>
              <a:rPr lang="zh-CN" altLang="en-US" b="1" dirty="0">
                <a:latin typeface="微软雅黑" charset="-122"/>
                <a:ea typeface="微软雅黑" charset="-122"/>
                <a:cs typeface="+mn-cs"/>
              </a:rPr>
              <a:t>例：</a:t>
            </a:r>
            <a:r>
              <a:rPr lang="en-US" altLang="zh-CN" b="1" dirty="0">
                <a:latin typeface="微软雅黑" charset="-122"/>
                <a:ea typeface="微软雅黑" charset="-122"/>
                <a:cs typeface="+mn-cs"/>
              </a:rPr>
              <a:t>float  f;</a:t>
            </a:r>
            <a:endParaRPr lang="en-US" altLang="zh-CN" b="1" dirty="0">
              <a:latin typeface="微软雅黑" charset="-122"/>
              <a:ea typeface="微软雅黑" charset="-122"/>
              <a:cs typeface="+mn-cs"/>
            </a:endParaRPr>
          </a:p>
          <a:p>
            <a:pPr indent="-252095" defTabSz="685800">
              <a:lnSpc>
                <a:spcPct val="130000"/>
              </a:lnSpc>
              <a:spcBef>
                <a:spcPts val="750"/>
              </a:spcBef>
              <a:buSzPct val="100000"/>
            </a:pPr>
            <a:r>
              <a:rPr lang="en-US" altLang="zh-CN" b="1" dirty="0">
                <a:latin typeface="微软雅黑" charset="-122"/>
                <a:ea typeface="微软雅黑" charset="-122"/>
                <a:cs typeface="+mn-cs"/>
              </a:rPr>
              <a:t>       f=36;</a:t>
            </a:r>
            <a:endParaRPr lang="en-US" altLang="zh-CN" b="1" dirty="0"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" name="Text Box 7"/>
          <p:cNvSpPr>
            <a:spLocks noChangeArrowheads="1"/>
          </p:cNvSpPr>
          <p:nvPr/>
        </p:nvSpPr>
        <p:spPr bwMode="auto">
          <a:xfrm>
            <a:off x="4339976" y="3991401"/>
            <a:ext cx="2560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SzPct val="100000"/>
            </a:pPr>
            <a:r>
              <a:rPr lang="en-US" altLang="zh-CN" sz="2800" b="1" dirty="0"/>
              <a:t> </a:t>
            </a:r>
            <a:r>
              <a:rPr lang="en-US" altLang="zh-CN" b="1" dirty="0">
                <a:latin typeface="微软雅黑" charset="-122"/>
                <a:ea typeface="微软雅黑" charset="-122"/>
                <a:cs typeface="+mn-cs"/>
              </a:rPr>
              <a:t>f=36.000000</a:t>
            </a:r>
            <a:endParaRPr lang="en-US" altLang="zh-CN" b="1" dirty="0"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36699" y="4876800"/>
            <a:ext cx="8905056" cy="198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95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Tx/>
              <a:buBlip>
                <a:blip r:embed="rId1"/>
              </a:buBlip>
              <a:defRPr sz="2100" kern="1200">
                <a:gradFill>
                  <a:gsLst>
                    <a:gs pos="0">
                      <a:srgbClr val="CC33CC"/>
                    </a:gs>
                    <a:gs pos="75000">
                      <a:srgbClr val="101C9E"/>
                    </a:gs>
                  </a:gsLst>
                  <a:lin ang="8100000" scaled="1"/>
                </a:gradFill>
                <a:latin typeface="微软雅黑" charset="-122"/>
                <a:ea typeface="微软雅黑" charset="-122"/>
                <a:cs typeface="+mn-cs"/>
              </a:defRPr>
            </a:lvl1pPr>
            <a:lvl2pPr marL="514350" indent="-179705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90000"/>
              <a:buFontTx/>
              <a:buBlip>
                <a:blip r:embed="rId1"/>
              </a:buBlip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"/>
            </a:pP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字符  整型，将字符</a:t>
            </a: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ASCII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码值放到整型量低八位中，高八位为</a:t>
            </a: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0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。</a:t>
            </a: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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整型赋予字符型，只把低八位赋予字符变量</a:t>
            </a:r>
            <a:endParaRPr lang="zh-CN" altLang="en-US" sz="2200" b="1" dirty="0">
              <a:solidFill>
                <a:srgbClr val="0000FF"/>
              </a:solidFill>
              <a:latin typeface="Times New Roman" panose="02020503050405090304" pitchFamily="18" charset="0"/>
              <a:ea typeface="隶书" panose="02010509060101010101" pitchFamily="49" charset="-122"/>
              <a:cs typeface="Times New Roman" panose="02020503050405090304" pitchFamily="18" charset="0"/>
              <a:sym typeface="Wingdings 3" panose="05040102010807070707" pitchFamily="18" charset="2"/>
            </a:endParaRPr>
          </a:p>
          <a:p>
            <a:pPr>
              <a:buFontTx/>
              <a:buNone/>
            </a:pPr>
            <a:endParaRPr lang="en-US" altLang="zh-CN" b="1" dirty="0">
              <a:solidFill>
                <a:srgbClr val="0000FF"/>
              </a:solidFill>
              <a:ea typeface="隶书" panose="02010509060101010101" pitchFamily="49" charset="-122"/>
              <a:sym typeface="Wingdings 3" panose="05040102010807070707" pitchFamily="18" charset="2"/>
            </a:endParaRPr>
          </a:p>
        </p:txBody>
      </p:sp>
      <p:sp>
        <p:nvSpPr>
          <p:cNvPr id="10" name="Text Box 5"/>
          <p:cNvSpPr>
            <a:spLocks noChangeArrowheads="1"/>
          </p:cNvSpPr>
          <p:nvPr/>
        </p:nvSpPr>
        <p:spPr bwMode="auto">
          <a:xfrm>
            <a:off x="236699" y="6010281"/>
            <a:ext cx="6583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SzPct val="100000"/>
            </a:pP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 </a:t>
            </a:r>
            <a:r>
              <a:rPr lang="en-US" altLang="zh-CN" sz="2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signed</a:t>
            </a:r>
            <a:r>
              <a:rPr lang="en-US" altLang="zh-CN" sz="22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 3" panose="05040102010807070707" pitchFamily="18" charset="2"/>
              </a:rPr>
              <a:t>unsigned</a:t>
            </a:r>
            <a:r>
              <a:rPr lang="en-US" altLang="zh-CN" sz="2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 3" panose="05040102010807070707" pitchFamily="18" charset="2"/>
              </a:rPr>
              <a:t>,</a:t>
            </a:r>
            <a:r>
              <a:rPr lang="zh-CN" altLang="en-US" sz="2200" b="1" dirty="0">
                <a:solidFill>
                  <a:srgbClr val="0000FF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  <a:sym typeface="Wingdings 3" panose="05040102010807070707" pitchFamily="18" charset="2"/>
              </a:rPr>
              <a:t>原样照赋</a:t>
            </a:r>
            <a:endParaRPr lang="zh-CN" altLang="en-US" sz="2200" b="1" dirty="0">
              <a:solidFill>
                <a:srgbClr val="0000FF"/>
              </a:solidFill>
              <a:latin typeface="Times New Roman" panose="02020503050405090304" pitchFamily="18" charset="0"/>
              <a:ea typeface="隶书" panose="02010509060101010101" pitchFamily="49" charset="-122"/>
              <a:cs typeface="Times New Roman" panose="02020503050405090304" pitchFamily="18" charset="0"/>
              <a:sym typeface="Wingdings 3" panose="050401020108070707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输出转换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语言中任何一种类型的数据，都可以转换为与原有类型不同的类型输出。例如：</a:t>
            </a:r>
            <a:endParaRPr lang="zh-CN" altLang="en-US" dirty="0"/>
          </a:p>
          <a:p>
            <a:pPr lvl="1" algn="just"/>
            <a:r>
              <a:rPr lang="en-US" altLang="zh-CN" dirty="0"/>
              <a:t>long</a:t>
            </a:r>
            <a:r>
              <a:rPr lang="zh-CN" altLang="en-US" dirty="0"/>
              <a:t>型数据在</a:t>
            </a:r>
            <a:r>
              <a:rPr lang="en-US" altLang="zh-CN" dirty="0" err="1"/>
              <a:t>printf</a:t>
            </a:r>
            <a:r>
              <a:rPr lang="zh-CN" altLang="en-US" dirty="0"/>
              <a:t>函数中指定用</a:t>
            </a:r>
            <a:r>
              <a:rPr lang="en-US" altLang="zh-CN" dirty="0"/>
              <a:t>int</a:t>
            </a:r>
            <a:r>
              <a:rPr lang="zh-CN" altLang="en-US" dirty="0"/>
              <a:t>型输出（使用</a:t>
            </a:r>
            <a:r>
              <a:rPr lang="en-US" altLang="zh-CN" dirty="0"/>
              <a:t>%d</a:t>
            </a:r>
            <a:r>
              <a:rPr lang="zh-CN" altLang="en-US" dirty="0"/>
              <a:t>转换格式）</a:t>
            </a:r>
            <a:endParaRPr lang="zh-CN" altLang="zh-CN" dirty="0"/>
          </a:p>
          <a:p>
            <a:pPr lvl="1" algn="just"/>
            <a:r>
              <a:rPr lang="en-US" altLang="zh-CN" dirty="0"/>
              <a:t>int</a:t>
            </a:r>
            <a:r>
              <a:rPr lang="zh-CN" altLang="en-US" dirty="0"/>
              <a:t>型数可按无符号方式输出（使用</a:t>
            </a:r>
            <a:r>
              <a:rPr lang="en-US" altLang="zh-CN" dirty="0"/>
              <a:t>%u</a:t>
            </a:r>
            <a:r>
              <a:rPr lang="zh-CN" altLang="en-US" dirty="0"/>
              <a:t>转换）。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隐式转换中要特别注意以下几种情况：</a:t>
            </a:r>
            <a:endParaRPr lang="en-US" altLang="en-US" sz="290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负数转换为无符号数，符号位被作为数值的一部分处理，数据的值发生变化。</a:t>
            </a:r>
            <a:endParaRPr lang="zh-CN" altLang="en-US"/>
          </a:p>
          <a:p>
            <a:r>
              <a:rPr lang="zh-CN" altLang="en-US"/>
              <a:t>较长类型转换为较短类型，当较短类型不能表示其值时，数据将不可靠。</a:t>
            </a:r>
            <a:endParaRPr lang="zh-CN" altLang="en-US"/>
          </a:p>
          <a:p>
            <a:r>
              <a:rPr lang="zh-CN" altLang="en-US"/>
              <a:t>实数转换为整数时，当实数值超过整数最大值时，数据不可靠。</a:t>
            </a:r>
            <a:endParaRPr lang="zh-CN" altLang="en-US"/>
          </a:p>
          <a:p>
            <a:r>
              <a:rPr lang="zh-CN" altLang="en-US">
                <a:solidFill>
                  <a:srgbClr val="CC0000"/>
                </a:solidFill>
              </a:rPr>
              <a:t>隐式转换也隐藏着危机，</a:t>
            </a:r>
            <a:r>
              <a:rPr lang="zh-CN" altLang="en-US"/>
              <a:t>在</a:t>
            </a:r>
            <a:r>
              <a:rPr lang="en-US" altLang="zh-CN"/>
              <a:t>C++</a:t>
            </a:r>
            <a:r>
              <a:rPr lang="zh-CN" altLang="en-US"/>
              <a:t>中编译时会给出警告（</a:t>
            </a:r>
            <a:r>
              <a:rPr lang="en-US" altLang="zh-CN"/>
              <a:t>warning</a:t>
            </a:r>
            <a:r>
              <a:rPr lang="zh-CN" altLang="en-US"/>
              <a:t>）。最好使用显示数据类型转换。</a:t>
            </a:r>
            <a:endParaRPr lang="zh-CN" altLang="en-US"/>
          </a:p>
          <a:p>
            <a:endParaRPr lang="en-US" altLang="en-US">
              <a:ea typeface="华文中宋" pitchFamily="2" charset="-122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《C</a:t>
            </a:r>
            <a:r>
              <a:rPr lang="zh-CN" altLang="en-US" dirty="0"/>
              <a:t>程序设计（第五版）</a:t>
            </a:r>
            <a:r>
              <a:rPr lang="en-US" altLang="zh-CN" dirty="0"/>
              <a:t>》3.3.5</a:t>
            </a:r>
            <a:r>
              <a:rPr lang="zh-CN" altLang="en-US" dirty="0"/>
              <a:t>节（第</a:t>
            </a:r>
            <a:r>
              <a:rPr lang="en-US" altLang="zh-CN" dirty="0"/>
              <a:t>54</a:t>
            </a:r>
            <a:r>
              <a:rPr lang="zh-CN" altLang="en-US" dirty="0"/>
              <a:t>页）</a:t>
            </a:r>
            <a:endParaRPr lang="en-US" altLang="zh-CN" dirty="0"/>
          </a:p>
          <a:p>
            <a:pPr marL="677545" lvl="1" indent="-34290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700" dirty="0"/>
              <a:t>+</a:t>
            </a:r>
            <a:r>
              <a:rPr lang="zh-CN" altLang="en-US" sz="1700" dirty="0"/>
              <a:t>、</a:t>
            </a:r>
            <a:r>
              <a:rPr lang="en-US" altLang="zh-CN" sz="1700" dirty="0"/>
              <a:t>-</a:t>
            </a:r>
            <a:r>
              <a:rPr lang="zh-CN" altLang="en-US" sz="1700" dirty="0"/>
              <a:t>、*、</a:t>
            </a:r>
            <a:r>
              <a:rPr lang="en-US" altLang="zh-CN" sz="1700" dirty="0"/>
              <a:t>/</a:t>
            </a:r>
            <a:r>
              <a:rPr lang="zh-CN" altLang="en-US" sz="1700" dirty="0"/>
              <a:t>运算的两个数中有一个数为</a:t>
            </a:r>
            <a:r>
              <a:rPr lang="en-US" altLang="zh-CN" sz="1700" dirty="0"/>
              <a:t>float</a:t>
            </a:r>
            <a:r>
              <a:rPr lang="zh-CN" altLang="en-US" sz="1700" dirty="0"/>
              <a:t>或者</a:t>
            </a:r>
            <a:r>
              <a:rPr lang="en-US" altLang="zh-CN" sz="1700" dirty="0"/>
              <a:t>double</a:t>
            </a:r>
            <a:r>
              <a:rPr lang="zh-CN" altLang="en-US" sz="1700" dirty="0"/>
              <a:t>型，结果是</a:t>
            </a:r>
            <a:r>
              <a:rPr lang="en-US" altLang="zh-CN" sz="1700" dirty="0"/>
              <a:t>double</a:t>
            </a:r>
            <a:r>
              <a:rPr lang="zh-CN" altLang="en-US" sz="1700" dirty="0"/>
              <a:t>型， 因为系统将所有</a:t>
            </a:r>
            <a:r>
              <a:rPr lang="en-US" altLang="zh-CN" sz="1700" dirty="0"/>
              <a:t>float</a:t>
            </a:r>
            <a:r>
              <a:rPr lang="zh-CN" altLang="en-US" sz="1700" dirty="0"/>
              <a:t>型数据都先转换为</a:t>
            </a:r>
            <a:r>
              <a:rPr lang="en-US" altLang="zh-CN" sz="1700" dirty="0"/>
              <a:t>double</a:t>
            </a:r>
            <a:r>
              <a:rPr lang="zh-CN" altLang="en-US" sz="1700" dirty="0"/>
              <a:t>型，然后进行运算</a:t>
            </a:r>
            <a:endParaRPr lang="en-US" altLang="zh-CN" sz="1700" dirty="0"/>
          </a:p>
          <a:p>
            <a:pPr marL="677545" lvl="1" indent="-34290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700" dirty="0"/>
              <a:t>如果</a:t>
            </a:r>
            <a:r>
              <a:rPr lang="en-US" altLang="zh-CN" sz="1700" dirty="0" err="1"/>
              <a:t>int</a:t>
            </a:r>
            <a:r>
              <a:rPr lang="zh-CN" altLang="en-US" sz="1700" dirty="0"/>
              <a:t>型与</a:t>
            </a:r>
            <a:r>
              <a:rPr lang="en-US" altLang="zh-CN" sz="1700" dirty="0"/>
              <a:t>float</a:t>
            </a:r>
            <a:r>
              <a:rPr lang="zh-CN" altLang="en-US" sz="1700" dirty="0"/>
              <a:t>或</a:t>
            </a:r>
            <a:r>
              <a:rPr lang="en-US" altLang="zh-CN" sz="1700" dirty="0"/>
              <a:t>double</a:t>
            </a:r>
            <a:r>
              <a:rPr lang="zh-CN" altLang="en-US" sz="1700" dirty="0"/>
              <a:t>型数据进行运算，先把</a:t>
            </a:r>
            <a:r>
              <a:rPr lang="en-US" altLang="zh-CN" sz="1700" dirty="0" err="1"/>
              <a:t>int</a:t>
            </a:r>
            <a:r>
              <a:rPr lang="zh-CN" altLang="en-US" sz="1700" dirty="0"/>
              <a:t>型和</a:t>
            </a:r>
            <a:r>
              <a:rPr lang="en-US" altLang="zh-CN" sz="1700" dirty="0"/>
              <a:t>float</a:t>
            </a:r>
            <a:r>
              <a:rPr lang="zh-CN" altLang="en-US" sz="1700" dirty="0"/>
              <a:t>型数据转换为</a:t>
            </a:r>
            <a:r>
              <a:rPr lang="en-US" altLang="zh-CN" sz="1700" dirty="0"/>
              <a:t>double</a:t>
            </a:r>
            <a:r>
              <a:rPr lang="zh-CN" altLang="en-US" sz="1700" dirty="0"/>
              <a:t>型，然后进行运算，结果是</a:t>
            </a:r>
            <a:r>
              <a:rPr lang="en-US" altLang="zh-CN" sz="1700" dirty="0"/>
              <a:t>double</a:t>
            </a:r>
            <a:r>
              <a:rPr lang="zh-CN" altLang="en-US" sz="1700" dirty="0"/>
              <a:t>型</a:t>
            </a:r>
            <a:endParaRPr lang="en-US" altLang="zh-CN" sz="1700" dirty="0"/>
          </a:p>
          <a:p>
            <a:pPr marL="677545" lvl="1" indent="-34290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700" dirty="0"/>
              <a:t>如果字符型数据与实型数据进行运算，则将字符的</a:t>
            </a:r>
            <a:r>
              <a:rPr lang="en-US" altLang="zh-CN" sz="1700" dirty="0"/>
              <a:t>ASCII</a:t>
            </a:r>
            <a:r>
              <a:rPr lang="zh-CN" altLang="en-US" sz="1700" dirty="0"/>
              <a:t>代码转换为</a:t>
            </a:r>
            <a:r>
              <a:rPr lang="en-US" altLang="zh-CN" sz="1700" dirty="0"/>
              <a:t>double</a:t>
            </a:r>
            <a:r>
              <a:rPr lang="zh-CN" altLang="en-US" sz="1700" dirty="0"/>
              <a:t>型数据，然后进行运算</a:t>
            </a:r>
            <a:endParaRPr lang="en-US" altLang="zh-CN" sz="17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参考书勘误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6633"/>
            <a:ext cx="570359" cy="570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78721"/>
            <a:ext cx="570359" cy="570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6553"/>
            <a:ext cx="570359" cy="570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以第</a:t>
            </a:r>
            <a:r>
              <a:rPr lang="en-US" altLang="zh-CN" dirty="0"/>
              <a:t>2</a:t>
            </a:r>
            <a:r>
              <a:rPr lang="zh-CN" altLang="en-US" dirty="0"/>
              <a:t>点为例，设计实验验证</a:t>
            </a:r>
            <a:endParaRPr lang="en-US" altLang="zh-CN" dirty="0"/>
          </a:p>
          <a:p>
            <a:pPr lvl="1"/>
            <a:r>
              <a:rPr lang="zh-CN" altLang="en-US" dirty="0"/>
              <a:t>条件：如果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zh-CN" altLang="en-US" dirty="0"/>
              <a:t>型与</a:t>
            </a:r>
            <a:r>
              <a:rPr lang="en-US" altLang="zh-CN" dirty="0">
                <a:solidFill>
                  <a:srgbClr val="FF0000"/>
                </a:solidFill>
              </a:rPr>
              <a:t>float</a:t>
            </a:r>
            <a:r>
              <a:rPr lang="zh-CN" altLang="en-US" dirty="0"/>
              <a:t>或</a:t>
            </a:r>
            <a:r>
              <a:rPr lang="en-US" altLang="zh-CN" dirty="0"/>
              <a:t>double</a:t>
            </a:r>
            <a:r>
              <a:rPr lang="zh-CN" altLang="en-US" dirty="0"/>
              <a:t>型数据进行运算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  <a:r>
              <a:rPr lang="en-US" altLang="zh-CN" dirty="0"/>
              <a:t>1</a:t>
            </a:r>
            <a:r>
              <a:rPr lang="zh-CN" altLang="en-US" dirty="0"/>
              <a:t>：先把</a:t>
            </a:r>
            <a:r>
              <a:rPr lang="en-US" altLang="zh-CN" dirty="0" err="1"/>
              <a:t>int</a:t>
            </a:r>
            <a:r>
              <a:rPr lang="zh-CN" altLang="en-US" dirty="0"/>
              <a:t>型和</a:t>
            </a:r>
            <a:r>
              <a:rPr lang="en-US" altLang="zh-CN" dirty="0"/>
              <a:t>float</a:t>
            </a:r>
            <a:r>
              <a:rPr lang="zh-CN" altLang="en-US" dirty="0"/>
              <a:t>型数据转换为</a:t>
            </a:r>
            <a:r>
              <a:rPr lang="en-US" altLang="zh-CN" dirty="0"/>
              <a:t>double</a:t>
            </a:r>
            <a:r>
              <a:rPr lang="zh-CN" altLang="en-US" dirty="0"/>
              <a:t>型，然后进行运算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  <a:r>
              <a:rPr lang="en-US" altLang="zh-CN" dirty="0"/>
              <a:t>2</a:t>
            </a:r>
            <a:r>
              <a:rPr lang="zh-CN" altLang="en-US" dirty="0"/>
              <a:t>：结果是</a:t>
            </a:r>
            <a:r>
              <a:rPr lang="en-US" altLang="zh-CN" dirty="0"/>
              <a:t>double</a:t>
            </a:r>
            <a:r>
              <a:rPr lang="zh-CN" altLang="en-US" dirty="0"/>
              <a:t>型</a:t>
            </a:r>
            <a:endParaRPr lang="en-US" altLang="zh-CN" dirty="0"/>
          </a:p>
          <a:p>
            <a:r>
              <a:rPr lang="zh-CN" altLang="en-US" dirty="0"/>
              <a:t>验证结论</a:t>
            </a:r>
            <a:r>
              <a:rPr lang="en-US" altLang="zh-CN" dirty="0"/>
              <a:t>2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参考书勘误</a:t>
            </a:r>
            <a:endParaRPr lang="zh-CN" altLang="en-US" dirty="0"/>
          </a:p>
        </p:txBody>
      </p:sp>
      <p:sp>
        <p:nvSpPr>
          <p:cNvPr id="5" name="文本框 2"/>
          <p:cNvSpPr txBox="1">
            <a:spLocks noChangeArrowheads="1"/>
          </p:cNvSpPr>
          <p:nvPr/>
        </p:nvSpPr>
        <p:spPr bwMode="auto">
          <a:xfrm>
            <a:off x="395536" y="3717032"/>
            <a:ext cx="6696744" cy="19442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/>
              <a:t> 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 &lt;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main(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argc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char **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argv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 {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x = 1;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 float y = 1.0;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(float),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(double));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(1 + 1.0));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(x + y));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zh-CN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5949280"/>
            <a:ext cx="273630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思考：如何验证结论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717032"/>
            <a:ext cx="14382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验证结论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思路：构造一个是否转换成</a:t>
            </a:r>
            <a:r>
              <a:rPr lang="en-US" altLang="zh-CN" dirty="0"/>
              <a:t>double</a:t>
            </a:r>
            <a:r>
              <a:rPr lang="zh-CN" altLang="en-US" dirty="0"/>
              <a:t>类型会影响结果的计算，通过观察计算结果来判断是否转换成</a:t>
            </a:r>
            <a:r>
              <a:rPr lang="en-US" altLang="zh-CN" dirty="0"/>
              <a:t>double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1"/>
            <a:r>
              <a:rPr lang="zh-CN" altLang="en-US" dirty="0"/>
              <a:t>可以考虑从表示范围或者精度入手，进行构造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参考书勘误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123" y="6095037"/>
            <a:ext cx="850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验证结果：</a:t>
            </a:r>
            <a:r>
              <a:rPr lang="zh-CN" altLang="en-US" dirty="0">
                <a:solidFill>
                  <a:srgbClr val="FF0000"/>
                </a:solidFill>
              </a:rPr>
              <a:t>结论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对于字面常量是适用的，因为实型字面常量默认是</a:t>
            </a:r>
            <a:r>
              <a:rPr lang="en-US" altLang="zh-CN" dirty="0">
                <a:solidFill>
                  <a:srgbClr val="FF0000"/>
                </a:solidFill>
              </a:rPr>
              <a:t>double</a:t>
            </a:r>
            <a:r>
              <a:rPr lang="zh-CN" altLang="en-US" dirty="0">
                <a:solidFill>
                  <a:srgbClr val="FF0000"/>
                </a:solidFill>
              </a:rPr>
              <a:t>类型；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  </a:t>
            </a:r>
            <a:r>
              <a:rPr lang="zh-CN" altLang="en-US" dirty="0">
                <a:solidFill>
                  <a:srgbClr val="FF0000"/>
                </a:solidFill>
              </a:rPr>
              <a:t>但对于变量是不适用的。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2"/>
          <p:cNvSpPr txBox="1">
            <a:spLocks noChangeArrowheads="1"/>
          </p:cNvSpPr>
          <p:nvPr/>
        </p:nvSpPr>
        <p:spPr bwMode="auto">
          <a:xfrm>
            <a:off x="1043608" y="3140968"/>
            <a:ext cx="6696744" cy="19442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/>
              <a:t> 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 &lt;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main(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argc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char **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argv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 {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x = 10;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float y = 3.4e38;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double z = 3.4e38;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("%f\n", y * x);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("%f\n", z * x);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zh-CN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200056"/>
            <a:ext cx="6696744" cy="664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44008" y="188640"/>
            <a:ext cx="417646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>
                <a:solidFill>
                  <a:srgbClr val="FF0000"/>
                </a:solidFill>
              </a:rPr>
              <a:t>思考：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本页</a:t>
            </a:r>
            <a:r>
              <a:rPr lang="en-US" altLang="zh-CN" sz="1500" b="1" dirty="0">
                <a:solidFill>
                  <a:srgbClr val="FF0000"/>
                </a:solidFill>
              </a:rPr>
              <a:t>PPT</a:t>
            </a:r>
            <a:r>
              <a:rPr lang="zh-CN" altLang="en-US" sz="1500" b="1" dirty="0">
                <a:solidFill>
                  <a:srgbClr val="FF0000"/>
                </a:solidFill>
              </a:rPr>
              <a:t>从表示范围入手构造特殊的计算，如何从精度入手构造特殊的计算？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500" b="1" dirty="0">
                <a:solidFill>
                  <a:srgbClr val="FF0000"/>
                </a:solidFill>
              </a:rPr>
              <a:t>尝试验证教材中另外两点错误</a:t>
            </a:r>
            <a:endParaRPr lang="en-US" altLang="zh-CN" sz="15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7235854" cy="1655763"/>
          </a:xfrm>
        </p:spPr>
        <p:txBody>
          <a:bodyPr>
            <a:normAutofit/>
          </a:bodyPr>
          <a:lstStyle/>
          <a:p>
            <a:r>
              <a:rPr lang="en-US" altLang="zh-CN" sz="4400" dirty="0"/>
              <a:t>2.5 </a:t>
            </a:r>
            <a:r>
              <a:rPr lang="zh-CN" altLang="en-US" sz="4400" dirty="0"/>
              <a:t>数据的格式化输入和输出</a:t>
            </a:r>
            <a:endParaRPr lang="en-US" sz="4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C++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的输入输出流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9953" y="1358782"/>
            <a:ext cx="642486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n1, n2;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f1, f2;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d1, d2;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c1, c2;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n1 &gt;&gt; n2;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f1 &gt;&gt; f2;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d1 &gt;&gt; d2;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c1 &gt;&gt; c2;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n1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n2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f1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f2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d1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d2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c1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c2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45930" y="949330"/>
            <a:ext cx="501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85CB8"/>
                </a:solidFill>
              </a:rPr>
              <a:t>输入时：空格、缩进、换行都会理解为分隔符</a:t>
            </a:r>
            <a:endParaRPr lang="en-US" dirty="0">
              <a:solidFill>
                <a:srgbClr val="085CB8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C++</a:t>
            </a:r>
            <a:r>
              <a:rPr lang="zh-CN" altLang="en-US" dirty="0"/>
              <a:t>代码</a:t>
            </a:r>
            <a:endParaRPr lang="en-US" dirty="0"/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建立</a:t>
            </a:r>
            <a:r>
              <a:rPr lang="en-US" altLang="zh-CN">
                <a:solidFill>
                  <a:srgbClr val="FF0000"/>
                </a:solidFill>
              </a:rPr>
              <a:t>C++</a:t>
            </a:r>
            <a:r>
              <a:rPr lang="zh-CN" altLang="en-US"/>
              <a:t>项目与</a:t>
            </a:r>
            <a:r>
              <a:rPr lang="en-US" altLang="zh-CN">
                <a:solidFill>
                  <a:srgbClr val="FF0000"/>
                </a:solidFill>
              </a:rPr>
              <a:t>.cpp</a:t>
            </a:r>
            <a:r>
              <a:rPr lang="zh-CN" altLang="en-US"/>
              <a:t>为扩展名的源文件</a:t>
            </a:r>
            <a:endParaRPr lang="en-US" altLang="zh-CN"/>
          </a:p>
          <a:p>
            <a:pPr lvl="1"/>
            <a:r>
              <a:rPr lang="en-US" altLang="zh-CN"/>
              <a:t>C++</a:t>
            </a:r>
            <a:r>
              <a:rPr lang="zh-CN" altLang="en-US"/>
              <a:t>兼容</a:t>
            </a:r>
            <a:r>
              <a:rPr lang="en-US" altLang="zh-CN"/>
              <a:t>C</a:t>
            </a:r>
            <a:r>
              <a:rPr lang="zh-CN" altLang="en-US"/>
              <a:t>语言（语句、头文件</a:t>
            </a:r>
            <a:r>
              <a:rPr lang="en-US" altLang="zh-CN"/>
              <a:t>……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预处理：引入输入输出流的头文件</a:t>
            </a:r>
            <a:endParaRPr lang="en-US" altLang="zh-CN"/>
          </a:p>
          <a:p>
            <a:pPr lvl="1"/>
            <a:endParaRPr lang="en-US" altLang="en-US">
              <a:ea typeface="华文中宋" pitchFamily="2" charset="-122"/>
            </a:endParaRPr>
          </a:p>
          <a:p>
            <a:endParaRPr lang="en-US" altLang="en-US">
              <a:ea typeface="华文中宋" pitchFamily="2" charset="-122"/>
            </a:endParaRPr>
          </a:p>
          <a:p>
            <a:r>
              <a:rPr lang="zh-CN" altLang="en-US"/>
              <a:t>输入流</a:t>
            </a:r>
            <a:r>
              <a:rPr lang="en-US" altLang="zh-CN"/>
              <a:t>cin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tx1"/>
                </a:solidFill>
              </a:rPr>
              <a:t>从键盘</a:t>
            </a:r>
            <a:r>
              <a:rPr lang="zh-CN" altLang="en-US"/>
              <a:t>提取</a:t>
            </a:r>
            <a:r>
              <a:rPr lang="zh-CN" altLang="en-US">
                <a:solidFill>
                  <a:schemeClr val="tx1"/>
                </a:solidFill>
              </a:rPr>
              <a:t>变量信息</a:t>
            </a:r>
            <a:r>
              <a:rPr lang="zh-CN" altLang="en-US"/>
              <a:t>（</a:t>
            </a:r>
            <a:r>
              <a:rPr lang="en-US" altLang="zh-CN"/>
              <a:t>&gt;&gt;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输出流</a:t>
            </a:r>
            <a:r>
              <a:rPr lang="en-US" altLang="zh-CN"/>
              <a:t>cout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tx1"/>
                </a:solidFill>
              </a:rPr>
              <a:t>将变量</a:t>
            </a:r>
            <a:r>
              <a:rPr lang="zh-CN" altLang="en-US"/>
              <a:t>插入</a:t>
            </a:r>
            <a:r>
              <a:rPr lang="zh-CN" altLang="en-US">
                <a:solidFill>
                  <a:schemeClr val="tx1"/>
                </a:solidFill>
              </a:rPr>
              <a:t>到显示设备中</a:t>
            </a:r>
            <a:r>
              <a:rPr lang="zh-CN" altLang="en-US"/>
              <a:t>（</a:t>
            </a:r>
            <a:r>
              <a:rPr lang="en-US" altLang="zh-CN"/>
              <a:t>&lt;&lt;</a:t>
            </a:r>
            <a:r>
              <a:rPr lang="zh-CN" altLang="en-US"/>
              <a:t>）</a:t>
            </a:r>
            <a:endParaRPr lang="en-US" altLang="en-US">
              <a:ea typeface="华文中宋" pitchFamily="2" charset="-122"/>
            </a:endParaRP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2286000" y="3105150"/>
            <a:ext cx="457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>
                <a:solidFill>
                  <a:srgbClr val="931A68"/>
                </a:solidFill>
                <a:latin typeface="Monaco"/>
                <a:ea typeface="Mangal" panose="02040503050203030202" pitchFamily="18" charset="0"/>
              </a:rPr>
              <a:t>#include</a:t>
            </a:r>
            <a:r>
              <a:rPr lang="en-US" altLang="en-US">
                <a:solidFill>
                  <a:srgbClr val="3933FF"/>
                </a:solidFill>
                <a:latin typeface="Monaco"/>
                <a:ea typeface="Mangal" panose="02040503050203030202" pitchFamily="18" charset="0"/>
              </a:rPr>
              <a:t>&lt;iostream&gt;</a:t>
            </a:r>
            <a:endParaRPr lang="en-US" altLang="en-US">
              <a:solidFill>
                <a:srgbClr val="3933FF"/>
              </a:solidFill>
              <a:latin typeface="Monaco"/>
              <a:ea typeface="Mangal" panose="02040503050203030202" pitchFamily="18" charset="0"/>
            </a:endParaRPr>
          </a:p>
          <a:p>
            <a:r>
              <a:rPr lang="en-US" altLang="en-US">
                <a:solidFill>
                  <a:srgbClr val="931A68"/>
                </a:solidFill>
                <a:latin typeface="Monaco"/>
                <a:ea typeface="Mangal" panose="02040503050203030202" pitchFamily="18" charset="0"/>
              </a:rPr>
              <a:t>using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</a:t>
            </a:r>
            <a:r>
              <a:rPr lang="en-US" altLang="en-US">
                <a:solidFill>
                  <a:srgbClr val="931A68"/>
                </a:solidFill>
                <a:latin typeface="Monaco"/>
                <a:ea typeface="Mangal" panose="02040503050203030202" pitchFamily="18" charset="0"/>
              </a:rPr>
              <a:t>namespace</a:t>
            </a:r>
            <a:r>
              <a:rPr lang="en-US" altLang="en-US">
                <a:solidFill>
                  <a:srgbClr val="000000"/>
                </a:solidFill>
                <a:latin typeface="Monaco"/>
                <a:ea typeface="Mangal" panose="02040503050203030202" pitchFamily="18" charset="0"/>
              </a:rPr>
              <a:t> std;</a:t>
            </a:r>
            <a:endParaRPr lang="en-US" altLang="en-US">
              <a:solidFill>
                <a:srgbClr val="931A68"/>
              </a:solidFill>
              <a:latin typeface="Monaco"/>
              <a:ea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输出流的基本操作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cout</a:t>
            </a:r>
            <a:r>
              <a:rPr lang="zh-CN" altLang="en-US"/>
              <a:t>语句的一般格式为</a:t>
            </a:r>
            <a:endParaRPr lang="en-US" altLang="zh-CN"/>
          </a:p>
          <a:p>
            <a:pPr lvl="1"/>
            <a:r>
              <a:rPr lang="en-US" altLang="en-US">
                <a:latin typeface="Times New Roman" panose="02020503050405090304" pitchFamily="18" charset="0"/>
                <a:ea typeface="华文中宋" pitchFamily="2" charset="-122"/>
                <a:cs typeface="Times New Roman" panose="02020503050405090304" pitchFamily="18" charset="0"/>
              </a:rPr>
              <a:t>cout&lt;&lt;表达式1&lt;&lt;表达式2&lt;&lt;……&lt;&lt;表达式n;</a:t>
            </a:r>
            <a:endParaRPr lang="en-US" altLang="en-US">
              <a:ea typeface="Mangal" panose="02040503050203030202" pitchFamily="18" charset="0"/>
            </a:endParaRPr>
          </a:p>
          <a:p>
            <a:r>
              <a:rPr lang="zh-CN" altLang="en-US"/>
              <a:t>一个</a:t>
            </a:r>
            <a:r>
              <a:rPr lang="en-US" altLang="zh-CN"/>
              <a:t>cout</a:t>
            </a:r>
            <a:r>
              <a:rPr lang="zh-CN" altLang="en-US"/>
              <a:t>语句可以分成若干行写</a:t>
            </a:r>
            <a:endParaRPr lang="en-US" altLang="zh-CN"/>
          </a:p>
          <a:p>
            <a:endParaRPr lang="en-US" altLang="en-US">
              <a:ea typeface="华文中宋" pitchFamily="2" charset="-122"/>
            </a:endParaRPr>
          </a:p>
        </p:txBody>
      </p:sp>
      <p:sp>
        <p:nvSpPr>
          <p:cNvPr id="55301" name="Rectangle 7"/>
          <p:cNvSpPr>
            <a:spLocks noChangeArrowheads="1"/>
          </p:cNvSpPr>
          <p:nvPr/>
        </p:nvSpPr>
        <p:spPr bwMode="auto">
          <a:xfrm>
            <a:off x="1908177" y="3105150"/>
            <a:ext cx="6702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cout &lt;&lt; n1 &lt;&lt; </a:t>
            </a:r>
            <a:r>
              <a:rPr lang="en-US" altLang="en-US" sz="2000">
                <a:solidFill>
                  <a:srgbClr val="3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" "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&lt;&lt; n2 &lt;&lt; endl &lt;&lt; f1 &lt;&lt; </a:t>
            </a:r>
            <a:r>
              <a:rPr lang="en-US" altLang="en-US" sz="2000">
                <a:solidFill>
                  <a:srgbClr val="3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" "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&lt;&lt; f2 &lt;&lt; endl;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5302" name="Rectangle 8"/>
          <p:cNvSpPr>
            <a:spLocks noChangeArrowheads="1"/>
          </p:cNvSpPr>
          <p:nvPr/>
        </p:nvSpPr>
        <p:spPr bwMode="auto">
          <a:xfrm>
            <a:off x="1908175" y="4005263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cout &lt;&lt; n1 &lt;&lt; </a:t>
            </a:r>
            <a:r>
              <a:rPr lang="en-US" altLang="en-US">
                <a:solidFill>
                  <a:srgbClr val="3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" "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&lt;&lt; n2 &lt;&lt; endl;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cout &lt;&lt; f1 &lt;&lt; </a:t>
            </a:r>
            <a:r>
              <a:rPr lang="en-US" altLang="en-US">
                <a:solidFill>
                  <a:srgbClr val="3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" "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&lt;&lt; f2 &lt;&lt; endl;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Up-Down Arrow 9"/>
          <p:cNvSpPr/>
          <p:nvPr/>
        </p:nvSpPr>
        <p:spPr>
          <a:xfrm>
            <a:off x="3276600" y="3502025"/>
            <a:ext cx="431800" cy="534988"/>
          </a:xfrm>
          <a:prstGeom prst="upDownArrow">
            <a:avLst>
              <a:gd name="adj1" fmla="val 50000"/>
              <a:gd name="adj2" fmla="val 437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304" name="Rectangle 10"/>
          <p:cNvSpPr>
            <a:spLocks noChangeArrowheads="1"/>
          </p:cNvSpPr>
          <p:nvPr/>
        </p:nvSpPr>
        <p:spPr bwMode="auto">
          <a:xfrm>
            <a:off x="3870325" y="358616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</a:rPr>
              <a:t>等价</a:t>
            </a:r>
            <a:endParaRPr lang="en-US" altLang="en-US" sz="2400" b="1">
              <a:solidFill>
                <a:srgbClr val="0000FF"/>
              </a:solidFill>
            </a:endParaRPr>
          </a:p>
        </p:txBody>
      </p:sp>
      <p:pic>
        <p:nvPicPr>
          <p:cNvPr id="55305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1" r="1308"/>
          <a:stretch>
            <a:fillRect/>
          </a:stretch>
        </p:blipFill>
        <p:spPr bwMode="auto">
          <a:xfrm>
            <a:off x="1116015" y="4816475"/>
            <a:ext cx="39449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6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3"/>
          <a:stretch>
            <a:fillRect/>
          </a:stretch>
        </p:blipFill>
        <p:spPr bwMode="auto">
          <a:xfrm>
            <a:off x="5100640" y="4840288"/>
            <a:ext cx="3836987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7" name="Rectangle 13"/>
          <p:cNvSpPr>
            <a:spLocks noChangeArrowheads="1"/>
          </p:cNvSpPr>
          <p:nvPr/>
        </p:nvSpPr>
        <p:spPr bwMode="auto">
          <a:xfrm>
            <a:off x="4581525" y="5383215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</a:rPr>
              <a:t>等价</a:t>
            </a:r>
            <a:endParaRPr lang="en-US" altLang="en-US" sz="24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输出流的基本操作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在用</a:t>
            </a:r>
            <a:r>
              <a:rPr lang="en-US" altLang="zh-CN" dirty="0" err="1"/>
              <a:t>cout</a:t>
            </a:r>
            <a:r>
              <a:rPr lang="zh-CN" altLang="en-US" dirty="0"/>
              <a:t>输出时，用户</a:t>
            </a:r>
            <a:r>
              <a:rPr lang="zh-CN" altLang="en-US" dirty="0">
                <a:solidFill>
                  <a:srgbClr val="0000FF"/>
                </a:solidFill>
              </a:rPr>
              <a:t>不必通知</a:t>
            </a:r>
            <a:r>
              <a:rPr lang="zh-CN" altLang="en-US" dirty="0"/>
              <a:t>计算机按何种类型输出，系统会自动判别</a:t>
            </a:r>
            <a:r>
              <a:rPr lang="zh-CN" altLang="en-US" dirty="0">
                <a:solidFill>
                  <a:srgbClr val="0000FF"/>
                </a:solidFill>
              </a:rPr>
              <a:t>输出数据的类型</a:t>
            </a:r>
            <a:r>
              <a:rPr lang="zh-CN" altLang="en-US" dirty="0"/>
              <a:t>，使</a:t>
            </a:r>
            <a:r>
              <a:rPr lang="zh-CN" altLang="en-US" dirty="0">
                <a:solidFill>
                  <a:srgbClr val="0000FF"/>
                </a:solidFill>
              </a:rPr>
              <a:t>输出的数据按相应的类型输出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符号</a:t>
            </a:r>
            <a:r>
              <a:rPr lang="en-US" altLang="zh-CN" dirty="0" err="1"/>
              <a:t>endl</a:t>
            </a:r>
            <a:r>
              <a:rPr lang="zh-CN" altLang="en-US" dirty="0"/>
              <a:t>表示换行符</a:t>
            </a:r>
            <a:endParaRPr lang="en-US" altLang="zh-CN" dirty="0"/>
          </a:p>
          <a:p>
            <a:pPr lvl="1"/>
            <a:r>
              <a:rPr lang="zh-CN" altLang="en-US" dirty="0"/>
              <a:t>为什么不用</a:t>
            </a:r>
            <a:r>
              <a:rPr lang="en-US" altLang="zh-CN" dirty="0"/>
              <a:t>\n</a:t>
            </a:r>
            <a:r>
              <a:rPr lang="zh-CN" altLang="en-US" dirty="0"/>
              <a:t>了？</a:t>
            </a:r>
            <a:endParaRPr lang="en-US" altLang="en-US" dirty="0">
              <a:ea typeface="华文中宋" pitchFamily="2" charset="-122"/>
            </a:endParaRPr>
          </a:p>
        </p:txBody>
      </p:sp>
      <p:pic>
        <p:nvPicPr>
          <p:cNvPr id="5632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07"/>
          <a:stretch>
            <a:fillRect/>
          </a:stretch>
        </p:blipFill>
        <p:spPr bwMode="auto">
          <a:xfrm>
            <a:off x="746332" y="3992873"/>
            <a:ext cx="69850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输入流的基本格式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cin</a:t>
            </a:r>
            <a:r>
              <a:rPr lang="zh-CN" altLang="en-US"/>
              <a:t>语句的一般格式为</a:t>
            </a:r>
            <a:endParaRPr lang="en-US" altLang="zh-CN"/>
          </a:p>
          <a:p>
            <a:pPr lvl="1"/>
            <a:r>
              <a:rPr lang="en-US" altLang="en-US">
                <a:latin typeface="Times New Roman" panose="02020503050405090304" pitchFamily="18" charset="0"/>
                <a:ea typeface="华文中宋" pitchFamily="2" charset="-122"/>
                <a:cs typeface="Times New Roman" panose="02020503050405090304" pitchFamily="18" charset="0"/>
              </a:rPr>
              <a:t>cin&gt;&gt;变量1&gt;&gt;变量2&gt;&gt;……&gt;&gt;变量n;</a:t>
            </a:r>
            <a:endParaRPr lang="en-US" altLang="en-US">
              <a:latin typeface="Times New Roman" panose="02020503050405090304" pitchFamily="18" charset="0"/>
              <a:ea typeface="华文中宋" pitchFamily="2" charset="-122"/>
              <a:cs typeface="Times New Roman" panose="02020503050405090304" pitchFamily="18" charset="0"/>
            </a:endParaRPr>
          </a:p>
          <a:p>
            <a:r>
              <a:rPr lang="zh-CN" altLang="en-US"/>
              <a:t>一个</a:t>
            </a:r>
            <a:r>
              <a:rPr lang="en-US" altLang="zh-CN"/>
              <a:t>cin</a:t>
            </a:r>
            <a:r>
              <a:rPr lang="zh-CN" altLang="en-US"/>
              <a:t>语句可以分成若干行写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>
              <a:spcBef>
                <a:spcPts val="1800"/>
              </a:spcBef>
            </a:pPr>
            <a:r>
              <a:rPr lang="zh-CN" altLang="en-US"/>
              <a:t>在用</a:t>
            </a:r>
            <a:r>
              <a:rPr lang="en-US" altLang="zh-CN"/>
              <a:t>cin</a:t>
            </a:r>
            <a:r>
              <a:rPr lang="zh-CN" altLang="en-US"/>
              <a:t>输入时</a:t>
            </a:r>
            <a:r>
              <a:rPr lang="en-US" altLang="zh-CN"/>
              <a:t>,</a:t>
            </a:r>
            <a:r>
              <a:rPr lang="zh-CN" altLang="en-US"/>
              <a:t>系统也会根据变量的类型从输入流中提取相应长度的字节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不能</a:t>
            </a:r>
            <a:r>
              <a:rPr lang="zh-CN" altLang="en-US">
                <a:solidFill>
                  <a:schemeClr val="tx1"/>
                </a:solidFill>
              </a:rPr>
              <a:t>用</a:t>
            </a:r>
            <a:r>
              <a:rPr lang="en-US" altLang="zh-CN">
                <a:solidFill>
                  <a:schemeClr val="tx1"/>
                </a:solidFill>
              </a:rPr>
              <a:t>cin</a:t>
            </a:r>
            <a:r>
              <a:rPr lang="zh-CN" altLang="en-US">
                <a:solidFill>
                  <a:schemeClr val="tx1"/>
                </a:solidFill>
              </a:rPr>
              <a:t>语句把</a:t>
            </a:r>
            <a:r>
              <a:rPr lang="zh-CN" altLang="en-US">
                <a:solidFill>
                  <a:srgbClr val="0000FF"/>
                </a:solidFill>
              </a:rPr>
              <a:t>空格</a:t>
            </a:r>
            <a:r>
              <a:rPr lang="zh-CN" altLang="en-US">
                <a:solidFill>
                  <a:schemeClr val="tx1"/>
                </a:solidFill>
              </a:rPr>
              <a:t>字符和</a:t>
            </a:r>
            <a:r>
              <a:rPr lang="zh-CN" altLang="en-US">
                <a:solidFill>
                  <a:srgbClr val="0000FF"/>
                </a:solidFill>
              </a:rPr>
              <a:t>回车</a:t>
            </a:r>
            <a:r>
              <a:rPr lang="zh-CN" altLang="en-US">
                <a:solidFill>
                  <a:schemeClr val="tx1"/>
                </a:solidFill>
              </a:rPr>
              <a:t>换行符作为字符输入给字符变量，它们将被</a:t>
            </a:r>
            <a:r>
              <a:rPr lang="zh-CN" altLang="en-US">
                <a:solidFill>
                  <a:srgbClr val="FF0000"/>
                </a:solidFill>
              </a:rPr>
              <a:t>跳过</a:t>
            </a:r>
            <a:endParaRPr lang="en-US" altLang="en-US">
              <a:solidFill>
                <a:srgbClr val="FF0000"/>
              </a:solidFill>
              <a:ea typeface="华文中宋" pitchFamily="2" charset="-122"/>
            </a:endParaRPr>
          </a:p>
          <a:p>
            <a:endParaRPr lang="en-US" altLang="en-US">
              <a:ea typeface="华文中宋" pitchFamily="2" charset="-122"/>
            </a:endParaRPr>
          </a:p>
          <a:p>
            <a:endParaRPr lang="en-US" altLang="en-US">
              <a:ea typeface="华文中宋" pitchFamily="2" charset="-122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1428752" y="3225802"/>
            <a:ext cx="2881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cin &gt;&gt; n1 &gt;&gt; n2 &gt;&gt; f1 &gt;&gt; f2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&gt;&gt; d1 &gt;&gt; d2 &gt;&gt; c1 &gt;&gt; c2;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5883277" y="2947990"/>
            <a:ext cx="250507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cin &gt;&gt; n1 &gt;&gt; n2;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cin &gt;&gt; f1 &gt;&gt; f2;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cin &gt;&gt; d1 &gt;&gt; d2;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>
                <a:latin typeface="Times New Roman" panose="02020503050405090304" pitchFamily="18" charset="0"/>
                <a:cs typeface="Times New Roman" panose="02020503050405090304" pitchFamily="18" charset="0"/>
              </a:rPr>
              <a:t>cin &gt;&gt; c1 &gt;&gt; c2;</a:t>
            </a:r>
            <a:endParaRPr lang="en-US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Up-Down Arrow 7"/>
          <p:cNvSpPr/>
          <p:nvPr/>
        </p:nvSpPr>
        <p:spPr>
          <a:xfrm rot="16200000">
            <a:off x="4917282" y="3298033"/>
            <a:ext cx="431800" cy="534987"/>
          </a:xfrm>
          <a:prstGeom prst="upDownArrow">
            <a:avLst>
              <a:gd name="adj1" fmla="val 50000"/>
              <a:gd name="adj2" fmla="val 437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4708525" y="291306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</a:rPr>
              <a:t>等价</a:t>
            </a:r>
            <a:endParaRPr lang="en-US" altLang="en-US" sz="24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的输入输出函数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scanf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输入输出函数的作用是什么？</a:t>
            </a:r>
            <a:endParaRPr lang="en-US" altLang="zh-CN" sz="2400" dirty="0"/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与程序交流 </a:t>
            </a:r>
            <a:r>
              <a:rPr lang="en-US" altLang="zh-CN" sz="2000" dirty="0">
                <a:solidFill>
                  <a:schemeClr val="tx1"/>
                </a:solidFill>
              </a:rPr>
              <a:t>(Communicate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with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Program)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400" dirty="0"/>
              <a:t>函数</a:t>
            </a:r>
            <a:r>
              <a:rPr lang="en-US" altLang="zh-CN" sz="2400" dirty="0" err="1"/>
              <a:t>printf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scanf</a:t>
            </a:r>
            <a:r>
              <a:rPr lang="zh-CN" altLang="en-US" sz="2400" dirty="0"/>
              <a:t>是否属于</a:t>
            </a:r>
            <a:r>
              <a:rPr lang="en-US" altLang="zh-CN" sz="2400" dirty="0"/>
              <a:t>C</a:t>
            </a:r>
            <a:r>
              <a:rPr lang="zh-CN" altLang="en-US" sz="2400" dirty="0"/>
              <a:t>语言本身？</a:t>
            </a:r>
            <a:endParaRPr lang="en-US" altLang="zh-CN" sz="2400" dirty="0"/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不！它们不是</a:t>
            </a: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zh-CN" altLang="en-US" sz="2000" dirty="0">
                <a:solidFill>
                  <a:schemeClr val="tx1"/>
                </a:solidFill>
              </a:rPr>
              <a:t>语言的关键字，只是</a:t>
            </a:r>
            <a:r>
              <a:rPr lang="zh-CN" altLang="en-US" sz="2000" dirty="0"/>
              <a:t>库函数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zh-CN" altLang="en-US" sz="2000" dirty="0"/>
              <a:t>函数</a:t>
            </a:r>
            <a:r>
              <a:rPr lang="zh-CN" altLang="en-US" sz="2000" dirty="0">
                <a:solidFill>
                  <a:schemeClr val="tx1"/>
                </a:solidFill>
              </a:rPr>
              <a:t>名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400" dirty="0"/>
              <a:t>为什么</a:t>
            </a:r>
            <a:r>
              <a:rPr lang="en-US" altLang="zh-CN" sz="2400" dirty="0"/>
              <a:t>C</a:t>
            </a:r>
            <a:r>
              <a:rPr lang="zh-CN" altLang="en-US" sz="2400" dirty="0"/>
              <a:t>语言本身不提供输入输出？</a:t>
            </a:r>
            <a:endParaRPr lang="en-US" altLang="zh-CN" sz="2400" dirty="0"/>
          </a:p>
          <a:p>
            <a:pPr lvl="1"/>
            <a:r>
              <a:rPr lang="zh-CN" altLang="en-US" sz="2000" dirty="0"/>
              <a:t>使编译系统简化，而且通用性强，可移植性好 </a:t>
            </a:r>
            <a:endParaRPr lang="en-US" altLang="zh-CN" sz="2000" dirty="0"/>
          </a:p>
        </p:txBody>
      </p:sp>
      <p:sp>
        <p:nvSpPr>
          <p:cNvPr id="6" name="MH_Text_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81269" y="3922433"/>
            <a:ext cx="2016337" cy="38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srgbClr val="E84C22"/>
                </a:solidFill>
                <a:latin typeface="等线"/>
                <a:ea typeface="等线"/>
              </a:rPr>
              <a:t>#include&lt;</a:t>
            </a:r>
            <a:r>
              <a:rPr lang="en-US" altLang="zh-CN" sz="1600" b="1" dirty="0" err="1">
                <a:solidFill>
                  <a:srgbClr val="E84C22"/>
                </a:solidFill>
                <a:latin typeface="等线"/>
                <a:ea typeface="等线"/>
              </a:rPr>
              <a:t>stdio.h</a:t>
            </a:r>
            <a:r>
              <a:rPr lang="en-US" altLang="zh-CN" sz="1600" b="1" dirty="0">
                <a:solidFill>
                  <a:srgbClr val="E84C22"/>
                </a:solidFill>
                <a:latin typeface="等线"/>
                <a:ea typeface="等线"/>
              </a:rPr>
              <a:t>&gt;</a:t>
            </a:r>
            <a:endParaRPr lang="en-US" altLang="zh-CN" sz="1600" b="1" dirty="0">
              <a:solidFill>
                <a:srgbClr val="E84C22"/>
              </a:solidFill>
              <a:latin typeface="等线"/>
              <a:ea typeface="等线"/>
            </a:endParaRPr>
          </a:p>
        </p:txBody>
      </p:sp>
      <p:sp>
        <p:nvSpPr>
          <p:cNvPr id="7" name="MH_Desc_1"/>
          <p:cNvSpPr/>
          <p:nvPr>
            <p:custDataLst>
              <p:tags r:id="rId2"/>
            </p:custDataLst>
          </p:nvPr>
        </p:nvSpPr>
        <p:spPr>
          <a:xfrm>
            <a:off x="4802274" y="4400406"/>
            <a:ext cx="3161707" cy="234987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rm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#include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指令说明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三种形式：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#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include "c:\cpp\include\myfile.h"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 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lvl="1"/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#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include </a:t>
            </a: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"</a:t>
            </a:r>
            <a:r>
              <a:rPr lang="en-US" altLang="zh-CN" sz="1400" kern="0" dirty="0" err="1">
                <a:solidFill>
                  <a:prstClr val="black"/>
                </a:solidFill>
                <a:latin typeface="等线"/>
                <a:ea typeface="等线"/>
              </a:rPr>
              <a:t>myfile.h</a:t>
            </a: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"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 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#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include &lt;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myfile.h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&gt;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 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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按指定路径查找文件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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源程序文件所在目录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  <a:sym typeface="Wingdings 2" panose="05020102010507070707"/>
              </a:rPr>
              <a:t>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编译系统指定的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include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目录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62646" y="4811708"/>
            <a:ext cx="28093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要在程序文件的开头用预处理指令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把有关头文件放在本程序中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设计 </a:t>
            </a:r>
            <a:r>
              <a:rPr lang="en-US" altLang="zh-CN" dirty="0" err="1"/>
              <a:t>printf</a:t>
            </a:r>
            <a:r>
              <a:rPr lang="zh-CN" altLang="en-US" dirty="0"/>
              <a:t> 的基本思想 </a:t>
            </a:r>
            <a:r>
              <a:rPr lang="en-US" altLang="zh-CN" dirty="0"/>
              <a:t>(1)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6400" y="4041775"/>
            <a:ext cx="6616700" cy="1955800"/>
          </a:xfrm>
        </p:spPr>
      </p:pic>
      <p:sp>
        <p:nvSpPr>
          <p:cNvPr id="7" name="TextBox 6"/>
          <p:cNvSpPr txBox="1"/>
          <p:nvPr/>
        </p:nvSpPr>
        <p:spPr>
          <a:xfrm>
            <a:off x="3190175" y="3860802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dk1"/>
                </a:solidFill>
              </a:rPr>
              <a:t>格式控制</a:t>
            </a:r>
            <a:endParaRPr lang="en-US" altLang="zh-CN" sz="2800" dirty="0">
              <a:solidFill>
                <a:schemeClr val="dk1"/>
              </a:solidFill>
              <a:latin typeface="Gill Sans" panose="020B0502020104020203" charset="0"/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2967" y="3860802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0000"/>
                </a:solidFill>
                <a:latin typeface="Gill Sans MT" pitchFamily="34" charset="0"/>
                <a:ea typeface="华文中宋" pitchFamily="2" charset="-122"/>
              </a:rPr>
              <a:t>输出列表</a:t>
            </a:r>
            <a:endParaRPr lang="en-US" altLang="zh-CN" sz="2800" dirty="0">
              <a:solidFill>
                <a:srgbClr val="000000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364142" y="1499635"/>
            <a:ext cx="7957533" cy="2174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804030504040204" pitchFamily="34" charset="0"/>
              <a:buChar char="◦"/>
              <a:defRPr sz="28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9pPr>
          </a:lstStyle>
          <a:p>
            <a:r>
              <a:rPr lang="en-US" altLang="zh-CN" sz="2400" dirty="0" err="1"/>
              <a:t>printf</a:t>
            </a:r>
            <a:r>
              <a:rPr lang="zh-CN" altLang="en-US" sz="2400" dirty="0"/>
              <a:t>用来向终端（或系统隐含指定的输出设备）输出若干个任意类型的数据</a:t>
            </a:r>
            <a:endParaRPr lang="zh-CN" altLang="en-US" sz="2400" dirty="0"/>
          </a:p>
          <a:p>
            <a:r>
              <a:rPr lang="zh-CN" altLang="en-US" sz="2400" dirty="0"/>
              <a:t>需要考虑的基本问题</a:t>
            </a:r>
            <a:endParaRPr lang="en-US" altLang="zh-CN" sz="2400" dirty="0"/>
          </a:p>
          <a:p>
            <a:pPr lvl="1"/>
            <a:r>
              <a:rPr lang="en-US" altLang="zh-CN" sz="2000" dirty="0"/>
              <a:t>What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zh-CN" altLang="en-US" sz="2000" dirty="0">
                <a:solidFill>
                  <a:schemeClr val="tx1"/>
                </a:solidFill>
              </a:rPr>
              <a:t> 要输出的是什么？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dirty="0"/>
              <a:t>How</a:t>
            </a:r>
            <a:r>
              <a:rPr lang="zh-CN" altLang="en-US" sz="2000" dirty="0"/>
              <a:t>  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zh-CN" altLang="en-US" sz="2000" dirty="0">
                <a:solidFill>
                  <a:schemeClr val="tx1"/>
                </a:solidFill>
              </a:rPr>
              <a:t> 要怎样进行输出？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设计 </a:t>
            </a:r>
            <a:r>
              <a:rPr lang="en-US" altLang="zh-CN" dirty="0" err="1"/>
              <a:t>printf</a:t>
            </a:r>
            <a:r>
              <a:rPr lang="zh-CN" altLang="en-US" dirty="0"/>
              <a:t> 的基本思想 </a:t>
            </a:r>
            <a:r>
              <a:rPr lang="en-US" altLang="zh-CN" dirty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printf</a:t>
            </a:r>
            <a:r>
              <a:rPr lang="zh-CN" altLang="en-US" dirty="0"/>
              <a:t> 需要解决哪些实际问题？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输入：一个或多个变量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/>
              <a:t>以二进制编码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输出：人可以识别的数据</a:t>
            </a:r>
            <a:endParaRPr lang="en-US" altLang="zh-CN" dirty="0"/>
          </a:p>
          <a:p>
            <a:pPr lvl="2"/>
            <a:r>
              <a:rPr lang="zh-CN" altLang="en-US" dirty="0"/>
              <a:t>不同类型的变量的输出格式不同</a:t>
            </a:r>
            <a:endParaRPr lang="en-US" altLang="zh-CN" dirty="0"/>
          </a:p>
          <a:p>
            <a:pPr lvl="2"/>
            <a:r>
              <a:rPr lang="zh-CN" altLang="en-US" dirty="0"/>
              <a:t>希望将变量嵌入到希望输出的“文字”中</a:t>
            </a:r>
            <a:endParaRPr lang="en-US" altLang="zh-CN" dirty="0"/>
          </a:p>
          <a:p>
            <a:pPr lvl="2"/>
            <a:r>
              <a:rPr lang="zh-CN" altLang="en-US" dirty="0"/>
              <a:t>希望输出变量的不同精度</a:t>
            </a:r>
            <a:endParaRPr lang="en-US" altLang="zh-CN" dirty="0"/>
          </a:p>
          <a:p>
            <a:pPr lvl="2"/>
            <a:r>
              <a:rPr lang="zh-CN" altLang="en-US" dirty="0"/>
              <a:t>希望对数据输出做些简单的“排版”</a:t>
            </a:r>
            <a:endParaRPr lang="en-US" altLang="zh-CN" dirty="0"/>
          </a:p>
          <a:p>
            <a:pPr lvl="1"/>
            <a:endParaRPr lang="en-US" altLang="en-US" dirty="0">
              <a:solidFill>
                <a:schemeClr val="tx1"/>
              </a:solidFill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格式控制</a:t>
            </a:r>
            <a:r>
              <a:rPr lang="zh-CN" altLang="en-US" dirty="0"/>
              <a:t>：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是用双引号括起来的一个字符串，称为格式控制字符串，简称格式字符串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dirty="0"/>
              <a:t>示例：</a:t>
            </a:r>
            <a:r>
              <a:rPr lang="en-US" altLang="zh-CN" dirty="0"/>
              <a:t>“You</a:t>
            </a:r>
            <a:r>
              <a:rPr lang="zh-CN" altLang="en-US" dirty="0"/>
              <a:t> </a:t>
            </a:r>
            <a:r>
              <a:rPr lang="en-US" altLang="zh-CN" dirty="0"/>
              <a:t>look</a:t>
            </a:r>
            <a:r>
              <a:rPr lang="zh-CN" altLang="en-US" dirty="0"/>
              <a:t> </a:t>
            </a:r>
            <a:r>
              <a:rPr lang="en-US" altLang="zh-CN" dirty="0"/>
              <a:t>great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%s\n”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双引号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rgbClr val="E6700E"/>
                </a:solidFill>
              </a:rPr>
              <a:t>普通字符</a:t>
            </a:r>
            <a:r>
              <a:rPr lang="en-US" altLang="zh-CN" dirty="0">
                <a:solidFill>
                  <a:srgbClr val="E6700E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如</a:t>
            </a:r>
            <a:r>
              <a:rPr lang="en-US" altLang="zh-CN" dirty="0">
                <a:solidFill>
                  <a:schemeClr val="tx1"/>
                </a:solidFill>
              </a:rPr>
              <a:t>You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look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great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in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\n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rgbClr val="E6700E"/>
                </a:solidFill>
              </a:rPr>
              <a:t>格式声明</a:t>
            </a:r>
            <a:r>
              <a:rPr lang="en-US" altLang="zh-CN" dirty="0">
                <a:solidFill>
                  <a:srgbClr val="E6700E"/>
                </a:solidFill>
              </a:rPr>
              <a:t>:</a:t>
            </a:r>
            <a:r>
              <a:rPr lang="zh-CN" altLang="en-US" dirty="0">
                <a:solidFill>
                  <a:srgbClr val="E6700E"/>
                </a:solidFill>
              </a:rPr>
              <a:t> 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格式声明由“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%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”和格式字符组成，作用是将输出的数据转换为指定的格式后输出，如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%s</a:t>
            </a:r>
            <a:endParaRPr lang="en-US" altLang="zh-CN" dirty="0"/>
          </a:p>
          <a:p>
            <a:r>
              <a:rPr lang="zh-CN" altLang="en-US" dirty="0"/>
              <a:t>思考：“</a:t>
            </a:r>
            <a:r>
              <a:rPr lang="zh-CN" altLang="en-US" dirty="0">
                <a:solidFill>
                  <a:srgbClr val="0000CC"/>
                </a:solidFill>
              </a:rPr>
              <a:t>格式声明</a:t>
            </a:r>
            <a:r>
              <a:rPr lang="zh-CN" altLang="en-US" dirty="0"/>
              <a:t>”应该怎么用？</a:t>
            </a:r>
            <a:endParaRPr lang="en-US" altLang="en-US" dirty="0">
              <a:ea typeface="华文中宋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5551" y="4942727"/>
            <a:ext cx="7456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0" dirty="0">
                <a:latin typeface="等线"/>
                <a:ea typeface="等线"/>
              </a:rPr>
              <a:t>与</a:t>
            </a:r>
            <a:r>
              <a:rPr lang="zh-CN" altLang="en-US" b="1" kern="0" dirty="0">
                <a:solidFill>
                  <a:srgbClr val="0000FF"/>
                </a:solidFill>
                <a:latin typeface="等线"/>
                <a:ea typeface="等线"/>
              </a:rPr>
              <a:t>输出表列</a:t>
            </a:r>
            <a:r>
              <a:rPr lang="zh-CN" altLang="en-US" b="1" kern="0" dirty="0">
                <a:latin typeface="等线"/>
                <a:ea typeface="等线"/>
              </a:rPr>
              <a:t>配合使用</a:t>
            </a:r>
            <a:r>
              <a:rPr lang="zh-CN" altLang="en-US" b="1" kern="0" dirty="0">
                <a:solidFill>
                  <a:srgbClr val="0000FF"/>
                </a:solidFill>
                <a:latin typeface="等线"/>
                <a:ea typeface="等线"/>
              </a:rPr>
              <a:t>，输出列表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是程序需要输出的一些数据，可以是常量、变量或表达式。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“格式声明”的使用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格式声明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%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/>
              <a:t>附加字符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/>
              <a:t>格式字符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常用格式字符（详见参考书目）</a:t>
            </a:r>
            <a:endParaRPr lang="en-US" altLang="zh-CN" dirty="0"/>
          </a:p>
          <a:p>
            <a:pPr lvl="2"/>
            <a:r>
              <a:rPr lang="zh-CN" altLang="en-US" dirty="0"/>
              <a:t>输出整数：</a:t>
            </a:r>
            <a:r>
              <a:rPr lang="en-US" altLang="zh-CN" dirty="0">
                <a:solidFill>
                  <a:srgbClr val="0000CC"/>
                </a:solidFill>
              </a:rPr>
              <a:t>%d</a:t>
            </a:r>
            <a:r>
              <a:rPr lang="zh-CN" altLang="en-US" dirty="0"/>
              <a:t> </a:t>
            </a:r>
            <a:r>
              <a:rPr lang="en-US" altLang="zh-CN" dirty="0"/>
              <a:t>(%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  <a:r>
              <a:rPr lang="zh-CN" altLang="en-US" dirty="0"/>
              <a:t> </a:t>
            </a:r>
            <a:r>
              <a:rPr lang="en-US" altLang="zh-CN" dirty="0"/>
              <a:t>%u,</a:t>
            </a:r>
            <a:r>
              <a:rPr lang="zh-CN" altLang="en-US" dirty="0"/>
              <a:t> </a:t>
            </a:r>
            <a:r>
              <a:rPr lang="en-US" altLang="zh-CN" dirty="0"/>
              <a:t>%o,</a:t>
            </a:r>
            <a:r>
              <a:rPr lang="zh-CN" altLang="en-US" dirty="0"/>
              <a:t> </a:t>
            </a:r>
            <a:r>
              <a:rPr lang="en-US" altLang="zh-CN" dirty="0"/>
              <a:t>%x,</a:t>
            </a:r>
            <a:r>
              <a:rPr lang="zh-CN" altLang="en-US" dirty="0"/>
              <a:t> </a:t>
            </a:r>
            <a:r>
              <a:rPr lang="en-US" altLang="zh-CN" dirty="0"/>
              <a:t>%X</a:t>
            </a:r>
            <a:endParaRPr lang="en-US" altLang="zh-CN" dirty="0"/>
          </a:p>
          <a:p>
            <a:pPr lvl="2"/>
            <a:r>
              <a:rPr lang="zh-CN" altLang="en-US" dirty="0"/>
              <a:t>输出实数：</a:t>
            </a:r>
            <a:r>
              <a:rPr lang="en-US" altLang="zh-CN" dirty="0">
                <a:solidFill>
                  <a:srgbClr val="0000CC"/>
                </a:solidFill>
              </a:rPr>
              <a:t>%f,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%.mf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%e,</a:t>
            </a:r>
            <a:r>
              <a:rPr lang="zh-CN" altLang="en-US" dirty="0"/>
              <a:t> </a:t>
            </a:r>
            <a:r>
              <a:rPr lang="en-US" altLang="zh-CN" dirty="0"/>
              <a:t>%E</a:t>
            </a:r>
            <a:endParaRPr lang="en-US" altLang="zh-CN" dirty="0"/>
          </a:p>
          <a:p>
            <a:pPr lvl="2"/>
            <a:r>
              <a:rPr lang="zh-CN" altLang="en-US" dirty="0"/>
              <a:t>输出单个字符：</a:t>
            </a:r>
            <a:r>
              <a:rPr lang="en-US" altLang="zh-CN" dirty="0">
                <a:solidFill>
                  <a:srgbClr val="0000CC"/>
                </a:solidFill>
              </a:rPr>
              <a:t>%c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/>
              <a:t>输出字符串：</a:t>
            </a:r>
            <a:r>
              <a:rPr lang="en-US" altLang="zh-CN" dirty="0">
                <a:solidFill>
                  <a:srgbClr val="0000CC"/>
                </a:solidFill>
              </a:rPr>
              <a:t>%s</a:t>
            </a:r>
            <a:endParaRPr lang="en-US" altLang="zh-CN" dirty="0">
              <a:solidFill>
                <a:srgbClr val="0000CC"/>
              </a:solidFill>
            </a:endParaRPr>
          </a:p>
          <a:p>
            <a:pPr lvl="1"/>
            <a:r>
              <a:rPr lang="zh-CN" altLang="en-US" dirty="0"/>
              <a:t>附加字符举例</a:t>
            </a:r>
            <a:endParaRPr lang="en-US" altLang="zh-CN" dirty="0"/>
          </a:p>
          <a:p>
            <a:pPr lvl="2"/>
            <a:r>
              <a:rPr lang="zh-CN" altLang="en-US" dirty="0"/>
              <a:t>输出数据的最小宽度：</a:t>
            </a:r>
            <a:r>
              <a:rPr lang="zh-CN" altLang="en-US" dirty="0">
                <a:solidFill>
                  <a:srgbClr val="0000CC"/>
                </a:solidFill>
              </a:rPr>
              <a:t>一个整数</a:t>
            </a:r>
            <a:r>
              <a:rPr lang="en-US" altLang="zh-CN" dirty="0">
                <a:solidFill>
                  <a:srgbClr val="0000CC"/>
                </a:solidFill>
              </a:rPr>
              <a:t>n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/>
              <a:t>靠左对齐与靠右对齐：</a:t>
            </a:r>
            <a:r>
              <a:rPr lang="zh-CN" altLang="en-US" dirty="0">
                <a:solidFill>
                  <a:srgbClr val="0000CC"/>
                </a:solidFill>
              </a:rPr>
              <a:t>是否加符号</a:t>
            </a:r>
            <a:r>
              <a:rPr lang="en-US" altLang="zh-CN" dirty="0">
                <a:solidFill>
                  <a:srgbClr val="0000CC"/>
                </a:solidFill>
              </a:rPr>
              <a:t>-</a:t>
            </a:r>
            <a:endParaRPr lang="en-US" altLang="zh-CN" dirty="0">
              <a:solidFill>
                <a:srgbClr val="0000CC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61716" y="2392886"/>
            <a:ext cx="23399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不同类型变量</a:t>
            </a:r>
            <a:endParaRPr lang="en-US" altLang="zh-CN" sz="2400" dirty="0">
              <a:solidFill>
                <a:srgbClr val="0000CC"/>
              </a:solidFill>
              <a:latin typeface="Gill Sans MT" pitchFamily="34" charset="0"/>
              <a:ea typeface="华文中宋" pitchFamily="2" charset="-122"/>
            </a:endParaRPr>
          </a:p>
          <a:p>
            <a:pPr algn="ctr"/>
            <a:r>
              <a:rPr lang="zh-CN" altLang="en-US" sz="2400" dirty="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  <a:cs typeface="Gill Sans" panose="020B0502020104020203"/>
              </a:rPr>
              <a:t>输出格式与精度</a:t>
            </a:r>
            <a:endParaRPr lang="en-US" altLang="zh-CN" sz="2400" dirty="0">
              <a:solidFill>
                <a:srgbClr val="0000CC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3714" y="2392886"/>
            <a:ext cx="2646362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rPr>
              <a:t>对数据输出</a:t>
            </a:r>
            <a:endParaRPr lang="en-US" altLang="zh-CN" sz="2400">
              <a:solidFill>
                <a:srgbClr val="0000CC"/>
              </a:solidFill>
              <a:latin typeface="Gill Sans MT" pitchFamily="34" charset="0"/>
              <a:ea typeface="华文中宋" pitchFamily="2" charset="-122"/>
            </a:endParaRPr>
          </a:p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  <a:cs typeface="Gill Sans" panose="020B0502020104020203"/>
              </a:rPr>
              <a:t>做基本的“排版”</a:t>
            </a:r>
            <a:endParaRPr lang="en-US" altLang="zh-CN" sz="2400">
              <a:solidFill>
                <a:srgbClr val="0000CC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13714" y="2392884"/>
            <a:ext cx="264636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61716" y="2367484"/>
            <a:ext cx="2339975" cy="254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175779" y="2078559"/>
            <a:ext cx="1123950" cy="288925"/>
          </a:xfrm>
          <a:prstGeom prst="line">
            <a:avLst/>
          </a:pr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0"/>
          </p:cNvCxnSpPr>
          <p:nvPr/>
        </p:nvCxnSpPr>
        <p:spPr>
          <a:xfrm flipH="1" flipV="1">
            <a:off x="4884051" y="2103961"/>
            <a:ext cx="247650" cy="288925"/>
          </a:xfrm>
          <a:prstGeom prst="line">
            <a:avLst/>
          </a:pr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765136" y="4541664"/>
            <a:ext cx="2746332" cy="1217402"/>
            <a:chOff x="5622416" y="1878223"/>
            <a:chExt cx="2746332" cy="1217402"/>
          </a:xfrm>
        </p:grpSpPr>
        <p:sp>
          <p:nvSpPr>
            <p:cNvPr id="11" name="圆角矩形 16"/>
            <p:cNvSpPr/>
            <p:nvPr/>
          </p:nvSpPr>
          <p:spPr>
            <a:xfrm>
              <a:off x="5622416" y="1878223"/>
              <a:ext cx="2746332" cy="1217402"/>
            </a:xfrm>
            <a:prstGeom prst="roundRect">
              <a:avLst>
                <a:gd name="adj" fmla="val 2781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3638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printf("i=%d,c=%c\n", i, c )</a:t>
              </a:r>
              <a:endParaRPr kumimoji="0" lang="en-US" altLang="zh-CN" sz="1600" b="0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线形标注 2(带强调线) 17"/>
            <p:cNvSpPr/>
            <p:nvPr/>
          </p:nvSpPr>
          <p:spPr>
            <a:xfrm rot="16200000">
              <a:off x="6323127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5" name="文本框 7"/>
            <p:cNvSpPr txBox="1"/>
            <p:nvPr/>
          </p:nvSpPr>
          <p:spPr>
            <a:xfrm>
              <a:off x="5953539" y="2313392"/>
              <a:ext cx="2415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普通字符 格式声明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  <p:sp>
          <p:nvSpPr>
            <p:cNvPr id="16" name="线形标注 2(带强调线) 19"/>
            <p:cNvSpPr/>
            <p:nvPr/>
          </p:nvSpPr>
          <p:spPr>
            <a:xfrm rot="16200000">
              <a:off x="6998988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9060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线形标注 2(带强调线) 20"/>
            <p:cNvSpPr/>
            <p:nvPr/>
          </p:nvSpPr>
          <p:spPr>
            <a:xfrm rot="16200000">
              <a:off x="7588684" y="1934452"/>
              <a:ext cx="193537" cy="288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9080"/>
                <a:gd name="adj6" fmla="val -314785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9" name="线形标注 2(带强调线) 21"/>
            <p:cNvSpPr/>
            <p:nvPr/>
          </p:nvSpPr>
          <p:spPr>
            <a:xfrm rot="16200000">
              <a:off x="6273728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32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0" name="线形标注 2(带强调线) 22"/>
            <p:cNvSpPr/>
            <p:nvPr/>
          </p:nvSpPr>
          <p:spPr>
            <a:xfrm rot="16200000">
              <a:off x="7008441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61"/>
                <a:gd name="adj4" fmla="val -869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1" name="文本框 12"/>
            <p:cNvSpPr txBox="1"/>
            <p:nvPr/>
          </p:nvSpPr>
          <p:spPr>
            <a:xfrm>
              <a:off x="6379304" y="2759340"/>
              <a:ext cx="1989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格式控制 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</a:t>
              </a: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输出列表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err="1"/>
              <a:t>printf</a:t>
            </a:r>
            <a:r>
              <a:rPr lang="zh-CN" altLang="en-US" sz="2800" dirty="0"/>
              <a:t>的</a:t>
            </a:r>
            <a:br>
              <a:rPr lang="en-US" altLang="zh-CN" sz="2800" dirty="0"/>
            </a:br>
            <a:r>
              <a:rPr lang="zh-CN" altLang="en-US" sz="2800" dirty="0"/>
              <a:t>格式声明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107504" y="2132856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附加字符  格式字符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MH_Desc_1"/>
          <p:cNvSpPr/>
          <p:nvPr>
            <p:custDataLst>
              <p:tags r:id="rId1"/>
            </p:custDataLst>
          </p:nvPr>
        </p:nvSpPr>
        <p:spPr>
          <a:xfrm>
            <a:off x="107504" y="2708920"/>
            <a:ext cx="4389782" cy="396882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函数输出时，务必注意输出对象的类型应与上述格式说明匹配，否则将会出现错误。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除了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X,E,G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外，其他格式字符必须用小写字母，如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不能写成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可以在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函数中的格式控制字符串内包含转义字符，如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\n,\t,\b,\r,\f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\377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等。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一个格式声明以“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开头，以格式字符之一为结束，中间可以插入附加格式字符（也称修饰符）。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(5)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如果想输出字符“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，应该在“格式控制字符串”中用连续两个“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表示，如：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(″%f%%\n″,1.0/3);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44008" y="2132856"/>
          <a:ext cx="4320480" cy="310185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648072"/>
                <a:gridCol w="3672408"/>
              </a:tblGrid>
              <a:tr h="30479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格式字符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d,i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带符号十进制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形式输出整数（正数不输出符号）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o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八进制无符号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形式输出整数（不输出前导符０）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x,X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十六进制无符号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形式输出整数（不输出前导符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0x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则输出十六进制数的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a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时以小写形式输出，用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时，则以大写字母输出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u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无符号十进制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c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以字符形式输出，只输出一个字符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>
                          <a:latin typeface="+mn-ea"/>
                          <a:ea typeface="+mn-ea"/>
                        </a:rPr>
                        <a:t>输出字符串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f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以小数形式输出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 panose="02020503050405090304"/>
                        </a:rPr>
                        <a:t>单、双精度数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，隐含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 panose="02020503050405090304"/>
                        </a:rPr>
                        <a:t>输出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 panose="02020503050405090304"/>
                        </a:rPr>
                        <a:t>6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 panose="02020503050405090304"/>
                        </a:rPr>
                        <a:t>位小数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 err="1">
                          <a:latin typeface="+mn-ea"/>
                          <a:ea typeface="+mn-ea"/>
                          <a:cs typeface="+mn-cs"/>
                        </a:rPr>
                        <a:t>e,E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以指数形式输出实数，用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时指数以“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e”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表示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1.2e+02)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时指数以“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E”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表示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1.2E+02)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 err="1">
                          <a:latin typeface="+mn-ea"/>
                          <a:ea typeface="+mn-ea"/>
                          <a:cs typeface="Times New Roman" panose="02020503050405090304"/>
                        </a:rPr>
                        <a:t>g,G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选用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%f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或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%e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格式中输出宽度较短的一种格式，不输出无意义的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0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。用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G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时，若以指数形式输出，则指数以大写表示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44008" y="5389594"/>
          <a:ext cx="4320480" cy="128815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040447"/>
                <a:gridCol w="3280033"/>
              </a:tblGrid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附加字符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l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长整型整数，可加在格式符ｄ、ｏ、ｘ、ｕ前面）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m</a:t>
                      </a:r>
                      <a:endParaRPr lang="en-US" altLang="zh-CN" sz="900" b="1" kern="100" dirty="0">
                        <a:latin typeface="+mn-ea"/>
                        <a:ea typeface="+mn-ea"/>
                      </a:endParaRPr>
                    </a:p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1" kern="100" dirty="0">
                          <a:latin typeface="+mn-ea"/>
                          <a:ea typeface="+mn-ea"/>
                        </a:rPr>
                        <a:t>代表一个正整数</a:t>
                      </a: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)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数据最小宽度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n</a:t>
                      </a:r>
                      <a:endParaRPr lang="en-US" sz="900" b="1" kern="100">
                        <a:latin typeface="+mn-ea"/>
                        <a:ea typeface="+mn-ea"/>
                      </a:endParaRPr>
                    </a:p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1" kern="100">
                          <a:latin typeface="+mn-ea"/>
                          <a:ea typeface="+mn-ea"/>
                        </a:rPr>
                        <a:t>代表一个正整数</a:t>
                      </a: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)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对实数，表示输出ｎ位小数；对字符串，表示截取的字符个数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-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输出的数字或字符在域内向左靠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2835249" y="38159"/>
            <a:ext cx="3327666" cy="206232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 &lt;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 main()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char c = 'A';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float f = 1234.567890;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char str[] = "Hello";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("%c %d %o %x\n", c, c, c, c);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("%f %e %g\n", f, f, f);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("%10d\n%-10d\n%010d\n", c, c, c);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("%10.4f\n%10.8f\n%4.6f\n", f, f, f);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8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("%s\n", str);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return 0;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736304" cy="168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(4)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指出下面语句的错误：</a:t>
            </a:r>
            <a:endParaRPr lang="en-US" altLang="zh-CN" dirty="0"/>
          </a:p>
          <a:p>
            <a:pPr lvl="1"/>
            <a:endParaRPr lang="en-US" altLang="en-US" dirty="0">
              <a:ea typeface="华文中宋" pitchFamily="2" charset="-122"/>
            </a:endParaRPr>
          </a:p>
          <a:p>
            <a:pPr lvl="1"/>
            <a:endParaRPr lang="en-US" altLang="en-US" dirty="0">
              <a:ea typeface="华文中宋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格式声明的个数与变量的个数保持一致</a:t>
            </a:r>
            <a:endParaRPr lang="en-US" altLang="zh-CN" dirty="0"/>
          </a:p>
          <a:p>
            <a:pPr lvl="1"/>
            <a:r>
              <a:rPr lang="zh-CN" altLang="en-US" dirty="0"/>
              <a:t>使用准确的格式声明</a:t>
            </a:r>
            <a:endParaRPr lang="en-US" altLang="zh-CN" dirty="0"/>
          </a:p>
        </p:txBody>
      </p:sp>
      <p:pic>
        <p:nvPicPr>
          <p:cNvPr id="48133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7" y="2133600"/>
            <a:ext cx="787812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(5)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思考问题</a:t>
            </a:r>
            <a:r>
              <a:rPr lang="en-US" altLang="zh-CN" dirty="0"/>
              <a:t>1</a:t>
            </a:r>
            <a:r>
              <a:rPr lang="zh-CN" altLang="en-US" dirty="0"/>
              <a:t>：格式声明是如何工作的？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输入是什么？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输出是什么？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思考问题</a:t>
            </a:r>
            <a:r>
              <a:rPr lang="en-US" altLang="zh-CN" dirty="0"/>
              <a:t>2</a:t>
            </a:r>
            <a:r>
              <a:rPr lang="zh-CN" altLang="en-US" dirty="0"/>
              <a:t>：如果格式声明和变量不匹配会产生什么结果？</a:t>
            </a:r>
            <a:endParaRPr lang="en-US" altLang="zh-CN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设计 </a:t>
            </a:r>
            <a:r>
              <a:rPr lang="en-US" altLang="zh-CN" dirty="0" err="1"/>
              <a:t>scanf</a:t>
            </a:r>
            <a:r>
              <a:rPr lang="zh-CN" altLang="en-US" dirty="0"/>
              <a:t> 的基本思想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506735" y="1480171"/>
            <a:ext cx="7499350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804030504040204" pitchFamily="34" charset="0"/>
              <a:buChar char="◦"/>
              <a:defRPr sz="2800">
                <a:solidFill>
                  <a:srgbClr val="0000CC"/>
                </a:solidFill>
                <a:latin typeface="Gill Sans MT" pitchFamily="34" charset="0"/>
                <a:ea typeface="华文中宋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  <a:ea typeface="华文中宋" pitchFamily="2" charset="-122"/>
              </a:defRPr>
            </a:lvl9pPr>
          </a:lstStyle>
          <a:p>
            <a:r>
              <a:rPr lang="zh-CN" altLang="en-US" dirty="0"/>
              <a:t>需要考虑哪些基本问题</a:t>
            </a:r>
            <a:endParaRPr lang="en-US" altLang="zh-CN" dirty="0"/>
          </a:p>
          <a:p>
            <a:pPr lvl="1"/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 要输入的是什么？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/>
              <a:t>How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 要怎样进行输入？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参考 </a:t>
            </a:r>
            <a:r>
              <a:rPr lang="en-US" altLang="zh-CN" dirty="0" err="1"/>
              <a:t>printf</a:t>
            </a:r>
            <a:r>
              <a:rPr lang="zh-CN" altLang="en-US" dirty="0"/>
              <a:t> 的例子，</a:t>
            </a:r>
            <a:r>
              <a:rPr lang="en-US" altLang="zh-CN" dirty="0" err="1"/>
              <a:t>scanf</a:t>
            </a:r>
            <a:r>
              <a:rPr lang="zh-CN" altLang="en-US" dirty="0"/>
              <a:t>也应包含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格式控制，如</a:t>
            </a:r>
            <a:r>
              <a:rPr lang="en-US" altLang="zh-CN" dirty="0">
                <a:solidFill>
                  <a:schemeClr val="tx1"/>
                </a:solidFill>
              </a:rPr>
              <a:t>”%d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%f”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变量列表，如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>
                <a:solidFill>
                  <a:schemeClr val="tx1"/>
                </a:solidFill>
              </a:rPr>
              <a:t>num,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>
                <a:solidFill>
                  <a:schemeClr val="tx1"/>
                </a:solidFill>
              </a:rPr>
              <a:t>score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字符串怎么输入？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示例：</a:t>
            </a:r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(“%s”,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name)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/>
              <a:t>char name[50];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函数输入数据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395536" y="2132856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scanf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（格式控制，地址表列）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71908" y="2132856"/>
            <a:ext cx="3426334" cy="1217402"/>
            <a:chOff x="5622416" y="1878223"/>
            <a:chExt cx="3426334" cy="1217402"/>
          </a:xfrm>
        </p:grpSpPr>
        <p:sp>
          <p:nvSpPr>
            <p:cNvPr id="5" name="圆角矩形 5"/>
            <p:cNvSpPr/>
            <p:nvPr/>
          </p:nvSpPr>
          <p:spPr>
            <a:xfrm>
              <a:off x="5622416" y="1878223"/>
              <a:ext cx="3426334" cy="1217402"/>
            </a:xfrm>
            <a:prstGeom prst="roundRect">
              <a:avLst>
                <a:gd name="adj" fmla="val 2781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3638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scanf("a=%f,b=%f,c=%f", &amp;a, &amp;b, &amp;c );</a:t>
              </a:r>
              <a:endParaRPr kumimoji="0" lang="en-US" altLang="zh-CN" sz="1600" b="0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6" name="线形标注 2(带强调线) 6"/>
            <p:cNvSpPr/>
            <p:nvPr/>
          </p:nvSpPr>
          <p:spPr>
            <a:xfrm rot="16200000">
              <a:off x="6321520" y="1959246"/>
              <a:ext cx="193537" cy="234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6482"/>
                <a:gd name="adj6" fmla="val -103159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953539" y="2313392"/>
              <a:ext cx="2415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普通字符 格式声明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  <p:sp>
          <p:nvSpPr>
            <p:cNvPr id="8" name="线形标注 2(带强调线) 8"/>
            <p:cNvSpPr/>
            <p:nvPr/>
          </p:nvSpPr>
          <p:spPr>
            <a:xfrm rot="16200000">
              <a:off x="6979532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9060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线形标注 2(带强调线) 9"/>
            <p:cNvSpPr/>
            <p:nvPr/>
          </p:nvSpPr>
          <p:spPr>
            <a:xfrm rot="16200000">
              <a:off x="8154752" y="1568409"/>
              <a:ext cx="181451" cy="1008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7820"/>
                <a:gd name="adj6" fmla="val -314787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0" name="线形标注 2(带强调线) 10"/>
            <p:cNvSpPr/>
            <p:nvPr/>
          </p:nvSpPr>
          <p:spPr>
            <a:xfrm rot="16200000">
              <a:off x="6273728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32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1" name="线形标注 2(带强调线) 11"/>
            <p:cNvSpPr/>
            <p:nvPr/>
          </p:nvSpPr>
          <p:spPr>
            <a:xfrm rot="16200000">
              <a:off x="7008441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61"/>
                <a:gd name="adj4" fmla="val -869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379303" y="2759340"/>
              <a:ext cx="25425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格式控制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           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地址</a:t>
              </a: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列表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  <p:sp>
        <p:nvSpPr>
          <p:cNvPr id="13" name="MH_Desc_1"/>
          <p:cNvSpPr/>
          <p:nvPr>
            <p:custDataLst>
              <p:tags r:id="rId1"/>
            </p:custDataLst>
          </p:nvPr>
        </p:nvSpPr>
        <p:spPr>
          <a:xfrm>
            <a:off x="395536" y="2915286"/>
            <a:ext cx="4389782" cy="275093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“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格式控制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”是用双引号括起来的一个字符串，含义同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函数。包括：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①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格式声明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。以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开始，以一个格式字符结束，中间可以插入附加的字符。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②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普通字符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地址表列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是由若干个地址组成的表列，可以是变量的地址，或字符串的首地址。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scanf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格式声明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0210" y="2199591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%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附加字符  格式字符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MH_Desc_1"/>
          <p:cNvSpPr/>
          <p:nvPr>
            <p:custDataLst>
              <p:tags r:id="rId1"/>
            </p:custDataLst>
          </p:nvPr>
        </p:nvSpPr>
        <p:spPr>
          <a:xfrm>
            <a:off x="110210" y="2744164"/>
            <a:ext cx="4389782" cy="399720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scanf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函数中的格式控制后面应当是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变量地址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，而不是变量名。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应与上述格式说明匹配，否则将会出现错误。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如果在格式控制字符串中除了格式声明以外还有其他字符，则在输入数据时在对应的位置上应输入与这些字符相同的字符。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在用“％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格式声明输入字符时，空格字符和“转义字符”中的字符都作为有效字符输入。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在输入数值数据时，如输入空格、回车、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Tab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键或遇非法字符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不属于数值的字符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，认为该数据结束。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644008" y="2204864"/>
          <a:ext cx="4392488" cy="2664297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792088"/>
                <a:gridCol w="3600400"/>
              </a:tblGrid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格式字符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d,i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有符号十进制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无符号十进制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o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无符号八进制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x,X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 panose="02020503050405090304"/>
                        </a:rPr>
                        <a:t>无符号十六进制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整数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大小写作用相同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503050405090304"/>
                        </a:rPr>
                        <a:t>)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c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>
                          <a:latin typeface="+mn-ea"/>
                          <a:ea typeface="+mn-ea"/>
                        </a:rPr>
                        <a:t>输入单个字符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输入字符串，将字符串送到一个字符数组中，在输入时以非空白字符开始，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以第一个分隔符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\n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\t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、空格）结束</a:t>
                      </a:r>
                      <a:endParaRPr lang="zh-CN" altLang="en-US" sz="900" b="0" kern="100" dirty="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Times New Roman" panose="02020503050405090304"/>
                        </a:rPr>
                        <a:t>f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输入实数，可以用小数形式或指数形式输入</a:t>
                      </a:r>
                      <a:endParaRPr lang="zh-CN" alt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e,E,g,G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作用相同，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g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可以互相替换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大小写作用相同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)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44008" y="5085186"/>
          <a:ext cx="4392488" cy="165618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792088"/>
                <a:gridCol w="3600400"/>
              </a:tblGrid>
              <a:tr h="333306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附加字符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l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输入长整型数据（可用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ld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%lo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%lx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lu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）以及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double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型数据（用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%lf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或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%le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h</a:t>
                      </a:r>
                      <a:endParaRPr lang="en-US" sz="900" b="1" kern="10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输入短整型数据（可用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hd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%ho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hx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kern="100">
                          <a:latin typeface="+mn-ea"/>
                          <a:ea typeface="+mn-ea"/>
                        </a:rPr>
                        <a:t>域宽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指定输入数据所占宽度（列数），域宽应为正整数，注意：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输入浮点数时不能规定精度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kern="100"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本输入项在读入后不赋给相应的变量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50305040509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2627784" y="116631"/>
            <a:ext cx="3240360" cy="20829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 &lt;stdio.h&gt;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 main()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char a, b, c, d, e[100], f;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int g, h, i;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scanf("%c%d%o%x", &amp;a, &amp;b, &amp;c, &amp;d);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printf("%c%c%c%c\n", a, b, c, d);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scanf("%3d%5d%*c%d", &amp;g, &amp;h, &amp;i);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printf("%d %d %d\n", g, h, i);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scanf("%s", e);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printf("%s", e);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return 0;</a:t>
            </a:r>
            <a:endParaRPr lang="pt-BR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8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en-US" altLang="zh-CN" sz="8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12160" y="115356"/>
            <a:ext cx="30572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输入：                  输出：</a:t>
            </a:r>
            <a:endParaRPr lang="en-US" altLang="zh-CN" dirty="0"/>
          </a:p>
          <a:p>
            <a:r>
              <a:rPr lang="en-US" altLang="zh-CN" dirty="0"/>
              <a:t>A 65 101 41          </a:t>
            </a:r>
            <a:r>
              <a:rPr lang="en-US" altLang="zh-CN" dirty="0">
                <a:solidFill>
                  <a:srgbClr val="FF0000"/>
                </a:solidFill>
              </a:rPr>
              <a:t>AAAA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12345678,90       123 45678 90</a:t>
            </a:r>
            <a:endParaRPr lang="en-US" altLang="zh-CN" dirty="0"/>
          </a:p>
          <a:p>
            <a:r>
              <a:rPr lang="en-US" altLang="zh-CN" dirty="0"/>
              <a:t>Hello World          Hello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其他输入输出函数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1535837"/>
            <a:ext cx="8444963" cy="47641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200" dirty="0" err="1"/>
              <a:t>putchar</a:t>
            </a:r>
            <a:r>
              <a:rPr lang="zh-CN" altLang="en-US" sz="2200" dirty="0"/>
              <a:t>函数：从计算机向显示器输出一个字符</a:t>
            </a:r>
            <a:endParaRPr lang="en-US" altLang="zh-CN" sz="2200" dirty="0"/>
          </a:p>
          <a:p>
            <a:pPr lvl="1"/>
            <a:r>
              <a:rPr lang="en-US" altLang="zh-CN" sz="1900" dirty="0" err="1"/>
              <a:t>putchar</a:t>
            </a:r>
            <a:r>
              <a:rPr lang="en-US" altLang="zh-CN" sz="1900" dirty="0"/>
              <a:t>(c)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r>
              <a:rPr lang="en-US" altLang="zh-CN" sz="2200" dirty="0"/>
              <a:t>puts</a:t>
            </a:r>
            <a:r>
              <a:rPr lang="zh-CN" altLang="en-US" sz="2200" dirty="0"/>
              <a:t>函数：将一个字符串</a:t>
            </a:r>
            <a:r>
              <a:rPr lang="en-US" altLang="zh-CN" sz="2200" dirty="0"/>
              <a:t>(</a:t>
            </a:r>
            <a:r>
              <a:rPr lang="zh-CN" altLang="en-US" sz="2200" dirty="0"/>
              <a:t>以</a:t>
            </a:r>
            <a:r>
              <a:rPr lang="en-US" altLang="zh-CN" sz="2200" dirty="0"/>
              <a:t>′\0′</a:t>
            </a:r>
            <a:r>
              <a:rPr lang="zh-CN" altLang="en-US" sz="2200" dirty="0"/>
              <a:t>结束的字符序列</a:t>
            </a:r>
            <a:r>
              <a:rPr lang="en-US" altLang="zh-CN" sz="2200" dirty="0"/>
              <a:t>)</a:t>
            </a:r>
            <a:r>
              <a:rPr lang="zh-CN" altLang="en-US" sz="2200" dirty="0"/>
              <a:t>输出到终端</a:t>
            </a:r>
            <a:endParaRPr lang="en-US" altLang="zh-CN" sz="22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函数输出的字符串中可以包含转义字符。</a:t>
            </a:r>
            <a:endParaRPr lang="zh-CN" altLang="en-US" sz="19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输出时将字符串结束标志</a:t>
            </a:r>
            <a:r>
              <a:rPr lang="en-US" altLang="zh-CN" sz="1900" dirty="0"/>
              <a:t>′\0′</a:t>
            </a:r>
            <a:r>
              <a:rPr lang="zh-CN" altLang="en-US" sz="1900" dirty="0"/>
              <a:t>转换成</a:t>
            </a:r>
            <a:r>
              <a:rPr lang="en-US" altLang="zh-CN" sz="1900" dirty="0"/>
              <a:t>′\n′</a:t>
            </a:r>
            <a:r>
              <a:rPr lang="zh-CN" altLang="en-US" sz="1900" dirty="0"/>
              <a:t>，即输出完字符串后换行</a:t>
            </a:r>
            <a:endParaRPr lang="en-US" altLang="zh-CN" sz="1900" dirty="0"/>
          </a:p>
          <a:p>
            <a:pPr lvl="1"/>
            <a:r>
              <a:rPr lang="en-US" altLang="zh-CN" sz="1900" dirty="0">
                <a:solidFill>
                  <a:srgbClr val="FF0000"/>
                </a:solidFill>
              </a:rPr>
              <a:t>puts(str)</a:t>
            </a:r>
            <a:r>
              <a:rPr lang="zh-CN" altLang="en-US" sz="1900" dirty="0">
                <a:solidFill>
                  <a:srgbClr val="FF0000"/>
                </a:solidFill>
              </a:rPr>
              <a:t>相当于</a:t>
            </a:r>
            <a:r>
              <a:rPr lang="en-US" altLang="zh-CN" sz="1900" dirty="0" err="1">
                <a:solidFill>
                  <a:srgbClr val="FF0000"/>
                </a:solidFill>
              </a:rPr>
              <a:t>printf</a:t>
            </a:r>
            <a:r>
              <a:rPr lang="en-US" altLang="zh-CN" sz="1900" dirty="0">
                <a:solidFill>
                  <a:srgbClr val="FF0000"/>
                </a:solidFill>
              </a:rPr>
              <a:t>("%s\n", str)</a:t>
            </a:r>
            <a:endParaRPr lang="en-US" altLang="zh-CN" sz="1900" dirty="0">
              <a:solidFill>
                <a:srgbClr val="FF0000"/>
              </a:solidFill>
            </a:endParaRPr>
          </a:p>
          <a:p>
            <a:endParaRPr lang="en-US" altLang="zh-CN" sz="2200" dirty="0"/>
          </a:p>
          <a:p>
            <a:r>
              <a:rPr lang="en-US" altLang="zh-CN" sz="2200" dirty="0" err="1"/>
              <a:t>getchar</a:t>
            </a:r>
            <a:r>
              <a:rPr lang="zh-CN" altLang="en-US" sz="2200" dirty="0"/>
              <a:t>函数：从键盘读入一个字符</a:t>
            </a:r>
            <a:endParaRPr lang="en-US" altLang="zh-CN" sz="2200" dirty="0"/>
          </a:p>
          <a:p>
            <a:pPr lvl="1"/>
            <a:r>
              <a:rPr lang="en-US" altLang="zh-CN" sz="1900" dirty="0"/>
              <a:t>c=</a:t>
            </a:r>
            <a:r>
              <a:rPr lang="en-US" altLang="zh-CN" sz="1900" dirty="0" err="1"/>
              <a:t>getchar</a:t>
            </a:r>
            <a:r>
              <a:rPr lang="en-US" altLang="zh-CN" sz="1900" dirty="0"/>
              <a:t>()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r>
              <a:rPr lang="en-US" altLang="zh-CN" sz="2200" dirty="0"/>
              <a:t>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1900" dirty="0"/>
              <a:t>该函数值是字符数组的起始地址</a:t>
            </a:r>
            <a:endParaRPr lang="en-US" altLang="zh-CN" sz="1900" dirty="0"/>
          </a:p>
          <a:p>
            <a:pPr lvl="1"/>
            <a:r>
              <a:rPr lang="en-US" altLang="zh-CN" sz="1900" dirty="0">
                <a:solidFill>
                  <a:srgbClr val="FF0000"/>
                </a:solidFill>
              </a:rPr>
              <a:t>gets(str)</a:t>
            </a:r>
            <a:r>
              <a:rPr lang="zh-CN" altLang="en-US" sz="1900" b="1" dirty="0">
                <a:solidFill>
                  <a:srgbClr val="FF0000"/>
                </a:solidFill>
              </a:rPr>
              <a:t>不完全相当于</a:t>
            </a:r>
            <a:r>
              <a:rPr lang="en-US" altLang="zh-CN" sz="1900" dirty="0" err="1">
                <a:solidFill>
                  <a:srgbClr val="FF0000"/>
                </a:solidFill>
              </a:rPr>
              <a:t>scanf</a:t>
            </a:r>
            <a:r>
              <a:rPr lang="en-US" altLang="zh-CN" sz="1900" dirty="0">
                <a:solidFill>
                  <a:srgbClr val="FF0000"/>
                </a:solidFill>
              </a:rPr>
              <a:t>("%s\n", str)</a:t>
            </a:r>
            <a:endParaRPr lang="en-US" altLang="zh-CN" sz="1900" dirty="0">
              <a:solidFill>
                <a:srgbClr val="FF0000"/>
              </a:solidFill>
            </a:endParaRPr>
          </a:p>
          <a:p>
            <a:pPr lvl="1"/>
            <a:r>
              <a:rPr lang="zh-CN" altLang="en-US" sz="1900" dirty="0"/>
              <a:t>若从键盘输入</a:t>
            </a:r>
            <a:r>
              <a:rPr lang="en-US" altLang="zh-CN" sz="1900" u="sng" dirty="0"/>
              <a:t>My</a:t>
            </a:r>
            <a:r>
              <a:rPr lang="zh-CN" altLang="en-US" sz="1900" u="sng" dirty="0">
                <a:solidFill>
                  <a:prstClr val="black"/>
                </a:solidFill>
                <a:latin typeface="Calibri"/>
                <a:ea typeface="宋体"/>
              </a:rPr>
              <a:t>□</a:t>
            </a:r>
            <a:r>
              <a:rPr lang="en-US" altLang="zh-CN" sz="1900" u="sng" dirty="0"/>
              <a:t>Computer</a:t>
            </a:r>
            <a:r>
              <a:rPr lang="en-US" altLang="zh-CN" sz="1900" u="sng" dirty="0">
                <a:solidFill>
                  <a:prstClr val="black"/>
                </a:solidFill>
                <a:latin typeface="Calibri"/>
                <a:ea typeface="宋体"/>
                <a:sym typeface="Symbol"/>
              </a:rPr>
              <a:t></a:t>
            </a:r>
            <a:r>
              <a:rPr lang="zh-CN" altLang="en-US" sz="1900" dirty="0">
                <a:solidFill>
                  <a:prstClr val="black"/>
                </a:solidFill>
                <a:latin typeface="Calibri"/>
                <a:ea typeface="宋体"/>
                <a:sym typeface="Symbol"/>
              </a:rPr>
              <a:t>，</a:t>
            </a:r>
            <a:r>
              <a:rPr lang="zh-CN" altLang="en-US" sz="1900" dirty="0"/>
              <a:t>将输入的字符串</a:t>
            </a:r>
            <a:r>
              <a:rPr lang="en-US" altLang="zh-CN" sz="1900" dirty="0"/>
              <a:t>″My</a:t>
            </a:r>
            <a:r>
              <a:rPr lang="zh-CN" altLang="en-US" sz="1900" dirty="0">
                <a:solidFill>
                  <a:prstClr val="black"/>
                </a:solidFill>
                <a:latin typeface="Calibri"/>
                <a:ea typeface="宋体"/>
              </a:rPr>
              <a:t>□</a:t>
            </a:r>
            <a:r>
              <a:rPr lang="en-US" altLang="zh-CN" sz="1900" dirty="0"/>
              <a:t>Computer″</a:t>
            </a:r>
            <a:r>
              <a:rPr lang="zh-CN" altLang="en-US" sz="1900" dirty="0"/>
              <a:t>送给字符数组</a:t>
            </a:r>
            <a:r>
              <a:rPr lang="en-US" altLang="zh-CN" sz="1900" dirty="0"/>
              <a:t>str</a:t>
            </a:r>
            <a:r>
              <a:rPr lang="zh-CN" altLang="en-US" sz="1900" dirty="0"/>
              <a:t>（</a:t>
            </a:r>
            <a:r>
              <a:rPr lang="en-US" altLang="zh-CN" sz="1900" dirty="0"/>
              <a:t>11</a:t>
            </a:r>
            <a:r>
              <a:rPr lang="zh-CN" altLang="en-US" sz="1900" dirty="0"/>
              <a:t>个字符外加</a:t>
            </a:r>
            <a:r>
              <a:rPr lang="en-US" altLang="zh-CN" sz="1900" dirty="0"/>
              <a:t>1</a:t>
            </a:r>
            <a:r>
              <a:rPr lang="zh-CN" altLang="en-US" sz="1900" dirty="0"/>
              <a:t>个</a:t>
            </a:r>
            <a:r>
              <a:rPr lang="en-US" altLang="zh-CN" sz="1900" dirty="0"/>
              <a:t>'\0'</a:t>
            </a:r>
            <a:r>
              <a:rPr lang="zh-CN" altLang="en-US" sz="1900" dirty="0"/>
              <a:t>），回车被消耗掉，输入缓冲区当前位置指向下一个字符</a:t>
            </a:r>
            <a:endParaRPr lang="en-US" altLang="zh-CN" sz="19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小测验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挑出下面程序的错误</a:t>
            </a:r>
            <a:endParaRPr lang="en-US" altLang="en-US">
              <a:ea typeface="华文中宋" pitchFamily="2" charset="-122"/>
            </a:endParaRPr>
          </a:p>
        </p:txBody>
      </p:sp>
      <p:pic>
        <p:nvPicPr>
          <p:cNvPr id="5222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38" y="2278909"/>
            <a:ext cx="7394575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扩展阅读：</a:t>
            </a:r>
            <a:r>
              <a:rPr lang="en-US" altLang="zh-CN" dirty="0"/>
              <a:t> </a:t>
            </a:r>
            <a:r>
              <a:rPr lang="en-US" altLang="zh-CN" sz="2000" dirty="0">
                <a:hlinkClick r:id="rId1"/>
              </a:rPr>
              <a:t>http://blog.csdn.net/qq_36016407/article/details/70254640</a:t>
            </a:r>
            <a:endParaRPr lang="en-US" altLang="zh-CN" sz="2000" dirty="0"/>
          </a:p>
          <a:p>
            <a:r>
              <a:rPr lang="zh-CN" altLang="en-US" dirty="0"/>
              <a:t>输入输出流可以和输入输出函数同时使用，并行不悖</a:t>
            </a:r>
            <a:endParaRPr lang="en-US" altLang="zh-CN" dirty="0"/>
          </a:p>
          <a:p>
            <a:r>
              <a:rPr lang="zh-CN" altLang="en-US" dirty="0"/>
              <a:t>输入输出流</a:t>
            </a:r>
            <a:endParaRPr lang="en-US" altLang="zh-CN" dirty="0"/>
          </a:p>
          <a:p>
            <a:pPr lvl="1"/>
            <a:r>
              <a:rPr lang="en-US" altLang="zh-CN" dirty="0" err="1"/>
              <a:t>cin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cout</a:t>
            </a:r>
            <a:endParaRPr lang="en-US" altLang="zh-CN" dirty="0"/>
          </a:p>
          <a:p>
            <a:r>
              <a:rPr lang="zh-CN" altLang="en-US" dirty="0"/>
              <a:t>输入函数</a:t>
            </a:r>
            <a:endParaRPr lang="en-US" altLang="zh-CN" dirty="0"/>
          </a:p>
          <a:p>
            <a:pPr lvl="1"/>
            <a:r>
              <a:rPr lang="en-US" altLang="zh-CN" dirty="0" err="1"/>
              <a:t>scanf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gets,</a:t>
            </a:r>
            <a:r>
              <a:rPr lang="zh-CN" altLang="en-US" dirty="0"/>
              <a:t> </a:t>
            </a:r>
            <a:r>
              <a:rPr lang="en-US" altLang="zh-CN" dirty="0" err="1"/>
              <a:t>getchar</a:t>
            </a:r>
            <a:endParaRPr lang="en-US" altLang="zh-CN" dirty="0"/>
          </a:p>
          <a:p>
            <a:r>
              <a:rPr lang="zh-CN" altLang="en-US" dirty="0"/>
              <a:t>输出函数</a:t>
            </a:r>
            <a:endParaRPr lang="en-US" altLang="zh-CN" dirty="0"/>
          </a:p>
          <a:p>
            <a:pPr lvl="1"/>
            <a:r>
              <a:rPr lang="en-US" altLang="zh-CN" dirty="0" err="1"/>
              <a:t>printf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putchar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puts</a:t>
            </a:r>
            <a:endParaRPr lang="en-US" altLang="zh-CN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数学库函数</a:t>
            </a:r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zh-CN" altLang="en-US" dirty="0"/>
              <a:t>标准库函数：</a:t>
            </a:r>
            <a:r>
              <a:rPr lang="en-US" altLang="zh-CN" dirty="0"/>
              <a:t>C</a:t>
            </a:r>
            <a:r>
              <a:rPr lang="zh-CN" altLang="en-US" dirty="0"/>
              <a:t>编译系统为方便用户使用而提供的公共函数</a:t>
            </a:r>
            <a:endParaRPr lang="en-US" altLang="zh-CN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输出函数</a:t>
            </a:r>
            <a:endParaRPr lang="en-US" altLang="zh-CN" dirty="0"/>
          </a:p>
          <a:p>
            <a:pPr lvl="1"/>
            <a:r>
              <a:rPr lang="zh-CN" altLang="en-US" dirty="0"/>
              <a:t>数学函数</a:t>
            </a:r>
            <a:endParaRPr lang="en-US" altLang="zh-CN" dirty="0"/>
          </a:p>
          <a:p>
            <a:pPr lvl="1"/>
            <a:r>
              <a:rPr lang="zh-CN" altLang="en-US" dirty="0"/>
              <a:t>字符串函数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/>
              <a:t>标准库参考手册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数学函数</a:t>
            </a:r>
            <a:endParaRPr lang="zh-CN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34" y="4209517"/>
            <a:ext cx="7348593" cy="2442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数学函数：</a:t>
            </a:r>
            <a:endParaRPr lang="en-US" altLang="zh-CN" dirty="0"/>
          </a:p>
          <a:p>
            <a:pPr lvl="1"/>
            <a:r>
              <a:rPr lang="zh-CN" altLang="en-US" dirty="0"/>
              <a:t>求绝对值函数</a:t>
            </a:r>
            <a:endParaRPr lang="en-US" altLang="zh-CN" dirty="0"/>
          </a:p>
          <a:p>
            <a:pPr lvl="1"/>
            <a:r>
              <a:rPr lang="zh-CN" altLang="en-US" dirty="0"/>
              <a:t>指数和对数函数</a:t>
            </a:r>
            <a:endParaRPr lang="en-US" altLang="zh-CN" dirty="0"/>
          </a:p>
          <a:p>
            <a:pPr lvl="1"/>
            <a:r>
              <a:rPr lang="zh-CN" altLang="en-US" dirty="0"/>
              <a:t>三角函数</a:t>
            </a:r>
            <a:endParaRPr lang="en-US" altLang="zh-CN" dirty="0"/>
          </a:p>
          <a:p>
            <a:pPr lvl="1"/>
            <a:r>
              <a:rPr lang="zh-CN" altLang="en-US" dirty="0"/>
              <a:t>取整函数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334645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注：需引用头文件</a:t>
            </a:r>
            <a:r>
              <a:rPr lang="en-US" altLang="zh-CN" dirty="0">
                <a:solidFill>
                  <a:srgbClr val="FF0000"/>
                </a:solidFill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</a:rPr>
              <a:t>math.h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，编译时链接相应的库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abs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</a:t>
            </a:r>
            <a:r>
              <a:rPr lang="en-US" altLang="zh-CN" dirty="0" err="1"/>
              <a:t>int</a:t>
            </a:r>
            <a:r>
              <a:rPr lang="en-US" altLang="zh-CN" dirty="0"/>
              <a:t> abs(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返回整数的绝对值。</a:t>
            </a:r>
            <a:endParaRPr lang="zh-CN" altLang="en-US" dirty="0"/>
          </a:p>
          <a:p>
            <a:r>
              <a:rPr lang="en-US" altLang="zh-CN" dirty="0" err="1"/>
              <a:t>fabs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fabs</a:t>
            </a:r>
            <a:r>
              <a:rPr lang="en-US" altLang="zh-CN" dirty="0"/>
              <a:t>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返回浮点数的绝对值。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求绝对值函数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sqrt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sqrt</a:t>
            </a:r>
            <a:r>
              <a:rPr lang="en-US" altLang="zh-CN" dirty="0"/>
              <a:t>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计算平方根，返回</a:t>
            </a:r>
            <a:r>
              <a:rPr lang="en-US" altLang="zh-CN" dirty="0"/>
              <a:t>x</a:t>
            </a:r>
            <a:r>
              <a:rPr lang="zh-CN" altLang="en-US" dirty="0"/>
              <a:t>的平方根，</a:t>
            </a:r>
            <a:r>
              <a:rPr lang="en-US" altLang="zh-CN" dirty="0"/>
              <a:t>x</a:t>
            </a:r>
            <a:r>
              <a:rPr lang="zh-CN" altLang="en-US" dirty="0"/>
              <a:t>应大于等于</a:t>
            </a:r>
            <a:r>
              <a:rPr lang="en-US" altLang="zh-CN" dirty="0"/>
              <a:t>0</a:t>
            </a:r>
            <a:endParaRPr lang="en-US" altLang="zh-CN" dirty="0"/>
          </a:p>
          <a:p>
            <a:r>
              <a:rPr lang="en-US" altLang="zh-CN" dirty="0" err="1"/>
              <a:t>exp</a:t>
            </a:r>
            <a:r>
              <a:rPr lang="en-US" altLang="zh-CN" dirty="0"/>
              <a:t> 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exp</a:t>
            </a:r>
            <a:r>
              <a:rPr lang="en-US" altLang="zh-CN" dirty="0"/>
              <a:t>(double x); 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</a:t>
            </a:r>
            <a:r>
              <a:rPr lang="zh-CN" altLang="en-US" dirty="0"/>
              <a:t>返回指数函数</a:t>
            </a:r>
            <a:r>
              <a:rPr lang="en-US" altLang="zh-CN" dirty="0"/>
              <a:t>ex</a:t>
            </a:r>
            <a:r>
              <a:rPr lang="zh-CN" altLang="en-US" dirty="0"/>
              <a:t>的值。</a:t>
            </a:r>
            <a:endParaRPr lang="zh-CN" altLang="en-US" dirty="0"/>
          </a:p>
          <a:p>
            <a:r>
              <a:rPr lang="en-US" altLang="zh-CN" dirty="0"/>
              <a:t>pow 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:double pow(double x, double y); 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返回指数函数</a:t>
            </a:r>
            <a:r>
              <a:rPr lang="en-US" altLang="zh-CN" dirty="0"/>
              <a:t>(x</a:t>
            </a:r>
            <a:r>
              <a:rPr lang="zh-CN" altLang="en-US" dirty="0"/>
              <a:t>的</a:t>
            </a:r>
            <a:r>
              <a:rPr lang="en-US" altLang="zh-CN" dirty="0"/>
              <a:t>y</a:t>
            </a:r>
            <a:r>
              <a:rPr lang="zh-CN" altLang="en-US" dirty="0"/>
              <a:t>次方</a:t>
            </a:r>
            <a:r>
              <a:rPr lang="en-US" altLang="zh-CN" dirty="0"/>
              <a:t>)</a:t>
            </a:r>
            <a:r>
              <a:rPr lang="zh-CN" altLang="en-US" dirty="0"/>
              <a:t>的值。</a:t>
            </a:r>
            <a:endParaRPr lang="zh-CN" altLang="en-US" dirty="0"/>
          </a:p>
          <a:p>
            <a:r>
              <a:rPr lang="en-US" altLang="zh-CN" dirty="0"/>
              <a:t>log 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log(double x); </a:t>
            </a:r>
            <a:endParaRPr lang="en-US" altLang="zh-CN" dirty="0"/>
          </a:p>
          <a:p>
            <a:pPr lvl="1"/>
            <a:r>
              <a:rPr lang="zh-CN" altLang="en-US" dirty="0"/>
              <a:t>功  能</a:t>
            </a:r>
            <a:r>
              <a:rPr lang="en-US" altLang="zh-CN" dirty="0"/>
              <a:t>: </a:t>
            </a:r>
            <a:r>
              <a:rPr lang="zh-CN" altLang="en-US" dirty="0"/>
              <a:t>返回自然对数函数</a:t>
            </a:r>
            <a:r>
              <a:rPr lang="en-US" altLang="zh-CN" dirty="0"/>
              <a:t>ln(x)</a:t>
            </a:r>
            <a:r>
              <a:rPr lang="zh-CN" altLang="en-US" dirty="0"/>
              <a:t>（即</a:t>
            </a:r>
            <a:r>
              <a:rPr lang="en-US" altLang="zh-CN" dirty="0" err="1"/>
              <a:t>logex</a:t>
            </a:r>
            <a:r>
              <a:rPr lang="zh-CN" altLang="en-US" dirty="0"/>
              <a:t>）的值。</a:t>
            </a:r>
            <a:endParaRPr lang="zh-CN" altLang="en-US" dirty="0"/>
          </a:p>
          <a:p>
            <a:r>
              <a:rPr lang="en-US" altLang="zh-CN" dirty="0"/>
              <a:t>log10</a:t>
            </a:r>
            <a:r>
              <a:rPr lang="zh-CN" altLang="en-US" dirty="0"/>
              <a:t>函数 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log10(double x); </a:t>
            </a:r>
            <a:endParaRPr lang="en-US" altLang="zh-CN" dirty="0"/>
          </a:p>
          <a:p>
            <a:pPr lvl="1"/>
            <a:r>
              <a:rPr lang="zh-CN" altLang="en-US" dirty="0"/>
              <a:t>功  能</a:t>
            </a:r>
            <a:r>
              <a:rPr lang="en-US" altLang="zh-CN" dirty="0"/>
              <a:t>: </a:t>
            </a:r>
            <a:r>
              <a:rPr lang="zh-CN" altLang="en-US" dirty="0"/>
              <a:t>返回以</a:t>
            </a:r>
            <a:r>
              <a:rPr lang="en-US" altLang="zh-CN" dirty="0"/>
              <a:t>10</a:t>
            </a:r>
            <a:r>
              <a:rPr lang="zh-CN" altLang="en-US" dirty="0"/>
              <a:t>为底的对数函数（即</a:t>
            </a:r>
            <a:r>
              <a:rPr lang="en-US" altLang="zh-CN" dirty="0"/>
              <a:t>log10x</a:t>
            </a:r>
            <a:r>
              <a:rPr lang="zh-CN" altLang="en-US" dirty="0"/>
              <a:t>）的值。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指数和对数函数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367998"/>
            <a:ext cx="7886700" cy="537336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sin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:double sin(double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</a:t>
            </a:r>
            <a:r>
              <a:rPr lang="zh-CN" altLang="en-US" dirty="0"/>
              <a:t>正弦函数，返回</a:t>
            </a:r>
            <a:r>
              <a:rPr lang="en-US" altLang="zh-CN" dirty="0"/>
              <a:t>x</a:t>
            </a:r>
            <a:r>
              <a:rPr lang="zh-CN" altLang="en-US" dirty="0"/>
              <a:t>的正弦（即</a:t>
            </a:r>
            <a:r>
              <a:rPr lang="en-US" altLang="zh-CN" dirty="0"/>
              <a:t>sin(x)</a:t>
            </a:r>
            <a:r>
              <a:rPr lang="zh-CN" altLang="en-US" dirty="0"/>
              <a:t>）的值，</a:t>
            </a:r>
            <a:r>
              <a:rPr lang="en-US" altLang="zh-CN" dirty="0"/>
              <a:t>x</a:t>
            </a:r>
            <a:r>
              <a:rPr lang="zh-CN" altLang="en-US" dirty="0"/>
              <a:t>的单位为弧度。</a:t>
            </a:r>
            <a:endParaRPr lang="zh-CN" altLang="en-US" dirty="0"/>
          </a:p>
          <a:p>
            <a:r>
              <a:rPr lang="en-US" altLang="zh-CN" dirty="0" err="1"/>
              <a:t>asin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asin</a:t>
            </a:r>
            <a:r>
              <a:rPr lang="en-US" altLang="zh-CN" dirty="0"/>
              <a:t>(double x); 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反正弦函数，返回</a:t>
            </a:r>
            <a:r>
              <a:rPr lang="en-US" altLang="zh-CN" dirty="0"/>
              <a:t>x</a:t>
            </a:r>
            <a:r>
              <a:rPr lang="zh-CN" altLang="en-US" dirty="0"/>
              <a:t>的反正弦（即</a:t>
            </a:r>
            <a:r>
              <a:rPr lang="en-US" altLang="zh-CN" dirty="0"/>
              <a:t>sin-1(x)</a:t>
            </a:r>
            <a:r>
              <a:rPr lang="zh-CN" altLang="en-US" dirty="0"/>
              <a:t>）的值</a:t>
            </a:r>
            <a:r>
              <a:rPr lang="en-US" altLang="zh-CN" dirty="0"/>
              <a:t>, x</a:t>
            </a:r>
            <a:r>
              <a:rPr lang="zh-CN" altLang="en-US" dirty="0"/>
              <a:t>应在</a:t>
            </a:r>
            <a:r>
              <a:rPr lang="en-US" altLang="zh-CN" dirty="0"/>
              <a:t>-1</a:t>
            </a:r>
            <a:r>
              <a:rPr lang="zh-CN" altLang="en-US" dirty="0"/>
              <a:t>到</a:t>
            </a:r>
            <a:r>
              <a:rPr lang="en-US" altLang="zh-CN" dirty="0"/>
              <a:t>1</a:t>
            </a:r>
            <a:r>
              <a:rPr lang="zh-CN" altLang="en-US" dirty="0"/>
              <a:t>范围内。</a:t>
            </a:r>
            <a:endParaRPr lang="zh-CN" altLang="en-US" dirty="0"/>
          </a:p>
          <a:p>
            <a:r>
              <a:rPr lang="en-US" altLang="zh-CN" dirty="0"/>
              <a:t>cos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cos(double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</a:t>
            </a:r>
            <a:r>
              <a:rPr lang="zh-CN" altLang="en-US" dirty="0"/>
              <a:t>余弦函数，返回</a:t>
            </a:r>
            <a:r>
              <a:rPr lang="en-US" altLang="zh-CN" dirty="0"/>
              <a:t>x</a:t>
            </a:r>
            <a:r>
              <a:rPr lang="zh-CN" altLang="en-US" dirty="0"/>
              <a:t>的余弦（即</a:t>
            </a:r>
            <a:r>
              <a:rPr lang="en-US" altLang="zh-CN" dirty="0"/>
              <a:t>cos(x)</a:t>
            </a:r>
            <a:r>
              <a:rPr lang="zh-CN" altLang="en-US" dirty="0"/>
              <a:t>）的值，</a:t>
            </a:r>
            <a:r>
              <a:rPr lang="en-US" altLang="zh-CN" dirty="0"/>
              <a:t>x</a:t>
            </a:r>
            <a:r>
              <a:rPr lang="zh-CN" altLang="en-US" dirty="0"/>
              <a:t>的单位为弧度。</a:t>
            </a:r>
            <a:endParaRPr lang="zh-CN" altLang="en-US" dirty="0"/>
          </a:p>
          <a:p>
            <a:r>
              <a:rPr lang="en-US" altLang="zh-CN" dirty="0" err="1"/>
              <a:t>acos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acos</a:t>
            </a:r>
            <a:r>
              <a:rPr lang="en-US" altLang="zh-CN" dirty="0"/>
              <a:t>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反余弦函数，返回</a:t>
            </a:r>
            <a:r>
              <a:rPr lang="en-US" altLang="zh-CN" dirty="0"/>
              <a:t>x</a:t>
            </a:r>
            <a:r>
              <a:rPr lang="zh-CN" altLang="en-US" dirty="0"/>
              <a:t>的反余弦（即</a:t>
            </a:r>
            <a:r>
              <a:rPr lang="en-US" altLang="zh-CN" dirty="0"/>
              <a:t>cos-1(x)</a:t>
            </a:r>
            <a:r>
              <a:rPr lang="zh-CN" altLang="en-US" dirty="0"/>
              <a:t>）的值，</a:t>
            </a:r>
            <a:r>
              <a:rPr lang="en-US" altLang="zh-CN" dirty="0"/>
              <a:t>x</a:t>
            </a:r>
            <a:r>
              <a:rPr lang="zh-CN" altLang="en-US" dirty="0"/>
              <a:t>应在</a:t>
            </a:r>
            <a:r>
              <a:rPr lang="en-US" altLang="zh-CN" dirty="0"/>
              <a:t>-1</a:t>
            </a:r>
            <a:r>
              <a:rPr lang="zh-CN" altLang="en-US" dirty="0"/>
              <a:t>到</a:t>
            </a:r>
            <a:r>
              <a:rPr lang="en-US" altLang="zh-CN" dirty="0"/>
              <a:t>1</a:t>
            </a:r>
            <a:r>
              <a:rPr lang="zh-CN" altLang="en-US" dirty="0"/>
              <a:t>范围内。</a:t>
            </a:r>
            <a:endParaRPr lang="zh-CN" altLang="en-US" dirty="0"/>
          </a:p>
          <a:p>
            <a:r>
              <a:rPr lang="en-US" altLang="zh-CN" dirty="0"/>
              <a:t>tan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tan(double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正切函数，返回</a:t>
            </a:r>
            <a:r>
              <a:rPr lang="en-US" altLang="zh-CN" dirty="0"/>
              <a:t>x</a:t>
            </a:r>
            <a:r>
              <a:rPr lang="zh-CN" altLang="en-US" dirty="0"/>
              <a:t>的正切（即</a:t>
            </a:r>
            <a:r>
              <a:rPr lang="en-US" altLang="zh-CN" dirty="0"/>
              <a:t>tan(x)</a:t>
            </a:r>
            <a:r>
              <a:rPr lang="zh-CN" altLang="en-US" dirty="0"/>
              <a:t>）的值，</a:t>
            </a:r>
            <a:r>
              <a:rPr lang="en-US" altLang="zh-CN" dirty="0"/>
              <a:t>x</a:t>
            </a:r>
            <a:r>
              <a:rPr lang="zh-CN" altLang="en-US" dirty="0"/>
              <a:t>为弧度。</a:t>
            </a:r>
            <a:endParaRPr lang="zh-CN" altLang="en-US" dirty="0"/>
          </a:p>
          <a:p>
            <a:r>
              <a:rPr lang="en-US" altLang="zh-CN" dirty="0" err="1"/>
              <a:t>atan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</a:t>
            </a:r>
            <a:r>
              <a:rPr lang="en-US" altLang="zh-CN" dirty="0" err="1"/>
              <a:t>atan</a:t>
            </a:r>
            <a:r>
              <a:rPr lang="en-US" altLang="zh-CN" dirty="0"/>
              <a:t>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反正切函数，返回</a:t>
            </a:r>
            <a:r>
              <a:rPr lang="en-US" altLang="zh-CN" dirty="0"/>
              <a:t>x</a:t>
            </a:r>
            <a:r>
              <a:rPr lang="zh-CN" altLang="en-US" dirty="0"/>
              <a:t>的反正切（即</a:t>
            </a:r>
            <a:r>
              <a:rPr lang="en-US" altLang="zh-CN" dirty="0"/>
              <a:t>tan-1(x)</a:t>
            </a:r>
            <a:r>
              <a:rPr lang="zh-CN" altLang="en-US" dirty="0"/>
              <a:t>）的值。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ceil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ceil(double x);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向上舍入，返回不小于</a:t>
            </a:r>
            <a:r>
              <a:rPr lang="en-US" altLang="zh-CN" dirty="0"/>
              <a:t>x</a:t>
            </a:r>
            <a:r>
              <a:rPr lang="zh-CN" altLang="en-US" dirty="0"/>
              <a:t>的最小整数。</a:t>
            </a:r>
            <a:endParaRPr lang="zh-CN" altLang="en-US" dirty="0"/>
          </a:p>
          <a:p>
            <a:r>
              <a:rPr lang="en-US" altLang="zh-CN" dirty="0"/>
              <a:t>floor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floor(double x); 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向下舍入，返回不大于</a:t>
            </a:r>
            <a:r>
              <a:rPr lang="en-US" altLang="zh-CN" dirty="0"/>
              <a:t>x</a:t>
            </a:r>
            <a:r>
              <a:rPr lang="zh-CN" altLang="en-US" dirty="0"/>
              <a:t>的最大整数。</a:t>
            </a:r>
            <a:endParaRPr lang="en-US" altLang="zh-CN" dirty="0"/>
          </a:p>
          <a:p>
            <a:r>
              <a:rPr lang="en-US" altLang="zh-CN" dirty="0"/>
              <a:t>round</a:t>
            </a:r>
            <a:r>
              <a:rPr lang="zh-CN" altLang="en-US" dirty="0"/>
              <a:t>函数</a:t>
            </a:r>
            <a:endParaRPr lang="zh-CN" altLang="en-US" dirty="0"/>
          </a:p>
          <a:p>
            <a:pPr lvl="1"/>
            <a:r>
              <a:rPr lang="zh-CN" altLang="en-US" dirty="0"/>
              <a:t>函数原型</a:t>
            </a:r>
            <a:r>
              <a:rPr lang="en-US" altLang="zh-CN" dirty="0"/>
              <a:t>: double round(double x); </a:t>
            </a:r>
            <a:endParaRPr lang="en-US" altLang="zh-CN" dirty="0"/>
          </a:p>
          <a:p>
            <a:pPr lvl="1"/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四舍五入，返回</a:t>
            </a:r>
            <a:r>
              <a:rPr lang="en-US" altLang="zh-CN" dirty="0"/>
              <a:t>x</a:t>
            </a:r>
            <a:r>
              <a:rPr lang="zh-CN" altLang="en-US" dirty="0"/>
              <a:t>的四舍五入整数值。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取整函数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课后任务</a:t>
            </a:r>
            <a:endParaRPr 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611" y="1417638"/>
            <a:ext cx="5770190" cy="437846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复习讲义内容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YOJ: 446</a:t>
            </a:r>
            <a:r>
              <a:rPr lang="zh-CN" altLang="en-US" dirty="0"/>
              <a:t>、</a:t>
            </a:r>
            <a:r>
              <a:rPr lang="en-US" altLang="zh-CN" dirty="0"/>
              <a:t>121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课后任务</a:t>
            </a:r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274309"/>
            <a:ext cx="8280000" cy="5066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整数类型转换</a:t>
            </a:r>
            <a:endParaRPr lang="zh-CN" altLang="en-US" dirty="0"/>
          </a:p>
        </p:txBody>
      </p:sp>
      <p:sp>
        <p:nvSpPr>
          <p:cNvPr id="4" name="文本框 2"/>
          <p:cNvSpPr txBox="1">
            <a:spLocks noChangeArrowheads="1"/>
          </p:cNvSpPr>
          <p:nvPr/>
        </p:nvSpPr>
        <p:spPr bwMode="auto">
          <a:xfrm>
            <a:off x="490179" y="859971"/>
            <a:ext cx="7920880" cy="57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 &lt;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main() {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cs typeface="Courier New" panose="02070409020205090404" pitchFamily="49" charset="0"/>
              </a:rPr>
              <a:t>  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char a = 'a';  //ASCII: 0x61 (97)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char b = '0';  //ASCII: 0x30 (48)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 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a+b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(a),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(b),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a+b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%d\n", (char)(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a+b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((char)(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a+b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short c = 32767;   //MAX_SHORT_INT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short d = 10;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 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c+d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 (short)(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c+d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(c),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(d),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c+d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%d\n", (short)(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c+d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((short)(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c+d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short e = -32182;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char f = (char)e;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unsigned short g = 33354;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unsigned char h = (unsigned char)g;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 %d\n", e, f, g, h);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char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= -109;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unsigned char j = (unsigned char)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unsigned char k = 147;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char l = (char)k;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 %d\n",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 j, k, l); 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return 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zh-CN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803" y="4987964"/>
            <a:ext cx="2304256" cy="1595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371589" y="336751"/>
            <a:ext cx="24151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选做</a:t>
            </a:r>
            <a:r>
              <a:rPr lang="zh-CN" altLang="en-US" sz="1400" dirty="0"/>
              <a:t>：理解下列代码的输出</a:t>
            </a:r>
            <a:endParaRPr lang="en-US" altLang="zh-CN" sz="1400" dirty="0"/>
          </a:p>
          <a:p>
            <a:r>
              <a:rPr lang="zh-CN" altLang="en-US" sz="1400" dirty="0"/>
              <a:t>注意：负数用补码存储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07115430"/>
  <p:tag name="MH_LIBRARY" val="GRAPHIC"/>
  <p:tag name="MH_TYPE" val="Text"/>
  <p:tag name="MH_ORDER" val="3"/>
</p:tagLst>
</file>

<file path=ppt/tags/tag2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3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4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5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21491</Words>
  <Application>WPS 演示</Application>
  <PresentationFormat>全屏显示(4:3)</PresentationFormat>
  <Paragraphs>1986</Paragraphs>
  <Slides>99</Slides>
  <Notes>22</Notes>
  <HiddenSlides>6</HiddenSlides>
  <MMClips>0</MMClips>
  <ScaleCrop>false</ScaleCrop>
  <HeadingPairs>
    <vt:vector size="6" baseType="variant">
      <vt:variant>
        <vt:lpstr>已用的字体</vt:lpstr>
      </vt:variant>
      <vt:variant>
        <vt:i4>68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</vt:vector>
  </HeadingPairs>
  <TitlesOfParts>
    <vt:vector size="168" baseType="lpstr">
      <vt:lpstr>Arial</vt:lpstr>
      <vt:lpstr>宋体</vt:lpstr>
      <vt:lpstr>Wingdings</vt:lpstr>
      <vt:lpstr>Calibri</vt:lpstr>
      <vt:lpstr>Helvetica Neue</vt:lpstr>
      <vt:lpstr>Tahoma</vt:lpstr>
      <vt:lpstr>汉仪书宋二KW</vt:lpstr>
      <vt:lpstr>Times New Roman</vt:lpstr>
      <vt:lpstr>华文中宋</vt:lpstr>
      <vt:lpstr>Wingdings 2</vt:lpstr>
      <vt:lpstr>Gill Sans MT</vt:lpstr>
      <vt:lpstr>Verdana</vt:lpstr>
      <vt:lpstr>苹方-简</vt:lpstr>
      <vt:lpstr>华文琥珀</vt:lpstr>
      <vt:lpstr>黑体</vt:lpstr>
      <vt:lpstr>汉仪中黑KW</vt:lpstr>
      <vt:lpstr>Calibri Light</vt:lpstr>
      <vt:lpstr>微软雅黑 Light</vt:lpstr>
      <vt:lpstr>微软雅黑</vt:lpstr>
      <vt:lpstr>汉仪旗黑</vt:lpstr>
      <vt:lpstr>微软雅黑</vt:lpstr>
      <vt:lpstr>宋体</vt:lpstr>
      <vt:lpstr>Arial Unicode MS</vt:lpstr>
      <vt:lpstr>等线</vt:lpstr>
      <vt:lpstr>汉仪中等线KW</vt:lpstr>
      <vt:lpstr>Cambria Math</vt:lpstr>
      <vt:lpstr>Cambria Math</vt:lpstr>
      <vt:lpstr>Consolas</vt:lpstr>
      <vt:lpstr>Kingsoft Math</vt:lpstr>
      <vt:lpstr>DejaVu Math TeX Gyre</vt:lpstr>
      <vt:lpstr>微软雅黑</vt:lpstr>
      <vt:lpstr>微软雅黑 Light</vt:lpstr>
      <vt:lpstr>隶书</vt:lpstr>
      <vt:lpstr>报隶-简</vt:lpstr>
      <vt:lpstr>Garamond</vt:lpstr>
      <vt:lpstr>Comic Sans MS</vt:lpstr>
      <vt:lpstr>Courier New</vt:lpstr>
      <vt:lpstr>Arial</vt:lpstr>
      <vt:lpstr>Monotype Sorts</vt:lpstr>
      <vt:lpstr>Thonburi</vt:lpstr>
      <vt:lpstr>楷体_GB2312</vt:lpstr>
      <vt:lpstr>Wingdings 3</vt:lpstr>
      <vt:lpstr>Monaco</vt:lpstr>
      <vt:lpstr>Mangal</vt:lpstr>
      <vt:lpstr>Arial Narrow</vt:lpstr>
      <vt:lpstr>等线</vt:lpstr>
      <vt:lpstr>Wingdings 2</vt:lpstr>
      <vt:lpstr>微软雅黑</vt:lpstr>
      <vt:lpstr>Gill Sans</vt:lpstr>
      <vt:lpstr>Gill Sans</vt:lpstr>
      <vt:lpstr>Times New Roman</vt:lpstr>
      <vt:lpstr>Calibri</vt:lpstr>
      <vt:lpstr>宋体</vt:lpstr>
      <vt:lpstr>Symbol</vt:lpstr>
      <vt:lpstr>宋体-简</vt:lpstr>
      <vt:lpstr>汉仪楷体简</vt:lpstr>
      <vt:lpstr>Kingsoft Sign</vt:lpstr>
      <vt:lpstr>Monaco</vt:lpstr>
      <vt:lpstr>Monotype Sorts</vt:lpstr>
      <vt:lpstr>Symbol</vt:lpstr>
      <vt:lpstr>Wingdings</vt:lpstr>
      <vt:lpstr>Wingdings 2</vt:lpstr>
      <vt:lpstr>Wingdings 3</vt:lpstr>
      <vt:lpstr>华文中宋</vt:lpstr>
      <vt:lpstr>华文琥珀</vt:lpstr>
      <vt:lpstr>楷体_GB2312</vt:lpstr>
      <vt:lpstr>隶书</vt:lpstr>
      <vt:lpstr>黑体</vt:lpstr>
      <vt:lpstr>课程PPT模板</vt:lpstr>
      <vt:lpstr>2. 程序设计基本概念                 ——数据与C语言</vt:lpstr>
      <vt:lpstr>上节内容回顾1：计算机解题</vt:lpstr>
      <vt:lpstr>上节内容回顾2：代码生成、调试和运行</vt:lpstr>
      <vt:lpstr>上机课任务1(以vs code为例）:</vt:lpstr>
      <vt:lpstr>思考：可以不用IDE吗？</vt:lpstr>
      <vt:lpstr>上节内容回顾3：代码结构</vt:lpstr>
      <vt:lpstr>代码结构：基本概念</vt:lpstr>
      <vt:lpstr>上节内容补充：</vt:lpstr>
      <vt:lpstr>本讲内容</vt:lpstr>
      <vt:lpstr>2.1 数据类型</vt:lpstr>
      <vt:lpstr>基本数据类型概览</vt:lpstr>
      <vt:lpstr>示例代码：</vt:lpstr>
      <vt:lpstr>PowerPoint 演示文稿</vt:lpstr>
      <vt:lpstr>定点整数的表示</vt:lpstr>
      <vt:lpstr>定点整数的表示</vt:lpstr>
      <vt:lpstr>编码的意义</vt:lpstr>
      <vt:lpstr>基本数据类型——实型(浮点数）</vt:lpstr>
      <vt:lpstr>在计算机中如何表示和存储实数</vt:lpstr>
      <vt:lpstr>IEEE754的精妙之处</vt:lpstr>
      <vt:lpstr>字符型数据char</vt:lpstr>
      <vt:lpstr>思考：</vt:lpstr>
      <vt:lpstr>2.2 变量与常量 </vt:lpstr>
      <vt:lpstr>小测试</vt:lpstr>
      <vt:lpstr>变量的概念</vt:lpstr>
      <vt:lpstr>声明（定义）变量</vt:lpstr>
      <vt:lpstr>变量赋值</vt:lpstr>
      <vt:lpstr>变量赋值的特点</vt:lpstr>
      <vt:lpstr>PowerPoint 演示文稿</vt:lpstr>
      <vt:lpstr>PowerPoint 演示文稿</vt:lpstr>
      <vt:lpstr>思考</vt:lpstr>
      <vt:lpstr>常量</vt:lpstr>
      <vt:lpstr>常量的书写格式</vt:lpstr>
      <vt:lpstr>实型常量</vt:lpstr>
      <vt:lpstr>字符常量</vt:lpstr>
      <vt:lpstr>字符串常量</vt:lpstr>
      <vt:lpstr>字符串的存储</vt:lpstr>
      <vt:lpstr>符号常量的使用</vt:lpstr>
      <vt:lpstr>小测验</vt:lpstr>
      <vt:lpstr>小测验 </vt:lpstr>
      <vt:lpstr>2.3 运算符与表达式</vt:lpstr>
      <vt:lpstr>2.3 运算符与表达式</vt:lpstr>
      <vt:lpstr>运算符</vt:lpstr>
      <vt:lpstr>C语言运算符概览</vt:lpstr>
      <vt:lpstr>算术运算符</vt:lpstr>
      <vt:lpstr>自增、自减运算符</vt:lpstr>
      <vt:lpstr>赋值运算符</vt:lpstr>
      <vt:lpstr>赋值运算符举例</vt:lpstr>
      <vt:lpstr>运算符</vt:lpstr>
      <vt:lpstr>运算符的优先次序（参考）</vt:lpstr>
      <vt:lpstr>表达式</vt:lpstr>
      <vt:lpstr>整数算术表达式</vt:lpstr>
      <vt:lpstr>关系表达式</vt:lpstr>
      <vt:lpstr>逻辑运算</vt:lpstr>
      <vt:lpstr> 逻辑表达式</vt:lpstr>
      <vt:lpstr>逻辑表达式 (2)</vt:lpstr>
      <vt:lpstr>2.4 类型转换</vt:lpstr>
      <vt:lpstr>类型转换</vt:lpstr>
      <vt:lpstr>数据类型的级别</vt:lpstr>
      <vt:lpstr>整数的扩展：符号扩展与零扩展</vt:lpstr>
      <vt:lpstr>整数的扩展：符号扩展与零扩展</vt:lpstr>
      <vt:lpstr>整数的截断</vt:lpstr>
      <vt:lpstr>无符号整数与有符号整数的转换</vt:lpstr>
      <vt:lpstr>运算转换</vt:lpstr>
      <vt:lpstr>赋值转换</vt:lpstr>
      <vt:lpstr>输出转换</vt:lpstr>
      <vt:lpstr>隐式转换中要特别注意以下几种情况：</vt:lpstr>
      <vt:lpstr>参考书勘误</vt:lpstr>
      <vt:lpstr>参考书勘误</vt:lpstr>
      <vt:lpstr>参考书勘误</vt:lpstr>
      <vt:lpstr>2.5 数据的格式化输入和输出</vt:lpstr>
      <vt:lpstr>C++的输入输出流</vt:lpstr>
      <vt:lpstr>C++代码</vt:lpstr>
      <vt:lpstr>输出流的基本操作</vt:lpstr>
      <vt:lpstr>输出流的基本操作</vt:lpstr>
      <vt:lpstr>输入流的基本格式</vt:lpstr>
      <vt:lpstr>C的输入输出函数scanf &amp; printf</vt:lpstr>
      <vt:lpstr>设计 printf 的基本思想 (1)</vt:lpstr>
      <vt:lpstr>设计 printf 的基本思想 (2)</vt:lpstr>
      <vt:lpstr>输出函数 printf 的使用 (1)</vt:lpstr>
      <vt:lpstr>输出函数 printf 的使用 (2)</vt:lpstr>
      <vt:lpstr>printf的 格式声明</vt:lpstr>
      <vt:lpstr>输出函数 printf 的使用 (4)</vt:lpstr>
      <vt:lpstr>输出函数 printf 的使用 (5)</vt:lpstr>
      <vt:lpstr>设计 scanf 的基本思想</vt:lpstr>
      <vt:lpstr>scanf函数输入数据</vt:lpstr>
      <vt:lpstr>scanf的 格式声明</vt:lpstr>
      <vt:lpstr>其他输入输出函数</vt:lpstr>
      <vt:lpstr>小测验</vt:lpstr>
      <vt:lpstr>总结</vt:lpstr>
      <vt:lpstr>数学库函数</vt:lpstr>
      <vt:lpstr>数学函数</vt:lpstr>
      <vt:lpstr>数学函数</vt:lpstr>
      <vt:lpstr>求绝对值函数</vt:lpstr>
      <vt:lpstr>指数和对数函数</vt:lpstr>
      <vt:lpstr>三角函数</vt:lpstr>
      <vt:lpstr>取整函数</vt:lpstr>
      <vt:lpstr>课后任务</vt:lpstr>
      <vt:lpstr>课后任务</vt:lpstr>
      <vt:lpstr>整数类型转换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Li₂O</cp:lastModifiedBy>
  <cp:revision>656</cp:revision>
  <dcterms:created xsi:type="dcterms:W3CDTF">2025-09-18T09:30:49Z</dcterms:created>
  <dcterms:modified xsi:type="dcterms:W3CDTF">2025-09-18T09:30:49Z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DC7FCBAFAD59FB2AD9CACB680191D180_42</vt:lpwstr>
  </property>
  <property fmtid="{D5CDD505-2E9C-101B-9397-08002B2CF9AE}" pid="3" name="KSOProductBuildVer">
    <vt:lpwstr>2052-12.1.21861.21861</vt:lpwstr>
  </property>
</Properties>
</file>