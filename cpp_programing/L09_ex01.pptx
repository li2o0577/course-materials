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29"/>
  </p:notesMasterIdLst>
  <p:handoutMasterIdLst>
    <p:handoutMasterId r:id="rId30"/>
  </p:handoutMasterIdLst>
  <p:sldIdLst>
    <p:sldId id="1092" r:id="rId2"/>
    <p:sldId id="1161" r:id="rId3"/>
    <p:sldId id="1123" r:id="rId4"/>
    <p:sldId id="1124" r:id="rId5"/>
    <p:sldId id="1125" r:id="rId6"/>
    <p:sldId id="1164" r:id="rId7"/>
    <p:sldId id="1165" r:id="rId8"/>
    <p:sldId id="1166" r:id="rId9"/>
    <p:sldId id="1167" r:id="rId10"/>
    <p:sldId id="1126" r:id="rId11"/>
    <p:sldId id="1127" r:id="rId12"/>
    <p:sldId id="1168" r:id="rId13"/>
    <p:sldId id="1169" r:id="rId14"/>
    <p:sldId id="1128" r:id="rId15"/>
    <p:sldId id="1129" r:id="rId16"/>
    <p:sldId id="1134" r:id="rId17"/>
    <p:sldId id="1135" r:id="rId18"/>
    <p:sldId id="1136" r:id="rId19"/>
    <p:sldId id="1137" r:id="rId20"/>
    <p:sldId id="1170" r:id="rId21"/>
    <p:sldId id="1171" r:id="rId22"/>
    <p:sldId id="1172" r:id="rId23"/>
    <p:sldId id="1119" r:id="rId24"/>
    <p:sldId id="1120" r:id="rId25"/>
    <p:sldId id="1173" r:id="rId26"/>
    <p:sldId id="1122" r:id="rId27"/>
    <p:sldId id="1121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700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88" autoAdjust="0"/>
    <p:restoredTop sz="81552" autoAdjust="0"/>
  </p:normalViewPr>
  <p:slideViewPr>
    <p:cSldViewPr snapToGrid="0">
      <p:cViewPr varScale="1">
        <p:scale>
          <a:sx n="88" d="100"/>
          <a:sy n="88" d="100"/>
        </p:scale>
        <p:origin x="102" y="24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32C656-B4F5-496D-8363-88252277A6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DD45AE-3D94-4FB0-AA1E-B100A0A7EC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63B7C-F87A-4992-9D16-F63F1FA43DB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871C8D-3D58-472B-A2FE-61A2020D09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A5F050-4848-4F76-95CF-FC4B8004A1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5AF18-CFCB-48CD-B900-85FE73933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12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36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45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17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40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18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6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7F2607A3-F1BE-4A25-B299-97AFEB1FFB62}"/>
              </a:ext>
            </a:extLst>
          </p:cNvPr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9AF04BF-0727-495F-A094-608DA21B68DA}"/>
              </a:ext>
            </a:extLst>
          </p:cNvPr>
          <p:cNvSpPr/>
          <p:nvPr/>
        </p:nvSpPr>
        <p:spPr>
          <a:xfrm>
            <a:off x="7414927" y="813765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4515F67-C18F-4CB9-B75C-1ECF0FA29872}"/>
              </a:ext>
            </a:extLst>
          </p:cNvPr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5" y="2063685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弧形 3">
            <a:extLst>
              <a:ext uri="{FF2B5EF4-FFF2-40B4-BE49-F238E27FC236}">
                <a16:creationId xmlns:a16="http://schemas.microsoft.com/office/drawing/2014/main" id="{02941345-94C4-47EE-8B6E-05F86F564B00}"/>
              </a:ext>
            </a:extLst>
          </p:cNvPr>
          <p:cNvSpPr/>
          <p:nvPr userDrawn="1"/>
        </p:nvSpPr>
        <p:spPr>
          <a:xfrm>
            <a:off x="-1790184" y="-1709103"/>
            <a:ext cx="3960000" cy="3883419"/>
          </a:xfrm>
          <a:prstGeom prst="arc">
            <a:avLst>
              <a:gd name="adj1" fmla="val 21064148"/>
              <a:gd name="adj2" fmla="val 5986293"/>
            </a:avLst>
          </a:prstGeom>
          <a:noFill/>
          <a:ln w="635000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909801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9AFFAC0-5E2A-4A96-AA84-E25CC856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2471" y="2155124"/>
            <a:ext cx="6711517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>
            <a:extLst>
              <a:ext uri="{FF2B5EF4-FFF2-40B4-BE49-F238E27FC236}">
                <a16:creationId xmlns:a16="http://schemas.microsoft.com/office/drawing/2014/main" id="{74B02844-8C02-465F-B7DB-AB02B28F9A23}"/>
              </a:ext>
            </a:extLst>
          </p:cNvPr>
          <p:cNvSpPr/>
          <p:nvPr/>
        </p:nvSpPr>
        <p:spPr>
          <a:xfrm>
            <a:off x="685564" y="2155124"/>
            <a:ext cx="544750" cy="558709"/>
          </a:xfrm>
          <a:prstGeom prst="donut">
            <a:avLst>
              <a:gd name="adj" fmla="val 3476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395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293" y="431999"/>
            <a:ext cx="8152708" cy="935161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59292" y="1615736"/>
            <a:ext cx="8152707" cy="4710344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3000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800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8345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899650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535837"/>
            <a:ext cx="8280000" cy="47641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 marL="740700" indent="-342900">
              <a:buFont typeface="Wingdings" panose="05000000000000000000" pitchFamily="2" charset="2"/>
              <a:buChar char="§"/>
              <a:defRPr sz="2000"/>
            </a:lvl2pPr>
            <a:lvl3pPr marL="1198350" indent="-285750">
              <a:buFont typeface="Wingdings" panose="05000000000000000000" pitchFamily="2" charset="2"/>
              <a:buChar char="§"/>
              <a:defRPr sz="1800"/>
            </a:lvl3pPr>
            <a:lvl4pPr marL="1657350" indent="-285750">
              <a:buFont typeface="Wingdings" panose="05000000000000000000" pitchFamily="2" charset="2"/>
              <a:buChar char="§"/>
              <a:defRPr sz="1600"/>
            </a:lvl4pPr>
            <a:lvl5pPr marL="2114550" indent="-28575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642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0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0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2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2000" y="2037716"/>
            <a:ext cx="4066182" cy="43882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37716"/>
            <a:ext cx="4082850" cy="438828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F911216-E732-4C6D-8C7E-F389B9C2C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491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3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6171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07111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9AFFAC0-5E2A-4A96-AA84-E25CC856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875" y="2155125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圆: 空心 8">
            <a:extLst>
              <a:ext uri="{FF2B5EF4-FFF2-40B4-BE49-F238E27FC236}">
                <a16:creationId xmlns:a16="http://schemas.microsoft.com/office/drawing/2014/main" id="{74B02844-8C02-465F-B7DB-AB02B28F9A23}"/>
              </a:ext>
            </a:extLst>
          </p:cNvPr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363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609828-BCC3-4A72-91C7-FC94E006F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7969050" cy="4570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648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8866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447062"/>
            <a:ext cx="8280000" cy="4705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686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80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3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0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3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4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>
            <a:extLst>
              <a:ext uri="{FF2B5EF4-FFF2-40B4-BE49-F238E27FC236}">
                <a16:creationId xmlns:a16="http://schemas.microsoft.com/office/drawing/2014/main" id="{23152DE5-977F-4BB9-82A6-4228C3DCD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8873" y="4852219"/>
            <a:ext cx="5429250" cy="449544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zh-CN" altLang="en-US" dirty="0"/>
              <a:t>授课教师：孙 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6DE7729-5D2F-46D3-930B-9C449DB6B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873" y="1773237"/>
            <a:ext cx="7875127" cy="1655763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习题课</a:t>
            </a:r>
            <a:r>
              <a:rPr lang="en-US" altLang="zh-CN" sz="4800" dirty="0"/>
              <a:t>01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34494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BEBB01E-4A65-4DA5-8A26-0278DC13F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上机作业选讲</a:t>
            </a:r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36C7715-2839-4319-B975-6A80C3E09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90. </a:t>
            </a:r>
            <a:r>
              <a:rPr lang="zh-CN" altLang="en-US" dirty="0"/>
              <a:t>刷题高手</a:t>
            </a:r>
          </a:p>
          <a:p>
            <a:r>
              <a:rPr lang="en-US" altLang="zh-CN" dirty="0"/>
              <a:t>159.</a:t>
            </a:r>
            <a:r>
              <a:rPr lang="zh-CN" altLang="en-US" dirty="0"/>
              <a:t> 字符串编辑</a:t>
            </a:r>
          </a:p>
          <a:p>
            <a:r>
              <a:rPr lang="en-US" altLang="zh-CN" dirty="0"/>
              <a:t>134. </a:t>
            </a:r>
            <a:r>
              <a:rPr lang="zh-CN" altLang="en-US" dirty="0"/>
              <a:t>猜数字</a:t>
            </a:r>
            <a:endParaRPr lang="en-US" altLang="zh-CN" dirty="0"/>
          </a:p>
          <a:p>
            <a:r>
              <a:rPr lang="en-US" altLang="zh-CN" dirty="0"/>
              <a:t>484. </a:t>
            </a:r>
            <a:r>
              <a:rPr lang="zh-CN" altLang="en-US" dirty="0"/>
              <a:t>重复元素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561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04114B-F399-41C2-9889-32C4C5CD5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768150"/>
          </a:xfrm>
        </p:spPr>
        <p:txBody>
          <a:bodyPr/>
          <a:lstStyle/>
          <a:p>
            <a:r>
              <a:rPr lang="zh-CN" altLang="en-US" dirty="0"/>
              <a:t>习题讨论</a:t>
            </a:r>
            <a:r>
              <a:rPr lang="en-US" altLang="zh-CN" dirty="0"/>
              <a:t>1-</a:t>
            </a:r>
            <a:r>
              <a:rPr lang="zh-CN" altLang="en-US" dirty="0"/>
              <a:t>刷题高手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952641-2CDA-40C4-8BE7-6A8943B8E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466851"/>
            <a:ext cx="8280000" cy="48331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老师给了一个题目的列表，要求同学们在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YOJ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上做题。一段时间后，老师想统计一下同学们刷题的数量，找出刷题高手。</a:t>
            </a:r>
          </a:p>
          <a:p>
            <a:pPr marL="0" indent="0">
              <a:buNone/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【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输入格式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】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第一行，多个整数，第一个整数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表示老师要求的题目个数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(1≤n≤100)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。后面有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个整数，表示老师要求的题号。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第二行，两个整数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m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k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，表示有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m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个学生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(1≤m≤100)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，以及老师希望找出刷题最多的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k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个同学（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1≤k≤m)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后面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m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行，每行格式如下：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一个正整数</a:t>
            </a:r>
            <a:r>
              <a:rPr lang="en-US" altLang="zh-CN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sno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，表示同学的学号，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8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位数字；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一个正整数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p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，表示该同学刷了多少题，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0≤p≤100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后面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p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个正整数，表示该同学成功通过的题目编号。</a:t>
            </a:r>
          </a:p>
          <a:p>
            <a:pPr marL="0" indent="0">
              <a:buNone/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【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输出格式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】</a:t>
            </a:r>
          </a:p>
          <a:p>
            <a:pPr marL="0" indent="0"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输出为一行，至少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k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个整数，表示刷题数量最多的前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k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名同学的学号，按刷题数量从高到低排列，输出的学号之间用一个空格分隔。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注意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）若同学们刷的题目不是老师所要求的，则不计入成绩。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）允许并列。例如若</a:t>
            </a:r>
            <a:r>
              <a:rPr lang="en-US" altLang="zh-CN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k=3</a:t>
            </a:r>
            <a:r>
              <a:rPr lang="zh-CN" altLang="en-US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，且有多位同学并列排名第</a:t>
            </a:r>
            <a:r>
              <a:rPr lang="en-US" altLang="zh-CN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，则成绩第</a:t>
            </a:r>
            <a:r>
              <a:rPr lang="en-US" altLang="zh-CN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的同学也应该输出。当有并列情况时，有可能出现所有学生的排名均小于</a:t>
            </a:r>
            <a:r>
              <a:rPr lang="en-US" altLang="zh-CN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k</a:t>
            </a:r>
            <a:r>
              <a:rPr lang="zh-CN" altLang="en-US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。此时，将所有同学学号按成绩高低输出即可。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17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）出现并列时，学号较小的同学先输出。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65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98D2FC-2032-4F15-95A8-DE4264FD4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题目分析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924E7F-EDA1-47B3-BBE1-CB5F0D909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99" y="1535837"/>
            <a:ext cx="8428221" cy="4764163"/>
          </a:xfrm>
        </p:spPr>
        <p:txBody>
          <a:bodyPr/>
          <a:lstStyle/>
          <a:p>
            <a:r>
              <a:rPr lang="zh-CN" altLang="en-US" dirty="0"/>
              <a:t>题目本质：计数</a:t>
            </a:r>
            <a:r>
              <a:rPr lang="en-US" altLang="zh-CN" dirty="0"/>
              <a:t>+</a:t>
            </a:r>
            <a:r>
              <a:rPr lang="zh-CN" altLang="en-US" dirty="0"/>
              <a:t>排序</a:t>
            </a:r>
            <a:endParaRPr lang="en-US" altLang="zh-CN" dirty="0"/>
          </a:p>
          <a:p>
            <a:pPr lvl="1"/>
            <a:r>
              <a:rPr lang="zh-CN" altLang="en-US" dirty="0"/>
              <a:t>计数：统计每个学生做题的数量</a:t>
            </a:r>
            <a:endParaRPr lang="en-US" altLang="zh-CN" dirty="0"/>
          </a:p>
          <a:p>
            <a:pPr lvl="2"/>
            <a:r>
              <a:rPr lang="zh-CN" altLang="en-US" dirty="0"/>
              <a:t>细节：必须在指定列表中的题目才算数</a:t>
            </a:r>
            <a:endParaRPr lang="en-US" altLang="zh-CN" dirty="0"/>
          </a:p>
          <a:p>
            <a:pPr lvl="1"/>
            <a:r>
              <a:rPr lang="zh-CN" altLang="en-US" dirty="0"/>
              <a:t>排序：按照做题数量从高到低排序，做题数量一样的学号小的在前</a:t>
            </a:r>
            <a:endParaRPr lang="en-US" altLang="zh-CN" dirty="0"/>
          </a:p>
          <a:p>
            <a:pPr lvl="1"/>
            <a:endParaRPr lang="en-US" dirty="0"/>
          </a:p>
          <a:p>
            <a:r>
              <a:rPr lang="zh-CN" altLang="en-US" dirty="0"/>
              <a:t>输出要求：输出前</a:t>
            </a:r>
            <a:r>
              <a:rPr lang="en-US" altLang="zh-CN" dirty="0"/>
              <a:t>k</a:t>
            </a:r>
            <a:r>
              <a:rPr lang="zh-CN" altLang="en-US" dirty="0"/>
              <a:t>名（按名次输出，允许并列）</a:t>
            </a:r>
            <a:endParaRPr lang="en-US" altLang="zh-CN" dirty="0"/>
          </a:p>
          <a:p>
            <a:pPr lvl="1"/>
            <a:r>
              <a:rPr lang="zh-CN" altLang="en-US" dirty="0"/>
              <a:t>新考点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50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55135-433C-439B-97F5-7BB22DCF9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如何存储数据？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3203C1-44F6-4E6E-9282-CE0402B56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387" y="1524820"/>
            <a:ext cx="8280000" cy="4764163"/>
          </a:xfrm>
        </p:spPr>
        <p:txBody>
          <a:bodyPr/>
          <a:lstStyle/>
          <a:p>
            <a:r>
              <a:rPr lang="zh-CN" altLang="en-US" dirty="0"/>
              <a:t>二维数组？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结构体！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结构体如何定义？</a:t>
            </a:r>
            <a:endParaRPr lang="en-US" altLang="zh-CN" dirty="0"/>
          </a:p>
          <a:p>
            <a:pPr lvl="2"/>
            <a:r>
              <a:rPr lang="zh-CN" altLang="en-US" dirty="0"/>
              <a:t>有效、简单</a:t>
            </a:r>
            <a:r>
              <a:rPr lang="en-US" altLang="zh-CN" dirty="0"/>
              <a:t>……</a:t>
            </a:r>
          </a:p>
          <a:p>
            <a:pPr lvl="1"/>
            <a:endParaRPr lang="en-US" altLang="zh-CN" dirty="0"/>
          </a:p>
          <a:p>
            <a:pPr lvl="1"/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F81178-C279-4B6E-B261-8CF1C989A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868" y="337567"/>
            <a:ext cx="4051154" cy="198816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B0E8D1D-70A1-4B40-BD40-65561F6E7650}"/>
              </a:ext>
            </a:extLst>
          </p:cNvPr>
          <p:cNvSpPr/>
          <p:nvPr/>
        </p:nvSpPr>
        <p:spPr>
          <a:xfrm>
            <a:off x="4636352" y="3429000"/>
            <a:ext cx="368618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Student{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sno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count;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 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rank;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9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FDD206-49E1-4A1F-8B50-2EC4B806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关键点</a:t>
            </a:r>
            <a:r>
              <a:rPr lang="en-US" altLang="zh-CN" dirty="0"/>
              <a:t>1</a:t>
            </a:r>
            <a:r>
              <a:rPr lang="zh-CN" altLang="en-US" dirty="0"/>
              <a:t>：计数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40A8D8-CA08-410B-9F4F-1DE76AFE0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35837"/>
            <a:ext cx="5237280" cy="4764163"/>
          </a:xfrm>
        </p:spPr>
        <p:txBody>
          <a:bodyPr/>
          <a:lstStyle/>
          <a:p>
            <a:r>
              <a:rPr lang="zh-CN" altLang="en-US" dirty="0"/>
              <a:t>每个学生做的有效题目数量</a:t>
            </a:r>
            <a:endParaRPr lang="en-US" altLang="zh-CN" dirty="0"/>
          </a:p>
          <a:p>
            <a:pPr lvl="1"/>
            <a:r>
              <a:rPr lang="zh-CN" altLang="en-US" dirty="0"/>
              <a:t>判断题目</a:t>
            </a:r>
            <a:r>
              <a:rPr lang="en-US" altLang="zh-CN" dirty="0"/>
              <a:t>id</a:t>
            </a:r>
            <a:r>
              <a:rPr lang="zh-CN" altLang="en-US" dirty="0"/>
              <a:t>是否在要求的列表中</a:t>
            </a:r>
            <a:r>
              <a:rPr lang="en-US" altLang="zh-CN" dirty="0"/>
              <a:t>——</a:t>
            </a:r>
            <a:r>
              <a:rPr lang="zh-CN" altLang="en-US" dirty="0"/>
              <a:t>数组元素的查找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是否需要保存所有的输入数据？</a:t>
            </a:r>
            <a:endParaRPr lang="en-US" altLang="zh-CN" dirty="0"/>
          </a:p>
          <a:p>
            <a:pPr lvl="2"/>
            <a:r>
              <a:rPr lang="zh-CN" altLang="en-US" dirty="0"/>
              <a:t>简单就是高效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zh-CN" altLang="en-US" dirty="0"/>
              <a:t>学生的做题列表不需要保存！读入学生数据时同步统计有效做题数量，且只保存做题数量即可</a:t>
            </a:r>
            <a:endParaRPr lang="en-US" altLang="zh-CN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203F285-6EE2-46BB-8738-20F6BE030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35" y="1770521"/>
            <a:ext cx="3234117" cy="275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3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88135D-855D-4E47-ADEE-172AEC4F9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关键点</a:t>
            </a:r>
            <a:r>
              <a:rPr lang="en-US" altLang="zh-CN" dirty="0"/>
              <a:t>2</a:t>
            </a:r>
            <a:r>
              <a:rPr lang="zh-CN" altLang="en-US" dirty="0"/>
              <a:t>：排序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705336-B19D-4A5C-BF7C-4A4D914F5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结构体数组排序</a:t>
            </a:r>
            <a:endParaRPr lang="en-US" altLang="zh-CN" dirty="0"/>
          </a:p>
          <a:p>
            <a:pPr lvl="1"/>
            <a:endParaRPr lang="en-US" dirty="0"/>
          </a:p>
          <a:p>
            <a:pPr lvl="1"/>
            <a:r>
              <a:rPr lang="zh-CN" altLang="en-US" dirty="0"/>
              <a:t>建议使用冒泡排序</a:t>
            </a:r>
            <a:r>
              <a:rPr lang="en-US" altLang="zh-CN" dirty="0"/>
              <a:t>——</a:t>
            </a:r>
            <a:r>
              <a:rPr lang="zh-CN" altLang="en-US" dirty="0"/>
              <a:t>一定要保证不出错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552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D4F12F-5705-40CE-A8E9-BEB9BC40E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关键点</a:t>
            </a:r>
            <a:r>
              <a:rPr lang="en-US" altLang="zh-CN" dirty="0"/>
              <a:t>3</a:t>
            </a:r>
            <a:r>
              <a:rPr lang="zh-CN" altLang="en-US" dirty="0"/>
              <a:t>：确定名次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7D9EE-5D3D-4E2F-92A1-8CA1BC406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35837"/>
            <a:ext cx="8280000" cy="4764163"/>
          </a:xfrm>
        </p:spPr>
        <p:txBody>
          <a:bodyPr/>
          <a:lstStyle/>
          <a:p>
            <a:r>
              <a:rPr lang="zh-CN" altLang="en-US" dirty="0"/>
              <a:t>排序后的数组从头到尾遍历一遍，可按照要求确定名次、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如果前面有排名相同的，名次顺延</a:t>
            </a:r>
            <a:endParaRPr lang="en-US" altLang="zh-CN" dirty="0"/>
          </a:p>
          <a:p>
            <a:pPr lvl="1"/>
            <a:r>
              <a:rPr lang="zh-CN" altLang="en-US" dirty="0"/>
              <a:t>？？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8AEE54-323F-46F6-9E3B-3E210C05A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304" y="2096338"/>
            <a:ext cx="4650846" cy="172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95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CAC12EC-A01D-498F-B6BA-C40BD15BF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80" y="1019746"/>
            <a:ext cx="3972479" cy="545858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072F65B-5CA1-4093-A577-27F863D43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073" y="1019746"/>
            <a:ext cx="5306165" cy="4058216"/>
          </a:xfrm>
          <a:prstGeom prst="rect">
            <a:avLst/>
          </a:prstGeom>
        </p:spPr>
      </p:pic>
      <p:sp>
        <p:nvSpPr>
          <p:cNvPr id="9" name="标题 8">
            <a:extLst>
              <a:ext uri="{FF2B5EF4-FFF2-40B4-BE49-F238E27FC236}">
                <a16:creationId xmlns:a16="http://schemas.microsoft.com/office/drawing/2014/main" id="{9B909C3E-B4C7-4CFC-9099-6CBAFD2AB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79666"/>
            <a:ext cx="2990073" cy="506995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参考代码：</a:t>
            </a:r>
            <a:endParaRPr lang="en-US" sz="2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8C4F26-F106-4DFE-B980-DA72087A8B9B}"/>
              </a:ext>
            </a:extLst>
          </p:cNvPr>
          <p:cNvSpPr txBox="1"/>
          <p:nvPr/>
        </p:nvSpPr>
        <p:spPr>
          <a:xfrm>
            <a:off x="4572000" y="5417127"/>
            <a:ext cx="3699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多写函数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为调试方便，写一些辅助函数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大规模数据输入问题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126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B67DE9-5338-431E-BA4B-03E39BC99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713628"/>
          </a:xfrm>
        </p:spPr>
        <p:txBody>
          <a:bodyPr/>
          <a:lstStyle/>
          <a:p>
            <a:r>
              <a:rPr lang="zh-CN" altLang="en-US" dirty="0"/>
              <a:t>习题讨论</a:t>
            </a:r>
            <a:r>
              <a:rPr lang="en-US" altLang="zh-CN" dirty="0"/>
              <a:t>2-</a:t>
            </a:r>
            <a:r>
              <a:rPr lang="zh-CN" altLang="en-US" dirty="0"/>
              <a:t>字符串编辑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B47E5B-5D8C-4BAB-A73F-D1F60E51E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551" y="1145628"/>
            <a:ext cx="8491283" cy="48390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700" dirty="0"/>
              <a:t>给定一个字符串，其长度不超过</a:t>
            </a:r>
            <a:r>
              <a:rPr lang="en-US" altLang="zh-CN" sz="1700" dirty="0"/>
              <a:t>200</a:t>
            </a:r>
            <a:r>
              <a:rPr lang="zh-CN" altLang="en-US" sz="1700" dirty="0"/>
              <a:t>，现需要通过一行文本命令（文本命令长度不超过</a:t>
            </a:r>
            <a:r>
              <a:rPr lang="en-US" altLang="zh-CN" sz="1700" dirty="0"/>
              <a:t>100</a:t>
            </a:r>
            <a:r>
              <a:rPr lang="zh-CN" altLang="en-US" sz="1700" dirty="0"/>
              <a:t>个字符），对其进行编辑或统计。相应的功能有：</a:t>
            </a:r>
          </a:p>
          <a:p>
            <a:r>
              <a:rPr lang="zh-CN" altLang="en-US" sz="1700" dirty="0"/>
              <a:t>统计子串：</a:t>
            </a:r>
            <a:r>
              <a:rPr lang="en-US" altLang="zh-CN" sz="1700" dirty="0"/>
              <a:t>C str</a:t>
            </a:r>
          </a:p>
          <a:p>
            <a:pPr lvl="1"/>
            <a:r>
              <a:rPr lang="zh-CN" altLang="en-US" sz="1500" dirty="0"/>
              <a:t>命令格式为一行，包含一个字符</a:t>
            </a:r>
            <a:r>
              <a:rPr lang="en-US" altLang="zh-CN" sz="1500" dirty="0"/>
              <a:t>C</a:t>
            </a:r>
            <a:r>
              <a:rPr lang="zh-CN" altLang="en-US" sz="1500" dirty="0"/>
              <a:t>和一个字符串，之间有一个空格隔开。功能：统计子串</a:t>
            </a:r>
            <a:r>
              <a:rPr lang="en-US" altLang="zh-CN" sz="1500" dirty="0"/>
              <a:t>str</a:t>
            </a:r>
            <a:r>
              <a:rPr lang="zh-CN" altLang="en-US" sz="1500" dirty="0"/>
              <a:t>在给定的字符串中无重叠的出现次数。</a:t>
            </a:r>
          </a:p>
          <a:p>
            <a:r>
              <a:rPr lang="zh-CN" altLang="en-US" sz="1700" dirty="0"/>
              <a:t>删除子串：</a:t>
            </a:r>
            <a:r>
              <a:rPr lang="en-US" altLang="zh-CN" sz="1700" dirty="0"/>
              <a:t>D str</a:t>
            </a:r>
          </a:p>
          <a:p>
            <a:pPr lvl="1"/>
            <a:r>
              <a:rPr lang="zh-CN" altLang="en-US" sz="1500" dirty="0"/>
              <a:t>命令格式为一行，包含一个字符</a:t>
            </a:r>
            <a:r>
              <a:rPr lang="en-US" altLang="zh-CN" sz="1500" dirty="0"/>
              <a:t>D</a:t>
            </a:r>
            <a:r>
              <a:rPr lang="zh-CN" altLang="en-US" sz="1500" dirty="0"/>
              <a:t>和一个字符串，之间有一个空格隔开。功能：删除原字符串中的子串</a:t>
            </a:r>
            <a:r>
              <a:rPr lang="en-US" altLang="zh-CN" sz="1500" dirty="0"/>
              <a:t>str</a:t>
            </a:r>
            <a:r>
              <a:rPr lang="zh-CN" altLang="en-US" sz="1500" dirty="0"/>
              <a:t>，若有多个子串</a:t>
            </a:r>
            <a:r>
              <a:rPr lang="en-US" altLang="zh-CN" sz="1500" dirty="0"/>
              <a:t>str</a:t>
            </a:r>
            <a:r>
              <a:rPr lang="zh-CN" altLang="en-US" sz="1500" dirty="0"/>
              <a:t>，则删除第一次出现的。</a:t>
            </a:r>
          </a:p>
          <a:p>
            <a:r>
              <a:rPr lang="zh-CN" altLang="en-US" sz="1700" dirty="0"/>
              <a:t>插入子串： </a:t>
            </a:r>
            <a:r>
              <a:rPr lang="en-US" altLang="zh-CN" sz="1700" dirty="0"/>
              <a:t>I str1 str2</a:t>
            </a:r>
          </a:p>
          <a:p>
            <a:pPr lvl="1"/>
            <a:r>
              <a:rPr lang="zh-CN" altLang="en-US" sz="1500" dirty="0"/>
              <a:t>命令格式为一行，包含一个字符</a:t>
            </a:r>
            <a:r>
              <a:rPr lang="en-US" altLang="zh-CN" sz="1500" dirty="0"/>
              <a:t>I</a:t>
            </a:r>
            <a:r>
              <a:rPr lang="zh-CN" altLang="en-US" sz="1500" dirty="0"/>
              <a:t>和</a:t>
            </a:r>
            <a:r>
              <a:rPr lang="en-US" altLang="zh-CN" sz="1500" dirty="0"/>
              <a:t>2</a:t>
            </a:r>
            <a:r>
              <a:rPr lang="zh-CN" altLang="en-US" sz="1500" dirty="0"/>
              <a:t>个字符串，每两项之间用一个空格隔开。功能：表示将子串</a:t>
            </a:r>
            <a:r>
              <a:rPr lang="en-US" altLang="zh-CN" sz="1500" dirty="0"/>
              <a:t>str2</a:t>
            </a:r>
            <a:r>
              <a:rPr lang="zh-CN" altLang="en-US" sz="1500" dirty="0"/>
              <a:t>插入到子串</a:t>
            </a:r>
            <a:r>
              <a:rPr lang="en-US" altLang="zh-CN" sz="1500" dirty="0"/>
              <a:t>str1</a:t>
            </a:r>
            <a:r>
              <a:rPr lang="zh-CN" altLang="en-US" sz="1500" dirty="0"/>
              <a:t>的前面。若原串中有多个</a:t>
            </a:r>
            <a:r>
              <a:rPr lang="en-US" altLang="zh-CN" sz="1500" dirty="0"/>
              <a:t>str1</a:t>
            </a:r>
            <a:r>
              <a:rPr lang="zh-CN" altLang="en-US" sz="1500" dirty="0"/>
              <a:t>，则插入在最后一个子串的前面。</a:t>
            </a:r>
          </a:p>
          <a:p>
            <a:r>
              <a:rPr lang="zh-CN" altLang="en-US" sz="1700" dirty="0"/>
              <a:t>替换子串：</a:t>
            </a:r>
            <a:r>
              <a:rPr lang="en-US" altLang="zh-CN" sz="1700" dirty="0"/>
              <a:t>R str1 str2</a:t>
            </a:r>
          </a:p>
          <a:p>
            <a:pPr lvl="1"/>
            <a:r>
              <a:rPr lang="zh-CN" altLang="en-US" sz="1500" dirty="0"/>
              <a:t>命令格式为一行，报告一个字符</a:t>
            </a:r>
            <a:r>
              <a:rPr lang="en-US" altLang="zh-CN" sz="1500" dirty="0"/>
              <a:t>R</a:t>
            </a:r>
            <a:r>
              <a:rPr lang="zh-CN" altLang="en-US" sz="1500" dirty="0"/>
              <a:t>和</a:t>
            </a:r>
            <a:r>
              <a:rPr lang="en-US" altLang="zh-CN" sz="1500" dirty="0"/>
              <a:t>2</a:t>
            </a:r>
            <a:r>
              <a:rPr lang="zh-CN" altLang="en-US" sz="1500" dirty="0"/>
              <a:t>个字符串，每两项之间用一个空格隔开。功能：表示在原字符串中用</a:t>
            </a:r>
            <a:r>
              <a:rPr lang="en-US" altLang="zh-CN" sz="1500" dirty="0"/>
              <a:t>str2</a:t>
            </a:r>
            <a:r>
              <a:rPr lang="zh-CN" altLang="en-US" sz="1500" dirty="0"/>
              <a:t>替换</a:t>
            </a:r>
            <a:r>
              <a:rPr lang="en-US" altLang="zh-CN" sz="1500" dirty="0"/>
              <a:t>str1</a:t>
            </a:r>
            <a:r>
              <a:rPr lang="zh-CN" altLang="en-US" sz="1500" dirty="0"/>
              <a:t>，</a:t>
            </a:r>
            <a:r>
              <a:rPr lang="en-US" altLang="zh-CN" sz="1500" dirty="0"/>
              <a:t>str1</a:t>
            </a:r>
            <a:r>
              <a:rPr lang="zh-CN" altLang="en-US" sz="1500" dirty="0"/>
              <a:t>为被替换的子串，</a:t>
            </a:r>
            <a:r>
              <a:rPr lang="en-US" altLang="zh-CN" sz="1500" dirty="0"/>
              <a:t>str2</a:t>
            </a:r>
            <a:r>
              <a:rPr lang="zh-CN" altLang="en-US" sz="1500" dirty="0"/>
              <a:t>为替换的子串，若在原串中有多个</a:t>
            </a:r>
            <a:r>
              <a:rPr lang="en-US" altLang="zh-CN" sz="1500" dirty="0"/>
              <a:t>str1</a:t>
            </a:r>
            <a:r>
              <a:rPr lang="zh-CN" altLang="en-US" sz="1500" dirty="0"/>
              <a:t>则应全部替换。但当替换进去的子串与原串拼接后新出现子串</a:t>
            </a:r>
            <a:r>
              <a:rPr lang="en-US" altLang="zh-CN" sz="1500" dirty="0"/>
              <a:t>str1</a:t>
            </a:r>
            <a:r>
              <a:rPr lang="zh-CN" altLang="en-US" sz="1500" dirty="0"/>
              <a:t>时，不用再替换。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E3364D-6F7D-4FF5-B95C-3D438C1DE37E}"/>
              </a:ext>
            </a:extLst>
          </p:cNvPr>
          <p:cNvSpPr/>
          <p:nvPr/>
        </p:nvSpPr>
        <p:spPr>
          <a:xfrm>
            <a:off x="301551" y="5562984"/>
            <a:ext cx="4230414" cy="9541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400" dirty="0">
                <a:latin typeface="Open Sans"/>
              </a:rPr>
              <a:t>输入格式</a:t>
            </a:r>
          </a:p>
          <a:p>
            <a:r>
              <a:rPr lang="zh-CN" altLang="en-US" sz="1400" dirty="0">
                <a:latin typeface="Open Sans"/>
              </a:rPr>
              <a:t>　　</a:t>
            </a:r>
            <a:r>
              <a:rPr lang="en-US" altLang="zh-CN" sz="1400" dirty="0">
                <a:latin typeface="Open Sans"/>
              </a:rPr>
              <a:t>2</a:t>
            </a:r>
            <a:r>
              <a:rPr lang="zh-CN" altLang="en-US" sz="1400" dirty="0">
                <a:latin typeface="Open Sans"/>
              </a:rPr>
              <a:t>行</a:t>
            </a:r>
            <a:br>
              <a:rPr lang="zh-CN" altLang="en-US" sz="1400" dirty="0">
                <a:latin typeface="Open Sans"/>
              </a:rPr>
            </a:br>
            <a:r>
              <a:rPr lang="zh-CN" altLang="en-US" sz="1400" dirty="0">
                <a:latin typeface="Open Sans"/>
              </a:rPr>
              <a:t>　　第</a:t>
            </a:r>
            <a:r>
              <a:rPr lang="en-US" altLang="zh-CN" sz="1400" dirty="0">
                <a:latin typeface="Open Sans"/>
              </a:rPr>
              <a:t>1</a:t>
            </a:r>
            <a:r>
              <a:rPr lang="zh-CN" altLang="en-US" sz="1400" dirty="0">
                <a:latin typeface="Open Sans"/>
              </a:rPr>
              <a:t>行包含一个字符串，即给定的原字符串。</a:t>
            </a:r>
            <a:br>
              <a:rPr lang="zh-CN" altLang="en-US" sz="1400" dirty="0">
                <a:latin typeface="Open Sans"/>
              </a:rPr>
            </a:br>
            <a:r>
              <a:rPr lang="zh-CN" altLang="en-US" sz="1400" dirty="0">
                <a:latin typeface="Open Sans"/>
              </a:rPr>
              <a:t>　　第</a:t>
            </a:r>
            <a:r>
              <a:rPr lang="en-US" altLang="zh-CN" sz="1400" dirty="0">
                <a:latin typeface="Open Sans"/>
              </a:rPr>
              <a:t>2</a:t>
            </a:r>
            <a:r>
              <a:rPr lang="zh-CN" altLang="en-US" sz="1400" dirty="0">
                <a:latin typeface="Open Sans"/>
              </a:rPr>
              <a:t>行也是包含一个字符串，表示一个操作命令。</a:t>
            </a:r>
            <a:endParaRPr lang="zh-CN" altLang="en-US" sz="1400" b="0" i="0" dirty="0">
              <a:effectLst/>
              <a:latin typeface="Open San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DE77C6-FFA8-4ED7-9A10-400645519027}"/>
              </a:ext>
            </a:extLst>
          </p:cNvPr>
          <p:cNvSpPr/>
          <p:nvPr/>
        </p:nvSpPr>
        <p:spPr>
          <a:xfrm>
            <a:off x="4612037" y="5562984"/>
            <a:ext cx="4475401" cy="9541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400" dirty="0">
                <a:latin typeface="Open Sans"/>
              </a:rPr>
              <a:t>输出格式</a:t>
            </a:r>
          </a:p>
          <a:p>
            <a:r>
              <a:rPr lang="zh-CN" altLang="en-US" sz="1400" dirty="0">
                <a:latin typeface="Open Sans"/>
              </a:rPr>
              <a:t>　　一行，包含一个数字或者一个字符串。对于统计子串的命令输出一个整数，对于其他命令，输出操作后的字符串。</a:t>
            </a:r>
            <a:endParaRPr lang="zh-CN" altLang="en-US" sz="1400" b="0" i="0" dirty="0"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216942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3D931E-753A-490A-8952-36ADF4CA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题目分析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DE186F-6D27-4616-A349-F2053C6E2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考点：字符串处理、自定义函数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输入数据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如何得到输入的操作命令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不同的操作</a:t>
            </a:r>
            <a:endParaRPr lang="en-US" altLang="zh-CN" dirty="0"/>
          </a:p>
          <a:p>
            <a:pPr lvl="1"/>
            <a:r>
              <a:rPr lang="zh-CN" altLang="en-US" dirty="0"/>
              <a:t>不同的函数</a:t>
            </a:r>
            <a:endParaRPr lang="en-US" altLang="zh-CN" dirty="0"/>
          </a:p>
          <a:p>
            <a:pPr lvl="1"/>
            <a:r>
              <a:rPr lang="zh-CN" altLang="en-US" dirty="0"/>
              <a:t>函数参数：字符数组作为函数参数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字符串的结尾</a:t>
            </a:r>
            <a:r>
              <a:rPr lang="en-US" dirty="0"/>
              <a:t>'\0'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917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F80B7F-50CF-458A-96D9-1CB934D4B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D9A4B93-EDA4-4209-A0D1-8C1B6C5FF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210" y="1154169"/>
            <a:ext cx="5681177" cy="556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049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A6D07C-50E0-499D-8FB2-B11560001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函数实现举例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DBC7088-0874-422C-8BD6-6BEE0A082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502" y="1580658"/>
            <a:ext cx="5946204" cy="475419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729ACA9-6AC4-4A5E-B392-BEFA007682C7}"/>
              </a:ext>
            </a:extLst>
          </p:cNvPr>
          <p:cNvSpPr/>
          <p:nvPr/>
        </p:nvSpPr>
        <p:spPr>
          <a:xfrm>
            <a:off x="3392129" y="6056668"/>
            <a:ext cx="54421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总结：典型的字符串处理的题目，做好！举一反三！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31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992D4A-59BA-488F-B34E-3926A1EA8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习题讨论</a:t>
            </a:r>
            <a:r>
              <a:rPr lang="en-US" altLang="zh-CN" dirty="0"/>
              <a:t>3-</a:t>
            </a:r>
            <a:r>
              <a:rPr lang="zh-CN" altLang="en-US" dirty="0"/>
              <a:t>猜数字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7A162E-992C-4F59-B20D-BFED89EAA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331650"/>
            <a:ext cx="8280000" cy="3461067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猜数字游戏是文曲星上的一款打发时间的小游戏。游戏的规则是这样的：</a:t>
            </a:r>
            <a:endParaRPr lang="en-US" altLang="zh-CN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计算机随机产生一个四位数，然后玩家猜这个四位数是什么。每猜一个数，计算机都会告诉玩家猜对几个数字，其中有几个数字在正确的位置上，比如计算机随机产生的数字为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1122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。如果玩家猜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1234,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因为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1,2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这两个数字同时存在于这两个数中，而且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在这两个数中的位置是相同的，所以计算机会告诉玩家猜对了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个数字，其中一个在正确的位置。如果玩家猜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1111,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那么计算机会告诉他猜对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个数字，有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个在正确的位置。 　　</a:t>
            </a:r>
            <a:endParaRPr lang="en-US" altLang="zh-CN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现在给你一段猜数字的过程，你的任务是根据这段对话确定这个四位数是什么。</a:t>
            </a:r>
            <a:endParaRPr lang="en-US" altLang="zh-CN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【</a:t>
            </a:r>
            <a:r>
              <a:rPr lang="zh-CN" altLang="en-US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输入格式</a:t>
            </a:r>
            <a:r>
              <a:rPr lang="en-US" altLang="zh-CN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】</a:t>
            </a:r>
            <a:endParaRPr lang="zh-CN" altLang="en-US" sz="1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　　输入第一行为一个正整数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N(1&lt;=N&lt;=10)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，表示在这段对话中共有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次问答（不允许出现重复问答）。在接下来的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行中，每行三个整数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A,B,C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。游戏者猜这个四位数为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，然后计算机回答猜对了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个数字，其中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C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个在正确的位置上。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【</a:t>
            </a:r>
            <a:r>
              <a:rPr lang="zh-CN" altLang="en-US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输出格式</a:t>
            </a:r>
            <a:r>
              <a:rPr lang="en-US" altLang="zh-CN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】</a:t>
            </a:r>
            <a:endParaRPr lang="zh-CN" altLang="en-US" sz="1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　　一行，如果根据这段对话能确定这个四位数，则输出这个四位数，若不能，则输出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"Not sure"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6586FE-4D08-471D-A463-5E24F9175416}"/>
              </a:ext>
            </a:extLst>
          </p:cNvPr>
          <p:cNvSpPr/>
          <p:nvPr/>
        </p:nvSpPr>
        <p:spPr>
          <a:xfrm>
            <a:off x="2317532" y="4372188"/>
            <a:ext cx="1424151" cy="206210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dirty="0">
                <a:latin typeface="Open Sans"/>
              </a:rPr>
              <a:t>输入样例</a:t>
            </a:r>
          </a:p>
          <a:p>
            <a:r>
              <a:rPr lang="en-US" altLang="zh-CN" sz="1600" dirty="0">
                <a:latin typeface="Open Sans"/>
              </a:rPr>
              <a:t>6</a:t>
            </a:r>
            <a:br>
              <a:rPr lang="en-US" altLang="zh-CN" sz="1600" dirty="0">
                <a:latin typeface="Open Sans"/>
              </a:rPr>
            </a:br>
            <a:r>
              <a:rPr lang="en-US" altLang="zh-CN" sz="1600" dirty="0">
                <a:latin typeface="Open Sans"/>
              </a:rPr>
              <a:t>4815 2 1</a:t>
            </a:r>
            <a:br>
              <a:rPr lang="en-US" altLang="zh-CN" sz="1600" dirty="0">
                <a:latin typeface="Open Sans"/>
              </a:rPr>
            </a:br>
            <a:r>
              <a:rPr lang="en-US" altLang="zh-CN" sz="1600" dirty="0">
                <a:latin typeface="Open Sans"/>
              </a:rPr>
              <a:t>5716 1 0</a:t>
            </a:r>
            <a:br>
              <a:rPr lang="en-US" altLang="zh-CN" sz="1600" dirty="0">
                <a:latin typeface="Open Sans"/>
              </a:rPr>
            </a:br>
            <a:r>
              <a:rPr lang="en-US" altLang="zh-CN" sz="1600" dirty="0">
                <a:latin typeface="Open Sans"/>
              </a:rPr>
              <a:t>7842 1 0</a:t>
            </a:r>
            <a:br>
              <a:rPr lang="en-US" altLang="zh-CN" sz="1600" dirty="0">
                <a:latin typeface="Open Sans"/>
              </a:rPr>
            </a:br>
            <a:r>
              <a:rPr lang="en-US" altLang="zh-CN" sz="1600" dirty="0">
                <a:latin typeface="Open Sans"/>
              </a:rPr>
              <a:t>4901 0 0</a:t>
            </a:r>
            <a:br>
              <a:rPr lang="en-US" altLang="zh-CN" sz="1600" dirty="0">
                <a:latin typeface="Open Sans"/>
              </a:rPr>
            </a:br>
            <a:r>
              <a:rPr lang="en-US" altLang="zh-CN" sz="1600" dirty="0">
                <a:latin typeface="Open Sans"/>
              </a:rPr>
              <a:t>8585 3 3</a:t>
            </a:r>
            <a:br>
              <a:rPr lang="en-US" altLang="zh-CN" sz="1600" dirty="0">
                <a:latin typeface="Open Sans"/>
              </a:rPr>
            </a:br>
            <a:r>
              <a:rPr lang="en-US" altLang="zh-CN" sz="1600" dirty="0">
                <a:latin typeface="Open Sans"/>
              </a:rPr>
              <a:t>8555 3 2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B811B0-B908-45FF-A58C-031126610102}"/>
              </a:ext>
            </a:extLst>
          </p:cNvPr>
          <p:cNvSpPr/>
          <p:nvPr/>
        </p:nvSpPr>
        <p:spPr>
          <a:xfrm>
            <a:off x="4209787" y="4372188"/>
            <a:ext cx="1424151" cy="5232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400" dirty="0">
                <a:latin typeface="Open Sans"/>
              </a:rPr>
              <a:t>输出样例</a:t>
            </a:r>
          </a:p>
          <a:p>
            <a:r>
              <a:rPr lang="en-US" altLang="zh-CN" sz="1400" dirty="0">
                <a:latin typeface="Open Sans"/>
              </a:rPr>
              <a:t>3585</a:t>
            </a:r>
          </a:p>
        </p:txBody>
      </p:sp>
    </p:spTree>
    <p:extLst>
      <p:ext uri="{BB962C8B-B14F-4D97-AF65-F5344CB8AC3E}">
        <p14:creationId xmlns:p14="http://schemas.microsoft.com/office/powerpoint/2010/main" val="2280247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F8B8E-97CB-40ED-A3EC-9EEF94FB4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题目分析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CBB285-503D-4B34-BF62-A8283E52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04306"/>
            <a:ext cx="8280000" cy="4764163"/>
          </a:xfrm>
        </p:spPr>
        <p:txBody>
          <a:bodyPr/>
          <a:lstStyle/>
          <a:p>
            <a:r>
              <a:rPr lang="zh-CN" altLang="en-US" dirty="0"/>
              <a:t>求一个</a:t>
            </a:r>
            <a:r>
              <a:rPr lang="en-US" altLang="zh-CN" dirty="0"/>
              <a:t>4</a:t>
            </a:r>
            <a:r>
              <a:rPr lang="zh-CN" altLang="en-US" dirty="0"/>
              <a:t>位数字，满足一定条件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枚举所有的</a:t>
            </a:r>
            <a:r>
              <a:rPr lang="en-US" altLang="zh-CN" dirty="0"/>
              <a:t>4</a:t>
            </a:r>
            <a:r>
              <a:rPr lang="zh-CN" altLang="en-US" dirty="0"/>
              <a:t>位数，验证条件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难点：验证条件</a:t>
            </a:r>
            <a:endParaRPr lang="en-US" altLang="zh-CN" dirty="0"/>
          </a:p>
          <a:p>
            <a:pPr lvl="1"/>
            <a:r>
              <a:rPr lang="zh-CN" altLang="en-US" dirty="0"/>
              <a:t>猜对几个数字？</a:t>
            </a:r>
            <a:endParaRPr lang="en-US" altLang="zh-CN" dirty="0"/>
          </a:p>
          <a:p>
            <a:pPr lvl="1"/>
            <a:r>
              <a:rPr lang="zh-CN" altLang="en-US" dirty="0"/>
              <a:t>几个位位置对？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爆炸形: 8 pt  3">
            <a:extLst>
              <a:ext uri="{FF2B5EF4-FFF2-40B4-BE49-F238E27FC236}">
                <a16:creationId xmlns:a16="http://schemas.microsoft.com/office/drawing/2014/main" id="{DD68AE22-257F-4429-9A92-D2677B35555F}"/>
              </a:ext>
            </a:extLst>
          </p:cNvPr>
          <p:cNvSpPr/>
          <p:nvPr/>
        </p:nvSpPr>
        <p:spPr>
          <a:xfrm>
            <a:off x="5752097" y="1008993"/>
            <a:ext cx="2509034" cy="182880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</a:rPr>
              <a:t>枚举法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417882-05EC-4330-87E2-5CCD8601012E}"/>
              </a:ext>
            </a:extLst>
          </p:cNvPr>
          <p:cNvSpPr/>
          <p:nvPr/>
        </p:nvSpPr>
        <p:spPr>
          <a:xfrm>
            <a:off x="3186953" y="4606578"/>
            <a:ext cx="569058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(num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num &lt;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9999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num ++)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//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假设满足的条件的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4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位数字是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 n;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++)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{ //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验证每个条件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07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31237D-928D-46C4-BBED-BA5E1B58A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数据存储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48D1ED-BE28-40EE-A554-664EDADB3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r>
              <a:rPr lang="zh-CN" altLang="en-US" dirty="0"/>
              <a:t>个条件的保存</a:t>
            </a:r>
            <a:r>
              <a:rPr lang="en-US" altLang="zh-CN" dirty="0"/>
              <a:t>——</a:t>
            </a:r>
            <a:r>
              <a:rPr lang="zh-CN" altLang="en-US" dirty="0"/>
              <a:t>结构体数组</a:t>
            </a:r>
            <a:endParaRPr lang="en-US" altLang="zh-CN" dirty="0"/>
          </a:p>
          <a:p>
            <a:pPr marL="3978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EB6522E-390A-4CE7-A6D6-8F24CF0B6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988" y="2551712"/>
            <a:ext cx="4203432" cy="192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76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EE2CB6-4BB8-4931-8D3B-C5FB3F1B6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核心代码：</a:t>
            </a:r>
            <a:endParaRPr 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0500B036-85F9-46D1-9C9A-0FEE059CA5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298" y="1849882"/>
            <a:ext cx="8368089" cy="37584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8F71603-AF0A-4E89-8C63-6FD3D711722F}"/>
              </a:ext>
            </a:extLst>
          </p:cNvPr>
          <p:cNvSpPr txBox="1"/>
          <p:nvPr/>
        </p:nvSpPr>
        <p:spPr>
          <a:xfrm>
            <a:off x="3794760" y="881824"/>
            <a:ext cx="385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枚举</a:t>
            </a:r>
            <a:r>
              <a:rPr lang="en-US" altLang="zh-CN" sz="2400" b="1" dirty="0">
                <a:solidFill>
                  <a:srgbClr val="C00000"/>
                </a:solidFill>
              </a:rPr>
              <a:t>+</a:t>
            </a:r>
            <a:r>
              <a:rPr lang="zh-CN" altLang="en-US" sz="2400" b="1" dirty="0">
                <a:solidFill>
                  <a:srgbClr val="C00000"/>
                </a:solidFill>
              </a:rPr>
              <a:t>验证条件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715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DCD07-5F6A-4DED-9607-E7FA78C9C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细节实现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F088EE-5B06-47EF-AA30-9050C6001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正确数字个数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2C8C166-F58C-43BE-8B73-D75DAF3A1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866" y="432000"/>
            <a:ext cx="5193293" cy="5363781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D50F0A7F-893E-4B8D-8EE2-4F996C3FAC44}"/>
              </a:ext>
            </a:extLst>
          </p:cNvPr>
          <p:cNvGrpSpPr/>
          <p:nvPr/>
        </p:nvGrpSpPr>
        <p:grpSpPr>
          <a:xfrm>
            <a:off x="1111180" y="5611115"/>
            <a:ext cx="5677378" cy="893072"/>
            <a:chOff x="1111180" y="5611115"/>
            <a:chExt cx="5677378" cy="893072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0ABFB8B-5746-4790-B5AB-E08EA75D5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6621" y="5999968"/>
              <a:ext cx="5301937" cy="504219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8D2BEA0-9F4C-43B8-86F7-3655F4A36F82}"/>
                </a:ext>
              </a:extLst>
            </p:cNvPr>
            <p:cNvSpPr/>
            <p:nvPr/>
          </p:nvSpPr>
          <p:spPr>
            <a:xfrm>
              <a:off x="1111180" y="5611115"/>
              <a:ext cx="13388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函数测试：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3766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A9C4D3-611B-4654-8E7D-D976DA10A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细节实现</a:t>
            </a:r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004DB2-A857-4E6F-816A-72BB5EBF7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正确位置个数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55D2C6-DD0B-431A-93B6-39AEFA474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650" y="2266808"/>
            <a:ext cx="5554269" cy="324381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9429F674-40E6-42EB-8821-22AA12118B90}"/>
              </a:ext>
            </a:extLst>
          </p:cNvPr>
          <p:cNvGrpSpPr/>
          <p:nvPr/>
        </p:nvGrpSpPr>
        <p:grpSpPr>
          <a:xfrm>
            <a:off x="3291584" y="5398642"/>
            <a:ext cx="5473800" cy="1027358"/>
            <a:chOff x="3291584" y="5398642"/>
            <a:chExt cx="5473800" cy="1027358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6EECE19-432A-4D1C-BEEA-89FAFACEB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91584" y="5870067"/>
              <a:ext cx="5473800" cy="555933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F3B84D8-3880-4D8E-8365-E2B6A4C586AE}"/>
                </a:ext>
              </a:extLst>
            </p:cNvPr>
            <p:cNvSpPr/>
            <p:nvPr/>
          </p:nvSpPr>
          <p:spPr>
            <a:xfrm>
              <a:off x="3549580" y="5398642"/>
              <a:ext cx="13388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函数测试：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832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93BF2-7DAE-4DF5-A641-FDA2C54C4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知识点总结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BAA2E1-2AF2-41F3-B239-A0AE6A11B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枚举法</a:t>
            </a:r>
            <a:endParaRPr lang="en-US" altLang="zh-CN" dirty="0"/>
          </a:p>
          <a:p>
            <a:r>
              <a:rPr lang="zh-CN" altLang="en-US" dirty="0"/>
              <a:t>数组比较</a:t>
            </a:r>
            <a:endParaRPr lang="en-US" altLang="zh-CN" dirty="0"/>
          </a:p>
          <a:p>
            <a:r>
              <a:rPr lang="zh-CN" altLang="en-US" dirty="0"/>
              <a:t>数位分离</a:t>
            </a:r>
            <a:endParaRPr lang="en-US" altLang="zh-CN" dirty="0"/>
          </a:p>
          <a:p>
            <a:r>
              <a:rPr lang="zh-CN" altLang="en-US" dirty="0"/>
              <a:t>结构体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869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5B44F-9B0A-4235-AF9B-0D4371E8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543" y="472440"/>
            <a:ext cx="1808279" cy="56388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参考代码</a:t>
            </a:r>
            <a:endParaRPr lang="en-US" sz="2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62B66B5-B199-4AD3-A760-343FC3CEC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78" y="0"/>
            <a:ext cx="53615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230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7D8DB2-898A-41A3-862D-3F14756B6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484.</a:t>
            </a:r>
            <a:r>
              <a:rPr lang="zh-CN" altLang="en-US" dirty="0"/>
              <a:t>重复元素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5A49BC-1BBA-482B-818D-CAFDD6C43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99" y="1535837"/>
            <a:ext cx="8469113" cy="50935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sz="2600" dirty="0"/>
              <a:t>【</a:t>
            </a:r>
            <a:r>
              <a:rPr lang="zh-CN" altLang="en-US" sz="2600" dirty="0"/>
              <a:t>问题描述</a:t>
            </a:r>
            <a:r>
              <a:rPr lang="en-US" altLang="zh-CN" sz="2600" dirty="0"/>
              <a:t>】</a:t>
            </a:r>
          </a:p>
          <a:p>
            <a:pPr marL="397800" lvl="1" indent="0">
              <a:buNone/>
            </a:pPr>
            <a:r>
              <a:rPr lang="zh-CN" altLang="en-US" sz="2300" dirty="0"/>
              <a:t>统计数列有重复的元素及其个数。已知有不超过短整型数值范围的</a:t>
            </a:r>
            <a:r>
              <a:rPr lang="en-US" altLang="zh-CN" sz="2300" dirty="0"/>
              <a:t>n</a:t>
            </a:r>
            <a:r>
              <a:rPr lang="zh-CN" altLang="en-US" sz="2300" dirty="0"/>
              <a:t>个数（</a:t>
            </a:r>
            <a:r>
              <a:rPr lang="en-US" altLang="zh-CN" sz="2300" dirty="0"/>
              <a:t>n&lt;=1000</a:t>
            </a:r>
            <a:r>
              <a:rPr lang="zh-CN" altLang="en-US" sz="2300" dirty="0"/>
              <a:t>）</a:t>
            </a:r>
            <a:r>
              <a:rPr lang="en-US" altLang="zh-CN" sz="2300" dirty="0"/>
              <a:t>,</a:t>
            </a:r>
            <a:r>
              <a:rPr lang="zh-CN" altLang="en-US" sz="2300" dirty="0"/>
              <a:t>请查找统计有重复的数列项，按行从小到大输出有重复的项及其重复次数。</a:t>
            </a:r>
          </a:p>
          <a:p>
            <a:pPr marL="0" indent="0">
              <a:buNone/>
            </a:pPr>
            <a:r>
              <a:rPr lang="en-US" altLang="zh-CN" sz="2600" dirty="0"/>
              <a:t>【</a:t>
            </a:r>
            <a:r>
              <a:rPr lang="zh-CN" altLang="en-US" sz="2600" dirty="0"/>
              <a:t>输入格式</a:t>
            </a:r>
            <a:r>
              <a:rPr lang="en-US" altLang="zh-CN" sz="2600" dirty="0"/>
              <a:t>】</a:t>
            </a:r>
          </a:p>
          <a:p>
            <a:pPr marL="397800" lvl="1" indent="0">
              <a:buNone/>
            </a:pPr>
            <a:r>
              <a:rPr lang="zh-CN" altLang="en-US" sz="2300" dirty="0"/>
              <a:t>两行，第一行表示数列元素的个数</a:t>
            </a:r>
            <a:r>
              <a:rPr lang="en-US" altLang="zh-CN" sz="2300" dirty="0"/>
              <a:t>n</a:t>
            </a:r>
            <a:r>
              <a:rPr lang="zh-CN" altLang="en-US" sz="2300" dirty="0"/>
              <a:t>；第二行为该数列的元素，以空格分隔。</a:t>
            </a:r>
          </a:p>
          <a:p>
            <a:pPr marL="0" indent="0">
              <a:buNone/>
            </a:pPr>
            <a:r>
              <a:rPr lang="en-US" altLang="zh-CN" sz="2600" dirty="0"/>
              <a:t>【</a:t>
            </a:r>
            <a:r>
              <a:rPr lang="zh-CN" altLang="en-US" sz="2600" dirty="0"/>
              <a:t>输出格式</a:t>
            </a:r>
            <a:r>
              <a:rPr lang="en-US" altLang="zh-CN" sz="2600" dirty="0"/>
              <a:t>】</a:t>
            </a:r>
          </a:p>
          <a:p>
            <a:pPr marL="397800" lvl="1" indent="0">
              <a:buNone/>
            </a:pPr>
            <a:r>
              <a:rPr lang="zh-CN" altLang="en-US" sz="2300" dirty="0"/>
              <a:t>若干行，每行两个数，冒号分隔，分别为有重复的数项值及其重复的次数。输出顺序由数列项的值确定。若数列中没有重复项，则输出</a:t>
            </a:r>
            <a:r>
              <a:rPr lang="en-US" altLang="zh-CN" sz="2300" dirty="0"/>
              <a:t>NO</a:t>
            </a:r>
            <a:r>
              <a:rPr lang="zh-CN" altLang="en-US" sz="2300" dirty="0"/>
              <a:t>。</a:t>
            </a:r>
          </a:p>
          <a:p>
            <a:pPr marL="0" indent="0">
              <a:buNone/>
            </a:pPr>
            <a:r>
              <a:rPr lang="en-US" altLang="zh-CN" sz="2300" dirty="0"/>
              <a:t>【</a:t>
            </a:r>
            <a:r>
              <a:rPr lang="zh-CN" altLang="en-US" sz="2300" dirty="0"/>
              <a:t>样例输入</a:t>
            </a:r>
            <a:r>
              <a:rPr lang="en-US" altLang="zh-CN" sz="2300" dirty="0"/>
              <a:t>1】</a:t>
            </a:r>
          </a:p>
          <a:p>
            <a:pPr marL="0" indent="0">
              <a:buNone/>
            </a:pPr>
            <a:r>
              <a:rPr lang="en-US" altLang="zh-CN" sz="2300" dirty="0"/>
              <a:t>10</a:t>
            </a:r>
          </a:p>
          <a:p>
            <a:pPr marL="0" indent="0">
              <a:buNone/>
            </a:pPr>
            <a:r>
              <a:rPr lang="en-US" altLang="zh-CN" sz="2300" dirty="0"/>
              <a:t>36 30 68 38 2 30 36 30 68 30</a:t>
            </a:r>
          </a:p>
          <a:p>
            <a:pPr marL="0" indent="0">
              <a:buNone/>
            </a:pPr>
            <a:r>
              <a:rPr lang="en-US" altLang="zh-CN" sz="2300" dirty="0"/>
              <a:t>【</a:t>
            </a:r>
            <a:r>
              <a:rPr lang="zh-CN" altLang="en-US" sz="2300" dirty="0"/>
              <a:t>样例输出</a:t>
            </a:r>
            <a:r>
              <a:rPr lang="en-US" altLang="zh-CN" sz="2300" dirty="0"/>
              <a:t>1】</a:t>
            </a:r>
          </a:p>
          <a:p>
            <a:pPr marL="0" indent="0">
              <a:buNone/>
            </a:pPr>
            <a:r>
              <a:rPr lang="en-US" altLang="zh-CN" sz="2300" dirty="0"/>
              <a:t>30:4</a:t>
            </a:r>
          </a:p>
          <a:p>
            <a:pPr marL="0" indent="0">
              <a:buNone/>
            </a:pPr>
            <a:r>
              <a:rPr lang="en-US" altLang="zh-CN" sz="2300" dirty="0"/>
              <a:t>36:2</a:t>
            </a:r>
          </a:p>
          <a:p>
            <a:pPr marL="0" indent="0">
              <a:buNone/>
            </a:pPr>
            <a:r>
              <a:rPr lang="en-US" altLang="zh-CN" sz="2300" dirty="0"/>
              <a:t>68:2</a:t>
            </a:r>
          </a:p>
          <a:p>
            <a:pPr lvl="1"/>
            <a:endParaRPr lang="en-US" dirty="0"/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21A507D5-C52A-4997-85D7-3277A2D42AAF}"/>
              </a:ext>
            </a:extLst>
          </p:cNvPr>
          <p:cNvSpPr/>
          <p:nvPr/>
        </p:nvSpPr>
        <p:spPr>
          <a:xfrm>
            <a:off x="5657749" y="1750383"/>
            <a:ext cx="924206" cy="43209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71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C67400-59F1-4DCC-8B2E-35855429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题目分析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F49525-4825-4FE8-91AF-8CFDE5DDE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本质：计数</a:t>
            </a:r>
            <a:r>
              <a:rPr lang="en-US" altLang="zh-CN" dirty="0"/>
              <a:t>+</a:t>
            </a:r>
            <a:r>
              <a:rPr lang="zh-CN" altLang="en-US" dirty="0"/>
              <a:t>排序</a:t>
            </a:r>
            <a:endParaRPr lang="en-US" altLang="zh-CN" dirty="0"/>
          </a:p>
          <a:p>
            <a:pPr lvl="1"/>
            <a:r>
              <a:rPr lang="zh-CN" altLang="en-US" dirty="0"/>
              <a:t>计数：统计每个数字出现的次数</a:t>
            </a:r>
            <a:endParaRPr lang="en-US" altLang="zh-CN" dirty="0"/>
          </a:p>
          <a:p>
            <a:pPr lvl="1"/>
            <a:r>
              <a:rPr lang="zh-CN" altLang="en-US" dirty="0"/>
              <a:t>排序：按照数字从小到大的顺序输出</a:t>
            </a:r>
            <a:endParaRPr lang="en-US" dirty="0"/>
          </a:p>
          <a:p>
            <a:r>
              <a:rPr lang="zh-CN" altLang="en-US" dirty="0"/>
              <a:t>输入</a:t>
            </a:r>
            <a:r>
              <a:rPr lang="en-US" altLang="zh-CN" dirty="0"/>
              <a:t>&amp;</a:t>
            </a:r>
            <a:r>
              <a:rPr lang="zh-CN" altLang="en-US" dirty="0"/>
              <a:t>输出</a:t>
            </a:r>
            <a:endParaRPr lang="en-US" altLang="zh-CN" dirty="0"/>
          </a:p>
          <a:p>
            <a:r>
              <a:rPr lang="zh-CN" altLang="en-US" dirty="0"/>
              <a:t>如何存储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162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CDB2A-2CFB-4E50-B99D-981F6E9A6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思路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02652B-DE40-4610-B9A8-6671CDDCB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输入：一维数组</a:t>
            </a:r>
            <a:r>
              <a:rPr lang="en-US" altLang="zh-CN" dirty="0" err="1"/>
              <a:t>arr</a:t>
            </a:r>
            <a:r>
              <a:rPr lang="zh-CN" altLang="en-US" dirty="0"/>
              <a:t>保存输入的</a:t>
            </a:r>
            <a:r>
              <a:rPr lang="en-US" altLang="zh-CN" dirty="0"/>
              <a:t>n</a:t>
            </a:r>
            <a:r>
              <a:rPr lang="zh-CN" altLang="en-US" dirty="0"/>
              <a:t>个数据</a:t>
            </a:r>
            <a:endParaRPr lang="en-US" altLang="zh-CN" dirty="0"/>
          </a:p>
          <a:p>
            <a:r>
              <a:rPr lang="zh-CN" altLang="en-US" dirty="0"/>
              <a:t>如何得到</a:t>
            </a:r>
            <a:r>
              <a:rPr lang="en-US" altLang="zh-CN" dirty="0" err="1"/>
              <a:t>arr</a:t>
            </a:r>
            <a:r>
              <a:rPr lang="zh-CN" altLang="en-US" dirty="0"/>
              <a:t>数组中每个元素出现的次数？</a:t>
            </a:r>
            <a:r>
              <a:rPr lang="zh-CN" altLang="en-US" dirty="0">
                <a:solidFill>
                  <a:srgbClr val="0000FF"/>
                </a:solidFill>
              </a:rPr>
              <a:t>如何保存结果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个数组</a:t>
            </a:r>
            <a:endParaRPr lang="en-US" altLang="zh-CN" dirty="0"/>
          </a:p>
          <a:p>
            <a:pPr lvl="1"/>
            <a:r>
              <a:rPr lang="zh-CN" altLang="en-US" dirty="0"/>
              <a:t>结构体</a:t>
            </a:r>
            <a:endParaRPr lang="en-US" altLang="zh-CN" dirty="0"/>
          </a:p>
          <a:p>
            <a:pPr lvl="1"/>
            <a:r>
              <a:rPr lang="zh-CN" altLang="en-US" dirty="0"/>
              <a:t>遍历</a:t>
            </a:r>
            <a:r>
              <a:rPr lang="en-US" altLang="zh-CN" dirty="0" err="1"/>
              <a:t>arr</a:t>
            </a:r>
            <a:r>
              <a:rPr lang="zh-CN" altLang="en-US" dirty="0"/>
              <a:t>数组，对每个元素，考虑是否已经在结果中出现，如果是，次数</a:t>
            </a:r>
            <a:r>
              <a:rPr lang="en-US" altLang="zh-CN" dirty="0"/>
              <a:t>+1</a:t>
            </a:r>
            <a:r>
              <a:rPr lang="zh-CN" altLang="en-US" dirty="0"/>
              <a:t>；否则加入到结果中，且出现次数设置为</a:t>
            </a:r>
            <a:r>
              <a:rPr lang="en-US" altLang="zh-CN" dirty="0"/>
              <a:t>1</a:t>
            </a:r>
          </a:p>
          <a:p>
            <a:pPr lvl="1"/>
            <a:endParaRPr lang="en-US" altLang="zh-CN" dirty="0"/>
          </a:p>
          <a:p>
            <a:r>
              <a:rPr lang="zh-CN" altLang="en-US" dirty="0"/>
              <a:t>输出：按照数字从小到大排序后输出</a:t>
            </a:r>
            <a:endParaRPr lang="en-US" altLang="zh-CN" dirty="0"/>
          </a:p>
          <a:p>
            <a:pPr lvl="1"/>
            <a:r>
              <a:rPr lang="zh-CN" altLang="en-US" dirty="0"/>
              <a:t>不输出出现次数为</a:t>
            </a:r>
            <a:r>
              <a:rPr lang="en-US" altLang="zh-CN" dirty="0"/>
              <a:t>1</a:t>
            </a:r>
            <a:r>
              <a:rPr lang="zh-CN" altLang="en-US" dirty="0"/>
              <a:t>的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1C714A-F415-4126-882F-53DB59B08928}"/>
              </a:ext>
            </a:extLst>
          </p:cNvPr>
          <p:cNvSpPr/>
          <p:nvPr/>
        </p:nvSpPr>
        <p:spPr>
          <a:xfrm>
            <a:off x="2600325" y="697159"/>
            <a:ext cx="36576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lvl="1"/>
            <a:r>
              <a:rPr lang="zh-CN" altLang="en-US" dirty="0">
                <a:solidFill>
                  <a:srgbClr val="0070C0"/>
                </a:solidFill>
              </a:rPr>
              <a:t>结构体数组</a:t>
            </a:r>
            <a:endParaRPr lang="en-US" altLang="zh-C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772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636AF1-E3BC-4BDD-8614-78679CAFA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思路</a:t>
            </a:r>
            <a:r>
              <a:rPr lang="en-US" altLang="zh-CN" dirty="0"/>
              <a:t>1</a:t>
            </a:r>
            <a:r>
              <a:rPr lang="zh-CN" altLang="en-US" dirty="0"/>
              <a:t>核心代码</a:t>
            </a:r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47C064-F22D-4B7E-A6DA-027BFF7C7BCC}"/>
              </a:ext>
            </a:extLst>
          </p:cNvPr>
          <p:cNvSpPr/>
          <p:nvPr/>
        </p:nvSpPr>
        <p:spPr>
          <a:xfrm>
            <a:off x="719959" y="1415733"/>
            <a:ext cx="2727434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Item{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num;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count;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B1F4D27-81EB-41E1-A238-5B2FAD3A181E}"/>
              </a:ext>
            </a:extLst>
          </p:cNvPr>
          <p:cNvGrpSpPr/>
          <p:nvPr/>
        </p:nvGrpSpPr>
        <p:grpSpPr>
          <a:xfrm>
            <a:off x="200772" y="3009680"/>
            <a:ext cx="4171531" cy="3046988"/>
            <a:chOff x="74648" y="2879275"/>
            <a:chExt cx="4171531" cy="304698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8012DF5-E33C-41D0-8D72-0B218BFFF179}"/>
                </a:ext>
              </a:extLst>
            </p:cNvPr>
            <p:cNvSpPr/>
            <p:nvPr/>
          </p:nvSpPr>
          <p:spPr>
            <a:xfrm>
              <a:off x="74648" y="3248607"/>
              <a:ext cx="4171531" cy="2677656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for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</a:t>
              </a:r>
              <a:r>
                <a:rPr lang="en-US" sz="12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&lt; n;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++ )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{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scanf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2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"%d"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&amp;num);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j =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findInAry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(num,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countAry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k);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if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 j == -</a:t>
              </a:r>
              <a:r>
                <a:rPr lang="en-US" sz="12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1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)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{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   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countAry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[k].num = num;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   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countAry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[k].count = </a:t>
              </a:r>
              <a:r>
                <a:rPr lang="en-US" sz="12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1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    k ++;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}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else</a:t>
              </a:r>
              <a:endParaRPr lang="en-US" sz="12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   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countAry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[j].count ++;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}</a:t>
              </a:r>
            </a:p>
            <a:p>
              <a:endPara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  <a:p>
              <a:endPara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FAE899A-59B7-457F-83C5-2E30DC188FA1}"/>
                </a:ext>
              </a:extLst>
            </p:cNvPr>
            <p:cNvSpPr/>
            <p:nvPr/>
          </p:nvSpPr>
          <p:spPr>
            <a:xfrm>
              <a:off x="74648" y="2879275"/>
              <a:ext cx="877163" cy="369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zh-CN" altLang="en-US" b="1" dirty="0"/>
                <a:t>计数：</a:t>
              </a:r>
              <a:endParaRPr lang="en-US" b="1" dirty="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8153E93-53AD-47B6-B2B4-C6E2A757E2C5}"/>
              </a:ext>
            </a:extLst>
          </p:cNvPr>
          <p:cNvGrpSpPr/>
          <p:nvPr/>
        </p:nvGrpSpPr>
        <p:grpSpPr>
          <a:xfrm>
            <a:off x="5171090" y="308629"/>
            <a:ext cx="3798006" cy="2462212"/>
            <a:chOff x="5171090" y="308629"/>
            <a:chExt cx="3798006" cy="2462212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949A8EB-B5D5-44A4-860C-A7982A5344BA}"/>
                </a:ext>
              </a:extLst>
            </p:cNvPr>
            <p:cNvSpPr/>
            <p:nvPr/>
          </p:nvSpPr>
          <p:spPr>
            <a:xfrm>
              <a:off x="5171090" y="308629"/>
              <a:ext cx="337464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查找函数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findInAry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:</a:t>
              </a:r>
            </a:p>
            <a:p>
              <a:r>
                <a:rPr lang="zh-CN" alt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返回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num</a:t>
              </a:r>
              <a:r>
                <a:rPr lang="zh-CN" alt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在数组中的下标，没找到返回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-1</a:t>
              </a:r>
              <a:endParaRPr lang="en-US" sz="1400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AC4B8F6-3A09-49BB-A58C-41236CA7D267}"/>
                </a:ext>
              </a:extLst>
            </p:cNvPr>
            <p:cNvSpPr/>
            <p:nvPr/>
          </p:nvSpPr>
          <p:spPr>
            <a:xfrm>
              <a:off x="5171090" y="831849"/>
              <a:ext cx="3798006" cy="193899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findInAry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num, Item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arr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[],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k)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for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</a:t>
              </a:r>
              <a:r>
                <a:rPr lang="en-US" sz="12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&lt; k;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++)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{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if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(num ==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arr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].num)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   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}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-</a:t>
              </a:r>
              <a:r>
                <a:rPr lang="en-US" sz="12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1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4491B54-311E-46A0-8E62-CAE50546C8DB}"/>
              </a:ext>
            </a:extLst>
          </p:cNvPr>
          <p:cNvGrpSpPr/>
          <p:nvPr/>
        </p:nvGrpSpPr>
        <p:grpSpPr>
          <a:xfrm>
            <a:off x="4693944" y="3009680"/>
            <a:ext cx="4171531" cy="3046988"/>
            <a:chOff x="74648" y="2879275"/>
            <a:chExt cx="4171531" cy="3046988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E74A03A-6DB3-4CAD-9355-28785906D2AC}"/>
                </a:ext>
              </a:extLst>
            </p:cNvPr>
            <p:cNvSpPr/>
            <p:nvPr/>
          </p:nvSpPr>
          <p:spPr>
            <a:xfrm>
              <a:off x="74648" y="3248607"/>
              <a:ext cx="4171531" cy="2677656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bubbleSort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(Item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arr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[],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n)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j;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Item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tmp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for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</a:t>
              </a:r>
              <a:r>
                <a:rPr lang="en-US" sz="12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&lt; n - </a:t>
              </a:r>
              <a:r>
                <a:rPr lang="en-US" sz="12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1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++)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for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(j = </a:t>
              </a:r>
              <a:r>
                <a:rPr lang="en-US" sz="12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j &lt; n - </a:t>
              </a:r>
              <a:r>
                <a:rPr lang="en-US" sz="12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1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-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j++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   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if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arr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[j].num &gt;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arr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[j + </a:t>
              </a:r>
              <a:r>
                <a:rPr lang="en-US" sz="12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1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].num)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    {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       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tmp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arr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[j + </a:t>
              </a:r>
              <a:r>
                <a:rPr lang="en-US" sz="12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1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       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arr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[j + </a:t>
              </a:r>
              <a:r>
                <a:rPr lang="en-US" sz="12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1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 =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arr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[j];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       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arr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[j] = </a:t>
              </a:r>
              <a:r>
                <a:rPr lang="en-US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tmp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    }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376DE47-28F7-40A5-8EEC-31C3BE8CA6CC}"/>
                </a:ext>
              </a:extLst>
            </p:cNvPr>
            <p:cNvSpPr/>
            <p:nvPr/>
          </p:nvSpPr>
          <p:spPr>
            <a:xfrm>
              <a:off x="74648" y="2879275"/>
              <a:ext cx="2101216" cy="369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zh-CN" altLang="en-US" b="1" dirty="0"/>
                <a:t>结构体数组排序：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6776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6420FA-36D4-4CF3-94F8-7DDCE756E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思路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EE3BC8-ECA5-478D-812B-D5D071479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输入：一维数组</a:t>
            </a:r>
            <a:r>
              <a:rPr lang="en-US" altLang="zh-CN" dirty="0" err="1"/>
              <a:t>arr</a:t>
            </a:r>
            <a:r>
              <a:rPr lang="zh-CN" altLang="en-US" dirty="0"/>
              <a:t>保存输入的</a:t>
            </a:r>
            <a:r>
              <a:rPr lang="en-US" altLang="zh-CN" dirty="0"/>
              <a:t>n</a:t>
            </a:r>
            <a:r>
              <a:rPr lang="zh-CN" altLang="en-US" dirty="0"/>
              <a:t>个数据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如何得到</a:t>
            </a:r>
            <a:r>
              <a:rPr lang="en-US" altLang="zh-CN" dirty="0" err="1">
                <a:solidFill>
                  <a:srgbClr val="C00000"/>
                </a:solidFill>
              </a:rPr>
              <a:t>arr</a:t>
            </a:r>
            <a:r>
              <a:rPr lang="zh-CN" altLang="en-US" dirty="0">
                <a:solidFill>
                  <a:srgbClr val="C00000"/>
                </a:solidFill>
              </a:rPr>
              <a:t>数组中每个元素出现的次数？如何保存结果？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不保存结果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zh-CN" altLang="en-US" dirty="0"/>
              <a:t>对</a:t>
            </a:r>
            <a:r>
              <a:rPr lang="en-US" altLang="zh-CN" dirty="0" err="1"/>
              <a:t>arr</a:t>
            </a:r>
            <a:r>
              <a:rPr lang="zh-CN" altLang="en-US" dirty="0"/>
              <a:t>排序</a:t>
            </a:r>
            <a:endParaRPr lang="en-US" altLang="zh-CN" dirty="0"/>
          </a:p>
          <a:p>
            <a:pPr lvl="1"/>
            <a:r>
              <a:rPr lang="zh-CN" altLang="en-US" dirty="0"/>
              <a:t>遍历排序后的数组，依次统计数字出现的次数，输出次数</a:t>
            </a:r>
            <a:r>
              <a:rPr lang="en-US" altLang="zh-CN" dirty="0"/>
              <a:t>&gt;1</a:t>
            </a:r>
            <a:r>
              <a:rPr lang="zh-CN" altLang="en-US" dirty="0"/>
              <a:t>的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13F757-2F56-4F4D-9699-A40B953D3BC3}"/>
              </a:ext>
            </a:extLst>
          </p:cNvPr>
          <p:cNvSpPr/>
          <p:nvPr/>
        </p:nvSpPr>
        <p:spPr>
          <a:xfrm>
            <a:off x="2600325" y="697159"/>
            <a:ext cx="197167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lvl="1"/>
            <a:r>
              <a:rPr lang="zh-CN" altLang="en-US" dirty="0">
                <a:solidFill>
                  <a:srgbClr val="0070C0"/>
                </a:solidFill>
              </a:rPr>
              <a:t>数组排序</a:t>
            </a:r>
            <a:endParaRPr lang="en-US" altLang="zh-CN" dirty="0">
              <a:solidFill>
                <a:srgbClr val="0070C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B58F6CD-E145-4400-8A0C-4E3F1E4E22B1}"/>
              </a:ext>
            </a:extLst>
          </p:cNvPr>
          <p:cNvSpPr/>
          <p:nvPr/>
        </p:nvSpPr>
        <p:spPr>
          <a:xfrm>
            <a:off x="310018" y="4070148"/>
            <a:ext cx="253306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输入样例：</a:t>
            </a:r>
            <a:endParaRPr lang="en-US" altLang="zh-CN" dirty="0"/>
          </a:p>
          <a:p>
            <a:r>
              <a:rPr lang="en-US" dirty="0"/>
              <a:t>10</a:t>
            </a:r>
          </a:p>
          <a:p>
            <a:r>
              <a:rPr lang="en-US" dirty="0"/>
              <a:t>36 30 68 38 2 0 1 2 30 68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EA0FD7-5BE6-480A-867B-FF32F277FDE3}"/>
              </a:ext>
            </a:extLst>
          </p:cNvPr>
          <p:cNvSpPr/>
          <p:nvPr/>
        </p:nvSpPr>
        <p:spPr>
          <a:xfrm>
            <a:off x="310018" y="5258637"/>
            <a:ext cx="3456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排序后：</a:t>
            </a:r>
            <a:r>
              <a:rPr lang="en-US" dirty="0"/>
              <a:t>0 1 2 2 30 30 36 38 68 68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9DE19B-A148-4C12-88C2-7BA2961502E0}"/>
              </a:ext>
            </a:extLst>
          </p:cNvPr>
          <p:cNvSpPr/>
          <p:nvPr/>
        </p:nvSpPr>
        <p:spPr>
          <a:xfrm>
            <a:off x="3888395" y="3636579"/>
            <a:ext cx="4866887" cy="307197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num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];  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 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 n;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++ )  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  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 num ==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&amp;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 n )  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++;  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)  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  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"%d:%d\n"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num,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);  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g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 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  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num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];  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 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  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(!g)  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"NO\n"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  </a:t>
            </a:r>
          </a:p>
        </p:txBody>
      </p:sp>
    </p:spTree>
    <p:extLst>
      <p:ext uri="{BB962C8B-B14F-4D97-AF65-F5344CB8AC3E}">
        <p14:creationId xmlns:p14="http://schemas.microsoft.com/office/powerpoint/2010/main" val="6059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E417F1-7D2F-4A23-8380-44268248F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思路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703893-2FE9-4C12-B075-5221A1B00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613" y="1320376"/>
            <a:ext cx="8280000" cy="4764163"/>
          </a:xfrm>
        </p:spPr>
        <p:txBody>
          <a:bodyPr/>
          <a:lstStyle/>
          <a:p>
            <a:r>
              <a:rPr lang="zh-CN" altLang="en-US" dirty="0"/>
              <a:t>输入：一维数组</a:t>
            </a:r>
            <a:r>
              <a:rPr lang="en-US" altLang="zh-CN" dirty="0" err="1"/>
              <a:t>arr</a:t>
            </a:r>
            <a:r>
              <a:rPr lang="zh-CN" altLang="en-US" dirty="0"/>
              <a:t>保存输入的</a:t>
            </a:r>
            <a:r>
              <a:rPr lang="en-US" altLang="zh-CN" dirty="0"/>
              <a:t>n</a:t>
            </a:r>
            <a:r>
              <a:rPr lang="zh-CN" altLang="en-US" dirty="0"/>
              <a:t>个数据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如何得到</a:t>
            </a:r>
            <a:r>
              <a:rPr lang="en-US" altLang="zh-CN" dirty="0" err="1">
                <a:solidFill>
                  <a:srgbClr val="C00000"/>
                </a:solidFill>
              </a:rPr>
              <a:t>arr</a:t>
            </a:r>
            <a:r>
              <a:rPr lang="zh-CN" altLang="en-US" dirty="0">
                <a:solidFill>
                  <a:srgbClr val="C00000"/>
                </a:solidFill>
              </a:rPr>
              <a:t>数组中每个元素出现的次数？如何保存结果？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题目中的信息：</a:t>
            </a:r>
            <a:r>
              <a:rPr lang="zh-CN" altLang="en-US" dirty="0">
                <a:solidFill>
                  <a:srgbClr val="0000FF"/>
                </a:solidFill>
              </a:rPr>
              <a:t>不超过短整型数值范围</a:t>
            </a:r>
            <a:r>
              <a:rPr lang="zh-CN" altLang="en-US" dirty="0"/>
              <a:t>的</a:t>
            </a:r>
            <a:r>
              <a:rPr lang="en-US" altLang="zh-CN" dirty="0"/>
              <a:t>n</a:t>
            </a:r>
            <a:r>
              <a:rPr lang="zh-CN" altLang="en-US" dirty="0"/>
              <a:t>个整数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借鉴：筛法求素数中数组用法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数组下标表示数字，数组元素表示下标对应的数字出现的次数（下标非负，</a:t>
            </a:r>
            <a:r>
              <a:rPr lang="zh-CN" altLang="en-US" dirty="0">
                <a:solidFill>
                  <a:srgbClr val="FF0000"/>
                </a:solidFill>
              </a:rPr>
              <a:t>数字映射到非负范围再做下标）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/>
              <a:t>输出：按照数字从小到大排序后输出</a:t>
            </a:r>
            <a:endParaRPr lang="en-US" altLang="zh-CN" dirty="0"/>
          </a:p>
          <a:p>
            <a:pPr lvl="1"/>
            <a:r>
              <a:rPr lang="zh-CN" altLang="en-US" dirty="0"/>
              <a:t>不输出出现次数为</a:t>
            </a:r>
            <a:r>
              <a:rPr lang="en-US" altLang="zh-CN" dirty="0"/>
              <a:t>1</a:t>
            </a:r>
            <a:r>
              <a:rPr lang="zh-CN" altLang="en-US" dirty="0"/>
              <a:t>的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B3F87B-E03A-4A99-9925-6459E5FF1EAF}"/>
              </a:ext>
            </a:extLst>
          </p:cNvPr>
          <p:cNvSpPr/>
          <p:nvPr/>
        </p:nvSpPr>
        <p:spPr>
          <a:xfrm>
            <a:off x="2600325" y="697159"/>
            <a:ext cx="409575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lvl="1"/>
            <a:r>
              <a:rPr lang="zh-CN" altLang="en-US" dirty="0">
                <a:solidFill>
                  <a:srgbClr val="0070C0"/>
                </a:solidFill>
              </a:rPr>
              <a:t>数组下标的妙用及其适用情况</a:t>
            </a:r>
            <a:endParaRPr lang="en-US" altLang="zh-CN" dirty="0">
              <a:solidFill>
                <a:srgbClr val="0070C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64361D-FACE-479C-86AC-CF846B621DB0}"/>
              </a:ext>
            </a:extLst>
          </p:cNvPr>
          <p:cNvSpPr/>
          <p:nvPr/>
        </p:nvSpPr>
        <p:spPr>
          <a:xfrm>
            <a:off x="3989196" y="4280597"/>
            <a:ext cx="4429590" cy="249299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 n;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++ ){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&amp;num);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countNum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[num +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]++;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MAXSIZE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countNum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&gt;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"%d:%d\n"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countNum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g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(!g)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"NO\n"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19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课程PPT模板" id="{351F00F9-9781-4493-A8BE-AE75F947CCD5}" vid="{D9AAA92C-2A04-455B-AC88-7D4E4CA3D872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33272</TotalTime>
  <Words>2906</Words>
  <Application>Microsoft Office PowerPoint</Application>
  <PresentationFormat>全屏显示(4:3)</PresentationFormat>
  <Paragraphs>265</Paragraphs>
  <Slides>27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Open Sans</vt:lpstr>
      <vt:lpstr>等线</vt:lpstr>
      <vt:lpstr>华文楷体</vt:lpstr>
      <vt:lpstr>微软雅黑</vt:lpstr>
      <vt:lpstr>微软雅黑 Light</vt:lpstr>
      <vt:lpstr>Arial</vt:lpstr>
      <vt:lpstr>Calibri</vt:lpstr>
      <vt:lpstr>Calibri Light</vt:lpstr>
      <vt:lpstr>Consolas</vt:lpstr>
      <vt:lpstr>Wingdings</vt:lpstr>
      <vt:lpstr>课程PPT模板</vt:lpstr>
      <vt:lpstr>习题课01</vt:lpstr>
      <vt:lpstr>上机作业选讲</vt:lpstr>
      <vt:lpstr>习题讨论1-刷题高手</vt:lpstr>
      <vt:lpstr>题目分析</vt:lpstr>
      <vt:lpstr>如何存储数据？</vt:lpstr>
      <vt:lpstr>关键点1：计数</vt:lpstr>
      <vt:lpstr>关键点2：排序</vt:lpstr>
      <vt:lpstr>关键点3：确定名次</vt:lpstr>
      <vt:lpstr>参考代码：</vt:lpstr>
      <vt:lpstr>习题讨论2-字符串编辑</vt:lpstr>
      <vt:lpstr>题目分析</vt:lpstr>
      <vt:lpstr>参考代码</vt:lpstr>
      <vt:lpstr>函数实现举例</vt:lpstr>
      <vt:lpstr>习题讨论3-猜数字</vt:lpstr>
      <vt:lpstr>题目分析</vt:lpstr>
      <vt:lpstr>数据存储</vt:lpstr>
      <vt:lpstr>核心代码：</vt:lpstr>
      <vt:lpstr>细节实现1</vt:lpstr>
      <vt:lpstr>细节实现2</vt:lpstr>
      <vt:lpstr>知识点总结</vt:lpstr>
      <vt:lpstr>参考代码</vt:lpstr>
      <vt:lpstr>484.重复元素</vt:lpstr>
      <vt:lpstr>题目分析</vt:lpstr>
      <vt:lpstr>思路1：</vt:lpstr>
      <vt:lpstr>思路1核心代码</vt:lpstr>
      <vt:lpstr>思路2：</vt:lpstr>
      <vt:lpstr>思路3：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Hui Sun</cp:lastModifiedBy>
  <cp:revision>1086</cp:revision>
  <dcterms:created xsi:type="dcterms:W3CDTF">2020-10-14T02:47:39Z</dcterms:created>
  <dcterms:modified xsi:type="dcterms:W3CDTF">2025-11-04T02:08:55Z</dcterms:modified>
</cp:coreProperties>
</file>