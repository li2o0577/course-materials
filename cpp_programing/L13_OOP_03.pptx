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64"/>
  </p:notesMasterIdLst>
  <p:handoutMasterIdLst>
    <p:handoutMasterId r:id="rId65"/>
  </p:handoutMasterIdLst>
  <p:sldIdLst>
    <p:sldId id="1092" r:id="rId2"/>
    <p:sldId id="863" r:id="rId3"/>
    <p:sldId id="568" r:id="rId4"/>
    <p:sldId id="571" r:id="rId5"/>
    <p:sldId id="572" r:id="rId6"/>
    <p:sldId id="619" r:id="rId7"/>
    <p:sldId id="620" r:id="rId8"/>
    <p:sldId id="621" r:id="rId9"/>
    <p:sldId id="1113" r:id="rId10"/>
    <p:sldId id="1114" r:id="rId11"/>
    <p:sldId id="1115" r:id="rId12"/>
    <p:sldId id="1116" r:id="rId13"/>
    <p:sldId id="1117" r:id="rId14"/>
    <p:sldId id="964" r:id="rId15"/>
    <p:sldId id="1118" r:id="rId16"/>
    <p:sldId id="1119" r:id="rId17"/>
    <p:sldId id="967" r:id="rId18"/>
    <p:sldId id="968" r:id="rId19"/>
    <p:sldId id="1120" r:id="rId20"/>
    <p:sldId id="660" r:id="rId21"/>
    <p:sldId id="665" r:id="rId22"/>
    <p:sldId id="781" r:id="rId23"/>
    <p:sldId id="666" r:id="rId24"/>
    <p:sldId id="743" r:id="rId25"/>
    <p:sldId id="821" r:id="rId26"/>
    <p:sldId id="971" r:id="rId27"/>
    <p:sldId id="667" r:id="rId28"/>
    <p:sldId id="668" r:id="rId29"/>
    <p:sldId id="786" r:id="rId30"/>
    <p:sldId id="672" r:id="rId31"/>
    <p:sldId id="798" r:id="rId32"/>
    <p:sldId id="675" r:id="rId33"/>
    <p:sldId id="676" r:id="rId34"/>
    <p:sldId id="677" r:id="rId35"/>
    <p:sldId id="800" r:id="rId36"/>
    <p:sldId id="679" r:id="rId37"/>
    <p:sldId id="680" r:id="rId38"/>
    <p:sldId id="681" r:id="rId39"/>
    <p:sldId id="804" r:id="rId40"/>
    <p:sldId id="687" r:id="rId41"/>
    <p:sldId id="688" r:id="rId42"/>
    <p:sldId id="689" r:id="rId43"/>
    <p:sldId id="691" r:id="rId44"/>
    <p:sldId id="692" r:id="rId45"/>
    <p:sldId id="780" r:id="rId46"/>
    <p:sldId id="784" r:id="rId47"/>
    <p:sldId id="785" r:id="rId48"/>
    <p:sldId id="816" r:id="rId49"/>
    <p:sldId id="787" r:id="rId50"/>
    <p:sldId id="817" r:id="rId51"/>
    <p:sldId id="789" r:id="rId52"/>
    <p:sldId id="972" r:id="rId53"/>
    <p:sldId id="912" r:id="rId54"/>
    <p:sldId id="913" r:id="rId55"/>
    <p:sldId id="914" r:id="rId56"/>
    <p:sldId id="915" r:id="rId57"/>
    <p:sldId id="916" r:id="rId58"/>
    <p:sldId id="918" r:id="rId59"/>
    <p:sldId id="598" r:id="rId60"/>
    <p:sldId id="600" r:id="rId61"/>
    <p:sldId id="601" r:id="rId62"/>
    <p:sldId id="602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700E"/>
    <a:srgbClr val="0000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0" autoAdjust="0"/>
    <p:restoredTop sz="91699" autoAdjust="0"/>
  </p:normalViewPr>
  <p:slideViewPr>
    <p:cSldViewPr snapToGrid="0">
      <p:cViewPr varScale="1">
        <p:scale>
          <a:sx n="98" d="100"/>
          <a:sy n="98" d="100"/>
        </p:scale>
        <p:origin x="213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32C656-B4F5-496D-8363-88252277A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DD45AE-3D94-4FB0-AA1E-B100A0A7EC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71C8D-3D58-472B-A2FE-61A2020D09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A5F050-4848-4F76-95CF-FC4B8004A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2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918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幻灯片图像占位符 1">
            <a:extLst>
              <a:ext uri="{FF2B5EF4-FFF2-40B4-BE49-F238E27FC236}">
                <a16:creationId xmlns:a16="http://schemas.microsoft.com/office/drawing/2014/main" id="{696DBED5-F225-4AAF-96EA-F85CB5649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6" name="备注占位符 2">
            <a:extLst>
              <a:ext uri="{FF2B5EF4-FFF2-40B4-BE49-F238E27FC236}">
                <a16:creationId xmlns:a16="http://schemas.microsoft.com/office/drawing/2014/main" id="{A38E5883-BACB-4455-B6F6-8160E0665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kumimoji="1" lang="zh-CN" altLang="en-US">
              <a:latin typeface="Times New Roman" panose="02020603050405020304" pitchFamily="18" charset="0"/>
            </a:endParaRPr>
          </a:p>
        </p:txBody>
      </p:sp>
      <p:sp>
        <p:nvSpPr>
          <p:cNvPr id="144387" name="灯片编号占位符 3">
            <a:extLst>
              <a:ext uri="{FF2B5EF4-FFF2-40B4-BE49-F238E27FC236}">
                <a16:creationId xmlns:a16="http://schemas.microsoft.com/office/drawing/2014/main" id="{B02D1E44-46BD-4C78-9D1A-40E073CB62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Ctr="0" compatLnSpc="1">
            <a:prstTxWarp prst="textNoShape">
              <a:avLst/>
            </a:prstTxWarp>
          </a:bodyPr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2861DC06-FC05-49A3-AD62-91AF8D59DE70}" type="slidenum">
              <a:rPr altLang="zh-CN" sz="1300" smtClean="0"/>
              <a:pPr/>
              <a:t>3</a:t>
            </a:fld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4271527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所有的成员，在内存应该有了，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7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445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#include &lt;iostream&gt;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#include &lt;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cmath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&gt;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class A {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public: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A(int s) {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size = s;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A(const A &amp;a0):size(a0.size) {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private: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 size;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class Point {// Point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类定义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public: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Point(int xx, 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yy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 {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 = xx;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yy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Point(const Point &amp;p);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getX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() {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return x;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getY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() {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return y;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private: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 x, y;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Point::Point(const Point &amp;p)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复制构造函数的实现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p.x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p.y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调用 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 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类的复制构造函数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&lt;&lt;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类的组合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class Line { //Line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类的定义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public: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Line(Point &amp;xp1, Point &amp;xp2);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Line(const Line &amp;l);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double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getLen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() {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return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len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private: 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私有数据成员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 p1, p2;//Point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类的对象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p1, p2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double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len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组合类的构造函数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Line::Line(Point &amp;xp1, Point &amp;xp2):p1(xp1), p2(xp2)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{//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注意成员初始化列表的用法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调用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 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类的构造函数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&lt;&lt;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static_cast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相当于传统的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语言里的强制转换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double x =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static_cast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&lt;double&gt;(p1.getX() - p2.getX());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double y =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static_cast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&lt;double&gt;(p1.getY() - p2.getY());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s-E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len = </a:t>
            </a:r>
            <a:r>
              <a:rPr lang="es-E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sqrt(x * x + y * y);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Line::Line(const Line &amp;l):p1(l.p1), p2(l.p2)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{//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组合类的复制构造函数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调用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 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类的复制构造函数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&lt;&lt;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len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l.len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主函数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 main()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{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 myp1(1, 1), myp2(4, 5);//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建立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Point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类的对象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 line1(myp1, myp2);//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建立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类的对象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Line line2(line1);//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利用复制构造函数建立一个新对象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"The length of the line1 is: ";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line1.getLen() &lt;&lt; 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"The length of the line2 is: ";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line2.getLen() &lt;&lt; 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return 0;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8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8435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c++</a:t>
            </a:r>
            <a:r>
              <a:rPr lang="zh-CN" altLang="en-US" dirty="0"/>
              <a:t>函数传参正常情况是从右往左压栈。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9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962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幻灯片图像占位符 1">
            <a:extLst>
              <a:ext uri="{FF2B5EF4-FFF2-40B4-BE49-F238E27FC236}">
                <a16:creationId xmlns:a16="http://schemas.microsoft.com/office/drawing/2014/main" id="{29B1F7D2-F962-4AB2-9B03-00C065457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0" name="备注占位符 2">
            <a:extLst>
              <a:ext uri="{FF2B5EF4-FFF2-40B4-BE49-F238E27FC236}">
                <a16:creationId xmlns:a16="http://schemas.microsoft.com/office/drawing/2014/main" id="{0B551F43-BE3F-4D04-AC22-0EA0F08E0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kumimoji="1" lang="zh-CN" altLang="en-US" dirty="0">
                <a:latin typeface="Times New Roman" panose="02020603050405020304" pitchFamily="18" charset="0"/>
              </a:rPr>
              <a:t>没有此类型的构造函数。默认的复制构造函数是需要</a:t>
            </a:r>
            <a:r>
              <a:rPr kumimoji="1" lang="en-US" altLang="zh-CN" dirty="0">
                <a:latin typeface="Times New Roman" panose="02020603050405020304" pitchFamily="18" charset="0"/>
              </a:rPr>
              <a:t>Point</a:t>
            </a:r>
            <a:r>
              <a:rPr kumimoji="1" lang="zh-CN" altLang="en-US" dirty="0"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</a:rPr>
              <a:t>p1(xp1)</a:t>
            </a:r>
            <a:r>
              <a:rPr kumimoji="1" lang="zh-CN" altLang="en-US" dirty="0">
                <a:latin typeface="Times New Roman" panose="02020603050405020304" pitchFamily="18" charset="0"/>
              </a:rPr>
              <a:t>的方式初始化的。 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</a:rPr>
              <a:t>所以尝试的构造函数是错误的。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5411" name="灯片编号占位符 3">
            <a:extLst>
              <a:ext uri="{FF2B5EF4-FFF2-40B4-BE49-F238E27FC236}">
                <a16:creationId xmlns:a16="http://schemas.microsoft.com/office/drawing/2014/main" id="{EC48BC10-657A-4ECE-9EF9-2F150DFDE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Ctr="0" compatLnSpc="1">
            <a:prstTxWarp prst="textNoShape">
              <a:avLst/>
            </a:prstTxWarp>
          </a:bodyPr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7B295A7-7FF3-4358-9BF5-E5A67C3930FB}" type="slidenum">
              <a:rPr altLang="zh-CN" sz="1300" smtClean="0"/>
              <a:pPr/>
              <a:t>10</a:t>
            </a:fld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4121918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11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9218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//Point</a:t>
            </a:r>
            <a:r>
              <a:rPr lang="zh-CN" altLang="en-US" dirty="0"/>
              <a:t>类定义</a:t>
            </a:r>
          </a:p>
          <a:p>
            <a:r>
              <a:rPr lang="en-US" altLang="zh-CN" dirty="0"/>
              <a:t>class Point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	Point(int x = 0, int y = 0)</a:t>
            </a:r>
          </a:p>
          <a:p>
            <a:r>
              <a:rPr lang="en-US" altLang="zh-CN" dirty="0"/>
              <a:t>		:x(x), y(y)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构造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//</a:t>
            </a:r>
            <a:r>
              <a:rPr lang="zh-CN" altLang="en-US" dirty="0"/>
              <a:t>复制构造函数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Point(const Point &amp;p)</a:t>
            </a:r>
          </a:p>
          <a:p>
            <a:r>
              <a:rPr lang="en-US" altLang="zh-CN" dirty="0"/>
              <a:t>		:x(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void </a:t>
            </a:r>
            <a:r>
              <a:rPr lang="en-US" altLang="zh-CN" dirty="0" err="1"/>
              <a:t>setX</a:t>
            </a:r>
            <a:r>
              <a:rPr lang="en-US" altLang="zh-CN" dirty="0"/>
              <a:t>(int x){ this-&gt;x = x;}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void </a:t>
            </a:r>
            <a:r>
              <a:rPr lang="en-US" altLang="zh-CN" dirty="0" err="1"/>
              <a:t>setY</a:t>
            </a:r>
            <a:r>
              <a:rPr lang="en-US" altLang="zh-CN" dirty="0"/>
              <a:t>(int y){ this-&gt;y = y;}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(){ return y; }</a:t>
            </a:r>
          </a:p>
          <a:p>
            <a:endParaRPr lang="en-US" altLang="zh-CN" dirty="0"/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	int x;</a:t>
            </a:r>
          </a:p>
          <a:p>
            <a:r>
              <a:rPr lang="en-US" altLang="zh-CN" dirty="0"/>
              <a:t>	int y;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类的组合</a:t>
            </a:r>
          </a:p>
          <a:p>
            <a:r>
              <a:rPr lang="en-US" altLang="zh-CN" dirty="0"/>
              <a:t>class Line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	Line(const Point &amp;xp1, const Point &amp;xp2);</a:t>
            </a:r>
          </a:p>
          <a:p>
            <a:r>
              <a:rPr lang="en-US" altLang="zh-CN" dirty="0"/>
              <a:t>	Line(const Line &amp;l);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getLength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return length;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Point &amp;start();</a:t>
            </a:r>
          </a:p>
          <a:p>
            <a:r>
              <a:rPr lang="en-US" altLang="zh-CN" dirty="0"/>
              <a:t>	Point center();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	Point p1;</a:t>
            </a:r>
          </a:p>
          <a:p>
            <a:r>
              <a:rPr lang="en-US" altLang="zh-CN" dirty="0"/>
              <a:t>	Point p2;</a:t>
            </a:r>
          </a:p>
          <a:p>
            <a:r>
              <a:rPr lang="en-US" altLang="zh-CN" dirty="0"/>
              <a:t>	double length;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//Line</a:t>
            </a:r>
            <a:r>
              <a:rPr lang="zh-CN" altLang="en-US" dirty="0"/>
              <a:t>类的构造函数</a:t>
            </a:r>
          </a:p>
          <a:p>
            <a:r>
              <a:rPr lang="en-US" altLang="zh-CN" dirty="0"/>
              <a:t>Line::Line(const Point &amp;xp1, const Point &amp;xp2)</a:t>
            </a:r>
          </a:p>
          <a:p>
            <a:r>
              <a:rPr lang="en-US" altLang="zh-CN" dirty="0"/>
              <a:t>	:p1(xp1), p2(xp2)</a:t>
            </a:r>
          </a:p>
          <a:p>
            <a:r>
              <a:rPr lang="en-US" altLang="zh-CN" dirty="0"/>
              <a:t>{</a:t>
            </a:r>
          </a:p>
          <a:p>
            <a:endParaRPr lang="en-US" altLang="zh-CN" dirty="0"/>
          </a:p>
          <a:p>
            <a:r>
              <a:rPr lang="en-US" altLang="zh-CN" dirty="0"/>
              <a:t>	double dx = p1.getX() - p2.getX();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dy</a:t>
            </a:r>
            <a:r>
              <a:rPr lang="en-US" altLang="zh-CN" dirty="0"/>
              <a:t> = p1.getY() - p2.getY();</a:t>
            </a:r>
          </a:p>
          <a:p>
            <a:r>
              <a:rPr lang="en-US" altLang="zh-CN" dirty="0"/>
              <a:t>	length = sqrt(dx * dx + </a:t>
            </a:r>
            <a:r>
              <a:rPr lang="en-US" altLang="zh-CN" dirty="0" err="1"/>
              <a:t>dy</a:t>
            </a:r>
            <a:r>
              <a:rPr lang="en-US" altLang="zh-CN" dirty="0"/>
              <a:t> * </a:t>
            </a:r>
            <a:r>
              <a:rPr lang="en-US" altLang="zh-CN" dirty="0" err="1"/>
              <a:t>dy</a:t>
            </a:r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创建新的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//Line</a:t>
            </a:r>
            <a:r>
              <a:rPr lang="zh-CN" altLang="en-US" dirty="0"/>
              <a:t>类的复制构造</a:t>
            </a:r>
          </a:p>
          <a:p>
            <a:r>
              <a:rPr lang="en-US" altLang="zh-CN" dirty="0"/>
              <a:t>Line::Line(const Line &amp;l)</a:t>
            </a:r>
          </a:p>
          <a:p>
            <a:r>
              <a:rPr lang="en-US" altLang="zh-CN" dirty="0"/>
              <a:t>	:p1(l.p1), p2(l.p2), length(</a:t>
            </a:r>
            <a:r>
              <a:rPr lang="en-US" altLang="zh-CN" dirty="0" err="1"/>
              <a:t>l.length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复制已有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Point Line::center()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Point </a:t>
            </a:r>
            <a:r>
              <a:rPr lang="en-US" altLang="zh-CN" dirty="0" err="1"/>
              <a:t>ct</a:t>
            </a:r>
            <a:r>
              <a:rPr lang="en-US" altLang="zh-CN" dirty="0"/>
              <a:t>(0,0);</a:t>
            </a:r>
          </a:p>
          <a:p>
            <a:endParaRPr lang="en-US" altLang="zh-CN" dirty="0"/>
          </a:p>
          <a:p>
            <a:r>
              <a:rPr lang="en-US" altLang="zh-CN" dirty="0"/>
              <a:t>	return </a:t>
            </a:r>
            <a:r>
              <a:rPr lang="en-US" altLang="zh-CN" dirty="0" err="1"/>
              <a:t>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Point &amp;Line::start()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return p1; //</a:t>
            </a:r>
            <a:r>
              <a:rPr lang="zh-CN" altLang="en-US" dirty="0"/>
              <a:t>返回对成员</a:t>
            </a:r>
            <a:r>
              <a:rPr lang="en-US" altLang="zh-CN" dirty="0"/>
              <a:t>p1</a:t>
            </a:r>
            <a:r>
              <a:rPr lang="zh-CN" altLang="en-US" dirty="0"/>
              <a:t>的引用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主函数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Point myp1(10, 20), myp2(4, 5); //</a:t>
            </a:r>
            <a:r>
              <a:rPr lang="zh-CN" altLang="en-US" dirty="0"/>
              <a:t>建立</a:t>
            </a:r>
            <a:r>
              <a:rPr lang="en-US" altLang="zh-CN" dirty="0"/>
              <a:t>Point</a:t>
            </a:r>
            <a:r>
              <a:rPr lang="zh-CN" altLang="en-US" dirty="0"/>
              <a:t>类的对象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Line line1(myp1, myp2);  	       //</a:t>
            </a:r>
            <a:r>
              <a:rPr lang="zh-CN" altLang="en-US" dirty="0"/>
              <a:t>建立</a:t>
            </a:r>
            <a:r>
              <a:rPr lang="en-US" altLang="zh-CN" dirty="0"/>
              <a:t>Line</a:t>
            </a:r>
            <a:r>
              <a:rPr lang="zh-CN" altLang="en-US" dirty="0"/>
              <a:t>类的对象</a:t>
            </a:r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p = line1.start();        // ???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p.setX</a:t>
            </a:r>
            <a:r>
              <a:rPr lang="en-US" altLang="zh-CN" dirty="0"/>
              <a:t>(11);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line1.start().</a:t>
            </a:r>
            <a:r>
              <a:rPr lang="en-US" altLang="zh-CN" dirty="0" err="1"/>
              <a:t>getX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15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031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16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0438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17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7163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//Point</a:t>
            </a:r>
            <a:r>
              <a:rPr lang="zh-CN" altLang="en-US" dirty="0"/>
              <a:t>类定义</a:t>
            </a:r>
          </a:p>
          <a:p>
            <a:r>
              <a:rPr lang="en-US" altLang="zh-CN" dirty="0"/>
              <a:t>class Point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	Point(int x = 0, int y = 0)</a:t>
            </a:r>
          </a:p>
          <a:p>
            <a:r>
              <a:rPr lang="en-US" altLang="zh-CN" dirty="0"/>
              <a:t>		:x(x), y(y)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构造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//</a:t>
            </a:r>
            <a:r>
              <a:rPr lang="zh-CN" altLang="en-US" dirty="0"/>
              <a:t>复制构造函数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Point(const Point &amp;p)</a:t>
            </a:r>
          </a:p>
          <a:p>
            <a:r>
              <a:rPr lang="en-US" altLang="zh-CN" dirty="0"/>
              <a:t>		:x(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void </a:t>
            </a:r>
            <a:r>
              <a:rPr lang="en-US" altLang="zh-CN" dirty="0" err="1"/>
              <a:t>setX</a:t>
            </a:r>
            <a:r>
              <a:rPr lang="en-US" altLang="zh-CN" dirty="0"/>
              <a:t>(int x){ this-&gt;x = x;}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void </a:t>
            </a:r>
            <a:r>
              <a:rPr lang="en-US" altLang="zh-CN" dirty="0" err="1"/>
              <a:t>setY</a:t>
            </a:r>
            <a:r>
              <a:rPr lang="en-US" altLang="zh-CN" dirty="0"/>
              <a:t>(int y){ this-&gt;y = y;}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(){ return y; }</a:t>
            </a:r>
          </a:p>
          <a:p>
            <a:endParaRPr lang="en-US" altLang="zh-CN" dirty="0"/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	int x;</a:t>
            </a:r>
          </a:p>
          <a:p>
            <a:r>
              <a:rPr lang="en-US" altLang="zh-CN" dirty="0"/>
              <a:t>	int y;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类的组合</a:t>
            </a:r>
          </a:p>
          <a:p>
            <a:r>
              <a:rPr lang="en-US" altLang="zh-CN" dirty="0"/>
              <a:t>class Line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	Line(const Point &amp;xp1, const Point &amp;xp2);</a:t>
            </a:r>
          </a:p>
          <a:p>
            <a:r>
              <a:rPr lang="en-US" altLang="zh-CN" dirty="0"/>
              <a:t>	Line(const Line &amp;l);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getLength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return length;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Point start(); //</a:t>
            </a:r>
          </a:p>
          <a:p>
            <a:r>
              <a:rPr lang="en-US" altLang="zh-CN" dirty="0"/>
              <a:t>	Point center();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	Point p1;</a:t>
            </a:r>
          </a:p>
          <a:p>
            <a:r>
              <a:rPr lang="en-US" altLang="zh-CN" dirty="0"/>
              <a:t>	Point p2;</a:t>
            </a:r>
          </a:p>
          <a:p>
            <a:r>
              <a:rPr lang="en-US" altLang="zh-CN" dirty="0"/>
              <a:t>	double length;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//Line</a:t>
            </a:r>
            <a:r>
              <a:rPr lang="zh-CN" altLang="en-US" dirty="0"/>
              <a:t>类的构造函数</a:t>
            </a:r>
          </a:p>
          <a:p>
            <a:r>
              <a:rPr lang="en-US" altLang="zh-CN" dirty="0"/>
              <a:t>Line::Line(const Point &amp;xp1, const Point &amp;xp2)</a:t>
            </a:r>
          </a:p>
          <a:p>
            <a:r>
              <a:rPr lang="en-US" altLang="zh-CN" dirty="0"/>
              <a:t>	:p1(xp1), p2(xp2)</a:t>
            </a:r>
          </a:p>
          <a:p>
            <a:r>
              <a:rPr lang="en-US" altLang="zh-CN" dirty="0"/>
              <a:t>{</a:t>
            </a:r>
          </a:p>
          <a:p>
            <a:endParaRPr lang="en-US" altLang="zh-CN" dirty="0"/>
          </a:p>
          <a:p>
            <a:r>
              <a:rPr lang="en-US" altLang="zh-CN" dirty="0"/>
              <a:t>	double dx = p1.getX() - p2.getX();</a:t>
            </a:r>
          </a:p>
          <a:p>
            <a:r>
              <a:rPr lang="en-US" altLang="zh-CN" dirty="0"/>
              <a:t>	double </a:t>
            </a:r>
            <a:r>
              <a:rPr lang="en-US" altLang="zh-CN" dirty="0" err="1"/>
              <a:t>dy</a:t>
            </a:r>
            <a:r>
              <a:rPr lang="en-US" altLang="zh-CN" dirty="0"/>
              <a:t> = p1.getY() - p2.getY();</a:t>
            </a:r>
          </a:p>
          <a:p>
            <a:r>
              <a:rPr lang="en-US" altLang="zh-CN" dirty="0"/>
              <a:t>	length = sqrt(dx * dx + </a:t>
            </a:r>
            <a:r>
              <a:rPr lang="en-US" altLang="zh-CN" dirty="0" err="1"/>
              <a:t>dy</a:t>
            </a:r>
            <a:r>
              <a:rPr lang="en-US" altLang="zh-CN" dirty="0"/>
              <a:t> * </a:t>
            </a:r>
            <a:r>
              <a:rPr lang="en-US" altLang="zh-CN" dirty="0" err="1"/>
              <a:t>dy</a:t>
            </a:r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创建新的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//Line</a:t>
            </a:r>
            <a:r>
              <a:rPr lang="zh-CN" altLang="en-US" dirty="0"/>
              <a:t>类的复制构造</a:t>
            </a:r>
          </a:p>
          <a:p>
            <a:r>
              <a:rPr lang="en-US" altLang="zh-CN" dirty="0"/>
              <a:t>Line::Line(const Line &amp;l)</a:t>
            </a:r>
          </a:p>
          <a:p>
            <a:r>
              <a:rPr lang="en-US" altLang="zh-CN" dirty="0"/>
              <a:t>	:p1(l.p1), p2(l.p2), length(</a:t>
            </a:r>
            <a:r>
              <a:rPr lang="en-US" altLang="zh-CN" dirty="0" err="1"/>
              <a:t>l.length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复制已有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Point Line::start()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return p1;   //</a:t>
            </a:r>
            <a:r>
              <a:rPr lang="zh-CN" altLang="en-US" dirty="0"/>
              <a:t>返回对成员</a:t>
            </a:r>
            <a:r>
              <a:rPr lang="en-US" altLang="zh-CN" dirty="0"/>
              <a:t>p1: </a:t>
            </a:r>
            <a:r>
              <a:rPr lang="zh-CN" altLang="en-US" dirty="0"/>
              <a:t>实质是把</a:t>
            </a:r>
            <a:r>
              <a:rPr lang="en-US" altLang="zh-CN" dirty="0"/>
              <a:t>p1</a:t>
            </a:r>
            <a:r>
              <a:rPr lang="zh-CN" altLang="en-US" dirty="0"/>
              <a:t>复制给临时对象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Point Line::center()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cx = p1.getX() + p2.getX();</a:t>
            </a:r>
          </a:p>
          <a:p>
            <a:r>
              <a:rPr lang="en-US" altLang="zh-CN" dirty="0"/>
              <a:t>	int cy = p1.getY() + p2.getY();</a:t>
            </a:r>
          </a:p>
          <a:p>
            <a:endParaRPr lang="en-US" altLang="zh-CN" dirty="0"/>
          </a:p>
          <a:p>
            <a:r>
              <a:rPr lang="en-US" altLang="zh-CN" dirty="0"/>
              <a:t>	Point </a:t>
            </a:r>
            <a:r>
              <a:rPr lang="en-US" altLang="zh-CN" dirty="0" err="1"/>
              <a:t>ct</a:t>
            </a:r>
            <a:r>
              <a:rPr lang="en-US" altLang="zh-CN" dirty="0"/>
              <a:t>(cx/2, cy/2);</a:t>
            </a:r>
          </a:p>
          <a:p>
            <a:r>
              <a:rPr lang="en-US" altLang="zh-CN" dirty="0"/>
              <a:t>	return </a:t>
            </a:r>
            <a:r>
              <a:rPr lang="en-US" altLang="zh-CN" dirty="0" err="1"/>
              <a:t>ct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	//return Point(cx/2, cy/2);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主函数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Point myp1(10, 20), myp2(4, 5); //</a:t>
            </a:r>
            <a:r>
              <a:rPr lang="zh-CN" altLang="en-US" dirty="0"/>
              <a:t>创建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Line line1(myp1, myp2);  //</a:t>
            </a:r>
            <a:r>
              <a:rPr lang="zh-CN" altLang="en-US" dirty="0"/>
              <a:t>创建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, </a:t>
            </a:r>
            <a:r>
              <a:rPr lang="zh-CN" altLang="en-US" dirty="0"/>
              <a:t>复制两次</a:t>
            </a:r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p = line1.center();  // </a:t>
            </a:r>
            <a:r>
              <a:rPr lang="zh-CN" altLang="en-US" dirty="0"/>
              <a:t>不能定义引用</a:t>
            </a:r>
          </a:p>
          <a:p>
            <a:r>
              <a:rPr lang="zh-CN" altLang="en-US" dirty="0"/>
              <a:t>	</a:t>
            </a:r>
            <a:r>
              <a:rPr lang="en-US" altLang="zh-CN" dirty="0" err="1"/>
              <a:t>p.setX</a:t>
            </a:r>
            <a:r>
              <a:rPr lang="en-US" altLang="zh-CN" dirty="0"/>
              <a:t>(11);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line1.center().</a:t>
            </a:r>
            <a:r>
              <a:rPr lang="en-US" altLang="zh-CN" dirty="0" err="1"/>
              <a:t>getX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18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5674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0825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继承注重保持，派生注重新增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443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177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类间关系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245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480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068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几乎不用，只是为了技术上的完整。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733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为了保护基类的数据，进一步处理为</a:t>
            </a:r>
            <a:r>
              <a:rPr kumimoji="1" lang="en-US" altLang="zh-CN" dirty="0"/>
              <a:t>protected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3354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6F83741-6970-400C-86BF-2656954E03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7B9EE7-761C-4E50-9574-516E8779CF97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8F159F73-4953-4CC4-BA21-B50A6D92F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4932" name="Rectangle 4">
            <a:extLst>
              <a:ext uri="{FF2B5EF4-FFF2-40B4-BE49-F238E27FC236}">
                <a16:creationId xmlns:a16="http://schemas.microsoft.com/office/drawing/2014/main" id="{953787D1-5E61-426E-BCA7-EA461DD6B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强制向基类转换，可以产生基类的对象，访问基类中的成员。 </a:t>
            </a:r>
            <a:endParaRPr kumimoji="1" lang="en-US" altLang="zh-CN" dirty="0"/>
          </a:p>
          <a:p>
            <a:r>
              <a:rPr kumimoji="1" lang="zh-CN" altLang="en-US" dirty="0"/>
              <a:t>必须为公有派生类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51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E077D4C-C37E-4671-BDF5-73BB8BA635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F4024B-63FE-49FF-B4A0-9FD00711F18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4A690111-96B6-4C5C-BAA9-DA55E546D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9028" name="Rectangle 4">
            <a:extLst>
              <a:ext uri="{FF2B5EF4-FFF2-40B4-BE49-F238E27FC236}">
                <a16:creationId xmlns:a16="http://schemas.microsoft.com/office/drawing/2014/main" id="{420E8582-9573-4CD8-A875-B07DEAD45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 &lt;iostream&gt;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using namespace std;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Base1{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display() const{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"Base1::display()" &lt;&lt;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Base2 : public Base1{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display() const{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"Base2::display()" &lt;&lt;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Derived : public Base2{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display() const{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"Derived::display()" &lt;&lt;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fun(Base1 *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-&gt;display();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main()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Base1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base1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Base2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base2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Derived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derived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fun(&amp;base1);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fun(&amp;base2);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fun(&amp;derived);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29F155E-9F96-42DE-9D5B-E303AA74DF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476A34-93CB-4676-B735-76E9388F0C8F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47862B8-7C37-414D-A0C3-E6C7CD613B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0052" name="Rectangle 4">
            <a:extLst>
              <a:ext uri="{FF2B5EF4-FFF2-40B4-BE49-F238E27FC236}">
                <a16:creationId xmlns:a16="http://schemas.microsoft.com/office/drawing/2014/main" id="{652E4C5E-65F6-4D08-B995-571B8946D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隐含的强制类型转换。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29F155E-9F96-42DE-9D5B-E303AA74DF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476A34-93CB-4676-B735-76E9388F0C8F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47862B8-7C37-414D-A0C3-E6C7CD613B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0052" name="Rectangle 4">
            <a:extLst>
              <a:ext uri="{FF2B5EF4-FFF2-40B4-BE49-F238E27FC236}">
                <a16:creationId xmlns:a16="http://schemas.microsoft.com/office/drawing/2014/main" id="{652E4C5E-65F6-4D08-B995-571B8946D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如果写类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时重新定义了从类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继承而来的非虚函数，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的对象就可能表现出精神分裂症般的异常行为。也就是说，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的对象在被调用时，行为有可能象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，也有可能象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，决定因素和对象本身没有一点关系，而是取决于指向它的指针所声明的类型。引用也会和指针一样表现出这样的异常行为。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pPr eaLnBrk="1" hangingPunct="1"/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pPr eaLnBrk="1" hangingPunct="1"/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由于其作为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Base1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类传入的，一切照着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Base1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的标准输出。 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801687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>
            <a:extLst>
              <a:ext uri="{FF2B5EF4-FFF2-40B4-BE49-F238E27FC236}">
                <a16:creationId xmlns:a16="http://schemas.microsoft.com/office/drawing/2014/main" id="{28C0D616-C40B-431C-8BDC-4D1F99FABD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备注占位符 2">
            <a:extLst>
              <a:ext uri="{FF2B5EF4-FFF2-40B4-BE49-F238E27FC236}">
                <a16:creationId xmlns:a16="http://schemas.microsoft.com/office/drawing/2014/main" id="{F48EC17D-1866-4B26-A2A8-37887D4A9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76" name="灯片编号占位符 3">
            <a:extLst>
              <a:ext uri="{FF2B5EF4-FFF2-40B4-BE49-F238E27FC236}">
                <a16:creationId xmlns:a16="http://schemas.microsoft.com/office/drawing/2014/main" id="{8E22EDF8-23F8-40AD-B0D9-DAD43291A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F7D34-6128-4996-8E02-6B07936C3C1E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A5E30329-1302-4B1A-A590-9D8FE79DF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64BD-EF85-448D-9E53-531BF533CFE6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41429EDF-11EC-4021-A7EB-3C2885DD10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050A7B36-3142-4F15-B42E-B58934CB3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739588C-5500-4843-AE2F-2CC1920EC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B327F3-F673-49AA-BB38-8833E7D4023B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B1B2EC5F-2668-4EA1-9658-E1E23F60D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4148" name="Rectangle 4">
            <a:extLst>
              <a:ext uri="{FF2B5EF4-FFF2-40B4-BE49-F238E27FC236}">
                <a16:creationId xmlns:a16="http://schemas.microsoft.com/office/drawing/2014/main" id="{7C7E4870-E4D7-44DA-9EEE-30A3FEEA2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********2011/11/23</a:t>
            </a:r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C0BEF800-18C8-40DF-97E4-741CED9F14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73EC9B-7E75-4329-A4E7-E6F732F7DC6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B66D6BBE-312B-40E7-8399-66CD90046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845B009B-9BDD-444D-8902-3A8C3D6AB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#include&lt;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iostream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using namespace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std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B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B();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~B();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b;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B::B()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 = 0;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类 的默认构造函数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B::B(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 =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"B's constructor called."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B::~B() 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"B's </a:t>
            </a:r>
            <a:r>
              <a:rPr kumimoji="1" lang="en-US" altLang="zh-CN" sz="1200" u="sng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destructor called." &lt;&lt; </a:t>
            </a:r>
            <a:r>
              <a:rPr kumimoji="1" lang="en-US" altLang="zh-CN" sz="1200" u="sng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u="sng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B::print()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b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C: public B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C();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j);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~C();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c;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C::C()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 = 0;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类默认构造函数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C::C(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j): B(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), c(j) 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类构造函数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C::~C() 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类的析构函数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C::print()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B::print();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c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main()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obj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(5, 6);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obj.print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en-US" altLang="zh-CN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B2C54C-C0C2-4AF7-9A56-019D7FE1EADD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451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3F940C4C-B015-4253-92F3-4E25227EF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15CDED-3EEA-4A7E-89D8-3B5804C62933}" type="slidenum">
              <a:rPr kumimoji="1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zh-CN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4DCA834-3E72-4362-B35B-3BDBABA169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BD8DE9B1-C93B-4E38-8B9F-062A134B9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1703A29-2E81-4128-8A23-75D2E43F6E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5FFD8-E7DF-4841-9214-75D105D397B4}" type="slidenum">
              <a:rPr kumimoji="1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1" lang="zh-CN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70763EB-9D35-4294-B016-D2A01ABE2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BD07E1F0-0441-4651-8BDD-75F8A5344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2C0F1BF-0E42-4762-BECA-7C218CF389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B32B17-ADB5-4C0D-B98D-F8C9C95CBA52}" type="slidenum">
              <a:rPr kumimoji="1" altLang="zh-CN" sz="13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kumimoji="1" lang="zh-CN" altLang="zh-CN" sz="13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0DE0DDB-573F-405F-808E-1D1725F73F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3B002D47-1AE2-4DAB-84CD-EC9CFA45D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std;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Base1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基类 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，构造函数有参数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Base1(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"Constructing Base1 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~Base1()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"Destructing Base1"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Base2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基类 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，构造函数有参数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Base2(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j)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"Constructing Base2 " &lt;&lt; j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~Base2()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"Destructing Base2"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Base3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基类 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，构造函数无参数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Base3()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"Constructing Base3 *"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~Base3()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"Destructing Base3"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Derived: public Base2, public Base1, public Base3 {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派生新类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，注意基类名的顺序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派生类的公有成员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Derived(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a, int b, int c, int d) :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Base2(b), Base1(a), member1(c), member2(d) {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注意基类名的个数与顺序，注意成员对象名的个数与顺序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派生类的私有成员对象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 member1;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 member2;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Base3 member3;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 {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 obj(1, 2, 3, 4);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1ABFD91A-BD5F-45E3-8F8C-792688B99D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9" tIns="49519" rIns="99039" bIns="49519" anchor="b"/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43FEC56-F6B6-420D-8F64-49DD34A4F696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EBC86F5-DE75-4BDE-B7EB-A99DF33F735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90600" y="766763"/>
            <a:ext cx="5114925" cy="3836987"/>
          </a:xfrm>
        </p:spPr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656E64AF-660A-41B5-ADBA-F7BFB2017D2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44563" y="4859338"/>
            <a:ext cx="5207000" cy="4605337"/>
          </a:xfrm>
          <a:noFill/>
        </p:spPr>
        <p:txBody>
          <a:bodyPr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684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AAA55C5-7D62-4C44-A748-89B5AE9DD48A}" type="slidenum">
              <a:rPr kumimoji="0" lang="en-US" altLang="x-none" sz="13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隶书" panose="02010509060101010101" pitchFamily="1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</a:t>
            </a:fld>
            <a:endParaRPr kumimoji="0" lang="en-US" altLang="x-none" sz="13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516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AAA55C5-7D62-4C44-A748-89B5AE9DD48A}" type="slidenum">
              <a:rPr kumimoji="0" lang="en-US" altLang="x-none" sz="13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隶书" panose="02010509060101010101" pitchFamily="1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57</a:t>
            </a:fld>
            <a:endParaRPr kumimoji="0" lang="en-US" altLang="x-none" sz="13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2614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同样存在深拷贝浅拷贝的问题。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1739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>
            <a:extLst>
              <a:ext uri="{FF2B5EF4-FFF2-40B4-BE49-F238E27FC236}">
                <a16:creationId xmlns:a16="http://schemas.microsoft.com/office/drawing/2014/main" id="{06D5FCE7-DB42-DF4E-B8EA-86A59FC1C9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备注占位符 2">
            <a:extLst>
              <a:ext uri="{FF2B5EF4-FFF2-40B4-BE49-F238E27FC236}">
                <a16:creationId xmlns:a16="http://schemas.microsoft.com/office/drawing/2014/main" id="{044F2D77-10F5-1D48-A4C3-F3C90E534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dirty="0"/>
              <a:t>？？？？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2227" name="灯片编号占位符 3">
            <a:extLst>
              <a:ext uri="{FF2B5EF4-FFF2-40B4-BE49-F238E27FC236}">
                <a16:creationId xmlns:a16="http://schemas.microsoft.com/office/drawing/2014/main" id="{A0835DDE-D994-1F43-BD98-7913BD6560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82019D-DC25-4843-B4B8-0F997DFFE3C3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6131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形参加引用的目的： 这样可以避免在函数调用时对实参的一次拷贝，提高了效率。</a:t>
            </a:r>
          </a:p>
          <a:p>
            <a:br>
              <a:rPr lang="zh-CN" altLang="en-US" dirty="0"/>
            </a:b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#include&lt;iostream&gt;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#include&lt;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string.h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&gt;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String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char * str;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String () : str(NULL) { }  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初始化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为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char *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c_str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{ return str; 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char * operator = (const char * s);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~String() {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if(str) delete [] str; 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重载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，使得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obj = "hello"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能够成立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char * String::operator = (const char * s)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if(str) delete [] str;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if(s) { //s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才执行拷贝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(s)+1];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(str, s);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else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 = NULL;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str;  //Q: 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不要返回值可以不？ 局限是？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深拷贝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String &amp; String::operator = 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String &amp; s)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 ==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 return * this;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if(str) delete [] str;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 {  //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才执行拷贝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 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)+1];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(str,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else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str= NULL;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*this;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main(){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String s;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 = "Good Luck,";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//String s2 = "hello!"; //&lt;&lt;&lt;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错误！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Q: why?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 = "Shenzhou8!";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052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7F2607A3-F1BE-4A25-B299-97AFEB1FFB62}"/>
              </a:ext>
            </a:extLst>
          </p:cNvPr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F04BF-0727-495F-A094-608DA21B68DA}"/>
              </a:ext>
            </a:extLst>
          </p:cNvPr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4515F67-C18F-4CB9-B75C-1ECF0FA29872}"/>
              </a:ext>
            </a:extLst>
          </p:cNvPr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02941345-94C4-47EE-8B6E-05F86F564B00}"/>
              </a:ext>
            </a:extLst>
          </p:cNvPr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098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9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30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8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834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700" indent="-342900">
              <a:buFont typeface="Wingdings" panose="05000000000000000000" pitchFamily="2" charset="2"/>
              <a:buChar char="§"/>
              <a:defRPr sz="2000"/>
            </a:lvl2pPr>
            <a:lvl3pPr marL="1198350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25AC039-18B0-48C6-B4D2-772F65E6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4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911216-E732-4C6D-8C7E-F389B9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617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711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9828-BCC3-4A72-91C7-FC94E006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8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4BB7B08C-476B-453C-A456-BBBEDE31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98FF996F-5749-4F72-B666-6C9FA04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3DB18C6B-DC8F-4DBC-B85E-ECCDDD73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A67072D-AB20-4646-AE33-0C01DB2B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069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FC80957-1DB3-4A2E-BB98-C350CE4F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3EB3562-E582-49FB-BA93-8E8FD11D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3219868-FE5F-4021-8460-6D7C0FE4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AF4090-AE77-4D2C-B7B1-4A0D325AA514}" type="slidenum">
              <a:rPr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63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8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802" r:id="rId11"/>
    <p:sldLayoutId id="2147483803" r:id="rId12"/>
    <p:sldLayoutId id="214748380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5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DE7729-5D2F-46D3-930B-9C449DB6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13.</a:t>
            </a:r>
            <a:r>
              <a:rPr lang="zh-CN" altLang="en-US" sz="4800" dirty="0"/>
              <a:t> 面向对象程序设计</a:t>
            </a:r>
            <a:r>
              <a:rPr lang="en-US" altLang="zh-CN" sz="4800" dirty="0"/>
              <a:t>3		</a:t>
            </a:r>
            <a:endParaRPr lang="en-US" sz="48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B6E3E072-B471-44F2-A697-E24F42922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类的组合</a:t>
            </a:r>
            <a:endParaRPr lang="en-US" altLang="zh-CN" dirty="0"/>
          </a:p>
          <a:p>
            <a:r>
              <a:rPr lang="zh-CN" altLang="en-US" dirty="0"/>
              <a:t>类继承和派生</a:t>
            </a:r>
            <a:endParaRPr lang="en-US" altLang="zh-CN" dirty="0"/>
          </a:p>
          <a:p>
            <a:r>
              <a:rPr lang="zh-CN" altLang="en-US" dirty="0"/>
              <a:t>深拷贝</a:t>
            </a:r>
            <a:r>
              <a:rPr lang="en-US" altLang="zh-CN" dirty="0"/>
              <a:t> vs. </a:t>
            </a:r>
            <a:r>
              <a:rPr lang="zh-CN" altLang="en-US" dirty="0"/>
              <a:t>浅拷贝</a:t>
            </a:r>
            <a:endParaRPr lang="en-US" altLang="zh-C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8BB27A-6946-4080-85EC-C5C0791D2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996952"/>
            <a:ext cx="3202843" cy="257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9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内容占位符 2">
            <a:extLst>
              <a:ext uri="{FF2B5EF4-FFF2-40B4-BE49-F238E27FC236}">
                <a16:creationId xmlns:a16="http://schemas.microsoft.com/office/drawing/2014/main" id="{5FFE18A5-CD23-4EE3-A770-69B95572F23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00869" y="1467284"/>
            <a:ext cx="8229600" cy="4525962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/>
              <a:t>类中的</a:t>
            </a:r>
            <a:r>
              <a:rPr lang="zh-CN" altLang="en-US" dirty="0">
                <a:solidFill>
                  <a:srgbClr val="0070C0"/>
                </a:solidFill>
              </a:rPr>
              <a:t>成员数据</a:t>
            </a:r>
            <a:r>
              <a:rPr lang="zh-CN" altLang="en-US" dirty="0"/>
              <a:t>是另一个类的对象。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dirty="0"/>
              <a:t>可以在已有抽象的基础上实现更复杂的抽象。</a:t>
            </a:r>
          </a:p>
        </p:txBody>
      </p:sp>
      <p:sp>
        <p:nvSpPr>
          <p:cNvPr id="43010" name="灯片编号占位符 3">
            <a:extLst>
              <a:ext uri="{FF2B5EF4-FFF2-40B4-BE49-F238E27FC236}">
                <a16:creationId xmlns:a16="http://schemas.microsoft.com/office/drawing/2014/main" id="{E4C91446-1E67-4335-A727-D448AA67BB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5EC132A9-0801-4622-A535-73BDA6060FD0}" type="slidenum">
              <a:rPr lang="en-US" altLang="zh-CN" sz="1000"/>
              <a:pPr algn="r" eaLnBrk="1" hangingPunct="1">
                <a:buFont typeface="Wingdings 3" panose="05040102010807070707" pitchFamily="18" charset="2"/>
                <a:buNone/>
              </a:pPr>
              <a:t>3</a:t>
            </a:fld>
            <a:endParaRPr lang="en-US" altLang="zh-CN" sz="1000"/>
          </a:p>
        </p:txBody>
      </p:sp>
      <p:sp>
        <p:nvSpPr>
          <p:cNvPr id="43012" name="矩形 23556">
            <a:extLst>
              <a:ext uri="{FF2B5EF4-FFF2-40B4-BE49-F238E27FC236}">
                <a16:creationId xmlns:a16="http://schemas.microsoft.com/office/drawing/2014/main" id="{8B6F1BC4-AE92-427B-AC78-1C35B50FB55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0869" y="62068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</a:t>
            </a:r>
            <a:r>
              <a:rPr lang="zh-CN" altLang="en-US" sz="4100" b="1" dirty="0">
                <a:solidFill>
                  <a:srgbClr val="0070C0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组合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B56B696-8C66-4051-A6C6-15AB0D521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726451"/>
            <a:ext cx="2702265" cy="226298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BF6BFF-946B-43EC-BA01-FFC473202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3568907"/>
            <a:ext cx="2796530" cy="2482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>
            <a:extLst>
              <a:ext uri="{FF2B5EF4-FFF2-40B4-BE49-F238E27FC236}">
                <a16:creationId xmlns:a16="http://schemas.microsoft.com/office/drawing/2014/main" id="{27750875-A058-467C-83D5-4C5EA8F541E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60219" y="1484784"/>
            <a:ext cx="8229600" cy="4525962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原则：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不仅要对本类中的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基本类型成员</a:t>
            </a:r>
            <a:r>
              <a:rPr lang="zh-CN" altLang="en-US" dirty="0">
                <a:latin typeface="宋体" panose="02010600030101010101" pitchFamily="2" charset="-122"/>
              </a:rPr>
              <a:t>数据赋初值，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也要对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对象成员</a:t>
            </a:r>
            <a:r>
              <a:rPr lang="zh-CN" altLang="en-US" dirty="0">
                <a:latin typeface="宋体" panose="02010600030101010101" pitchFamily="2" charset="-122"/>
              </a:rPr>
              <a:t>初始化。</a:t>
            </a: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声明形式：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类名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::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类名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对象成员所需的形参，本类成员形参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对象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参数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对象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参数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......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{ 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  //</a:t>
            </a:r>
            <a:r>
              <a:rPr lang="zh-CN" altLang="en-US" dirty="0">
                <a:latin typeface="宋体" panose="02010600030101010101" pitchFamily="2" charset="-122"/>
              </a:rPr>
              <a:t>函数体其他语句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}</a:t>
            </a:r>
          </a:p>
        </p:txBody>
      </p:sp>
      <p:pic>
        <p:nvPicPr>
          <p:cNvPr id="44035" name="标题 1">
            <a:extLst>
              <a:ext uri="{FF2B5EF4-FFF2-40B4-BE49-F238E27FC236}">
                <a16:creationId xmlns:a16="http://schemas.microsoft.com/office/drawing/2014/main" id="{40BE09C8-CBB1-4077-9346-B174D3201C53}"/>
              </a:ext>
            </a:extLst>
          </p:cNvPr>
          <p:cNvPicPr>
            <a:picLocks noGrp="1" noChangeArrowheads="1"/>
          </p:cNvPicPr>
          <p:nvPr>
            <p:ph type="title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1291" y="548680"/>
            <a:ext cx="8485188" cy="1176338"/>
          </a:xfrm>
        </p:spPr>
      </p:pic>
      <p:sp>
        <p:nvSpPr>
          <p:cNvPr id="44034" name="灯片编号占位符 3">
            <a:extLst>
              <a:ext uri="{FF2B5EF4-FFF2-40B4-BE49-F238E27FC236}">
                <a16:creationId xmlns:a16="http://schemas.microsoft.com/office/drawing/2014/main" id="{050FE79E-1388-431F-BEA3-2FB37C4D36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0D21D8E6-1F91-4940-AF73-5FA504FC82B6}" type="slidenum">
              <a:rPr lang="en-US" altLang="zh-CN" sz="1000"/>
              <a:pPr algn="r" eaLnBrk="1" hangingPunct="1">
                <a:buFont typeface="Wingdings 3" panose="05040102010807070707" pitchFamily="18" charset="2"/>
                <a:buNone/>
              </a:pPr>
              <a:t>4</a:t>
            </a:fld>
            <a:endParaRPr lang="en-US" altLang="zh-CN" sz="10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EDA683-2C2D-4813-814E-EE59BE20FC23}"/>
              </a:ext>
            </a:extLst>
          </p:cNvPr>
          <p:cNvSpPr/>
          <p:nvPr/>
        </p:nvSpPr>
        <p:spPr>
          <a:xfrm>
            <a:off x="2216747" y="4293096"/>
            <a:ext cx="511256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279555-36D7-435C-B3A2-E8B607A68D85}"/>
              </a:ext>
            </a:extLst>
          </p:cNvPr>
          <p:cNvSpPr txBox="1"/>
          <p:nvPr/>
        </p:nvSpPr>
        <p:spPr>
          <a:xfrm>
            <a:off x="5724128" y="431572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初始化列表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内容占位符 2">
            <a:extLst>
              <a:ext uri="{FF2B5EF4-FFF2-40B4-BE49-F238E27FC236}">
                <a16:creationId xmlns:a16="http://schemas.microsoft.com/office/drawing/2014/main" id="{7919D720-BA88-4926-8A4A-2BA9531696D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51520" y="1772816"/>
            <a:ext cx="8485188" cy="4525962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/>
              <a:t>首先对构造函数</a:t>
            </a:r>
            <a:r>
              <a:rPr lang="zh-CN" altLang="en-US" b="1" dirty="0">
                <a:solidFill>
                  <a:srgbClr val="C00000"/>
                </a:solidFill>
              </a:rPr>
              <a:t>初始化列表</a:t>
            </a:r>
            <a:r>
              <a:rPr lang="zh-CN" altLang="en-US" dirty="0"/>
              <a:t>中列出的成员（包括基本类型成员和对象成员）进行初始化，</a:t>
            </a:r>
            <a:r>
              <a:rPr lang="zh-CN" altLang="en-US" dirty="0">
                <a:solidFill>
                  <a:srgbClr val="C00000"/>
                </a:solidFill>
              </a:rPr>
              <a:t>初始化次序</a:t>
            </a:r>
            <a:r>
              <a:rPr lang="zh-CN" altLang="en-US" dirty="0">
                <a:solidFill>
                  <a:srgbClr val="0070C0"/>
                </a:solidFill>
              </a:rPr>
              <a:t>是成员在类体中定义的次序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成员对象构造函数调用顺序：按对象成员的声明顺序，先声明者先构造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中未出现的成员对象，调用默认构造函数（即无形参的）初始化。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ts val="1200"/>
              </a:spcBef>
            </a:pPr>
            <a:r>
              <a:rPr lang="zh-CN" altLang="en-US" dirty="0"/>
              <a:t>处理完初始化列表</a:t>
            </a:r>
            <a:r>
              <a:rPr lang="zh-CN" altLang="en-US" dirty="0">
                <a:solidFill>
                  <a:srgbClr val="C00000"/>
                </a:solidFill>
              </a:rPr>
              <a:t>之后</a:t>
            </a:r>
            <a:r>
              <a:rPr lang="zh-CN" altLang="en-US" dirty="0"/>
              <a:t>，再执行构造函数的函数体。</a:t>
            </a:r>
          </a:p>
        </p:txBody>
      </p:sp>
      <p:pic>
        <p:nvPicPr>
          <p:cNvPr id="45059" name="标题 1">
            <a:extLst>
              <a:ext uri="{FF2B5EF4-FFF2-40B4-BE49-F238E27FC236}">
                <a16:creationId xmlns:a16="http://schemas.microsoft.com/office/drawing/2014/main" id="{74207AAC-C7F6-4FDB-88E2-5DC4F8835457}"/>
              </a:ext>
            </a:extLst>
          </p:cNvPr>
          <p:cNvPicPr>
            <a:picLocks noGrp="1" noChangeArrowheads="1"/>
          </p:cNvPicPr>
          <p:nvPr>
            <p:ph type="title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138" y="486519"/>
            <a:ext cx="8485188" cy="1176337"/>
          </a:xfrm>
        </p:spPr>
      </p:pic>
      <p:sp>
        <p:nvSpPr>
          <p:cNvPr id="45058" name="灯片编号占位符 3">
            <a:extLst>
              <a:ext uri="{FF2B5EF4-FFF2-40B4-BE49-F238E27FC236}">
                <a16:creationId xmlns:a16="http://schemas.microsoft.com/office/drawing/2014/main" id="{0DF788A2-572B-462B-95D5-7BB511AD2FA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288EB031-70EE-4C68-B8B6-AC00DED322DC}" type="slidenum">
              <a:rPr lang="en-US" altLang="zh-CN" sz="1000"/>
              <a:pPr algn="r" eaLnBrk="1" hangingPunct="1">
                <a:buFont typeface="Wingdings 3" panose="05040102010807070707" pitchFamily="18" charset="2"/>
                <a:buNone/>
              </a:pPr>
              <a:t>5</a:t>
            </a:fld>
            <a:endParaRPr lang="en-US" altLang="zh-CN" sz="10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FBFE20-94AE-415A-AFAA-285E2807DB0E}"/>
              </a:ext>
            </a:extLst>
          </p:cNvPr>
          <p:cNvSpPr/>
          <p:nvPr/>
        </p:nvSpPr>
        <p:spPr>
          <a:xfrm>
            <a:off x="5220072" y="1348452"/>
            <a:ext cx="2664296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>
            <a:extLst>
              <a:ext uri="{FF2B5EF4-FFF2-40B4-BE49-F238E27FC236}">
                <a16:creationId xmlns:a16="http://schemas.microsoft.com/office/drawing/2014/main" id="{8606889B-F237-49CA-B885-F98A1093A40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4498E561-F796-4A86-8564-6D174E313658}" type="slidenum">
              <a:rPr lang="en-US" altLang="zh-CN" sz="1000"/>
              <a:pPr algn="r" eaLnBrk="1" hangingPunct="1">
                <a:buFont typeface="Wingdings 3" panose="05040102010807070707" pitchFamily="18" charset="2"/>
                <a:buNone/>
              </a:pPr>
              <a:t>6</a:t>
            </a:fld>
            <a:endParaRPr lang="en-US" altLang="zh-CN" sz="1000"/>
          </a:p>
        </p:txBody>
      </p:sp>
      <p:sp>
        <p:nvSpPr>
          <p:cNvPr id="46084" name="矩形 26628">
            <a:extLst>
              <a:ext uri="{FF2B5EF4-FFF2-40B4-BE49-F238E27FC236}">
                <a16:creationId xmlns:a16="http://schemas.microsoft.com/office/drawing/2014/main" id="{897F6524-2276-4E04-B918-4F3A2E39A29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0075" y="764704"/>
            <a:ext cx="864096" cy="359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类的组合举例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727542-844F-4520-99D3-DE5A52BA4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764704"/>
            <a:ext cx="5572125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>
            <a:extLst>
              <a:ext uri="{FF2B5EF4-FFF2-40B4-BE49-F238E27FC236}">
                <a16:creationId xmlns:a16="http://schemas.microsoft.com/office/drawing/2014/main" id="{61F80780-5CE6-4B69-A1A5-506E819037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88B6AE7D-621D-42F9-BCC6-DC38AE34AD87}" type="slidenum">
              <a:rPr lang="en-US" altLang="zh-CN" sz="1000"/>
              <a:pPr algn="r" eaLnBrk="1" hangingPunct="1">
                <a:buFont typeface="Wingdings 3" panose="05040102010807070707" pitchFamily="18" charset="2"/>
                <a:buNone/>
              </a:pPr>
              <a:t>7</a:t>
            </a:fld>
            <a:endParaRPr lang="en-US" altLang="zh-CN" sz="10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9AA3E85-CFE2-4426-BB0B-70B688DAA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663861"/>
            <a:ext cx="5098477" cy="5744877"/>
          </a:xfrm>
          <a:prstGeom prst="rect">
            <a:avLst/>
          </a:prstGeom>
        </p:spPr>
      </p:pic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ECAA8EEE-FEFC-4851-975F-074044A220AC}"/>
              </a:ext>
            </a:extLst>
          </p:cNvPr>
          <p:cNvSpPr/>
          <p:nvPr/>
        </p:nvSpPr>
        <p:spPr bwMode="auto">
          <a:xfrm>
            <a:off x="5508104" y="980728"/>
            <a:ext cx="1512168" cy="432048"/>
          </a:xfrm>
          <a:prstGeom prst="wedgeRoundRectCallout">
            <a:avLst>
              <a:gd name="adj1" fmla="val -57500"/>
              <a:gd name="adj2" fmla="val 383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构造函数</a:t>
            </a:r>
          </a:p>
        </p:txBody>
      </p:sp>
      <p:sp>
        <p:nvSpPr>
          <p:cNvPr id="5" name="矩形 26628">
            <a:extLst>
              <a:ext uri="{FF2B5EF4-FFF2-40B4-BE49-F238E27FC236}">
                <a16:creationId xmlns:a16="http://schemas.microsoft.com/office/drawing/2014/main" id="{8FB73BA4-6925-4829-981C-AB4FA608CC3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0075" y="764703"/>
            <a:ext cx="833688" cy="554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类的组合举例</a:t>
            </a:r>
            <a:endParaRPr lang="en-US" altLang="zh-CN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36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sz="36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)</a:t>
            </a:r>
          </a:p>
          <a:p>
            <a:pPr>
              <a:buFont typeface="Arial" panose="020B0604020202020204" pitchFamily="34" charset="0"/>
              <a:buNone/>
            </a:pP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>
            <a:extLst>
              <a:ext uri="{FF2B5EF4-FFF2-40B4-BE49-F238E27FC236}">
                <a16:creationId xmlns:a16="http://schemas.microsoft.com/office/drawing/2014/main" id="{30AF9086-0685-4D91-B23D-722A31FC6DE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46DC9D12-388E-40FE-9CC5-CE73149700FA}" type="slidenum">
              <a:rPr lang="en-US" altLang="zh-CN" sz="1000"/>
              <a:pPr algn="r" eaLnBrk="1" hangingPunct="1">
                <a:buFont typeface="Wingdings 3" panose="05040102010807070707" pitchFamily="18" charset="2"/>
                <a:buNone/>
              </a:pPr>
              <a:t>8</a:t>
            </a:fld>
            <a:endParaRPr lang="en-US" altLang="zh-CN" sz="10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7C53D29-72DA-4400-9CF2-2A21CD1D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976817"/>
            <a:ext cx="6162675" cy="26098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B0D29B0-4FB1-4C50-ACE2-A82C0744B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796" y="3573537"/>
            <a:ext cx="3457575" cy="2352675"/>
          </a:xfrm>
          <a:prstGeom prst="rect">
            <a:avLst/>
          </a:prstGeom>
        </p:spPr>
      </p:pic>
      <p:sp>
        <p:nvSpPr>
          <p:cNvPr id="4" name="左大括号 3">
            <a:extLst>
              <a:ext uri="{FF2B5EF4-FFF2-40B4-BE49-F238E27FC236}">
                <a16:creationId xmlns:a16="http://schemas.microsoft.com/office/drawing/2014/main" id="{BEA2A95D-50E8-4A2E-8874-2FD1D5D666D4}"/>
              </a:ext>
            </a:extLst>
          </p:cNvPr>
          <p:cNvSpPr/>
          <p:nvPr/>
        </p:nvSpPr>
        <p:spPr>
          <a:xfrm flipH="1">
            <a:off x="6804248" y="3826427"/>
            <a:ext cx="186010" cy="683325"/>
          </a:xfrm>
          <a:prstGeom prst="leftBrace">
            <a:avLst>
              <a:gd name="adj1" fmla="val 29789"/>
              <a:gd name="adj2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2524FF-105A-4E93-B835-769F18EEC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690" y="3708106"/>
            <a:ext cx="3247890" cy="9199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7C7AF8-6A38-47E9-9A50-3D628C47A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690" y="4628075"/>
            <a:ext cx="3247890" cy="1825261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072FF436-33FE-4691-8374-5AC6A965B670}"/>
              </a:ext>
            </a:extLst>
          </p:cNvPr>
          <p:cNvSpPr/>
          <p:nvPr/>
        </p:nvSpPr>
        <p:spPr>
          <a:xfrm>
            <a:off x="827584" y="4972160"/>
            <a:ext cx="318045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E85414-1E17-4476-A4D3-3E05795B77EE}"/>
              </a:ext>
            </a:extLst>
          </p:cNvPr>
          <p:cNvSpPr txBox="1"/>
          <p:nvPr/>
        </p:nvSpPr>
        <p:spPr>
          <a:xfrm>
            <a:off x="1125781" y="4425844"/>
            <a:ext cx="3401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66FF33"/>
                </a:solidFill>
              </a:rPr>
              <a:t>//</a:t>
            </a:r>
            <a:r>
              <a:rPr lang="zh-CN" altLang="en-US" sz="1600" dirty="0">
                <a:solidFill>
                  <a:srgbClr val="66FF33"/>
                </a:solidFill>
              </a:rPr>
              <a:t>调整构造函数，减少临时</a:t>
            </a:r>
            <a:r>
              <a:rPr lang="en-US" altLang="zh-CN" sz="1600" dirty="0">
                <a:solidFill>
                  <a:srgbClr val="66FF33"/>
                </a:solidFill>
              </a:rPr>
              <a:t>Point</a:t>
            </a:r>
            <a:r>
              <a:rPr lang="zh-CN" altLang="en-US" sz="1600" dirty="0">
                <a:solidFill>
                  <a:srgbClr val="66FF33"/>
                </a:solidFill>
              </a:rPr>
              <a:t>对象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A4ED3F8-B8B5-4DBF-9F02-97F256AE68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602" b="20303"/>
          <a:stretch/>
        </p:blipFill>
        <p:spPr>
          <a:xfrm>
            <a:off x="5963690" y="3501008"/>
            <a:ext cx="2415265" cy="17613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09A8BE9-CB41-4879-A6BD-2C06E8EBE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980728"/>
            <a:ext cx="4665126" cy="5256584"/>
          </a:xfrm>
          <a:prstGeom prst="roundRect">
            <a:avLst>
              <a:gd name="adj" fmla="val 1760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E5AC3E-2C5C-41A4-9ABC-62EF4C41FC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24" b="-1"/>
          <a:stretch/>
        </p:blipFill>
        <p:spPr>
          <a:xfrm>
            <a:off x="5796136" y="1213224"/>
            <a:ext cx="2865011" cy="10645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5320BA42-3237-401D-8B6C-81A9FA1FDBB5}"/>
              </a:ext>
            </a:extLst>
          </p:cNvPr>
          <p:cNvSpPr/>
          <p:nvPr/>
        </p:nvSpPr>
        <p:spPr>
          <a:xfrm>
            <a:off x="7291800" y="1972092"/>
            <a:ext cx="108000" cy="108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D13C185-6054-4948-BEE1-07EE085F18FD}"/>
              </a:ext>
            </a:extLst>
          </p:cNvPr>
          <p:cNvSpPr/>
          <p:nvPr/>
        </p:nvSpPr>
        <p:spPr>
          <a:xfrm>
            <a:off x="8028384" y="1970457"/>
            <a:ext cx="108000" cy="108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2BE7D11-7C0A-41A1-8084-AB56D0D2378A}"/>
              </a:ext>
            </a:extLst>
          </p:cNvPr>
          <p:cNvSpPr/>
          <p:nvPr/>
        </p:nvSpPr>
        <p:spPr>
          <a:xfrm>
            <a:off x="2137003" y="3907199"/>
            <a:ext cx="124557" cy="108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86B4F5B-01EC-4D4A-88BE-CEE0044F3B84}"/>
              </a:ext>
            </a:extLst>
          </p:cNvPr>
          <p:cNvSpPr/>
          <p:nvPr/>
        </p:nvSpPr>
        <p:spPr>
          <a:xfrm>
            <a:off x="2989170" y="3679949"/>
            <a:ext cx="108000" cy="108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BBA063F9-5279-4637-8EBB-1BA56F770A9D}"/>
              </a:ext>
            </a:extLst>
          </p:cNvPr>
          <p:cNvCxnSpPr>
            <a:cxnSpLocks/>
            <a:stCxn id="6" idx="4"/>
            <a:endCxn id="34" idx="0"/>
          </p:cNvCxnSpPr>
          <p:nvPr/>
        </p:nvCxnSpPr>
        <p:spPr>
          <a:xfrm rot="5400000">
            <a:off x="6373435" y="2693863"/>
            <a:ext cx="1586136" cy="358595"/>
          </a:xfrm>
          <a:prstGeom prst="bentConnector3">
            <a:avLst/>
          </a:prstGeom>
          <a:ln w="12700">
            <a:solidFill>
              <a:srgbClr val="66FF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1332A304-CE32-4937-993E-A86843008E47}"/>
              </a:ext>
            </a:extLst>
          </p:cNvPr>
          <p:cNvCxnSpPr>
            <a:cxnSpLocks/>
            <a:stCxn id="7" idx="6"/>
            <a:endCxn id="35" idx="3"/>
          </p:cNvCxnSpPr>
          <p:nvPr/>
        </p:nvCxnSpPr>
        <p:spPr>
          <a:xfrm flipH="1">
            <a:off x="7972118" y="2024457"/>
            <a:ext cx="164266" cy="1947136"/>
          </a:xfrm>
          <a:prstGeom prst="bentConnector3">
            <a:avLst>
              <a:gd name="adj1" fmla="val -139165"/>
            </a:avLst>
          </a:prstGeom>
          <a:ln w="12700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8F7823A-72EF-4CF2-8A0E-62D9A70A9DE6}"/>
              </a:ext>
            </a:extLst>
          </p:cNvPr>
          <p:cNvSpPr/>
          <p:nvPr/>
        </p:nvSpPr>
        <p:spPr>
          <a:xfrm>
            <a:off x="6005334" y="3666228"/>
            <a:ext cx="1963742" cy="183242"/>
          </a:xfrm>
          <a:prstGeom prst="roundRect">
            <a:avLst/>
          </a:prstGeom>
          <a:noFill/>
          <a:ln w="19050">
            <a:solidFill>
              <a:srgbClr val="66FF3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49A46BE-2628-4288-A3DA-142C5938E43E}"/>
              </a:ext>
            </a:extLst>
          </p:cNvPr>
          <p:cNvSpPr/>
          <p:nvPr/>
        </p:nvSpPr>
        <p:spPr>
          <a:xfrm>
            <a:off x="6008376" y="3879972"/>
            <a:ext cx="1963742" cy="183242"/>
          </a:xfrm>
          <a:prstGeom prst="roundRect">
            <a:avLst/>
          </a:prstGeom>
          <a:noFill/>
          <a:ln w="1905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862AE2F2-6D97-4D54-B304-B78BAD5B1927}"/>
              </a:ext>
            </a:extLst>
          </p:cNvPr>
          <p:cNvCxnSpPr>
            <a:cxnSpLocks/>
            <a:stCxn id="34" idx="1"/>
            <a:endCxn id="9" idx="0"/>
          </p:cNvCxnSpPr>
          <p:nvPr/>
        </p:nvCxnSpPr>
        <p:spPr>
          <a:xfrm rot="10800000">
            <a:off x="3043170" y="3679949"/>
            <a:ext cx="2962164" cy="77900"/>
          </a:xfrm>
          <a:prstGeom prst="curvedConnector4">
            <a:avLst>
              <a:gd name="adj1" fmla="val 49089"/>
              <a:gd name="adj2" fmla="val 393453"/>
            </a:avLst>
          </a:prstGeom>
          <a:ln w="12700">
            <a:solidFill>
              <a:srgbClr val="66FF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BD9AB528-C877-43A0-B3E0-47F0F643732B}"/>
              </a:ext>
            </a:extLst>
          </p:cNvPr>
          <p:cNvCxnSpPr>
            <a:cxnSpLocks/>
            <a:stCxn id="35" idx="1"/>
            <a:endCxn id="8" idx="4"/>
          </p:cNvCxnSpPr>
          <p:nvPr/>
        </p:nvCxnSpPr>
        <p:spPr>
          <a:xfrm rot="10800000" flipV="1">
            <a:off x="2199282" y="3971593"/>
            <a:ext cx="3809094" cy="43606"/>
          </a:xfrm>
          <a:prstGeom prst="curvedConnector4">
            <a:avLst>
              <a:gd name="adj1" fmla="val 49183"/>
              <a:gd name="adj2" fmla="val 734351"/>
            </a:avLst>
          </a:prstGeom>
          <a:ln w="12700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1117B35-6405-4FE2-AC7A-F1BE7F740C5F}"/>
              </a:ext>
            </a:extLst>
          </p:cNvPr>
          <p:cNvSpPr/>
          <p:nvPr/>
        </p:nvSpPr>
        <p:spPr>
          <a:xfrm>
            <a:off x="6011310" y="4089894"/>
            <a:ext cx="1963742" cy="163306"/>
          </a:xfrm>
          <a:prstGeom prst="roundRect">
            <a:avLst/>
          </a:prstGeom>
          <a:noFill/>
          <a:ln w="19050">
            <a:solidFill>
              <a:srgbClr val="66FF3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09A4647B-087A-4443-943C-912F7F6C7AB1}"/>
              </a:ext>
            </a:extLst>
          </p:cNvPr>
          <p:cNvSpPr/>
          <p:nvPr/>
        </p:nvSpPr>
        <p:spPr>
          <a:xfrm>
            <a:off x="6005334" y="4293587"/>
            <a:ext cx="1963742" cy="163306"/>
          </a:xfrm>
          <a:prstGeom prst="roundRect">
            <a:avLst/>
          </a:prstGeom>
          <a:noFill/>
          <a:ln w="1905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3E4BF1FB-E8B7-4135-AC90-4C38AA669CDB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4669827" y="2830063"/>
            <a:ext cx="233197" cy="2449769"/>
          </a:xfrm>
          <a:prstGeom prst="bentConnector2">
            <a:avLst/>
          </a:prstGeom>
          <a:ln w="12700">
            <a:solidFill>
              <a:srgbClr val="66FF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B5FA6504-5CF7-4684-8F77-BCF01C6694D2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4897367" y="3267273"/>
            <a:ext cx="435902" cy="1780032"/>
          </a:xfrm>
          <a:prstGeom prst="bentConnector2">
            <a:avLst/>
          </a:prstGeom>
          <a:ln w="12700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650E4502-8523-4849-AA03-252F0BB311B3}"/>
              </a:ext>
            </a:extLst>
          </p:cNvPr>
          <p:cNvCxnSpPr>
            <a:cxnSpLocks/>
            <a:stCxn id="71" idx="0"/>
            <a:endCxn id="72" idx="0"/>
          </p:cNvCxnSpPr>
          <p:nvPr/>
        </p:nvCxnSpPr>
        <p:spPr>
          <a:xfrm rot="16200000" flipH="1" flipV="1">
            <a:off x="3520758" y="3594309"/>
            <a:ext cx="9818" cy="277990"/>
          </a:xfrm>
          <a:prstGeom prst="curvedConnector3">
            <a:avLst>
              <a:gd name="adj1" fmla="val -2328376"/>
            </a:avLst>
          </a:prstGeom>
          <a:ln w="12700">
            <a:solidFill>
              <a:srgbClr val="66FF33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012BC061-8531-4935-818F-DF1A307CDFB7}"/>
              </a:ext>
            </a:extLst>
          </p:cNvPr>
          <p:cNvSpPr/>
          <p:nvPr/>
        </p:nvSpPr>
        <p:spPr>
          <a:xfrm>
            <a:off x="3637662" y="3728395"/>
            <a:ext cx="54000" cy="54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03C0A2D6-7F3E-47C2-9E12-6E96C775B70F}"/>
              </a:ext>
            </a:extLst>
          </p:cNvPr>
          <p:cNvSpPr/>
          <p:nvPr/>
        </p:nvSpPr>
        <p:spPr>
          <a:xfrm>
            <a:off x="3359672" y="3738213"/>
            <a:ext cx="54000" cy="54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446967D5-5E2B-4B32-9F4F-DE982BC2CB4C}"/>
              </a:ext>
            </a:extLst>
          </p:cNvPr>
          <p:cNvSpPr/>
          <p:nvPr/>
        </p:nvSpPr>
        <p:spPr>
          <a:xfrm>
            <a:off x="4298378" y="3721777"/>
            <a:ext cx="54000" cy="54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1132C0A7-796F-49A2-BA26-1EFE2E5FFB43}"/>
              </a:ext>
            </a:extLst>
          </p:cNvPr>
          <p:cNvSpPr/>
          <p:nvPr/>
        </p:nvSpPr>
        <p:spPr>
          <a:xfrm>
            <a:off x="4029912" y="3727099"/>
            <a:ext cx="54000" cy="54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连接符: 曲线 82">
            <a:extLst>
              <a:ext uri="{FF2B5EF4-FFF2-40B4-BE49-F238E27FC236}">
                <a16:creationId xmlns:a16="http://schemas.microsoft.com/office/drawing/2014/main" id="{8B74EB9A-85CD-4543-8943-D36D88ABF1D3}"/>
              </a:ext>
            </a:extLst>
          </p:cNvPr>
          <p:cNvCxnSpPr>
            <a:stCxn id="79" idx="0"/>
            <a:endCxn id="81" idx="0"/>
          </p:cNvCxnSpPr>
          <p:nvPr/>
        </p:nvCxnSpPr>
        <p:spPr>
          <a:xfrm rot="16200000" flipH="1" flipV="1">
            <a:off x="4188484" y="3590205"/>
            <a:ext cx="5322" cy="268466"/>
          </a:xfrm>
          <a:prstGeom prst="curvedConnector3">
            <a:avLst>
              <a:gd name="adj1" fmla="val -4295378"/>
            </a:avLst>
          </a:prstGeom>
          <a:ln w="12700">
            <a:solidFill>
              <a:schemeClr val="accent4">
                <a:lumMod val="40000"/>
                <a:lumOff val="6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ABC77651-4DA9-4B7E-AA7D-4FD5E9FEE5B1}"/>
              </a:ext>
            </a:extLst>
          </p:cNvPr>
          <p:cNvSpPr txBox="1"/>
          <p:nvPr/>
        </p:nvSpPr>
        <p:spPr>
          <a:xfrm>
            <a:off x="1107679" y="3241429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用实参对象复制构造</a:t>
            </a:r>
            <a:r>
              <a:rPr lang="en-US" altLang="zh-CN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xp1</a:t>
            </a:r>
            <a:r>
              <a:rPr lang="zh-CN" altLang="en-US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zh-CN" altLang="en-US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形参对象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74AB4FB-6977-41BD-B3E0-CF1511F13910}"/>
              </a:ext>
            </a:extLst>
          </p:cNvPr>
          <p:cNvSpPr txBox="1"/>
          <p:nvPr/>
        </p:nvSpPr>
        <p:spPr>
          <a:xfrm>
            <a:off x="3534479" y="4245675"/>
            <a:ext cx="1906538" cy="169277"/>
          </a:xfrm>
          <a:prstGeom prst="rect">
            <a:avLst/>
          </a:prstGeom>
          <a:solidFill>
            <a:srgbClr val="0070C0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xp1</a:t>
            </a:r>
            <a:r>
              <a:rPr lang="zh-CN" altLang="en-US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xp2</a:t>
            </a:r>
            <a:r>
              <a:rPr lang="zh-CN" altLang="en-US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复制创建成员对象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F8759BE0-FB71-429F-B37D-8D3DCC7B1F4F}"/>
              </a:ext>
            </a:extLst>
          </p:cNvPr>
          <p:cNvSpPr/>
          <p:nvPr/>
        </p:nvSpPr>
        <p:spPr>
          <a:xfrm>
            <a:off x="6005334" y="4873740"/>
            <a:ext cx="1963742" cy="163306"/>
          </a:xfrm>
          <a:prstGeom prst="roundRect">
            <a:avLst/>
          </a:prstGeom>
          <a:noFill/>
          <a:ln w="19050">
            <a:solidFill>
              <a:srgbClr val="47C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6C698298-B449-4E8B-AABA-20302D76BE39}"/>
              </a:ext>
            </a:extLst>
          </p:cNvPr>
          <p:cNvSpPr/>
          <p:nvPr/>
        </p:nvSpPr>
        <p:spPr>
          <a:xfrm>
            <a:off x="6005334" y="4683503"/>
            <a:ext cx="1963742" cy="163306"/>
          </a:xfrm>
          <a:prstGeom prst="roundRect">
            <a:avLst/>
          </a:prstGeom>
          <a:noFill/>
          <a:ln w="19050">
            <a:solidFill>
              <a:srgbClr val="47C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F4BECAE-E0EA-499B-BE21-105A64BD64DB}"/>
              </a:ext>
            </a:extLst>
          </p:cNvPr>
          <p:cNvSpPr/>
          <p:nvPr/>
        </p:nvSpPr>
        <p:spPr>
          <a:xfrm>
            <a:off x="2717411" y="5392513"/>
            <a:ext cx="1430161" cy="169277"/>
          </a:xfrm>
          <a:prstGeom prst="roundRect">
            <a:avLst/>
          </a:prstGeom>
          <a:noFill/>
          <a:ln w="19050">
            <a:solidFill>
              <a:srgbClr val="47C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93" name="连接符: 曲线 92">
            <a:extLst>
              <a:ext uri="{FF2B5EF4-FFF2-40B4-BE49-F238E27FC236}">
                <a16:creationId xmlns:a16="http://schemas.microsoft.com/office/drawing/2014/main" id="{87999A17-A47D-4E33-8DA1-04AF6EC33A55}"/>
              </a:ext>
            </a:extLst>
          </p:cNvPr>
          <p:cNvCxnSpPr>
            <a:cxnSpLocks/>
            <a:stCxn id="91" idx="3"/>
            <a:endCxn id="90" idx="1"/>
          </p:cNvCxnSpPr>
          <p:nvPr/>
        </p:nvCxnSpPr>
        <p:spPr>
          <a:xfrm flipV="1">
            <a:off x="4147572" y="4765156"/>
            <a:ext cx="1857762" cy="711996"/>
          </a:xfrm>
          <a:prstGeom prst="curvedConnector3">
            <a:avLst/>
          </a:prstGeom>
          <a:ln w="12700">
            <a:solidFill>
              <a:srgbClr val="47C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曲线 95">
            <a:extLst>
              <a:ext uri="{FF2B5EF4-FFF2-40B4-BE49-F238E27FC236}">
                <a16:creationId xmlns:a16="http://schemas.microsoft.com/office/drawing/2014/main" id="{793C48AF-4F38-418A-A3A5-D38AAEDC4DB4}"/>
              </a:ext>
            </a:extLst>
          </p:cNvPr>
          <p:cNvCxnSpPr>
            <a:stCxn id="91" idx="3"/>
            <a:endCxn id="89" idx="1"/>
          </p:cNvCxnSpPr>
          <p:nvPr/>
        </p:nvCxnSpPr>
        <p:spPr>
          <a:xfrm flipV="1">
            <a:off x="4147572" y="4955393"/>
            <a:ext cx="1857762" cy="521759"/>
          </a:xfrm>
          <a:prstGeom prst="curvedConnector3">
            <a:avLst/>
          </a:prstGeom>
          <a:ln w="12700">
            <a:solidFill>
              <a:srgbClr val="47C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9001EC9E-04D4-4366-8AA1-21A447AF0AE0}"/>
              </a:ext>
            </a:extLst>
          </p:cNvPr>
          <p:cNvSpPr txBox="1"/>
          <p:nvPr/>
        </p:nvSpPr>
        <p:spPr>
          <a:xfrm>
            <a:off x="4972746" y="5468584"/>
            <a:ext cx="2536519" cy="257369"/>
          </a:xfrm>
          <a:prstGeom prst="rect">
            <a:avLst/>
          </a:prstGeom>
          <a:solidFill>
            <a:srgbClr val="0070C0"/>
          </a:solidFill>
        </p:spPr>
        <p:txBody>
          <a:bodyPr wrap="none" lIns="36000" tIns="36000" rIns="36000" bIns="36000" rtlCol="0">
            <a:spAutoFit/>
          </a:bodyPr>
          <a:lstStyle>
            <a:defPPr>
              <a:defRPr lang="zh-CN"/>
            </a:defPPr>
            <a:lvl1pPr>
              <a:defRPr sz="110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200" dirty="0"/>
              <a:t>用</a:t>
            </a:r>
            <a:r>
              <a:rPr lang="en-US" altLang="zh-CN" sz="1200" dirty="0"/>
              <a:t>line1</a:t>
            </a:r>
            <a:r>
              <a:rPr lang="zh-CN" altLang="en-US" sz="1200" dirty="0"/>
              <a:t>的两个端点复制创建成员对象</a:t>
            </a:r>
          </a:p>
        </p:txBody>
      </p:sp>
    </p:spTree>
    <p:extLst>
      <p:ext uri="{BB962C8B-B14F-4D97-AF65-F5344CB8AC3E}">
        <p14:creationId xmlns:p14="http://schemas.microsoft.com/office/powerpoint/2010/main" val="330705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8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8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3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8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8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9" grpId="0" animBg="1"/>
      <p:bldP spid="9" grpId="1" animBg="1"/>
      <p:bldP spid="34" grpId="0" animBg="1"/>
      <p:bldP spid="34" grpId="1" animBg="1"/>
      <p:bldP spid="35" grpId="0" animBg="1"/>
      <p:bldP spid="35" grpId="1" animBg="1"/>
      <p:bldP spid="56" grpId="0" animBg="1"/>
      <p:bldP spid="59" grpId="0" animBg="1"/>
      <p:bldP spid="71" grpId="0" animBg="1"/>
      <p:bldP spid="72" grpId="0" animBg="1"/>
      <p:bldP spid="79" grpId="0" animBg="1"/>
      <p:bldP spid="81" grpId="0" animBg="1"/>
      <p:bldP spid="84" grpId="0"/>
      <p:bldP spid="88" grpId="0" animBg="1"/>
      <p:bldP spid="89" grpId="0" animBg="1"/>
      <p:bldP spid="90" grpId="0" animBg="1"/>
      <p:bldP spid="91" grpId="0" animBg="1"/>
      <p:bldP spid="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矩形 26628">
            <a:extLst>
              <a:ext uri="{FF2B5EF4-FFF2-40B4-BE49-F238E27FC236}">
                <a16:creationId xmlns:a16="http://schemas.microsoft.com/office/drawing/2014/main" id="{A2D91734-1500-4F24-A653-36F4259521F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24032" y="625807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成员</a:t>
            </a:r>
            <a:r>
              <a:rPr lang="zh-CN" altLang="en-US" sz="4100" b="1" dirty="0">
                <a:solidFill>
                  <a:srgbClr val="0070C0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初始化列表</a:t>
            </a:r>
          </a:p>
        </p:txBody>
      </p:sp>
      <p:sp>
        <p:nvSpPr>
          <p:cNvPr id="49154" name="文本框 2">
            <a:extLst>
              <a:ext uri="{FF2B5EF4-FFF2-40B4-BE49-F238E27FC236}">
                <a16:creationId xmlns:a16="http://schemas.microsoft.com/office/drawing/2014/main" id="{EB393ACD-FD16-4AA2-A2A3-87D47FA26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32" y="1769621"/>
            <a:ext cx="5220889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highlight>
                  <a:srgbClr val="FFFF00"/>
                </a:highlight>
              </a:rPr>
              <a:t>列表形式</a:t>
            </a:r>
            <a:r>
              <a:rPr lang="zh-CN" altLang="en-US" sz="2000" dirty="0"/>
              <a:t>：跟在构造函数的参数之后，以</a:t>
            </a:r>
            <a:r>
              <a:rPr lang="zh-CN" altLang="en-US" sz="2000" dirty="0">
                <a:solidFill>
                  <a:srgbClr val="0070C0"/>
                </a:solidFill>
              </a:rPr>
              <a:t>冒号</a:t>
            </a:r>
            <a:r>
              <a:rPr lang="zh-CN" altLang="en-US" sz="2000" dirty="0"/>
              <a:t>引出，形式为 </a:t>
            </a:r>
            <a:r>
              <a:rPr lang="zh-CN" altLang="en-US" sz="2000" dirty="0">
                <a:solidFill>
                  <a:srgbClr val="0070C0"/>
                </a:solidFill>
              </a:rPr>
              <a:t>成员名称</a:t>
            </a:r>
            <a:r>
              <a:rPr lang="en-US" altLang="zh-CN" sz="2000" dirty="0">
                <a:solidFill>
                  <a:srgbClr val="0070C0"/>
                </a:solidFill>
              </a:rPr>
              <a:t>(</a:t>
            </a:r>
            <a:r>
              <a:rPr lang="zh-CN" altLang="en-US" sz="2000" dirty="0"/>
              <a:t>参数</a:t>
            </a:r>
            <a:r>
              <a:rPr lang="en-US" altLang="zh-CN" sz="2000" dirty="0">
                <a:solidFill>
                  <a:srgbClr val="0070C0"/>
                </a:solidFill>
              </a:rPr>
              <a:t>)</a:t>
            </a:r>
            <a:r>
              <a:rPr lang="zh-CN" altLang="en-US" sz="2000" dirty="0"/>
              <a:t>，用</a:t>
            </a:r>
            <a:r>
              <a:rPr lang="zh-CN" altLang="en-US" sz="2000" dirty="0">
                <a:solidFill>
                  <a:srgbClr val="0070C0"/>
                </a:solidFill>
              </a:rPr>
              <a:t>逗号</a:t>
            </a:r>
            <a:r>
              <a:rPr lang="zh-CN" altLang="en-US" sz="2000" dirty="0"/>
              <a:t>分隔。例如：</a:t>
            </a: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当成员类型是</a:t>
            </a:r>
            <a:r>
              <a:rPr lang="zh-CN" altLang="en-US" sz="2000" dirty="0">
                <a:solidFill>
                  <a:srgbClr val="C00000"/>
                </a:solidFill>
              </a:rPr>
              <a:t>没有默认</a:t>
            </a:r>
            <a:r>
              <a:rPr lang="zh-CN" altLang="en-US" sz="2000" dirty="0"/>
              <a:t>构造函数的类，若不提供显式初始化时，则编译器隐式使用成员类型的默认构造函数，</a:t>
            </a:r>
            <a:r>
              <a:rPr lang="zh-CN" altLang="en-US" sz="2000" dirty="0">
                <a:solidFill>
                  <a:srgbClr val="C00000"/>
                </a:solidFill>
              </a:rPr>
              <a:t>此时发生错误</a:t>
            </a:r>
            <a:r>
              <a:rPr lang="zh-CN" altLang="en-US" sz="2000" dirty="0"/>
              <a:t>。尝试：</a:t>
            </a: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Line::Line(Point xp1, Point xp2)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p1(xp1);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p2(xp2);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CB3E270-5637-4F14-9448-1916064F0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36" y="5035570"/>
            <a:ext cx="470248" cy="811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ts val="0"/>
              </a:spcBef>
              <a:buClr>
                <a:srgbClr val="CC99FF"/>
              </a:buClr>
              <a:buSzTx/>
              <a:buFont typeface="Monotype Sorts" pitchFamily="2" charset="2"/>
              <a:buNone/>
            </a:pPr>
            <a:r>
              <a:rPr kumimoji="1" lang="zh-CN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</a:t>
            </a:r>
            <a:endParaRPr kumimoji="1" lang="en-US" altLang="zh-CN" sz="5400" b="1" dirty="0">
              <a:solidFill>
                <a:srgbClr val="FF000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B41D16-F806-45E9-8459-1A1C95CC0FE8}"/>
              </a:ext>
            </a:extLst>
          </p:cNvPr>
          <p:cNvSpPr txBox="1"/>
          <p:nvPr/>
        </p:nvSpPr>
        <p:spPr>
          <a:xfrm>
            <a:off x="5569313" y="953734"/>
            <a:ext cx="3319568" cy="557075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列表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：指定各种成员“诞生”的方式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创建任何类对象的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前提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是其中的所有成员都已“诞生”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如何诞生：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默认的方式，如各种基础类型的数据成员或有默认构造函数的对象成员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2)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按初始化列表传递的参数创建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没有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初始化列表，意味着所有成员将按默认方式诞生，即对象成员所属的类必须有默认构造函数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数据成员，如整型成员可能是随机值或默认为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初始化列表中用的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参数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主要来自构造函数的参数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但可用前面已初始化的成员初始化后面成员也可用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去初始化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构造函数并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不负责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对象成员的“诞生”，但可以更新修改成员，在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上，它是所有成员诞生后才执行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971466D-7A90-48A0-A760-BE64B8281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15" y="2749733"/>
            <a:ext cx="4903253" cy="8662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09012FB-4DE1-4BEB-BC5D-62E06FD643D0}"/>
              </a:ext>
            </a:extLst>
          </p:cNvPr>
          <p:cNvSpPr txBox="1"/>
          <p:nvPr/>
        </p:nvSpPr>
        <p:spPr>
          <a:xfrm>
            <a:off x="611560" y="5646882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2BF09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12BF09"/>
                </a:solidFill>
                <a:cs typeface="Times New Roman" panose="02020603050405020304" pitchFamily="18" charset="0"/>
              </a:rPr>
              <a:t> ↑ ↑ ↑错误：函数调用语句形式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2DA30A-B881-4B7B-9B01-715FAF471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5" y="1052736"/>
            <a:ext cx="3600401" cy="4557781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90C49123-76EE-4FD1-8553-0E4B05285870}"/>
              </a:ext>
            </a:extLst>
          </p:cNvPr>
          <p:cNvSpPr/>
          <p:nvPr/>
        </p:nvSpPr>
        <p:spPr>
          <a:xfrm>
            <a:off x="2159624" y="899498"/>
            <a:ext cx="2016224" cy="695970"/>
          </a:xfrm>
          <a:prstGeom prst="wedgeRoundRectCallout">
            <a:avLst>
              <a:gd name="adj1" fmla="val -21955"/>
              <a:gd name="adj2" fmla="val 74368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just"/>
            <a:r>
              <a:rPr lang="zh-CN" altLang="en-US" sz="14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若无默认构造函数，则</a:t>
            </a:r>
            <a:r>
              <a:rPr lang="en-US" altLang="zh-CN" sz="14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Line</a:t>
            </a:r>
            <a:r>
              <a:rPr lang="zh-CN" altLang="en-US" sz="14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对象的第一种构造方式将失败。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2F37F4-4749-4753-97E6-8E9BFF394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620688"/>
            <a:ext cx="3744416" cy="2559958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09AA1B-B9E7-4058-81D8-5F9B1F02B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956" y="1879315"/>
            <a:ext cx="4772025" cy="4248150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81DEFF"/>
            </a:solidFill>
          </a:ln>
          <a:effectLst/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DC33F068-BC12-460C-9CC5-A85CB3101575}"/>
              </a:ext>
            </a:extLst>
          </p:cNvPr>
          <p:cNvSpPr/>
          <p:nvPr/>
        </p:nvSpPr>
        <p:spPr>
          <a:xfrm>
            <a:off x="6948264" y="2343102"/>
            <a:ext cx="1380004" cy="612648"/>
          </a:xfrm>
          <a:prstGeom prst="wedgeRoundRectCallout">
            <a:avLst>
              <a:gd name="adj1" fmla="val -57227"/>
              <a:gd name="adj2" fmla="val -34516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just"/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按默认规则创建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3C2B4493-8ED3-4D0A-AE9C-8E55841BE282}"/>
              </a:ext>
            </a:extLst>
          </p:cNvPr>
          <p:cNvSpPr/>
          <p:nvPr/>
        </p:nvSpPr>
        <p:spPr>
          <a:xfrm>
            <a:off x="6011944" y="3150166"/>
            <a:ext cx="2016439" cy="612648"/>
          </a:xfrm>
          <a:prstGeom prst="wedgeRoundRectCallout">
            <a:avLst>
              <a:gd name="adj1" fmla="val -61570"/>
              <a:gd name="adj2" fmla="val -49442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just"/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分别更新为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xp1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xp2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0110937-572E-4A34-82A3-2DBCE657DB1B}"/>
              </a:ext>
            </a:extLst>
          </p:cNvPr>
          <p:cNvCxnSpPr/>
          <p:nvPr/>
        </p:nvCxnSpPr>
        <p:spPr>
          <a:xfrm>
            <a:off x="4860032" y="2420888"/>
            <a:ext cx="1944216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0FFC542E-FB4D-400A-BD97-EF0DB5F84506}"/>
              </a:ext>
            </a:extLst>
          </p:cNvPr>
          <p:cNvSpPr/>
          <p:nvPr/>
        </p:nvSpPr>
        <p:spPr>
          <a:xfrm>
            <a:off x="1619672" y="5453094"/>
            <a:ext cx="3030448" cy="432048"/>
          </a:xfrm>
          <a:prstGeom prst="wedgeRoundRectCallout">
            <a:avLst>
              <a:gd name="adj1" fmla="val 57602"/>
              <a:gd name="adj2" fmla="val -57444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just"/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按初始化列表创建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line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的成员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224C5F-4612-40D8-A334-0C706BF7D659}"/>
              </a:ext>
            </a:extLst>
          </p:cNvPr>
          <p:cNvSpPr txBox="1"/>
          <p:nvPr/>
        </p:nvSpPr>
        <p:spPr>
          <a:xfrm>
            <a:off x="381113" y="592739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26969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491FBED-3006-4844-B077-DA923085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52736"/>
            <a:ext cx="4933950" cy="2847975"/>
          </a:xfrm>
          <a:prstGeom prst="roundRect">
            <a:avLst>
              <a:gd name="adj" fmla="val 1760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5A053CD-D2F8-437A-B99B-A7117AE5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551" y="3356992"/>
            <a:ext cx="4952149" cy="2847975"/>
          </a:xfrm>
          <a:prstGeom prst="roundRect">
            <a:avLst>
              <a:gd name="adj" fmla="val 1760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47CFFF"/>
            </a:solidFill>
          </a:ln>
          <a:effectLst/>
        </p:spPr>
      </p:pic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DEE83D78-FFB4-4CA2-AAA5-C80C0A3B4797}"/>
              </a:ext>
            </a:extLst>
          </p:cNvPr>
          <p:cNvSpPr/>
          <p:nvPr/>
        </p:nvSpPr>
        <p:spPr>
          <a:xfrm>
            <a:off x="755576" y="4481389"/>
            <a:ext cx="2592288" cy="1026909"/>
          </a:xfrm>
          <a:prstGeom prst="wedgeRoundRectCallout">
            <a:avLst>
              <a:gd name="adj1" fmla="val 64221"/>
              <a:gd name="adj2" fmla="val -33115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just"/>
            <a:r>
              <a:rPr lang="zh-CN" altLang="en-US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此方式是对成员</a:t>
            </a:r>
            <a:r>
              <a:rPr lang="en-US" altLang="zh-CN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的设置吗？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3FEE40-28F5-4B44-A4FE-FA888079291A}"/>
              </a:ext>
            </a:extLst>
          </p:cNvPr>
          <p:cNvSpPr txBox="1"/>
          <p:nvPr/>
        </p:nvSpPr>
        <p:spPr>
          <a:xfrm>
            <a:off x="4932040" y="1844824"/>
            <a:ext cx="3242660" cy="461665"/>
          </a:xfrm>
          <a:prstGeom prst="rect">
            <a:avLst/>
          </a:prstGeom>
          <a:solidFill>
            <a:srgbClr val="0000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//Point </a:t>
            </a:r>
            <a:r>
              <a:rPr lang="zh-CN" altLang="en-US" dirty="0">
                <a:solidFill>
                  <a:srgbClr val="FFFF00"/>
                </a:solidFill>
              </a:rPr>
              <a:t>有默认构造函数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65AE830-3785-46AD-AEF9-5EAAB08F0BE0}"/>
              </a:ext>
            </a:extLst>
          </p:cNvPr>
          <p:cNvSpPr/>
          <p:nvPr/>
        </p:nvSpPr>
        <p:spPr>
          <a:xfrm>
            <a:off x="1475656" y="1916832"/>
            <a:ext cx="971210" cy="533673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564BE06-6B50-4EB0-9003-436A57A244EE}"/>
              </a:ext>
            </a:extLst>
          </p:cNvPr>
          <p:cNvSpPr/>
          <p:nvPr/>
        </p:nvSpPr>
        <p:spPr>
          <a:xfrm>
            <a:off x="3923928" y="4214553"/>
            <a:ext cx="1656184" cy="533673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3521C31A-6233-4B29-9BF9-F564C30C545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446866" y="2183669"/>
            <a:ext cx="1477062" cy="2297721"/>
          </a:xfrm>
          <a:prstGeom prst="curvedConnector3">
            <a:avLst>
              <a:gd name="adj1" fmla="val 50000"/>
            </a:avLst>
          </a:prstGeom>
          <a:ln w="19050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078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8C16787-8D9A-490B-B973-8EB990898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2776"/>
            <a:ext cx="4724400" cy="3857625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BDAF2D-99D8-41F8-9230-CCAAE355870C}"/>
              </a:ext>
            </a:extLst>
          </p:cNvPr>
          <p:cNvSpPr txBox="1"/>
          <p:nvPr/>
        </p:nvSpPr>
        <p:spPr>
          <a:xfrm>
            <a:off x="5292080" y="1698732"/>
            <a:ext cx="3242660" cy="461665"/>
          </a:xfrm>
          <a:prstGeom prst="rect">
            <a:avLst/>
          </a:prstGeom>
          <a:solidFill>
            <a:srgbClr val="0000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//Point </a:t>
            </a:r>
            <a:r>
              <a:rPr lang="zh-CN" altLang="en-US" dirty="0">
                <a:solidFill>
                  <a:srgbClr val="FFFF00"/>
                </a:solidFill>
              </a:rPr>
              <a:t>无默认构造函数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B92E6B-3122-4C07-BEF2-A0EC7766EEF9}"/>
              </a:ext>
            </a:extLst>
          </p:cNvPr>
          <p:cNvSpPr txBox="1"/>
          <p:nvPr/>
        </p:nvSpPr>
        <p:spPr>
          <a:xfrm>
            <a:off x="3117776" y="5284577"/>
            <a:ext cx="3996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正确</a:t>
            </a:r>
            <a:r>
              <a:rPr lang="zh-CN" altLang="en-US" dirty="0">
                <a:solidFill>
                  <a:srgbClr val="0070C0"/>
                </a:solidFill>
              </a:rPr>
              <a:t>的初始化顺序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支持表达式</a:t>
            </a:r>
            <a:r>
              <a:rPr lang="en-US" altLang="zh-CN" dirty="0">
                <a:solidFill>
                  <a:srgbClr val="0070C0"/>
                </a:solidFill>
              </a:rPr>
              <a:t>)……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FEA33FC-7ABC-45F1-BC30-CB32A5A19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2590335"/>
            <a:ext cx="4396345" cy="1726757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A67A6F4-CA19-488F-A0E9-BFF595F4B557}"/>
              </a:ext>
            </a:extLst>
          </p:cNvPr>
          <p:cNvCxnSpPr>
            <a:cxnSpLocks/>
          </p:cNvCxnSpPr>
          <p:nvPr/>
        </p:nvCxnSpPr>
        <p:spPr>
          <a:xfrm flipV="1">
            <a:off x="7956376" y="3341590"/>
            <a:ext cx="0" cy="3754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3F12A26-F275-4471-91C9-9FE42D0A2A9C}"/>
              </a:ext>
            </a:extLst>
          </p:cNvPr>
          <p:cNvSpPr txBox="1"/>
          <p:nvPr/>
        </p:nvSpPr>
        <p:spPr>
          <a:xfrm>
            <a:off x="6375174" y="2796003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92D050"/>
                </a:solidFill>
              </a:rPr>
              <a:t>//p1</a:t>
            </a:r>
            <a:r>
              <a:rPr lang="zh-CN" altLang="en-US" sz="1800" dirty="0">
                <a:solidFill>
                  <a:srgbClr val="92D050"/>
                </a:solidFill>
              </a:rPr>
              <a:t>成员已先初始化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FC6A96C-BE59-4A59-BD64-ED1DBD36BFC1}"/>
              </a:ext>
            </a:extLst>
          </p:cNvPr>
          <p:cNvCxnSpPr/>
          <p:nvPr/>
        </p:nvCxnSpPr>
        <p:spPr>
          <a:xfrm flipH="1">
            <a:off x="5940152" y="2996952"/>
            <a:ext cx="360040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D92F7A9-DB5C-4029-8CC0-BF635444F7A5}"/>
              </a:ext>
            </a:extLst>
          </p:cNvPr>
          <p:cNvCxnSpPr>
            <a:cxnSpLocks/>
          </p:cNvCxnSpPr>
          <p:nvPr/>
        </p:nvCxnSpPr>
        <p:spPr>
          <a:xfrm flipV="1">
            <a:off x="7092280" y="3341589"/>
            <a:ext cx="0" cy="37544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3C054AF-C465-4A95-9B4D-9481149C89DB}"/>
              </a:ext>
            </a:extLst>
          </p:cNvPr>
          <p:cNvSpPr txBox="1"/>
          <p:nvPr/>
        </p:nvSpPr>
        <p:spPr>
          <a:xfrm>
            <a:off x="5791508" y="3662452"/>
            <a:ext cx="2816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再利用</a:t>
            </a:r>
            <a:r>
              <a:rPr lang="en-US" altLang="zh-CN" dirty="0">
                <a:solidFill>
                  <a:srgbClr val="92D050"/>
                </a:solidFill>
              </a:rPr>
              <a:t>p1</a:t>
            </a:r>
            <a:r>
              <a:rPr lang="zh-CN" altLang="en-US" dirty="0">
                <a:solidFill>
                  <a:srgbClr val="FF0000"/>
                </a:solidFill>
              </a:rPr>
              <a:t>初始化</a:t>
            </a:r>
            <a:r>
              <a:rPr lang="en-US" altLang="zh-CN" dirty="0">
                <a:solidFill>
                  <a:srgbClr val="FF0000"/>
                </a:solidFill>
              </a:rPr>
              <a:t>p2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117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FA6D522-A49F-4E2A-8C1A-7CF9D5A94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125" y="1196752"/>
            <a:ext cx="5714266" cy="4176464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F98D2E-AE61-429A-8B12-82D9D43C1BD5}"/>
              </a:ext>
            </a:extLst>
          </p:cNvPr>
          <p:cNvSpPr txBox="1"/>
          <p:nvPr/>
        </p:nvSpPr>
        <p:spPr>
          <a:xfrm>
            <a:off x="5574181" y="3605507"/>
            <a:ext cx="2757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错误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的初始化 顺序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……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0FD9AA0-3E99-41AD-A67A-9CEAAFE3DEAE}"/>
              </a:ext>
            </a:extLst>
          </p:cNvPr>
          <p:cNvCxnSpPr/>
          <p:nvPr/>
        </p:nvCxnSpPr>
        <p:spPr>
          <a:xfrm>
            <a:off x="4364405" y="1367056"/>
            <a:ext cx="0" cy="64807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4FEF44C-0590-4ED3-887F-EE7ED15E22F8}"/>
              </a:ext>
            </a:extLst>
          </p:cNvPr>
          <p:cNvSpPr txBox="1"/>
          <p:nvPr/>
        </p:nvSpPr>
        <p:spPr>
          <a:xfrm>
            <a:off x="4427984" y="1368797"/>
            <a:ext cx="294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类体设计中的成员顺序</a:t>
            </a:r>
            <a:endParaRPr lang="en-US" altLang="zh-CN" sz="1800" dirty="0">
              <a:solidFill>
                <a:srgbClr val="FFFF00"/>
              </a:solidFill>
            </a:endParaRPr>
          </a:p>
          <a:p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才是实际的初始化顺序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FF2E109-62F5-49D5-A81E-91B20493E28C}"/>
              </a:ext>
            </a:extLst>
          </p:cNvPr>
          <p:cNvSpPr/>
          <p:nvPr/>
        </p:nvSpPr>
        <p:spPr>
          <a:xfrm>
            <a:off x="2653903" y="5157192"/>
            <a:ext cx="864079" cy="864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800" dirty="0"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  <a:r>
              <a:rPr lang="en-US" altLang="zh-CN" sz="1800" dirty="0"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1800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zh-CN" altLang="en-US" sz="1800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尚不存在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FC5F45B-5BDA-44A9-82D0-A4878D2CE95E}"/>
              </a:ext>
            </a:extLst>
          </p:cNvPr>
          <p:cNvSpPr/>
          <p:nvPr/>
        </p:nvSpPr>
        <p:spPr>
          <a:xfrm>
            <a:off x="2653903" y="4356051"/>
            <a:ext cx="108000" cy="108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2CDD4CC9-B5DD-4489-8573-0B2905911B17}"/>
              </a:ext>
            </a:extLst>
          </p:cNvPr>
          <p:cNvCxnSpPr>
            <a:cxnSpLocks/>
            <a:stCxn id="8" idx="4"/>
            <a:endCxn id="7" idx="0"/>
          </p:cNvCxnSpPr>
          <p:nvPr/>
        </p:nvCxnSpPr>
        <p:spPr>
          <a:xfrm rot="16200000" flipH="1">
            <a:off x="2550353" y="4621601"/>
            <a:ext cx="693141" cy="378040"/>
          </a:xfrm>
          <a:prstGeom prst="curvedConnector3">
            <a:avLst>
              <a:gd name="adj1" fmla="val 50000"/>
            </a:avLst>
          </a:prstGeom>
          <a:ln w="28575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83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408A48-C6E9-43D4-9EA7-B5A6687E9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73" y="740757"/>
            <a:ext cx="3828247" cy="3517007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E6BE74B-6691-4FB3-BBE2-EE1589A3F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249683"/>
            <a:ext cx="4186795" cy="2835501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3CC838-1EF5-43D9-B13D-7B10F8A8E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9" y="4437112"/>
            <a:ext cx="1668016" cy="1668016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303BB6B5-2AF7-4631-91F8-C3CECDC4CFAA}"/>
              </a:ext>
            </a:extLst>
          </p:cNvPr>
          <p:cNvCxnSpPr>
            <a:cxnSpLocks/>
            <a:stCxn id="3" idx="2"/>
            <a:endCxn id="5" idx="3"/>
          </p:cNvCxnSpPr>
          <p:nvPr/>
        </p:nvCxnSpPr>
        <p:spPr>
          <a:xfrm rot="5400000">
            <a:off x="4631548" y="3885342"/>
            <a:ext cx="185936" cy="2585621"/>
          </a:xfrm>
          <a:prstGeom prst="bentConnector2">
            <a:avLst/>
          </a:prstGeom>
          <a:ln w="28575">
            <a:solidFill>
              <a:srgbClr val="66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E71502-AF50-4F4A-AF74-D6DBFC8DEA71}"/>
              </a:ext>
            </a:extLst>
          </p:cNvPr>
          <p:cNvSpPr/>
          <p:nvPr/>
        </p:nvSpPr>
        <p:spPr>
          <a:xfrm>
            <a:off x="1593335" y="5585170"/>
            <a:ext cx="1963742" cy="23984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B4AF5B-2150-40A0-918D-87DA66B57923}"/>
              </a:ext>
            </a:extLst>
          </p:cNvPr>
          <p:cNvSpPr txBox="1"/>
          <p:nvPr/>
        </p:nvSpPr>
        <p:spPr>
          <a:xfrm>
            <a:off x="4427984" y="5543077"/>
            <a:ext cx="36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//Line85</a:t>
            </a:r>
            <a:r>
              <a:rPr lang="zh-CN" altLang="en-US" sz="2000" dirty="0">
                <a:solidFill>
                  <a:srgbClr val="002060"/>
                </a:solidFill>
              </a:rPr>
              <a:t>引用对象</a:t>
            </a:r>
            <a:r>
              <a:rPr lang="en-US" altLang="zh-CN" sz="2000" dirty="0">
                <a:solidFill>
                  <a:srgbClr val="002060"/>
                </a:solidFill>
              </a:rPr>
              <a:t>line1</a:t>
            </a:r>
            <a:r>
              <a:rPr lang="zh-CN" altLang="en-US" sz="2000" dirty="0">
                <a:solidFill>
                  <a:srgbClr val="002060"/>
                </a:solidFill>
              </a:rPr>
              <a:t>的端点</a:t>
            </a:r>
            <a:r>
              <a:rPr lang="en-US" altLang="zh-CN" sz="2000" dirty="0">
                <a:solidFill>
                  <a:srgbClr val="002060"/>
                </a:solidFill>
              </a:rPr>
              <a:t>p1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//</a:t>
            </a:r>
            <a:r>
              <a:rPr lang="zh-CN" altLang="en-US" sz="2000" dirty="0">
                <a:solidFill>
                  <a:srgbClr val="002060"/>
                </a:solidFill>
              </a:rPr>
              <a:t>去初始化创建</a:t>
            </a:r>
            <a:r>
              <a:rPr lang="en-US" altLang="zh-CN" sz="2000" dirty="0">
                <a:solidFill>
                  <a:srgbClr val="002060"/>
                </a:solidFill>
              </a:rPr>
              <a:t>(</a:t>
            </a:r>
            <a:r>
              <a:rPr lang="zh-CN" altLang="en-US" sz="2000" dirty="0">
                <a:solidFill>
                  <a:srgbClr val="002060"/>
                </a:solidFill>
              </a:rPr>
              <a:t>复制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  <a:r>
              <a:rPr lang="zh-CN" altLang="en-US" sz="2000" dirty="0">
                <a:solidFill>
                  <a:srgbClr val="002060"/>
                </a:solidFill>
              </a:rPr>
              <a:t>了新对象</a:t>
            </a:r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1EBB04C4-7018-4526-AA74-C4C017794EF2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557077" y="5705091"/>
            <a:ext cx="870907" cy="191929"/>
          </a:xfrm>
          <a:prstGeom prst="curvedConnector3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32B54C3-D87A-462A-9F53-667C46F7CB0A}"/>
              </a:ext>
            </a:extLst>
          </p:cNvPr>
          <p:cNvSpPr txBox="1"/>
          <p:nvPr/>
        </p:nvSpPr>
        <p:spPr>
          <a:xfrm>
            <a:off x="5436096" y="11408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关于返回引用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E3C8B7-FD20-4E7D-ACEF-36DBDBC4FE8C}"/>
              </a:ext>
            </a:extLst>
          </p:cNvPr>
          <p:cNvSpPr txBox="1"/>
          <p:nvPr/>
        </p:nvSpPr>
        <p:spPr>
          <a:xfrm>
            <a:off x="107504" y="6421209"/>
            <a:ext cx="206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代码在备注中↓ ↓ ↓</a:t>
            </a:r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D95C813F-65BF-45CA-BFBB-C6AC344FC662}"/>
              </a:ext>
            </a:extLst>
          </p:cNvPr>
          <p:cNvSpPr/>
          <p:nvPr/>
        </p:nvSpPr>
        <p:spPr>
          <a:xfrm>
            <a:off x="3677924" y="2393699"/>
            <a:ext cx="216024" cy="504056"/>
          </a:xfrm>
          <a:prstGeom prst="leftBrace">
            <a:avLst>
              <a:gd name="adj1" fmla="val 46498"/>
              <a:gd name="adj2" fmla="val 60409"/>
            </a:avLst>
          </a:prstGeom>
          <a:ln w="1905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57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9D1051B-E8E2-4E81-BC6E-51DA13C0EF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02"/>
          <a:stretch/>
        </p:blipFill>
        <p:spPr>
          <a:xfrm>
            <a:off x="683568" y="980728"/>
            <a:ext cx="3828247" cy="3242608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012D99B-9445-4DFD-A1AC-22C0F079F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347386"/>
            <a:ext cx="985764" cy="985764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82D5148A-DD1C-45A7-BA8C-057AB73CF8A6}"/>
              </a:ext>
            </a:extLst>
          </p:cNvPr>
          <p:cNvCxnSpPr>
            <a:cxnSpLocks/>
            <a:stCxn id="10" idx="2"/>
            <a:endCxn id="18" idx="3"/>
          </p:cNvCxnSpPr>
          <p:nvPr/>
        </p:nvCxnSpPr>
        <p:spPr>
          <a:xfrm rot="5400000">
            <a:off x="4596051" y="4041848"/>
            <a:ext cx="332576" cy="2707281"/>
          </a:xfrm>
          <a:prstGeom prst="bentConnector2">
            <a:avLst/>
          </a:prstGeom>
          <a:ln w="28575">
            <a:solidFill>
              <a:srgbClr val="66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35BA163-8AD3-42E8-82EC-01F447C3AB67}"/>
              </a:ext>
            </a:extLst>
          </p:cNvPr>
          <p:cNvSpPr txBox="1"/>
          <p:nvPr/>
        </p:nvSpPr>
        <p:spPr>
          <a:xfrm>
            <a:off x="4511814" y="5667345"/>
            <a:ext cx="402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//Line85 </a:t>
            </a:r>
            <a:r>
              <a:rPr lang="zh-CN" altLang="en-US" sz="1800" dirty="0">
                <a:solidFill>
                  <a:srgbClr val="002060"/>
                </a:solidFill>
              </a:rPr>
              <a:t>以</a:t>
            </a:r>
            <a:r>
              <a:rPr lang="en-US" altLang="zh-CN" sz="1800" dirty="0">
                <a:solidFill>
                  <a:srgbClr val="002060"/>
                </a:solidFill>
              </a:rPr>
              <a:t>p</a:t>
            </a:r>
            <a:r>
              <a:rPr lang="zh-CN" altLang="en-US" sz="1800" dirty="0">
                <a:solidFill>
                  <a:srgbClr val="002060"/>
                </a:solidFill>
              </a:rPr>
              <a:t>的名义获得对</a:t>
            </a:r>
            <a:r>
              <a:rPr lang="en-US" altLang="zh-CN" sz="1800" dirty="0">
                <a:solidFill>
                  <a:srgbClr val="002060"/>
                </a:solidFill>
              </a:rPr>
              <a:t>line1</a:t>
            </a:r>
            <a:r>
              <a:rPr lang="zh-CN" altLang="en-US" sz="1800" dirty="0">
                <a:solidFill>
                  <a:srgbClr val="002060"/>
                </a:solidFill>
              </a:rPr>
              <a:t>端点</a:t>
            </a:r>
            <a:endParaRPr lang="en-US" altLang="zh-CN" sz="1800" dirty="0">
              <a:solidFill>
                <a:srgbClr val="002060"/>
              </a:solidFill>
            </a:endParaRPr>
          </a:p>
          <a:p>
            <a:r>
              <a:rPr lang="en-US" altLang="zh-CN" sz="1800" dirty="0">
                <a:solidFill>
                  <a:srgbClr val="002060"/>
                </a:solidFill>
              </a:rPr>
              <a:t>//p1</a:t>
            </a:r>
            <a:r>
              <a:rPr lang="zh-CN" altLang="en-US" sz="1800" dirty="0">
                <a:solidFill>
                  <a:srgbClr val="002060"/>
                </a:solidFill>
              </a:rPr>
              <a:t>的引用，并没有创建新对象</a:t>
            </a:r>
            <a:r>
              <a:rPr lang="en-US" altLang="zh-CN" sz="1800" dirty="0">
                <a:solidFill>
                  <a:srgbClr val="002060"/>
                </a:solidFill>
              </a:rPr>
              <a:t>; </a:t>
            </a:r>
          </a:p>
          <a:p>
            <a:r>
              <a:rPr lang="en-US" altLang="zh-CN" sz="1800" dirty="0">
                <a:solidFill>
                  <a:srgbClr val="002060"/>
                </a:solidFill>
              </a:rPr>
              <a:t>//Line86 </a:t>
            </a:r>
            <a:r>
              <a:rPr lang="zh-CN" altLang="en-US" sz="1800" dirty="0">
                <a:solidFill>
                  <a:srgbClr val="002060"/>
                </a:solidFill>
              </a:rPr>
              <a:t>设置实际发生在</a:t>
            </a:r>
            <a:r>
              <a:rPr lang="en-US" altLang="zh-CN" sz="1800" dirty="0">
                <a:solidFill>
                  <a:srgbClr val="002060"/>
                </a:solidFill>
              </a:rPr>
              <a:t>line1</a:t>
            </a:r>
            <a:r>
              <a:rPr lang="zh-CN" altLang="en-US" sz="1800" dirty="0">
                <a:solidFill>
                  <a:srgbClr val="002060"/>
                </a:solidFill>
              </a:rPr>
              <a:t>的</a:t>
            </a:r>
            <a:r>
              <a:rPr lang="en-US" altLang="zh-CN" sz="1800" dirty="0">
                <a:solidFill>
                  <a:srgbClr val="002060"/>
                </a:solidFill>
              </a:rPr>
              <a:t>p1</a:t>
            </a:r>
            <a:r>
              <a:rPr lang="zh-CN" altLang="en-US" sz="1800" dirty="0">
                <a:solidFill>
                  <a:srgbClr val="002060"/>
                </a:solidFill>
              </a:rPr>
              <a:t>上</a:t>
            </a:r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7A9E49F9-D796-4ACE-A820-D7DD4A450AC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563888" y="6030598"/>
            <a:ext cx="947926" cy="98412"/>
          </a:xfrm>
          <a:prstGeom prst="curvedConnector3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5AB35C2-B936-4351-AEA3-D4A46F231BF1}"/>
              </a:ext>
            </a:extLst>
          </p:cNvPr>
          <p:cNvSpPr txBox="1"/>
          <p:nvPr/>
        </p:nvSpPr>
        <p:spPr>
          <a:xfrm>
            <a:off x="5436096" y="83671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关于返回引用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D4DF0E0-E3BE-4A58-9815-B86CE4144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2172922"/>
            <a:ext cx="4528117" cy="3056278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14" name="左大括号 13">
            <a:extLst>
              <a:ext uri="{FF2B5EF4-FFF2-40B4-BE49-F238E27FC236}">
                <a16:creationId xmlns:a16="http://schemas.microsoft.com/office/drawing/2014/main" id="{C8AA283B-33AA-4821-AD1F-D14900F379E9}"/>
              </a:ext>
            </a:extLst>
          </p:cNvPr>
          <p:cNvSpPr/>
          <p:nvPr/>
        </p:nvSpPr>
        <p:spPr>
          <a:xfrm>
            <a:off x="3577401" y="2356820"/>
            <a:ext cx="216024" cy="504056"/>
          </a:xfrm>
          <a:prstGeom prst="leftBrace">
            <a:avLst>
              <a:gd name="adj1" fmla="val 46498"/>
              <a:gd name="adj2" fmla="val 57435"/>
            </a:avLst>
          </a:prstGeom>
          <a:ln w="1905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DDB47BB-712C-4ECC-A6FB-B82BB6C8A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66" y="4725144"/>
            <a:ext cx="1630632" cy="1673263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458E953-B9D4-4F83-84BF-7664E0C0D02A}"/>
              </a:ext>
            </a:extLst>
          </p:cNvPr>
          <p:cNvSpPr/>
          <p:nvPr/>
        </p:nvSpPr>
        <p:spPr>
          <a:xfrm>
            <a:off x="1600146" y="5910677"/>
            <a:ext cx="1963742" cy="23984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903BBCA2-540A-482A-BA5D-E25A49172C34}"/>
              </a:ext>
            </a:extLst>
          </p:cNvPr>
          <p:cNvCxnSpPr>
            <a:stCxn id="4" idx="2"/>
            <a:endCxn id="18" idx="1"/>
          </p:cNvCxnSpPr>
          <p:nvPr/>
        </p:nvCxnSpPr>
        <p:spPr>
          <a:xfrm rot="16200000" flipH="1">
            <a:off x="1254933" y="5038643"/>
            <a:ext cx="228626" cy="817640"/>
          </a:xfrm>
          <a:prstGeom prst="curvedConnector2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11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5B323CA3-4C16-4EE1-8D12-00C129988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50" y="4365104"/>
            <a:ext cx="1822074" cy="21724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0E332B8-4BE3-4001-A096-E2071A872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73" y="740757"/>
            <a:ext cx="3828247" cy="3517007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2867816-F07F-4840-B747-6CC09A47C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928" y="2249683"/>
            <a:ext cx="4186795" cy="2835501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74747155-A3CE-4B4A-8302-44800A1F8E41}"/>
              </a:ext>
            </a:extLst>
          </p:cNvPr>
          <p:cNvCxnSpPr>
            <a:cxnSpLocks/>
            <a:stCxn id="3" idx="2"/>
            <a:endCxn id="17" idx="3"/>
          </p:cNvCxnSpPr>
          <p:nvPr/>
        </p:nvCxnSpPr>
        <p:spPr>
          <a:xfrm rot="5400000">
            <a:off x="4386397" y="3820411"/>
            <a:ext cx="366157" cy="2895702"/>
          </a:xfrm>
          <a:prstGeom prst="bentConnector2">
            <a:avLst/>
          </a:prstGeom>
          <a:ln w="28575">
            <a:solidFill>
              <a:srgbClr val="66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9A6B2D6-8DBA-45ED-8DD0-80FAAA3B9A5A}"/>
              </a:ext>
            </a:extLst>
          </p:cNvPr>
          <p:cNvSpPr/>
          <p:nvPr/>
        </p:nvSpPr>
        <p:spPr>
          <a:xfrm>
            <a:off x="1157882" y="5688265"/>
            <a:ext cx="2117974" cy="23984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C4F55A-E588-4D0C-82D4-D84C5D26F385}"/>
              </a:ext>
            </a:extLst>
          </p:cNvPr>
          <p:cNvSpPr txBox="1"/>
          <p:nvPr/>
        </p:nvSpPr>
        <p:spPr>
          <a:xfrm>
            <a:off x="4407678" y="5443524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//Line85</a:t>
            </a:r>
            <a:r>
              <a:rPr lang="zh-CN" altLang="en-US" sz="1800" dirty="0">
                <a:solidFill>
                  <a:srgbClr val="002060"/>
                </a:solidFill>
              </a:rPr>
              <a:t>：编译器优化了一次复制构造，可理解为</a:t>
            </a:r>
            <a:r>
              <a:rPr lang="en-US" altLang="zh-CN" sz="1800" dirty="0">
                <a:solidFill>
                  <a:srgbClr val="002060"/>
                </a:solidFill>
              </a:rPr>
              <a:t>start</a:t>
            </a:r>
            <a:r>
              <a:rPr lang="zh-CN" altLang="en-US" sz="1800" dirty="0">
                <a:solidFill>
                  <a:srgbClr val="002060"/>
                </a:solidFill>
              </a:rPr>
              <a:t>返回时的临时对象直接成为了</a:t>
            </a:r>
            <a:r>
              <a:rPr lang="en-US" altLang="zh-CN" sz="1800" dirty="0">
                <a:solidFill>
                  <a:srgbClr val="002060"/>
                </a:solidFill>
              </a:rPr>
              <a:t>p</a:t>
            </a:r>
            <a:endParaRPr lang="zh-CN" altLang="en-US" sz="1800" dirty="0">
              <a:solidFill>
                <a:srgbClr val="002060"/>
              </a:solidFill>
            </a:endParaRPr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BD1677F4-739B-4660-83AA-6F0351195B4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275856" y="5766690"/>
            <a:ext cx="1131822" cy="41496"/>
          </a:xfrm>
          <a:prstGeom prst="curvedConnector3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076BA43-A172-4A60-8C5F-4ABAB8BE6CB6}"/>
              </a:ext>
            </a:extLst>
          </p:cNvPr>
          <p:cNvSpPr txBox="1"/>
          <p:nvPr/>
        </p:nvSpPr>
        <p:spPr>
          <a:xfrm>
            <a:off x="5157383" y="980227"/>
            <a:ext cx="28616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关于返回引用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非引用方式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5EA56382-F3A8-4B43-A1BF-3E837F0D6B5F}"/>
              </a:ext>
            </a:extLst>
          </p:cNvPr>
          <p:cNvSpPr/>
          <p:nvPr/>
        </p:nvSpPr>
        <p:spPr>
          <a:xfrm>
            <a:off x="3677924" y="2393699"/>
            <a:ext cx="216024" cy="504056"/>
          </a:xfrm>
          <a:prstGeom prst="leftBrace">
            <a:avLst>
              <a:gd name="adj1" fmla="val 46498"/>
              <a:gd name="adj2" fmla="val 60409"/>
            </a:avLst>
          </a:prstGeom>
          <a:ln w="1905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1A05813-A948-4929-A128-EC05FDCF0446}"/>
              </a:ext>
            </a:extLst>
          </p:cNvPr>
          <p:cNvCxnSpPr/>
          <p:nvPr/>
        </p:nvCxnSpPr>
        <p:spPr>
          <a:xfrm>
            <a:off x="2195736" y="2564904"/>
            <a:ext cx="0" cy="3328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D6B24AF-0EA9-4586-8182-F2C87082987D}"/>
              </a:ext>
            </a:extLst>
          </p:cNvPr>
          <p:cNvCxnSpPr/>
          <p:nvPr/>
        </p:nvCxnSpPr>
        <p:spPr>
          <a:xfrm>
            <a:off x="4698598" y="2206694"/>
            <a:ext cx="0" cy="3328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AF92EFB-892E-428F-8BE6-258EBCA45BED}"/>
              </a:ext>
            </a:extLst>
          </p:cNvPr>
          <p:cNvCxnSpPr>
            <a:cxnSpLocks/>
          </p:cNvCxnSpPr>
          <p:nvPr/>
        </p:nvCxnSpPr>
        <p:spPr>
          <a:xfrm>
            <a:off x="5329252" y="2726338"/>
            <a:ext cx="12589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6302B76-B94E-48BA-B4B6-93641AF0C0DF}"/>
              </a:ext>
            </a:extLst>
          </p:cNvPr>
          <p:cNvSpPr txBox="1"/>
          <p:nvPr/>
        </p:nvSpPr>
        <p:spPr>
          <a:xfrm>
            <a:off x="4407678" y="6019843"/>
            <a:ext cx="4484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//Line88</a:t>
            </a:r>
            <a:r>
              <a:rPr lang="zh-CN" altLang="en-US" sz="1800" dirty="0">
                <a:solidFill>
                  <a:srgbClr val="002060"/>
                </a:solidFill>
              </a:rPr>
              <a:t>：</a:t>
            </a:r>
            <a:r>
              <a:rPr lang="en-US" altLang="zh-CN" sz="1800" dirty="0">
                <a:solidFill>
                  <a:srgbClr val="002060"/>
                </a:solidFill>
              </a:rPr>
              <a:t>start </a:t>
            </a:r>
            <a:r>
              <a:rPr lang="zh-CN" altLang="en-US" sz="1800" dirty="0">
                <a:solidFill>
                  <a:srgbClr val="002060"/>
                </a:solidFill>
              </a:rPr>
              <a:t>函数返回时把</a:t>
            </a:r>
            <a:r>
              <a:rPr lang="en-US" altLang="zh-CN" sz="1800" dirty="0">
                <a:solidFill>
                  <a:srgbClr val="002060"/>
                </a:solidFill>
              </a:rPr>
              <a:t>p1</a:t>
            </a:r>
            <a:r>
              <a:rPr lang="zh-CN" altLang="en-US" sz="1800" dirty="0">
                <a:solidFill>
                  <a:srgbClr val="002060"/>
                </a:solidFill>
              </a:rPr>
              <a:t>复制给了</a:t>
            </a:r>
            <a:endParaRPr lang="en-US" altLang="zh-CN" sz="1800" dirty="0">
              <a:solidFill>
                <a:srgbClr val="002060"/>
              </a:solidFill>
            </a:endParaRPr>
          </a:p>
          <a:p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一个临时对象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C03A695-ACD7-4E3F-848E-3FA467F468BF}"/>
              </a:ext>
            </a:extLst>
          </p:cNvPr>
          <p:cNvSpPr/>
          <p:nvPr/>
        </p:nvSpPr>
        <p:spPr>
          <a:xfrm>
            <a:off x="1157882" y="5960605"/>
            <a:ext cx="2117974" cy="239842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6BC08205-CBD7-4F0B-9A6D-DF223B245912}"/>
              </a:ext>
            </a:extLst>
          </p:cNvPr>
          <p:cNvCxnSpPr>
            <a:cxnSpLocks/>
            <a:stCxn id="24" idx="3"/>
            <a:endCxn id="22" idx="1"/>
          </p:cNvCxnSpPr>
          <p:nvPr/>
        </p:nvCxnSpPr>
        <p:spPr>
          <a:xfrm>
            <a:off x="3275856" y="6080526"/>
            <a:ext cx="1131822" cy="262483"/>
          </a:xfrm>
          <a:prstGeom prst="curvedConnector3">
            <a:avLst/>
          </a:prstGeom>
          <a:ln w="190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02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C32E80-2004-424E-B1BE-2D2DD0C4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99" y="1120863"/>
            <a:ext cx="3777209" cy="2476859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17C4722-E881-456F-A028-AF4C62AF7748}"/>
              </a:ext>
            </a:extLst>
          </p:cNvPr>
          <p:cNvSpPr txBox="1"/>
          <p:nvPr/>
        </p:nvSpPr>
        <p:spPr>
          <a:xfrm>
            <a:off x="887126" y="4221088"/>
            <a:ext cx="32207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66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关于返回引用</a:t>
            </a:r>
            <a:endParaRPr lang="en-US" altLang="zh-CN" sz="2800" dirty="0">
              <a:solidFill>
                <a:srgbClr val="66F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rgbClr val="66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2800" dirty="0">
                <a:solidFill>
                  <a:srgbClr val="66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正确的引用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613613-70A9-4C51-8057-0AFBBE6A4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592" y="1120863"/>
            <a:ext cx="3947509" cy="5134622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D8394AB-FFAC-424A-A730-D6ADAFFA5A33}"/>
              </a:ext>
            </a:extLst>
          </p:cNvPr>
          <p:cNvSpPr txBox="1"/>
          <p:nvPr/>
        </p:nvSpPr>
        <p:spPr>
          <a:xfrm>
            <a:off x="6732869" y="638132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66FF33"/>
                </a:solidFill>
              </a:rPr>
              <a:t>代码在备注中↓ ↓ 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B240CD-0183-4C37-AD9C-27A8DAEC4C9A}"/>
              </a:ext>
            </a:extLst>
          </p:cNvPr>
          <p:cNvSpPr txBox="1"/>
          <p:nvPr/>
        </p:nvSpPr>
        <p:spPr>
          <a:xfrm>
            <a:off x="5575142" y="5589240"/>
            <a:ext cx="3265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FF00"/>
                </a:solidFill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</a:rPr>
              <a:t>这里涉及编译器优化，仅在</a:t>
            </a:r>
            <a:r>
              <a:rPr lang="en-US" altLang="zh-CN" sz="1600" dirty="0">
                <a:solidFill>
                  <a:srgbClr val="FFFF00"/>
                </a:solidFill>
              </a:rPr>
              <a:t>center</a:t>
            </a:r>
          </a:p>
          <a:p>
            <a:r>
              <a:rPr lang="en-US" altLang="zh-CN" sz="1600" dirty="0">
                <a:solidFill>
                  <a:srgbClr val="FFFF00"/>
                </a:solidFill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</a:rPr>
              <a:t>函数执行时构造了</a:t>
            </a:r>
            <a:r>
              <a:rPr lang="zh-CN" altLang="en-US" sz="1600" dirty="0">
                <a:solidFill>
                  <a:srgbClr val="FF0000"/>
                </a:solidFill>
              </a:rPr>
              <a:t>临时对象</a:t>
            </a:r>
            <a:r>
              <a:rPr lang="en-US" altLang="zh-CN" sz="1600" dirty="0" err="1">
                <a:solidFill>
                  <a:srgbClr val="FF0000"/>
                </a:solidFill>
              </a:rPr>
              <a:t>ct</a:t>
            </a:r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43F7AD-78A6-43F8-A40D-FC471BC2B6A4}"/>
              </a:ext>
            </a:extLst>
          </p:cNvPr>
          <p:cNvSpPr/>
          <p:nvPr/>
        </p:nvSpPr>
        <p:spPr>
          <a:xfrm>
            <a:off x="4504155" y="5712823"/>
            <a:ext cx="1018733" cy="317173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B8644E14-81ED-4DE4-AF63-BDBE8F58D023}"/>
              </a:ext>
            </a:extLst>
          </p:cNvPr>
          <p:cNvSpPr/>
          <p:nvPr/>
        </p:nvSpPr>
        <p:spPr>
          <a:xfrm rot="5400000">
            <a:off x="6988673" y="2009548"/>
            <a:ext cx="216024" cy="356159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DE0AD90E-A6E2-4ED1-9FDD-C550380A8177}"/>
              </a:ext>
            </a:extLst>
          </p:cNvPr>
          <p:cNvSpPr/>
          <p:nvPr/>
        </p:nvSpPr>
        <p:spPr>
          <a:xfrm>
            <a:off x="2281478" y="3731344"/>
            <a:ext cx="216024" cy="388898"/>
          </a:xfrm>
          <a:prstGeom prst="upArrow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36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类的组合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类继承和派生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深拷贝</a:t>
            </a:r>
            <a:r>
              <a:rPr lang="en-US" altLang="zh-CN" dirty="0"/>
              <a:t> vs. </a:t>
            </a:r>
            <a:r>
              <a:rPr lang="zh-CN" altLang="en-US" dirty="0"/>
              <a:t>浅拷贝</a:t>
            </a:r>
            <a:endParaRPr lang="en-US" altLang="zh-C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8BB27A-6946-4080-85EC-C5C0791D2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996952"/>
            <a:ext cx="3202843" cy="257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52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1772FA-5B43-4411-B6F3-001BCD8DA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820" y="3645024"/>
            <a:ext cx="2719759" cy="20945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8D2461F-3A3D-4795-85B2-58B0F2EA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0317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类的继承与派生</a:t>
            </a:r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FED7834B-810E-43F8-BD4C-636BC8A30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56792"/>
            <a:ext cx="7486183" cy="4752528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继承与派生是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同一过程</a:t>
            </a:r>
            <a:r>
              <a:rPr lang="zh-CN" altLang="en-US" dirty="0">
                <a:latin typeface="宋体" panose="02010600030101010101" pitchFamily="2" charset="-122"/>
              </a:rPr>
              <a:t>从不同的角度看：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保持已有类的特性而构造新类的过程称为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继承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在已有类的基础上新增特性而产生新类的过程称为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派生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200" dirty="0">
                <a:latin typeface="宋体" panose="02010600030101010101" pitchFamily="2" charset="-122"/>
              </a:rPr>
              <a:t>被继承的已有类称为</a:t>
            </a:r>
            <a:r>
              <a:rPr lang="zh-CN" altLang="en-US" sz="2200" dirty="0">
                <a:solidFill>
                  <a:srgbClr val="C00000"/>
                </a:solidFill>
                <a:latin typeface="宋体" panose="02010600030101010101" pitchFamily="2" charset="-122"/>
              </a:rPr>
              <a:t>基类</a:t>
            </a:r>
            <a:r>
              <a:rPr lang="zh-CN" altLang="en-US" sz="2200" dirty="0">
                <a:latin typeface="宋体" panose="02010600030101010101" pitchFamily="2" charset="-122"/>
              </a:rPr>
              <a:t>（或父类）。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200" dirty="0">
                <a:latin typeface="宋体" panose="02010600030101010101" pitchFamily="2" charset="-122"/>
              </a:rPr>
              <a:t>派生出的新类称为</a:t>
            </a:r>
            <a:r>
              <a:rPr lang="zh-CN" altLang="en-US" sz="2200" dirty="0">
                <a:solidFill>
                  <a:srgbClr val="C00000"/>
                </a:solidFill>
                <a:latin typeface="宋体" panose="02010600030101010101" pitchFamily="2" charset="-122"/>
              </a:rPr>
              <a:t>派生类</a:t>
            </a:r>
            <a:r>
              <a:rPr lang="zh-CN" altLang="en-US" sz="2200" dirty="0">
                <a:latin typeface="宋体" panose="02010600030101010101" pitchFamily="2" charset="-122"/>
              </a:rPr>
              <a:t>。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200" dirty="0"/>
              <a:t>直接参与派生出某类的基类称为</a:t>
            </a:r>
            <a:r>
              <a:rPr lang="zh-CN" altLang="en-US" sz="2200" dirty="0">
                <a:solidFill>
                  <a:srgbClr val="0070C0"/>
                </a:solidFill>
                <a:latin typeface="宋体" panose="02010600030101010101" pitchFamily="2" charset="-122"/>
              </a:rPr>
              <a:t>直接</a:t>
            </a:r>
            <a:br>
              <a:rPr lang="en-US" altLang="zh-CN" sz="2200" dirty="0">
                <a:solidFill>
                  <a:srgbClr val="0070C0"/>
                </a:solidFill>
                <a:latin typeface="宋体" panose="02010600030101010101" pitchFamily="2" charset="-122"/>
              </a:rPr>
            </a:br>
            <a:r>
              <a:rPr lang="zh-CN" altLang="en-US" sz="2200" dirty="0">
                <a:solidFill>
                  <a:srgbClr val="0070C0"/>
                </a:solidFill>
                <a:latin typeface="宋体" panose="02010600030101010101" pitchFamily="2" charset="-122"/>
              </a:rPr>
              <a:t>基类</a:t>
            </a:r>
            <a:r>
              <a:rPr lang="zh-CN" altLang="en-US" sz="2200" dirty="0"/>
              <a:t>，基类的基类甚至更高层的基类</a:t>
            </a:r>
            <a:br>
              <a:rPr lang="en-US" altLang="zh-CN" sz="2200" dirty="0"/>
            </a:br>
            <a:r>
              <a:rPr lang="zh-CN" altLang="en-US" sz="2200" dirty="0"/>
              <a:t>称为</a:t>
            </a:r>
            <a:r>
              <a:rPr lang="zh-CN" altLang="en-US" sz="2200" dirty="0">
                <a:solidFill>
                  <a:srgbClr val="0070C0"/>
                </a:solidFill>
                <a:latin typeface="宋体" panose="02010600030101010101" pitchFamily="2" charset="-122"/>
              </a:rPr>
              <a:t>间接基类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58F81A3-25A4-45D2-827B-FE9C4C3B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818" y="3589424"/>
            <a:ext cx="3023563" cy="22147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D3E667C-7E98-442F-B3BD-9DA214CA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06476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</a:t>
            </a:r>
            <a:r>
              <a:rPr lang="zh-CN" altLang="en-US" dirty="0"/>
              <a:t>）继承与派生的</a:t>
            </a:r>
            <a:r>
              <a:rPr lang="zh-CN" altLang="en-US" dirty="0">
                <a:solidFill>
                  <a:srgbClr val="C00000"/>
                </a:solidFill>
              </a:rPr>
              <a:t>目的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F659FF30-AB00-46D4-A3E0-E07F6C11F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81" y="1658271"/>
            <a:ext cx="7772400" cy="4176464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继承的目的：实现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代码重用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派生的目的：当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新问题</a:t>
            </a:r>
            <a:r>
              <a:rPr lang="zh-CN" altLang="en-US" sz="2400" dirty="0">
                <a:latin typeface="宋体" panose="02010600030101010101" pitchFamily="2" charset="-122"/>
              </a:rPr>
              <a:t>出现，原有程序无法解决（或不能完全解决）时，需对原程序进行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升级改造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59632" y="3284427"/>
            <a:ext cx="4680520" cy="21988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A2C8D-0682-4281-8FB8-CDAC4AA2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94" y="594961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>
                <a:latin typeface="+mj-lt"/>
              </a:rPr>
              <a:t>2</a:t>
            </a:r>
            <a:r>
              <a:rPr lang="zh-CN" altLang="en-US" sz="4000">
                <a:latin typeface="+mj-lt"/>
              </a:rPr>
              <a:t>）</a:t>
            </a:r>
            <a:r>
              <a:rPr lang="zh-CN" altLang="en-US"/>
              <a:t>派生</a:t>
            </a:r>
            <a:r>
              <a:rPr lang="zh-CN" altLang="en-US" dirty="0"/>
              <a:t>类的声明</a:t>
            </a:r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2E183DC4-57B9-4D81-BF37-C6B005706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40" y="1484784"/>
            <a:ext cx="7772400" cy="4392488"/>
          </a:xfrm>
        </p:spPr>
        <p:txBody>
          <a:bodyPr/>
          <a:lstStyle/>
          <a:p>
            <a:pPr marL="107950" indent="0" eaLnBrk="1" hangingPunct="1">
              <a:spcAft>
                <a:spcPts val="1200"/>
              </a:spcAf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派生类的一般语义语法为：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ea typeface="楷体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继承方式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基类名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000" dirty="0">
                <a:latin typeface="宋体" panose="02010600030101010101" pitchFamily="2" charset="-122"/>
              </a:rPr>
              <a:t>, 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继承方式</a:t>
            </a:r>
            <a:r>
              <a:rPr lang="en-US" altLang="zh-CN" sz="2000" dirty="0">
                <a:solidFill>
                  <a:srgbClr val="0000FF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基类名</a:t>
            </a:r>
            <a:r>
              <a:rPr lang="en-US" altLang="zh-CN" sz="2000" dirty="0">
                <a:solidFill>
                  <a:srgbClr val="0000FF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000" dirty="0">
                <a:latin typeface="宋体" panose="02010600030101010101" pitchFamily="2" charset="-122"/>
              </a:rPr>
              <a:t>,...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   </a:t>
            </a:r>
            <a:r>
              <a:rPr lang="zh-CN" altLang="en-US" sz="2000" dirty="0">
                <a:latin typeface="宋体" panose="02010600030101010101" pitchFamily="2" charset="-122"/>
              </a:rPr>
              <a:t>成员声明；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Consolas" pitchFamily="49" charset="0"/>
                <a:cs typeface="Times New Roman" pitchFamily="18" charset="0"/>
              </a:rPr>
              <a:t>单</a:t>
            </a:r>
            <a:r>
              <a:rPr lang="zh-CN" altLang="en-US" sz="2400" dirty="0">
                <a:solidFill>
                  <a:srgbClr val="0070C0"/>
                </a:solidFill>
                <a:latin typeface="Consolas" pitchFamily="49" charset="0"/>
                <a:cs typeface="Times New Roman" pitchFamily="18" charset="0"/>
              </a:rPr>
              <a:t>继承</a:t>
            </a:r>
            <a:r>
              <a:rPr lang="en-US" altLang="zh-CN" sz="2400" dirty="0">
                <a:solidFill>
                  <a:srgbClr val="0070C0"/>
                </a:solidFill>
                <a:latin typeface="Consolas" pitchFamily="49" charset="0"/>
                <a:cs typeface="Times New Roman" pitchFamily="18" charset="0"/>
              </a:rPr>
              <a:t>:</a:t>
            </a:r>
            <a:r>
              <a:rPr lang="zh-CN" altLang="en-US" sz="2400" dirty="0">
                <a:solidFill>
                  <a:srgbClr val="0070C0"/>
                </a:solidFill>
                <a:latin typeface="Consolas" pitchFamily="49" charset="0"/>
                <a:cs typeface="Times New Roman" pitchFamily="18" charset="0"/>
              </a:rPr>
              <a:t>只有一个基类</a:t>
            </a:r>
            <a:endParaRPr lang="en-US" altLang="zh-CN" sz="2000" dirty="0">
              <a:latin typeface="Consolas" pitchFamily="49" charset="0"/>
              <a:cs typeface="Times New Roman" pitchFamily="18" charset="0"/>
            </a:endParaRPr>
          </a:p>
          <a:p>
            <a:pPr marL="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latin typeface="Consolas" pitchFamily="49" charset="0"/>
                <a:cs typeface="Times New Roman" pitchFamily="18" charset="0"/>
              </a:rPr>
              <a:t>class 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zh-CN" altLang="en-US" sz="1800" dirty="0">
                <a:latin typeface="Consolas" pitchFamily="49" charset="0"/>
              </a:rPr>
              <a:t>：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继承方式 </a:t>
            </a:r>
            <a:r>
              <a:rPr lang="zh-CN" altLang="en-US" sz="1800" dirty="0">
                <a:latin typeface="Consolas" pitchFamily="49" charset="0"/>
              </a:rPr>
              <a:t>基类名</a:t>
            </a:r>
          </a:p>
          <a:p>
            <a:pPr marL="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latin typeface="Consolas" pitchFamily="49" charset="0"/>
                <a:cs typeface="Times New Roman" pitchFamily="18" charset="0"/>
              </a:rPr>
              <a:t>{</a:t>
            </a:r>
          </a:p>
          <a:p>
            <a:pPr marL="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latin typeface="Consolas" pitchFamily="49" charset="0"/>
              </a:rPr>
              <a:t>    </a:t>
            </a:r>
            <a:r>
              <a:rPr lang="zh-CN" altLang="en-US" sz="1800" dirty="0">
                <a:latin typeface="Consolas" pitchFamily="49" charset="0"/>
              </a:rPr>
              <a:t>成员声明；</a:t>
            </a:r>
          </a:p>
          <a:p>
            <a:pPr marL="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latin typeface="Consolas" pitchFamily="49" charset="0"/>
                <a:cs typeface="Times New Roman" pitchFamily="18" charset="0"/>
              </a:rPr>
              <a:t>};</a:t>
            </a:r>
          </a:p>
          <a:p>
            <a:pPr marL="107950" indent="0" eaLnBrk="1" hangingPunct="1">
              <a:spcAft>
                <a:spcPts val="600"/>
              </a:spcAft>
              <a:buFont typeface="Georgia" panose="02040502050405020303" pitchFamily="18" charset="0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149709-33A8-4504-A3A0-455DC92E798E}"/>
              </a:ext>
            </a:extLst>
          </p:cNvPr>
          <p:cNvSpPr/>
          <p:nvPr/>
        </p:nvSpPr>
        <p:spPr>
          <a:xfrm>
            <a:off x="3278224" y="2546714"/>
            <a:ext cx="5173216" cy="1231106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注意：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）“继承方式”：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protected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private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）只用于限制对紧随其后之基类的继承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810622-7E3D-41A4-BA38-F85C029B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832" y="3908089"/>
            <a:ext cx="2333427" cy="20994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8C5E12-B9A1-4772-9FC2-7894C211B972}"/>
              </a:ext>
            </a:extLst>
          </p:cNvPr>
          <p:cNvSpPr/>
          <p:nvPr/>
        </p:nvSpPr>
        <p:spPr bwMode="auto">
          <a:xfrm>
            <a:off x="2771800" y="2020516"/>
            <a:ext cx="1296144" cy="39592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DED910B-CC69-4700-A982-A844213C6A57}"/>
              </a:ext>
            </a:extLst>
          </p:cNvPr>
          <p:cNvSpPr/>
          <p:nvPr/>
        </p:nvSpPr>
        <p:spPr bwMode="auto">
          <a:xfrm>
            <a:off x="5257056" y="2020515"/>
            <a:ext cx="1296144" cy="39592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AA9D160-29A9-4659-86DC-33B244EA15C8}"/>
              </a:ext>
            </a:extLst>
          </p:cNvPr>
          <p:cNvSpPr/>
          <p:nvPr/>
        </p:nvSpPr>
        <p:spPr bwMode="auto">
          <a:xfrm>
            <a:off x="5244489" y="2976539"/>
            <a:ext cx="72008" cy="7200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B7C15DB-A493-4060-AA7A-D4A7310D8BAF}"/>
              </a:ext>
            </a:extLst>
          </p:cNvPr>
          <p:cNvSpPr/>
          <p:nvPr/>
        </p:nvSpPr>
        <p:spPr bwMode="auto">
          <a:xfrm>
            <a:off x="6481192" y="2976539"/>
            <a:ext cx="72008" cy="7200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1A31BD0-3178-4F8E-82EF-F690AB3ED60E}"/>
              </a:ext>
            </a:extLst>
          </p:cNvPr>
          <p:cNvSpPr/>
          <p:nvPr/>
        </p:nvSpPr>
        <p:spPr bwMode="auto">
          <a:xfrm>
            <a:off x="7469696" y="2924897"/>
            <a:ext cx="72008" cy="7200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E694E496-F1EA-4663-8B25-27AE64D6FD70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 bwMode="auto">
          <a:xfrm rot="16200000" flipH="1">
            <a:off x="4070135" y="1766181"/>
            <a:ext cx="560094" cy="186062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0C1D4E70-73B2-45B1-981F-A7BD36D9C66E}"/>
              </a:ext>
            </a:extLst>
          </p:cNvPr>
          <p:cNvCxnSpPr>
            <a:stCxn id="4" idx="2"/>
            <a:endCxn id="11" idx="0"/>
          </p:cNvCxnSpPr>
          <p:nvPr/>
        </p:nvCxnSpPr>
        <p:spPr bwMode="auto">
          <a:xfrm rot="16200000" flipH="1">
            <a:off x="4688487" y="1147830"/>
            <a:ext cx="560094" cy="3097324"/>
          </a:xfrm>
          <a:prstGeom prst="curvedConnector3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8745D61C-51BB-4AEF-9697-1E7FB06F153E}"/>
              </a:ext>
            </a:extLst>
          </p:cNvPr>
          <p:cNvCxnSpPr>
            <a:stCxn id="4" idx="2"/>
            <a:endCxn id="12" idx="7"/>
          </p:cNvCxnSpPr>
          <p:nvPr/>
        </p:nvCxnSpPr>
        <p:spPr bwMode="auto">
          <a:xfrm rot="16200000" flipH="1">
            <a:off x="5216017" y="620299"/>
            <a:ext cx="518997" cy="4111287"/>
          </a:xfrm>
          <a:prstGeom prst="curvedConnector3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353744B-FEC9-4808-B0B5-7186486BB9D4}"/>
              </a:ext>
            </a:extLst>
          </p:cNvPr>
          <p:cNvSpPr/>
          <p:nvPr/>
        </p:nvSpPr>
        <p:spPr bwMode="auto">
          <a:xfrm>
            <a:off x="2915816" y="4437112"/>
            <a:ext cx="1152128" cy="39592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43F972-0110-464F-AC87-A9EA2E9125E7}"/>
              </a:ext>
            </a:extLst>
          </p:cNvPr>
          <p:cNvSpPr/>
          <p:nvPr/>
        </p:nvSpPr>
        <p:spPr>
          <a:xfrm>
            <a:off x="827584" y="1928757"/>
            <a:ext cx="7056784" cy="20867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class Derived: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public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 Base1,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private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 Base2</a:t>
            </a: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{</a:t>
            </a: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public:</a:t>
            </a: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	Derived ();</a:t>
            </a: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	~Derived ();</a:t>
            </a: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+mn-ea"/>
                <a:cs typeface="Times New Roman" pitchFamily="18" charset="0"/>
              </a:rPr>
              <a:t>};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593852"/>
            <a:ext cx="3781425" cy="26098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F486836-6A36-4621-ADB3-3A0E47B965CE}"/>
              </a:ext>
            </a:extLst>
          </p:cNvPr>
          <p:cNvSpPr/>
          <p:nvPr/>
        </p:nvSpPr>
        <p:spPr>
          <a:xfrm>
            <a:off x="2195736" y="4509120"/>
            <a:ext cx="1204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Times New Roman" pitchFamily="18" charset="0"/>
              </a:rPr>
              <a:t>public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0D95AF-E841-41D2-BC4B-B886EB39C559}"/>
              </a:ext>
            </a:extLst>
          </p:cNvPr>
          <p:cNvSpPr/>
          <p:nvPr/>
        </p:nvSpPr>
        <p:spPr>
          <a:xfrm>
            <a:off x="5938186" y="4437112"/>
            <a:ext cx="13740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Times New Roman" pitchFamily="18" charset="0"/>
              </a:rPr>
              <a:t>private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132197-F2B6-4ABA-AD22-44A7A9F29CE3}"/>
              </a:ext>
            </a:extLst>
          </p:cNvPr>
          <p:cNvSpPr txBox="1"/>
          <p:nvPr/>
        </p:nvSpPr>
        <p:spPr>
          <a:xfrm>
            <a:off x="827584" y="1183961"/>
            <a:ext cx="646331" cy="646331"/>
          </a:xfrm>
          <a:prstGeom prst="rect">
            <a:avLst/>
          </a:prstGeom>
          <a:solidFill>
            <a:srgbClr val="30519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fontAlgn="auto" hangingPunct="1">
              <a:spcAft>
                <a:spcPts val="0"/>
              </a:spcAft>
              <a:defRPr sz="3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ea typeface="+mj-ea"/>
                <a:cs typeface="+mj-cs"/>
              </a:rPr>
              <a:t>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D24E8-61FA-4D67-844C-BB2F65EF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dirty="0">
                <a:latin typeface="+mj-lt"/>
              </a:rPr>
              <a:t>3</a:t>
            </a:r>
            <a:r>
              <a:rPr lang="zh-CN" altLang="en-US" sz="4000" dirty="0">
                <a:latin typeface="+mj-lt"/>
              </a:rPr>
              <a:t>）</a:t>
            </a:r>
            <a:r>
              <a:rPr lang="zh-CN" altLang="en-US" dirty="0"/>
              <a:t>派生类生成</a:t>
            </a:r>
            <a:r>
              <a:rPr lang="zh-CN" altLang="en-US" dirty="0">
                <a:solidFill>
                  <a:srgbClr val="0070C0"/>
                </a:solidFill>
              </a:rPr>
              <a:t>过程</a:t>
            </a:r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79FEAD63-FF91-42C5-BF10-4967D5C0B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429" y="1556792"/>
            <a:ext cx="7772400" cy="4608512"/>
          </a:xfrm>
        </p:spPr>
        <p:txBody>
          <a:bodyPr/>
          <a:lstStyle/>
          <a:p>
            <a:pPr marL="133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3200" dirty="0">
                <a:solidFill>
                  <a:srgbClr val="0070C0"/>
                </a:solidFill>
              </a:rPr>
              <a:t>吸收</a:t>
            </a:r>
            <a:r>
              <a:rPr lang="zh-CN" altLang="en-US" sz="2400" dirty="0"/>
              <a:t>基类成员</a:t>
            </a:r>
            <a:endParaRPr lang="en-US" altLang="zh-CN" sz="2400" dirty="0"/>
          </a:p>
          <a:p>
            <a:pPr marL="0" lvl="1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吸收基类成员之后，派生类实际上就</a:t>
            </a:r>
            <a:r>
              <a:rPr lang="zh-CN" altLang="en-US" sz="2400" dirty="0">
                <a:solidFill>
                  <a:srgbClr val="0070C0"/>
                </a:solidFill>
              </a:rPr>
              <a:t>包含了</a:t>
            </a:r>
            <a:r>
              <a:rPr lang="zh-CN" altLang="en-US" sz="2000" dirty="0"/>
              <a:t>它的全部基类中</a:t>
            </a:r>
            <a:r>
              <a:rPr lang="zh-CN" altLang="en-US" sz="2000" b="1" dirty="0">
                <a:solidFill>
                  <a:srgbClr val="C00000"/>
                </a:solidFill>
              </a:rPr>
              <a:t>除构造和析构函数之外</a:t>
            </a:r>
            <a:r>
              <a:rPr lang="zh-CN" altLang="en-US" sz="2000" dirty="0"/>
              <a:t>的</a:t>
            </a:r>
            <a:r>
              <a:rPr lang="zh-CN" altLang="en-US" sz="2400" dirty="0">
                <a:solidFill>
                  <a:srgbClr val="0070C0"/>
                </a:solidFill>
              </a:rPr>
              <a:t>所有成员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133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3200" dirty="0">
                <a:solidFill>
                  <a:srgbClr val="0070C0"/>
                </a:solidFill>
              </a:rPr>
              <a:t>改造</a:t>
            </a:r>
            <a:r>
              <a:rPr lang="zh-CN" altLang="en-US" sz="2400" dirty="0"/>
              <a:t>基类成员</a:t>
            </a:r>
            <a:endParaRPr lang="en-US" altLang="zh-CN" sz="2400" dirty="0"/>
          </a:p>
          <a:p>
            <a:pPr marL="0" lvl="1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如果派生类声明了一个和某基类成员</a:t>
            </a:r>
            <a:r>
              <a:rPr lang="zh-CN" altLang="en-US" sz="2000" dirty="0">
                <a:solidFill>
                  <a:srgbClr val="C00000"/>
                </a:solidFill>
              </a:rPr>
              <a:t>同名的</a:t>
            </a:r>
            <a:r>
              <a:rPr lang="zh-CN" altLang="en-US" sz="2000" dirty="0"/>
              <a:t>新成员（如果是成员函数，则参数表也要相同，参数不同的情况属于</a:t>
            </a:r>
            <a:r>
              <a:rPr lang="zh-CN" altLang="en-US" sz="2000" dirty="0">
                <a:solidFill>
                  <a:srgbClr val="0070C0"/>
                </a:solidFill>
              </a:rPr>
              <a:t>重载</a:t>
            </a:r>
            <a:r>
              <a:rPr lang="zh-CN" altLang="en-US" sz="2000" dirty="0"/>
              <a:t>），派生的新成员就</a:t>
            </a:r>
            <a:r>
              <a:rPr lang="zh-CN" altLang="en-US" sz="2000" dirty="0">
                <a:solidFill>
                  <a:srgbClr val="0070C0"/>
                </a:solidFill>
              </a:rPr>
              <a:t>覆盖了</a:t>
            </a:r>
            <a:r>
              <a:rPr lang="zh-CN" altLang="en-US" sz="2000" dirty="0"/>
              <a:t>外层同名成员。</a:t>
            </a:r>
            <a:r>
              <a:rPr lang="en-US" altLang="zh-CN" sz="2000" b="1" dirty="0"/>
              <a:t>Override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D24E8-61FA-4D67-844C-BB2F65EF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dirty="0">
                <a:latin typeface="+mj-lt"/>
              </a:rPr>
              <a:t>3</a:t>
            </a:r>
            <a:r>
              <a:rPr lang="zh-CN" altLang="en-US" sz="4000" dirty="0">
                <a:latin typeface="+mj-lt"/>
              </a:rPr>
              <a:t>）</a:t>
            </a:r>
            <a:r>
              <a:rPr lang="zh-CN" altLang="en-US" dirty="0"/>
              <a:t>派生类生成</a:t>
            </a:r>
            <a:r>
              <a:rPr lang="zh-CN" altLang="en-US" dirty="0">
                <a:solidFill>
                  <a:srgbClr val="0070C0"/>
                </a:solidFill>
              </a:rPr>
              <a:t>过程</a:t>
            </a:r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79FEAD63-FF91-42C5-BF10-4967D5C0B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429" y="1556792"/>
            <a:ext cx="7772400" cy="4608512"/>
          </a:xfrm>
        </p:spPr>
        <p:txBody>
          <a:bodyPr/>
          <a:lstStyle/>
          <a:p>
            <a:pPr marL="133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 startAt="3"/>
            </a:pPr>
            <a:r>
              <a:rPr lang="zh-CN" altLang="en-US" sz="3200" dirty="0">
                <a:solidFill>
                  <a:srgbClr val="0070C0"/>
                </a:solidFill>
              </a:rPr>
              <a:t>添加</a:t>
            </a:r>
            <a:r>
              <a:rPr lang="zh-CN" altLang="en-US" sz="2400" dirty="0"/>
              <a:t>新的成员</a:t>
            </a:r>
            <a:endParaRPr lang="en-US" altLang="zh-CN" sz="2400" dirty="0"/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派生类新成员的加入是继承与派生机制的核心，是保证派生类在功能上有所发展。</a:t>
            </a:r>
            <a:endParaRPr lang="en-US" altLang="zh-CN" sz="20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98462D3-2E5F-45A8-8EDE-0949F86D7FEB}"/>
              </a:ext>
            </a:extLst>
          </p:cNvPr>
          <p:cNvGrpSpPr/>
          <p:nvPr/>
        </p:nvGrpSpPr>
        <p:grpSpPr>
          <a:xfrm>
            <a:off x="1979712" y="3501008"/>
            <a:ext cx="5544616" cy="2582576"/>
            <a:chOff x="2627784" y="3429000"/>
            <a:chExt cx="5544616" cy="258257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E23AFD1-3E00-4575-A898-B61433773168}"/>
                </a:ext>
              </a:extLst>
            </p:cNvPr>
            <p:cNvSpPr/>
            <p:nvPr/>
          </p:nvSpPr>
          <p:spPr>
            <a:xfrm>
              <a:off x="2627784" y="3429000"/>
              <a:ext cx="2088232" cy="669259"/>
            </a:xfrm>
            <a:prstGeom prst="rect">
              <a:avLst/>
            </a:prstGeom>
            <a:solidFill>
              <a:srgbClr val="EB641B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rPr>
                <a:t>基类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7B817A4-8FA2-4462-9B56-D9863AFFD8D6}"/>
                </a:ext>
              </a:extLst>
            </p:cNvPr>
            <p:cNvSpPr/>
            <p:nvPr/>
          </p:nvSpPr>
          <p:spPr>
            <a:xfrm>
              <a:off x="2627784" y="4402826"/>
              <a:ext cx="3816424" cy="669259"/>
            </a:xfrm>
            <a:prstGeom prst="rect">
              <a:avLst/>
            </a:prstGeom>
            <a:solidFill>
              <a:srgbClr val="002060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rPr>
                <a:t>基类方法和属性</a:t>
              </a:r>
              <a:r>
                <a:rPr kumimoji="0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rPr>
                <a:t>||</a:t>
              </a:r>
              <a:endPara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7140A9D-97B7-49BD-8B5C-8FF8AD23C391}"/>
                </a:ext>
              </a:extLst>
            </p:cNvPr>
            <p:cNvSpPr txBox="1"/>
            <p:nvPr/>
          </p:nvSpPr>
          <p:spPr>
            <a:xfrm>
              <a:off x="4868685" y="4425754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派生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类新增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方法和属性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C7EAB8F-0C75-4422-9EDC-BAE99E03A5B5}"/>
                </a:ext>
              </a:extLst>
            </p:cNvPr>
            <p:cNvSpPr/>
            <p:nvPr/>
          </p:nvSpPr>
          <p:spPr>
            <a:xfrm>
              <a:off x="2627784" y="5336314"/>
              <a:ext cx="5544616" cy="669259"/>
            </a:xfrm>
            <a:prstGeom prst="rect">
              <a:avLst/>
            </a:prstGeom>
            <a:solidFill>
              <a:srgbClr val="002060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rPr>
                <a:t>基类方法和属性</a:t>
              </a:r>
              <a:r>
                <a:rPr kumimoji="0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rPr>
                <a:t>||</a:t>
              </a:r>
              <a:endPara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B988A00-1A45-44CB-9CFB-78E03C515A49}"/>
                </a:ext>
              </a:extLst>
            </p:cNvPr>
            <p:cNvSpPr txBox="1"/>
            <p:nvPr/>
          </p:nvSpPr>
          <p:spPr>
            <a:xfrm>
              <a:off x="4868685" y="5359242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派生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类新增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方法和属性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4E730EF-EFE3-4608-BA04-1407B57D5290}"/>
                </a:ext>
              </a:extLst>
            </p:cNvPr>
            <p:cNvSpPr txBox="1"/>
            <p:nvPr/>
          </p:nvSpPr>
          <p:spPr>
            <a:xfrm>
              <a:off x="6578208" y="5365245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派生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类新增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方法和属性</a:t>
              </a:r>
            </a:p>
          </p:txBody>
        </p:sp>
      </p:grpSp>
      <p:sp>
        <p:nvSpPr>
          <p:cNvPr id="23" name="下箭头 14">
            <a:extLst>
              <a:ext uri="{FF2B5EF4-FFF2-40B4-BE49-F238E27FC236}">
                <a16:creationId xmlns:a16="http://schemas.microsoft.com/office/drawing/2014/main" id="{869FFDB2-FFC1-49E3-B0BF-67CB5E710796}"/>
              </a:ext>
            </a:extLst>
          </p:cNvPr>
          <p:cNvSpPr/>
          <p:nvPr/>
        </p:nvSpPr>
        <p:spPr>
          <a:xfrm>
            <a:off x="5220072" y="3501008"/>
            <a:ext cx="195715" cy="621876"/>
          </a:xfrm>
          <a:prstGeom prst="downArrow">
            <a:avLst/>
          </a:prstGeom>
          <a:gradFill rotWithShape="1">
            <a:gsLst>
              <a:gs pos="0">
                <a:srgbClr val="EB641B">
                  <a:shade val="15000"/>
                  <a:satMod val="180000"/>
                </a:srgbClr>
              </a:gs>
              <a:gs pos="50000">
                <a:srgbClr val="EB641B">
                  <a:shade val="45000"/>
                  <a:satMod val="170000"/>
                </a:srgbClr>
              </a:gs>
              <a:gs pos="70000">
                <a:srgbClr val="EB641B">
                  <a:tint val="99000"/>
                  <a:shade val="65000"/>
                  <a:satMod val="155000"/>
                </a:srgbClr>
              </a:gs>
              <a:gs pos="100000">
                <a:srgbClr val="EB641B">
                  <a:tint val="95500"/>
                  <a:shade val="100000"/>
                  <a:satMod val="155000"/>
                </a:srgbClr>
              </a:gs>
            </a:gsLst>
            <a:lin ang="16200000" scaled="0"/>
          </a:gradFill>
          <a:ln>
            <a:noFill/>
          </a:ln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rgbClr val="EB641B">
                <a:satMod val="300000"/>
              </a:srgbClr>
            </a:contourClr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" name="下箭头 15">
            <a:extLst>
              <a:ext uri="{FF2B5EF4-FFF2-40B4-BE49-F238E27FC236}">
                <a16:creationId xmlns:a16="http://schemas.microsoft.com/office/drawing/2014/main" id="{F04EDA48-CC6E-43CE-9FDC-C47B88621B2B}"/>
              </a:ext>
            </a:extLst>
          </p:cNvPr>
          <p:cNvSpPr/>
          <p:nvPr/>
        </p:nvSpPr>
        <p:spPr>
          <a:xfrm>
            <a:off x="7220836" y="4497762"/>
            <a:ext cx="218998" cy="674268"/>
          </a:xfrm>
          <a:prstGeom prst="downArrow">
            <a:avLst/>
          </a:prstGeom>
          <a:gradFill rotWithShape="1">
            <a:gsLst>
              <a:gs pos="0">
                <a:srgbClr val="EB641B">
                  <a:shade val="15000"/>
                  <a:satMod val="180000"/>
                </a:srgbClr>
              </a:gs>
              <a:gs pos="50000">
                <a:srgbClr val="EB641B">
                  <a:shade val="45000"/>
                  <a:satMod val="170000"/>
                </a:srgbClr>
              </a:gs>
              <a:gs pos="70000">
                <a:srgbClr val="EB641B">
                  <a:tint val="99000"/>
                  <a:shade val="65000"/>
                  <a:satMod val="155000"/>
                </a:srgbClr>
              </a:gs>
              <a:gs pos="100000">
                <a:srgbClr val="EB641B">
                  <a:tint val="95500"/>
                  <a:shade val="100000"/>
                  <a:satMod val="155000"/>
                </a:srgbClr>
              </a:gs>
            </a:gsLst>
            <a:lin ang="16200000" scaled="0"/>
          </a:gradFill>
          <a:ln>
            <a:noFill/>
          </a:ln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rgbClr val="EB641B">
                <a:satMod val="300000"/>
              </a:srgbClr>
            </a:contourClr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圆角矩形 8">
            <a:extLst>
              <a:ext uri="{FF2B5EF4-FFF2-40B4-BE49-F238E27FC236}">
                <a16:creationId xmlns:a16="http://schemas.microsoft.com/office/drawing/2014/main" id="{53876BD6-B095-4C44-AE82-4967EAC8DD15}"/>
              </a:ext>
            </a:extLst>
          </p:cNvPr>
          <p:cNvSpPr/>
          <p:nvPr/>
        </p:nvSpPr>
        <p:spPr>
          <a:xfrm>
            <a:off x="2051720" y="5461468"/>
            <a:ext cx="3738468" cy="562965"/>
          </a:xfrm>
          <a:prstGeom prst="roundRect">
            <a:avLst>
              <a:gd name="adj" fmla="val 15301"/>
            </a:avLst>
          </a:prstGeom>
          <a:noFill/>
          <a:ln w="12700" cap="flat" cmpd="sng" algn="ctr">
            <a:solidFill>
              <a:srgbClr val="DEF5FA">
                <a:lumMod val="9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圆角矩形 16">
            <a:extLst>
              <a:ext uri="{FF2B5EF4-FFF2-40B4-BE49-F238E27FC236}">
                <a16:creationId xmlns:a16="http://schemas.microsoft.com/office/drawing/2014/main" id="{57EC949D-663F-4435-B611-323D718E9A9A}"/>
              </a:ext>
            </a:extLst>
          </p:cNvPr>
          <p:cNvSpPr/>
          <p:nvPr/>
        </p:nvSpPr>
        <p:spPr>
          <a:xfrm>
            <a:off x="2051720" y="4539444"/>
            <a:ext cx="2016224" cy="562965"/>
          </a:xfrm>
          <a:prstGeom prst="roundRect">
            <a:avLst>
              <a:gd name="adj" fmla="val 15301"/>
            </a:avLst>
          </a:prstGeom>
          <a:noFill/>
          <a:ln w="12700" cap="flat" cmpd="sng" algn="ctr">
            <a:solidFill>
              <a:srgbClr val="DEF5FA">
                <a:lumMod val="9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2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45259"/>
            <a:ext cx="2110379" cy="5059665"/>
          </a:xfr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FEAD63-FF91-42C5-BF10-4967D5C0B98D}"/>
              </a:ext>
            </a:extLst>
          </p:cNvPr>
          <p:cNvSpPr txBox="1">
            <a:spLocks/>
          </p:cNvSpPr>
          <p:nvPr/>
        </p:nvSpPr>
        <p:spPr bwMode="auto">
          <a:xfrm>
            <a:off x="2688267" y="1067520"/>
            <a:ext cx="6392845" cy="505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 </a:t>
            </a:r>
            <a:r>
              <a:rPr kumimoji="0" lang="zh-CN" altLang="en-US" dirty="0"/>
              <a:t>继承了 </a:t>
            </a:r>
            <a:r>
              <a:rPr kumimoji="0" lang="en-US" altLang="zh-CN" dirty="0"/>
              <a:t>Person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0070C0"/>
                </a:solidFill>
              </a:rPr>
              <a:t>吸收</a:t>
            </a:r>
            <a:r>
              <a:rPr kumimoji="0" lang="zh-CN" altLang="en-US" dirty="0"/>
              <a:t>基类成员</a:t>
            </a:r>
            <a:endParaRPr kumimoji="0"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 </a:t>
            </a:r>
            <a:r>
              <a:rPr kumimoji="0" lang="zh-CN" altLang="en-US" dirty="0"/>
              <a:t>吸收了 </a:t>
            </a:r>
            <a:r>
              <a:rPr kumimoji="0" lang="en-US" altLang="zh-CN" dirty="0"/>
              <a:t>Person </a:t>
            </a:r>
            <a:r>
              <a:rPr kumimoji="0" lang="zh-CN" altLang="en-US" dirty="0"/>
              <a:t>的 </a:t>
            </a:r>
            <a:r>
              <a:rPr kumimoji="0" lang="en-US" altLang="zh-CN" dirty="0"/>
              <a:t>name, ID, </a:t>
            </a:r>
            <a:r>
              <a:rPr kumimoji="0" lang="en-US" altLang="zh-CN" dirty="0" err="1"/>
              <a:t>getName</a:t>
            </a:r>
            <a:r>
              <a:rPr kumimoji="0" lang="en-US" altLang="zh-CN" dirty="0"/>
              <a:t>(), </a:t>
            </a:r>
            <a:r>
              <a:rPr kumimoji="0" lang="en-US" altLang="zh-CN" dirty="0" err="1"/>
              <a:t>getID</a:t>
            </a:r>
            <a:r>
              <a:rPr kumimoji="0" lang="en-US" altLang="zh-CN" dirty="0"/>
              <a:t>(), </a:t>
            </a:r>
            <a:r>
              <a:rPr kumimoji="0" lang="en-US" altLang="zh-CN" dirty="0" err="1"/>
              <a:t>setName</a:t>
            </a:r>
            <a:r>
              <a:rPr kumimoji="0" lang="en-US" altLang="zh-CN" dirty="0"/>
              <a:t>(*), </a:t>
            </a:r>
            <a:r>
              <a:rPr kumimoji="0" lang="en-US" altLang="zh-CN" dirty="0" err="1"/>
              <a:t>setID</a:t>
            </a:r>
            <a:r>
              <a:rPr kumimoji="0" lang="en-US" altLang="zh-CN" dirty="0"/>
              <a:t>(*)</a:t>
            </a:r>
            <a:r>
              <a:rPr kumimoji="0" lang="zh-CN" altLang="en-US" dirty="0"/>
              <a:t>等成员</a:t>
            </a:r>
            <a:endParaRPr kumimoji="0" lang="en-US" altLang="zh-CN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C00000"/>
                </a:solidFill>
              </a:rPr>
              <a:t>改造</a:t>
            </a:r>
            <a:r>
              <a:rPr kumimoji="0" lang="zh-CN" altLang="en-US" dirty="0"/>
              <a:t>基类成员</a:t>
            </a:r>
            <a:endParaRPr kumimoji="0"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</a:t>
            </a:r>
            <a:r>
              <a:rPr kumimoji="0" lang="zh-CN" altLang="en-US" dirty="0"/>
              <a:t>改造了</a:t>
            </a:r>
            <a:r>
              <a:rPr kumimoji="0" lang="en-US" altLang="zh-CN" dirty="0" err="1">
                <a:solidFill>
                  <a:srgbClr val="C00000"/>
                </a:solidFill>
              </a:rPr>
              <a:t>toString</a:t>
            </a:r>
            <a:r>
              <a:rPr kumimoji="0" lang="en-US" altLang="zh-CN" dirty="0">
                <a:solidFill>
                  <a:srgbClr val="C00000"/>
                </a:solidFill>
              </a:rPr>
              <a:t>() </a:t>
            </a:r>
            <a:r>
              <a:rPr kumimoji="0" lang="zh-CN" altLang="en-US" dirty="0"/>
              <a:t>成员</a:t>
            </a:r>
            <a:endParaRPr kumimoji="0" lang="en-US" altLang="zh-CN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0070C0"/>
                </a:solidFill>
              </a:rPr>
              <a:t>添加</a:t>
            </a:r>
            <a:r>
              <a:rPr kumimoji="0" lang="zh-CN" altLang="en-US" dirty="0"/>
              <a:t>新的成员</a:t>
            </a:r>
            <a:endParaRPr kumimoji="0"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</a:t>
            </a:r>
            <a:r>
              <a:rPr kumimoji="0" lang="zh-CN" altLang="en-US" dirty="0"/>
              <a:t>增加了</a:t>
            </a:r>
            <a:r>
              <a:rPr kumimoji="0" lang="en-US" altLang="zh-CN" dirty="0" err="1"/>
              <a:t>studentID</a:t>
            </a:r>
            <a:r>
              <a:rPr kumimoji="0" lang="en-US" altLang="zh-CN" dirty="0"/>
              <a:t>, </a:t>
            </a:r>
            <a:r>
              <a:rPr kumimoji="0" lang="en-US" altLang="zh-CN" dirty="0" err="1"/>
              <a:t>getStudentID</a:t>
            </a:r>
            <a:r>
              <a:rPr kumimoji="0" lang="en-US" altLang="zh-CN" dirty="0"/>
              <a:t>(), </a:t>
            </a:r>
            <a:r>
              <a:rPr kumimoji="0" lang="en-US" altLang="zh-CN" dirty="0" err="1"/>
              <a:t>setStudentID</a:t>
            </a:r>
            <a:r>
              <a:rPr kumimoji="0" lang="en-US" altLang="zh-CN" dirty="0"/>
              <a:t>(*) </a:t>
            </a:r>
            <a:r>
              <a:rPr kumimoji="0" lang="zh-CN" altLang="en-US" dirty="0"/>
              <a:t>成员</a:t>
            </a:r>
          </a:p>
        </p:txBody>
      </p:sp>
    </p:spTree>
    <p:extLst>
      <p:ext uri="{BB962C8B-B14F-4D97-AF65-F5344CB8AC3E}">
        <p14:creationId xmlns:p14="http://schemas.microsoft.com/office/powerpoint/2010/main" val="185481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85656082-62CC-4950-A1C6-A086997D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访问控制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79034EFC-08A3-4F14-8C23-CDBD100D0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3" y="1628800"/>
            <a:ext cx="7772400" cy="4176464"/>
          </a:xfrm>
        </p:spPr>
        <p:txBody>
          <a:bodyPr>
            <a:normAutofit/>
          </a:bodyPr>
          <a:lstStyle/>
          <a:p>
            <a:pPr marL="109728" indent="0" eaLnBrk="1" fontAlgn="auto" hangingPunct="1"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zh-CN" altLang="en-US" dirty="0">
                <a:latin typeface="宋体" pitchFamily="2" charset="-122"/>
              </a:rPr>
              <a:t>不同</a:t>
            </a:r>
            <a:r>
              <a:rPr lang="zh-CN" altLang="en-US" sz="3600" dirty="0">
                <a:solidFill>
                  <a:srgbClr val="0070C0"/>
                </a:solidFill>
                <a:latin typeface="宋体" pitchFamily="2" charset="-122"/>
              </a:rPr>
              <a:t>继承方式</a:t>
            </a:r>
            <a:r>
              <a:rPr lang="zh-CN" altLang="en-US" dirty="0">
                <a:latin typeface="宋体" pitchFamily="2" charset="-122"/>
              </a:rPr>
              <a:t>的影响主要体现在：</a:t>
            </a:r>
          </a:p>
          <a:p>
            <a:pPr marL="658368" lvl="1" indent="-246888" eaLnBrk="1" fontAlgn="auto" hangingPunct="1">
              <a:spcBef>
                <a:spcPts val="324"/>
              </a:spcBef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dirty="0">
                <a:latin typeface="宋体" pitchFamily="2" charset="-122"/>
              </a:rPr>
              <a:t>派生类</a:t>
            </a:r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成员对</a:t>
            </a:r>
            <a:r>
              <a:rPr lang="zh-CN" altLang="en-US" dirty="0">
                <a:latin typeface="宋体" pitchFamily="2" charset="-122"/>
              </a:rPr>
              <a:t>基类</a:t>
            </a:r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成员</a:t>
            </a:r>
            <a:r>
              <a:rPr lang="zh-CN" altLang="en-US" dirty="0">
                <a:latin typeface="宋体" pitchFamily="2" charset="-122"/>
              </a:rPr>
              <a:t>的访问权限：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定义实现派生类时</a:t>
            </a:r>
          </a:p>
          <a:p>
            <a:pPr marL="658368" lvl="1" indent="-246888" eaLnBrk="1" fontAlgn="auto" hangingPunct="1">
              <a:spcBef>
                <a:spcPts val="324"/>
              </a:spcBef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dirty="0">
                <a:latin typeface="宋体" pitchFamily="2" charset="-122"/>
              </a:rPr>
              <a:t>通过派生类</a:t>
            </a:r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对象对</a:t>
            </a:r>
            <a:r>
              <a:rPr lang="zh-CN" altLang="en-US" dirty="0">
                <a:latin typeface="宋体" pitchFamily="2" charset="-122"/>
              </a:rPr>
              <a:t>基类</a:t>
            </a:r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成员</a:t>
            </a:r>
            <a:r>
              <a:rPr lang="zh-CN" altLang="en-US" dirty="0">
                <a:latin typeface="宋体" pitchFamily="2" charset="-122"/>
              </a:rPr>
              <a:t>的访问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权限：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使用派生类对象时</a:t>
            </a:r>
          </a:p>
          <a:p>
            <a:pPr marL="109728" indent="0" eaLnBrk="1" fontAlgn="auto" hangingPunct="1"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zh-CN" altLang="en-US" sz="3600" dirty="0">
                <a:solidFill>
                  <a:srgbClr val="0070C0"/>
                </a:solidFill>
                <a:latin typeface="宋体" pitchFamily="2" charset="-122"/>
              </a:rPr>
              <a:t>三种</a:t>
            </a:r>
            <a:r>
              <a:rPr lang="zh-CN" altLang="en-US" dirty="0">
                <a:latin typeface="宋体" pitchFamily="2" charset="-122"/>
              </a:rPr>
              <a:t>继承方式</a:t>
            </a:r>
          </a:p>
          <a:p>
            <a:pPr marL="658368" lvl="1" indent="-246888" eaLnBrk="1" fontAlgn="auto" hangingPunct="1">
              <a:spcBef>
                <a:spcPts val="324"/>
              </a:spcBef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公有继承</a:t>
            </a:r>
          </a:p>
          <a:p>
            <a:pPr marL="658368" lvl="1" indent="-246888" eaLnBrk="1" fontAlgn="auto" hangingPunct="1">
              <a:spcBef>
                <a:spcPts val="324"/>
              </a:spcBef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私有继承</a:t>
            </a:r>
          </a:p>
          <a:p>
            <a:pPr marL="658368" lvl="1" indent="-246888" eaLnBrk="1" fontAlgn="auto" hangingPunct="1">
              <a:spcBef>
                <a:spcPts val="324"/>
              </a:spcBef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保护继承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6388F-D622-43A8-8150-F3A29891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1) </a:t>
            </a:r>
            <a:r>
              <a:rPr lang="zh-CN" altLang="en-US" dirty="0"/>
              <a:t>公有继承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public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2530" name="内容占位符 2">
            <a:extLst>
              <a:ext uri="{FF2B5EF4-FFF2-40B4-BE49-F238E27FC236}">
                <a16:creationId xmlns:a16="http://schemas.microsoft.com/office/drawing/2014/main" id="{D415CB81-0FD1-4382-9C83-F4EA09F4FED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7979" y="1402469"/>
            <a:ext cx="7772400" cy="417671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000" dirty="0">
                <a:latin typeface="宋体" panose="02010600030101010101" pitchFamily="2" charset="-122"/>
              </a:rPr>
              <a:t>成员的访问属性在派生子类中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保持不变</a:t>
            </a:r>
            <a:r>
              <a:rPr lang="zh-CN" altLang="en-US" sz="2000" dirty="0">
                <a:latin typeface="宋体" panose="02010600030101010101" pitchFamily="2" charset="-122"/>
              </a:rPr>
              <a:t>，但基类的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000" dirty="0">
                <a:latin typeface="宋体" panose="02010600030101010101" pitchFamily="2" charset="-122"/>
              </a:rPr>
              <a:t>成员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派生类中的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成员函数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可以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基类中的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000" dirty="0">
                <a:latin typeface="宋体" panose="02010600030101010101" pitchFamily="2" charset="-122"/>
              </a:rPr>
              <a:t>成员，但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000" dirty="0">
                <a:latin typeface="宋体" panose="02010600030101010101" pitchFamily="2" charset="-122"/>
              </a:rPr>
              <a:t>成员。</a:t>
            </a:r>
          </a:p>
          <a:p>
            <a:pPr lvl="1" eaLnBrk="1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通过派生类的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对象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只能</a:t>
            </a:r>
            <a:r>
              <a:rPr lang="zh-CN" altLang="en-US" sz="2000" dirty="0">
                <a:latin typeface="宋体" panose="02010600030101010101" pitchFamily="2" charset="-122"/>
              </a:rPr>
              <a:t>访问基类的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成员。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60DC1D-A34B-D14E-87A3-C2D426EF0E5A}"/>
              </a:ext>
            </a:extLst>
          </p:cNvPr>
          <p:cNvSpPr txBox="1"/>
          <p:nvPr/>
        </p:nvSpPr>
        <p:spPr>
          <a:xfrm>
            <a:off x="4720403" y="5048071"/>
            <a:ext cx="3722494" cy="1200329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student: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person{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C15844A7-A91A-4673-820D-DCFF69945CF7}"/>
              </a:ext>
            </a:extLst>
          </p:cNvPr>
          <p:cNvSpPr/>
          <p:nvPr/>
        </p:nvSpPr>
        <p:spPr>
          <a:xfrm>
            <a:off x="6444208" y="2622015"/>
            <a:ext cx="1152128" cy="360040"/>
          </a:xfrm>
          <a:prstGeom prst="wedgeRoundRectCallout">
            <a:avLst>
              <a:gd name="adj1" fmla="val -57931"/>
              <a:gd name="adj2" fmla="val -45722"/>
              <a:gd name="adj3" fmla="val 16667"/>
            </a:avLst>
          </a:prstGeom>
          <a:solidFill>
            <a:srgbClr val="30519C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但存在</a:t>
            </a:r>
          </a:p>
        </p:txBody>
      </p:sp>
      <p:pic>
        <p:nvPicPr>
          <p:cNvPr id="8" name="图形 7" descr="用户">
            <a:extLst>
              <a:ext uri="{FF2B5EF4-FFF2-40B4-BE49-F238E27FC236}">
                <a16:creationId xmlns:a16="http://schemas.microsoft.com/office/drawing/2014/main" id="{25FA83E1-AB2F-4245-9CDE-BF90CB2C33E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067" y="5370616"/>
            <a:ext cx="1031945" cy="1031945"/>
          </a:xfrm>
          <a:prstGeom prst="rect">
            <a:avLst/>
          </a:prstGeom>
        </p:spPr>
      </p:pic>
      <p:pic>
        <p:nvPicPr>
          <p:cNvPr id="10" name="图形 9" descr="男学生">
            <a:extLst>
              <a:ext uri="{FF2B5EF4-FFF2-40B4-BE49-F238E27FC236}">
                <a16:creationId xmlns:a16="http://schemas.microsoft.com/office/drawing/2014/main" id="{3003BC44-C177-4E65-B306-7547AB20B44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3584" y="5466928"/>
            <a:ext cx="914400" cy="914400"/>
          </a:xfrm>
          <a:prstGeom prst="rect">
            <a:avLst/>
          </a:prstGeom>
        </p:spPr>
      </p:pic>
      <p:pic>
        <p:nvPicPr>
          <p:cNvPr id="12" name="图形 11" descr="女学生">
            <a:extLst>
              <a:ext uri="{FF2B5EF4-FFF2-40B4-BE49-F238E27FC236}">
                <a16:creationId xmlns:a16="http://schemas.microsoft.com/office/drawing/2014/main" id="{789E3AB2-791E-4AFB-A1F9-D9D09774281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4275" y="5461469"/>
            <a:ext cx="914400" cy="914400"/>
          </a:xfrm>
          <a:prstGeom prst="rect">
            <a:avLst/>
          </a:prstGeom>
        </p:spPr>
      </p:pic>
      <p:sp>
        <p:nvSpPr>
          <p:cNvPr id="13" name="箭头: 右 12">
            <a:extLst>
              <a:ext uri="{FF2B5EF4-FFF2-40B4-BE49-F238E27FC236}">
                <a16:creationId xmlns:a16="http://schemas.microsoft.com/office/drawing/2014/main" id="{C3842C9D-5FBB-4CB2-885A-EBAB2500123E}"/>
              </a:ext>
            </a:extLst>
          </p:cNvPr>
          <p:cNvSpPr/>
          <p:nvPr/>
        </p:nvSpPr>
        <p:spPr>
          <a:xfrm>
            <a:off x="2358779" y="5810657"/>
            <a:ext cx="373127" cy="216024"/>
          </a:xfrm>
          <a:prstGeom prst="rightArrow">
            <a:avLst/>
          </a:prstGeom>
          <a:solidFill>
            <a:srgbClr val="FFC000"/>
          </a:solidFill>
          <a:ln w="63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827584" y="404664"/>
            <a:ext cx="7991475" cy="984250"/>
          </a:xfrm>
        </p:spPr>
        <p:txBody>
          <a:bodyPr/>
          <a:lstStyle/>
          <a:p>
            <a:r>
              <a:rPr lang="zh-CN" altLang="en-US" dirty="0"/>
              <a:t>例：公有继承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286293"/>
            <a:ext cx="4824536" cy="343464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629" y="3722513"/>
            <a:ext cx="5976664" cy="239570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5773842" y="1705937"/>
            <a:ext cx="2959451" cy="160253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尝试将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Person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的数据成员改为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，然后在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Student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的成员函数中访问</a:t>
            </a:r>
          </a:p>
        </p:txBody>
      </p:sp>
      <p:sp>
        <p:nvSpPr>
          <p:cNvPr id="5" name="右箭头 4"/>
          <p:cNvSpPr/>
          <p:nvPr/>
        </p:nvSpPr>
        <p:spPr>
          <a:xfrm>
            <a:off x="410074" y="3789040"/>
            <a:ext cx="432048" cy="21054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8C47C-2967-4BA3-9B02-DC51780B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+mj-ea"/>
              </a:rPr>
              <a:t>2) </a:t>
            </a:r>
            <a:r>
              <a:rPr lang="zh-CN" altLang="en-US" dirty="0"/>
              <a:t>私有继承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private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51CCF3AE-1BF8-4FAE-B1EC-A7CAB054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2776"/>
            <a:ext cx="7772400" cy="475252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dirty="0">
                <a:latin typeface="宋体" panose="02010600030101010101" pitchFamily="2" charset="-122"/>
              </a:rPr>
              <a:t>成员</a:t>
            </a:r>
            <a:r>
              <a:rPr lang="zh-CN" altLang="en-US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都</a:t>
            </a:r>
            <a:r>
              <a:rPr lang="zh-CN" altLang="en-US" dirty="0">
                <a:latin typeface="宋体" panose="02010600030101010101" pitchFamily="2" charset="-122"/>
              </a:rPr>
              <a:t>以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身份</a:t>
            </a:r>
            <a:r>
              <a:rPr lang="zh-CN" altLang="en-US" dirty="0">
                <a:latin typeface="宋体" panose="02010600030101010101" pitchFamily="2" charset="-122"/>
              </a:rPr>
              <a:t>出现在派生类中，但基类的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dirty="0">
                <a:latin typeface="宋体" panose="02010600030101010101" pitchFamily="2" charset="-122"/>
              </a:rPr>
              <a:t>成员</a:t>
            </a:r>
            <a:r>
              <a:rPr lang="zh-CN" altLang="en-US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8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派生类的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成员函数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可以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dirty="0">
                <a:latin typeface="宋体" panose="02010600030101010101" pitchFamily="2" charset="-122"/>
              </a:rPr>
              <a:t>成员，但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dirty="0">
                <a:latin typeface="宋体" panose="02010600030101010101" pitchFamily="2" charset="-122"/>
              </a:rPr>
              <a:t>成员。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派生类的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对象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任何</a:t>
            </a:r>
            <a:r>
              <a:rPr lang="zh-CN" altLang="en-US" dirty="0">
                <a:latin typeface="宋体" panose="02010600030101010101" pitchFamily="2" charset="-122"/>
              </a:rPr>
              <a:t>成员。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35AECBC5-834A-4AA0-BA11-E28AD2041697}"/>
              </a:ext>
            </a:extLst>
          </p:cNvPr>
          <p:cNvSpPr/>
          <p:nvPr/>
        </p:nvSpPr>
        <p:spPr bwMode="auto">
          <a:xfrm>
            <a:off x="5833120" y="2996952"/>
            <a:ext cx="1440160" cy="738372"/>
          </a:xfrm>
          <a:prstGeom prst="wedgeRoundRectCallout">
            <a:avLst>
              <a:gd name="adj1" fmla="val 28323"/>
              <a:gd name="adj2" fmla="val 8646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宋体" panose="02010600030101010101" pitchFamily="2" charset="-122"/>
                <a:cs typeface="+mn-cs"/>
              </a:rPr>
              <a:t>如果改造有同名成员？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6B12E3-9E3A-4D9C-8941-5997403710BE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5800" y="693480"/>
            <a:ext cx="7772400" cy="947192"/>
          </a:xfrm>
        </p:spPr>
        <p:txBody>
          <a:bodyPr/>
          <a:lstStyle/>
          <a:p>
            <a:r>
              <a:rPr lang="en-US" altLang="zh-CN" dirty="0"/>
              <a:t>* </a:t>
            </a:r>
            <a:r>
              <a:rPr lang="zh-CN" altLang="en-US" dirty="0"/>
              <a:t>私有继承的含义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8810" y="1638678"/>
            <a:ext cx="7772400" cy="474264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/>
              <a:t>C++</a:t>
            </a:r>
            <a:r>
              <a:rPr lang="zh-CN" altLang="en-US" dirty="0"/>
              <a:t>将</a:t>
            </a:r>
            <a:r>
              <a:rPr lang="zh-CN" altLang="en-US" dirty="0">
                <a:solidFill>
                  <a:srgbClr val="FFFF00"/>
                </a:solidFill>
                <a:highlight>
                  <a:srgbClr val="000080"/>
                </a:highlight>
              </a:rPr>
              <a:t>公有</a:t>
            </a: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继承</a:t>
            </a:r>
            <a:r>
              <a:rPr lang="zh-CN" altLang="en-US" dirty="0"/>
              <a:t>视为 </a:t>
            </a:r>
            <a:r>
              <a:rPr lang="en-US" altLang="zh-CN" sz="2800" dirty="0">
                <a:solidFill>
                  <a:srgbClr val="0070C0"/>
                </a:solidFill>
              </a:rPr>
              <a:t>“</a:t>
            </a:r>
            <a:r>
              <a:rPr lang="zh-CN" altLang="en-US" sz="2800" dirty="0">
                <a:solidFill>
                  <a:srgbClr val="0070C0"/>
                </a:solidFill>
              </a:rPr>
              <a:t>是一个</a:t>
            </a:r>
            <a:r>
              <a:rPr lang="en-US" altLang="zh-CN" sz="2800" dirty="0">
                <a:solidFill>
                  <a:srgbClr val="0070C0"/>
                </a:solidFill>
              </a:rPr>
              <a:t>…”</a:t>
            </a:r>
            <a:r>
              <a:rPr lang="en-US" altLang="zh-CN" dirty="0"/>
              <a:t> </a:t>
            </a:r>
            <a:r>
              <a:rPr lang="zh-CN" altLang="en-US" dirty="0"/>
              <a:t>的关系，而</a:t>
            </a:r>
            <a:br>
              <a:rPr lang="en-US" altLang="zh-CN" dirty="0"/>
            </a:br>
            <a:r>
              <a:rPr lang="zh-CN" altLang="en-US" dirty="0">
                <a:solidFill>
                  <a:srgbClr val="FFFF00"/>
                </a:solidFill>
                <a:highlight>
                  <a:srgbClr val="000080"/>
                </a:highlight>
              </a:rPr>
              <a:t>私有</a:t>
            </a: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继承</a:t>
            </a:r>
            <a:r>
              <a:rPr lang="zh-CN" altLang="en-US" dirty="0"/>
              <a:t>意味着 </a:t>
            </a:r>
            <a:r>
              <a:rPr lang="en-US" altLang="zh-CN" sz="2800" dirty="0">
                <a:solidFill>
                  <a:srgbClr val="0070C0"/>
                </a:solidFill>
              </a:rPr>
              <a:t>"</a:t>
            </a:r>
            <a:r>
              <a:rPr lang="zh-CN" altLang="en-US" sz="2800" dirty="0">
                <a:solidFill>
                  <a:srgbClr val="0070C0"/>
                </a:solidFill>
              </a:rPr>
              <a:t>用</a:t>
            </a:r>
            <a:r>
              <a:rPr lang="en-US" altLang="zh-CN" sz="2800" dirty="0">
                <a:solidFill>
                  <a:srgbClr val="0070C0"/>
                </a:solidFill>
              </a:rPr>
              <a:t>...</a:t>
            </a:r>
            <a:r>
              <a:rPr lang="zh-CN" altLang="en-US" sz="2800" dirty="0">
                <a:solidFill>
                  <a:srgbClr val="0070C0"/>
                </a:solidFill>
              </a:rPr>
              <a:t>来实现</a:t>
            </a:r>
            <a:r>
              <a:rPr lang="en-US" altLang="zh-CN" sz="2800" dirty="0">
                <a:solidFill>
                  <a:srgbClr val="0070C0"/>
                </a:solidFill>
              </a:rPr>
              <a:t>"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如果使类</a:t>
            </a:r>
            <a:r>
              <a:rPr lang="en-US" altLang="zh-CN" dirty="0"/>
              <a:t>D</a:t>
            </a:r>
            <a:r>
              <a:rPr lang="zh-CN" altLang="en-US" dirty="0"/>
              <a:t>私有继承于类</a:t>
            </a:r>
            <a:r>
              <a:rPr lang="en-US" altLang="zh-CN" dirty="0"/>
              <a:t>B</a:t>
            </a:r>
            <a:r>
              <a:rPr lang="zh-CN" altLang="en-US" dirty="0"/>
              <a:t>，这样做主要是</a:t>
            </a:r>
            <a:r>
              <a:rPr lang="zh-CN" altLang="en-US" dirty="0">
                <a:solidFill>
                  <a:srgbClr val="002060"/>
                </a:solidFill>
              </a:rPr>
              <a:t>为</a:t>
            </a:r>
            <a:r>
              <a:rPr lang="zh-CN" altLang="en-US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利用类</a:t>
            </a:r>
            <a:r>
              <a:rPr lang="en-US" altLang="zh-CN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中已经存在的某些代码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非</a:t>
            </a:r>
            <a:r>
              <a:rPr lang="zh-CN" altLang="en-US" dirty="0"/>
              <a:t>因为类型</a:t>
            </a:r>
            <a:r>
              <a:rPr lang="en-US" altLang="zh-CN" dirty="0"/>
              <a:t>B</a:t>
            </a:r>
            <a:r>
              <a:rPr lang="zh-CN" altLang="en-US" dirty="0"/>
              <a:t>的对象和类型</a:t>
            </a:r>
            <a:r>
              <a:rPr lang="en-US" altLang="zh-CN" dirty="0"/>
              <a:t>D</a:t>
            </a:r>
            <a:r>
              <a:rPr lang="zh-CN" altLang="en-US" dirty="0"/>
              <a:t>的对象之间有什么概念上的关系。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因而，</a:t>
            </a:r>
            <a:r>
              <a:rPr lang="zh-CN" altLang="en-US" sz="2800" b="1" dirty="0">
                <a:solidFill>
                  <a:srgbClr val="0070C0"/>
                </a:solidFill>
              </a:rPr>
              <a:t>私有继承纯粹是一种实现技术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solidFill>
                  <a:srgbClr val="C00000"/>
                </a:solidFill>
              </a:rPr>
              <a:t>不推荐</a:t>
            </a:r>
            <a:r>
              <a:rPr lang="zh-CN" altLang="en-US" dirty="0"/>
              <a:t>，万不得已才用私有继承 </a:t>
            </a:r>
          </a:p>
        </p:txBody>
      </p:sp>
    </p:spTree>
    <p:extLst>
      <p:ext uri="{BB962C8B-B14F-4D97-AF65-F5344CB8AC3E}">
        <p14:creationId xmlns:p14="http://schemas.microsoft.com/office/powerpoint/2010/main" val="4051788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10C4B-D6A8-4EB2-A9EC-C59FBEDF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+mj-ea"/>
              </a:rPr>
              <a:t>3) </a:t>
            </a:r>
            <a:r>
              <a:rPr lang="zh-CN" altLang="en-US" dirty="0"/>
              <a:t>保护继承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protected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253BEF20-E2F0-4BF4-AB3D-7FFC6C678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556792"/>
            <a:ext cx="7704856" cy="4248472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基类的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400" dirty="0"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400" dirty="0">
                <a:latin typeface="宋体" panose="02010600030101010101" pitchFamily="2" charset="-122"/>
              </a:rPr>
              <a:t>成员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都</a:t>
            </a:r>
            <a:r>
              <a:rPr lang="zh-CN" altLang="en-US" sz="2400" dirty="0">
                <a:latin typeface="宋体" panose="02010600030101010101" pitchFamily="2" charset="-122"/>
              </a:rPr>
              <a:t>以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身份</a:t>
            </a:r>
            <a:r>
              <a:rPr lang="zh-CN" altLang="en-US" sz="2400" dirty="0">
                <a:latin typeface="宋体" panose="02010600030101010101" pitchFamily="2" charset="-122"/>
              </a:rPr>
              <a:t>出现在派生类中，但基类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400" dirty="0">
                <a:latin typeface="宋体" panose="02010600030101010101" pitchFamily="2" charset="-122"/>
              </a:rPr>
              <a:t>成员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派生类中的</a:t>
            </a:r>
            <a:r>
              <a:rPr lang="zh-CN" altLang="en-US" sz="18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成员函数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可以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000" dirty="0">
                <a:latin typeface="宋体" panose="02010600030101010101" pitchFamily="2" charset="-122"/>
              </a:rPr>
              <a:t>成员，但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000" dirty="0">
                <a:latin typeface="宋体" panose="02010600030101010101" pitchFamily="2" charset="-122"/>
              </a:rPr>
              <a:t>成员。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通过派生类的</a:t>
            </a:r>
            <a:r>
              <a:rPr lang="zh-CN" altLang="en-US" sz="18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对象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任何</a:t>
            </a:r>
            <a:r>
              <a:rPr lang="zh-CN" altLang="en-US" sz="2000" dirty="0">
                <a:latin typeface="宋体" panose="02010600030101010101" pitchFamily="2" charset="-122"/>
              </a:rPr>
              <a:t>成员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保护继承的特点是：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基类的公用成员和保护成员在派生类中都成了保护成员，其私有成员仍为基类私有。也就是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把基类原有的公用成员也保护起来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，不让类外任意访问</a:t>
            </a:r>
            <a:r>
              <a:rPr lang="zh-CN" altLang="en-US" sz="2400" dirty="0"/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C69E66-7CB9-437E-89B1-1BAECBA334C2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47DC0-3EC1-4677-A881-3C6C300AB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65" y="609600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</a:rPr>
              <a:t>protected</a:t>
            </a:r>
            <a:r>
              <a:rPr lang="en-US" altLang="zh-CN" dirty="0"/>
              <a:t> </a:t>
            </a:r>
            <a:r>
              <a:rPr lang="zh-CN" altLang="en-US" dirty="0"/>
              <a:t>成员的特点与作用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78F24C8A-F5E5-43CC-ADE9-E01D06AD3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33" y="1556792"/>
            <a:ext cx="7772400" cy="4176464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对创建它</a:t>
            </a:r>
            <a:r>
              <a:rPr lang="zh-CN" altLang="en-US" sz="2400" dirty="0">
                <a:solidFill>
                  <a:srgbClr val="C00000"/>
                </a:solidFill>
              </a:rPr>
              <a:t>所在</a:t>
            </a:r>
            <a:r>
              <a:rPr lang="zh-CN" altLang="en-US" sz="2400" b="1" dirty="0">
                <a:solidFill>
                  <a:srgbClr val="C00000"/>
                </a:solidFill>
              </a:rPr>
              <a:t>对象</a:t>
            </a:r>
            <a:r>
              <a:rPr lang="zh-CN" altLang="en-US" sz="2400" dirty="0">
                <a:solidFill>
                  <a:srgbClr val="C00000"/>
                </a:solidFill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</a:rPr>
              <a:t>模块</a:t>
            </a:r>
            <a:r>
              <a:rPr lang="zh-CN" altLang="en-US" sz="2400" dirty="0"/>
              <a:t>来说，它与 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成员的性质相同。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对于其</a:t>
            </a:r>
            <a:r>
              <a:rPr lang="zh-CN" altLang="en-US" sz="2400" b="1" dirty="0"/>
              <a:t>派生类</a:t>
            </a:r>
            <a:r>
              <a:rPr lang="en-US" altLang="zh-CN" sz="2400" b="1" dirty="0"/>
              <a:t>(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类作用域</a:t>
            </a:r>
            <a:r>
              <a:rPr lang="en-US" altLang="zh-CN" sz="2400" b="1" dirty="0"/>
              <a:t>)</a:t>
            </a:r>
            <a:r>
              <a:rPr lang="zh-CN" altLang="en-US" sz="2400" dirty="0"/>
              <a:t>来说，它与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</a:rPr>
              <a:t>成员</a:t>
            </a:r>
            <a:r>
              <a:rPr lang="zh-CN" altLang="en-US" sz="2400" dirty="0"/>
              <a:t>的性质相同。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既实现了数据隐藏，又方便继承，实现代码重用。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38" y="4254982"/>
            <a:ext cx="4302140" cy="190325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BB1CDE9-D481-4B89-A359-86BB96B2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8" y="4191223"/>
            <a:ext cx="3280208" cy="185802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5" name="圆角矩形 4"/>
          <p:cNvSpPr/>
          <p:nvPr/>
        </p:nvSpPr>
        <p:spPr bwMode="auto">
          <a:xfrm>
            <a:off x="2339752" y="1556792"/>
            <a:ext cx="2160240" cy="504056"/>
          </a:xfrm>
          <a:prstGeom prst="roundRect">
            <a:avLst/>
          </a:prstGeom>
          <a:noFill/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曲线连接符 6"/>
          <p:cNvCxnSpPr>
            <a:endCxn id="3" idx="0"/>
          </p:cNvCxnSpPr>
          <p:nvPr/>
        </p:nvCxnSpPr>
        <p:spPr bwMode="auto">
          <a:xfrm rot="5400000">
            <a:off x="1870890" y="2642240"/>
            <a:ext cx="2130375" cy="967590"/>
          </a:xfrm>
          <a:prstGeom prst="curvedConnector3">
            <a:avLst/>
          </a:prstGeom>
          <a:noFill/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2B75E72E-3040-45EF-A2F2-332632EB18F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8196" y="2276872"/>
            <a:ext cx="3609975" cy="3671888"/>
          </a:xfrm>
          <a:solidFill>
            <a:srgbClr val="002060"/>
          </a:solidFill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class A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FF00"/>
                </a:solidFill>
                <a:latin typeface="Consolas" panose="020B0609020204030204" pitchFamily="49" charset="0"/>
              </a:rPr>
              <a:t>protected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 x;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	A </a:t>
            </a:r>
            <a:r>
              <a:rPr lang="en-US" altLang="zh-CN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.x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 = 5;   </a:t>
            </a:r>
            <a:r>
              <a:rPr lang="en-US" altLang="zh-CN" sz="2400" dirty="0">
                <a:solidFill>
                  <a:srgbClr val="FFC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错误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1D47379-5A80-466B-8593-70207FB2C8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568" y="1002121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例：</a:t>
            </a:r>
            <a:r>
              <a:rPr lang="en-US" altLang="zh-CN" dirty="0"/>
              <a:t> protected </a:t>
            </a:r>
            <a:br>
              <a:rPr lang="en-US" altLang="zh-CN" dirty="0"/>
            </a:br>
            <a:r>
              <a:rPr lang="zh-CN" altLang="en-US" dirty="0"/>
              <a:t>成员举例</a:t>
            </a:r>
            <a:endParaRPr kumimoji="1"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933D009-B654-4B43-9A6E-3CAB39D1974F}"/>
              </a:ext>
            </a:extLst>
          </p:cNvPr>
          <p:cNvSpPr txBox="1">
            <a:spLocks/>
          </p:cNvSpPr>
          <p:nvPr/>
        </p:nvSpPr>
        <p:spPr bwMode="auto">
          <a:xfrm>
            <a:off x="4608797" y="1028150"/>
            <a:ext cx="3888805" cy="53041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 A {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protected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 B: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A{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public: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void function();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 B:function() {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5;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正确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派生类的作用域</a:t>
            </a: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576" y="784076"/>
            <a:ext cx="7772400" cy="947192"/>
          </a:xfrm>
        </p:spPr>
        <p:txBody>
          <a:bodyPr/>
          <a:lstStyle/>
          <a:p>
            <a:r>
              <a:rPr lang="zh-CN" altLang="en-US" dirty="0"/>
              <a:t>多继承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628800"/>
            <a:ext cx="7772400" cy="4176464"/>
          </a:xfrm>
        </p:spPr>
        <p:txBody>
          <a:bodyPr/>
          <a:lstStyle/>
          <a:p>
            <a:r>
              <a:rPr lang="zh-CN" altLang="en-US" dirty="0"/>
              <a:t>在前面的例子中，派生类都只有</a:t>
            </a:r>
            <a:r>
              <a:rPr lang="zh-CN" altLang="en-US" sz="3200" dirty="0">
                <a:solidFill>
                  <a:srgbClr val="0070C0"/>
                </a:solidFill>
              </a:rPr>
              <a:t>一个基类</a:t>
            </a:r>
            <a:r>
              <a:rPr lang="zh-CN" altLang="en-US" dirty="0"/>
              <a:t>，称为</a:t>
            </a:r>
            <a:r>
              <a:rPr lang="zh-CN" altLang="en-US" sz="2800" dirty="0">
                <a:solidFill>
                  <a:srgbClr val="0070C0"/>
                </a:solidFill>
              </a:rPr>
              <a:t>单继承</a:t>
            </a:r>
            <a:r>
              <a:rPr lang="zh-CN" altLang="en-US" dirty="0"/>
              <a:t>（</a:t>
            </a:r>
            <a:r>
              <a:rPr lang="en-US" altLang="zh-CN" dirty="0"/>
              <a:t>Single Inheritance</a:t>
            </a:r>
            <a:r>
              <a:rPr lang="zh-CN" altLang="en-US" dirty="0"/>
              <a:t>）。除此之外，</a:t>
            </a:r>
            <a:r>
              <a:rPr lang="en-US" altLang="zh-CN" dirty="0"/>
              <a:t>C++</a:t>
            </a:r>
            <a:r>
              <a:rPr lang="zh-CN" altLang="en-US" dirty="0"/>
              <a:t>也支持</a:t>
            </a:r>
            <a:r>
              <a:rPr lang="zh-CN" altLang="en-US" sz="2800" b="1" dirty="0">
                <a:solidFill>
                  <a:srgbClr val="0070C0"/>
                </a:solidFill>
              </a:rPr>
              <a:t>多继承</a:t>
            </a:r>
            <a:r>
              <a:rPr lang="zh-CN" altLang="en-US" dirty="0"/>
              <a:t>（</a:t>
            </a:r>
            <a:r>
              <a:rPr lang="en-US" altLang="zh-CN" dirty="0"/>
              <a:t>Multiple Inheritance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一个派生类可以有两个或多个基类。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* 多继承容易让代码逻辑复杂、思路混乱，一直备受争议，中小型项目中较少使用，后来的 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、</a:t>
            </a:r>
            <a:r>
              <a:rPr lang="en-US" altLang="zh-CN" dirty="0"/>
              <a:t>PHP </a:t>
            </a:r>
            <a:r>
              <a:rPr lang="zh-CN" altLang="en-US" dirty="0"/>
              <a:t>等干脆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取消了多继承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C62B64-5C54-4493-B74C-868BE0D3470D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189763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4723B-00FB-4A6C-A1FA-D95DDEFF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53616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类型</a:t>
            </a:r>
            <a:r>
              <a:rPr lang="zh-CN" altLang="en-US" dirty="0">
                <a:solidFill>
                  <a:srgbClr val="C00000"/>
                </a:solidFill>
              </a:rPr>
              <a:t>兼容</a:t>
            </a:r>
            <a:r>
              <a:rPr lang="zh-CN" altLang="en-US" dirty="0"/>
              <a:t>规则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0155312D-4BAA-48BA-83FD-3BF9D5FC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8062664" cy="4896544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一个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公有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派生类</a:t>
            </a:r>
            <a:r>
              <a:rPr lang="zh-CN" altLang="en-US" sz="2400" dirty="0">
                <a:latin typeface="宋体" panose="02010600030101010101" pitchFamily="2" charset="-122"/>
              </a:rPr>
              <a:t>的对象在使用上可以被当作基类的对象，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反之被禁止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不可能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。具体表现在：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派生类的对象可以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隐含转换为基类对象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派生类的对象可以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初始化基类的引用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派生类的指针可以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隐含转换为基类的指针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私有或保护派生类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不适用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通过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基类对象名、指针</a:t>
            </a:r>
            <a:r>
              <a:rPr lang="zh-CN" altLang="en-US" sz="2400" dirty="0">
                <a:latin typeface="宋体" panose="02010600030101010101" pitchFamily="2" charset="-122"/>
              </a:rPr>
              <a:t>只能使用从基类继承的成员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27AA5-F15A-4332-8558-D5379757F4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47664" y="402882"/>
            <a:ext cx="7246937" cy="1066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/>
              <a:t>例：</a:t>
            </a:r>
            <a:r>
              <a:rPr lang="zh-CN" altLang="en-US" sz="2800" dirty="0"/>
              <a:t>类型转换规则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212881"/>
            <a:ext cx="6048672" cy="5069261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222BAC62-2831-4415-BE12-AB01F8A5C4DB}"/>
              </a:ext>
            </a:extLst>
          </p:cNvPr>
          <p:cNvSpPr/>
          <p:nvPr/>
        </p:nvSpPr>
        <p:spPr>
          <a:xfrm>
            <a:off x="1043608" y="3531488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853EA02-0B07-451A-B92A-0E341BCCDB83}"/>
              </a:ext>
            </a:extLst>
          </p:cNvPr>
          <p:cNvSpPr/>
          <p:nvPr/>
        </p:nvSpPr>
        <p:spPr>
          <a:xfrm>
            <a:off x="1043608" y="5259680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894622-806E-4845-B4FA-7FEF750E2742}"/>
              </a:ext>
            </a:extLst>
          </p:cNvPr>
          <p:cNvSpPr txBox="1"/>
          <p:nvPr/>
        </p:nvSpPr>
        <p:spPr>
          <a:xfrm>
            <a:off x="7596336" y="3963536"/>
            <a:ext cx="834753" cy="156966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覆盖重写基类方法</a:t>
            </a:r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67EF9951-31E8-4B35-A8ED-8B96826ADD44}"/>
              </a:ext>
            </a:extLst>
          </p:cNvPr>
          <p:cNvSpPr/>
          <p:nvPr/>
        </p:nvSpPr>
        <p:spPr>
          <a:xfrm>
            <a:off x="3116600" y="3501008"/>
            <a:ext cx="1152128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8AA05F20-8447-40E3-AE9D-C8253394562B}"/>
              </a:ext>
            </a:extLst>
          </p:cNvPr>
          <p:cNvSpPr/>
          <p:nvPr/>
        </p:nvSpPr>
        <p:spPr>
          <a:xfrm>
            <a:off x="3116600" y="5226300"/>
            <a:ext cx="1152128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91863487-F18E-4641-A8AC-2373C83D70EB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4268728" y="3663026"/>
            <a:ext cx="3327608" cy="1085340"/>
          </a:xfrm>
          <a:prstGeom prst="curvedConnector3">
            <a:avLst>
              <a:gd name="adj1" fmla="val 85723"/>
            </a:avLst>
          </a:prstGeom>
          <a:ln w="1905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A962817-1CCC-41FA-81F6-D2F448197BC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4268728" y="4748366"/>
            <a:ext cx="3327608" cy="639952"/>
          </a:xfrm>
          <a:prstGeom prst="curvedConnector3">
            <a:avLst>
              <a:gd name="adj1" fmla="val 81602"/>
            </a:avLst>
          </a:prstGeom>
          <a:ln w="1905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F65C5-9470-464C-B185-734013BD67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1988" y="476672"/>
            <a:ext cx="7065963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69" y="1484784"/>
            <a:ext cx="7802333" cy="4176464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45C38CD1-4B0F-4603-9F6D-7A2C2CD9BBA2}"/>
              </a:ext>
            </a:extLst>
          </p:cNvPr>
          <p:cNvSpPr/>
          <p:nvPr/>
        </p:nvSpPr>
        <p:spPr bwMode="auto">
          <a:xfrm>
            <a:off x="1619672" y="3429000"/>
            <a:ext cx="6696744" cy="72008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F65C5-9470-464C-B185-734013BD6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重新定义继承</a:t>
            </a:r>
            <a:r>
              <a:rPr lang="zh-CN" altLang="en-US" sz="4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带来的问题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81" y="1499360"/>
            <a:ext cx="6552728" cy="40867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747" y="4635314"/>
            <a:ext cx="3291275" cy="18002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BC9002-6180-4072-BB2D-53814B00370E}"/>
              </a:ext>
            </a:extLst>
          </p:cNvPr>
          <p:cNvSpPr txBox="1"/>
          <p:nvPr/>
        </p:nvSpPr>
        <p:spPr>
          <a:xfrm>
            <a:off x="1144681" y="5414028"/>
            <a:ext cx="3911292" cy="1006476"/>
          </a:xfrm>
          <a:prstGeom prst="rect">
            <a:avLst/>
          </a:prstGeom>
          <a:solidFill>
            <a:srgbClr val="191D1F"/>
          </a:solidFill>
          <a:ln w="38100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哪个对象的指针就调用哪个对象上的方法？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运行</a:t>
            </a:r>
            <a:r>
              <a:rPr kumimoji="1" lang="zh-CN" altLang="en-US" b="1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多态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5C5CCC-2FD6-46BE-837D-2397CBD91972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40577609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659CC-BC47-4C2F-85E2-CDFF58FD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</a:t>
            </a:r>
            <a:r>
              <a:rPr lang="zh-CN" altLang="en-US" dirty="0">
                <a:solidFill>
                  <a:srgbClr val="0070C0"/>
                </a:solidFill>
              </a:rPr>
              <a:t>构造函数</a:t>
            </a:r>
          </a:p>
        </p:txBody>
      </p:sp>
      <p:sp>
        <p:nvSpPr>
          <p:cNvPr id="39938" name="内容占位符 2">
            <a:extLst>
              <a:ext uri="{FF2B5EF4-FFF2-40B4-BE49-F238E27FC236}">
                <a16:creationId xmlns:a16="http://schemas.microsoft.com/office/drawing/2014/main" id="{890B7FC9-F6C8-4337-9EC0-AD842A664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283" y="1716832"/>
            <a:ext cx="7772400" cy="4176464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zh-CN" altLang="en-US" dirty="0"/>
              <a:t>基类的构造函数</a:t>
            </a:r>
            <a:r>
              <a:rPr lang="zh-CN" altLang="en-US" sz="2800" dirty="0">
                <a:solidFill>
                  <a:srgbClr val="C00000"/>
                </a:solidFill>
              </a:rPr>
              <a:t>不被继承</a:t>
            </a:r>
            <a:r>
              <a:rPr lang="zh-CN" altLang="en-US" dirty="0"/>
              <a:t>，派生类中需要</a:t>
            </a:r>
            <a:r>
              <a:rPr lang="zh-CN" altLang="en-US" sz="2800" dirty="0">
                <a:solidFill>
                  <a:srgbClr val="0070C0"/>
                </a:solidFill>
              </a:rPr>
              <a:t>自己声明</a:t>
            </a:r>
            <a:r>
              <a:rPr lang="zh-CN" altLang="en-US" dirty="0"/>
              <a:t>构造函数。定义构造函数时，</a:t>
            </a:r>
          </a:p>
          <a:p>
            <a:pPr marL="1028700" lvl="1" indent="-457200" eaLnBrk="1" hangingPunct="1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/>
              <a:t>若只对本类中新增成员进行初始化；对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继承来的基类成员的初始化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自动调用基类默认构造函数完成</a:t>
            </a:r>
            <a:r>
              <a:rPr lang="zh-CN" altLang="en-US" dirty="0"/>
              <a:t>。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1028700" lvl="1" indent="-457200" eaLnBrk="1" hangingPunct="1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/>
              <a:t>派生类的构造函数需要给基类的构造函数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传递参数。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CBC30B-DD4B-48EF-B33E-92B3275B5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5336810"/>
            <a:ext cx="7181850" cy="10953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D537BBB-E427-49E6-9CAB-5B5F918C7D6D}"/>
              </a:ext>
            </a:extLst>
          </p:cNvPr>
          <p:cNvSpPr/>
          <p:nvPr/>
        </p:nvSpPr>
        <p:spPr>
          <a:xfrm>
            <a:off x="1074088" y="5192794"/>
            <a:ext cx="2649230" cy="180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9DF8D1-8CD1-4937-9816-AEAF26751415}"/>
              </a:ext>
            </a:extLst>
          </p:cNvPr>
          <p:cNvSpPr/>
          <p:nvPr/>
        </p:nvSpPr>
        <p:spPr>
          <a:xfrm>
            <a:off x="3730876" y="5192793"/>
            <a:ext cx="2265870" cy="1799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B11164-7084-4BC0-95EC-46B7241A1C0A}"/>
              </a:ext>
            </a:extLst>
          </p:cNvPr>
          <p:cNvSpPr/>
          <p:nvPr/>
        </p:nvSpPr>
        <p:spPr>
          <a:xfrm>
            <a:off x="5996746" y="5192793"/>
            <a:ext cx="2016224" cy="1799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22388D-037B-4E87-A87F-83DF252A9E10}"/>
              </a:ext>
            </a:extLst>
          </p:cNvPr>
          <p:cNvSpPr/>
          <p:nvPr/>
        </p:nvSpPr>
        <p:spPr>
          <a:xfrm>
            <a:off x="7822173" y="465555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参数表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0D690B73-5A0D-405B-8334-DF3340801AE9}"/>
              </a:ext>
            </a:extLst>
          </p:cNvPr>
          <p:cNvCxnSpPr>
            <a:cxnSpLocks/>
            <a:endCxn id="32" idx="7"/>
          </p:cNvCxnSpPr>
          <p:nvPr/>
        </p:nvCxnSpPr>
        <p:spPr>
          <a:xfrm rot="10800000" flipV="1">
            <a:off x="7068672" y="4653136"/>
            <a:ext cx="887704" cy="458026"/>
          </a:xfrm>
          <a:prstGeom prst="curvedConnector2">
            <a:avLst/>
          </a:prstGeom>
          <a:ln w="28575">
            <a:solidFill>
              <a:srgbClr val="305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F37E64A8-B4BB-45D0-9D52-D5818F33C8C3}"/>
              </a:ext>
            </a:extLst>
          </p:cNvPr>
          <p:cNvCxnSpPr>
            <a:cxnSpLocks/>
            <a:stCxn id="32" idx="1"/>
            <a:endCxn id="20" idx="7"/>
          </p:cNvCxnSpPr>
          <p:nvPr/>
        </p:nvCxnSpPr>
        <p:spPr>
          <a:xfrm rot="16200000" flipH="1" flipV="1">
            <a:off x="5923536" y="4111297"/>
            <a:ext cx="17991" cy="2017720"/>
          </a:xfrm>
          <a:prstGeom prst="curvedConnector3">
            <a:avLst>
              <a:gd name="adj1" fmla="val -2779329"/>
            </a:avLst>
          </a:prstGeom>
          <a:ln w="19050">
            <a:solidFill>
              <a:srgbClr val="FFC000"/>
            </a:solidFill>
            <a:prstDash val="sysDash"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9AF49073-2497-4FD1-AC94-FA72D3349E9A}"/>
              </a:ext>
            </a:extLst>
          </p:cNvPr>
          <p:cNvCxnSpPr>
            <a:cxnSpLocks/>
            <a:stCxn id="20" idx="1"/>
            <a:endCxn id="38" idx="0"/>
          </p:cNvCxnSpPr>
          <p:nvPr/>
        </p:nvCxnSpPr>
        <p:spPr>
          <a:xfrm rot="16200000" flipV="1">
            <a:off x="3582295" y="3915056"/>
            <a:ext cx="34284" cy="2393910"/>
          </a:xfrm>
          <a:prstGeom prst="curvedConnector3">
            <a:avLst>
              <a:gd name="adj1" fmla="val 1469417"/>
            </a:avLst>
          </a:prstGeom>
          <a:ln w="19050">
            <a:solidFill>
              <a:srgbClr val="3051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C0ED0948-7600-4C21-80ED-0D811A730011}"/>
              </a:ext>
            </a:extLst>
          </p:cNvPr>
          <p:cNvSpPr>
            <a:spLocks noChangeAspect="1"/>
          </p:cNvSpPr>
          <p:nvPr/>
        </p:nvSpPr>
        <p:spPr>
          <a:xfrm>
            <a:off x="4770032" y="5102793"/>
            <a:ext cx="180000" cy="180000"/>
          </a:xfrm>
          <a:prstGeom prst="ellipse">
            <a:avLst/>
          </a:prstGeom>
          <a:solidFill>
            <a:srgbClr val="FFFF00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A30501D-F25E-4C5E-B95F-9DCABF2DE88F}"/>
              </a:ext>
            </a:extLst>
          </p:cNvPr>
          <p:cNvSpPr>
            <a:spLocks noChangeAspect="1"/>
          </p:cNvSpPr>
          <p:nvPr/>
        </p:nvSpPr>
        <p:spPr>
          <a:xfrm>
            <a:off x="6915032" y="5084802"/>
            <a:ext cx="180000" cy="180000"/>
          </a:xfrm>
          <a:prstGeom prst="ellipse">
            <a:avLst/>
          </a:prstGeom>
          <a:solidFill>
            <a:srgbClr val="FFC000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93FF288-DF19-4CDB-8A77-B962AB627EF3}"/>
              </a:ext>
            </a:extLst>
          </p:cNvPr>
          <p:cNvSpPr>
            <a:spLocks noChangeAspect="1"/>
          </p:cNvSpPr>
          <p:nvPr/>
        </p:nvSpPr>
        <p:spPr>
          <a:xfrm>
            <a:off x="2312482" y="5094869"/>
            <a:ext cx="180000" cy="180000"/>
          </a:xfrm>
          <a:prstGeom prst="ellipse">
            <a:avLst/>
          </a:prstGeom>
          <a:solidFill>
            <a:srgbClr val="002060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74D88-B2AA-4BFD-B739-78BB0BBE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53" y="815155"/>
            <a:ext cx="7772400" cy="9160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</a:p>
        </p:txBody>
      </p:sp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AEA39EA3-25C0-405D-9099-13F8CDA5BA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55576" y="1844824"/>
            <a:ext cx="7250113" cy="3627437"/>
          </a:xfrm>
        </p:spPr>
        <p:txBody>
          <a:bodyPr/>
          <a:lstStyle/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en-US" altLang="zh-CN" dirty="0"/>
              <a:t>::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基类所需的形参</a:t>
            </a:r>
            <a:r>
              <a:rPr lang="zh-CN" altLang="en-US" dirty="0"/>
              <a:t>，本类成员所需的</a:t>
            </a:r>
            <a:r>
              <a:rPr lang="zh-CN" altLang="en-US" dirty="0">
                <a:solidFill>
                  <a:srgbClr val="0070C0"/>
                </a:solidFill>
              </a:rPr>
              <a:t>形参</a:t>
            </a:r>
            <a:r>
              <a:rPr lang="en-US" altLang="zh-CN" dirty="0"/>
              <a:t>):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基类名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参数表</a:t>
            </a:r>
            <a:r>
              <a:rPr lang="en-US" altLang="zh-CN" dirty="0"/>
              <a:t>), </a:t>
            </a:r>
            <a:r>
              <a:rPr lang="zh-CN" altLang="en-US" dirty="0">
                <a:solidFill>
                  <a:srgbClr val="C00000"/>
                </a:solidFill>
              </a:rPr>
              <a:t>本类</a:t>
            </a:r>
            <a:r>
              <a:rPr lang="zh-CN" altLang="en-US" dirty="0"/>
              <a:t>成员</a:t>
            </a:r>
            <a:r>
              <a:rPr lang="zh-CN" altLang="en-US" dirty="0">
                <a:solidFill>
                  <a:srgbClr val="0070C0"/>
                </a:solidFill>
              </a:rPr>
              <a:t>初始化列表</a:t>
            </a:r>
            <a:endParaRPr lang="en-US" altLang="zh-CN" dirty="0">
              <a:solidFill>
                <a:srgbClr val="0070C0"/>
              </a:solidFill>
            </a:endParaRPr>
          </a:p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{</a:t>
            </a:r>
          </a:p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	//</a:t>
            </a:r>
            <a:r>
              <a:rPr lang="zh-CN" altLang="en-US" dirty="0"/>
              <a:t>其他操作；</a:t>
            </a:r>
          </a:p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8B06E43C-222F-4220-9E33-CF9E600D24E9}"/>
              </a:ext>
            </a:extLst>
          </p:cNvPr>
          <p:cNvSpPr/>
          <p:nvPr/>
        </p:nvSpPr>
        <p:spPr>
          <a:xfrm>
            <a:off x="5041032" y="3212976"/>
            <a:ext cx="3024336" cy="648072"/>
          </a:xfrm>
          <a:prstGeom prst="wedgeRoundRectCallout">
            <a:avLst>
              <a:gd name="adj1" fmla="val 21374"/>
              <a:gd name="adj2" fmla="val -92094"/>
              <a:gd name="adj3" fmla="val 16667"/>
            </a:avLst>
          </a:prstGeom>
          <a:solidFill>
            <a:srgbClr val="0070C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只能是本类中定义的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41FC7-6414-4D79-B3DC-4CD9A6FE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r>
              <a:rPr lang="zh-CN" altLang="en-US" dirty="0">
                <a:solidFill>
                  <a:srgbClr val="0070C0"/>
                </a:solidFill>
              </a:rPr>
              <a:t>举例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5" y="1594976"/>
            <a:ext cx="3530187" cy="31127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671" y="2658552"/>
            <a:ext cx="5472809" cy="32187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4C11E9F-FD76-4BA0-85ED-992659A72A5C}"/>
              </a:ext>
            </a:extLst>
          </p:cNvPr>
          <p:cNvSpPr txBox="1"/>
          <p:nvPr/>
        </p:nvSpPr>
        <p:spPr>
          <a:xfrm>
            <a:off x="1525389" y="515357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类体</a:t>
            </a: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205E288B-847B-45BA-8BC9-A81CB21ACE4D}"/>
              </a:ext>
            </a:extLst>
          </p:cNvPr>
          <p:cNvSpPr/>
          <p:nvPr/>
        </p:nvSpPr>
        <p:spPr>
          <a:xfrm>
            <a:off x="1978982" y="4818792"/>
            <a:ext cx="144016" cy="2880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25002F-2886-4FAF-BE6C-DFB026D85938}"/>
              </a:ext>
            </a:extLst>
          </p:cNvPr>
          <p:cNvSpPr txBox="1"/>
          <p:nvPr/>
        </p:nvSpPr>
        <p:spPr>
          <a:xfrm>
            <a:off x="6125871" y="1643668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实现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1400E3C1-25AB-4372-BA43-D15A3A45BD7A}"/>
              </a:ext>
            </a:extLst>
          </p:cNvPr>
          <p:cNvSpPr/>
          <p:nvPr/>
        </p:nvSpPr>
        <p:spPr>
          <a:xfrm>
            <a:off x="6558168" y="2277135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323B4-0B8A-4266-8F59-D67EE6A7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80"/>
            <a:ext cx="7772400" cy="9160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r>
              <a:rPr lang="zh-CN" altLang="en-US" dirty="0">
                <a:solidFill>
                  <a:srgbClr val="0070C0"/>
                </a:solidFill>
              </a:rPr>
              <a:t>举例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708" y="1464720"/>
            <a:ext cx="5256584" cy="4766274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B9623B43-9901-4875-A08F-9569CA8C6BB0}"/>
              </a:ext>
            </a:extLst>
          </p:cNvPr>
          <p:cNvSpPr/>
          <p:nvPr/>
        </p:nvSpPr>
        <p:spPr>
          <a:xfrm rot="16200000">
            <a:off x="4896036" y="4977172"/>
            <a:ext cx="288032" cy="216024"/>
          </a:xfrm>
          <a:prstGeom prst="leftArrow">
            <a:avLst/>
          </a:prstGeom>
          <a:solidFill>
            <a:srgbClr val="FFC000"/>
          </a:solidFill>
          <a:ln w="63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E7EBC-381A-4079-915E-361AF728C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01598"/>
            <a:ext cx="7772400" cy="9160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r>
              <a:rPr lang="zh-CN" altLang="en-US" dirty="0">
                <a:solidFill>
                  <a:srgbClr val="0070C0"/>
                </a:solidFill>
              </a:rPr>
              <a:t>举例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155" y="1417638"/>
            <a:ext cx="5116077" cy="373955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0" y="3717032"/>
            <a:ext cx="3312368" cy="267765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B's constructor called.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类构造函数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类的析构函数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B's destructor called.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3E0B8B-3631-44DD-9B20-E7AEF6E0E0D4}"/>
              </a:ext>
            </a:extLst>
          </p:cNvPr>
          <p:cNvSpPr txBox="1"/>
          <p:nvPr/>
        </p:nvSpPr>
        <p:spPr>
          <a:xfrm>
            <a:off x="251520" y="6257036"/>
            <a:ext cx="1107996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代码↓ ↓ ↓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64D9D7-193D-4394-A302-56FB483E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692696"/>
            <a:ext cx="7772400" cy="916040"/>
          </a:xfrm>
        </p:spPr>
        <p:txBody>
          <a:bodyPr/>
          <a:lstStyle/>
          <a:p>
            <a:r>
              <a:rPr lang="zh-CN" altLang="en-US" dirty="0"/>
              <a:t>派生类与基类的构造函数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B3A0D8C6-896E-4B62-8A52-848E922DF99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755576" y="1705990"/>
            <a:ext cx="7772400" cy="4525963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dirty="0"/>
              <a:t>当基类中声明</a:t>
            </a:r>
            <a:r>
              <a:rPr lang="zh-CN" altLang="en-US" sz="2800" dirty="0">
                <a:solidFill>
                  <a:srgbClr val="C00000"/>
                </a:solidFill>
              </a:rPr>
              <a:t>有缺省</a:t>
            </a:r>
            <a:r>
              <a:rPr lang="zh-CN" altLang="en-US" sz="2800" dirty="0">
                <a:solidFill>
                  <a:srgbClr val="0070C0"/>
                </a:solidFill>
              </a:rPr>
              <a:t>构造函数</a:t>
            </a:r>
            <a:r>
              <a:rPr lang="zh-CN" altLang="en-US" dirty="0"/>
              <a:t>或未声明构造函数时，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派生类构造函数可以不向基类构造函数传递参数，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也可以不声明构造函数，构造派生类的对象时，基类的缺省构造函数将被调用。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dirty="0"/>
              <a:t>当需要执行基类中</a:t>
            </a:r>
            <a:r>
              <a:rPr lang="zh-CN" altLang="en-US" dirty="0">
                <a:solidFill>
                  <a:srgbClr val="C00000"/>
                </a:solidFill>
              </a:rPr>
              <a:t>带形参</a:t>
            </a:r>
            <a:r>
              <a:rPr lang="zh-CN" altLang="en-US" dirty="0">
                <a:solidFill>
                  <a:srgbClr val="0070C0"/>
                </a:solidFill>
              </a:rPr>
              <a:t>的构造函数</a:t>
            </a:r>
            <a:r>
              <a:rPr lang="zh-CN" altLang="en-US" dirty="0"/>
              <a:t>来初始化基类数据时，派生类构造函数应</a:t>
            </a:r>
            <a:r>
              <a:rPr lang="zh-CN" altLang="en-US" dirty="0">
                <a:solidFill>
                  <a:srgbClr val="C00000"/>
                </a:solidFill>
              </a:rPr>
              <a:t>在初始化列表中</a:t>
            </a:r>
            <a:r>
              <a:rPr lang="zh-CN" altLang="en-US" dirty="0"/>
              <a:t>为基类构造函数提供参数。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ED1DF0F-61B3-43B6-81FE-E72004CE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构造函数的执行顺序</a:t>
            </a:r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577722E2-74C8-4A69-8798-170C5AF153E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02858" y="1700808"/>
            <a:ext cx="7555342" cy="4133850"/>
          </a:xfrm>
        </p:spPr>
        <p:txBody>
          <a:bodyPr/>
          <a:lstStyle/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Trebuchet MS" panose="020B0603020202020204" pitchFamily="34" charset="0"/>
              <a:buAutoNum type="arabicPeriod"/>
            </a:pPr>
            <a:r>
              <a:rPr lang="zh-CN" altLang="en-US" sz="2400" dirty="0"/>
              <a:t>调用基类构造函数</a:t>
            </a:r>
            <a:r>
              <a:rPr lang="en-US" altLang="zh-CN" sz="2400" dirty="0"/>
              <a:t>(</a:t>
            </a:r>
            <a:r>
              <a:rPr lang="zh-CN" altLang="en-US" sz="2400" dirty="0"/>
              <a:t>若多个基类，调用顺序按照它们被继承时声明的顺序，即</a:t>
            </a:r>
            <a:r>
              <a:rPr lang="zh-CN" altLang="en-US" sz="2400" b="1" dirty="0">
                <a:solidFill>
                  <a:srgbClr val="0070C0"/>
                </a:solidFill>
              </a:rPr>
              <a:t>从左向右</a:t>
            </a:r>
            <a:r>
              <a:rPr lang="zh-CN" altLang="en-US" sz="2400" dirty="0"/>
              <a:t>）。</a:t>
            </a:r>
          </a:p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Trebuchet MS" panose="020B0603020202020204" pitchFamily="34" charset="0"/>
              <a:buAutoNum type="arabicPeriod"/>
            </a:pPr>
            <a:r>
              <a:rPr lang="zh-CN" altLang="en-US" sz="2400" dirty="0"/>
              <a:t>对本类成员初始化列表中的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基本类型成员</a:t>
            </a:r>
            <a:r>
              <a:rPr lang="zh-CN" altLang="en-US" sz="2400" dirty="0"/>
              <a:t>和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对象成员</a:t>
            </a:r>
            <a:r>
              <a:rPr lang="zh-CN" altLang="en-US" sz="2400" dirty="0"/>
              <a:t>进行初始化，</a:t>
            </a:r>
            <a:r>
              <a:rPr lang="zh-CN" altLang="en-US" sz="2000" dirty="0"/>
              <a:t>初始化</a:t>
            </a:r>
            <a:r>
              <a:rPr lang="zh-CN" altLang="en-US" sz="2000" b="1" dirty="0">
                <a:solidFill>
                  <a:srgbClr val="0070C0"/>
                </a:solidFill>
              </a:rPr>
              <a:t>顺序</a:t>
            </a:r>
            <a:r>
              <a:rPr lang="zh-CN" altLang="en-US" sz="2000" dirty="0"/>
              <a:t>按照在类中声明的顺序。</a:t>
            </a:r>
            <a:endParaRPr lang="en-US" altLang="zh-CN" sz="2000" dirty="0"/>
          </a:p>
          <a:p>
            <a:pPr marL="10795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      对象成员初始化</a:t>
            </a:r>
            <a:r>
              <a:rPr lang="en-US" altLang="zh-CN" sz="2000" dirty="0"/>
              <a:t>: </a:t>
            </a:r>
            <a:r>
              <a:rPr lang="zh-CN" altLang="en-US" sz="2000" dirty="0"/>
              <a:t>自动调用对象所属类的构造函数完成。</a:t>
            </a:r>
          </a:p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zh-CN" altLang="en-US" sz="2400" dirty="0"/>
              <a:t>执行派生类的构造函数体中的内容。</a:t>
            </a:r>
          </a:p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Trebuchet MS" panose="020B0603020202020204" pitchFamily="34" charset="0"/>
              <a:buAutoNum type="arabicPeriod" startAt="3"/>
            </a:pP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4D7896-DD78-4BEB-AF09-1CFE850E00AA}"/>
              </a:ext>
            </a:extLst>
          </p:cNvPr>
          <p:cNvSpPr/>
          <p:nvPr/>
        </p:nvSpPr>
        <p:spPr>
          <a:xfrm flipV="1">
            <a:off x="2411760" y="1406485"/>
            <a:ext cx="2448272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0B5AA2-D63C-4677-A4D6-CBBA3A2AA92D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55964FD-0432-4C64-9A3D-99B072EA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复制构造函数</a:t>
            </a:r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551F9BB7-9EB3-4639-9CE4-E5401F99250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700608" y="1557077"/>
            <a:ext cx="8229600" cy="4525962"/>
          </a:xfrm>
        </p:spPr>
        <p:txBody>
          <a:bodyPr/>
          <a:lstStyle/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/>
              <a:t>建立派生类对象时</a:t>
            </a:r>
            <a:r>
              <a:rPr lang="zh-CN" altLang="en-US" dirty="0">
                <a:solidFill>
                  <a:srgbClr val="C00000"/>
                </a:solidFill>
              </a:rPr>
              <a:t>若没有编写</a:t>
            </a:r>
            <a:r>
              <a:rPr lang="zh-CN" altLang="en-US" dirty="0"/>
              <a:t>复制构造函数，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编译器会生成一个</a:t>
            </a:r>
            <a:r>
              <a:rPr lang="zh-CN" altLang="en-US" sz="28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复制构造函数，该函数先调用基类的复制构造函数，再为派生类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新增的成员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对象执行拷贝</a:t>
            </a:r>
            <a:r>
              <a:rPr lang="zh-CN" altLang="en-US" dirty="0"/>
              <a:t>。</a:t>
            </a:r>
          </a:p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/>
              <a:t>若编写派生类的复制构造函数，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则需要为基类相应的复制构造函数传递参数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09575" lvl="1" indent="0" eaLnBrk="1" hangingPunct="1">
              <a:buFont typeface="Georgia" panose="02040502050405020303" pitchFamily="18" charset="0"/>
              <a:buNone/>
            </a:pPr>
            <a:r>
              <a:rPr lang="zh-CN" altLang="en-US" sz="3200" dirty="0"/>
              <a:t>例</a:t>
            </a:r>
            <a:r>
              <a:rPr lang="en-US" altLang="zh-CN" dirty="0"/>
              <a:t>:</a:t>
            </a:r>
          </a:p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en-US" altLang="zh-CN" dirty="0"/>
              <a:t>	</a:t>
            </a:r>
            <a:r>
              <a:rPr lang="en-US" altLang="zh-CN" sz="2400" dirty="0"/>
              <a:t>C::C(const C &amp;c1)</a:t>
            </a:r>
            <a:r>
              <a:rPr lang="en-US" altLang="zh-CN" sz="2400" b="1" dirty="0">
                <a:solidFill>
                  <a:srgbClr val="C00000"/>
                </a:solidFill>
              </a:rPr>
              <a:t>: B(c1) </a:t>
            </a:r>
            <a:r>
              <a:rPr lang="en-US" altLang="zh-CN" sz="2400" dirty="0"/>
              <a:t>{…}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B42FC10-3DF9-4A9E-9879-86C4BEC2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析构函数</a:t>
            </a:r>
          </a:p>
        </p:txBody>
      </p:sp>
      <p:sp>
        <p:nvSpPr>
          <p:cNvPr id="25602" name="内容占位符 2">
            <a:extLst>
              <a:ext uri="{FF2B5EF4-FFF2-40B4-BE49-F238E27FC236}">
                <a16:creationId xmlns:a16="http://schemas.microsoft.com/office/drawing/2014/main" id="{52FB0505-8E7C-4AB6-A92A-ECDDCE9F40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52046" y="1844824"/>
            <a:ext cx="8229600" cy="3740150"/>
          </a:xfrm>
        </p:spPr>
        <p:txBody>
          <a:bodyPr/>
          <a:lstStyle/>
          <a:p>
            <a:pPr eaLnBrk="1" hangingPunct="1"/>
            <a:r>
              <a:rPr lang="zh-CN" altLang="en-US" dirty="0"/>
              <a:t>析构函数也</a:t>
            </a:r>
            <a:r>
              <a:rPr lang="zh-CN" altLang="en-US" dirty="0">
                <a:solidFill>
                  <a:srgbClr val="C00000"/>
                </a:solidFill>
              </a:rPr>
              <a:t>不</a:t>
            </a:r>
            <a:r>
              <a:rPr lang="zh-CN" altLang="en-US" dirty="0">
                <a:solidFill>
                  <a:srgbClr val="0070C0"/>
                </a:solidFill>
              </a:rPr>
              <a:t>被继承</a:t>
            </a:r>
            <a:r>
              <a:rPr lang="zh-CN" altLang="en-US" dirty="0"/>
              <a:t>，派生类自行声明</a:t>
            </a:r>
          </a:p>
          <a:p>
            <a:pPr eaLnBrk="1" hangingPunct="1"/>
            <a:r>
              <a:rPr lang="zh-CN" altLang="en-US" dirty="0"/>
              <a:t>声明方法与一般（无继承关系时）类的析构函数相同。</a:t>
            </a:r>
          </a:p>
          <a:p>
            <a:pPr eaLnBrk="1" hangingPunct="1"/>
            <a:r>
              <a:rPr lang="zh-CN" altLang="en-US" dirty="0"/>
              <a:t>不需要显式地调用基类的析构函数，系统会自动隐式调用。</a:t>
            </a:r>
          </a:p>
          <a:p>
            <a:pPr eaLnBrk="1" hangingPunct="1"/>
            <a:r>
              <a:rPr lang="zh-CN" altLang="en-US" dirty="0"/>
              <a:t>析构函数的</a:t>
            </a:r>
            <a:r>
              <a:rPr lang="zh-CN" altLang="en-US" dirty="0">
                <a:solidFill>
                  <a:srgbClr val="0070C0"/>
                </a:solidFill>
              </a:rPr>
              <a:t>调用次序</a:t>
            </a:r>
            <a:r>
              <a:rPr lang="zh-CN" altLang="en-US" dirty="0"/>
              <a:t>与构造函数相反。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63506EA-F263-49CF-90CC-BA2DB0B3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548680"/>
            <a:ext cx="7772400" cy="916040"/>
          </a:xfrm>
        </p:spPr>
        <p:txBody>
          <a:bodyPr/>
          <a:lstStyle/>
          <a:p>
            <a:r>
              <a:rPr lang="zh-CN" altLang="en-US" dirty="0"/>
              <a:t>例：派生类析构函数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0D83D5-4297-4EB3-8954-19D9A1E4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46" y="1423187"/>
            <a:ext cx="6120680" cy="49387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E3E63F8-9316-413A-B555-2B965A6FCBB5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2AC4653-E7BC-4B7D-8E47-3E8333C1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96010"/>
            <a:ext cx="7772400" cy="916040"/>
          </a:xfrm>
        </p:spPr>
        <p:txBody>
          <a:bodyPr/>
          <a:lstStyle/>
          <a:p>
            <a:r>
              <a:rPr lang="zh-CN" altLang="en-US" sz="4000" b="1" dirty="0"/>
              <a:t>例：</a:t>
            </a:r>
            <a:r>
              <a:rPr lang="zh-CN" altLang="en-US" sz="2800" dirty="0"/>
              <a:t>派生类析构函数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099D8B-9525-4FD1-A395-83EB0205A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502400"/>
            <a:ext cx="6120680" cy="490633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E49289-1D93-43CE-BF05-DD22F8D8E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976" y="1605140"/>
            <a:ext cx="3816424" cy="48793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endParaRPr lang="en-US" altLang="zh-CN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Constructing Base2 2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Constructing Base1 1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Constructing Base3 *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Constructing Base1 3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Constructing Base2 4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Constructing Base3 *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Destructing Base3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Destructing Base2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Destructing Base1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Destructing Base3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Destructing Base1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Destructing Base2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E6BFBB-79A6-45D6-91EC-FE583007A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77" y="2723821"/>
            <a:ext cx="3350971" cy="1052873"/>
          </a:xfrm>
          <a:prstGeom prst="rect">
            <a:avLst/>
          </a:prstGeom>
        </p:spPr>
      </p:pic>
      <p:sp>
        <p:nvSpPr>
          <p:cNvPr id="6" name="箭头: 下 5">
            <a:extLst>
              <a:ext uri="{FF2B5EF4-FFF2-40B4-BE49-F238E27FC236}">
                <a16:creationId xmlns:a16="http://schemas.microsoft.com/office/drawing/2014/main" id="{59AB903F-2FE5-4974-82DB-F149EF60B4F6}"/>
              </a:ext>
            </a:extLst>
          </p:cNvPr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DA5410-AF7A-4259-A0C8-1D172CF15C2B}"/>
              </a:ext>
            </a:extLst>
          </p:cNvPr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代码备注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A866D1F-66F9-45A3-9013-ACE9783D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47" y="623577"/>
            <a:ext cx="7772400" cy="947192"/>
          </a:xfrm>
        </p:spPr>
        <p:txBody>
          <a:bodyPr/>
          <a:lstStyle/>
          <a:p>
            <a:r>
              <a:rPr lang="zh-CN" altLang="en-US" dirty="0"/>
              <a:t>派生类析构函数示例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5">
            <a:extLst>
              <a:ext uri="{FF2B5EF4-FFF2-40B4-BE49-F238E27FC236}">
                <a16:creationId xmlns:a16="http://schemas.microsoft.com/office/drawing/2014/main" id="{43AD9B3D-AC74-4CD9-81B3-16609C9F32C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99592" y="1954586"/>
            <a:ext cx="7467600" cy="4032250"/>
          </a:xfrm>
        </p:spPr>
        <p:txBody>
          <a:bodyPr/>
          <a:lstStyle/>
          <a:p>
            <a:pPr marL="811213" eaLnBrk="1" hangingPunct="1">
              <a:lnSpc>
                <a:spcPct val="130000"/>
              </a:lnSpc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en-US" altLang="zh-CN" dirty="0"/>
              <a:t>1. </a:t>
            </a:r>
            <a:r>
              <a:rPr lang="zh-CN" altLang="en-US" dirty="0"/>
              <a:t>类的组合</a:t>
            </a:r>
          </a:p>
          <a:p>
            <a:pPr marL="811213" eaLnBrk="1" hangingPunct="1">
              <a:lnSpc>
                <a:spcPct val="130000"/>
              </a:lnSpc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en-US" altLang="zh-CN" sz="2800" dirty="0"/>
              <a:t>2. </a:t>
            </a:r>
            <a:r>
              <a:rPr lang="zh-CN" altLang="en-US" dirty="0"/>
              <a:t>类继承和派生</a:t>
            </a:r>
            <a:endParaRPr lang="en-US" altLang="zh-CN" dirty="0"/>
          </a:p>
          <a:p>
            <a:pPr marL="811213">
              <a:lnSpc>
                <a:spcPct val="130000"/>
              </a:lnSpc>
              <a:buClr>
                <a:srgbClr val="EB641B"/>
              </a:buClr>
              <a:buNone/>
            </a:pPr>
            <a:r>
              <a:rPr lang="en-US" altLang="zh-CN" dirty="0"/>
              <a:t>3</a:t>
            </a:r>
            <a:r>
              <a:rPr lang="en-US" altLang="zh-CN"/>
              <a:t>. </a:t>
            </a:r>
            <a:r>
              <a:rPr lang="zh-CN" altLang="en-US" dirty="0">
                <a:solidFill>
                  <a:srgbClr val="C00000"/>
                </a:solidFill>
              </a:rPr>
              <a:t>深拷贝</a:t>
            </a:r>
            <a:r>
              <a:rPr lang="zh-CN" altLang="en-US" dirty="0"/>
              <a:t>浅拷贝</a:t>
            </a:r>
          </a:p>
          <a:p>
            <a:pPr marL="811213" eaLnBrk="1" hangingPunct="1">
              <a:lnSpc>
                <a:spcPct val="130000"/>
              </a:lnSpc>
              <a:buClr>
                <a:srgbClr val="EB641B"/>
              </a:buClr>
              <a:buFont typeface="Georgia" panose="02040502050405020303" pitchFamily="18" charset="0"/>
              <a:buNone/>
            </a:pPr>
            <a:endParaRPr lang="zh-CN" altLang="en-US" sz="2800" dirty="0"/>
          </a:p>
        </p:txBody>
      </p:sp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D6DC3C44-296B-409D-A217-1E0B2C7E35A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fld id="{09C8BC7B-A525-415E-BB67-8D860916B746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3" panose="05040102010807070707" pitchFamily="18" charset="2"/>
                <a:buNone/>
                <a:tabLst/>
                <a:defRPr/>
              </a:pPr>
              <a:t>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3EB0DCE-A990-48CD-A3A5-001D20CFD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996952"/>
            <a:ext cx="3202843" cy="257763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CF105C84-E612-428B-A3E8-80B145124424}"/>
              </a:ext>
            </a:extLst>
          </p:cNvPr>
          <p:cNvSpPr txBox="1">
            <a:spLocks/>
          </p:cNvSpPr>
          <p:nvPr/>
        </p:nvSpPr>
        <p:spPr>
          <a:xfrm>
            <a:off x="1347924" y="980728"/>
            <a:ext cx="6570935" cy="91604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247806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内容占位符 2">
            <a:extLst>
              <a:ext uri="{FF2B5EF4-FFF2-40B4-BE49-F238E27FC236}">
                <a16:creationId xmlns:a16="http://schemas.microsoft.com/office/drawing/2014/main" id="{5D009B38-7791-419B-ABE9-13D6CB9125D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67345" y="1649187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70C0"/>
                </a:solidFill>
              </a:rPr>
              <a:t>浅拷贝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zh-CN" altLang="en-US" dirty="0"/>
              <a:t>实现对象间</a:t>
            </a:r>
            <a:r>
              <a:rPr lang="zh-CN" altLang="en-US" dirty="0">
                <a:solidFill>
                  <a:srgbClr val="0070C0"/>
                </a:solidFill>
              </a:rPr>
              <a:t>数据元素的一一对应复制</a:t>
            </a:r>
            <a:r>
              <a:rPr lang="zh-CN" altLang="en-US" dirty="0"/>
              <a:t>。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当数据成员中没有指针时，浅拷贝是可行的。编译器默认的复制构造函数是浅拷贝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>
                <a:solidFill>
                  <a:srgbClr val="0070C0"/>
                </a:solidFill>
              </a:rPr>
              <a:t>深拷贝</a:t>
            </a:r>
          </a:p>
          <a:p>
            <a:pPr lvl="1" eaLnBrk="1" hangingPunct="1"/>
            <a:r>
              <a:rPr lang="zh-CN" altLang="en-US" dirty="0"/>
              <a:t>当</a:t>
            </a:r>
            <a:r>
              <a:rPr lang="zh-CN" altLang="en-US" b="1" dirty="0">
                <a:solidFill>
                  <a:srgbClr val="C00000"/>
                </a:solidFill>
              </a:rPr>
              <a:t>数据成员中有指针时</a:t>
            </a:r>
            <a:r>
              <a:rPr lang="zh-CN" altLang="en-US" dirty="0"/>
              <a:t>，如果采用简单的浅拷贝，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则两对象中的两个指针将指向同一个地址，当对象快结束时，会调用两次析构函数，而导致指针悬挂现象，所以，此时，必须采用深拷贝</a:t>
            </a:r>
            <a:r>
              <a:rPr lang="zh-CN" altLang="en-US" dirty="0"/>
              <a:t>。</a:t>
            </a:r>
          </a:p>
        </p:txBody>
      </p:sp>
      <p:pic>
        <p:nvPicPr>
          <p:cNvPr id="72707" name="标题 1">
            <a:extLst>
              <a:ext uri="{FF2B5EF4-FFF2-40B4-BE49-F238E27FC236}">
                <a16:creationId xmlns:a16="http://schemas.microsoft.com/office/drawing/2014/main" id="{641C98E3-57B2-45DD-B510-97841B9C7192}"/>
              </a:ext>
            </a:extLst>
          </p:cNvPr>
          <p:cNvPicPr>
            <a:picLocks noGrp="1" noChangeArrowheads="1"/>
          </p:cNvPicPr>
          <p:nvPr>
            <p:ph type="title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589" y="548680"/>
            <a:ext cx="8485187" cy="1176338"/>
          </a:xfrm>
        </p:spPr>
      </p:pic>
      <p:sp>
        <p:nvSpPr>
          <p:cNvPr id="72706" name="灯片编号占位符 3">
            <a:extLst>
              <a:ext uri="{FF2B5EF4-FFF2-40B4-BE49-F238E27FC236}">
                <a16:creationId xmlns:a16="http://schemas.microsoft.com/office/drawing/2014/main" id="{4E9C2F3D-3D83-454A-B1C7-7C6A9EFB2D6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320088" y="6227351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fld id="{76DF1DB0-A301-4F0A-BFF5-02310BFCE89D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 3" panose="05040102010807070707" pitchFamily="18" charset="2"/>
                <a:buNone/>
                <a:tabLst/>
                <a:defRPr/>
              </a:pPr>
              <a:t>53</a:t>
            </a:fld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8193">
            <a:extLst>
              <a:ext uri="{FF2B5EF4-FFF2-40B4-BE49-F238E27FC236}">
                <a16:creationId xmlns:a16="http://schemas.microsoft.com/office/drawing/2014/main" id="{403D82DC-C6C6-4648-A246-EF4213450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666" y="732880"/>
            <a:ext cx="7772400" cy="947192"/>
          </a:xfrm>
        </p:spPr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74754" name="内容占位符 1">
            <a:extLst>
              <a:ext uri="{FF2B5EF4-FFF2-40B4-BE49-F238E27FC236}">
                <a16:creationId xmlns:a16="http://schemas.microsoft.com/office/drawing/2014/main" id="{79856428-BF8B-4A40-A4F4-BE1E2A9F7CD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79512" y="1526059"/>
            <a:ext cx="8856984" cy="4855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358775" indent="-2508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class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public: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(int s)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size= s;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new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int[s];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private: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int* data;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  int size;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int main()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A a(5), b(4)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；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b = a;       //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注意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!!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</a:p>
        </p:txBody>
      </p:sp>
      <p:sp>
        <p:nvSpPr>
          <p:cNvPr id="74755" name="文本框 8195">
            <a:extLst>
              <a:ext uri="{FF2B5EF4-FFF2-40B4-BE49-F238E27FC236}">
                <a16:creationId xmlns:a16="http://schemas.microsoft.com/office/drawing/2014/main" id="{55CFBA79-788B-428D-BCCE-1E742C9B9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255861"/>
            <a:ext cx="4752851" cy="33956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 = 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会造成未定义行为，因为类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中的复制构造函数是编译器生成的，所以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 = 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执行的是一个浅拷贝过程。比如：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b.data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a.data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 // !!!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这里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的指针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data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的指针指向了堆上的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同一块内存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析构时，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先把其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data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指向的动态分配的内存释放了一次，而后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析构时又将这块已经被释放过的内存再释放一次。对同一块动态内存执行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次以上释放的结果是未定义的，所以这将导致内存泄露或程序崩溃。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3">
            <a:extLst>
              <a:ext uri="{FF2B5EF4-FFF2-40B4-BE49-F238E27FC236}">
                <a16:creationId xmlns:a16="http://schemas.microsoft.com/office/drawing/2014/main" id="{5993B2FC-C1B2-4A4F-8D07-C3A322F48BB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fld id="{E1CEFBE6-0A71-4492-AAC2-F2900D84959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 3" panose="05040102010807070707" pitchFamily="18" charset="2"/>
                <a:buNone/>
                <a:tabLst/>
                <a:defRPr/>
              </a:pPr>
              <a:t>55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79" name="Text Box 8">
            <a:extLst>
              <a:ext uri="{FF2B5EF4-FFF2-40B4-BE49-F238E27FC236}">
                <a16:creationId xmlns:a16="http://schemas.microsoft.com/office/drawing/2014/main" id="{63619A75-F318-4BC7-8166-9BF94D24E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75" y="1470297"/>
            <a:ext cx="1909763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E2D3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拷贝前</a:t>
            </a:r>
          </a:p>
        </p:txBody>
      </p:sp>
      <p:sp>
        <p:nvSpPr>
          <p:cNvPr id="75780" name="Text Box 14">
            <a:extLst>
              <a:ext uri="{FF2B5EF4-FFF2-40B4-BE49-F238E27FC236}">
                <a16:creationId xmlns:a16="http://schemas.microsoft.com/office/drawing/2014/main" id="{44DA95EF-55C7-4387-BFC5-43AE2ABF6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075" y="5508897"/>
            <a:ext cx="1909763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E2D3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拷贝后</a:t>
            </a:r>
          </a:p>
        </p:txBody>
      </p:sp>
      <p:grpSp>
        <p:nvGrpSpPr>
          <p:cNvPr id="75781" name="Group 3">
            <a:extLst>
              <a:ext uri="{FF2B5EF4-FFF2-40B4-BE49-F238E27FC236}">
                <a16:creationId xmlns:a16="http://schemas.microsoft.com/office/drawing/2014/main" id="{F1149137-A613-4AB5-A953-093DD7E2EC6D}"/>
              </a:ext>
            </a:extLst>
          </p:cNvPr>
          <p:cNvGrpSpPr>
            <a:grpSpLocks/>
          </p:cNvGrpSpPr>
          <p:nvPr/>
        </p:nvGrpSpPr>
        <p:grpSpPr bwMode="auto">
          <a:xfrm>
            <a:off x="4854575" y="1667147"/>
            <a:ext cx="1912938" cy="557213"/>
            <a:chOff x="0" y="0"/>
            <a:chExt cx="1050" cy="465"/>
          </a:xfrm>
        </p:grpSpPr>
        <p:sp>
          <p:nvSpPr>
            <p:cNvPr id="75798" name="Rectangle 4">
              <a:extLst>
                <a:ext uri="{FF2B5EF4-FFF2-40B4-BE49-F238E27FC236}">
                  <a16:creationId xmlns:a16="http://schemas.microsoft.com/office/drawing/2014/main" id="{6094322F-28E8-4868-91B5-CA7F9C42F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50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 3" panose="05040102010807070707" pitchFamily="18" charset="2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75799" name="Line 5">
              <a:extLst>
                <a:ext uri="{FF2B5EF4-FFF2-40B4-BE49-F238E27FC236}">
                  <a16:creationId xmlns:a16="http://schemas.microsoft.com/office/drawing/2014/main" id="{58E0E9E7-2423-439C-A8FC-50DC1183A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40"/>
              <a:ext cx="1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75782" name="Text Box 6">
            <a:extLst>
              <a:ext uri="{FF2B5EF4-FFF2-40B4-BE49-F238E27FC236}">
                <a16:creationId xmlns:a16="http://schemas.microsoft.com/office/drawing/2014/main" id="{7CC4819D-D969-4C71-AB8C-5AA130AB9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0" y="911497"/>
            <a:ext cx="27051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对象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中数据成员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指向的内存</a:t>
            </a:r>
          </a:p>
        </p:txBody>
      </p:sp>
      <p:sp>
        <p:nvSpPr>
          <p:cNvPr id="75783" name="Line 7">
            <a:extLst>
              <a:ext uri="{FF2B5EF4-FFF2-40B4-BE49-F238E27FC236}">
                <a16:creationId xmlns:a16="http://schemas.microsoft.com/office/drawing/2014/main" id="{68079A99-56AB-40C0-B1C8-CEA438437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9325" y="1684610"/>
            <a:ext cx="136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84" name="Text Box 21">
            <a:extLst>
              <a:ext uri="{FF2B5EF4-FFF2-40B4-BE49-F238E27FC236}">
                <a16:creationId xmlns:a16="http://schemas.microsoft.com/office/drawing/2014/main" id="{21A0A1B3-F0F0-4163-99EB-1624D1BFE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5" y="1500460"/>
            <a:ext cx="2222500" cy="884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size</a:t>
            </a:r>
          </a:p>
        </p:txBody>
      </p:sp>
      <p:sp>
        <p:nvSpPr>
          <p:cNvPr id="75785" name="Text Box 22">
            <a:extLst>
              <a:ext uri="{FF2B5EF4-FFF2-40B4-BE49-F238E27FC236}">
                <a16:creationId xmlns:a16="http://schemas.microsoft.com/office/drawing/2014/main" id="{4F575293-5BD6-40A9-8012-AB6757189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702072"/>
            <a:ext cx="86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75786" name="Text Box 10">
            <a:extLst>
              <a:ext uri="{FF2B5EF4-FFF2-40B4-BE49-F238E27FC236}">
                <a16:creationId xmlns:a16="http://schemas.microsoft.com/office/drawing/2014/main" id="{B6F7C719-F189-4CF6-A7A9-7EAF90D24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713" y="3878535"/>
            <a:ext cx="2279650" cy="868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size</a:t>
            </a:r>
          </a:p>
        </p:txBody>
      </p:sp>
      <p:sp>
        <p:nvSpPr>
          <p:cNvPr id="75787" name="Line 13">
            <a:extLst>
              <a:ext uri="{FF2B5EF4-FFF2-40B4-BE49-F238E27FC236}">
                <a16:creationId xmlns:a16="http://schemas.microsoft.com/office/drawing/2014/main" id="{2D21E896-2F24-4FC1-9CFD-CD4B9692E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0963" y="4059510"/>
            <a:ext cx="1401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88" name="Line 15">
            <a:extLst>
              <a:ext uri="{FF2B5EF4-FFF2-40B4-BE49-F238E27FC236}">
                <a16:creationId xmlns:a16="http://schemas.microsoft.com/office/drawing/2014/main" id="{7394DB4A-9CA1-46E9-B07E-7F76F385D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5400" y="4042047"/>
            <a:ext cx="1457325" cy="196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89" name="AutoShape 16">
            <a:extLst>
              <a:ext uri="{FF2B5EF4-FFF2-40B4-BE49-F238E27FC236}">
                <a16:creationId xmlns:a16="http://schemas.microsoft.com/office/drawing/2014/main" id="{BDDB555B-544A-4C99-976B-E09D2D21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4872310"/>
            <a:ext cx="392112" cy="760412"/>
          </a:xfrm>
          <a:prstGeom prst="downArrow">
            <a:avLst>
              <a:gd name="adj1" fmla="val 50000"/>
              <a:gd name="adj2" fmla="val 4845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90" name="Text Box 18">
            <a:extLst>
              <a:ext uri="{FF2B5EF4-FFF2-40B4-BE49-F238E27FC236}">
                <a16:creationId xmlns:a16="http://schemas.microsoft.com/office/drawing/2014/main" id="{F83B3B73-EA35-43CF-BB98-F46675591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713" y="5804172"/>
            <a:ext cx="2279650" cy="865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size</a:t>
            </a:r>
          </a:p>
        </p:txBody>
      </p:sp>
      <p:grpSp>
        <p:nvGrpSpPr>
          <p:cNvPr id="75791" name="Group 23">
            <a:extLst>
              <a:ext uri="{FF2B5EF4-FFF2-40B4-BE49-F238E27FC236}">
                <a16:creationId xmlns:a16="http://schemas.microsoft.com/office/drawing/2014/main" id="{93D61DB4-3A13-4682-BDBE-80DDEEE1E24B}"/>
              </a:ext>
            </a:extLst>
          </p:cNvPr>
          <p:cNvGrpSpPr>
            <a:grpSpLocks/>
          </p:cNvGrpSpPr>
          <p:nvPr/>
        </p:nvGrpSpPr>
        <p:grpSpPr bwMode="auto">
          <a:xfrm>
            <a:off x="5359400" y="4042047"/>
            <a:ext cx="1958975" cy="547688"/>
            <a:chOff x="0" y="0"/>
            <a:chExt cx="1050" cy="465"/>
          </a:xfrm>
        </p:grpSpPr>
        <p:sp>
          <p:nvSpPr>
            <p:cNvPr id="75796" name="Rectangle 24">
              <a:extLst>
                <a:ext uri="{FF2B5EF4-FFF2-40B4-BE49-F238E27FC236}">
                  <a16:creationId xmlns:a16="http://schemas.microsoft.com/office/drawing/2014/main" id="{460BC71B-48E0-4FF1-BC90-FE64649EF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50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 3" panose="05040102010807070707" pitchFamily="18" charset="2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75797" name="Line 25">
              <a:extLst>
                <a:ext uri="{FF2B5EF4-FFF2-40B4-BE49-F238E27FC236}">
                  <a16:creationId xmlns:a16="http://schemas.microsoft.com/office/drawing/2014/main" id="{4CD15359-F6C6-4015-B401-E9BBC89A6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40"/>
              <a:ext cx="1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75792" name="Line 29">
            <a:extLst>
              <a:ext uri="{FF2B5EF4-FFF2-40B4-BE49-F238E27FC236}">
                <a16:creationId xmlns:a16="http://schemas.microsoft.com/office/drawing/2014/main" id="{BAB66AF9-33E3-4FE0-82F5-BB30A21EF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3" y="3070497"/>
            <a:ext cx="883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93" name="Text Box 22">
            <a:extLst>
              <a:ext uri="{FF2B5EF4-FFF2-40B4-BE49-F238E27FC236}">
                <a16:creationId xmlns:a16="http://schemas.microsoft.com/office/drawing/2014/main" id="{ABB603F7-995B-4593-8FD0-50F6942FD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738" y="5877197"/>
            <a:ext cx="863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794" name="Text Box 22">
            <a:extLst>
              <a:ext uri="{FF2B5EF4-FFF2-40B4-BE49-F238E27FC236}">
                <a16:creationId xmlns:a16="http://schemas.microsoft.com/office/drawing/2014/main" id="{8A028387-F344-4EDE-BC8C-12637BD22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4053160"/>
            <a:ext cx="8651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795" name="Text Box 6">
            <a:extLst>
              <a:ext uri="{FF2B5EF4-FFF2-40B4-BE49-F238E27FC236}">
                <a16:creationId xmlns:a16="http://schemas.microsoft.com/office/drawing/2014/main" id="{68C4D290-BD74-45B1-B1B5-6EBEB2372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3264172"/>
            <a:ext cx="27051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对象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中数据成员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指向的内存</a:t>
            </a:r>
            <a:endParaRPr kumimoji="0" lang="zh-CN" altLang="en-US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0241">
            <a:extLst>
              <a:ext uri="{FF2B5EF4-FFF2-40B4-BE49-F238E27FC236}">
                <a16:creationId xmlns:a16="http://schemas.microsoft.com/office/drawing/2014/main" id="{48C9AE2B-1972-4AA8-85E8-B197A306A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543" y="528258"/>
            <a:ext cx="7772400" cy="947192"/>
          </a:xfrm>
        </p:spPr>
        <p:txBody>
          <a:bodyPr/>
          <a:lstStyle/>
          <a:p>
            <a:r>
              <a:rPr lang="zh-CN" altLang="en-US" dirty="0"/>
              <a:t>改进</a:t>
            </a:r>
          </a:p>
        </p:txBody>
      </p:sp>
      <p:sp>
        <p:nvSpPr>
          <p:cNvPr id="76802" name="文本占位符 10242">
            <a:extLst>
              <a:ext uri="{FF2B5EF4-FFF2-40B4-BE49-F238E27FC236}">
                <a16:creationId xmlns:a16="http://schemas.microsoft.com/office/drawing/2014/main" id="{545618C7-CBF6-4308-9485-1060043880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6803" name="内容占位符 1">
            <a:extLst>
              <a:ext uri="{FF2B5EF4-FFF2-40B4-BE49-F238E27FC236}">
                <a16:creationId xmlns:a16="http://schemas.microsoft.com/office/drawing/2014/main" id="{FD927853-A543-45C9-B499-913BEB4CCCA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14596" y="1393258"/>
            <a:ext cx="8229600" cy="45259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358775" indent="-2508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class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public: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(int s)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size=s;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int[s];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(const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&amp; a0) : size(a0.size)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[size]; 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新的内存空间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//TODO: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复制数据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…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//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深拷贝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......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</a:p>
        </p:txBody>
      </p:sp>
      <p:sp>
        <p:nvSpPr>
          <p:cNvPr id="76804" name="文本框 10244">
            <a:extLst>
              <a:ext uri="{FF2B5EF4-FFF2-40B4-BE49-F238E27FC236}">
                <a16:creationId xmlns:a16="http://schemas.microsoft.com/office/drawing/2014/main" id="{4E2FB553-58A4-4C32-89D4-161CACBEC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1701233"/>
            <a:ext cx="4970462" cy="835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170" tIns="46990" rIns="90170" bIns="469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注意：实际程序中还应该重载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操作符，同样实现深拷贝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1">
            <a:extLst>
              <a:ext uri="{FF2B5EF4-FFF2-40B4-BE49-F238E27FC236}">
                <a16:creationId xmlns:a16="http://schemas.microsoft.com/office/drawing/2014/main" id="{FFCB7597-4866-4BE8-9F1F-91FC07685C9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043608" y="764704"/>
            <a:ext cx="7355160" cy="56883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358775" indent="-2508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class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public: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(int s)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size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;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int[s];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(const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&amp; a0): size(a0.size)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int[size];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//TODO ……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深拷贝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void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operator 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(const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&amp; a0)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{//重载 = 操作符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if(this-&gt;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!= NULL){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free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(this-&gt;data);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//释放原有内存资源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}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size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a0.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size;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= new int[size];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重新分配内存资源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//TODO: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必要时需把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中的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复制到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中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......</a:t>
            </a: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92080" y="908720"/>
            <a:ext cx="2954655" cy="12003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深拷贝涉及两个层面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、复制构造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、赋值操作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1">
            <a:extLst>
              <a:ext uri="{FF2B5EF4-FFF2-40B4-BE49-F238E27FC236}">
                <a16:creationId xmlns:a16="http://schemas.microsoft.com/office/drawing/2014/main" id="{969789B1-E32F-4309-A882-ECA7F75BC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07" y="908720"/>
            <a:ext cx="8229600" cy="1143000"/>
          </a:xfrm>
        </p:spPr>
        <p:txBody>
          <a:bodyPr/>
          <a:lstStyle/>
          <a:p>
            <a:r>
              <a:rPr lang="zh-CN" altLang="en-US" dirty="0"/>
              <a:t>特别提示</a:t>
            </a:r>
          </a:p>
        </p:txBody>
      </p:sp>
      <p:sp>
        <p:nvSpPr>
          <p:cNvPr id="78850" name="文本框 11267">
            <a:extLst>
              <a:ext uri="{FF2B5EF4-FFF2-40B4-BE49-F238E27FC236}">
                <a16:creationId xmlns:a16="http://schemas.microsoft.com/office/drawing/2014/main" id="{E81170F1-510D-43C1-8244-E38AF6A9F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819" y="2458243"/>
            <a:ext cx="5186362" cy="1941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170" tIns="46990" rIns="90170" bIns="469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注意：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 a(5),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 = 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 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调用复制构造函数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 c;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 = 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调用重载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操作符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03FAC4-4F11-43CC-AB00-98A0604BE4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935418"/>
            <a:ext cx="2044542" cy="2016125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effectLst/>
              </a:rPr>
              <a:t>编写可变长度</a:t>
            </a:r>
            <a:r>
              <a:rPr lang="zh-CN" altLang="en-US" sz="4000" b="1" dirty="0"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字符串</a:t>
            </a:r>
            <a:r>
              <a:rPr lang="zh-CN" altLang="en-US" sz="3200" dirty="0">
                <a:solidFill>
                  <a:schemeClr val="tx1"/>
                </a:solidFill>
                <a:effectLst/>
              </a:rPr>
              <a:t>类 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String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CB68D6-E751-4A13-9A4F-2E1DA4BF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79" y="771525"/>
            <a:ext cx="5753100" cy="57054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B98723A-3BD9-4DF2-AD63-831284B5A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068960"/>
            <a:ext cx="6531654" cy="330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6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EA1FDF-D2DE-4736-A0D4-7B178C8F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effectLst/>
              </a:rPr>
              <a:t>重载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赋值运算符</a:t>
            </a:r>
            <a:r>
              <a:rPr lang="zh-CN" altLang="en-US" dirty="0">
                <a:effectLst/>
              </a:rPr>
              <a:t>的意义：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浅</a:t>
            </a:r>
            <a:r>
              <a:rPr lang="zh-CN" altLang="en-US" dirty="0">
                <a:effectLst/>
              </a:rPr>
              <a:t>拷贝和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深</a:t>
            </a:r>
            <a:r>
              <a:rPr lang="zh-CN" altLang="en-US" dirty="0">
                <a:effectLst/>
              </a:rPr>
              <a:t>拷贝</a:t>
            </a:r>
          </a:p>
        </p:txBody>
      </p:sp>
      <p:pic>
        <p:nvPicPr>
          <p:cNvPr id="50177" name="内容占位符 4">
            <a:extLst>
              <a:ext uri="{FF2B5EF4-FFF2-40B4-BE49-F238E27FC236}">
                <a16:creationId xmlns:a16="http://schemas.microsoft.com/office/drawing/2014/main" id="{8ABF6F1F-4E99-204C-9DA4-93DB175DE6D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00213"/>
            <a:ext cx="4148138" cy="3976687"/>
          </a:xfrm>
        </p:spPr>
      </p:pic>
      <p:pic>
        <p:nvPicPr>
          <p:cNvPr id="50180" name="图片 6">
            <a:extLst>
              <a:ext uri="{FF2B5EF4-FFF2-40B4-BE49-F238E27FC236}">
                <a16:creationId xmlns:a16="http://schemas.microsoft.com/office/drawing/2014/main" id="{1F194648-0B9B-B248-AE5B-28F8F20AA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38288"/>
            <a:ext cx="4897437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文本框 7">
            <a:extLst>
              <a:ext uri="{FF2B5EF4-FFF2-40B4-BE49-F238E27FC236}">
                <a16:creationId xmlns:a16="http://schemas.microsoft.com/office/drawing/2014/main" id="{3A90F841-84D0-CC4B-96B8-70CAE3DC4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208" y="1772816"/>
            <a:ext cx="235426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String s1, s2;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=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“this”;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s2 = “that”;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s1 = s2;</a:t>
            </a:r>
          </a:p>
        </p:txBody>
      </p:sp>
    </p:spTree>
    <p:extLst>
      <p:ext uri="{BB962C8B-B14F-4D97-AF65-F5344CB8AC3E}">
        <p14:creationId xmlns:p14="http://schemas.microsoft.com/office/powerpoint/2010/main" val="16620232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EA1FDF-D2DE-4736-A0D4-7B178C8F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effectLst/>
              </a:rPr>
              <a:t>重载赋值运算符的意义：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浅</a:t>
            </a:r>
            <a:r>
              <a:rPr lang="zh-CN" altLang="en-US" dirty="0">
                <a:effectLst/>
              </a:rPr>
              <a:t>拷贝和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深</a:t>
            </a:r>
            <a:r>
              <a:rPr lang="zh-CN" altLang="en-US" dirty="0">
                <a:effectLst/>
              </a:rPr>
              <a:t>拷贝</a:t>
            </a:r>
          </a:p>
        </p:txBody>
      </p:sp>
      <p:pic>
        <p:nvPicPr>
          <p:cNvPr id="51201" name="内容占位符 4">
            <a:extLst>
              <a:ext uri="{FF2B5EF4-FFF2-40B4-BE49-F238E27FC236}">
                <a16:creationId xmlns:a16="http://schemas.microsoft.com/office/drawing/2014/main" id="{7E3D7033-A4E8-5F40-9E2E-31B48F87DF1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00213"/>
            <a:ext cx="4148138" cy="3976687"/>
          </a:xfrm>
        </p:spPr>
      </p:pic>
      <p:sp>
        <p:nvSpPr>
          <p:cNvPr id="51204" name="文本框 7">
            <a:extLst>
              <a:ext uri="{FF2B5EF4-FFF2-40B4-BE49-F238E27FC236}">
                <a16:creationId xmlns:a16="http://schemas.microsoft.com/office/drawing/2014/main" id="{9B54E644-DF97-A041-B744-EE1165A6B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700213"/>
            <a:ext cx="235426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String s1, s2;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s1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=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“this”;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s2 = “that”;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s1 = s2;</a:t>
            </a:r>
          </a:p>
        </p:txBody>
      </p:sp>
      <p:pic>
        <p:nvPicPr>
          <p:cNvPr id="51205" name="图片 1">
            <a:extLst>
              <a:ext uri="{FF2B5EF4-FFF2-40B4-BE49-F238E27FC236}">
                <a16:creationId xmlns:a16="http://schemas.microsoft.com/office/drawing/2014/main" id="{148F9960-B207-C449-A3EB-5A1DBA176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25588"/>
            <a:ext cx="4968875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90960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03FAC4-4F11-43CC-AB00-98A0604B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effectLst/>
              </a:rPr>
              <a:t>再次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重载赋值运算符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A08A09-202B-4911-80BB-79B2F9EB3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665916"/>
            <a:ext cx="6959997" cy="4248472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4689DEA7-07CF-48EC-AAA6-7769FBABFCB9}"/>
              </a:ext>
            </a:extLst>
          </p:cNvPr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38E9D1-658D-4370-826E-65617212DD11}"/>
              </a:ext>
            </a:extLst>
          </p:cNvPr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代码备注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8CD4442-2B36-4C47-BEC4-B01882FA3E97}"/>
              </a:ext>
            </a:extLst>
          </p:cNvPr>
          <p:cNvSpPr/>
          <p:nvPr/>
        </p:nvSpPr>
        <p:spPr>
          <a:xfrm>
            <a:off x="539552" y="2058088"/>
            <a:ext cx="504056" cy="216024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AF2B1938-7F5C-4EBE-9520-A455E88E4FBA}"/>
              </a:ext>
            </a:extLst>
          </p:cNvPr>
          <p:cNvSpPr/>
          <p:nvPr/>
        </p:nvSpPr>
        <p:spPr>
          <a:xfrm>
            <a:off x="1467332" y="2004082"/>
            <a:ext cx="1304467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76283"/>
      </p:ext>
    </p:extLst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课程PPT模板" id="{351F00F9-9781-4493-A8BE-AE75F947CCD5}" vid="{D9AAA92C-2A04-455B-AC88-7D4E4CA3D8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40076</TotalTime>
  <Words>6134</Words>
  <Application>Microsoft Office PowerPoint</Application>
  <PresentationFormat>全屏显示(4:3)</PresentationFormat>
  <Paragraphs>948</Paragraphs>
  <Slides>62</Slides>
  <Notes>38</Notes>
  <HiddenSlides>11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86" baseType="lpstr">
      <vt:lpstr>Monotype Sorts</vt:lpstr>
      <vt:lpstr>等线</vt:lpstr>
      <vt:lpstr>黑体</vt:lpstr>
      <vt:lpstr>华文新魏</vt:lpstr>
      <vt:lpstr>楷体</vt:lpstr>
      <vt:lpstr>隶书</vt:lpstr>
      <vt:lpstr>宋体</vt:lpstr>
      <vt:lpstr>微软雅黑</vt:lpstr>
      <vt:lpstr>微软雅黑 Light</vt:lpstr>
      <vt:lpstr>Arial</vt:lpstr>
      <vt:lpstr>Calibri</vt:lpstr>
      <vt:lpstr>Calibri Light</vt:lpstr>
      <vt:lpstr>Comic Sans MS</vt:lpstr>
      <vt:lpstr>Consolas</vt:lpstr>
      <vt:lpstr>Georgia</vt:lpstr>
      <vt:lpstr>Lucida Sans Unicode</vt:lpstr>
      <vt:lpstr>Times</vt:lpstr>
      <vt:lpstr>Times New Roman</vt:lpstr>
      <vt:lpstr>Trebuchet MS</vt:lpstr>
      <vt:lpstr>Verdana</vt:lpstr>
      <vt:lpstr>Wingdings</vt:lpstr>
      <vt:lpstr>Wingdings 2</vt:lpstr>
      <vt:lpstr>Wingdings 3</vt:lpstr>
      <vt:lpstr>课程PPT模板</vt:lpstr>
      <vt:lpstr>13. 面向对象程序设计3  </vt:lpstr>
      <vt:lpstr>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</vt:lpstr>
      <vt:lpstr>类的继承与派生</vt:lpstr>
      <vt:lpstr>1）继承与派生的目的</vt:lpstr>
      <vt:lpstr>2）派生类的声明</vt:lpstr>
      <vt:lpstr>PowerPoint 演示文稿</vt:lpstr>
      <vt:lpstr>3）派生类生成过程</vt:lpstr>
      <vt:lpstr>3）派生类生成过程</vt:lpstr>
      <vt:lpstr>PowerPoint 演示文稿</vt:lpstr>
      <vt:lpstr>访问控制</vt:lpstr>
      <vt:lpstr>1) 公有继承(public)</vt:lpstr>
      <vt:lpstr>例：公有继承</vt:lpstr>
      <vt:lpstr>2) 私有继承(private)</vt:lpstr>
      <vt:lpstr>* 私有继承的含义</vt:lpstr>
      <vt:lpstr>3) 保护继承(protected)</vt:lpstr>
      <vt:lpstr>protected 成员的特点与作用</vt:lpstr>
      <vt:lpstr>例： protected  成员举例</vt:lpstr>
      <vt:lpstr>多继承</vt:lpstr>
      <vt:lpstr>类型兼容规则</vt:lpstr>
      <vt:lpstr>例：类型转换规则</vt:lpstr>
      <vt:lpstr>(续)</vt:lpstr>
      <vt:lpstr>*重新定义继承带来的问题</vt:lpstr>
      <vt:lpstr>单继承时的构造函数</vt:lpstr>
      <vt:lpstr>单继承时的构造函数</vt:lpstr>
      <vt:lpstr>单继承时的构造函数举例</vt:lpstr>
      <vt:lpstr>单继承时的构造函数举例 (续)</vt:lpstr>
      <vt:lpstr>单继承时的构造函数举例 (续)</vt:lpstr>
      <vt:lpstr>派生类与基类的构造函数</vt:lpstr>
      <vt:lpstr>构造函数的执行顺序</vt:lpstr>
      <vt:lpstr>复制构造函数</vt:lpstr>
      <vt:lpstr>析构函数</vt:lpstr>
      <vt:lpstr>例：派生类析构函数</vt:lpstr>
      <vt:lpstr>例：派生类析构函数</vt:lpstr>
      <vt:lpstr>派生类析构函数示例</vt:lpstr>
      <vt:lpstr>PowerPoint 演示文稿</vt:lpstr>
      <vt:lpstr>PowerPoint 演示文稿</vt:lpstr>
      <vt:lpstr>例</vt:lpstr>
      <vt:lpstr>PowerPoint 演示文稿</vt:lpstr>
      <vt:lpstr>改进</vt:lpstr>
      <vt:lpstr>PowerPoint 演示文稿</vt:lpstr>
      <vt:lpstr>特别提示</vt:lpstr>
      <vt:lpstr>编写可变长度字符串类 String</vt:lpstr>
      <vt:lpstr>重载赋值运算符的意义：浅拷贝和深拷贝</vt:lpstr>
      <vt:lpstr>重载赋值运算符的意义：浅拷贝和深拷贝</vt:lpstr>
      <vt:lpstr>再次重载赋值运算符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Hui Sun</cp:lastModifiedBy>
  <cp:revision>1347</cp:revision>
  <dcterms:created xsi:type="dcterms:W3CDTF">2020-10-14T02:47:39Z</dcterms:created>
  <dcterms:modified xsi:type="dcterms:W3CDTF">2024-12-25T15:16:19Z</dcterms:modified>
</cp:coreProperties>
</file>