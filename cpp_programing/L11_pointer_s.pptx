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emf" ContentType="image/x-emf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1092" r:id="rId3"/>
    <p:sldId id="891" r:id="rId4"/>
    <p:sldId id="995" r:id="rId5"/>
    <p:sldId id="541" r:id="rId6"/>
    <p:sldId id="543" r:id="rId7"/>
    <p:sldId id="544" r:id="rId9"/>
    <p:sldId id="998" r:id="rId10"/>
    <p:sldId id="406" r:id="rId11"/>
    <p:sldId id="407" r:id="rId12"/>
    <p:sldId id="408" r:id="rId13"/>
    <p:sldId id="413" r:id="rId14"/>
    <p:sldId id="996" r:id="rId15"/>
    <p:sldId id="999" r:id="rId16"/>
    <p:sldId id="546" r:id="rId17"/>
    <p:sldId id="547" r:id="rId18"/>
    <p:sldId id="548" r:id="rId19"/>
    <p:sldId id="419" r:id="rId20"/>
    <p:sldId id="587" r:id="rId21"/>
    <p:sldId id="550" r:id="rId22"/>
    <p:sldId id="1354" r:id="rId23"/>
    <p:sldId id="1261" r:id="rId24"/>
    <p:sldId id="1378" r:id="rId25"/>
    <p:sldId id="804" r:id="rId26"/>
    <p:sldId id="815" r:id="rId27"/>
    <p:sldId id="1000" r:id="rId28"/>
    <p:sldId id="1003" r:id="rId29"/>
    <p:sldId id="442" r:id="rId30"/>
    <p:sldId id="1004" r:id="rId31"/>
    <p:sldId id="1006" r:id="rId32"/>
    <p:sldId id="555" r:id="rId33"/>
    <p:sldId id="558" r:id="rId34"/>
    <p:sldId id="559" r:id="rId35"/>
    <p:sldId id="1007" r:id="rId36"/>
    <p:sldId id="461" r:id="rId37"/>
    <p:sldId id="462" r:id="rId38"/>
    <p:sldId id="1008" r:id="rId39"/>
    <p:sldId id="1009" r:id="rId40"/>
    <p:sldId id="1005" r:id="rId41"/>
    <p:sldId id="450" r:id="rId42"/>
    <p:sldId id="1011" r:id="rId43"/>
    <p:sldId id="629" r:id="rId44"/>
    <p:sldId id="630" r:id="rId45"/>
    <p:sldId id="1140" r:id="rId46"/>
    <p:sldId id="1143" r:id="rId47"/>
    <p:sldId id="631" r:id="rId48"/>
    <p:sldId id="1212" r:id="rId49"/>
    <p:sldId id="632" r:id="rId50"/>
    <p:sldId id="1246" r:id="rId51"/>
    <p:sldId id="615" r:id="rId52"/>
    <p:sldId id="616" r:id="rId53"/>
    <p:sldId id="617" r:id="rId54"/>
    <p:sldId id="618" r:id="rId55"/>
    <p:sldId id="619" r:id="rId56"/>
    <p:sldId id="620" r:id="rId57"/>
    <p:sldId id="1396" r:id="rId58"/>
    <p:sldId id="1397" r:id="rId59"/>
    <p:sldId id="1398" r:id="rId60"/>
    <p:sldId id="1393" r:id="rId61"/>
    <p:sldId id="809" r:id="rId62"/>
    <p:sldId id="1376" r:id="rId63"/>
    <p:sldId id="1380" r:id="rId64"/>
    <p:sldId id="1379" r:id="rId65"/>
    <p:sldId id="1381" r:id="rId66"/>
    <p:sldId id="1382" r:id="rId67"/>
    <p:sldId id="1383" r:id="rId68"/>
    <p:sldId id="1384" r:id="rId69"/>
    <p:sldId id="1385" r:id="rId70"/>
    <p:sldId id="1170" r:id="rId71"/>
    <p:sldId id="827" r:id="rId72"/>
    <p:sldId id="828" r:id="rId73"/>
    <p:sldId id="829" r:id="rId74"/>
    <p:sldId id="830" r:id="rId75"/>
    <p:sldId id="1001" r:id="rId76"/>
    <p:sldId id="429" r:id="rId77"/>
    <p:sldId id="430" r:id="rId78"/>
    <p:sldId id="431" r:id="rId79"/>
    <p:sldId id="1002" r:id="rId80"/>
    <p:sldId id="1387" r:id="rId81"/>
    <p:sldId id="1150" r:id="rId82"/>
    <p:sldId id="1258" r:id="rId83"/>
    <p:sldId id="1259" r:id="rId84"/>
    <p:sldId id="1356" r:id="rId85"/>
    <p:sldId id="1357" r:id="rId86"/>
    <p:sldId id="1358" r:id="rId87"/>
    <p:sldId id="1359" r:id="rId88"/>
    <p:sldId id="1360" r:id="rId89"/>
    <p:sldId id="1361" r:id="rId90"/>
    <p:sldId id="1362" r:id="rId91"/>
    <p:sldId id="845" r:id="rId92"/>
    <p:sldId id="1388" r:id="rId93"/>
    <p:sldId id="1391" r:id="rId94"/>
    <p:sldId id="1363" r:id="rId95"/>
    <p:sldId id="1367" r:id="rId96"/>
    <p:sldId id="1368" r:id="rId97"/>
    <p:sldId id="1370" r:id="rId98"/>
    <p:sldId id="575" r:id="rId99"/>
    <p:sldId id="577" r:id="rId100"/>
    <p:sldId id="578" r:id="rId101"/>
    <p:sldId id="579" r:id="rId102"/>
    <p:sldId id="609" r:id="rId103"/>
    <p:sldId id="584" r:id="rId104"/>
    <p:sldId id="1145" r:id="rId105"/>
    <p:sldId id="1339" r:id="rId106"/>
    <p:sldId id="1340" r:id="rId107"/>
    <p:sldId id="1341" r:id="rId108"/>
    <p:sldId id="1172" r:id="rId109"/>
    <p:sldId id="1350" r:id="rId110"/>
    <p:sldId id="1353" r:id="rId111"/>
    <p:sldId id="1351" r:id="rId112"/>
    <p:sldId id="852" r:id="rId113"/>
    <p:sldId id="1372" r:id="rId114"/>
    <p:sldId id="1394" r:id="rId115"/>
    <p:sldId id="1374" r:id="rId116"/>
    <p:sldId id="1375" r:id="rId117"/>
    <p:sldId id="1392" r:id="rId118"/>
    <p:sldId id="867" r:id="rId119"/>
    <p:sldId id="868" r:id="rId120"/>
    <p:sldId id="869" r:id="rId121"/>
    <p:sldId id="870" r:id="rId122"/>
    <p:sldId id="873" r:id="rId123"/>
    <p:sldId id="874" r:id="rId124"/>
    <p:sldId id="733" r:id="rId125"/>
    <p:sldId id="730" r:id="rId126"/>
    <p:sldId id="650" r:id="rId127"/>
    <p:sldId id="601" r:id="rId128"/>
    <p:sldId id="602" r:id="rId129"/>
    <p:sldId id="603" r:id="rId130"/>
    <p:sldId id="1399" r:id="rId13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0FB1"/>
    <a:srgbClr val="0000FF"/>
    <a:srgbClr val="FF6600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37" autoAdjust="0"/>
    <p:restoredTop sz="90517" autoAdjust="0"/>
  </p:normalViewPr>
  <p:slideViewPr>
    <p:cSldViewPr snapToGrid="0" showGuides="1">
      <p:cViewPr varScale="1">
        <p:scale>
          <a:sx n="121" d="100"/>
          <a:sy n="121" d="100"/>
        </p:scale>
        <p:origin x="1572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6.xml"/><Relationship Id="rId98" Type="http://schemas.openxmlformats.org/officeDocument/2006/relationships/slide" Target="slides/slide95.xml"/><Relationship Id="rId97" Type="http://schemas.openxmlformats.org/officeDocument/2006/relationships/slide" Target="slides/slide94.xml"/><Relationship Id="rId96" Type="http://schemas.openxmlformats.org/officeDocument/2006/relationships/slide" Target="slides/slide93.xml"/><Relationship Id="rId95" Type="http://schemas.openxmlformats.org/officeDocument/2006/relationships/slide" Target="slides/slide92.xml"/><Relationship Id="rId94" Type="http://schemas.openxmlformats.org/officeDocument/2006/relationships/slide" Target="slides/slide91.xml"/><Relationship Id="rId93" Type="http://schemas.openxmlformats.org/officeDocument/2006/relationships/slide" Target="slides/slide90.xml"/><Relationship Id="rId92" Type="http://schemas.openxmlformats.org/officeDocument/2006/relationships/slide" Target="slides/slide89.xml"/><Relationship Id="rId91" Type="http://schemas.openxmlformats.org/officeDocument/2006/relationships/slide" Target="slides/slide88.xml"/><Relationship Id="rId90" Type="http://schemas.openxmlformats.org/officeDocument/2006/relationships/slide" Target="slides/slide87.xml"/><Relationship Id="rId9" Type="http://schemas.openxmlformats.org/officeDocument/2006/relationships/slide" Target="slides/slide6.xml"/><Relationship Id="rId89" Type="http://schemas.openxmlformats.org/officeDocument/2006/relationships/slide" Target="slides/slide86.xml"/><Relationship Id="rId88" Type="http://schemas.openxmlformats.org/officeDocument/2006/relationships/slide" Target="slides/slide85.xml"/><Relationship Id="rId87" Type="http://schemas.openxmlformats.org/officeDocument/2006/relationships/slide" Target="slides/slide84.xml"/><Relationship Id="rId86" Type="http://schemas.openxmlformats.org/officeDocument/2006/relationships/slide" Target="slides/slide83.xml"/><Relationship Id="rId85" Type="http://schemas.openxmlformats.org/officeDocument/2006/relationships/slide" Target="slides/slide82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notesMaster" Target="notesMasters/notesMaster1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5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4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4" Type="http://schemas.openxmlformats.org/officeDocument/2006/relationships/tableStyles" Target="tableStyles.xml"/><Relationship Id="rId133" Type="http://schemas.openxmlformats.org/officeDocument/2006/relationships/viewProps" Target="viewProps.xml"/><Relationship Id="rId132" Type="http://schemas.openxmlformats.org/officeDocument/2006/relationships/presProps" Target="presProps.xml"/><Relationship Id="rId131" Type="http://schemas.openxmlformats.org/officeDocument/2006/relationships/slide" Target="slides/slide128.xml"/><Relationship Id="rId130" Type="http://schemas.openxmlformats.org/officeDocument/2006/relationships/slide" Target="slides/slide127.xml"/><Relationship Id="rId13" Type="http://schemas.openxmlformats.org/officeDocument/2006/relationships/slide" Target="slides/slide10.xml"/><Relationship Id="rId129" Type="http://schemas.openxmlformats.org/officeDocument/2006/relationships/slide" Target="slides/slide126.xml"/><Relationship Id="rId128" Type="http://schemas.openxmlformats.org/officeDocument/2006/relationships/slide" Target="slides/slide125.xml"/><Relationship Id="rId127" Type="http://schemas.openxmlformats.org/officeDocument/2006/relationships/slide" Target="slides/slide124.xml"/><Relationship Id="rId126" Type="http://schemas.openxmlformats.org/officeDocument/2006/relationships/slide" Target="slides/slide123.xml"/><Relationship Id="rId125" Type="http://schemas.openxmlformats.org/officeDocument/2006/relationships/slide" Target="slides/slide122.xml"/><Relationship Id="rId124" Type="http://schemas.openxmlformats.org/officeDocument/2006/relationships/slide" Target="slides/slide121.xml"/><Relationship Id="rId123" Type="http://schemas.openxmlformats.org/officeDocument/2006/relationships/slide" Target="slides/slide120.xml"/><Relationship Id="rId122" Type="http://schemas.openxmlformats.org/officeDocument/2006/relationships/slide" Target="slides/slide119.xml"/><Relationship Id="rId121" Type="http://schemas.openxmlformats.org/officeDocument/2006/relationships/slide" Target="slides/slide118.xml"/><Relationship Id="rId120" Type="http://schemas.openxmlformats.org/officeDocument/2006/relationships/slide" Target="slides/slide117.xml"/><Relationship Id="rId12" Type="http://schemas.openxmlformats.org/officeDocument/2006/relationships/slide" Target="slides/slide9.xml"/><Relationship Id="rId119" Type="http://schemas.openxmlformats.org/officeDocument/2006/relationships/slide" Target="slides/slide116.xml"/><Relationship Id="rId118" Type="http://schemas.openxmlformats.org/officeDocument/2006/relationships/slide" Target="slides/slide115.xml"/><Relationship Id="rId117" Type="http://schemas.openxmlformats.org/officeDocument/2006/relationships/slide" Target="slides/slide114.xml"/><Relationship Id="rId116" Type="http://schemas.openxmlformats.org/officeDocument/2006/relationships/slide" Target="slides/slide113.xml"/><Relationship Id="rId115" Type="http://schemas.openxmlformats.org/officeDocument/2006/relationships/slide" Target="slides/slide112.xml"/><Relationship Id="rId114" Type="http://schemas.openxmlformats.org/officeDocument/2006/relationships/slide" Target="slides/slide111.xml"/><Relationship Id="rId113" Type="http://schemas.openxmlformats.org/officeDocument/2006/relationships/slide" Target="slides/slide110.xml"/><Relationship Id="rId112" Type="http://schemas.openxmlformats.org/officeDocument/2006/relationships/slide" Target="slides/slide109.xml"/><Relationship Id="rId111" Type="http://schemas.openxmlformats.org/officeDocument/2006/relationships/slide" Target="slides/slide108.xml"/><Relationship Id="rId110" Type="http://schemas.openxmlformats.org/officeDocument/2006/relationships/slide" Target="slides/slide107.xml"/><Relationship Id="rId11" Type="http://schemas.openxmlformats.org/officeDocument/2006/relationships/slide" Target="slides/slide8.xml"/><Relationship Id="rId109" Type="http://schemas.openxmlformats.org/officeDocument/2006/relationships/slide" Target="slides/slide106.xml"/><Relationship Id="rId108" Type="http://schemas.openxmlformats.org/officeDocument/2006/relationships/slide" Target="slides/slide105.xml"/><Relationship Id="rId107" Type="http://schemas.openxmlformats.org/officeDocument/2006/relationships/slide" Target="slides/slide104.xml"/><Relationship Id="rId106" Type="http://schemas.openxmlformats.org/officeDocument/2006/relationships/slide" Target="slides/slide103.xml"/><Relationship Id="rId105" Type="http://schemas.openxmlformats.org/officeDocument/2006/relationships/slide" Target="slides/slide102.xml"/><Relationship Id="rId104" Type="http://schemas.openxmlformats.org/officeDocument/2006/relationships/slide" Target="slides/slide101.xml"/><Relationship Id="rId103" Type="http://schemas.openxmlformats.org/officeDocument/2006/relationships/slide" Target="slides/slide100.xml"/><Relationship Id="rId102" Type="http://schemas.openxmlformats.org/officeDocument/2006/relationships/slide" Target="slides/slide99.xml"/><Relationship Id="rId101" Type="http://schemas.openxmlformats.org/officeDocument/2006/relationships/slide" Target="slides/slide98.xml"/><Relationship Id="rId100" Type="http://schemas.openxmlformats.org/officeDocument/2006/relationships/slide" Target="slides/slide97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26F8E1-D84A-44BD-AFC6-9B54380022BF}" type="datetimeFigureOut">
              <a:rPr lang="en-US" smtClean="0"/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3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6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8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6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7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1pPr>
            <a:lvl2pPr marL="742950" indent="-28575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2pPr>
            <a:lvl3pPr marL="1143000" indent="-22860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3pPr>
            <a:lvl4pPr marL="1600200" indent="-22860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4pPr>
            <a:lvl5pPr marL="2057400" indent="-22860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9pPr>
          </a:lstStyle>
          <a:p>
            <a:pPr algn="r">
              <a:spcBef>
                <a:spcPct val="0"/>
              </a:spcBef>
            </a:pPr>
            <a:fld id="{CF9D29F3-2EAA-4DB2-ADCD-2E0CF71F3A19}" type="slidenum">
              <a:rPr lang="en-US" altLang="zh-CN" b="0">
                <a:latin typeface="Arial" panose="020B0604020202090204" pitchFamily="34" charset="0"/>
              </a:rPr>
            </a:fld>
            <a:endParaRPr lang="en-US" altLang="zh-CN" b="0">
              <a:latin typeface="Arial" panose="020B0604020202090204" pitchFamily="34" charset="0"/>
            </a:endParaRPr>
          </a:p>
        </p:txBody>
      </p:sp>
      <p:sp>
        <p:nvSpPr>
          <p:cNvPr id="10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for(p=a; p&lt;(a+5) p++)</a:t>
            </a:r>
            <a:endParaRPr lang="en-US" dirty="0"/>
          </a:p>
          <a:p>
            <a:r>
              <a:rPr lang="en-US" dirty="0"/>
              <a:t>     </a:t>
            </a:r>
            <a:r>
              <a:rPr lang="en-US" dirty="0" err="1"/>
              <a:t>scanf</a:t>
            </a:r>
            <a:r>
              <a:rPr lang="en-US" dirty="0"/>
              <a:t>("%</a:t>
            </a:r>
            <a:r>
              <a:rPr lang="en-US" dirty="0" err="1"/>
              <a:t>d",p</a:t>
            </a:r>
            <a:r>
              <a:rPr lang="en-US" dirty="0"/>
              <a:t>);</a:t>
            </a:r>
            <a:endParaRPr lang="en-US" dirty="0"/>
          </a:p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9E12BC-05D8-4320-BDA9-523357A1B366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放到指针最后的部分讲解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4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en-US" altLang="en-US">
              <a:ea typeface="宋体" pitchFamily="2" charset="-122"/>
            </a:endParaRPr>
          </a:p>
        </p:txBody>
      </p:sp>
      <p:sp>
        <p:nvSpPr>
          <p:cNvPr id="3379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CF534DBA-B7A8-4B2C-A547-487B6C2367B2}" type="slidenum">
              <a:rPr lang="zh-CN" altLang="en-US" smtClean="0">
                <a:latin typeface="Calibri" panose="020F0502020204030204" pitchFamily="34" charset="0"/>
              </a:rPr>
            </a:fld>
            <a:endParaRPr lang="en-US" altLang="zh-CN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有兴趣自己去学习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语言中，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void*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型可以不经转换（系统自动转换）地直接赋给任何类型的指针变量（函数指针变量除外）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memcpy</a:t>
            </a:r>
            <a:r>
              <a:rPr lang="en-US" altLang="zh-CN" dirty="0"/>
              <a:t> </a:t>
            </a:r>
            <a:r>
              <a:rPr lang="en-US" altLang="zh-CN" dirty="0" err="1"/>
              <a:t>memmove</a:t>
            </a:r>
            <a:r>
              <a:rPr lang="zh-CN" altLang="en-US" dirty="0"/>
              <a:t>区别和实现</a:t>
            </a:r>
            <a:endParaRPr lang="zh-CN" altLang="en-US" dirty="0"/>
          </a:p>
          <a:p>
            <a:r>
              <a:rPr lang="en-US" altLang="zh-CN" dirty="0" err="1"/>
              <a:t>memcpy</a:t>
            </a:r>
            <a:r>
              <a:rPr lang="zh-CN" altLang="en-US" dirty="0"/>
              <a:t>与</a:t>
            </a:r>
            <a:r>
              <a:rPr lang="en-US" altLang="zh-CN" dirty="0" err="1"/>
              <a:t>memmove</a:t>
            </a:r>
            <a:r>
              <a:rPr lang="zh-CN" altLang="en-US" dirty="0"/>
              <a:t>的目的都是将</a:t>
            </a:r>
            <a:r>
              <a:rPr lang="en-US" altLang="zh-CN" dirty="0"/>
              <a:t>N</a:t>
            </a:r>
            <a:r>
              <a:rPr lang="zh-CN" altLang="en-US" dirty="0"/>
              <a:t>个字节的源内存地址的内容拷贝到目标内存地址中。</a:t>
            </a:r>
            <a:endParaRPr lang="zh-CN" altLang="en-US" dirty="0"/>
          </a:p>
          <a:p>
            <a:r>
              <a:rPr lang="zh-CN" altLang="en-US" dirty="0"/>
              <a:t>但当源内存和目标内存存在重叠时，</a:t>
            </a:r>
            <a:r>
              <a:rPr lang="en-US" altLang="zh-CN" dirty="0" err="1"/>
              <a:t>memcpy</a:t>
            </a:r>
            <a:r>
              <a:rPr lang="zh-CN" altLang="en-US" dirty="0"/>
              <a:t>会出现错误，而</a:t>
            </a:r>
            <a:r>
              <a:rPr lang="en-US" altLang="zh-CN" dirty="0" err="1"/>
              <a:t>memmove</a:t>
            </a:r>
            <a:r>
              <a:rPr lang="zh-CN" altLang="en-US" dirty="0"/>
              <a:t>能正确地实施拷贝，但这也增加了一点点开销。</a:t>
            </a:r>
            <a:endParaRPr lang="zh-CN" altLang="en-US" dirty="0"/>
          </a:p>
          <a:p>
            <a:r>
              <a:rPr lang="en-US" altLang="zh-CN" dirty="0" err="1"/>
              <a:t>memmove</a:t>
            </a:r>
            <a:r>
              <a:rPr lang="zh-CN" altLang="en-US" dirty="0"/>
              <a:t>的处理措施：</a:t>
            </a:r>
            <a:endParaRPr lang="zh-CN" altLang="en-US" dirty="0"/>
          </a:p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）当源内存的首地址等于目标内存的首地址时，不进行任何拷贝</a:t>
            </a:r>
            <a:endParaRPr lang="zh-CN" altLang="en-US" dirty="0"/>
          </a:p>
          <a:p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）当源内存的首地址大于目标内存的首地址时，实行正向拷贝</a:t>
            </a:r>
            <a:endParaRPr lang="zh-CN" altLang="en-US" dirty="0"/>
          </a:p>
          <a:p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）当源内存的首地址小于目标内存的首地址时，实行反向拷贝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malloc</a:t>
            </a:r>
            <a:r>
              <a:rPr lang="zh-CN" altLang="en-US" dirty="0"/>
              <a:t>用来从内存池中提取一块合适的内存，并返回一个指向这块内存的指针，这块内存此时并没有以任何方式进行初始化。</a:t>
            </a:r>
            <a:endParaRPr lang="en-US" altLang="zh-CN" dirty="0"/>
          </a:p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9E12BC-05D8-4320-BDA9-523357A1B366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椭圆 10"/>
          <p:cNvSpPr/>
          <p:nvPr/>
        </p:nvSpPr>
        <p:spPr>
          <a:xfrm>
            <a:off x="8177483" y="5910463"/>
            <a:ext cx="504000" cy="504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/>
        </p:nvSpPr>
        <p:spPr>
          <a:xfrm>
            <a:off x="7414926" y="813763"/>
            <a:ext cx="742237" cy="74223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椭圆 9"/>
          <p:cNvSpPr/>
          <p:nvPr/>
        </p:nvSpPr>
        <p:spPr>
          <a:xfrm>
            <a:off x="-2459620" y="610564"/>
            <a:ext cx="5400000" cy="540000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8874" y="3811522"/>
            <a:ext cx="5429250" cy="1655762"/>
          </a:xfrm>
        </p:spPr>
        <p:txBody>
          <a:bodyPr/>
          <a:lstStyle>
            <a:lvl1pPr marL="0" indent="0" algn="l">
              <a:buNone/>
              <a:defRPr sz="2400" baseline="0">
                <a:latin typeface="Calibri" panose="020F0502020204030204" pitchFamily="34" charset="0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7" name="圆: 空心 6"/>
          <p:cNvSpPr/>
          <p:nvPr/>
        </p:nvSpPr>
        <p:spPr>
          <a:xfrm>
            <a:off x="-1447253" y="-1783037"/>
            <a:ext cx="3960000" cy="3960000"/>
          </a:xfrm>
          <a:prstGeom prst="donut">
            <a:avLst>
              <a:gd name="adj" fmla="val 14845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8874" y="2063683"/>
            <a:ext cx="6606253" cy="1655763"/>
          </a:xfrm>
        </p:spPr>
        <p:txBody>
          <a:bodyPr anchor="b">
            <a:normAutofit/>
          </a:bodyPr>
          <a:lstStyle>
            <a:lvl1pPr algn="l">
              <a:defRPr sz="5400" b="1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节标题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1268874" y="2155123"/>
            <a:ext cx="6606253" cy="1655763"/>
          </a:xfrm>
        </p:spPr>
        <p:txBody>
          <a:bodyPr anchor="t">
            <a:normAutofit/>
          </a:bodyPr>
          <a:lstStyle>
            <a:lvl1pPr algn="l">
              <a:defRPr sz="5400" b="1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9" name="圆: 空心 8"/>
          <p:cNvSpPr/>
          <p:nvPr/>
        </p:nvSpPr>
        <p:spPr>
          <a:xfrm>
            <a:off x="409455" y="2155308"/>
            <a:ext cx="720000" cy="720000"/>
          </a:xfrm>
          <a:prstGeom prst="donut">
            <a:avLst>
              <a:gd name="adj" fmla="val 24158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32000" y="1389185"/>
            <a:ext cx="8280000" cy="4936895"/>
          </a:xfrm>
        </p:spPr>
        <p:txBody>
          <a:bodyPr anchor="t">
            <a:normAutofit/>
          </a:bodyPr>
          <a:lstStyle>
            <a:lvl1pPr marL="514350" indent="-514350">
              <a:lnSpc>
                <a:spcPct val="114000"/>
              </a:lnSpc>
              <a:buFont typeface="+mj-lt"/>
              <a:buAutoNum type="arabicPeriod"/>
              <a:defRPr sz="320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defRPr>
            </a:lvl1pPr>
            <a:lvl2pPr marL="782955" indent="-457200">
              <a:buFont typeface="+mj-lt"/>
              <a:buAutoNum type="arabicPeriod"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1369695" indent="-457200">
              <a:buFont typeface="+mj-lt"/>
              <a:buAutoNum type="arabicPeriod"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714500" indent="-342900">
              <a:buFont typeface="+mj-lt"/>
              <a:buAutoNum type="arabicPeriod"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2171700" indent="-342900">
              <a:buFont typeface="+mj-lt"/>
              <a:buAutoNum type="arabicPeriod"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目录项目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32000" y="1260000"/>
            <a:ext cx="8280000" cy="5040000"/>
          </a:xfrm>
        </p:spPr>
        <p:txBody>
          <a:bodyPr/>
          <a:lstStyle>
            <a:lvl2pPr indent="-288290">
              <a:defRPr/>
            </a:lvl2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32000" y="1260000"/>
            <a:ext cx="4082850" cy="5040000"/>
          </a:xfrm>
        </p:spPr>
        <p:txBody>
          <a:bodyPr/>
          <a:lstStyle>
            <a:lvl1pPr marL="360045">
              <a:defRPr/>
            </a:lvl1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29150" y="1260000"/>
            <a:ext cx="4082850" cy="5040000"/>
          </a:xfrm>
        </p:spPr>
        <p:txBody>
          <a:bodyPr/>
          <a:lstStyle>
            <a:lvl1pPr marL="360045">
              <a:defRPr/>
            </a:lvl1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32000" y="1188000"/>
            <a:ext cx="4066182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32000" y="2037714"/>
            <a:ext cx="4066182" cy="438828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188000"/>
            <a:ext cx="4082850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29150" y="2037714"/>
            <a:ext cx="4082850" cy="438828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8280000" cy="683692"/>
          </a:xfrm>
        </p:spPr>
        <p:txBody>
          <a:bodyPr anchor="b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87391" y="987426"/>
            <a:ext cx="4629150" cy="541337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43434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5413374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43434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结束，致谢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1268874" y="2155123"/>
            <a:ext cx="6606253" cy="1655763"/>
          </a:xfrm>
        </p:spPr>
        <p:txBody>
          <a:bodyPr anchor="b">
            <a:normAutofit/>
          </a:bodyPr>
          <a:lstStyle>
            <a:lvl1pPr algn="ctr">
              <a:defRPr sz="4400" b="1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9" name="圆: 空心 8"/>
          <p:cNvSpPr/>
          <p:nvPr/>
        </p:nvSpPr>
        <p:spPr>
          <a:xfrm>
            <a:off x="8088487" y="5873868"/>
            <a:ext cx="720000" cy="720000"/>
          </a:xfrm>
          <a:prstGeom prst="donut">
            <a:avLst>
              <a:gd name="adj" fmla="val 24158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dirty="0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程序设计导论</a:t>
            </a:r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AE995F9-82BC-4AFC-8E20-89426A466BF1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dgm">
  <p:cSld name="Title and Diagram or Organiza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martArt Placeholder 2"/>
          <p:cNvSpPr>
            <a:spLocks noGrp="1"/>
          </p:cNvSpPr>
          <p:nvPr>
            <p:ph type="dgm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CBF01F0-5869-42E2-A8FD-A9376291A2A2}" type="slidenum">
              <a:rPr lang="en-US" altLang="zh-CN"/>
            </a:fld>
            <a:endParaRPr lang="en-US" altLang="zh-CN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程序设计导论</a:t>
            </a:r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2"/>
          <p:cNvSpPr/>
          <p:nvPr/>
        </p:nvSpPr>
        <p:spPr>
          <a:xfrm>
            <a:off x="2282825" y="0"/>
            <a:ext cx="6858000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5" name="Rectangle 13"/>
          <p:cNvSpPr>
            <a:spLocks noChangeArrowheads="1"/>
          </p:cNvSpPr>
          <p:nvPr/>
        </p:nvSpPr>
        <p:spPr bwMode="invGray">
          <a:xfrm>
            <a:off x="2286000" y="0"/>
            <a:ext cx="762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dist="38000" dir="10800000" algn="tl" rotWithShape="0">
              <a:srgbClr val="73726C">
                <a:alpha val="25000"/>
              </a:srgbClr>
            </a:outerShdw>
          </a:effectLst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6" name="Oval 15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7" name="Oval 16"/>
          <p:cNvSpPr/>
          <p:nvPr/>
        </p:nvSpPr>
        <p:spPr>
          <a:xfrm>
            <a:off x="2408239" y="2746375"/>
            <a:ext cx="63500" cy="63500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3375"/>
              </a:lnSpc>
              <a:buNone/>
              <a:defRPr sz="3000" b="1" cap="all"/>
            </a:lvl1pPr>
          </a:lstStyle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3970" indent="0">
              <a:lnSpc>
                <a:spcPts val="1725"/>
              </a:lnSpc>
              <a:spcBef>
                <a:spcPts val="0"/>
              </a:spcBef>
              <a:buNone/>
              <a:defRPr sz="15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程序设计导论</a:t>
            </a:r>
            <a:endParaRPr lang="zh-CN" alt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65537A-573F-4928-9A76-1F19383F4DCB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A651CC-8B39-45DF-A333-2A7D248E5017}" type="slidenum">
              <a:rPr lang="en-US" altLang="zh-CN"/>
            </a:fld>
            <a:endParaRPr lang="en-US" altLang="zh-CN"/>
          </a:p>
        </p:txBody>
      </p:sp>
      <p:sp>
        <p:nvSpPr>
          <p:cNvPr id="5" name="Rectangle 14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程序设计导论</a:t>
            </a:r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image" Target="../media/image1.emf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8280000" cy="6836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2000" y="1188000"/>
            <a:ext cx="8280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045" indent="-360045" algn="l" defTabSz="914400" rtl="0" eaLnBrk="1" latinLnBrk="0" hangingPunct="1">
        <a:lnSpc>
          <a:spcPct val="100000"/>
        </a:lnSpc>
        <a:spcBef>
          <a:spcPts val="1000"/>
        </a:spcBef>
        <a:buClr>
          <a:schemeClr val="accent4"/>
        </a:buClr>
        <a:buFontTx/>
        <a:buBlip>
          <a:blip r:embed="rId15"/>
        </a:buBlip>
        <a:defRPr sz="2800" kern="1200">
          <a:solidFill>
            <a:schemeClr val="tx1"/>
          </a:solidFill>
          <a:latin typeface="+mj-ea"/>
          <a:ea typeface="+mj-ea"/>
          <a:cs typeface="+mn-cs"/>
        </a:defRPr>
      </a:lvl1pPr>
      <a:lvl2pPr marL="685800" indent="-288290" algn="l" defTabSz="9144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FontTx/>
        <a:buBlip>
          <a:blip r:embed="rId15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30505" algn="l" defTabSz="9144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SzPct val="100000"/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SzPct val="100000"/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SzPct val="100000"/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4.xml"/><Relationship Id="rId5" Type="http://schemas.openxmlformats.org/officeDocument/2006/relationships/slide" Target="slide106.xml"/><Relationship Id="rId4" Type="http://schemas.openxmlformats.org/officeDocument/2006/relationships/slide" Target="slide96.xml"/><Relationship Id="rId3" Type="http://schemas.openxmlformats.org/officeDocument/2006/relationships/slide" Target="slide73.xml"/><Relationship Id="rId2" Type="http://schemas.openxmlformats.org/officeDocument/2006/relationships/slide" Target="slide25.xml"/><Relationship Id="rId1" Type="http://schemas.openxmlformats.org/officeDocument/2006/relationships/slide" Target="slide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7.wmf"/><Relationship Id="rId1" Type="http://schemas.openxmlformats.org/officeDocument/2006/relationships/oleObject" Target="../embeddings/oleObject1.bin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8.wmf"/><Relationship Id="rId1" Type="http://schemas.openxmlformats.org/officeDocument/2006/relationships/oleObject" Target="../embeddings/oleObject2.bin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.emf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8.png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1.png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2.png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3.png"/><Relationship Id="rId1" Type="http://schemas.openxmlformats.org/officeDocument/2006/relationships/tags" Target="../tags/tag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6.png"/><Relationship Id="rId1" Type="http://schemas.openxmlformats.org/officeDocument/2006/relationships/tags" Target="../tags/tag3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tags" Target="../tags/tag4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7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8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9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10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11.xml"/></Relationships>
</file>

<file path=ppt/slides/_rels/slide120.xml.rels><?xml version="1.0" encoding="UTF-8" standalone="yes"?>
<Relationships xmlns="http://schemas.openxmlformats.org/package/2006/relationships"><Relationship Id="rId9" Type="http://schemas.openxmlformats.org/officeDocument/2006/relationships/tags" Target="../tags/tag20.xml"/><Relationship Id="rId8" Type="http://schemas.openxmlformats.org/officeDocument/2006/relationships/tags" Target="../tags/tag19.xml"/><Relationship Id="rId7" Type="http://schemas.openxmlformats.org/officeDocument/2006/relationships/tags" Target="../tags/tag18.xml"/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3" Type="http://schemas.openxmlformats.org/officeDocument/2006/relationships/slideLayout" Target="../slideLayouts/slideLayout4.xml"/><Relationship Id="rId12" Type="http://schemas.openxmlformats.org/officeDocument/2006/relationships/tags" Target="../tags/tag23.xml"/><Relationship Id="rId11" Type="http://schemas.openxmlformats.org/officeDocument/2006/relationships/tags" Target="../tags/tag22.xml"/><Relationship Id="rId10" Type="http://schemas.openxmlformats.org/officeDocument/2006/relationships/tags" Target="../tags/tag21.xml"/><Relationship Id="rId1" Type="http://schemas.openxmlformats.org/officeDocument/2006/relationships/tags" Target="../tags/tag1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ctrTitle"/>
          </p:nvPr>
        </p:nvSpPr>
        <p:spPr>
          <a:xfrm>
            <a:off x="1194229" y="1556237"/>
            <a:ext cx="7875127" cy="1655763"/>
          </a:xfrm>
        </p:spPr>
        <p:txBody>
          <a:bodyPr>
            <a:normAutofit/>
          </a:bodyPr>
          <a:lstStyle/>
          <a:p>
            <a:r>
              <a:rPr lang="en-US" altLang="zh-CN" sz="4800" dirty="0"/>
              <a:t>11.</a:t>
            </a:r>
            <a:r>
              <a:rPr lang="zh-CN" altLang="en-US" sz="4800" dirty="0"/>
              <a:t> 指针</a:t>
            </a:r>
            <a:r>
              <a:rPr lang="en-US" altLang="zh-CN" sz="4800" dirty="0"/>
              <a:t>	</a:t>
            </a:r>
            <a:endParaRPr lang="en-US" sz="4800" dirty="0"/>
          </a:p>
        </p:txBody>
      </p:sp>
      <p:sp>
        <p:nvSpPr>
          <p:cNvPr id="6" name="副标题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内容</a:t>
            </a:r>
            <a:endParaRPr lang="en-US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hlinkClick r:id="rId1" action="ppaction://hlinksldjump"/>
              </a:rPr>
              <a:t>指针与指针变量的概念</a:t>
            </a:r>
            <a:endParaRPr lang="en-US" altLang="zh-CN" dirty="0"/>
          </a:p>
          <a:p>
            <a:r>
              <a:rPr lang="zh-CN" altLang="en-US" dirty="0">
                <a:hlinkClick r:id="rId2" action="ppaction://hlinksldjump"/>
              </a:rPr>
              <a:t>指针与数组</a:t>
            </a:r>
            <a:endParaRPr lang="en-US" altLang="zh-CN" dirty="0"/>
          </a:p>
          <a:p>
            <a:pPr lvl="1"/>
            <a:r>
              <a:rPr lang="zh-CN" altLang="en-US" dirty="0"/>
              <a:t>字符串及其处理</a:t>
            </a:r>
            <a:endParaRPr lang="en-US" altLang="zh-CN" dirty="0"/>
          </a:p>
          <a:p>
            <a:r>
              <a:rPr lang="zh-CN" altLang="en-US" dirty="0">
                <a:hlinkClick r:id="rId3" action="ppaction://hlinksldjump"/>
              </a:rPr>
              <a:t>指针与函数</a:t>
            </a:r>
            <a:endParaRPr lang="en-US" altLang="zh-CN" dirty="0"/>
          </a:p>
          <a:p>
            <a:pPr lvl="1"/>
            <a:r>
              <a:rPr lang="zh-CN" altLang="en-US" dirty="0"/>
              <a:t>几种参数传递方式的比较</a:t>
            </a:r>
            <a:endParaRPr lang="en-US" altLang="zh-CN" dirty="0"/>
          </a:p>
          <a:p>
            <a:r>
              <a:rPr lang="zh-CN" altLang="en-US" dirty="0">
                <a:hlinkClick r:id="rId4" action="ppaction://hlinksldjump"/>
              </a:rPr>
              <a:t>指针与结构体</a:t>
            </a:r>
            <a:endParaRPr lang="en-US" altLang="zh-CN" dirty="0"/>
          </a:p>
          <a:p>
            <a:r>
              <a:rPr lang="en-US" altLang="zh-CN" dirty="0">
                <a:hlinkClick r:id="rId5" action="ppaction://hlinksldjump"/>
              </a:rPr>
              <a:t>void</a:t>
            </a:r>
            <a:r>
              <a:rPr lang="zh-CN" altLang="en-US" dirty="0">
                <a:hlinkClick r:id="rId5" action="ppaction://hlinksldjump"/>
              </a:rPr>
              <a:t>指针</a:t>
            </a:r>
            <a:endParaRPr lang="en-US" altLang="zh-CN" dirty="0"/>
          </a:p>
          <a:p>
            <a:r>
              <a:rPr lang="zh-CN" altLang="en-US" dirty="0"/>
              <a:t>动态内存分配</a:t>
            </a:r>
            <a:endParaRPr lang="en-US" altLang="zh-CN" dirty="0"/>
          </a:p>
          <a:p>
            <a:r>
              <a:rPr lang="zh-CN" altLang="en-US" dirty="0"/>
              <a:t>主函数的参数</a:t>
            </a:r>
            <a:endParaRPr lang="en-US" altLang="zh-CN" dirty="0"/>
          </a:p>
          <a:p>
            <a:pPr lvl="1"/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dirty="0"/>
              <a:t>如果在程序中定义了一个变量，在对程序进行编译时，系统就会给该变量分配内存单元</a:t>
            </a:r>
            <a:endParaRPr lang="en-US" altLang="zh-CN" sz="2400" dirty="0"/>
          </a:p>
          <a:p>
            <a:pPr lvl="1" eaLnBrk="1" hangingPunct="1">
              <a:spcBef>
                <a:spcPct val="50000"/>
              </a:spcBef>
            </a:pPr>
            <a:r>
              <a:rPr lang="zh-CN" altLang="en-US" sz="2000" dirty="0"/>
              <a:t>编译系统根据程序中定义的变量类型，分配一定长度的空间</a:t>
            </a:r>
            <a:endParaRPr lang="en-US" altLang="zh-CN" sz="2000" dirty="0"/>
          </a:p>
          <a:p>
            <a:pPr lvl="1" eaLnBrk="1" hangingPunct="1">
              <a:spcBef>
                <a:spcPct val="50000"/>
              </a:spcBef>
            </a:pPr>
            <a:r>
              <a:rPr lang="zh-CN" altLang="en-US" sz="2000" dirty="0"/>
              <a:t>例如为</a:t>
            </a:r>
            <a:r>
              <a:rPr lang="en-US" altLang="zh-CN" sz="2000" dirty="0"/>
              <a:t>int</a:t>
            </a:r>
            <a:r>
              <a:rPr lang="zh-CN" altLang="en-US" sz="2000" dirty="0"/>
              <a:t>类型变量分配</a:t>
            </a:r>
            <a:r>
              <a:rPr lang="en-US" altLang="zh-CN" sz="2000" dirty="0"/>
              <a:t>4</a:t>
            </a:r>
            <a:r>
              <a:rPr lang="zh-CN" altLang="en-US" sz="2000" dirty="0"/>
              <a:t>个字节，为</a:t>
            </a:r>
            <a:r>
              <a:rPr lang="en-US" altLang="zh-CN" sz="2000" dirty="0"/>
              <a:t>float</a:t>
            </a:r>
            <a:r>
              <a:rPr lang="zh-CN" altLang="en-US" sz="2000" dirty="0"/>
              <a:t>类型分配４个字节，对</a:t>
            </a:r>
            <a:r>
              <a:rPr lang="en-US" altLang="zh-CN" sz="2000" dirty="0"/>
              <a:t>char</a:t>
            </a:r>
            <a:r>
              <a:rPr lang="zh-CN" altLang="en-US" sz="2000" dirty="0"/>
              <a:t>类型变量分配１个字节</a:t>
            </a:r>
            <a:endParaRPr lang="en-US" altLang="zh-CN" sz="2000" dirty="0"/>
          </a:p>
          <a:p>
            <a:pPr eaLnBrk="1" hangingPunct="1">
              <a:spcBef>
                <a:spcPct val="0"/>
              </a:spcBef>
            </a:pPr>
            <a:r>
              <a:rPr lang="zh-CN" altLang="en-US" sz="2400" dirty="0"/>
              <a:t>内存区的每一个字节有一个编号，这就是“</a:t>
            </a:r>
            <a:r>
              <a:rPr lang="zh-CN" altLang="en-US" sz="2400" dirty="0">
                <a:solidFill>
                  <a:srgbClr val="FF0000"/>
                </a:solidFill>
              </a:rPr>
              <a:t>地址</a:t>
            </a:r>
            <a:r>
              <a:rPr lang="zh-CN" altLang="en-US" sz="2400" dirty="0"/>
              <a:t>”，它相当于教学楼的教室号。</a:t>
            </a:r>
            <a:endParaRPr lang="en-US" altLang="zh-CN" sz="2400" dirty="0"/>
          </a:p>
          <a:p>
            <a:pPr lvl="1" eaLnBrk="1" hangingPunct="1">
              <a:spcBef>
                <a:spcPct val="0"/>
              </a:spcBef>
            </a:pPr>
            <a:r>
              <a:rPr lang="zh-CN" altLang="en-US" sz="2000" dirty="0"/>
              <a:t>在地址所标识的内存单元中存放数据，这相当于教室里有上课的学生</a:t>
            </a:r>
            <a:endParaRPr lang="en-US" altLang="zh-CN" sz="2000" dirty="0"/>
          </a:p>
          <a:p>
            <a:pPr eaLnBrk="1" hangingPunct="1">
              <a:spcBef>
                <a:spcPct val="0"/>
              </a:spcBef>
            </a:pPr>
            <a:r>
              <a:rPr lang="zh-CN" altLang="en-US" sz="2400" dirty="0"/>
              <a:t>通过地址能找到所需的变量单元，我们可以说，</a:t>
            </a:r>
            <a:r>
              <a:rPr lang="zh-CN" altLang="en-US" sz="2400" dirty="0">
                <a:solidFill>
                  <a:srgbClr val="FF0000"/>
                </a:solidFill>
              </a:rPr>
              <a:t>地址指向该变量单元。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zh-CN" altLang="en-US" sz="2400" dirty="0"/>
              <a:t>将地址形象化地称为“</a:t>
            </a:r>
            <a:r>
              <a:rPr lang="zh-CN" altLang="en-US" sz="2400" dirty="0">
                <a:solidFill>
                  <a:srgbClr val="FF0000"/>
                </a:solidFill>
              </a:rPr>
              <a:t>指针</a:t>
            </a:r>
            <a:r>
              <a:rPr lang="zh-CN" altLang="en-US" sz="2400" dirty="0"/>
              <a:t>”</a:t>
            </a:r>
            <a:endParaRPr lang="en-US" sz="24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 </a:t>
            </a:r>
            <a:r>
              <a:rPr lang="zh-CN" altLang="en-US" dirty="0"/>
              <a:t>指针的概念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67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指针的概念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412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kumimoji="1" lang="zh-CN" altLang="en-US" dirty="0"/>
              <a:t>为了进一步理解指针，先看一个小故事</a:t>
            </a:r>
            <a:endParaRPr kumimoji="1" lang="en-US" altLang="zh-CN" dirty="0"/>
          </a:p>
          <a:p>
            <a:pPr marL="62230" indent="0" eaLnBrk="1" hangingPunct="1">
              <a:buNone/>
              <a:defRPr/>
            </a:pPr>
            <a:r>
              <a:rPr lang="zh-CN" altLang="en-US" sz="2300" dirty="0">
                <a:latin typeface="楷体" panose="02010609060101010101" pitchFamily="49" charset="-122"/>
                <a:ea typeface="楷体" panose="02010609060101010101" pitchFamily="49" charset="-122"/>
              </a:rPr>
              <a:t>“地下工作者阿金接到上级指令，要去寻找打开密电码的密钥，这是一个整数。几经周折，才探知如下线索，密钥藏在一栋三年前就被贴上封条的小楼中。一个风雨交加的夜晚，阿金潜入了小楼，房间很多，不知该进哪一间，正在一筹莫展之际，忽然走廊上的电话铃声响起。艺高人胆大，阿金毫不迟疑，抓起听筒。只听一个陌生人说：“</a:t>
            </a:r>
            <a:r>
              <a:rPr lang="zh-CN" altLang="en-US" sz="2300" dirty="0">
                <a:solidFill>
                  <a:schemeClr val="hlin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去打开 </a:t>
            </a:r>
            <a:r>
              <a:rPr lang="en-US" altLang="zh-CN" sz="2300" dirty="0">
                <a:solidFill>
                  <a:schemeClr val="hlin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211 </a:t>
            </a:r>
            <a:r>
              <a:rPr lang="zh-CN" altLang="en-US" sz="2300" dirty="0">
                <a:solidFill>
                  <a:schemeClr val="hlin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房间，那里有线索</a:t>
            </a:r>
            <a:r>
              <a:rPr lang="zh-CN" altLang="en-US" sz="2300" dirty="0">
                <a:latin typeface="楷体" panose="02010609060101010101" pitchFamily="49" charset="-122"/>
                <a:ea typeface="楷体" panose="02010609060101010101" pitchFamily="49" charset="-122"/>
              </a:rPr>
              <a:t>”。阿金疾步上楼，打开 </a:t>
            </a:r>
            <a:r>
              <a:rPr lang="en-US" altLang="zh-CN" sz="2300" dirty="0">
                <a:latin typeface="楷体" panose="02010609060101010101" pitchFamily="49" charset="-122"/>
                <a:ea typeface="楷体" panose="02010609060101010101" pitchFamily="49" charset="-122"/>
              </a:rPr>
              <a:t>211 </a:t>
            </a:r>
            <a:r>
              <a:rPr lang="zh-CN" altLang="en-US" sz="2300" dirty="0">
                <a:latin typeface="楷体" panose="02010609060101010101" pitchFamily="49" charset="-122"/>
                <a:ea typeface="楷体" panose="02010609060101010101" pitchFamily="49" charset="-122"/>
              </a:rPr>
              <a:t>房门，用电筒一照，只见桌上赫然 </a:t>
            </a:r>
            <a:r>
              <a:rPr lang="en-US" altLang="zh-CN" sz="2300" dirty="0">
                <a:latin typeface="楷体" panose="02010609060101010101" pitchFamily="49" charset="-122"/>
                <a:ea typeface="楷体" panose="02010609060101010101" pitchFamily="49" charset="-122"/>
              </a:rPr>
              <a:t>6 </a:t>
            </a:r>
            <a:r>
              <a:rPr lang="zh-CN" altLang="en-US" sz="2300" dirty="0">
                <a:latin typeface="楷体" panose="02010609060101010101" pitchFamily="49" charset="-122"/>
                <a:ea typeface="楷体" panose="02010609060101010101" pitchFamily="49" charset="-122"/>
              </a:rPr>
              <a:t>个大字：</a:t>
            </a:r>
            <a:r>
              <a:rPr lang="zh-CN" altLang="en-US" sz="2300" dirty="0">
                <a:solidFill>
                  <a:schemeClr val="hlin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地址</a:t>
            </a:r>
            <a:r>
              <a:rPr lang="en-US" altLang="zh-CN" sz="2300" dirty="0">
                <a:solidFill>
                  <a:schemeClr val="hlin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1000</a:t>
            </a:r>
            <a:r>
              <a:rPr lang="zh-CN" altLang="en-US" sz="2300" dirty="0">
                <a:latin typeface="楷体" panose="02010609060101010101" pitchFamily="49" charset="-122"/>
                <a:ea typeface="楷体" panose="02010609060101010101" pitchFamily="49" charset="-122"/>
              </a:rPr>
              <a:t>。阿金眼睛一亮，迅速找到 </a:t>
            </a:r>
            <a:r>
              <a:rPr lang="en-US" altLang="zh-CN" sz="2300" dirty="0">
                <a:latin typeface="楷体" panose="02010609060101010101" pitchFamily="49" charset="-122"/>
                <a:ea typeface="楷体" panose="02010609060101010101" pitchFamily="49" charset="-122"/>
              </a:rPr>
              <a:t>1000 </a:t>
            </a:r>
            <a:r>
              <a:rPr lang="zh-CN" altLang="en-US" sz="2300" dirty="0">
                <a:latin typeface="楷体" panose="02010609060101010101" pitchFamily="49" charset="-122"/>
                <a:ea typeface="楷体" panose="02010609060101010101" pitchFamily="49" charset="-122"/>
              </a:rPr>
              <a:t>房间，取出重要数据 </a:t>
            </a:r>
            <a:r>
              <a:rPr lang="en-US" altLang="zh-CN" sz="2300" dirty="0">
                <a:latin typeface="楷体" panose="02010609060101010101" pitchFamily="49" charset="-122"/>
                <a:ea typeface="楷体" panose="02010609060101010101" pitchFamily="49" charset="-122"/>
              </a:rPr>
              <a:t>66</a:t>
            </a:r>
            <a:r>
              <a:rPr lang="zh-CN" altLang="en-US" sz="2300" dirty="0">
                <a:latin typeface="楷体" panose="02010609060101010101" pitchFamily="49" charset="-122"/>
                <a:ea typeface="楷体" panose="02010609060101010101" pitchFamily="49" charset="-122"/>
              </a:rPr>
              <a:t>，完成了任务。”</a:t>
            </a:r>
            <a:endParaRPr lang="zh-CN" altLang="en-US" sz="23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defRPr/>
            </a:pPr>
            <a:endParaRPr kumimoji="1"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939048" y="365125"/>
            <a:ext cx="784459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1pPr>
            <a:lvl2pPr marL="914400" indent="-4572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2pPr>
            <a:lvl3pPr marL="1371600" indent="-4572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3pPr>
            <a:lvl4pPr marL="1828800" indent="-4572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4pPr>
            <a:lvl5pPr marL="2286000" indent="-4572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5pPr>
            <a:lvl6pPr marL="2743200" indent="-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6pPr>
            <a:lvl7pPr marL="3200400" indent="-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7pPr>
            <a:lvl8pPr marL="3657600" indent="-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8pPr>
            <a:lvl9pPr marL="4114800" indent="-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画出下图</a:t>
            </a:r>
            <a:endParaRPr kumimoji="1" lang="zh-CN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418819" name="Group 3"/>
          <p:cNvGraphicFramePr>
            <a:graphicFrameLocks noGrp="1"/>
          </p:cNvGraphicFramePr>
          <p:nvPr>
            <p:ph/>
          </p:nvPr>
        </p:nvGraphicFramePr>
        <p:xfrm>
          <a:off x="1130968" y="1703388"/>
          <a:ext cx="7555830" cy="519112"/>
        </p:xfrm>
        <a:graphic>
          <a:graphicData uri="http://schemas.openxmlformats.org/drawingml/2006/table">
            <a:tbl>
              <a:tblPr/>
              <a:tblGrid>
                <a:gridCol w="1511458"/>
                <a:gridCol w="1510000"/>
                <a:gridCol w="1512915"/>
                <a:gridCol w="1510000"/>
                <a:gridCol w="1511457"/>
              </a:tblGrid>
              <a:tr h="519112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rPr>
                        <a:t>1000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itchFamily="2" charset="-122"/>
                      </a:endParaRPr>
                    </a:p>
                  </a:txBody>
                  <a:tcPr marT="45664" marB="4566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en-US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itchFamily="2" charset="-122"/>
                      </a:endParaRPr>
                    </a:p>
                  </a:txBody>
                  <a:tcPr marT="45664" marB="4566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90204" pitchFamily="34" charset="0"/>
                          <a:ea typeface="宋体" pitchFamily="2" charset="-122"/>
                        </a:rPr>
                        <a:t>…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itchFamily="2" charset="-122"/>
                      </a:endParaRPr>
                    </a:p>
                  </a:txBody>
                  <a:tcPr marT="45664" marB="4566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rPr>
                        <a:t>66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itchFamily="2" charset="-122"/>
                      </a:endParaRPr>
                    </a:p>
                  </a:txBody>
                  <a:tcPr marT="45664" marB="4566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90204" pitchFamily="34" charset="0"/>
                          <a:ea typeface="宋体" pitchFamily="2" charset="-122"/>
                        </a:rPr>
                        <a:t>…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itchFamily="2" charset="-122"/>
                      </a:endParaRPr>
                    </a:p>
                  </a:txBody>
                  <a:tcPr marT="45664" marB="4566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233" name="Text Box 17"/>
          <p:cNvSpPr txBox="1">
            <a:spLocks noChangeArrowheads="1"/>
          </p:cNvSpPr>
          <p:nvPr/>
        </p:nvSpPr>
        <p:spPr bwMode="auto">
          <a:xfrm>
            <a:off x="1273509" y="2205038"/>
            <a:ext cx="13652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solidFill>
                  <a:srgbClr val="4F8927"/>
                </a:solidFill>
                <a:latin typeface="Times New Roman" panose="02020503050405090304" pitchFamily="18" charset="0"/>
                <a:ea typeface="黑体" panose="02010609060101010101" pitchFamily="49" charset="-122"/>
              </a:rPr>
              <a:t>211</a:t>
            </a:r>
            <a:endParaRPr kumimoji="1" lang="en-US" altLang="zh-CN" sz="2400" dirty="0">
              <a:solidFill>
                <a:srgbClr val="4F8927"/>
              </a:solidFill>
              <a:latin typeface="Times New Roman" panose="02020503050405090304" pitchFamily="18" charset="0"/>
              <a:ea typeface="黑体" panose="02010609060101010101" pitchFamily="49" charset="-122"/>
            </a:endParaRPr>
          </a:p>
        </p:txBody>
      </p:sp>
      <p:sp>
        <p:nvSpPr>
          <p:cNvPr id="9234" name="Text Box 18"/>
          <p:cNvSpPr txBox="1">
            <a:spLocks noChangeArrowheads="1"/>
          </p:cNvSpPr>
          <p:nvPr/>
        </p:nvSpPr>
        <p:spPr bwMode="auto">
          <a:xfrm>
            <a:off x="5798554" y="2199191"/>
            <a:ext cx="13652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solidFill>
                  <a:srgbClr val="4F8927"/>
                </a:solidFill>
                <a:latin typeface="Times New Roman" panose="02020503050405090304" pitchFamily="18" charset="0"/>
                <a:ea typeface="黑体" panose="02010609060101010101" pitchFamily="49" charset="-122"/>
              </a:rPr>
              <a:t>1000</a:t>
            </a:r>
            <a:endParaRPr kumimoji="1" lang="en-US" altLang="zh-CN" sz="2400" dirty="0">
              <a:solidFill>
                <a:srgbClr val="4F8927"/>
              </a:solidFill>
              <a:latin typeface="Times New Roman" panose="02020503050405090304" pitchFamily="18" charset="0"/>
              <a:ea typeface="黑体" panose="02010609060101010101" pitchFamily="49" charset="-122"/>
            </a:endParaRPr>
          </a:p>
        </p:txBody>
      </p:sp>
      <p:sp>
        <p:nvSpPr>
          <p:cNvPr id="9235" name="Text Box 19"/>
          <p:cNvSpPr txBox="1">
            <a:spLocks noChangeArrowheads="1"/>
          </p:cNvSpPr>
          <p:nvPr/>
        </p:nvSpPr>
        <p:spPr bwMode="auto">
          <a:xfrm>
            <a:off x="2771775" y="692150"/>
            <a:ext cx="13652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503050405090304" pitchFamily="18" charset="0"/>
                <a:ea typeface="黑体" panose="02010609060101010101" pitchFamily="49" charset="-122"/>
              </a:rPr>
              <a:t>P</a:t>
            </a:r>
            <a:endParaRPr kumimoji="1" lang="en-US" altLang="zh-CN" sz="2400">
              <a:latin typeface="Times New Roman" panose="02020503050405090304" pitchFamily="18" charset="0"/>
              <a:ea typeface="黑体" panose="02010609060101010101" pitchFamily="49" charset="-122"/>
            </a:endParaRPr>
          </a:p>
        </p:txBody>
      </p:sp>
      <p:grpSp>
        <p:nvGrpSpPr>
          <p:cNvPr id="9236" name="Group 24"/>
          <p:cNvGrpSpPr/>
          <p:nvPr/>
        </p:nvGrpSpPr>
        <p:grpSpPr bwMode="auto">
          <a:xfrm>
            <a:off x="1476375" y="1125538"/>
            <a:ext cx="4608513" cy="574675"/>
            <a:chOff x="930" y="775"/>
            <a:chExt cx="2903" cy="362"/>
          </a:xfrm>
        </p:grpSpPr>
        <p:sp>
          <p:nvSpPr>
            <p:cNvPr id="9238" name="Line 20"/>
            <p:cNvSpPr>
              <a:spLocks noChangeShapeType="1"/>
            </p:cNvSpPr>
            <p:nvPr/>
          </p:nvSpPr>
          <p:spPr bwMode="auto">
            <a:xfrm flipV="1">
              <a:off x="930" y="775"/>
              <a:ext cx="0" cy="362"/>
            </a:xfrm>
            <a:prstGeom prst="line">
              <a:avLst/>
            </a:prstGeom>
            <a:noFill/>
            <a:ln w="76200" cap="sq">
              <a:solidFill>
                <a:schemeClr val="hlink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9239" name="Line 21"/>
            <p:cNvSpPr>
              <a:spLocks noChangeShapeType="1"/>
            </p:cNvSpPr>
            <p:nvPr/>
          </p:nvSpPr>
          <p:spPr bwMode="auto">
            <a:xfrm>
              <a:off x="930" y="775"/>
              <a:ext cx="2903" cy="0"/>
            </a:xfrm>
            <a:prstGeom prst="line">
              <a:avLst/>
            </a:prstGeom>
            <a:noFill/>
            <a:ln w="76200" cap="sq">
              <a:solidFill>
                <a:schemeClr val="hlink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9240" name="Line 22"/>
            <p:cNvSpPr>
              <a:spLocks noChangeShapeType="1"/>
            </p:cNvSpPr>
            <p:nvPr/>
          </p:nvSpPr>
          <p:spPr bwMode="auto">
            <a:xfrm>
              <a:off x="3833" y="775"/>
              <a:ext cx="0" cy="274"/>
            </a:xfrm>
            <a:prstGeom prst="line">
              <a:avLst/>
            </a:prstGeom>
            <a:noFill/>
            <a:ln w="76200" cap="sq">
              <a:solidFill>
                <a:schemeClr val="hlink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</p:grpSp>
      <p:sp>
        <p:nvSpPr>
          <p:cNvPr id="9237" name="Text Box 23"/>
          <p:cNvSpPr txBox="1">
            <a:spLocks noChangeArrowheads="1"/>
          </p:cNvSpPr>
          <p:nvPr/>
        </p:nvSpPr>
        <p:spPr bwMode="auto">
          <a:xfrm>
            <a:off x="1130968" y="2718303"/>
            <a:ext cx="7844590" cy="38841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1pPr>
            <a:lvl2pPr marL="914400" indent="-4572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2pPr>
            <a:lvl3pPr marL="1371600" indent="-4572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3pPr>
            <a:lvl4pPr marL="1828800" indent="-4572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4pPr>
            <a:lvl5pPr marL="2286000" indent="-4572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5pPr>
            <a:lvl6pPr marL="2743200" indent="-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6pPr>
            <a:lvl7pPr marL="3200400" indent="-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7pPr>
            <a:lvl8pPr marL="3657600" indent="-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8pPr>
            <a:lvl9pPr marL="4114800" indent="-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kumimoji="1" lang="zh-CN" altLang="en-US" sz="2800" dirty="0">
                <a:latin typeface="Times New Roman" panose="02020503050405090304" pitchFamily="18" charset="0"/>
                <a:ea typeface="黑体" panose="02010609060101010101" pitchFamily="49" charset="-122"/>
              </a:rPr>
              <a:t>说明：</a:t>
            </a:r>
            <a:endParaRPr kumimoji="1" lang="zh-CN" altLang="en-US" sz="2800" dirty="0">
              <a:latin typeface="Times New Roman" panose="02020503050405090304" pitchFamily="18" charset="0"/>
              <a:ea typeface="黑体" panose="02010609060101010101" pitchFamily="49" charset="-122"/>
            </a:endParaRPr>
          </a:p>
          <a:p>
            <a:pPr eaLnBrk="1" hangingPunct="1">
              <a:buClrTx/>
              <a:buSzTx/>
              <a:buFontTx/>
              <a:buNone/>
            </a:pPr>
            <a:r>
              <a:rPr kumimoji="1" lang="en-US" altLang="zh-CN" sz="2800" dirty="0">
                <a:latin typeface="Times New Roman" panose="02020503050405090304" pitchFamily="18" charset="0"/>
                <a:ea typeface="黑体" panose="02010609060101010101" pitchFamily="49" charset="-122"/>
              </a:rPr>
              <a:t>1</a:t>
            </a:r>
            <a:r>
              <a:rPr kumimoji="1" lang="zh-CN" altLang="en-US" sz="2800" dirty="0">
                <a:latin typeface="Times New Roman" panose="02020503050405090304" pitchFamily="18" charset="0"/>
                <a:ea typeface="黑体" panose="02010609060101010101" pitchFamily="49" charset="-122"/>
              </a:rPr>
              <a:t>、数据藏在一个内存地址单元中，地址是</a:t>
            </a:r>
            <a:r>
              <a:rPr kumimoji="1" lang="en-US" altLang="zh-CN" sz="2800" dirty="0">
                <a:latin typeface="Times New Roman" panose="02020503050405090304" pitchFamily="18" charset="0"/>
                <a:ea typeface="黑体" panose="02010609060101010101" pitchFamily="49" charset="-122"/>
              </a:rPr>
              <a:t>1000</a:t>
            </a:r>
            <a:r>
              <a:rPr kumimoji="1" lang="zh-CN" altLang="en-US" sz="2800" dirty="0">
                <a:latin typeface="Times New Roman" panose="02020503050405090304" pitchFamily="18" charset="0"/>
                <a:ea typeface="黑体" panose="02010609060101010101" pitchFamily="49" charset="-122"/>
              </a:rPr>
              <a:t>。</a:t>
            </a:r>
            <a:endParaRPr kumimoji="1" lang="zh-CN" altLang="en-US" sz="2800" dirty="0">
              <a:latin typeface="Times New Roman" panose="02020503050405090304" pitchFamily="18" charset="0"/>
              <a:ea typeface="黑体" panose="02010609060101010101" pitchFamily="49" charset="-122"/>
            </a:endParaRPr>
          </a:p>
          <a:p>
            <a:pPr eaLnBrk="1" hangingPunct="1">
              <a:buClrTx/>
              <a:buSzTx/>
              <a:buFontTx/>
              <a:buNone/>
            </a:pPr>
            <a:r>
              <a:rPr kumimoji="1" lang="en-US" altLang="zh-CN" sz="2800" dirty="0">
                <a:latin typeface="Times New Roman" panose="02020503050405090304" pitchFamily="18" charset="0"/>
                <a:ea typeface="黑体" panose="02010609060101010101" pitchFamily="49" charset="-122"/>
              </a:rPr>
              <a:t>2</a:t>
            </a:r>
            <a:r>
              <a:rPr kumimoji="1" lang="zh-CN" altLang="en-US" sz="2800" dirty="0">
                <a:latin typeface="Times New Roman" panose="02020503050405090304" pitchFamily="18" charset="0"/>
                <a:ea typeface="黑体" panose="02010609060101010101" pitchFamily="49" charset="-122"/>
              </a:rPr>
              <a:t>、地址</a:t>
            </a:r>
            <a:r>
              <a:rPr kumimoji="1" lang="en-US" altLang="zh-CN" sz="2800" dirty="0">
                <a:latin typeface="Times New Roman" panose="02020503050405090304" pitchFamily="18" charset="0"/>
                <a:ea typeface="黑体" panose="02010609060101010101" pitchFamily="49" charset="-122"/>
              </a:rPr>
              <a:t>1000</a:t>
            </a:r>
            <a:r>
              <a:rPr kumimoji="1" lang="zh-CN" altLang="en-US" sz="2800" dirty="0">
                <a:latin typeface="Times New Roman" panose="02020503050405090304" pitchFamily="18" charset="0"/>
                <a:ea typeface="黑体" panose="02010609060101010101" pitchFamily="49" charset="-122"/>
              </a:rPr>
              <a:t>又由</a:t>
            </a:r>
            <a:r>
              <a:rPr kumimoji="1" lang="en-US" altLang="zh-CN" sz="2800" dirty="0">
                <a:latin typeface="Times New Roman" panose="02020503050405090304" pitchFamily="18" charset="0"/>
                <a:ea typeface="黑体" panose="02010609060101010101" pitchFamily="49" charset="-122"/>
              </a:rPr>
              <a:t>P</a:t>
            </a:r>
            <a:r>
              <a:rPr kumimoji="1" lang="zh-CN" altLang="en-US" sz="2800" dirty="0">
                <a:latin typeface="Times New Roman" panose="02020503050405090304" pitchFamily="18" charset="0"/>
                <a:ea typeface="黑体" panose="02010609060101010101" pitchFamily="49" charset="-122"/>
              </a:rPr>
              <a:t>单元所指认，</a:t>
            </a:r>
            <a:r>
              <a:rPr kumimoji="1" lang="en-US" altLang="zh-CN" sz="2800" dirty="0">
                <a:latin typeface="Times New Roman" panose="02020503050405090304" pitchFamily="18" charset="0"/>
                <a:ea typeface="黑体" panose="02010609060101010101" pitchFamily="49" charset="-122"/>
              </a:rPr>
              <a:t>P</a:t>
            </a:r>
            <a:r>
              <a:rPr kumimoji="1" lang="zh-CN" altLang="en-US" sz="2800" dirty="0">
                <a:latin typeface="Times New Roman" panose="02020503050405090304" pitchFamily="18" charset="0"/>
                <a:ea typeface="黑体" panose="02010609060101010101" pitchFamily="49" charset="-122"/>
              </a:rPr>
              <a:t>单元的地址为</a:t>
            </a:r>
            <a:r>
              <a:rPr kumimoji="1" lang="en-US" altLang="zh-CN" sz="2800" dirty="0">
                <a:latin typeface="Times New Roman" panose="02020503050405090304" pitchFamily="18" charset="0"/>
                <a:ea typeface="黑体" panose="02010609060101010101" pitchFamily="49" charset="-122"/>
              </a:rPr>
              <a:t>211</a:t>
            </a:r>
            <a:r>
              <a:rPr kumimoji="1" lang="zh-CN" altLang="en-US" sz="2800" dirty="0">
                <a:latin typeface="Times New Roman" panose="02020503050405090304" pitchFamily="18" charset="0"/>
                <a:ea typeface="黑体" panose="02010609060101010101" pitchFamily="49" charset="-122"/>
              </a:rPr>
              <a:t>。</a:t>
            </a:r>
            <a:endParaRPr kumimoji="1" lang="zh-CN" altLang="en-US" sz="2800" dirty="0">
              <a:latin typeface="Times New Roman" panose="02020503050405090304" pitchFamily="18" charset="0"/>
              <a:ea typeface="黑体" panose="02010609060101010101" pitchFamily="49" charset="-122"/>
            </a:endParaRPr>
          </a:p>
          <a:p>
            <a:pPr eaLnBrk="1" hangingPunct="1">
              <a:buClrTx/>
              <a:buSzTx/>
              <a:buFontTx/>
              <a:buNone/>
            </a:pPr>
            <a:r>
              <a:rPr kumimoji="1" lang="en-US" altLang="zh-CN" sz="2800" dirty="0">
                <a:latin typeface="Times New Roman" panose="02020503050405090304" pitchFamily="18" charset="0"/>
                <a:ea typeface="黑体" panose="02010609060101010101" pitchFamily="49" charset="-122"/>
              </a:rPr>
              <a:t>3</a:t>
            </a:r>
            <a:r>
              <a:rPr kumimoji="1" lang="zh-CN" altLang="en-US" sz="2800" dirty="0">
                <a:latin typeface="Times New Roman" panose="02020503050405090304" pitchFamily="18" charset="0"/>
                <a:ea typeface="黑体" panose="02010609060101010101" pitchFamily="49" charset="-122"/>
              </a:rPr>
              <a:t>、</a:t>
            </a:r>
            <a:r>
              <a:rPr kumimoji="1" lang="en-US" altLang="zh-CN" sz="2800" dirty="0">
                <a:latin typeface="Times New Roman" panose="02020503050405090304" pitchFamily="18" charset="0"/>
                <a:ea typeface="黑体" panose="02010609060101010101" pitchFamily="49" charset="-122"/>
              </a:rPr>
              <a:t>66</a:t>
            </a:r>
            <a:r>
              <a:rPr kumimoji="1" lang="zh-CN" altLang="en-US" sz="2800" dirty="0">
                <a:latin typeface="Times New Roman" panose="02020503050405090304" pitchFamily="18" charset="0"/>
                <a:ea typeface="黑体" panose="02010609060101010101" pitchFamily="49" charset="-122"/>
              </a:rPr>
              <a:t>的直接地址是</a:t>
            </a:r>
            <a:r>
              <a:rPr kumimoji="1" lang="en-US" altLang="zh-CN" sz="2800" dirty="0">
                <a:latin typeface="Times New Roman" panose="02020503050405090304" pitchFamily="18" charset="0"/>
                <a:ea typeface="黑体" panose="02010609060101010101" pitchFamily="49" charset="-122"/>
              </a:rPr>
              <a:t>1000</a:t>
            </a:r>
            <a:r>
              <a:rPr kumimoji="1" lang="zh-CN" altLang="en-US" sz="2800" dirty="0">
                <a:latin typeface="Times New Roman" panose="02020503050405090304" pitchFamily="18" charset="0"/>
                <a:ea typeface="黑体" panose="02010609060101010101" pitchFamily="49" charset="-122"/>
              </a:rPr>
              <a:t>；</a:t>
            </a:r>
            <a:r>
              <a:rPr kumimoji="1" lang="en-US" altLang="zh-CN" sz="2800" dirty="0">
                <a:latin typeface="Times New Roman" panose="02020503050405090304" pitchFamily="18" charset="0"/>
                <a:ea typeface="黑体" panose="02010609060101010101" pitchFamily="49" charset="-122"/>
              </a:rPr>
              <a:t>66</a:t>
            </a:r>
            <a:r>
              <a:rPr kumimoji="1" lang="zh-CN" altLang="en-US" sz="2800" dirty="0">
                <a:latin typeface="Times New Roman" panose="02020503050405090304" pitchFamily="18" charset="0"/>
                <a:ea typeface="黑体" panose="02010609060101010101" pitchFamily="49" charset="-122"/>
              </a:rPr>
              <a:t>的间接地址是</a:t>
            </a:r>
            <a:r>
              <a:rPr kumimoji="1" lang="en-US" altLang="zh-CN" sz="2800" dirty="0">
                <a:latin typeface="Times New Roman" panose="02020503050405090304" pitchFamily="18" charset="0"/>
                <a:ea typeface="黑体" panose="02010609060101010101" pitchFamily="49" charset="-122"/>
              </a:rPr>
              <a:t>211</a:t>
            </a:r>
            <a:r>
              <a:rPr kumimoji="1" lang="zh-CN" altLang="en-US" sz="2800" dirty="0">
                <a:latin typeface="Times New Roman" panose="02020503050405090304" pitchFamily="18" charset="0"/>
                <a:ea typeface="黑体" panose="02010609060101010101" pitchFamily="49" charset="-122"/>
              </a:rPr>
              <a:t>；</a:t>
            </a:r>
            <a:r>
              <a:rPr kumimoji="1" lang="en-US" altLang="zh-CN" sz="2800" dirty="0">
                <a:latin typeface="Times New Roman" panose="02020503050405090304" pitchFamily="18" charset="0"/>
                <a:ea typeface="黑体" panose="02010609060101010101" pitchFamily="49" charset="-122"/>
              </a:rPr>
              <a:t>211</a:t>
            </a:r>
            <a:r>
              <a:rPr kumimoji="1" lang="zh-CN" altLang="en-US" sz="2800" dirty="0">
                <a:latin typeface="Times New Roman" panose="02020503050405090304" pitchFamily="18" charset="0"/>
                <a:ea typeface="黑体" panose="02010609060101010101" pitchFamily="49" charset="-122"/>
              </a:rPr>
              <a:t>中存的是直接地址</a:t>
            </a:r>
            <a:r>
              <a:rPr kumimoji="1" lang="en-US" altLang="zh-CN" sz="2800" dirty="0">
                <a:latin typeface="Times New Roman" panose="02020503050405090304" pitchFamily="18" charset="0"/>
                <a:ea typeface="黑体" panose="02010609060101010101" pitchFamily="49" charset="-122"/>
              </a:rPr>
              <a:t>1000</a:t>
            </a:r>
            <a:r>
              <a:rPr kumimoji="1" lang="zh-CN" altLang="en-US" sz="2800" dirty="0">
                <a:latin typeface="Times New Roman" panose="02020503050405090304" pitchFamily="18" charset="0"/>
                <a:ea typeface="黑体" panose="02010609060101010101" pitchFamily="49" charset="-122"/>
              </a:rPr>
              <a:t>。</a:t>
            </a:r>
            <a:endParaRPr kumimoji="1" lang="zh-CN" altLang="en-US" sz="2800" dirty="0">
              <a:latin typeface="Times New Roman" panose="02020503050405090304" pitchFamily="18" charset="0"/>
              <a:ea typeface="黑体" panose="02010609060101010101" pitchFamily="49" charset="-122"/>
            </a:endParaRPr>
          </a:p>
          <a:p>
            <a:pPr eaLnBrk="1" hangingPunct="1">
              <a:buClrTx/>
              <a:buSzTx/>
              <a:buFontTx/>
              <a:buNone/>
            </a:pPr>
            <a:r>
              <a:rPr kumimoji="1" lang="en-US" altLang="zh-CN" sz="2800" dirty="0">
                <a:latin typeface="Times New Roman" panose="02020503050405090304" pitchFamily="18" charset="0"/>
                <a:ea typeface="黑体" panose="02010609060101010101" pitchFamily="49" charset="-122"/>
              </a:rPr>
              <a:t>4</a:t>
            </a:r>
            <a:r>
              <a:rPr kumimoji="1" lang="zh-CN" altLang="en-US" sz="2800" dirty="0">
                <a:latin typeface="Times New Roman" panose="02020503050405090304" pitchFamily="18" charset="0"/>
                <a:ea typeface="黑体" panose="02010609060101010101" pitchFamily="49" charset="-122"/>
              </a:rPr>
              <a:t>、称</a:t>
            </a:r>
            <a:r>
              <a:rPr kumimoji="1" lang="en-US" altLang="zh-CN" sz="2800" dirty="0">
                <a:latin typeface="Times New Roman" panose="02020503050405090304" pitchFamily="18" charset="0"/>
                <a:ea typeface="黑体" panose="02010609060101010101" pitchFamily="49" charset="-122"/>
              </a:rPr>
              <a:t>P</a:t>
            </a:r>
            <a:r>
              <a:rPr kumimoji="1" lang="zh-CN" altLang="en-US" sz="2800" dirty="0">
                <a:latin typeface="Times New Roman" panose="02020503050405090304" pitchFamily="18" charset="0"/>
                <a:ea typeface="黑体" panose="02010609060101010101" pitchFamily="49" charset="-122"/>
              </a:rPr>
              <a:t>为指针变量，</a:t>
            </a:r>
            <a:r>
              <a:rPr kumimoji="1" lang="en-US" altLang="zh-CN" sz="2800" dirty="0">
                <a:latin typeface="Times New Roman" panose="02020503050405090304" pitchFamily="18" charset="0"/>
                <a:ea typeface="黑体" panose="02010609060101010101" pitchFamily="49" charset="-122"/>
              </a:rPr>
              <a:t>1000</a:t>
            </a:r>
            <a:r>
              <a:rPr kumimoji="1" lang="zh-CN" altLang="en-US" sz="2800" dirty="0">
                <a:latin typeface="Times New Roman" panose="02020503050405090304" pitchFamily="18" charset="0"/>
                <a:ea typeface="黑体" panose="02010609060101010101" pitchFamily="49" charset="-122"/>
              </a:rPr>
              <a:t>是指针变量的值，实际上的有用数据存储在地址为</a:t>
            </a:r>
            <a:r>
              <a:rPr kumimoji="1" lang="en-US" altLang="zh-CN" sz="2800" dirty="0">
                <a:latin typeface="Times New Roman" panose="02020503050405090304" pitchFamily="18" charset="0"/>
                <a:ea typeface="黑体" panose="02010609060101010101" pitchFamily="49" charset="-122"/>
              </a:rPr>
              <a:t>1000</a:t>
            </a:r>
            <a:r>
              <a:rPr kumimoji="1" lang="zh-CN" altLang="en-US" sz="2800" dirty="0">
                <a:latin typeface="Times New Roman" panose="02020503050405090304" pitchFamily="18" charset="0"/>
                <a:ea typeface="黑体" panose="02010609060101010101" pitchFamily="49" charset="-122"/>
              </a:rPr>
              <a:t>的存储器中。</a:t>
            </a:r>
            <a:endParaRPr kumimoji="1" lang="zh-CN" altLang="en-US" sz="2800" dirty="0">
              <a:latin typeface="Times New Roman" panose="02020503050405090304" pitchFamily="18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066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指针变量的概念</a:t>
            </a:r>
            <a:endParaRPr lang="zh-CN" altLang="en-US" dirty="0"/>
          </a:p>
        </p:txBody>
      </p:sp>
      <p:sp>
        <p:nvSpPr>
          <p:cNvPr id="47206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533400" indent="-533400" eaLnBrk="1" hangingPunct="1"/>
            <a:r>
              <a:rPr kumimoji="1" lang="zh-CN" altLang="en-US" sz="2800" dirty="0">
                <a:solidFill>
                  <a:schemeClr val="hlink"/>
                </a:solidFill>
                <a:effectLst/>
              </a:rPr>
              <a:t>指针变量</a:t>
            </a:r>
            <a:r>
              <a:rPr kumimoji="1" lang="en-US" altLang="zh-CN" sz="2800" dirty="0">
                <a:effectLst/>
                <a:latin typeface="Arial" panose="020B0604020202090204" pitchFamily="34" charset="0"/>
              </a:rPr>
              <a:t>——</a:t>
            </a:r>
            <a:r>
              <a:rPr kumimoji="1" lang="zh-CN" altLang="en-US" sz="2800" dirty="0">
                <a:effectLst/>
              </a:rPr>
              <a:t>用来存放另一变量地址的变量</a:t>
            </a:r>
            <a:endParaRPr kumimoji="1" lang="zh-CN" altLang="en-US" sz="2800" dirty="0">
              <a:effectLst/>
            </a:endParaRPr>
          </a:p>
          <a:p>
            <a:pPr marL="533400" indent="-533400" eaLnBrk="1" hangingPunct="1"/>
            <a:endParaRPr kumimoji="1" lang="zh-CN" altLang="en-US" sz="2800" u="sng" dirty="0">
              <a:effectLst/>
            </a:endParaRPr>
          </a:p>
          <a:p>
            <a:pPr marL="533400" indent="-533400" eaLnBrk="1" hangingPunct="1"/>
            <a:endParaRPr kumimoji="1" lang="zh-CN" altLang="en-US" sz="2800" u="sng" dirty="0">
              <a:effectLst/>
            </a:endParaRPr>
          </a:p>
          <a:p>
            <a:pPr marL="533400" indent="-533400" eaLnBrk="1" hangingPunct="1"/>
            <a:r>
              <a:rPr kumimoji="1" lang="zh-CN" altLang="en-US" sz="2800" dirty="0">
                <a:solidFill>
                  <a:schemeClr val="hlink"/>
                </a:solidFill>
                <a:effectLst/>
              </a:rPr>
              <a:t>指针变量</a:t>
            </a:r>
            <a:r>
              <a:rPr kumimoji="1" lang="zh-CN" altLang="en-US" sz="2800" dirty="0">
                <a:effectLst/>
              </a:rPr>
              <a:t>是一种特殊的变量，特殊性表现在类型和值上。</a:t>
            </a:r>
            <a:endParaRPr kumimoji="1" lang="zh-CN" altLang="en-US" sz="2800" dirty="0">
              <a:effectLst/>
            </a:endParaRPr>
          </a:p>
          <a:p>
            <a:pPr marL="533400" indent="-533400" eaLnBrk="1" hangingPunct="1"/>
            <a:r>
              <a:rPr kumimoji="1" lang="zh-CN" altLang="en-US" sz="2800" dirty="0">
                <a:effectLst/>
              </a:rPr>
              <a:t>从变量讲，指针也具有变量的三个要素：</a:t>
            </a:r>
            <a:endParaRPr kumimoji="1" lang="zh-CN" altLang="en-US" sz="2800" dirty="0">
              <a:effectLst/>
            </a:endParaRPr>
          </a:p>
          <a:p>
            <a:pPr marL="914400" lvl="1" indent="-457200" eaLnBrk="1" hangingPunct="1">
              <a:buFont typeface="Wingdings" panose="05000000000000000000" pitchFamily="2" charset="2"/>
              <a:buAutoNum type="arabicPeriod"/>
            </a:pPr>
            <a:r>
              <a:rPr kumimoji="1" lang="zh-CN" altLang="en-US" sz="2400" dirty="0">
                <a:effectLst/>
              </a:rPr>
              <a:t>变量名，这与一般变量取名相同，由英文字符开始。</a:t>
            </a:r>
            <a:endParaRPr kumimoji="1" lang="zh-CN" altLang="en-US" sz="2400" dirty="0">
              <a:effectLst/>
            </a:endParaRPr>
          </a:p>
          <a:p>
            <a:pPr marL="914400" lvl="1" indent="-457200" eaLnBrk="1" hangingPunct="1">
              <a:buFont typeface="Wingdings" panose="05000000000000000000" pitchFamily="2" charset="2"/>
              <a:buAutoNum type="arabicPeriod"/>
            </a:pPr>
            <a:r>
              <a:rPr kumimoji="1" lang="zh-CN" altLang="en-US" sz="2400" dirty="0">
                <a:effectLst/>
              </a:rPr>
              <a:t>指针变量的类型，是指针所指向的变量的类型，而不是身的类型。</a:t>
            </a:r>
            <a:endParaRPr kumimoji="1" lang="zh-CN" altLang="en-US" sz="2400" dirty="0">
              <a:effectLst/>
            </a:endParaRPr>
          </a:p>
          <a:p>
            <a:pPr marL="914400" lvl="1" indent="-457200" eaLnBrk="1" hangingPunct="1">
              <a:buFont typeface="Wingdings" panose="05000000000000000000" pitchFamily="2" charset="2"/>
              <a:buAutoNum type="arabicPeriod"/>
            </a:pPr>
            <a:r>
              <a:rPr kumimoji="1" lang="zh-CN" altLang="en-US" sz="2400" dirty="0">
                <a:effectLst/>
              </a:rPr>
              <a:t>指针的值是某个变量的内存地址。</a:t>
            </a:r>
            <a:endParaRPr kumimoji="1" lang="zh-CN" altLang="en-US" sz="2400" dirty="0">
              <a:effectLst/>
            </a:endParaRPr>
          </a:p>
        </p:txBody>
      </p:sp>
      <p:sp>
        <p:nvSpPr>
          <p:cNvPr id="472068" name="Rectangle 4"/>
          <p:cNvSpPr>
            <a:spLocks noChangeArrowheads="1"/>
          </p:cNvSpPr>
          <p:nvPr/>
        </p:nvSpPr>
        <p:spPr bwMode="auto">
          <a:xfrm>
            <a:off x="2340770" y="2012450"/>
            <a:ext cx="5688012" cy="617538"/>
          </a:xfrm>
          <a:prstGeom prst="rect">
            <a:avLst/>
          </a:prstGeom>
          <a:noFill/>
          <a:ln w="38100" algn="ctr">
            <a:solidFill>
              <a:schemeClr val="hlink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1pPr>
            <a:lvl2pPr marL="742950" indent="-28575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2pPr>
            <a:lvl3pPr marL="1143000" indent="-22860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3pPr>
            <a:lvl4pPr marL="1600200" indent="-22860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4pPr>
            <a:lvl5pPr marL="2057400" indent="-22860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9pPr>
          </a:lstStyle>
          <a:p>
            <a:pPr algn="l" eaLnBrk="1" hangingPunct="1"/>
            <a:r>
              <a:rPr kumimoji="1" lang="zh-CN" altLang="en-US" sz="3200"/>
              <a:t>变量的指针就是变量的地址。</a:t>
            </a:r>
            <a:endParaRPr kumimoji="1" lang="zh-CN" altLang="en-US" sz="32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72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720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720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4720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4720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4720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206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存储单元的</a:t>
            </a:r>
            <a:r>
              <a:rPr lang="zh-CN" altLang="en-US" dirty="0">
                <a:solidFill>
                  <a:srgbClr val="FF0000"/>
                </a:solidFill>
              </a:rPr>
              <a:t>地址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rgbClr val="FF0000"/>
                </a:solidFill>
              </a:rPr>
              <a:t>内容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1007" y="1630511"/>
            <a:ext cx="4331368" cy="49528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1285124" y="1846263"/>
            <a:ext cx="3571875" cy="7858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indent="-342900">
              <a:lnSpc>
                <a:spcPct val="120000"/>
              </a:lnSpc>
              <a:spcBef>
                <a:spcPts val="0"/>
              </a:spcBef>
              <a:defRPr/>
            </a:pPr>
            <a:r>
              <a:rPr lang="en-US" altLang="zh-CN" sz="2800" b="1" kern="0" dirty="0" err="1">
                <a:solidFill>
                  <a:srgbClr val="00B050"/>
                </a:solidFill>
                <a:latin typeface="+mn-lt"/>
                <a:ea typeface="+mn-ea"/>
              </a:rPr>
              <a:t>int</a:t>
            </a:r>
            <a:r>
              <a:rPr lang="en-US" altLang="zh-CN" sz="2800" b="1" kern="0" dirty="0">
                <a:solidFill>
                  <a:srgbClr val="00B050"/>
                </a:solidFill>
                <a:latin typeface="+mn-lt"/>
                <a:ea typeface="+mn-ea"/>
              </a:rPr>
              <a:t> </a:t>
            </a:r>
            <a:r>
              <a:rPr lang="en-US" altLang="zh-CN" sz="2800" b="1" kern="0" dirty="0" err="1">
                <a:solidFill>
                  <a:srgbClr val="00B050"/>
                </a:solidFill>
                <a:latin typeface="+mn-lt"/>
                <a:ea typeface="+mn-ea"/>
              </a:rPr>
              <a:t>i</a:t>
            </a:r>
            <a:r>
              <a:rPr lang="en-US" altLang="zh-CN" sz="2800" b="1" kern="0" dirty="0">
                <a:solidFill>
                  <a:srgbClr val="00B050"/>
                </a:solidFill>
                <a:latin typeface="+mn-lt"/>
                <a:ea typeface="+mn-ea"/>
              </a:rPr>
              <a:t>=3,j=6,k;</a:t>
            </a:r>
            <a:endParaRPr lang="en-US" altLang="zh-CN" sz="2800" b="1" kern="0" dirty="0">
              <a:solidFill>
                <a:srgbClr val="00B050"/>
              </a:solidFill>
              <a:latin typeface="+mn-lt"/>
              <a:ea typeface="+mn-ea"/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1285124" y="2357437"/>
            <a:ext cx="3214687" cy="785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2800" b="1" dirty="0" err="1">
                <a:solidFill>
                  <a:srgbClr val="00B050"/>
                </a:solidFill>
                <a:latin typeface="Verdana" panose="020B0804030504040204" pitchFamily="34" charset="0"/>
              </a:rPr>
              <a:t>printf</a:t>
            </a:r>
            <a:r>
              <a:rPr lang="en-US" altLang="zh-CN" sz="2800" b="1" dirty="0">
                <a:solidFill>
                  <a:srgbClr val="00B050"/>
                </a:solidFill>
                <a:latin typeface="Verdana" panose="020B0804030504040204" pitchFamily="34" charset="0"/>
              </a:rPr>
              <a:t>(“%d”,</a:t>
            </a:r>
            <a:r>
              <a:rPr lang="en-US" altLang="zh-CN" sz="2800" b="1" dirty="0" err="1">
                <a:solidFill>
                  <a:srgbClr val="00B050"/>
                </a:solidFill>
                <a:latin typeface="Verdana" panose="020B0804030504040204" pitchFamily="34" charset="0"/>
              </a:rPr>
              <a:t>i</a:t>
            </a:r>
            <a:r>
              <a:rPr lang="en-US" altLang="zh-CN" sz="2800" b="1" dirty="0">
                <a:solidFill>
                  <a:srgbClr val="00B050"/>
                </a:solidFill>
                <a:latin typeface="Verdana" panose="020B0804030504040204" pitchFamily="34" charset="0"/>
              </a:rPr>
              <a:t>);</a:t>
            </a:r>
            <a:endParaRPr lang="en-US" altLang="zh-CN" sz="2800" b="1" dirty="0">
              <a:solidFill>
                <a:srgbClr val="00B050"/>
              </a:solidFill>
              <a:latin typeface="Verdana" panose="020B0804030504040204" pitchFamily="34" charset="0"/>
            </a:endParaRPr>
          </a:p>
        </p:txBody>
      </p:sp>
      <p:sp>
        <p:nvSpPr>
          <p:cNvPr id="9" name="圆角矩形标注 7"/>
          <p:cNvSpPr>
            <a:spLocks noChangeArrowheads="1"/>
          </p:cNvSpPr>
          <p:nvPr/>
        </p:nvSpPr>
        <p:spPr bwMode="auto">
          <a:xfrm>
            <a:off x="301625" y="3136357"/>
            <a:ext cx="2357438" cy="642938"/>
          </a:xfrm>
          <a:prstGeom prst="wedgeRoundRectCallout">
            <a:avLst>
              <a:gd name="adj1" fmla="val 103352"/>
              <a:gd name="adj2" fmla="val -97827"/>
              <a:gd name="adj3" fmla="val 16667"/>
            </a:avLst>
          </a:prstGeom>
          <a:solidFill>
            <a:srgbClr val="FFFFCC"/>
          </a:solidFill>
          <a:ln w="9525">
            <a:solidFill>
              <a:schemeClr val="tx1"/>
            </a:solidFill>
            <a:miter lim="800000"/>
          </a:ln>
        </p:spPr>
        <p:txBody>
          <a:bodyPr/>
          <a:lstStyle>
            <a:lvl1pPr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algn="ctr"/>
            <a:r>
              <a:rPr lang="zh-CN" altLang="en-US" sz="2800" b="1" dirty="0"/>
              <a:t>通过变量名</a:t>
            </a:r>
            <a:r>
              <a:rPr lang="en-US" altLang="zh-CN" sz="2800" b="1" dirty="0" err="1">
                <a:solidFill>
                  <a:srgbClr val="FF0000"/>
                </a:solidFill>
              </a:rPr>
              <a:t>i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10" name="圆角矩形标注 8"/>
          <p:cNvSpPr>
            <a:spLocks noChangeArrowheads="1"/>
          </p:cNvSpPr>
          <p:nvPr/>
        </p:nvSpPr>
        <p:spPr bwMode="auto">
          <a:xfrm>
            <a:off x="1091866" y="4330617"/>
            <a:ext cx="3190541" cy="1643062"/>
          </a:xfrm>
          <a:prstGeom prst="wedgeRoundRectCallout">
            <a:avLst>
              <a:gd name="adj1" fmla="val 63556"/>
              <a:gd name="adj2" fmla="val -98025"/>
              <a:gd name="adj3" fmla="val 16667"/>
            </a:avLst>
          </a:prstGeom>
          <a:solidFill>
            <a:srgbClr val="FFFFCC"/>
          </a:solidFill>
          <a:ln w="9525">
            <a:solidFill>
              <a:schemeClr val="tx1"/>
            </a:solidFill>
            <a:miter lim="800000"/>
          </a:ln>
        </p:spPr>
        <p:txBody>
          <a:bodyPr/>
          <a:lstStyle>
            <a:lvl1pPr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r>
              <a:rPr lang="zh-CN" altLang="en-US" sz="2800" b="1"/>
              <a:t>找到</a:t>
            </a:r>
            <a:r>
              <a:rPr lang="en-US" altLang="zh-CN" sz="2800" b="1">
                <a:solidFill>
                  <a:srgbClr val="FF0000"/>
                </a:solidFill>
              </a:rPr>
              <a:t>i</a:t>
            </a:r>
            <a:r>
              <a:rPr lang="zh-CN" altLang="en-US" sz="2800" b="1"/>
              <a:t>的地址</a:t>
            </a:r>
            <a:r>
              <a:rPr lang="en-US" altLang="zh-CN" sz="2800" b="1"/>
              <a:t>2000</a:t>
            </a:r>
            <a:r>
              <a:rPr lang="zh-CN" altLang="en-US" sz="2800" b="1"/>
              <a:t>，从而从存储单元读取</a:t>
            </a:r>
            <a:r>
              <a:rPr lang="en-US" altLang="zh-CN" sz="2800" b="1"/>
              <a:t>3</a:t>
            </a:r>
            <a:endParaRPr lang="zh-CN" altLang="en-US" sz="280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 animBg="1"/>
      <p:bldP spid="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450794" y="642938"/>
            <a:ext cx="3571875" cy="7858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indent="-342900">
              <a:lnSpc>
                <a:spcPct val="120000"/>
              </a:lnSpc>
              <a:spcBef>
                <a:spcPts val="0"/>
              </a:spcBef>
              <a:defRPr/>
            </a:pPr>
            <a:r>
              <a:rPr lang="en-US" altLang="zh-CN" sz="2800" b="1" kern="0" dirty="0" err="1">
                <a:solidFill>
                  <a:srgbClr val="00B050"/>
                </a:solidFill>
                <a:latin typeface="+mn-lt"/>
                <a:ea typeface="+mn-ea"/>
              </a:rPr>
              <a:t>int</a:t>
            </a:r>
            <a:r>
              <a:rPr lang="en-US" altLang="zh-CN" sz="2800" b="1" kern="0" dirty="0">
                <a:solidFill>
                  <a:srgbClr val="00B050"/>
                </a:solidFill>
                <a:latin typeface="+mn-lt"/>
                <a:ea typeface="+mn-ea"/>
              </a:rPr>
              <a:t> </a:t>
            </a:r>
            <a:r>
              <a:rPr lang="en-US" altLang="zh-CN" sz="2800" b="1" kern="0" dirty="0" err="1">
                <a:solidFill>
                  <a:srgbClr val="00B050"/>
                </a:solidFill>
                <a:latin typeface="+mn-lt"/>
                <a:ea typeface="+mn-ea"/>
              </a:rPr>
              <a:t>i</a:t>
            </a:r>
            <a:r>
              <a:rPr lang="en-US" altLang="zh-CN" sz="2800" b="1" kern="0" dirty="0">
                <a:solidFill>
                  <a:srgbClr val="00B050"/>
                </a:solidFill>
                <a:latin typeface="+mn-lt"/>
                <a:ea typeface="+mn-ea"/>
              </a:rPr>
              <a:t>=3,j=6,k;</a:t>
            </a:r>
            <a:endParaRPr lang="en-US" altLang="zh-CN" sz="2800" b="1" kern="0" dirty="0">
              <a:solidFill>
                <a:srgbClr val="00B050"/>
              </a:solidFill>
              <a:latin typeface="+mn-lt"/>
              <a:ea typeface="+mn-ea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450794" y="1357313"/>
            <a:ext cx="1857375" cy="7858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indent="-342900">
              <a:lnSpc>
                <a:spcPct val="120000"/>
              </a:lnSpc>
              <a:spcBef>
                <a:spcPts val="0"/>
              </a:spcBef>
              <a:defRPr/>
            </a:pPr>
            <a:r>
              <a:rPr lang="en-US" altLang="zh-CN" sz="2800" b="1" kern="0" dirty="0">
                <a:solidFill>
                  <a:srgbClr val="00B050"/>
                </a:solidFill>
                <a:latin typeface="+mn-lt"/>
                <a:ea typeface="+mn-ea"/>
              </a:rPr>
              <a:t>k=</a:t>
            </a:r>
            <a:r>
              <a:rPr lang="en-US" altLang="zh-CN" sz="2800" b="1" kern="0" dirty="0" err="1">
                <a:solidFill>
                  <a:srgbClr val="00B050"/>
                </a:solidFill>
                <a:latin typeface="+mn-lt"/>
                <a:ea typeface="+mn-ea"/>
              </a:rPr>
              <a:t>i+j</a:t>
            </a:r>
            <a:r>
              <a:rPr lang="en-US" altLang="zh-CN" sz="2800" b="1" kern="0" dirty="0">
                <a:solidFill>
                  <a:srgbClr val="00B050"/>
                </a:solidFill>
                <a:latin typeface="+mn-lt"/>
                <a:ea typeface="+mn-ea"/>
              </a:rPr>
              <a:t>;</a:t>
            </a:r>
            <a:endParaRPr lang="en-US" altLang="zh-CN" sz="2800" b="1" kern="0" dirty="0">
              <a:solidFill>
                <a:srgbClr val="00B050"/>
              </a:solidFill>
              <a:latin typeface="+mn-lt"/>
              <a:ea typeface="+mn-ea"/>
            </a:endParaRPr>
          </a:p>
        </p:txBody>
      </p:sp>
      <p:sp>
        <p:nvSpPr>
          <p:cNvPr id="8" name="圆角矩形标注 7"/>
          <p:cNvSpPr>
            <a:spLocks noChangeArrowheads="1"/>
          </p:cNvSpPr>
          <p:nvPr/>
        </p:nvSpPr>
        <p:spPr bwMode="auto">
          <a:xfrm>
            <a:off x="920694" y="2143125"/>
            <a:ext cx="1958975" cy="642938"/>
          </a:xfrm>
          <a:prstGeom prst="wedgeRoundRectCallout">
            <a:avLst>
              <a:gd name="adj1" fmla="val 71315"/>
              <a:gd name="adj2" fmla="val 16421"/>
              <a:gd name="adj3" fmla="val 16667"/>
            </a:avLst>
          </a:prstGeom>
          <a:solidFill>
            <a:srgbClr val="FFFFCC"/>
          </a:solidFill>
          <a:ln w="9525">
            <a:solidFill>
              <a:schemeClr val="tx1"/>
            </a:solidFill>
            <a:miter lim="800000"/>
          </a:ln>
        </p:spPr>
        <p:txBody>
          <a:bodyPr/>
          <a:lstStyle>
            <a:lvl1pPr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algn="ctr"/>
            <a:r>
              <a:rPr lang="zh-CN" altLang="en-US" sz="2800" b="1"/>
              <a:t>从这里取</a:t>
            </a:r>
            <a:r>
              <a:rPr lang="en-US" altLang="zh-CN" sz="2800" b="1"/>
              <a:t>3</a:t>
            </a:r>
            <a:endParaRPr lang="zh-CN" altLang="en-US" sz="2800" b="1">
              <a:solidFill>
                <a:srgbClr val="FF0000"/>
              </a:solidFill>
            </a:endParaRPr>
          </a:p>
        </p:txBody>
      </p:sp>
      <p:sp>
        <p:nvSpPr>
          <p:cNvPr id="9" name="圆角矩形标注 8"/>
          <p:cNvSpPr>
            <a:spLocks noChangeArrowheads="1"/>
          </p:cNvSpPr>
          <p:nvPr/>
        </p:nvSpPr>
        <p:spPr bwMode="auto">
          <a:xfrm>
            <a:off x="665106" y="4214813"/>
            <a:ext cx="2357438" cy="571500"/>
          </a:xfrm>
          <a:prstGeom prst="wedgeRoundRectCallout">
            <a:avLst>
              <a:gd name="adj1" fmla="val 68060"/>
              <a:gd name="adj2" fmla="val -163056"/>
              <a:gd name="adj3" fmla="val 16667"/>
            </a:avLst>
          </a:prstGeom>
          <a:solidFill>
            <a:srgbClr val="FFFFCC"/>
          </a:solidFill>
          <a:ln w="9525">
            <a:solidFill>
              <a:schemeClr val="tx1"/>
            </a:solidFill>
            <a:miter lim="800000"/>
          </a:ln>
        </p:spPr>
        <p:txBody>
          <a:bodyPr/>
          <a:lstStyle>
            <a:lvl1pPr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r>
              <a:rPr lang="zh-CN" altLang="en-US" sz="2800" b="1"/>
              <a:t>将</a:t>
            </a:r>
            <a:r>
              <a:rPr lang="en-US" altLang="zh-CN" sz="2800" b="1"/>
              <a:t>9</a:t>
            </a:r>
            <a:r>
              <a:rPr lang="zh-CN" altLang="en-US" sz="2800" b="1"/>
              <a:t>送到这里</a:t>
            </a:r>
            <a:endParaRPr lang="zh-CN" altLang="en-US" sz="2800" b="1"/>
          </a:p>
        </p:txBody>
      </p:sp>
      <p:sp>
        <p:nvSpPr>
          <p:cNvPr id="10" name="圆角矩形标注 9"/>
          <p:cNvSpPr>
            <a:spLocks noChangeArrowheads="1"/>
          </p:cNvSpPr>
          <p:nvPr/>
        </p:nvSpPr>
        <p:spPr bwMode="auto">
          <a:xfrm>
            <a:off x="950856" y="2928938"/>
            <a:ext cx="2000250" cy="642937"/>
          </a:xfrm>
          <a:prstGeom prst="wedgeRoundRectCallout">
            <a:avLst>
              <a:gd name="adj1" fmla="val 71088"/>
              <a:gd name="adj2" fmla="val -36282"/>
              <a:gd name="adj3" fmla="val 16667"/>
            </a:avLst>
          </a:prstGeom>
          <a:solidFill>
            <a:srgbClr val="FFFFCC"/>
          </a:solidFill>
          <a:ln w="9525">
            <a:solidFill>
              <a:schemeClr val="tx1"/>
            </a:solidFill>
            <a:miter lim="800000"/>
          </a:ln>
        </p:spPr>
        <p:txBody>
          <a:bodyPr/>
          <a:lstStyle>
            <a:lvl1pPr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algn="ctr"/>
            <a:r>
              <a:rPr lang="zh-CN" altLang="en-US" sz="2800" b="1"/>
              <a:t>从这里取</a:t>
            </a:r>
            <a:r>
              <a:rPr lang="en-US" altLang="zh-CN" sz="2800" b="1"/>
              <a:t>6</a:t>
            </a:r>
            <a:endParaRPr lang="zh-CN" altLang="en-US" sz="2800" b="1">
              <a:solidFill>
                <a:srgbClr val="FF0000"/>
              </a:solidFill>
            </a:endParaRPr>
          </a:p>
        </p:txBody>
      </p:sp>
      <p:sp>
        <p:nvSpPr>
          <p:cNvPr id="11" name="横卷形 10"/>
          <p:cNvSpPr>
            <a:spLocks noChangeArrowheads="1"/>
          </p:cNvSpPr>
          <p:nvPr/>
        </p:nvSpPr>
        <p:spPr bwMode="auto">
          <a:xfrm>
            <a:off x="665106" y="5357813"/>
            <a:ext cx="2357438" cy="785812"/>
          </a:xfrm>
          <a:prstGeom prst="horizontalScroll">
            <a:avLst>
              <a:gd name="adj" fmla="val 12500"/>
            </a:avLst>
          </a:prstGeom>
          <a:solidFill>
            <a:srgbClr val="E1FFE1"/>
          </a:solidFill>
          <a:ln w="9525">
            <a:solidFill>
              <a:schemeClr val="tx1"/>
            </a:solidFill>
            <a:miter lim="800000"/>
          </a:ln>
        </p:spPr>
        <p:txBody>
          <a:bodyPr wrap="none"/>
          <a:lstStyle>
            <a:lvl1pPr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algn="ctr"/>
            <a:r>
              <a:rPr lang="zh-CN" altLang="en-US" sz="3200" b="1">
                <a:solidFill>
                  <a:srgbClr val="FF0000"/>
                </a:solidFill>
              </a:rPr>
              <a:t>直接存取</a:t>
            </a:r>
            <a:endParaRPr lang="zh-CN" altLang="en-US" sz="3200" b="1">
              <a:solidFill>
                <a:srgbClr val="FF0000"/>
              </a:solidFill>
            </a:endParaRPr>
          </a:p>
        </p:txBody>
      </p:sp>
      <p:pic>
        <p:nvPicPr>
          <p:cNvPr id="21511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7563" y="26988"/>
            <a:ext cx="5786437" cy="661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2125" y="3286125"/>
            <a:ext cx="590550" cy="357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13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1938" y="2286000"/>
            <a:ext cx="582612" cy="298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3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3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9" grpId="0" animBg="1"/>
      <p:bldP spid="10" grpId="0" animBg="1"/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29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7563" y="26988"/>
            <a:ext cx="5786437" cy="661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214313" y="642938"/>
            <a:ext cx="3571875" cy="7858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indent="-342900">
              <a:lnSpc>
                <a:spcPct val="120000"/>
              </a:lnSpc>
              <a:spcBef>
                <a:spcPts val="0"/>
              </a:spcBef>
              <a:defRPr/>
            </a:pPr>
            <a:r>
              <a:rPr lang="en-US" altLang="zh-CN" sz="2800" b="1" kern="0" dirty="0" err="1">
                <a:solidFill>
                  <a:srgbClr val="00B050"/>
                </a:solidFill>
                <a:latin typeface="+mn-lt"/>
                <a:ea typeface="+mn-ea"/>
              </a:rPr>
              <a:t>int</a:t>
            </a:r>
            <a:r>
              <a:rPr lang="en-US" altLang="zh-CN" sz="2800" b="1" kern="0" dirty="0">
                <a:solidFill>
                  <a:srgbClr val="00B050"/>
                </a:solidFill>
                <a:latin typeface="+mn-lt"/>
                <a:ea typeface="+mn-ea"/>
              </a:rPr>
              <a:t> </a:t>
            </a:r>
            <a:r>
              <a:rPr lang="en-US" altLang="zh-CN" sz="2800" b="1" kern="0" dirty="0" err="1">
                <a:solidFill>
                  <a:srgbClr val="00B050"/>
                </a:solidFill>
                <a:latin typeface="+mn-lt"/>
                <a:ea typeface="+mn-ea"/>
              </a:rPr>
              <a:t>i</a:t>
            </a:r>
            <a:r>
              <a:rPr lang="en-US" altLang="zh-CN" sz="2800" b="1" kern="0" dirty="0">
                <a:solidFill>
                  <a:srgbClr val="00B050"/>
                </a:solidFill>
                <a:latin typeface="+mn-lt"/>
                <a:ea typeface="+mn-ea"/>
              </a:rPr>
              <a:t>=3,j=6,k;</a:t>
            </a:r>
            <a:endParaRPr lang="en-US" altLang="zh-CN" sz="2800" b="1" kern="0" dirty="0">
              <a:solidFill>
                <a:srgbClr val="00B050"/>
              </a:solidFill>
              <a:latin typeface="+mn-lt"/>
              <a:ea typeface="+mn-ea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71438" y="1285875"/>
            <a:ext cx="4357687" cy="642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800" b="1">
                <a:solidFill>
                  <a:srgbClr val="00B050"/>
                </a:solidFill>
                <a:latin typeface="Verdana" panose="020B0804030504040204" pitchFamily="34" charset="0"/>
              </a:rPr>
              <a:t>定义特殊变量</a:t>
            </a:r>
            <a:r>
              <a:rPr lang="en-US" altLang="zh-CN" sz="2800" b="1">
                <a:solidFill>
                  <a:srgbClr val="00B050"/>
                </a:solidFill>
                <a:latin typeface="Verdana" panose="020B0804030504040204" pitchFamily="34" charset="0"/>
              </a:rPr>
              <a:t>i_pointer</a:t>
            </a:r>
            <a:endParaRPr lang="en-US" altLang="zh-CN" sz="2800" b="1">
              <a:solidFill>
                <a:srgbClr val="00B050"/>
              </a:solidFill>
              <a:latin typeface="Verdana" panose="020B0804030504040204" pitchFamily="34" charset="0"/>
            </a:endParaRPr>
          </a:p>
        </p:txBody>
      </p:sp>
      <p:sp>
        <p:nvSpPr>
          <p:cNvPr id="9" name="圆角矩形标注 8"/>
          <p:cNvSpPr>
            <a:spLocks noChangeArrowheads="1"/>
          </p:cNvSpPr>
          <p:nvPr/>
        </p:nvSpPr>
        <p:spPr bwMode="auto">
          <a:xfrm>
            <a:off x="785813" y="3643313"/>
            <a:ext cx="2000250" cy="1000125"/>
          </a:xfrm>
          <a:prstGeom prst="wedgeRoundRectCallout">
            <a:avLst>
              <a:gd name="adj1" fmla="val 71250"/>
              <a:gd name="adj2" fmla="val 89000"/>
              <a:gd name="adj3" fmla="val 16667"/>
            </a:avLst>
          </a:prstGeom>
          <a:solidFill>
            <a:srgbClr val="FFFFCC"/>
          </a:solidFill>
          <a:ln w="9525">
            <a:solidFill>
              <a:schemeClr val="tx1"/>
            </a:solidFill>
            <a:miter lim="800000"/>
          </a:ln>
        </p:spPr>
        <p:txBody>
          <a:bodyPr/>
          <a:lstStyle>
            <a:lvl1pPr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r>
              <a:rPr lang="zh-CN" altLang="en-US" sz="2800" b="1"/>
              <a:t>将</a:t>
            </a:r>
            <a:r>
              <a:rPr lang="en-US" altLang="zh-CN" sz="2800" b="1"/>
              <a:t>i</a:t>
            </a:r>
            <a:r>
              <a:rPr lang="zh-CN" altLang="en-US" sz="2800" b="1"/>
              <a:t>的地址存到这里</a:t>
            </a:r>
            <a:endParaRPr lang="zh-CN" altLang="en-US" sz="2800" b="1"/>
          </a:p>
        </p:txBody>
      </p:sp>
      <p:sp>
        <p:nvSpPr>
          <p:cNvPr id="11" name="横卷形 10"/>
          <p:cNvSpPr>
            <a:spLocks noChangeArrowheads="1"/>
          </p:cNvSpPr>
          <p:nvPr/>
        </p:nvSpPr>
        <p:spPr bwMode="auto">
          <a:xfrm>
            <a:off x="428625" y="5357813"/>
            <a:ext cx="2357438" cy="785812"/>
          </a:xfrm>
          <a:prstGeom prst="horizontalScroll">
            <a:avLst>
              <a:gd name="adj" fmla="val 12500"/>
            </a:avLst>
          </a:prstGeom>
          <a:solidFill>
            <a:srgbClr val="E1FFE1"/>
          </a:solidFill>
          <a:ln w="9525">
            <a:solidFill>
              <a:schemeClr val="tx1"/>
            </a:solidFill>
            <a:miter lim="800000"/>
          </a:ln>
        </p:spPr>
        <p:txBody>
          <a:bodyPr wrap="none"/>
          <a:lstStyle>
            <a:lvl1pPr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algn="ctr"/>
            <a:r>
              <a:rPr lang="zh-CN" altLang="en-US" sz="3200" b="1">
                <a:solidFill>
                  <a:srgbClr val="FF0000"/>
                </a:solidFill>
              </a:rPr>
              <a:t>间接存取</a:t>
            </a:r>
            <a:endParaRPr lang="zh-CN" altLang="en-US" sz="3200" b="1">
              <a:solidFill>
                <a:srgbClr val="FF0000"/>
              </a:solidFill>
            </a:endParaRPr>
          </a:p>
        </p:txBody>
      </p:sp>
      <p:sp>
        <p:nvSpPr>
          <p:cNvPr id="12" name="Rectangle 3"/>
          <p:cNvSpPr txBox="1">
            <a:spLocks noChangeArrowheads="1"/>
          </p:cNvSpPr>
          <p:nvPr/>
        </p:nvSpPr>
        <p:spPr bwMode="auto">
          <a:xfrm>
            <a:off x="142875" y="2000250"/>
            <a:ext cx="3071813" cy="642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indent="-342900">
              <a:lnSpc>
                <a:spcPct val="120000"/>
              </a:lnSpc>
              <a:spcBef>
                <a:spcPts val="0"/>
              </a:spcBef>
              <a:defRPr/>
            </a:pPr>
            <a:r>
              <a:rPr lang="en-US" altLang="zh-CN" sz="2800" b="1" kern="0" dirty="0" err="1">
                <a:solidFill>
                  <a:srgbClr val="00B050"/>
                </a:solidFill>
                <a:latin typeface="+mn-lt"/>
                <a:ea typeface="+mn-ea"/>
              </a:rPr>
              <a:t>i_pointer</a:t>
            </a:r>
            <a:r>
              <a:rPr lang="en-US" altLang="zh-CN" sz="2800" b="1" kern="0" dirty="0">
                <a:solidFill>
                  <a:srgbClr val="00B050"/>
                </a:solidFill>
                <a:latin typeface="+mn-lt"/>
                <a:ea typeface="+mn-ea"/>
              </a:rPr>
              <a:t>=&amp;</a:t>
            </a:r>
            <a:r>
              <a:rPr lang="en-US" altLang="zh-CN" sz="2800" b="1" kern="0" dirty="0" err="1">
                <a:solidFill>
                  <a:srgbClr val="00B050"/>
                </a:solidFill>
                <a:latin typeface="+mn-lt"/>
                <a:ea typeface="+mn-ea"/>
              </a:rPr>
              <a:t>i</a:t>
            </a:r>
            <a:r>
              <a:rPr lang="en-US" altLang="zh-CN" sz="2800" b="1" kern="0" dirty="0">
                <a:solidFill>
                  <a:srgbClr val="00B050"/>
                </a:solidFill>
                <a:latin typeface="+mn-lt"/>
                <a:ea typeface="+mn-ea"/>
              </a:rPr>
              <a:t>;</a:t>
            </a:r>
            <a:endParaRPr lang="en-US" altLang="zh-CN" sz="2800" b="1" kern="0" dirty="0">
              <a:solidFill>
                <a:srgbClr val="00B050"/>
              </a:solidFill>
              <a:latin typeface="+mn-lt"/>
              <a:ea typeface="+mn-ea"/>
            </a:endParaRPr>
          </a:p>
        </p:txBody>
      </p:sp>
      <p:pic>
        <p:nvPicPr>
          <p:cNvPr id="1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9250" y="4921250"/>
            <a:ext cx="857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2125" y="3286125"/>
            <a:ext cx="590550" cy="357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7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1938" y="2286000"/>
            <a:ext cx="582612" cy="298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8" name="直接连接符 17"/>
          <p:cNvCxnSpPr>
            <a:cxnSpLocks noChangeShapeType="1"/>
          </p:cNvCxnSpPr>
          <p:nvPr/>
        </p:nvCxnSpPr>
        <p:spPr bwMode="auto">
          <a:xfrm rot="10800000">
            <a:off x="4214813" y="5072063"/>
            <a:ext cx="428625" cy="0"/>
          </a:xfrm>
          <a:prstGeom prst="line">
            <a:avLst/>
          </a:prstGeom>
          <a:noFill/>
          <a:ln w="38100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" name="直接连接符 19"/>
          <p:cNvCxnSpPr>
            <a:cxnSpLocks noChangeShapeType="1"/>
          </p:cNvCxnSpPr>
          <p:nvPr/>
        </p:nvCxnSpPr>
        <p:spPr bwMode="auto">
          <a:xfrm rot="5400000" flipH="1" flipV="1">
            <a:off x="2893219" y="3750469"/>
            <a:ext cx="2643188" cy="0"/>
          </a:xfrm>
          <a:prstGeom prst="line">
            <a:avLst/>
          </a:prstGeom>
          <a:noFill/>
          <a:ln w="38100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" name="直接箭头连接符 21"/>
          <p:cNvCxnSpPr>
            <a:cxnSpLocks noChangeShapeType="1"/>
          </p:cNvCxnSpPr>
          <p:nvPr/>
        </p:nvCxnSpPr>
        <p:spPr bwMode="auto">
          <a:xfrm>
            <a:off x="4214813" y="2428875"/>
            <a:ext cx="428625" cy="1588"/>
          </a:xfrm>
          <a:prstGeom prst="straightConnector1">
            <a:avLst/>
          </a:prstGeom>
          <a:noFill/>
          <a:ln w="38100">
            <a:solidFill>
              <a:srgbClr val="FF0000"/>
            </a:solidFill>
            <a:miter lim="800000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5" name="Rectangle 3"/>
          <p:cNvSpPr txBox="1">
            <a:spLocks noChangeArrowheads="1"/>
          </p:cNvSpPr>
          <p:nvPr/>
        </p:nvSpPr>
        <p:spPr bwMode="auto">
          <a:xfrm>
            <a:off x="71438" y="2714625"/>
            <a:ext cx="3071812" cy="642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indent="-342900">
              <a:lnSpc>
                <a:spcPct val="120000"/>
              </a:lnSpc>
              <a:spcBef>
                <a:spcPts val="0"/>
              </a:spcBef>
              <a:defRPr/>
            </a:pPr>
            <a:r>
              <a:rPr lang="en-US" altLang="zh-CN" sz="2800" b="1" kern="0" dirty="0">
                <a:solidFill>
                  <a:srgbClr val="9D138D"/>
                </a:solidFill>
                <a:latin typeface="+mn-lt"/>
                <a:ea typeface="+mn-ea"/>
              </a:rPr>
              <a:t>*</a:t>
            </a:r>
            <a:r>
              <a:rPr lang="en-US" altLang="zh-CN" sz="2800" b="1" kern="0" dirty="0" err="1">
                <a:solidFill>
                  <a:srgbClr val="9D138D"/>
                </a:solidFill>
                <a:latin typeface="+mn-lt"/>
                <a:ea typeface="+mn-ea"/>
              </a:rPr>
              <a:t>i_pointer</a:t>
            </a:r>
            <a:r>
              <a:rPr lang="en-US" altLang="zh-CN" sz="2800" b="1" kern="0" dirty="0">
                <a:solidFill>
                  <a:srgbClr val="9D138D"/>
                </a:solidFill>
                <a:latin typeface="+mn-lt"/>
                <a:ea typeface="+mn-ea"/>
              </a:rPr>
              <a:t>=</a:t>
            </a:r>
            <a:r>
              <a:rPr lang="en-US" altLang="zh-CN" sz="2800" b="1" kern="0" dirty="0">
                <a:solidFill>
                  <a:srgbClr val="FF0000"/>
                </a:solidFill>
                <a:latin typeface="+mn-lt"/>
                <a:ea typeface="+mn-ea"/>
              </a:rPr>
              <a:t>50</a:t>
            </a:r>
            <a:r>
              <a:rPr lang="en-US" altLang="zh-CN" sz="2800" b="1" kern="0" dirty="0">
                <a:solidFill>
                  <a:srgbClr val="9D138D"/>
                </a:solidFill>
                <a:latin typeface="+mn-lt"/>
                <a:ea typeface="+mn-ea"/>
              </a:rPr>
              <a:t>;</a:t>
            </a:r>
            <a:endParaRPr lang="en-US" altLang="zh-CN" sz="2800" b="1" kern="0" dirty="0">
              <a:solidFill>
                <a:srgbClr val="9D138D"/>
              </a:solidFill>
              <a:latin typeface="+mn-lt"/>
              <a:ea typeface="+mn-ea"/>
            </a:endParaRP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5592763" y="2200275"/>
            <a:ext cx="622300" cy="43021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0" bIns="0">
            <a:spAutoFit/>
          </a:bodyPr>
          <a:lstStyle>
            <a:lvl1pPr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r>
              <a:rPr lang="en-US" altLang="zh-CN" sz="2800" b="1">
                <a:solidFill>
                  <a:srgbClr val="FF0000"/>
                </a:solidFill>
                <a:latin typeface="宋体" pitchFamily="2" charset="-122"/>
              </a:rPr>
              <a:t>50</a:t>
            </a:r>
            <a:endParaRPr lang="zh-CN" altLang="en-US" sz="2800" b="1">
              <a:solidFill>
                <a:srgbClr val="FF0000"/>
              </a:solidFill>
              <a:latin typeface="宋体" pitchFamily="2" charset="-122"/>
            </a:endParaRP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3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3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3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3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 animBg="1"/>
      <p:bldP spid="11" grpId="0" animBg="1"/>
      <p:bldP spid="12" grpId="0"/>
      <p:bldP spid="25" grpId="0"/>
      <p:bldP spid="2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4500563" y="1571625"/>
            <a:ext cx="857250" cy="785813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</a:ln>
        </p:spPr>
        <p:txBody>
          <a:bodyPr wrap="none"/>
          <a:lstStyle>
            <a:lvl1pPr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4786313" y="1000125"/>
            <a:ext cx="50006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r>
              <a:rPr lang="en-US" altLang="zh-CN" sz="3200" b="1"/>
              <a:t>i</a:t>
            </a:r>
            <a:endParaRPr lang="zh-CN" altLang="en-US" sz="3200" b="1"/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4357688" y="2428875"/>
            <a:ext cx="11430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r>
              <a:rPr lang="en-US" altLang="zh-CN" sz="3200" b="1"/>
              <a:t>2000</a:t>
            </a:r>
            <a:endParaRPr lang="zh-CN" altLang="en-US" sz="3200" b="1"/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6500813" y="1701800"/>
            <a:ext cx="50006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r>
              <a:rPr lang="en-US" altLang="zh-CN" sz="3200" b="1"/>
              <a:t>3</a:t>
            </a:r>
            <a:endParaRPr lang="zh-CN" altLang="en-US" sz="3200" b="1"/>
          </a:p>
        </p:txBody>
      </p:sp>
      <p:sp>
        <p:nvSpPr>
          <p:cNvPr id="12" name="矩形 11"/>
          <p:cNvSpPr>
            <a:spLocks noChangeArrowheads="1"/>
          </p:cNvSpPr>
          <p:nvPr/>
        </p:nvSpPr>
        <p:spPr bwMode="auto">
          <a:xfrm>
            <a:off x="3643313" y="4286250"/>
            <a:ext cx="1000125" cy="785813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</a:ln>
        </p:spPr>
        <p:txBody>
          <a:bodyPr wrap="none" tIns="180000"/>
          <a:lstStyle>
            <a:lvl1pPr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algn="ctr"/>
            <a:r>
              <a:rPr lang="en-US" altLang="zh-CN" sz="2800" b="1"/>
              <a:t>2000</a:t>
            </a:r>
            <a:endParaRPr lang="zh-CN" altLang="en-US" sz="2800" b="1"/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3143250" y="3714750"/>
            <a:ext cx="20002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r>
              <a:rPr lang="en-US" altLang="zh-CN" sz="3200" b="1"/>
              <a:t>i_pointer</a:t>
            </a:r>
            <a:endParaRPr lang="zh-CN" altLang="en-US" sz="3200" b="1"/>
          </a:p>
        </p:txBody>
      </p:sp>
      <p:sp>
        <p:nvSpPr>
          <p:cNvPr id="17" name="矩形 16"/>
          <p:cNvSpPr>
            <a:spLocks noChangeArrowheads="1"/>
          </p:cNvSpPr>
          <p:nvPr/>
        </p:nvSpPr>
        <p:spPr bwMode="auto">
          <a:xfrm>
            <a:off x="5857875" y="4286250"/>
            <a:ext cx="857250" cy="785813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</a:ln>
        </p:spPr>
        <p:txBody>
          <a:bodyPr wrap="none"/>
          <a:lstStyle>
            <a:lvl1pPr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8" name="TextBox 17"/>
          <p:cNvSpPr txBox="1">
            <a:spLocks noChangeArrowheads="1"/>
          </p:cNvSpPr>
          <p:nvPr/>
        </p:nvSpPr>
        <p:spPr bwMode="auto">
          <a:xfrm>
            <a:off x="5286375" y="3714750"/>
            <a:ext cx="22145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r>
              <a:rPr lang="en-US" altLang="zh-CN" sz="3200" b="1"/>
              <a:t>*i_pointer</a:t>
            </a:r>
            <a:endParaRPr lang="zh-CN" altLang="en-US" sz="3200" b="1"/>
          </a:p>
        </p:txBody>
      </p:sp>
      <p:sp>
        <p:nvSpPr>
          <p:cNvPr id="19" name="TextBox 18"/>
          <p:cNvSpPr txBox="1">
            <a:spLocks noChangeArrowheads="1"/>
          </p:cNvSpPr>
          <p:nvPr/>
        </p:nvSpPr>
        <p:spPr bwMode="auto">
          <a:xfrm>
            <a:off x="5715000" y="5143500"/>
            <a:ext cx="11430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r>
              <a:rPr lang="en-US" altLang="zh-CN" sz="3200" b="1"/>
              <a:t>2000</a:t>
            </a:r>
            <a:endParaRPr lang="zh-CN" altLang="en-US" sz="3200" b="1"/>
          </a:p>
        </p:txBody>
      </p:sp>
      <p:sp>
        <p:nvSpPr>
          <p:cNvPr id="20" name="TextBox 19"/>
          <p:cNvSpPr txBox="1">
            <a:spLocks noChangeArrowheads="1"/>
          </p:cNvSpPr>
          <p:nvPr/>
        </p:nvSpPr>
        <p:spPr bwMode="auto">
          <a:xfrm>
            <a:off x="7786688" y="4416425"/>
            <a:ext cx="50006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r>
              <a:rPr lang="en-US" altLang="zh-CN" sz="3200" b="1"/>
              <a:t>3</a:t>
            </a:r>
            <a:endParaRPr lang="zh-CN" altLang="en-US" sz="3200" b="1"/>
          </a:p>
        </p:txBody>
      </p:sp>
      <p:cxnSp>
        <p:nvCxnSpPr>
          <p:cNvPr id="23" name="直接箭头连接符 22"/>
          <p:cNvCxnSpPr>
            <a:cxnSpLocks noChangeShapeType="1"/>
            <a:stCxn id="12" idx="3"/>
            <a:endCxn id="17" idx="1"/>
          </p:cNvCxnSpPr>
          <p:nvPr/>
        </p:nvCxnSpPr>
        <p:spPr bwMode="auto">
          <a:xfrm>
            <a:off x="4643438" y="4679950"/>
            <a:ext cx="1214437" cy="1588"/>
          </a:xfrm>
          <a:prstGeom prst="straightConnector1">
            <a:avLst/>
          </a:prstGeom>
          <a:noFill/>
          <a:ln w="38100">
            <a:solidFill>
              <a:schemeClr val="tx1"/>
            </a:solidFill>
            <a:miter lim="800000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236549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6875" y="1643063"/>
            <a:ext cx="952500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6563" y="4357688"/>
            <a:ext cx="952500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" name="横卷形 26"/>
          <p:cNvSpPr>
            <a:spLocks noChangeArrowheads="1"/>
          </p:cNvSpPr>
          <p:nvPr/>
        </p:nvSpPr>
        <p:spPr bwMode="auto">
          <a:xfrm>
            <a:off x="285750" y="1500188"/>
            <a:ext cx="2357438" cy="785812"/>
          </a:xfrm>
          <a:prstGeom prst="horizontalScroll">
            <a:avLst>
              <a:gd name="adj" fmla="val 12500"/>
            </a:avLst>
          </a:prstGeom>
          <a:solidFill>
            <a:srgbClr val="E1FFE1"/>
          </a:solidFill>
          <a:ln w="9525">
            <a:solidFill>
              <a:schemeClr val="tx1"/>
            </a:solidFill>
            <a:miter lim="800000"/>
          </a:ln>
        </p:spPr>
        <p:txBody>
          <a:bodyPr wrap="none"/>
          <a:lstStyle>
            <a:lvl1pPr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algn="ctr"/>
            <a:r>
              <a:rPr lang="zh-CN" altLang="en-US" sz="3200" b="1">
                <a:solidFill>
                  <a:srgbClr val="FF0000"/>
                </a:solidFill>
              </a:rPr>
              <a:t>直接存取</a:t>
            </a:r>
            <a:endParaRPr lang="zh-CN" altLang="en-US" sz="3200" b="1">
              <a:solidFill>
                <a:srgbClr val="FF0000"/>
              </a:solidFill>
            </a:endParaRPr>
          </a:p>
        </p:txBody>
      </p:sp>
      <p:sp>
        <p:nvSpPr>
          <p:cNvPr id="28" name="横卷形 27"/>
          <p:cNvSpPr>
            <a:spLocks noChangeArrowheads="1"/>
          </p:cNvSpPr>
          <p:nvPr/>
        </p:nvSpPr>
        <p:spPr bwMode="auto">
          <a:xfrm>
            <a:off x="285750" y="4000500"/>
            <a:ext cx="2357438" cy="785813"/>
          </a:xfrm>
          <a:prstGeom prst="horizontalScroll">
            <a:avLst>
              <a:gd name="adj" fmla="val 12500"/>
            </a:avLst>
          </a:prstGeom>
          <a:solidFill>
            <a:srgbClr val="E1FFE1"/>
          </a:solidFill>
          <a:ln w="9525">
            <a:solidFill>
              <a:schemeClr val="tx1"/>
            </a:solidFill>
            <a:miter lim="800000"/>
          </a:ln>
        </p:spPr>
        <p:txBody>
          <a:bodyPr wrap="none"/>
          <a:lstStyle>
            <a:lvl1pPr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algn="ctr"/>
            <a:r>
              <a:rPr lang="zh-CN" altLang="en-US" sz="3200" b="1">
                <a:solidFill>
                  <a:srgbClr val="FF0000"/>
                </a:solidFill>
              </a:rPr>
              <a:t>间接存取</a:t>
            </a:r>
            <a:endParaRPr lang="zh-CN" altLang="en-US" sz="3200" b="1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9" dur="500"/>
                                        <p:tgtEl>
                                          <p:spTgt spid="236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500"/>
                            </p:stCondLst>
                            <p:childTnLst>
                              <p:par>
                                <p:cTn id="5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6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/>
      <p:bldP spid="9" grpId="0"/>
      <p:bldP spid="12" grpId="0" animBg="1"/>
      <p:bldP spid="13" grpId="0"/>
      <p:bldP spid="17" grpId="0" animBg="1"/>
      <p:bldP spid="18" grpId="0"/>
      <p:bldP spid="19" grpId="0"/>
      <p:bldP spid="20" grpId="0"/>
      <p:bldP spid="27" grpId="0" animBg="1"/>
      <p:bldP spid="2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指针、指针变量</a:t>
            </a:r>
            <a:endParaRPr lang="en-US" dirty="0"/>
          </a:p>
        </p:txBody>
      </p:sp>
      <p:sp>
        <p:nvSpPr>
          <p:cNvPr id="2867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3200" dirty="0"/>
              <a:t>“</a:t>
            </a:r>
            <a:r>
              <a:rPr lang="zh-CN" altLang="en-US" sz="3200" dirty="0">
                <a:solidFill>
                  <a:srgbClr val="0000CC"/>
                </a:solidFill>
              </a:rPr>
              <a:t>指针</a:t>
            </a:r>
            <a:r>
              <a:rPr lang="zh-CN" altLang="en-US" sz="3200" dirty="0"/>
              <a:t>”和“</a:t>
            </a:r>
            <a:r>
              <a:rPr lang="zh-CN" altLang="en-US" sz="3200" dirty="0">
                <a:solidFill>
                  <a:srgbClr val="0000CC"/>
                </a:solidFill>
              </a:rPr>
              <a:t>指针变量</a:t>
            </a:r>
            <a:r>
              <a:rPr lang="zh-CN" altLang="en-US" sz="3200" dirty="0"/>
              <a:t>”是</a:t>
            </a:r>
            <a:r>
              <a:rPr lang="zh-CN" altLang="en-US" sz="3200" dirty="0">
                <a:solidFill>
                  <a:srgbClr val="C00000"/>
                </a:solidFill>
              </a:rPr>
              <a:t>不同的概念</a:t>
            </a:r>
            <a:endParaRPr lang="en-US" altLang="zh-CN" sz="3200" dirty="0">
              <a:solidFill>
                <a:srgbClr val="C00000"/>
              </a:solidFill>
            </a:endParaRPr>
          </a:p>
          <a:p>
            <a:r>
              <a:rPr lang="zh-CN" altLang="en-US" sz="3200" dirty="0"/>
              <a:t>可以说变量</a:t>
            </a:r>
            <a:r>
              <a:rPr lang="en-US" altLang="zh-CN" sz="3200" dirty="0" err="1"/>
              <a:t>i</a:t>
            </a:r>
            <a:r>
              <a:rPr lang="zh-CN" altLang="en-US" sz="3200" dirty="0"/>
              <a:t>的指针是</a:t>
            </a:r>
            <a:r>
              <a:rPr lang="en-US" altLang="zh-CN" sz="3200" dirty="0"/>
              <a:t>2000</a:t>
            </a:r>
            <a:r>
              <a:rPr lang="zh-CN" altLang="en-US" sz="3200" dirty="0"/>
              <a:t>，而不能说</a:t>
            </a:r>
            <a:r>
              <a:rPr lang="en-US" altLang="zh-CN" sz="3200" dirty="0" err="1"/>
              <a:t>i</a:t>
            </a:r>
            <a:r>
              <a:rPr lang="zh-CN" altLang="en-US" sz="3200" dirty="0"/>
              <a:t>的指针变量是</a:t>
            </a:r>
            <a:r>
              <a:rPr lang="en-US" altLang="zh-CN" sz="3200" dirty="0"/>
              <a:t>2000</a:t>
            </a:r>
            <a:endParaRPr lang="en-US" altLang="zh-CN" sz="3200" dirty="0"/>
          </a:p>
          <a:p>
            <a:r>
              <a:rPr lang="zh-CN" altLang="en-US" sz="3200" dirty="0"/>
              <a:t>指针是一个地址，而指针变量是存放地址的变量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定义指针变量的一般形式为：</a:t>
            </a:r>
            <a:endParaRPr lang="zh-CN" altLang="zh-CN" dirty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/>
              <a:t>       </a:t>
            </a:r>
            <a:r>
              <a:rPr lang="zh-CN" altLang="en-US" dirty="0"/>
              <a:t>类型标识符</a:t>
            </a:r>
            <a:r>
              <a:rPr lang="zh-CN" altLang="zh-CN" dirty="0"/>
              <a:t>  </a:t>
            </a:r>
            <a:r>
              <a:rPr lang="en-US" altLang="zh-CN" dirty="0"/>
              <a:t>*</a:t>
            </a:r>
            <a:r>
              <a:rPr lang="zh-CN" altLang="en-US" dirty="0"/>
              <a:t>指针变量名</a:t>
            </a:r>
            <a:r>
              <a:rPr lang="en-US" altLang="zh-CN" dirty="0"/>
              <a:t>;</a:t>
            </a:r>
            <a:endParaRPr lang="en-US" altLang="zh-CN" dirty="0"/>
          </a:p>
          <a:p>
            <a:pPr lvl="1">
              <a:buFont typeface="Wingdings" panose="05000000000000000000" pitchFamily="2" charset="2"/>
              <a:buNone/>
            </a:pPr>
            <a:r>
              <a:rPr lang="zh-CN" altLang="en-US" dirty="0"/>
              <a:t>如：</a:t>
            </a:r>
            <a:r>
              <a:rPr lang="en-US" altLang="zh-CN" dirty="0"/>
              <a:t>int *pointer_1, *pointer_2;</a:t>
            </a:r>
            <a:endParaRPr lang="en-US" altLang="zh-CN" dirty="0"/>
          </a:p>
          <a:p>
            <a:pPr lvl="1"/>
            <a:r>
              <a:rPr lang="en-US" altLang="zh-CN" dirty="0"/>
              <a:t>int</a:t>
            </a:r>
            <a:r>
              <a:rPr lang="zh-CN" altLang="en-US" dirty="0"/>
              <a:t>是为指针变量指定的“</a:t>
            </a:r>
            <a:r>
              <a:rPr lang="zh-CN" altLang="en-US" dirty="0">
                <a:solidFill>
                  <a:srgbClr val="FF0000"/>
                </a:solidFill>
              </a:rPr>
              <a:t>基类型</a:t>
            </a:r>
            <a:r>
              <a:rPr lang="zh-CN" altLang="en-US" dirty="0"/>
              <a:t>”</a:t>
            </a:r>
            <a:endParaRPr lang="en-US" altLang="zh-CN" dirty="0"/>
          </a:p>
          <a:p>
            <a:pPr lvl="1"/>
            <a:r>
              <a:rPr lang="zh-CN" altLang="en-US" dirty="0"/>
              <a:t>基类型指定指针变量可指向的变量类型</a:t>
            </a:r>
            <a:endParaRPr lang="en-US" altLang="zh-CN" dirty="0"/>
          </a:p>
          <a:p>
            <a:pPr lvl="1"/>
            <a:r>
              <a:rPr lang="zh-CN" altLang="en-US" dirty="0"/>
              <a:t>如</a:t>
            </a:r>
            <a:r>
              <a:rPr lang="en-US" altLang="zh-CN" dirty="0"/>
              <a:t>pointer_1</a:t>
            </a:r>
            <a:r>
              <a:rPr lang="zh-CN" altLang="en-US" dirty="0"/>
              <a:t>可以指向整型变量，但不能指向浮点型变量</a:t>
            </a:r>
            <a:endParaRPr lang="en-US" altLang="zh-CN" dirty="0"/>
          </a:p>
          <a:p>
            <a:pPr lvl="1"/>
            <a:endParaRPr lang="en-US" altLang="zh-CN" dirty="0"/>
          </a:p>
          <a:p>
            <a:endParaRPr 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指针变量的定义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int *p, *q;	       // </a:t>
            </a:r>
            <a:r>
              <a:rPr lang="zh-CN" altLang="en-US" sz="2400" dirty="0"/>
              <a:t>定义</a:t>
            </a:r>
            <a:r>
              <a:rPr lang="en-US" sz="2400" dirty="0" err="1"/>
              <a:t>p,q</a:t>
            </a:r>
            <a:r>
              <a:rPr lang="zh-CN" altLang="en-US" sz="2400" dirty="0"/>
              <a:t>为指向整数类型变量的指针</a:t>
            </a:r>
            <a:endParaRPr lang="zh-CN" altLang="en-US" sz="2400" dirty="0"/>
          </a:p>
          <a:p>
            <a:r>
              <a:rPr lang="en-US" sz="2400" dirty="0"/>
              <a:t>float *point; 	// </a:t>
            </a:r>
            <a:r>
              <a:rPr lang="zh-CN" altLang="en-US" sz="2400" dirty="0"/>
              <a:t>定义</a:t>
            </a:r>
            <a:r>
              <a:rPr lang="en-US" sz="2400" dirty="0"/>
              <a:t>point</a:t>
            </a:r>
            <a:r>
              <a:rPr lang="zh-CN" altLang="en-US" sz="2400" dirty="0"/>
              <a:t>为指向</a:t>
            </a:r>
            <a:r>
              <a:rPr lang="en-US" sz="2400" dirty="0"/>
              <a:t>float</a:t>
            </a:r>
            <a:r>
              <a:rPr lang="zh-CN" altLang="en-US" sz="2400" dirty="0"/>
              <a:t>型变量的指针</a:t>
            </a:r>
            <a:endParaRPr lang="zh-CN" altLang="en-US" sz="2400" dirty="0"/>
          </a:p>
          <a:p>
            <a:r>
              <a:rPr lang="en-US" sz="2400" dirty="0"/>
              <a:t>double *pd;         // </a:t>
            </a:r>
            <a:r>
              <a:rPr lang="zh-CN" altLang="en-US" sz="2400" dirty="0"/>
              <a:t>定义</a:t>
            </a:r>
            <a:r>
              <a:rPr lang="en-US" sz="2400" dirty="0"/>
              <a:t>pd</a:t>
            </a:r>
            <a:r>
              <a:rPr lang="zh-CN" altLang="en-US" sz="2400" dirty="0"/>
              <a:t>为指向</a:t>
            </a:r>
            <a:r>
              <a:rPr lang="en-US" sz="2400" dirty="0"/>
              <a:t>double</a:t>
            </a:r>
            <a:r>
              <a:rPr lang="zh-CN" altLang="en-US" sz="2400" dirty="0"/>
              <a:t>型变量的指针</a:t>
            </a:r>
            <a:endParaRPr lang="zh-CN" altLang="en-US" sz="2400" dirty="0"/>
          </a:p>
          <a:p>
            <a:r>
              <a:rPr lang="en-US" sz="2400" dirty="0"/>
              <a:t>int (*pa)[10];	// </a:t>
            </a:r>
            <a:r>
              <a:rPr lang="zh-CN" altLang="en-US" sz="2400" dirty="0"/>
              <a:t>定义</a:t>
            </a:r>
            <a:r>
              <a:rPr lang="en-US" sz="2400" dirty="0"/>
              <a:t>pa</a:t>
            </a:r>
            <a:r>
              <a:rPr lang="zh-CN" altLang="en-US" sz="2400" dirty="0"/>
              <a:t>为指向</a:t>
            </a:r>
            <a:r>
              <a:rPr lang="en-US" sz="2400" dirty="0"/>
              <a:t>int</a:t>
            </a:r>
            <a:r>
              <a:rPr lang="zh-CN" altLang="en-US" sz="2400" dirty="0"/>
              <a:t>型数组的指针</a:t>
            </a:r>
            <a:endParaRPr lang="zh-CN" altLang="en-US" sz="2400" dirty="0"/>
          </a:p>
          <a:p>
            <a:r>
              <a:rPr lang="en-US" sz="2400" dirty="0"/>
              <a:t>int (*</a:t>
            </a:r>
            <a:r>
              <a:rPr lang="en-US" sz="2400" dirty="0" err="1"/>
              <a:t>pu</a:t>
            </a:r>
            <a:r>
              <a:rPr lang="en-US" sz="2400" dirty="0"/>
              <a:t>)();		// </a:t>
            </a:r>
            <a:r>
              <a:rPr lang="zh-CN" altLang="en-US" sz="2400" dirty="0"/>
              <a:t>定义</a:t>
            </a:r>
            <a:r>
              <a:rPr lang="en-US" sz="2400" dirty="0" err="1"/>
              <a:t>pu</a:t>
            </a:r>
            <a:r>
              <a:rPr lang="zh-CN" altLang="en-US" sz="2400" dirty="0"/>
              <a:t>为指向</a:t>
            </a:r>
            <a:r>
              <a:rPr lang="en-US" sz="2400" dirty="0"/>
              <a:t>int</a:t>
            </a:r>
            <a:r>
              <a:rPr lang="zh-CN" altLang="en-US" sz="2400" dirty="0"/>
              <a:t>型函数的指针</a:t>
            </a:r>
            <a:endParaRPr lang="zh-CN" altLang="en-US" sz="2400" dirty="0"/>
          </a:p>
          <a:p>
            <a:r>
              <a:rPr lang="en-US" sz="2400" dirty="0"/>
              <a:t>int **</a:t>
            </a:r>
            <a:r>
              <a:rPr lang="en-US" sz="2400" dirty="0" err="1"/>
              <a:t>qq</a:t>
            </a:r>
            <a:r>
              <a:rPr lang="en-US" sz="2400" dirty="0"/>
              <a:t>;		// </a:t>
            </a:r>
            <a:r>
              <a:rPr lang="zh-CN" altLang="en-US" sz="2400" dirty="0"/>
              <a:t>定义</a:t>
            </a:r>
            <a:r>
              <a:rPr lang="en-US" sz="2400" dirty="0" err="1"/>
              <a:t>qq</a:t>
            </a:r>
            <a:r>
              <a:rPr lang="zh-CN" altLang="en-US" sz="2400" dirty="0"/>
              <a:t>为指向</a:t>
            </a:r>
            <a:r>
              <a:rPr lang="en-US" sz="2400" dirty="0"/>
              <a:t>int</a:t>
            </a:r>
            <a:r>
              <a:rPr lang="zh-CN" altLang="en-US" sz="2400" dirty="0"/>
              <a:t>型指针的指针</a:t>
            </a:r>
            <a:endParaRPr lang="zh-CN" altLang="en-US" sz="2400" dirty="0"/>
          </a:p>
          <a:p>
            <a:r>
              <a:rPr lang="zh-CN" altLang="en-US" sz="2400" dirty="0"/>
              <a:t>还有指向结构的指针，后面再介绍</a:t>
            </a:r>
            <a:endParaRPr lang="zh-CN" altLang="en-US" sz="2400" dirty="0"/>
          </a:p>
          <a:p>
            <a:endParaRPr 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指针变量定义举例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11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指针的初始化</a:t>
            </a:r>
            <a:endParaRPr lang="zh-CN" altLang="en-US"/>
          </a:p>
        </p:txBody>
      </p:sp>
      <p:sp>
        <p:nvSpPr>
          <p:cNvPr id="474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 err="1">
                <a:solidFill>
                  <a:srgbClr val="C00000"/>
                </a:solidFill>
              </a:rPr>
              <a:t>int</a:t>
            </a:r>
            <a:r>
              <a:rPr lang="en-US" altLang="zh-CN" dirty="0">
                <a:solidFill>
                  <a:srgbClr val="C00000"/>
                </a:solidFill>
              </a:rPr>
              <a:t> *p = NULL</a:t>
            </a:r>
            <a:r>
              <a:rPr lang="en-US" altLang="zh-CN" dirty="0">
                <a:solidFill>
                  <a:schemeClr val="hlink"/>
                </a:solidFill>
              </a:rPr>
              <a:t>; </a:t>
            </a:r>
            <a:endParaRPr lang="en-US" altLang="zh-CN" dirty="0">
              <a:solidFill>
                <a:schemeClr val="hlink"/>
              </a:solidFill>
            </a:endParaRPr>
          </a:p>
          <a:p>
            <a:pPr eaLnBrk="1" hangingPunct="1">
              <a:defRPr/>
            </a:pPr>
            <a:r>
              <a:rPr lang="zh-CN" altLang="en-US" dirty="0"/>
              <a:t>说明：</a:t>
            </a:r>
            <a:endParaRPr lang="zh-CN" altLang="en-US" dirty="0"/>
          </a:p>
          <a:p>
            <a:pPr lvl="1" eaLnBrk="1" hangingPunct="1">
              <a:defRPr/>
            </a:pPr>
            <a:r>
              <a:rPr lang="en-US" altLang="zh-CN" dirty="0"/>
              <a:t>NULL </a:t>
            </a:r>
            <a:r>
              <a:rPr lang="zh-CN" altLang="en-US" dirty="0"/>
              <a:t>是在头文件中定义了的，是符号化的常量</a:t>
            </a:r>
            <a:r>
              <a:rPr lang="en-US" altLang="zh-CN" dirty="0"/>
              <a:t>0</a:t>
            </a:r>
            <a:r>
              <a:rPr lang="zh-CN" altLang="en-US" dirty="0"/>
              <a:t>，</a:t>
            </a:r>
            <a:r>
              <a:rPr lang="zh-CN" altLang="en-US" dirty="0">
                <a:solidFill>
                  <a:srgbClr val="4F8927"/>
                </a:solidFill>
              </a:rPr>
              <a:t>是唯一的一个允许赋值给指针的整数值</a:t>
            </a:r>
            <a:endParaRPr lang="zh-CN" altLang="en-US" dirty="0">
              <a:solidFill>
                <a:srgbClr val="4F8927"/>
              </a:solidFill>
            </a:endParaRPr>
          </a:p>
          <a:p>
            <a:pPr lvl="1" eaLnBrk="1" hangingPunct="1">
              <a:defRPr/>
            </a:pPr>
            <a:r>
              <a:rPr lang="zh-CN" altLang="en-US" dirty="0"/>
              <a:t>表示指针不指向任何内存地址</a:t>
            </a:r>
            <a:endParaRPr lang="zh-CN" altLang="en-US" dirty="0"/>
          </a:p>
          <a:p>
            <a:pPr lvl="1" eaLnBrk="1" hangingPunct="1">
              <a:defRPr/>
            </a:pPr>
            <a:r>
              <a:rPr lang="zh-CN" altLang="en-US" dirty="0"/>
              <a:t>防止其指向任何未知的内存区域</a:t>
            </a:r>
            <a:endParaRPr lang="zh-CN" altLang="en-US" dirty="0"/>
          </a:p>
          <a:p>
            <a:pPr lvl="1" eaLnBrk="1" hangingPunct="1">
              <a:defRPr/>
            </a:pPr>
            <a:r>
              <a:rPr lang="zh-CN" altLang="en-US" dirty="0"/>
              <a:t>避免产生难以预料的错误发生</a:t>
            </a:r>
            <a:endParaRPr lang="zh-CN" altLang="en-US" dirty="0"/>
          </a:p>
          <a:p>
            <a:pPr eaLnBrk="1" hangingPunct="1">
              <a:defRPr/>
            </a:pPr>
            <a:r>
              <a:rPr lang="zh-CN" altLang="en-US" dirty="0"/>
              <a:t>把指针初始化为 </a:t>
            </a:r>
            <a:r>
              <a:rPr lang="en-US" altLang="zh-CN" dirty="0"/>
              <a:t>NULL </a:t>
            </a:r>
            <a:r>
              <a:rPr lang="zh-CN" altLang="en-US" dirty="0"/>
              <a:t>是好习惯</a:t>
            </a:r>
            <a:endParaRPr lang="zh-CN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13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指针的赋值</a:t>
            </a:r>
            <a:endParaRPr lang="zh-CN" altLang="en-US"/>
          </a:p>
        </p:txBody>
      </p:sp>
      <p:sp>
        <p:nvSpPr>
          <p:cNvPr id="4751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2800" dirty="0"/>
              <a:t>将一个内存地址装入指针变量</a:t>
            </a:r>
            <a:endParaRPr lang="zh-CN" altLang="en-US" sz="2800" dirty="0"/>
          </a:p>
          <a:p>
            <a:pPr eaLnBrk="1" hangingPunct="1">
              <a:defRPr/>
            </a:pPr>
            <a:r>
              <a:rPr lang="zh-CN" altLang="en-US" sz="2800" dirty="0">
                <a:solidFill>
                  <a:srgbClr val="FF0000"/>
                </a:solidFill>
              </a:rPr>
              <a:t>取址运算符</a:t>
            </a:r>
            <a:r>
              <a:rPr lang="en-US" altLang="zh-CN" sz="2800" dirty="0">
                <a:solidFill>
                  <a:srgbClr val="FF0000"/>
                </a:solidFill>
              </a:rPr>
              <a:t>&amp;</a:t>
            </a:r>
            <a:endParaRPr lang="en-US" altLang="zh-CN" sz="2800" dirty="0">
              <a:solidFill>
                <a:srgbClr val="FF0000"/>
              </a:solidFill>
            </a:endParaRPr>
          </a:p>
          <a:p>
            <a:pPr eaLnBrk="1" hangingPunct="1">
              <a:defRPr/>
            </a:pPr>
            <a:r>
              <a:rPr lang="zh-CN" altLang="en-US" sz="2800" dirty="0"/>
              <a:t>例如：</a:t>
            </a:r>
            <a:endParaRPr lang="zh-CN" altLang="en-US" sz="2800" dirty="0"/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400" dirty="0" err="1"/>
              <a:t>int</a:t>
            </a:r>
            <a:r>
              <a:rPr lang="en-US" altLang="zh-CN" sz="2400" dirty="0"/>
              <a:t> a=66; 		// </a:t>
            </a:r>
            <a:r>
              <a:rPr lang="zh-CN" altLang="en-US" sz="2400" dirty="0"/>
              <a:t>定义整型变量 </a:t>
            </a:r>
            <a:r>
              <a:rPr lang="en-US" altLang="zh-CN" sz="2400" dirty="0"/>
              <a:t>a, </a:t>
            </a:r>
            <a:r>
              <a:rPr lang="zh-CN" altLang="en-US" sz="2400" dirty="0"/>
              <a:t>赋初值</a:t>
            </a:r>
            <a:r>
              <a:rPr lang="en-US" altLang="zh-CN" sz="2400" dirty="0"/>
              <a:t>66</a:t>
            </a:r>
            <a:endParaRPr lang="en-US" altLang="zh-CN" sz="2400" dirty="0"/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// </a:t>
            </a:r>
            <a:r>
              <a:rPr lang="zh-CN" altLang="en-US" sz="2400" dirty="0"/>
              <a:t>定义</a:t>
            </a:r>
            <a:r>
              <a:rPr lang="en-US" altLang="zh-CN" sz="2400" dirty="0" err="1"/>
              <a:t>p,q</a:t>
            </a:r>
            <a:r>
              <a:rPr lang="zh-CN" altLang="en-US" sz="2400" dirty="0"/>
              <a:t>指针变量，赋初值为</a:t>
            </a:r>
            <a:r>
              <a:rPr lang="en-US" altLang="zh-CN" sz="2400" dirty="0"/>
              <a:t>0</a:t>
            </a:r>
            <a:endParaRPr lang="en-US" altLang="zh-CN" sz="2400" dirty="0"/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400" dirty="0" err="1"/>
              <a:t>int</a:t>
            </a:r>
            <a:r>
              <a:rPr lang="en-US" altLang="zh-CN" sz="2400" dirty="0"/>
              <a:t> *p=NULL,*q=NULL; 	</a:t>
            </a:r>
            <a:endParaRPr lang="en-US" altLang="zh-CN" sz="2400" dirty="0"/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p = &amp;a;		//</a:t>
            </a:r>
            <a:r>
              <a:rPr lang="zh-CN" altLang="en-US" sz="2400" dirty="0"/>
              <a:t>将变量 </a:t>
            </a:r>
            <a:r>
              <a:rPr lang="en-US" altLang="zh-CN" sz="2400" dirty="0"/>
              <a:t>a </a:t>
            </a:r>
            <a:r>
              <a:rPr lang="zh-CN" altLang="en-US" sz="2400" dirty="0"/>
              <a:t>的地址赋给 </a:t>
            </a:r>
            <a:r>
              <a:rPr lang="en-US" altLang="zh-CN" sz="2400" dirty="0"/>
              <a:t>p</a:t>
            </a:r>
            <a:r>
              <a:rPr lang="zh-CN" altLang="en-US" sz="2400" dirty="0"/>
              <a:t>，这时见图</a:t>
            </a:r>
            <a:r>
              <a:rPr lang="en-US" altLang="zh-CN" sz="2400" dirty="0"/>
              <a:t>1</a:t>
            </a:r>
            <a:endParaRPr lang="en-US" altLang="zh-CN" sz="2400" dirty="0"/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q = p;	      // </a:t>
            </a:r>
            <a:r>
              <a:rPr lang="zh-CN" altLang="en-US" sz="2400" dirty="0"/>
              <a:t>将 </a:t>
            </a:r>
            <a:r>
              <a:rPr lang="en-US" altLang="zh-CN" sz="2400" dirty="0"/>
              <a:t>p </a:t>
            </a:r>
            <a:r>
              <a:rPr lang="zh-CN" altLang="en-US" sz="2400" dirty="0"/>
              <a:t>的值赋给 </a:t>
            </a:r>
            <a:r>
              <a:rPr lang="en-US" altLang="zh-CN" sz="2400" dirty="0"/>
              <a:t>q </a:t>
            </a:r>
            <a:r>
              <a:rPr lang="zh-CN" altLang="en-US" sz="2400" dirty="0"/>
              <a:t>，见图</a:t>
            </a:r>
            <a:endParaRPr lang="en-US" altLang="zh-CN" sz="2400" dirty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US" altLang="zh-CN" sz="2800" dirty="0"/>
          </a:p>
        </p:txBody>
      </p:sp>
      <p:graphicFrame>
        <p:nvGraphicFramePr>
          <p:cNvPr id="475142" name="Object 6"/>
          <p:cNvGraphicFramePr>
            <a:graphicFrameLocks noChangeAspect="1"/>
          </p:cNvGraphicFramePr>
          <p:nvPr/>
        </p:nvGraphicFramePr>
        <p:xfrm>
          <a:off x="5858995" y="315068"/>
          <a:ext cx="3180502" cy="18898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2" name="Picture" r:id="rId1" imgW="2323465" imgH="1383030" progId="Word.Picture.8">
                  <p:embed/>
                </p:oleObj>
              </mc:Choice>
              <mc:Fallback>
                <p:oleObj name="Picture" r:id="rId1" imgW="2323465" imgH="1383030" progId="Word.Picture.8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58995" y="315068"/>
                        <a:ext cx="3180502" cy="1889864"/>
                      </a:xfrm>
                      <a:prstGeom prst="rect">
                        <a:avLst/>
                      </a:prstGeom>
                      <a:solidFill>
                        <a:srgbClr val="002060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75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362" name="Object 9"/>
          <p:cNvGraphicFramePr>
            <a:graphicFrameLocks noGrp="1" noChangeAspect="1"/>
          </p:cNvGraphicFramePr>
          <p:nvPr>
            <p:ph idx="1"/>
          </p:nvPr>
        </p:nvGraphicFramePr>
        <p:xfrm>
          <a:off x="461782" y="1137066"/>
          <a:ext cx="7989887" cy="5022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96" name="Picture" r:id="rId1" imgW="17221200" imgH="10848975" progId="Word.Picture.8">
                  <p:embed/>
                </p:oleObj>
              </mc:Choice>
              <mc:Fallback>
                <p:oleObj name="Picture" r:id="rId1" imgW="17221200" imgH="10848975" progId="Word.Picture.8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1782" y="1137066"/>
                        <a:ext cx="7989887" cy="5022850"/>
                      </a:xfrm>
                      <a:prstGeom prst="rect">
                        <a:avLst/>
                      </a:prstGeom>
                      <a:solidFill>
                        <a:srgbClr val="002060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3" name="Rectangle 12"/>
          <p:cNvSpPr>
            <a:spLocks noChangeArrowheads="1"/>
          </p:cNvSpPr>
          <p:nvPr/>
        </p:nvSpPr>
        <p:spPr bwMode="auto">
          <a:xfrm>
            <a:off x="1021091" y="347087"/>
            <a:ext cx="47783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dirty="0">
                <a:latin typeface="Times New Roman" panose="02020503050405090304" pitchFamily="18" charset="0"/>
                <a:ea typeface="黑体" panose="02010609060101010101" pitchFamily="49" charset="-122"/>
              </a:rPr>
              <a:t>q = p;	// </a:t>
            </a:r>
            <a:r>
              <a:rPr kumimoji="1" lang="zh-CN" altLang="en-US" sz="2800" dirty="0">
                <a:latin typeface="Times New Roman" panose="02020503050405090304" pitchFamily="18" charset="0"/>
                <a:ea typeface="黑体" panose="02010609060101010101" pitchFamily="49" charset="-122"/>
              </a:rPr>
              <a:t>将</a:t>
            </a:r>
            <a:r>
              <a:rPr kumimoji="1" lang="en-US" altLang="zh-CN" sz="2800" dirty="0">
                <a:latin typeface="Times New Roman" panose="02020503050405090304" pitchFamily="18" charset="0"/>
                <a:ea typeface="黑体" panose="02010609060101010101" pitchFamily="49" charset="-122"/>
              </a:rPr>
              <a:t>p</a:t>
            </a:r>
            <a:r>
              <a:rPr kumimoji="1" lang="zh-CN" altLang="en-US" sz="2800" dirty="0">
                <a:latin typeface="Times New Roman" panose="02020503050405090304" pitchFamily="18" charset="0"/>
                <a:ea typeface="黑体" panose="02010609060101010101" pitchFamily="49" charset="-122"/>
              </a:rPr>
              <a:t>的值赋给</a:t>
            </a:r>
            <a:r>
              <a:rPr kumimoji="1" lang="en-US" altLang="zh-CN" sz="2800" dirty="0">
                <a:latin typeface="Times New Roman" panose="02020503050405090304" pitchFamily="18" charset="0"/>
                <a:ea typeface="黑体" panose="02010609060101010101" pitchFamily="49" charset="-122"/>
              </a:rPr>
              <a:t>q</a:t>
            </a:r>
            <a:r>
              <a:rPr kumimoji="1" lang="zh-CN" altLang="en-US" sz="2800" dirty="0">
                <a:latin typeface="Times New Roman" panose="02020503050405090304" pitchFamily="18" charset="0"/>
                <a:ea typeface="黑体" panose="02010609060101010101" pitchFamily="49" charset="-122"/>
              </a:rPr>
              <a:t>，见图</a:t>
            </a:r>
            <a:r>
              <a:rPr kumimoji="1" lang="en-US" altLang="zh-CN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2</a:t>
            </a:r>
            <a:endParaRPr kumimoji="1" lang="en-US" altLang="zh-CN" sz="2400" dirty="0">
              <a:latin typeface="Times New Roman" panose="02020503050405090304" pitchFamily="18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2"/>
          <p:cNvSpPr>
            <a:spLocks noGrp="1" noChangeArrowheads="1"/>
          </p:cNvSpPr>
          <p:nvPr>
            <p:ph type="title"/>
          </p:nvPr>
        </p:nvSpPr>
        <p:spPr>
          <a:effectLst/>
        </p:spPr>
        <p:txBody>
          <a:bodyPr anchor="ctr"/>
          <a:lstStyle/>
          <a:p>
            <a:pPr eaLnBrk="1" hangingPunct="1"/>
            <a:r>
              <a:rPr lang="zh-CN" altLang="en-US" dirty="0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90204" pitchFamily="34" charset="0"/>
                <a:ea typeface="黑体" panose="02010609060101010101" pitchFamily="49" charset="-122"/>
              </a:rPr>
              <a:t>练习：</a:t>
            </a:r>
            <a:endParaRPr lang="zh-CN" altLang="en-US" dirty="0">
              <a:solidFill>
                <a:srgbClr val="8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90204" pitchFamily="34" charset="0"/>
              <a:ea typeface="黑体" panose="02010609060101010101" pitchFamily="49" charset="-122"/>
            </a:endParaRPr>
          </a:p>
        </p:txBody>
      </p:sp>
      <p:sp>
        <p:nvSpPr>
          <p:cNvPr id="3174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下面都是合法的定义和初始化：</a:t>
            </a:r>
            <a:endParaRPr lang="en-US" altLang="zh-CN" dirty="0"/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FF0000"/>
                </a:solidFill>
              </a:rPr>
              <a:t>float  *</a:t>
            </a:r>
            <a:r>
              <a:rPr lang="en-US" altLang="zh-CN" dirty="0"/>
              <a:t>pointer_3;</a:t>
            </a:r>
            <a:endParaRPr lang="en-US" altLang="zh-CN" dirty="0"/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FF0000"/>
                </a:solidFill>
              </a:rPr>
              <a:t>char  *</a:t>
            </a:r>
            <a:r>
              <a:rPr lang="en-US" altLang="zh-CN" dirty="0"/>
              <a:t>pointer_4;</a:t>
            </a:r>
            <a:endParaRPr lang="en-US" altLang="zh-CN" dirty="0"/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dirty="0"/>
              <a:t>int  </a:t>
            </a:r>
            <a:r>
              <a:rPr lang="en-US" altLang="zh-CN" dirty="0" err="1"/>
              <a:t>a,b</a:t>
            </a:r>
            <a:r>
              <a:rPr lang="en-US" altLang="zh-CN" dirty="0"/>
              <a:t>;</a:t>
            </a:r>
            <a:endParaRPr lang="en-US" altLang="zh-CN" dirty="0"/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FF0000"/>
                </a:solidFill>
              </a:rPr>
              <a:t>int  *</a:t>
            </a:r>
            <a:r>
              <a:rPr lang="en-US" altLang="zh-CN" dirty="0"/>
              <a:t>pointer_1=&amp;a,</a:t>
            </a:r>
            <a:r>
              <a:rPr lang="en-US" altLang="zh-CN" dirty="0">
                <a:solidFill>
                  <a:srgbClr val="FF0000"/>
                </a:solidFill>
              </a:rPr>
              <a:t>*</a:t>
            </a:r>
            <a:r>
              <a:rPr lang="en-US" altLang="zh-CN" dirty="0"/>
              <a:t>pointer_2=&amp;b;</a:t>
            </a:r>
            <a:endParaRPr lang="en-US" altLang="zh-CN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670125" y="3883500"/>
            <a:ext cx="5929312" cy="8572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indent="-342900" eaLnBrk="0" hangingPunct="0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zh-CN" sz="3200" b="1" kern="0" dirty="0">
                <a:latin typeface="+mn-lt"/>
                <a:ea typeface="+mn-ea"/>
              </a:rPr>
              <a:t>*pointer_1</a:t>
            </a:r>
            <a:r>
              <a:rPr lang="zh-CN" altLang="zh-CN" sz="3200" b="1" kern="0" dirty="0">
                <a:latin typeface="+mn-lt"/>
                <a:ea typeface="+mn-ea"/>
              </a:rPr>
              <a:t>＝</a:t>
            </a:r>
            <a:r>
              <a:rPr lang="en-US" altLang="zh-CN" sz="3200" b="1" kern="0" dirty="0">
                <a:latin typeface="+mn-lt"/>
                <a:ea typeface="+mn-ea"/>
              </a:rPr>
              <a:t>&amp;a;     </a:t>
            </a:r>
            <a:r>
              <a:rPr lang="zh-CN" altLang="en-US" sz="3200" b="1" kern="0" dirty="0">
                <a:solidFill>
                  <a:srgbClr val="FF0000"/>
                </a:solidFill>
                <a:latin typeface="+mn-lt"/>
                <a:ea typeface="+mn-ea"/>
              </a:rPr>
              <a:t>错误</a:t>
            </a:r>
            <a:endParaRPr lang="en-US" altLang="zh-CN" sz="3200" b="1" kern="0" dirty="0">
              <a:solidFill>
                <a:srgbClr val="FF0000"/>
              </a:solidFill>
              <a:latin typeface="+mn-lt"/>
              <a:ea typeface="+mn-ea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867781" y="4552128"/>
            <a:ext cx="5929313" cy="8572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indent="-342900" eaLnBrk="0" hangingPunct="0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zh-CN" sz="3200" b="1" kern="0" dirty="0">
                <a:latin typeface="+mn-lt"/>
                <a:ea typeface="+mn-ea"/>
              </a:rPr>
              <a:t>pointer_3</a:t>
            </a:r>
            <a:r>
              <a:rPr lang="zh-CN" altLang="zh-CN" sz="3200" b="1" kern="0" dirty="0">
                <a:latin typeface="+mn-lt"/>
                <a:ea typeface="+mn-ea"/>
              </a:rPr>
              <a:t>＝</a:t>
            </a:r>
            <a:r>
              <a:rPr lang="en-US" altLang="zh-CN" sz="3200" b="1" kern="0" dirty="0">
                <a:latin typeface="+mn-lt"/>
                <a:ea typeface="+mn-ea"/>
              </a:rPr>
              <a:t>&amp;a;     </a:t>
            </a:r>
            <a:r>
              <a:rPr lang="zh-CN" altLang="en-US" sz="3200" b="1" kern="0" dirty="0">
                <a:solidFill>
                  <a:srgbClr val="FF0000"/>
                </a:solidFill>
                <a:latin typeface="+mn-lt"/>
                <a:ea typeface="+mn-ea"/>
              </a:rPr>
              <a:t>错误</a:t>
            </a:r>
            <a:endParaRPr lang="en-US" altLang="zh-CN" sz="3200" b="1" kern="0" dirty="0">
              <a:solidFill>
                <a:srgbClr val="FF0000"/>
              </a:solidFill>
              <a:latin typeface="+mn-lt"/>
              <a:ea typeface="+mn-ea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867781" y="5169375"/>
            <a:ext cx="5929312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0" hangingPunct="0">
              <a:lnSpc>
                <a:spcPct val="120000"/>
              </a:lnSpc>
              <a:spcBef>
                <a:spcPct val="20000"/>
              </a:spcBef>
            </a:pPr>
            <a:r>
              <a:rPr lang="en-US" altLang="zh-CN" sz="3200" b="1" dirty="0">
                <a:latin typeface="Verdana" panose="020B0804030504040204" pitchFamily="34" charset="0"/>
              </a:rPr>
              <a:t>pointer_1</a:t>
            </a:r>
            <a:r>
              <a:rPr lang="zh-CN" altLang="en-US" sz="3200" b="1" dirty="0">
                <a:latin typeface="Verdana" panose="020B0804030504040204" pitchFamily="34" charset="0"/>
              </a:rPr>
              <a:t>＝</a:t>
            </a:r>
            <a:r>
              <a:rPr lang="en-US" altLang="zh-CN" sz="3200" b="1" dirty="0">
                <a:latin typeface="Verdana" panose="020B0804030504040204" pitchFamily="34" charset="0"/>
              </a:rPr>
              <a:t>&amp;a;     </a:t>
            </a:r>
            <a:r>
              <a:rPr lang="zh-CN" altLang="en-US" sz="3200" b="1" dirty="0">
                <a:solidFill>
                  <a:srgbClr val="9D138D"/>
                </a:solidFill>
                <a:latin typeface="Verdana" panose="020B0804030504040204" pitchFamily="34" charset="0"/>
              </a:rPr>
              <a:t>正确</a:t>
            </a:r>
            <a:endParaRPr lang="en-US" altLang="zh-CN" sz="3200" b="1" dirty="0">
              <a:solidFill>
                <a:srgbClr val="9D138D"/>
              </a:solidFill>
              <a:latin typeface="Verdana" panose="020B0804030504040204" pitchFamily="34" charset="0"/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867780" y="5871375"/>
            <a:ext cx="5929313" cy="8572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indent="-342900" eaLnBrk="0" hangingPunct="0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zh-CN" sz="3200" b="1" kern="0" dirty="0">
                <a:latin typeface="+mn-lt"/>
                <a:ea typeface="+mn-ea"/>
              </a:rPr>
              <a:t>pointer_3</a:t>
            </a:r>
            <a:r>
              <a:rPr lang="zh-CN" altLang="zh-CN" sz="3200" b="1" kern="0" dirty="0">
                <a:latin typeface="+mn-lt"/>
                <a:ea typeface="+mn-ea"/>
              </a:rPr>
              <a:t>＝</a:t>
            </a:r>
            <a:r>
              <a:rPr lang="en-US" altLang="zh-CN" sz="3200" b="1" kern="0" dirty="0">
                <a:latin typeface="+mn-lt"/>
                <a:ea typeface="+mn-ea"/>
              </a:rPr>
              <a:t>2000;     </a:t>
            </a:r>
            <a:r>
              <a:rPr lang="zh-CN" altLang="en-US" sz="3200" b="1" kern="0" dirty="0">
                <a:solidFill>
                  <a:srgbClr val="FF0000"/>
                </a:solidFill>
                <a:latin typeface="+mn-lt"/>
                <a:ea typeface="+mn-ea"/>
              </a:rPr>
              <a:t>错误</a:t>
            </a:r>
            <a:endParaRPr lang="en-US" altLang="zh-CN" sz="3200" b="1" kern="0" dirty="0">
              <a:solidFill>
                <a:srgbClr val="FF0000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1"/>
      <p:bldP spid="5" grpId="0"/>
      <p:bldP spid="6" grpId="0"/>
      <p:bldP spid="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697526" y="1305341"/>
            <a:ext cx="8147538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#include 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&lt;iostream&gt;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std;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main()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a[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 = {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4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*p1 =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*p2 =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 //</a:t>
            </a:r>
            <a:r>
              <a:rPr lang="zh-CN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定义指针变量，赋初值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p1 = &amp;a[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     //p1</a:t>
            </a:r>
            <a:r>
              <a:rPr lang="zh-CN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指向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a[1]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p2 = &amp;a[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     //p2</a:t>
            </a:r>
            <a:r>
              <a:rPr lang="zh-CN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指向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a[2]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    //</a:t>
            </a:r>
            <a:r>
              <a:rPr lang="zh-CN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通过指针访问所指向的内容 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&lt;&lt; *p1 &lt;&lt; 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 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&lt;&lt; *p2 &lt;&lt;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 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对话气泡: 圆角矩形 5"/>
          <p:cNvSpPr/>
          <p:nvPr/>
        </p:nvSpPr>
        <p:spPr>
          <a:xfrm>
            <a:off x="2286000" y="5275660"/>
            <a:ext cx="2086707" cy="832063"/>
          </a:xfrm>
          <a:prstGeom prst="wedgeRoundRectCallout">
            <a:avLst>
              <a:gd name="adj1" fmla="val -45746"/>
              <a:gd name="adj2" fmla="val -131366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间接访问运算符</a:t>
            </a:r>
            <a:endParaRPr lang="en-US" dirty="0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13-01</a:t>
            </a:r>
            <a:r>
              <a:rPr lang="zh-CN" altLang="en-US" dirty="0"/>
              <a:t>：间接访问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33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程序说明</a:t>
            </a:r>
            <a:endParaRPr lang="zh-CN" altLang="en-US"/>
          </a:p>
        </p:txBody>
      </p:sp>
      <p:sp>
        <p:nvSpPr>
          <p:cNvPr id="48333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924719" y="4391025"/>
            <a:ext cx="7564437" cy="2193925"/>
          </a:xfrm>
        </p:spPr>
        <p:txBody>
          <a:bodyPr>
            <a:normAutofit fontScale="92500"/>
          </a:bodyPr>
          <a:lstStyle/>
          <a:p>
            <a:pPr eaLnBrk="1" hangingPunct="1">
              <a:lnSpc>
                <a:spcPct val="80000"/>
              </a:lnSpc>
              <a:defRPr/>
            </a:pPr>
            <a:r>
              <a:rPr lang="en-US" altLang="zh-CN" sz="2400" dirty="0"/>
              <a:t>P1 </a:t>
            </a:r>
            <a:r>
              <a:rPr lang="zh-CN" altLang="en-US" sz="2400" dirty="0"/>
              <a:t>和 </a:t>
            </a:r>
            <a:r>
              <a:rPr lang="en-US" altLang="zh-CN" sz="2400" dirty="0"/>
              <a:t>p2 </a:t>
            </a:r>
            <a:r>
              <a:rPr lang="zh-CN" altLang="en-US" sz="2400" dirty="0"/>
              <a:t>分别指向 </a:t>
            </a:r>
            <a:r>
              <a:rPr lang="en-US" altLang="zh-CN" sz="2400" dirty="0"/>
              <a:t>a[1], a[2]</a:t>
            </a:r>
            <a:r>
              <a:rPr lang="zh-CN" altLang="en-US" sz="2400" dirty="0"/>
              <a:t>，这里</a:t>
            </a:r>
            <a:endParaRPr lang="zh-CN" altLang="en-US" sz="2400" dirty="0"/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zh-CN" sz="2400" dirty="0"/>
              <a:t>&amp; </a:t>
            </a:r>
            <a:r>
              <a:rPr lang="en-US" altLang="zh-CN" sz="2400" dirty="0">
                <a:latin typeface="Arial" panose="020B0604020202090204" pitchFamily="34" charset="0"/>
              </a:rPr>
              <a:t>——</a:t>
            </a:r>
            <a:r>
              <a:rPr lang="en-US" altLang="zh-CN" sz="2400" dirty="0"/>
              <a:t> </a:t>
            </a:r>
            <a:r>
              <a:rPr lang="zh-CN" altLang="en-US" sz="2400" dirty="0"/>
              <a:t>取地址运算符</a:t>
            </a:r>
            <a:endParaRPr lang="zh-CN" altLang="en-US" sz="2400" dirty="0"/>
          </a:p>
          <a:p>
            <a:pPr eaLnBrk="1" hangingPunct="1">
              <a:lnSpc>
                <a:spcPct val="80000"/>
              </a:lnSpc>
              <a:defRPr/>
            </a:pPr>
            <a:r>
              <a:rPr lang="zh-CN" altLang="en-US" sz="2400" dirty="0"/>
              <a:t>* </a:t>
            </a:r>
            <a:r>
              <a:rPr lang="en-US" altLang="zh-CN" sz="2400" dirty="0">
                <a:latin typeface="Arial" panose="020B0604020202090204" pitchFamily="34" charset="0"/>
              </a:rPr>
              <a:t>——</a:t>
            </a:r>
            <a:r>
              <a:rPr lang="en-US" altLang="zh-CN" sz="2400" dirty="0"/>
              <a:t> </a:t>
            </a:r>
            <a:r>
              <a:rPr lang="zh-CN" altLang="en-US" sz="2400" dirty="0">
                <a:solidFill>
                  <a:srgbClr val="C00000"/>
                </a:solidFill>
              </a:rPr>
              <a:t>指针运算符（间接访问运算符）</a:t>
            </a:r>
            <a:endParaRPr lang="zh-CN" altLang="en-US" sz="2400" dirty="0">
              <a:solidFill>
                <a:srgbClr val="C00000"/>
              </a:solidFill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zh-CN" altLang="en-US" sz="2400" dirty="0"/>
              <a:t>*</a:t>
            </a:r>
            <a:r>
              <a:rPr lang="en-US" altLang="zh-CN" sz="2400" dirty="0"/>
              <a:t>p1</a:t>
            </a:r>
            <a:r>
              <a:rPr lang="en-US" altLang="zh-CN" sz="2400" dirty="0">
                <a:latin typeface="Arial" panose="020B0604020202090204" pitchFamily="34" charset="0"/>
              </a:rPr>
              <a:t>——</a:t>
            </a:r>
            <a:r>
              <a:rPr lang="zh-CN" altLang="en-US" sz="2400" dirty="0"/>
              <a:t>间接访问</a:t>
            </a:r>
            <a:r>
              <a:rPr lang="en-US" altLang="zh-CN" sz="2400" dirty="0"/>
              <a:t>p1</a:t>
            </a:r>
            <a:r>
              <a:rPr lang="zh-CN" altLang="en-US" sz="2400" dirty="0"/>
              <a:t>所指向的内存单元，输出</a:t>
            </a:r>
            <a:r>
              <a:rPr lang="en-US" altLang="zh-CN" sz="2400" dirty="0"/>
              <a:t>a[1]</a:t>
            </a:r>
            <a:r>
              <a:rPr lang="zh-CN" altLang="en-US" sz="2400" dirty="0"/>
              <a:t>的值</a:t>
            </a:r>
            <a:endParaRPr lang="zh-CN" altLang="en-US" sz="2400" dirty="0"/>
          </a:p>
          <a:p>
            <a:pPr eaLnBrk="1" hangingPunct="1">
              <a:lnSpc>
                <a:spcPct val="80000"/>
              </a:lnSpc>
              <a:defRPr/>
            </a:pPr>
            <a:r>
              <a:rPr lang="zh-CN" altLang="en-US" sz="2400" dirty="0"/>
              <a:t>*</a:t>
            </a:r>
            <a:r>
              <a:rPr lang="en-US" altLang="zh-CN" sz="2400" dirty="0"/>
              <a:t>p2</a:t>
            </a:r>
            <a:r>
              <a:rPr lang="en-US" altLang="zh-CN" sz="2400" dirty="0">
                <a:latin typeface="Arial" panose="020B0604020202090204" pitchFamily="34" charset="0"/>
              </a:rPr>
              <a:t>——</a:t>
            </a:r>
            <a:r>
              <a:rPr lang="zh-CN" altLang="en-US" sz="2400" dirty="0"/>
              <a:t>间接访问</a:t>
            </a:r>
            <a:r>
              <a:rPr lang="en-US" altLang="zh-CN" sz="2400" dirty="0"/>
              <a:t>p2</a:t>
            </a:r>
            <a:r>
              <a:rPr lang="zh-CN" altLang="en-US" sz="2400" dirty="0"/>
              <a:t>所指向的内存单元，输出</a:t>
            </a:r>
            <a:r>
              <a:rPr lang="en-US" altLang="zh-CN" sz="2400" dirty="0"/>
              <a:t>a[2]</a:t>
            </a:r>
            <a:r>
              <a:rPr lang="zh-CN" altLang="en-US" sz="2400" dirty="0"/>
              <a:t>的值</a:t>
            </a:r>
            <a:endParaRPr lang="zh-CN" altLang="en-US" sz="2400" dirty="0"/>
          </a:p>
        </p:txBody>
      </p:sp>
      <p:grpSp>
        <p:nvGrpSpPr>
          <p:cNvPr id="17412" name="Group 4"/>
          <p:cNvGrpSpPr/>
          <p:nvPr/>
        </p:nvGrpSpPr>
        <p:grpSpPr bwMode="auto">
          <a:xfrm>
            <a:off x="2924175" y="2420938"/>
            <a:ext cx="3095625" cy="1970087"/>
            <a:chOff x="1338" y="1434"/>
            <a:chExt cx="1950" cy="1241"/>
          </a:xfrm>
        </p:grpSpPr>
        <p:sp>
          <p:nvSpPr>
            <p:cNvPr id="17433" name="Text Box 5"/>
            <p:cNvSpPr txBox="1">
              <a:spLocks noChangeArrowheads="1"/>
            </p:cNvSpPr>
            <p:nvPr/>
          </p:nvSpPr>
          <p:spPr bwMode="auto">
            <a:xfrm>
              <a:off x="1519" y="2069"/>
              <a:ext cx="596" cy="296"/>
            </a:xfrm>
            <a:prstGeom prst="rect">
              <a:avLst/>
            </a:prstGeom>
            <a:noFill/>
            <a:ln w="12700" cap="sq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70195"/>
                    </a:srgb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400">
                  <a:latin typeface="Times New Roman" panose="02020503050405090304" pitchFamily="18" charset="0"/>
                  <a:ea typeface="黑体" panose="02010609060101010101" pitchFamily="49" charset="-122"/>
                </a:rPr>
                <a:t>&amp;a[1]</a:t>
              </a:r>
              <a:endParaRPr kumimoji="1" lang="en-US" altLang="zh-CN" sz="2400">
                <a:latin typeface="Times New Roman" panose="0202050305040509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17434" name="Text Box 6"/>
            <p:cNvSpPr txBox="1">
              <a:spLocks noChangeArrowheads="1"/>
            </p:cNvSpPr>
            <p:nvPr/>
          </p:nvSpPr>
          <p:spPr bwMode="auto">
            <a:xfrm>
              <a:off x="2290" y="2069"/>
              <a:ext cx="596" cy="296"/>
            </a:xfrm>
            <a:prstGeom prst="rect">
              <a:avLst/>
            </a:prstGeom>
            <a:noFill/>
            <a:ln w="12700" cap="sq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70195"/>
                    </a:srgb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400">
                  <a:latin typeface="Times New Roman" panose="02020503050405090304" pitchFamily="18" charset="0"/>
                  <a:ea typeface="黑体" panose="02010609060101010101" pitchFamily="49" charset="-122"/>
                </a:rPr>
                <a:t>&amp;a[2]</a:t>
              </a:r>
              <a:endParaRPr kumimoji="1" lang="en-US" altLang="zh-CN" sz="2400">
                <a:latin typeface="Times New Roman" panose="0202050305040509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17435" name="Line 7"/>
            <p:cNvSpPr>
              <a:spLocks noChangeShapeType="1"/>
            </p:cNvSpPr>
            <p:nvPr/>
          </p:nvSpPr>
          <p:spPr bwMode="auto">
            <a:xfrm flipV="1">
              <a:off x="1791" y="1443"/>
              <a:ext cx="0" cy="717"/>
            </a:xfrm>
            <a:prstGeom prst="line">
              <a:avLst/>
            </a:prstGeom>
            <a:noFill/>
            <a:ln w="76200" cap="sq">
              <a:solidFill>
                <a:schemeClr val="accent2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7436" name="Line 8"/>
            <p:cNvSpPr>
              <a:spLocks noChangeShapeType="1"/>
            </p:cNvSpPr>
            <p:nvPr/>
          </p:nvSpPr>
          <p:spPr bwMode="auto">
            <a:xfrm flipV="1">
              <a:off x="2562" y="1434"/>
              <a:ext cx="0" cy="726"/>
            </a:xfrm>
            <a:prstGeom prst="line">
              <a:avLst/>
            </a:prstGeom>
            <a:noFill/>
            <a:ln w="76200" cap="sq">
              <a:solidFill>
                <a:schemeClr val="accent2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7437" name="Text Box 9"/>
            <p:cNvSpPr txBox="1">
              <a:spLocks noChangeArrowheads="1"/>
            </p:cNvSpPr>
            <p:nvPr/>
          </p:nvSpPr>
          <p:spPr bwMode="auto">
            <a:xfrm>
              <a:off x="1519" y="2387"/>
              <a:ext cx="59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70195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400">
                  <a:latin typeface="Times New Roman" panose="02020503050405090304" pitchFamily="18" charset="0"/>
                  <a:ea typeface="黑体" panose="02010609060101010101" pitchFamily="49" charset="-122"/>
                </a:rPr>
                <a:t>&amp;p1</a:t>
              </a:r>
              <a:endParaRPr kumimoji="1" lang="en-US" altLang="zh-CN" sz="2400">
                <a:latin typeface="Times New Roman" panose="0202050305040509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17438" name="Text Box 10"/>
            <p:cNvSpPr txBox="1">
              <a:spLocks noChangeArrowheads="1"/>
            </p:cNvSpPr>
            <p:nvPr/>
          </p:nvSpPr>
          <p:spPr bwMode="auto">
            <a:xfrm>
              <a:off x="2290" y="2387"/>
              <a:ext cx="59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70195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400">
                  <a:latin typeface="Times New Roman" panose="02020503050405090304" pitchFamily="18" charset="0"/>
                  <a:ea typeface="黑体" panose="02010609060101010101" pitchFamily="49" charset="-122"/>
                </a:rPr>
                <a:t>&amp;p2</a:t>
              </a:r>
              <a:endParaRPr kumimoji="1" lang="en-US" altLang="zh-CN" sz="2400">
                <a:latin typeface="Times New Roman" panose="0202050305040509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17439" name="Text Box 11"/>
            <p:cNvSpPr txBox="1">
              <a:spLocks noChangeArrowheads="1"/>
            </p:cNvSpPr>
            <p:nvPr/>
          </p:nvSpPr>
          <p:spPr bwMode="auto">
            <a:xfrm>
              <a:off x="1338" y="1752"/>
              <a:ext cx="59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70195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400">
                  <a:latin typeface="Times New Roman" panose="02020503050405090304" pitchFamily="18" charset="0"/>
                  <a:ea typeface="黑体" panose="02010609060101010101" pitchFamily="49" charset="-122"/>
                </a:rPr>
                <a:t>p1</a:t>
              </a:r>
              <a:endParaRPr kumimoji="1" lang="en-US" altLang="zh-CN" sz="2400">
                <a:latin typeface="Times New Roman" panose="0202050305040509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17440" name="Text Box 12"/>
            <p:cNvSpPr txBox="1">
              <a:spLocks noChangeArrowheads="1"/>
            </p:cNvSpPr>
            <p:nvPr/>
          </p:nvSpPr>
          <p:spPr bwMode="auto">
            <a:xfrm>
              <a:off x="2692" y="1752"/>
              <a:ext cx="59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70195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400">
                  <a:latin typeface="Times New Roman" panose="02020503050405090304" pitchFamily="18" charset="0"/>
                  <a:ea typeface="黑体" panose="02010609060101010101" pitchFamily="49" charset="-122"/>
                </a:rPr>
                <a:t>p2</a:t>
              </a:r>
              <a:endParaRPr kumimoji="1" lang="en-US" altLang="zh-CN" sz="2400">
                <a:latin typeface="Times New Roman" panose="02020503050405090304" pitchFamily="18" charset="0"/>
                <a:ea typeface="黑体" panose="02010609060101010101" pitchFamily="49" charset="-122"/>
              </a:endParaRPr>
            </a:p>
          </p:txBody>
        </p:sp>
      </p:grpSp>
      <p:graphicFrame>
        <p:nvGraphicFramePr>
          <p:cNvPr id="483341" name="Group 13"/>
          <p:cNvGraphicFramePr>
            <a:graphicFrameLocks noGrp="1"/>
          </p:cNvGraphicFramePr>
          <p:nvPr/>
        </p:nvGraphicFramePr>
        <p:xfrm>
          <a:off x="1601788" y="1412875"/>
          <a:ext cx="6210300" cy="518048"/>
        </p:xfrm>
        <a:graphic>
          <a:graphicData uri="http://schemas.openxmlformats.org/drawingml/2006/table">
            <a:tbl>
              <a:tblPr/>
              <a:tblGrid>
                <a:gridCol w="1241425"/>
                <a:gridCol w="1241425"/>
                <a:gridCol w="1244600"/>
                <a:gridCol w="1241425"/>
                <a:gridCol w="1241425"/>
              </a:tblGrid>
              <a:tr h="5175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rPr>
                        <a:t>0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itchFamily="2" charset="-122"/>
                      </a:endParaRPr>
                    </a:p>
                  </a:txBody>
                  <a:tcPr marT="45664" marB="4566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rPr>
                        <a:t>1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itchFamily="2" charset="-122"/>
                      </a:endParaRPr>
                    </a:p>
                  </a:txBody>
                  <a:tcPr marT="45664" marB="4566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rPr>
                        <a:t>2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itchFamily="2" charset="-122"/>
                      </a:endParaRPr>
                    </a:p>
                  </a:txBody>
                  <a:tcPr marT="45664" marB="4566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rPr>
                        <a:t>3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itchFamily="2" charset="-122"/>
                      </a:endParaRPr>
                    </a:p>
                  </a:txBody>
                  <a:tcPr marT="45664" marB="4566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rPr>
                        <a:t>4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itchFamily="2" charset="-122"/>
                      </a:endParaRPr>
                    </a:p>
                  </a:txBody>
                  <a:tcPr marT="45664" marB="4566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483355" name="Group 27"/>
          <p:cNvGraphicFramePr>
            <a:graphicFrameLocks noGrp="1"/>
          </p:cNvGraphicFramePr>
          <p:nvPr/>
        </p:nvGraphicFramePr>
        <p:xfrm>
          <a:off x="1811338" y="1917700"/>
          <a:ext cx="5865812" cy="518048"/>
        </p:xfrm>
        <a:graphic>
          <a:graphicData uri="http://schemas.openxmlformats.org/drawingml/2006/table">
            <a:tbl>
              <a:tblPr/>
              <a:tblGrid>
                <a:gridCol w="1173162"/>
                <a:gridCol w="1173163"/>
                <a:gridCol w="1173162"/>
                <a:gridCol w="1173163"/>
                <a:gridCol w="1173162"/>
              </a:tblGrid>
              <a:tr h="5175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rPr>
                        <a:t>&amp;a[0]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itchFamily="2" charset="-122"/>
                      </a:endParaRPr>
                    </a:p>
                  </a:txBody>
                  <a:tcPr marT="45664" marB="45664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rPr>
                        <a:t>&amp;a[1]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itchFamily="2" charset="-122"/>
                      </a:endParaRPr>
                    </a:p>
                  </a:txBody>
                  <a:tcPr marT="45664" marB="45664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rPr>
                        <a:t>&amp;a[2]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itchFamily="2" charset="-122"/>
                      </a:endParaRPr>
                    </a:p>
                  </a:txBody>
                  <a:tcPr marT="45664" marB="45664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rPr>
                        <a:t>&amp;a[3]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itchFamily="2" charset="-122"/>
                      </a:endParaRPr>
                    </a:p>
                  </a:txBody>
                  <a:tcPr marT="45664" marB="45664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rPr>
                        <a:t>&amp;a[4]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itchFamily="2" charset="-122"/>
                      </a:endParaRPr>
                    </a:p>
                  </a:txBody>
                  <a:tcPr marT="45664" marB="45664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8352" y="3907478"/>
            <a:ext cx="5156783" cy="2430807"/>
          </a:xfrm>
          <a:prstGeom prst="rect">
            <a:avLst/>
          </a:prstGeom>
        </p:spPr>
      </p:pic>
      <p:sp>
        <p:nvSpPr>
          <p:cNvPr id="48435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间接访问运算符 </a:t>
            </a:r>
            <a:r>
              <a:rPr lang="en-US" altLang="zh-CN" dirty="0">
                <a:solidFill>
                  <a:srgbClr val="C00000"/>
                </a:solidFill>
              </a:rPr>
              <a:t>*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4843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32000" y="1188000"/>
            <a:ext cx="8280000" cy="4351338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dirty="0"/>
              <a:t>int  a;</a:t>
            </a:r>
            <a:endParaRPr lang="en-US" altLang="zh-CN" dirty="0"/>
          </a:p>
          <a:p>
            <a:pPr eaLnBrk="1" hangingPunct="1">
              <a:defRPr/>
            </a:pPr>
            <a:r>
              <a:rPr lang="en-US" altLang="zh-CN" dirty="0"/>
              <a:t>int  *p;</a:t>
            </a:r>
            <a:endParaRPr lang="en-US" altLang="zh-CN" dirty="0"/>
          </a:p>
          <a:p>
            <a:pPr eaLnBrk="1" hangingPunct="1">
              <a:defRPr/>
            </a:pPr>
            <a:r>
              <a:rPr lang="en-US" altLang="zh-CN" dirty="0"/>
              <a:t>p=&amp;a;</a:t>
            </a:r>
            <a:endParaRPr lang="en-US" altLang="zh-CN" dirty="0"/>
          </a:p>
          <a:p>
            <a:pPr eaLnBrk="1" hangingPunct="1">
              <a:defRPr/>
            </a:pPr>
            <a:r>
              <a:rPr lang="en-US" altLang="zh-CN" dirty="0">
                <a:solidFill>
                  <a:srgbClr val="C00000"/>
                </a:solidFill>
              </a:rPr>
              <a:t>a=66;  </a:t>
            </a:r>
            <a:r>
              <a:rPr lang="zh-CN" altLang="en-US" dirty="0">
                <a:solidFill>
                  <a:srgbClr val="C00000"/>
                </a:solidFill>
              </a:rPr>
              <a:t>等效于*</a:t>
            </a:r>
            <a:r>
              <a:rPr lang="en-US" altLang="zh-CN" dirty="0">
                <a:solidFill>
                  <a:srgbClr val="C00000"/>
                </a:solidFill>
              </a:rPr>
              <a:t>p=66;</a:t>
            </a:r>
            <a:endParaRPr lang="en-US" altLang="zh-CN" dirty="0">
              <a:solidFill>
                <a:srgbClr val="C00000"/>
              </a:solidFill>
            </a:endParaRPr>
          </a:p>
          <a:p>
            <a:pPr eaLnBrk="1" hangingPunct="1">
              <a:defRPr/>
            </a:pPr>
            <a:endParaRPr lang="en-US" altLang="zh-CN" dirty="0">
              <a:solidFill>
                <a:srgbClr val="FFFF00"/>
              </a:solidFill>
            </a:endParaRPr>
          </a:p>
        </p:txBody>
      </p:sp>
      <p:grpSp>
        <p:nvGrpSpPr>
          <p:cNvPr id="18437" name="Group 23"/>
          <p:cNvGrpSpPr/>
          <p:nvPr/>
        </p:nvGrpSpPr>
        <p:grpSpPr bwMode="auto">
          <a:xfrm>
            <a:off x="5446760" y="125981"/>
            <a:ext cx="1535454" cy="2582528"/>
            <a:chOff x="4423" y="1888"/>
            <a:chExt cx="1089" cy="2184"/>
          </a:xfrm>
        </p:grpSpPr>
        <p:grpSp>
          <p:nvGrpSpPr>
            <p:cNvPr id="18438" name="Group 14"/>
            <p:cNvGrpSpPr/>
            <p:nvPr/>
          </p:nvGrpSpPr>
          <p:grpSpPr bwMode="auto">
            <a:xfrm>
              <a:off x="4423" y="1888"/>
              <a:ext cx="1044" cy="1096"/>
              <a:chOff x="385" y="1933"/>
              <a:chExt cx="727" cy="1060"/>
            </a:xfrm>
          </p:grpSpPr>
          <p:sp>
            <p:nvSpPr>
              <p:cNvPr id="18444" name="Rectangle 15"/>
              <p:cNvSpPr>
                <a:spLocks noChangeArrowheads="1"/>
              </p:cNvSpPr>
              <p:nvPr/>
            </p:nvSpPr>
            <p:spPr bwMode="auto">
              <a:xfrm>
                <a:off x="431" y="2270"/>
                <a:ext cx="680" cy="372"/>
              </a:xfrm>
              <a:prstGeom prst="rect">
                <a:avLst/>
              </a:prstGeom>
              <a:noFill/>
              <a:ln w="57150" algn="ctr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>
                <a:lvl1pPr algn="ctr">
                  <a:spcBef>
                    <a:spcPct val="50000"/>
                  </a:spcBef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itchFamily="2" charset="-122"/>
                  </a:defRPr>
                </a:lvl1pPr>
                <a:lvl2pPr marL="742950" indent="-285750" algn="ctr">
                  <a:spcBef>
                    <a:spcPct val="50000"/>
                  </a:spcBef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itchFamily="2" charset="-122"/>
                  </a:defRPr>
                </a:lvl2pPr>
                <a:lvl3pPr marL="1143000" indent="-228600" algn="ctr">
                  <a:spcBef>
                    <a:spcPct val="50000"/>
                  </a:spcBef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itchFamily="2" charset="-122"/>
                  </a:defRPr>
                </a:lvl3pPr>
                <a:lvl4pPr marL="1600200" indent="-228600" algn="ctr">
                  <a:spcBef>
                    <a:spcPct val="50000"/>
                  </a:spcBef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itchFamily="2" charset="-122"/>
                  </a:defRPr>
                </a:lvl4pPr>
                <a:lvl5pPr marL="2057400" indent="-228600" algn="ctr">
                  <a:spcBef>
                    <a:spcPct val="50000"/>
                  </a:spcBef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lang="en-US" altLang="zh-CN" sz="2800"/>
                  <a:t>*p</a:t>
                </a:r>
                <a:endParaRPr lang="en-US" altLang="zh-CN" sz="2800"/>
              </a:p>
            </p:txBody>
          </p:sp>
          <p:sp>
            <p:nvSpPr>
              <p:cNvPr id="18445" name="Text Box 16"/>
              <p:cNvSpPr txBox="1">
                <a:spLocks noChangeArrowheads="1"/>
              </p:cNvSpPr>
              <p:nvPr/>
            </p:nvSpPr>
            <p:spPr bwMode="auto">
              <a:xfrm>
                <a:off x="385" y="1933"/>
                <a:ext cx="681" cy="3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571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algn="ctr">
                  <a:spcBef>
                    <a:spcPct val="50000"/>
                  </a:spcBef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itchFamily="2" charset="-122"/>
                  </a:defRPr>
                </a:lvl1pPr>
                <a:lvl2pPr marL="742950" indent="-285750" algn="ctr">
                  <a:spcBef>
                    <a:spcPct val="50000"/>
                  </a:spcBef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itchFamily="2" charset="-122"/>
                  </a:defRPr>
                </a:lvl2pPr>
                <a:lvl3pPr marL="1143000" indent="-228600" algn="ctr">
                  <a:spcBef>
                    <a:spcPct val="50000"/>
                  </a:spcBef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itchFamily="2" charset="-122"/>
                  </a:defRPr>
                </a:lvl3pPr>
                <a:lvl4pPr marL="1600200" indent="-228600" algn="ctr">
                  <a:spcBef>
                    <a:spcPct val="50000"/>
                  </a:spcBef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itchFamily="2" charset="-122"/>
                  </a:defRPr>
                </a:lvl4pPr>
                <a:lvl5pPr marL="2057400" indent="-228600" algn="ctr">
                  <a:spcBef>
                    <a:spcPct val="50000"/>
                  </a:spcBef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lang="en-US" altLang="zh-CN" sz="2800"/>
                  <a:t>a</a:t>
                </a:r>
                <a:endParaRPr lang="en-US" altLang="zh-CN" sz="2800"/>
              </a:p>
            </p:txBody>
          </p:sp>
          <p:sp>
            <p:nvSpPr>
              <p:cNvPr id="18446" name="Text Box 17"/>
              <p:cNvSpPr txBox="1">
                <a:spLocks noChangeArrowheads="1"/>
              </p:cNvSpPr>
              <p:nvPr/>
            </p:nvSpPr>
            <p:spPr bwMode="auto">
              <a:xfrm>
                <a:off x="431" y="2659"/>
                <a:ext cx="681" cy="3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571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algn="ctr">
                  <a:spcBef>
                    <a:spcPct val="50000"/>
                  </a:spcBef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itchFamily="2" charset="-122"/>
                  </a:defRPr>
                </a:lvl1pPr>
                <a:lvl2pPr marL="742950" indent="-285750" algn="ctr">
                  <a:spcBef>
                    <a:spcPct val="50000"/>
                  </a:spcBef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itchFamily="2" charset="-122"/>
                  </a:defRPr>
                </a:lvl2pPr>
                <a:lvl3pPr marL="1143000" indent="-228600" algn="ctr">
                  <a:spcBef>
                    <a:spcPct val="50000"/>
                  </a:spcBef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itchFamily="2" charset="-122"/>
                  </a:defRPr>
                </a:lvl3pPr>
                <a:lvl4pPr marL="1600200" indent="-228600" algn="ctr">
                  <a:spcBef>
                    <a:spcPct val="50000"/>
                  </a:spcBef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itchFamily="2" charset="-122"/>
                  </a:defRPr>
                </a:lvl4pPr>
                <a:lvl5pPr marL="2057400" indent="-228600" algn="ctr">
                  <a:spcBef>
                    <a:spcPct val="50000"/>
                  </a:spcBef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lang="en-US" altLang="zh-CN" sz="2800"/>
                  <a:t>&amp;a</a:t>
                </a:r>
                <a:endParaRPr lang="en-US" altLang="zh-CN" sz="2800"/>
              </a:p>
            </p:txBody>
          </p:sp>
        </p:grpSp>
        <p:grpSp>
          <p:nvGrpSpPr>
            <p:cNvPr id="18439" name="Group 18"/>
            <p:cNvGrpSpPr/>
            <p:nvPr/>
          </p:nvGrpSpPr>
          <p:grpSpPr bwMode="auto">
            <a:xfrm>
              <a:off x="4468" y="2976"/>
              <a:ext cx="1044" cy="1096"/>
              <a:chOff x="385" y="1933"/>
              <a:chExt cx="727" cy="1060"/>
            </a:xfrm>
          </p:grpSpPr>
          <p:sp>
            <p:nvSpPr>
              <p:cNvPr id="18441" name="Rectangle 19"/>
              <p:cNvSpPr>
                <a:spLocks noChangeArrowheads="1"/>
              </p:cNvSpPr>
              <p:nvPr/>
            </p:nvSpPr>
            <p:spPr bwMode="auto">
              <a:xfrm>
                <a:off x="431" y="2270"/>
                <a:ext cx="680" cy="372"/>
              </a:xfrm>
              <a:prstGeom prst="rect">
                <a:avLst/>
              </a:prstGeom>
              <a:noFill/>
              <a:ln w="57150" algn="ctr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>
                <a:lvl1pPr algn="ctr">
                  <a:spcBef>
                    <a:spcPct val="50000"/>
                  </a:spcBef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itchFamily="2" charset="-122"/>
                  </a:defRPr>
                </a:lvl1pPr>
                <a:lvl2pPr marL="742950" indent="-285750" algn="ctr">
                  <a:spcBef>
                    <a:spcPct val="50000"/>
                  </a:spcBef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itchFamily="2" charset="-122"/>
                  </a:defRPr>
                </a:lvl2pPr>
                <a:lvl3pPr marL="1143000" indent="-228600" algn="ctr">
                  <a:spcBef>
                    <a:spcPct val="50000"/>
                  </a:spcBef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itchFamily="2" charset="-122"/>
                  </a:defRPr>
                </a:lvl3pPr>
                <a:lvl4pPr marL="1600200" indent="-228600" algn="ctr">
                  <a:spcBef>
                    <a:spcPct val="50000"/>
                  </a:spcBef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itchFamily="2" charset="-122"/>
                  </a:defRPr>
                </a:lvl4pPr>
                <a:lvl5pPr marL="2057400" indent="-228600" algn="ctr">
                  <a:spcBef>
                    <a:spcPct val="50000"/>
                  </a:spcBef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lang="en-US" altLang="zh-CN" sz="2800"/>
                  <a:t>&amp;a</a:t>
                </a:r>
                <a:endParaRPr lang="en-US" altLang="zh-CN" sz="2800"/>
              </a:p>
            </p:txBody>
          </p:sp>
          <p:sp>
            <p:nvSpPr>
              <p:cNvPr id="18442" name="Text Box 20"/>
              <p:cNvSpPr txBox="1">
                <a:spLocks noChangeArrowheads="1"/>
              </p:cNvSpPr>
              <p:nvPr/>
            </p:nvSpPr>
            <p:spPr bwMode="auto">
              <a:xfrm>
                <a:off x="385" y="1933"/>
                <a:ext cx="681" cy="3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571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algn="ctr">
                  <a:spcBef>
                    <a:spcPct val="50000"/>
                  </a:spcBef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itchFamily="2" charset="-122"/>
                  </a:defRPr>
                </a:lvl1pPr>
                <a:lvl2pPr marL="742950" indent="-285750" algn="ctr">
                  <a:spcBef>
                    <a:spcPct val="50000"/>
                  </a:spcBef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itchFamily="2" charset="-122"/>
                  </a:defRPr>
                </a:lvl2pPr>
                <a:lvl3pPr marL="1143000" indent="-228600" algn="ctr">
                  <a:spcBef>
                    <a:spcPct val="50000"/>
                  </a:spcBef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itchFamily="2" charset="-122"/>
                  </a:defRPr>
                </a:lvl3pPr>
                <a:lvl4pPr marL="1600200" indent="-228600" algn="ctr">
                  <a:spcBef>
                    <a:spcPct val="50000"/>
                  </a:spcBef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itchFamily="2" charset="-122"/>
                  </a:defRPr>
                </a:lvl4pPr>
                <a:lvl5pPr marL="2057400" indent="-228600" algn="ctr">
                  <a:spcBef>
                    <a:spcPct val="50000"/>
                  </a:spcBef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lang="en-US" altLang="zh-CN" sz="2800"/>
                  <a:t>p</a:t>
                </a:r>
                <a:endParaRPr lang="en-US" altLang="zh-CN" sz="2800"/>
              </a:p>
            </p:txBody>
          </p:sp>
          <p:sp>
            <p:nvSpPr>
              <p:cNvPr id="18443" name="Text Box 21"/>
              <p:cNvSpPr txBox="1">
                <a:spLocks noChangeArrowheads="1"/>
              </p:cNvSpPr>
              <p:nvPr/>
            </p:nvSpPr>
            <p:spPr bwMode="auto">
              <a:xfrm>
                <a:off x="431" y="2659"/>
                <a:ext cx="681" cy="3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571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algn="ctr">
                  <a:spcBef>
                    <a:spcPct val="50000"/>
                  </a:spcBef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itchFamily="2" charset="-122"/>
                  </a:defRPr>
                </a:lvl1pPr>
                <a:lvl2pPr marL="742950" indent="-285750" algn="ctr">
                  <a:spcBef>
                    <a:spcPct val="50000"/>
                  </a:spcBef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itchFamily="2" charset="-122"/>
                  </a:defRPr>
                </a:lvl2pPr>
                <a:lvl3pPr marL="1143000" indent="-228600" algn="ctr">
                  <a:spcBef>
                    <a:spcPct val="50000"/>
                  </a:spcBef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itchFamily="2" charset="-122"/>
                  </a:defRPr>
                </a:lvl3pPr>
                <a:lvl4pPr marL="1600200" indent="-228600" algn="ctr">
                  <a:spcBef>
                    <a:spcPct val="50000"/>
                  </a:spcBef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itchFamily="2" charset="-122"/>
                  </a:defRPr>
                </a:lvl4pPr>
                <a:lvl5pPr marL="2057400" indent="-228600" algn="ctr">
                  <a:spcBef>
                    <a:spcPct val="50000"/>
                  </a:spcBef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lang="en-US" altLang="zh-CN" sz="2800"/>
                  <a:t>&amp;p</a:t>
                </a:r>
                <a:endParaRPr lang="en-US" altLang="zh-CN" sz="2800"/>
              </a:p>
            </p:txBody>
          </p:sp>
        </p:grpSp>
        <p:sp>
          <p:nvSpPr>
            <p:cNvPr id="18440" name="Line 22"/>
            <p:cNvSpPr>
              <a:spLocks noChangeShapeType="1"/>
            </p:cNvSpPr>
            <p:nvPr/>
          </p:nvSpPr>
          <p:spPr bwMode="auto">
            <a:xfrm flipV="1">
              <a:off x="5329" y="2432"/>
              <a:ext cx="0" cy="998"/>
            </a:xfrm>
            <a:prstGeom prst="line">
              <a:avLst/>
            </a:prstGeom>
            <a:noFill/>
            <a:ln w="57150">
              <a:solidFill>
                <a:schemeClr val="hlink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48" name="Rectangle 5"/>
          <p:cNvSpPr>
            <a:spLocks noChangeArrowheads="1"/>
          </p:cNvSpPr>
          <p:nvPr/>
        </p:nvSpPr>
        <p:spPr bwMode="auto">
          <a:xfrm>
            <a:off x="4782922" y="3702269"/>
            <a:ext cx="1120775" cy="514350"/>
          </a:xfrm>
          <a:prstGeom prst="rect">
            <a:avLst/>
          </a:prstGeom>
          <a:noFill/>
          <a:ln w="57150" cap="sq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195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 b="0" dirty="0">
                <a:latin typeface="Times New Roman" panose="02020503050405090304" pitchFamily="18" charset="0"/>
                <a:ea typeface="黑体" panose="02010609060101010101" pitchFamily="49" charset="-122"/>
              </a:rPr>
              <a:t>&amp;</a:t>
            </a:r>
            <a:r>
              <a:rPr kumimoji="1" lang="en-US" altLang="zh-CN" sz="2400" b="0" dirty="0" err="1">
                <a:latin typeface="Times New Roman" panose="02020503050405090304" pitchFamily="18" charset="0"/>
                <a:ea typeface="黑体" panose="02010609060101010101" pitchFamily="49" charset="-122"/>
              </a:rPr>
              <a:t>aKey</a:t>
            </a:r>
            <a:endParaRPr kumimoji="1" lang="en-US" altLang="zh-CN" sz="2400" b="0" dirty="0">
              <a:latin typeface="Times New Roman" panose="02020503050405090304" pitchFamily="18" charset="0"/>
              <a:ea typeface="黑体" panose="02010609060101010101" pitchFamily="49" charset="-122"/>
            </a:endParaRPr>
          </a:p>
        </p:txBody>
      </p:sp>
      <p:sp>
        <p:nvSpPr>
          <p:cNvPr id="49" name="Rectangle 6"/>
          <p:cNvSpPr>
            <a:spLocks noChangeArrowheads="1"/>
          </p:cNvSpPr>
          <p:nvPr/>
        </p:nvSpPr>
        <p:spPr bwMode="auto">
          <a:xfrm>
            <a:off x="6896718" y="3702269"/>
            <a:ext cx="1727200" cy="514350"/>
          </a:xfrm>
          <a:prstGeom prst="rect">
            <a:avLst/>
          </a:prstGeom>
          <a:noFill/>
          <a:ln w="57150" cap="sq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195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1pPr>
            <a:lvl2pPr marL="742950" indent="-28575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2pPr>
            <a:lvl3pPr marL="1143000" indent="-22860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3pPr>
            <a:lvl4pPr marL="1600200" indent="-22860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4pPr>
            <a:lvl5pPr marL="2057400" indent="-22860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zh-CN" sz="2400" b="0" dirty="0">
                <a:latin typeface="Arial" panose="020B0604020202090204" pitchFamily="34" charset="0"/>
              </a:rPr>
              <a:t>66</a:t>
            </a:r>
            <a:endParaRPr lang="en-US" altLang="zh-CN" sz="2400" b="0" dirty="0">
              <a:latin typeface="Arial" panose="020B0604020202090204" pitchFamily="34" charset="0"/>
            </a:endParaRPr>
          </a:p>
        </p:txBody>
      </p:sp>
      <p:sp>
        <p:nvSpPr>
          <p:cNvPr id="50" name="Rectangle 7"/>
          <p:cNvSpPr>
            <a:spLocks noChangeArrowheads="1"/>
          </p:cNvSpPr>
          <p:nvPr/>
        </p:nvSpPr>
        <p:spPr bwMode="auto">
          <a:xfrm>
            <a:off x="5107011" y="5733475"/>
            <a:ext cx="884237" cy="514350"/>
          </a:xfrm>
          <a:prstGeom prst="rect">
            <a:avLst/>
          </a:prstGeom>
          <a:noFill/>
          <a:ln w="57150" cap="sq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195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1pPr>
            <a:lvl2pPr marL="742950" indent="-28575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2pPr>
            <a:lvl3pPr marL="1143000" indent="-22860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3pPr>
            <a:lvl4pPr marL="1600200" indent="-22860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4pPr>
            <a:lvl5pPr marL="2057400" indent="-22860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en-US" altLang="zh-CN" sz="2400" b="0">
                <a:latin typeface="Arial" panose="020B0604020202090204" pitchFamily="34" charset="0"/>
              </a:rPr>
              <a:t>&amp;b</a:t>
            </a:r>
            <a:endParaRPr lang="en-US" altLang="zh-CN" sz="2400" b="0">
              <a:latin typeface="Arial" panose="020B0604020202090204" pitchFamily="34" charset="0"/>
            </a:endParaRPr>
          </a:p>
        </p:txBody>
      </p:sp>
      <p:sp>
        <p:nvSpPr>
          <p:cNvPr id="51" name="Rectangle 8"/>
          <p:cNvSpPr>
            <a:spLocks noChangeArrowheads="1"/>
          </p:cNvSpPr>
          <p:nvPr/>
        </p:nvSpPr>
        <p:spPr bwMode="auto">
          <a:xfrm>
            <a:off x="6980189" y="5733475"/>
            <a:ext cx="1655762" cy="514350"/>
          </a:xfrm>
          <a:prstGeom prst="rect">
            <a:avLst/>
          </a:prstGeom>
          <a:noFill/>
          <a:ln w="57150" cap="sq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195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1pPr>
            <a:lvl2pPr marL="742950" indent="-28575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2pPr>
            <a:lvl3pPr marL="1143000" indent="-22860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3pPr>
            <a:lvl4pPr marL="1600200" indent="-22860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4pPr>
            <a:lvl5pPr marL="2057400" indent="-22860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zh-CN" sz="2400" b="0">
                <a:latin typeface="Arial" panose="020B0604020202090204" pitchFamily="34" charset="0"/>
              </a:rPr>
              <a:t>66</a:t>
            </a:r>
            <a:endParaRPr lang="en-US" altLang="zh-CN" sz="2400" b="0">
              <a:latin typeface="Arial" panose="020B0604020202090204" pitchFamily="34" charset="0"/>
            </a:endParaRPr>
          </a:p>
        </p:txBody>
      </p:sp>
      <p:sp>
        <p:nvSpPr>
          <p:cNvPr id="52" name="Line 9"/>
          <p:cNvSpPr>
            <a:spLocks noChangeShapeType="1"/>
          </p:cNvSpPr>
          <p:nvPr/>
        </p:nvSpPr>
        <p:spPr bwMode="auto">
          <a:xfrm flipV="1">
            <a:off x="5948038" y="3961054"/>
            <a:ext cx="948679" cy="7263"/>
          </a:xfrm>
          <a:prstGeom prst="line">
            <a:avLst/>
          </a:prstGeom>
          <a:noFill/>
          <a:ln w="76200" cap="sq">
            <a:solidFill>
              <a:schemeClr val="hlink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53" name="Line 10"/>
          <p:cNvSpPr>
            <a:spLocks noChangeShapeType="1"/>
          </p:cNvSpPr>
          <p:nvPr/>
        </p:nvSpPr>
        <p:spPr bwMode="auto">
          <a:xfrm flipV="1">
            <a:off x="6028673" y="5939235"/>
            <a:ext cx="951516" cy="8373"/>
          </a:xfrm>
          <a:prstGeom prst="line">
            <a:avLst/>
          </a:prstGeom>
          <a:noFill/>
          <a:ln w="76200" cap="sq">
            <a:solidFill>
              <a:schemeClr val="hlink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54" name="Line 11"/>
          <p:cNvSpPr>
            <a:spLocks noChangeShapeType="1"/>
          </p:cNvSpPr>
          <p:nvPr/>
        </p:nvSpPr>
        <p:spPr bwMode="auto">
          <a:xfrm>
            <a:off x="7939276" y="4269872"/>
            <a:ext cx="14436" cy="1475285"/>
          </a:xfrm>
          <a:prstGeom prst="line">
            <a:avLst/>
          </a:prstGeom>
          <a:noFill/>
          <a:ln w="76200" cap="sq">
            <a:solidFill>
              <a:schemeClr val="hlink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55" name="Rectangle 17"/>
          <p:cNvSpPr>
            <a:spLocks noChangeArrowheads="1"/>
          </p:cNvSpPr>
          <p:nvPr/>
        </p:nvSpPr>
        <p:spPr bwMode="auto">
          <a:xfrm>
            <a:off x="5061473" y="3139322"/>
            <a:ext cx="576263" cy="576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1pPr>
            <a:lvl2pPr marL="742950" indent="-28575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2pPr>
            <a:lvl3pPr marL="1143000" indent="-22860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3pPr>
            <a:lvl4pPr marL="1600200" indent="-22860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4pPr>
            <a:lvl5pPr marL="2057400" indent="-22860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zh-CN" sz="2400" b="0" dirty="0">
                <a:latin typeface="Arial" panose="020B0604020202090204" pitchFamily="34" charset="0"/>
              </a:rPr>
              <a:t>p</a:t>
            </a:r>
            <a:endParaRPr lang="en-US" altLang="zh-CN" sz="2400" b="0" dirty="0">
              <a:latin typeface="Arial" panose="020B0604020202090204" pitchFamily="34" charset="0"/>
            </a:endParaRPr>
          </a:p>
        </p:txBody>
      </p:sp>
      <p:sp>
        <p:nvSpPr>
          <p:cNvPr id="56" name="Rectangle 18"/>
          <p:cNvSpPr>
            <a:spLocks noChangeArrowheads="1"/>
          </p:cNvSpPr>
          <p:nvPr/>
        </p:nvSpPr>
        <p:spPr bwMode="auto">
          <a:xfrm>
            <a:off x="7400968" y="3180004"/>
            <a:ext cx="576263" cy="576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1pPr>
            <a:lvl2pPr marL="742950" indent="-28575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2pPr>
            <a:lvl3pPr marL="1143000" indent="-22860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3pPr>
            <a:lvl4pPr marL="1600200" indent="-22860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4pPr>
            <a:lvl5pPr marL="2057400" indent="-22860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zh-CN" sz="2400" b="0" dirty="0" err="1">
                <a:latin typeface="Arial" panose="020B0604020202090204" pitchFamily="34" charset="0"/>
              </a:rPr>
              <a:t>aKey</a:t>
            </a:r>
            <a:endParaRPr lang="en-US" altLang="zh-CN" sz="2400" b="0" dirty="0">
              <a:latin typeface="Arial" panose="020B0604020202090204" pitchFamily="34" charset="0"/>
            </a:endParaRPr>
          </a:p>
        </p:txBody>
      </p:sp>
      <p:sp>
        <p:nvSpPr>
          <p:cNvPr id="57" name="Rectangle 19"/>
          <p:cNvSpPr>
            <a:spLocks noChangeArrowheads="1"/>
          </p:cNvSpPr>
          <p:nvPr/>
        </p:nvSpPr>
        <p:spPr bwMode="auto">
          <a:xfrm>
            <a:off x="6945650" y="4110897"/>
            <a:ext cx="1008062" cy="576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1pPr>
            <a:lvl2pPr marL="742950" indent="-28575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2pPr>
            <a:lvl3pPr marL="1143000" indent="-22860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3pPr>
            <a:lvl4pPr marL="1600200" indent="-22860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4pPr>
            <a:lvl5pPr marL="2057400" indent="-22860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zh-CN" sz="2400" b="0" dirty="0">
                <a:latin typeface="Arial" panose="020B0604020202090204" pitchFamily="34" charset="0"/>
              </a:rPr>
              <a:t>&amp;</a:t>
            </a:r>
            <a:r>
              <a:rPr lang="en-US" altLang="zh-CN" sz="2400" b="0" dirty="0" err="1">
                <a:latin typeface="Arial" panose="020B0604020202090204" pitchFamily="34" charset="0"/>
              </a:rPr>
              <a:t>aKey</a:t>
            </a:r>
            <a:endParaRPr lang="en-US" altLang="zh-CN" sz="2400" b="0" dirty="0">
              <a:latin typeface="Arial" panose="020B0604020202090204" pitchFamily="34" charset="0"/>
            </a:endParaRPr>
          </a:p>
        </p:txBody>
      </p:sp>
      <p:sp>
        <p:nvSpPr>
          <p:cNvPr id="58" name="Rectangle 20"/>
          <p:cNvSpPr>
            <a:spLocks noChangeArrowheads="1"/>
          </p:cNvSpPr>
          <p:nvPr/>
        </p:nvSpPr>
        <p:spPr bwMode="auto">
          <a:xfrm>
            <a:off x="5133799" y="5157213"/>
            <a:ext cx="576262" cy="576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1pPr>
            <a:lvl2pPr marL="742950" indent="-28575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2pPr>
            <a:lvl3pPr marL="1143000" indent="-22860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3pPr>
            <a:lvl4pPr marL="1600200" indent="-22860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4pPr>
            <a:lvl5pPr marL="2057400" indent="-22860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zh-CN" sz="2400" b="0" dirty="0">
                <a:latin typeface="Arial" panose="020B0604020202090204" pitchFamily="34" charset="0"/>
              </a:rPr>
              <a:t>q</a:t>
            </a:r>
            <a:endParaRPr lang="en-US" altLang="zh-CN" sz="2400" b="0" dirty="0">
              <a:latin typeface="Arial" panose="020B0604020202090204" pitchFamily="34" charset="0"/>
            </a:endParaRPr>
          </a:p>
        </p:txBody>
      </p:sp>
      <p:sp>
        <p:nvSpPr>
          <p:cNvPr id="59" name="Rectangle 21"/>
          <p:cNvSpPr>
            <a:spLocks noChangeArrowheads="1"/>
          </p:cNvSpPr>
          <p:nvPr/>
        </p:nvSpPr>
        <p:spPr bwMode="auto">
          <a:xfrm>
            <a:off x="7153801" y="5113580"/>
            <a:ext cx="576262" cy="576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1pPr>
            <a:lvl2pPr marL="742950" indent="-28575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2pPr>
            <a:lvl3pPr marL="1143000" indent="-22860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3pPr>
            <a:lvl4pPr marL="1600200" indent="-22860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4pPr>
            <a:lvl5pPr marL="2057400" indent="-22860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zh-CN" sz="2400" b="0">
                <a:latin typeface="Arial" panose="020B0604020202090204" pitchFamily="34" charset="0"/>
              </a:rPr>
              <a:t>b</a:t>
            </a:r>
            <a:endParaRPr lang="en-US" altLang="zh-CN" sz="2400" b="0">
              <a:latin typeface="Arial" panose="020B0604020202090204" pitchFamily="34" charset="0"/>
            </a:endParaRPr>
          </a:p>
        </p:txBody>
      </p:sp>
      <p:sp>
        <p:nvSpPr>
          <p:cNvPr id="60" name="Rectangle 22"/>
          <p:cNvSpPr>
            <a:spLocks noChangeArrowheads="1"/>
          </p:cNvSpPr>
          <p:nvPr/>
        </p:nvSpPr>
        <p:spPr bwMode="auto">
          <a:xfrm>
            <a:off x="7519938" y="6226175"/>
            <a:ext cx="576263" cy="576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1pPr>
            <a:lvl2pPr marL="742950" indent="-28575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2pPr>
            <a:lvl3pPr marL="1143000" indent="-22860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3pPr>
            <a:lvl4pPr marL="1600200" indent="-22860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4pPr>
            <a:lvl5pPr marL="2057400" indent="-22860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zh-CN" sz="2400" b="0" dirty="0">
                <a:latin typeface="Arial" panose="020B0604020202090204" pitchFamily="34" charset="0"/>
              </a:rPr>
              <a:t>&amp;b</a:t>
            </a:r>
            <a:endParaRPr lang="en-US" altLang="zh-CN" sz="2400" b="0" dirty="0">
              <a:latin typeface="Arial" panose="020B0604020202090204" pitchFamily="34" charset="0"/>
            </a:endParaRPr>
          </a:p>
        </p:txBody>
      </p:sp>
      <p:sp>
        <p:nvSpPr>
          <p:cNvPr id="61" name="Line 12"/>
          <p:cNvSpPr>
            <a:spLocks noChangeShapeType="1"/>
          </p:cNvSpPr>
          <p:nvPr/>
        </p:nvSpPr>
        <p:spPr bwMode="auto">
          <a:xfrm flipV="1">
            <a:off x="1301672" y="4992142"/>
            <a:ext cx="6460503" cy="547195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62" name="Oval 28"/>
          <p:cNvSpPr>
            <a:spLocks noChangeArrowheads="1"/>
          </p:cNvSpPr>
          <p:nvPr/>
        </p:nvSpPr>
        <p:spPr bwMode="auto">
          <a:xfrm>
            <a:off x="541993" y="5421358"/>
            <a:ext cx="730806" cy="235960"/>
          </a:xfrm>
          <a:prstGeom prst="ellipse">
            <a:avLst/>
          </a:prstGeom>
          <a:noFill/>
          <a:ln w="57150" algn="ctr">
            <a:solidFill>
              <a:srgbClr val="C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1pPr>
            <a:lvl2pPr marL="742950" indent="-28575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2pPr>
            <a:lvl3pPr marL="1143000" indent="-22860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3pPr>
            <a:lvl4pPr marL="1600200" indent="-22860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4pPr>
            <a:lvl5pPr marL="2057400" indent="-22860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4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5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500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500"/>
                            </p:stCondLst>
                            <p:childTnLst>
                              <p:par>
                                <p:cTn id="45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1000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500"/>
                            </p:stCondLst>
                            <p:childTnLst>
                              <p:par>
                                <p:cTn id="4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1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 tmFilter="0, 0; .2, .5; .8, .5; 1, 0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9" dur="250" autoRev="1" fill="hold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 tmFilter="0, 0; .2, .5; .8, .5; 1, 0"/>
                                        <p:tgtEl>
                                          <p:spTgt spid="5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4" dur="250" autoRev="1" fill="hold"/>
                                        <p:tgtEl>
                                          <p:spTgt spid="51">
                                            <p:bg/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9" dur="5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 uiExpand="1" build="allAtOnce"/>
      <p:bldP spid="51" grpId="0" animBg="1" uiExpand="1" build="allAtOnce"/>
      <p:bldP spid="51" grpId="1" animBg="1" uiExpand="1" build="allAtOnce"/>
      <p:bldP spid="56" grpId="0"/>
      <p:bldP spid="57" grpId="0"/>
      <p:bldP spid="59" grpId="0"/>
      <p:bldP spid="6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指针的运算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指针支持加减法运算（部分）</a:t>
            </a:r>
            <a:endParaRPr lang="en-US" altLang="zh-CN" dirty="0"/>
          </a:p>
          <a:p>
            <a:pPr lvl="1"/>
            <a:r>
              <a:rPr lang="zh-CN" altLang="en-US" dirty="0"/>
              <a:t>支持哪些运算？</a:t>
            </a:r>
            <a:endParaRPr lang="en-US" altLang="zh-CN" dirty="0"/>
          </a:p>
          <a:p>
            <a:pPr lvl="1"/>
            <a:r>
              <a:rPr lang="zh-CN" altLang="en-US" dirty="0"/>
              <a:t>指针的加减法运算不是简单的地址值的加减法</a:t>
            </a:r>
            <a:endParaRPr lang="en-US" altLang="zh-CN" dirty="0"/>
          </a:p>
          <a:p>
            <a:pPr lvl="1"/>
            <a:r>
              <a:rPr lang="zh-CN" altLang="en-US" i="1" dirty="0">
                <a:solidFill>
                  <a:srgbClr val="C00000"/>
                </a:solidFill>
              </a:rPr>
              <a:t>指针的加减法是考虑了类型大小的地址加减法</a:t>
            </a:r>
            <a:endParaRPr lang="zh-CN" altLang="en-US" i="1" dirty="0">
              <a:solidFill>
                <a:srgbClr val="C00000"/>
              </a:solidFill>
            </a:endParaRPr>
          </a:p>
          <a:p>
            <a:endParaRPr lang="en-US" altLang="zh-CN" dirty="0"/>
          </a:p>
          <a:p>
            <a:r>
              <a:rPr lang="zh-CN" altLang="en-US" dirty="0"/>
              <a:t>指针变量可以用指针运算的结果赋值</a:t>
            </a:r>
            <a:endParaRPr lang="zh-CN" alt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13-02</a:t>
            </a:r>
            <a:r>
              <a:rPr lang="zh-CN" altLang="en-US" dirty="0"/>
              <a:t>：指针运算</a:t>
            </a:r>
            <a:endParaRPr lang="en-US" dirty="0"/>
          </a:p>
        </p:txBody>
      </p:sp>
      <p:sp>
        <p:nvSpPr>
          <p:cNvPr id="5" name="矩形 4"/>
          <p:cNvSpPr/>
          <p:nvPr/>
        </p:nvSpPr>
        <p:spPr>
          <a:xfrm>
            <a:off x="834501" y="1420713"/>
            <a:ext cx="7625918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&lt;iostream&gt;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std;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main()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a[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 = {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4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*p1 =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*p2 =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 //</a:t>
            </a:r>
            <a:r>
              <a:rPr lang="zh-CN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定义指针变量，赋初值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p1 = &amp;a[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     //p1</a:t>
            </a:r>
            <a:r>
              <a:rPr lang="zh-CN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指向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a[1]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p2 = &amp;a[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     //p2</a:t>
            </a:r>
            <a:r>
              <a:rPr lang="zh-CN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指向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a[2]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    //</a:t>
            </a:r>
            <a:r>
              <a:rPr lang="zh-CN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通过指针访问所指向的内容 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&lt;&lt; *p1 &lt;&lt;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 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&lt;&lt; *p2++ &lt;&lt;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&lt;&lt; *++p1 &lt;&lt;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 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&lt;&lt; *p2 &lt;&lt;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572000" y="5437287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输出：</a:t>
            </a:r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</a:t>
            </a:r>
            <a:r>
              <a:rPr lang="zh-CN" altLang="en-US" dirty="0"/>
              <a:t>语言运算符概览</a:t>
            </a:r>
            <a:endParaRPr lang="zh-CN" altLang="en-US" dirty="0"/>
          </a:p>
        </p:txBody>
      </p:sp>
      <p:sp>
        <p:nvSpPr>
          <p:cNvPr id="5" name="Text Box 5"/>
          <p:cNvSpPr>
            <a:spLocks noChangeArrowheads="1"/>
          </p:cNvSpPr>
          <p:nvPr/>
        </p:nvSpPr>
        <p:spPr bwMode="auto">
          <a:xfrm>
            <a:off x="898525" y="1246832"/>
            <a:ext cx="7346950" cy="56111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90204" pitchFamily="34" charset="0"/>
                <a:ea typeface="+mn-ea"/>
                <a:cs typeface="Arial" panose="020B060402020209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90204" pitchFamily="34" charset="0"/>
                <a:ea typeface="+mn-ea"/>
                <a:cs typeface="Arial" panose="020B060402020209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90204" pitchFamily="34" charset="0"/>
                <a:ea typeface="+mn-ea"/>
                <a:cs typeface="Arial" panose="020B060402020209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90204" pitchFamily="34" charset="0"/>
                <a:ea typeface="+mn-ea"/>
                <a:cs typeface="Arial" panose="020B060402020209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90204" pitchFamily="34" charset="0"/>
                <a:ea typeface="+mn-ea"/>
                <a:cs typeface="Arial" panose="020B060402020209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90204" pitchFamily="34" charset="0"/>
                <a:ea typeface="+mn-ea"/>
                <a:cs typeface="Arial" panose="020B060402020209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90204" pitchFamily="34" charset="0"/>
                <a:ea typeface="+mn-ea"/>
                <a:cs typeface="Arial" panose="020B060402020209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90204" pitchFamily="34" charset="0"/>
                <a:ea typeface="+mn-ea"/>
                <a:cs typeface="Arial" panose="020B060402020209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90204" pitchFamily="34" charset="0"/>
                <a:ea typeface="+mn-ea"/>
                <a:cs typeface="Arial" panose="020B0604020202090204" pitchFamily="34" charset="0"/>
              </a:defRPr>
            </a:lvl9pPr>
          </a:lstStyle>
          <a:p>
            <a:pPr eaLnBrk="0" hangingPunct="0">
              <a:lnSpc>
                <a:spcPct val="125000"/>
              </a:lnSpc>
              <a:buSzPct val="100000"/>
            </a:pPr>
            <a:r>
              <a:rPr kumimoji="1" lang="zh-CN" altLang="en-US" sz="2100" b="1" dirty="0">
                <a:solidFill>
                  <a:schemeClr val="bg1">
                    <a:lumMod val="75000"/>
                  </a:schemeClr>
                </a:solidFill>
                <a:latin typeface="宋体" pitchFamily="2" charset="-122"/>
              </a:rPr>
              <a:t>算术运算符：</a:t>
            </a:r>
            <a:r>
              <a:rPr kumimoji="1" lang="en-US" altLang="zh-CN" sz="2100" b="1" dirty="0">
                <a:solidFill>
                  <a:schemeClr val="bg1">
                    <a:lumMod val="75000"/>
                  </a:schemeClr>
                </a:solidFill>
                <a:latin typeface="宋体" pitchFamily="2" charset="-122"/>
              </a:rPr>
              <a:t>		+  -  *  /  %  ++  --</a:t>
            </a:r>
            <a:endParaRPr kumimoji="1" lang="en-US" altLang="zh-CN" sz="2100" b="1" dirty="0">
              <a:solidFill>
                <a:schemeClr val="bg1">
                  <a:lumMod val="75000"/>
                </a:schemeClr>
              </a:solidFill>
              <a:latin typeface="宋体" pitchFamily="2" charset="-122"/>
            </a:endParaRPr>
          </a:p>
          <a:p>
            <a:pPr eaLnBrk="0" hangingPunct="0">
              <a:lnSpc>
                <a:spcPct val="125000"/>
              </a:lnSpc>
              <a:buSzPct val="100000"/>
            </a:pPr>
            <a:r>
              <a:rPr kumimoji="1" lang="zh-CN" altLang="en-US" sz="2100" b="1" dirty="0">
                <a:solidFill>
                  <a:schemeClr val="bg1">
                    <a:lumMod val="75000"/>
                  </a:schemeClr>
                </a:solidFill>
                <a:latin typeface="宋体" pitchFamily="2" charset="-122"/>
              </a:rPr>
              <a:t>赋值运算符：</a:t>
            </a:r>
            <a:r>
              <a:rPr kumimoji="1" lang="en-US" altLang="zh-CN" sz="2100" b="1" dirty="0">
                <a:solidFill>
                  <a:schemeClr val="bg1">
                    <a:lumMod val="75000"/>
                  </a:schemeClr>
                </a:solidFill>
                <a:latin typeface="宋体" pitchFamily="2" charset="-122"/>
              </a:rPr>
              <a:t>		= </a:t>
            </a:r>
            <a:r>
              <a:rPr kumimoji="1" lang="zh-CN" altLang="en-US" sz="2100" b="1" dirty="0">
                <a:solidFill>
                  <a:schemeClr val="bg1">
                    <a:lumMod val="75000"/>
                  </a:schemeClr>
                </a:solidFill>
                <a:latin typeface="宋体" pitchFamily="2" charset="-122"/>
              </a:rPr>
              <a:t>及其扩展</a:t>
            </a:r>
            <a:endParaRPr kumimoji="1" lang="zh-CN" altLang="en-US" sz="2100" b="1" dirty="0">
              <a:solidFill>
                <a:schemeClr val="bg1">
                  <a:lumMod val="75000"/>
                </a:schemeClr>
              </a:solidFill>
              <a:latin typeface="宋体" pitchFamily="2" charset="-122"/>
            </a:endParaRPr>
          </a:p>
          <a:p>
            <a:pPr eaLnBrk="0" hangingPunct="0">
              <a:lnSpc>
                <a:spcPct val="125000"/>
              </a:lnSpc>
              <a:buSzPct val="100000"/>
            </a:pPr>
            <a:r>
              <a:rPr kumimoji="1" lang="zh-CN" altLang="en-US" sz="2100" b="1" dirty="0">
                <a:solidFill>
                  <a:schemeClr val="bg1">
                    <a:lumMod val="75000"/>
                  </a:schemeClr>
                </a:solidFill>
                <a:latin typeface="宋体" pitchFamily="2" charset="-122"/>
              </a:rPr>
              <a:t>求字节数  ：</a:t>
            </a:r>
            <a:r>
              <a:rPr kumimoji="1" lang="en-US" altLang="zh-CN" sz="2100" b="1" dirty="0">
                <a:solidFill>
                  <a:schemeClr val="bg1">
                    <a:lumMod val="75000"/>
                  </a:schemeClr>
                </a:solidFill>
                <a:latin typeface="宋体" pitchFamily="2" charset="-122"/>
              </a:rPr>
              <a:t>		</a:t>
            </a:r>
            <a:r>
              <a:rPr kumimoji="1" lang="en-US" altLang="zh-CN" sz="2100" b="1" dirty="0" err="1">
                <a:solidFill>
                  <a:schemeClr val="bg1">
                    <a:lumMod val="75000"/>
                  </a:schemeClr>
                </a:solidFill>
                <a:latin typeface="宋体" pitchFamily="2" charset="-122"/>
              </a:rPr>
              <a:t>sizeof</a:t>
            </a:r>
            <a:endParaRPr kumimoji="1" lang="en-US" altLang="zh-CN" sz="2100" b="1" dirty="0">
              <a:solidFill>
                <a:schemeClr val="bg1">
                  <a:lumMod val="75000"/>
                </a:schemeClr>
              </a:solidFill>
              <a:latin typeface="宋体" pitchFamily="2" charset="-122"/>
            </a:endParaRPr>
          </a:p>
          <a:p>
            <a:pPr eaLnBrk="0" hangingPunct="0">
              <a:lnSpc>
                <a:spcPct val="125000"/>
              </a:lnSpc>
              <a:buSzPct val="100000"/>
            </a:pPr>
            <a:r>
              <a:rPr kumimoji="1" lang="zh-CN" altLang="en-US" sz="2100" b="1" dirty="0">
                <a:solidFill>
                  <a:schemeClr val="bg1">
                    <a:lumMod val="75000"/>
                  </a:schemeClr>
                </a:solidFill>
                <a:latin typeface="宋体" pitchFamily="2" charset="-122"/>
              </a:rPr>
              <a:t>强制类型转换：</a:t>
            </a:r>
            <a:r>
              <a:rPr kumimoji="1" lang="en-US" altLang="zh-CN" sz="2100" b="1" dirty="0">
                <a:solidFill>
                  <a:schemeClr val="bg1">
                    <a:lumMod val="75000"/>
                  </a:schemeClr>
                </a:solidFill>
                <a:latin typeface="宋体" pitchFamily="2" charset="-122"/>
              </a:rPr>
              <a:t>	(</a:t>
            </a:r>
            <a:r>
              <a:rPr kumimoji="1" lang="zh-CN" altLang="en-US" sz="2100" b="1" dirty="0">
                <a:solidFill>
                  <a:schemeClr val="bg1">
                    <a:lumMod val="75000"/>
                  </a:schemeClr>
                </a:solidFill>
                <a:latin typeface="宋体" pitchFamily="2" charset="-122"/>
              </a:rPr>
              <a:t>类型）</a:t>
            </a:r>
            <a:endParaRPr kumimoji="1" lang="en-US" altLang="zh-CN" sz="2100" b="1" dirty="0">
              <a:solidFill>
                <a:schemeClr val="bg1">
                  <a:lumMod val="75000"/>
                </a:schemeClr>
              </a:solidFill>
              <a:latin typeface="宋体" pitchFamily="2" charset="-122"/>
            </a:endParaRPr>
          </a:p>
          <a:p>
            <a:pPr eaLnBrk="0" hangingPunct="0">
              <a:lnSpc>
                <a:spcPct val="125000"/>
              </a:lnSpc>
              <a:buSzPct val="100000"/>
            </a:pPr>
            <a:r>
              <a:rPr kumimoji="1" lang="zh-CN" altLang="en-US" sz="2100" b="1" dirty="0">
                <a:solidFill>
                  <a:schemeClr val="bg1">
                    <a:lumMod val="75000"/>
                  </a:schemeClr>
                </a:solidFill>
                <a:latin typeface="宋体" pitchFamily="2" charset="-122"/>
              </a:rPr>
              <a:t>函数调用符运算符：</a:t>
            </a:r>
            <a:r>
              <a:rPr kumimoji="1" lang="en-US" altLang="zh-CN" sz="2100" b="1" dirty="0">
                <a:solidFill>
                  <a:schemeClr val="bg1">
                    <a:lumMod val="75000"/>
                  </a:schemeClr>
                </a:solidFill>
                <a:latin typeface="宋体" pitchFamily="2" charset="-122"/>
              </a:rPr>
              <a:t>	()</a:t>
            </a:r>
            <a:endParaRPr kumimoji="1" lang="en-US" altLang="zh-CN" sz="2100" b="1" dirty="0">
              <a:solidFill>
                <a:schemeClr val="bg1">
                  <a:lumMod val="75000"/>
                </a:schemeClr>
              </a:solidFill>
              <a:latin typeface="宋体" pitchFamily="2" charset="-122"/>
            </a:endParaRPr>
          </a:p>
          <a:p>
            <a:pPr eaLnBrk="0" hangingPunct="0">
              <a:lnSpc>
                <a:spcPct val="125000"/>
              </a:lnSpc>
              <a:buSzPct val="100000"/>
            </a:pPr>
            <a:r>
              <a:rPr kumimoji="1" lang="zh-CN" altLang="en-US" sz="2100" b="1" dirty="0">
                <a:solidFill>
                  <a:schemeClr val="bg1">
                    <a:lumMod val="75000"/>
                  </a:schemeClr>
                </a:solidFill>
                <a:latin typeface="宋体" pitchFamily="2" charset="-122"/>
              </a:rPr>
              <a:t>关系运算符：</a:t>
            </a:r>
            <a:r>
              <a:rPr kumimoji="1" lang="en-US" altLang="zh-CN" sz="2100" b="1" dirty="0">
                <a:solidFill>
                  <a:schemeClr val="bg1">
                    <a:lumMod val="75000"/>
                  </a:schemeClr>
                </a:solidFill>
                <a:latin typeface="宋体" pitchFamily="2" charset="-122"/>
              </a:rPr>
              <a:t>		&lt;  &lt;=   ==   &gt;   &gt;=   !=</a:t>
            </a:r>
            <a:endParaRPr kumimoji="1" lang="zh-CN" altLang="en-US" sz="2100" b="1" dirty="0">
              <a:solidFill>
                <a:schemeClr val="bg1">
                  <a:lumMod val="75000"/>
                </a:schemeClr>
              </a:solidFill>
              <a:latin typeface="宋体" pitchFamily="2" charset="-122"/>
            </a:endParaRPr>
          </a:p>
          <a:p>
            <a:pPr eaLnBrk="0" hangingPunct="0">
              <a:lnSpc>
                <a:spcPct val="125000"/>
              </a:lnSpc>
              <a:buSzPct val="100000"/>
            </a:pPr>
            <a:r>
              <a:rPr kumimoji="1" lang="zh-CN" altLang="en-US" sz="2100" b="1" dirty="0">
                <a:solidFill>
                  <a:schemeClr val="bg1">
                    <a:lumMod val="75000"/>
                  </a:schemeClr>
                </a:solidFill>
                <a:latin typeface="宋体" pitchFamily="2" charset="-122"/>
              </a:rPr>
              <a:t>逻辑运算符：</a:t>
            </a:r>
            <a:r>
              <a:rPr kumimoji="1" lang="en-US" altLang="zh-CN" sz="2100" b="1" dirty="0">
                <a:solidFill>
                  <a:schemeClr val="bg1">
                    <a:lumMod val="75000"/>
                  </a:schemeClr>
                </a:solidFill>
                <a:latin typeface="宋体" pitchFamily="2" charset="-122"/>
              </a:rPr>
              <a:t>		</a:t>
            </a:r>
            <a:r>
              <a:rPr kumimoji="1" lang="zh-CN" altLang="en-US" sz="2100" b="1" dirty="0">
                <a:solidFill>
                  <a:schemeClr val="bg1">
                    <a:lumMod val="75000"/>
                  </a:schemeClr>
                </a:solidFill>
                <a:latin typeface="宋体" pitchFamily="2" charset="-122"/>
              </a:rPr>
              <a:t>！  </a:t>
            </a:r>
            <a:r>
              <a:rPr kumimoji="1" lang="en-US" altLang="zh-CN" sz="2100" b="1" dirty="0">
                <a:solidFill>
                  <a:schemeClr val="bg1">
                    <a:lumMod val="75000"/>
                  </a:schemeClr>
                </a:solidFill>
                <a:latin typeface="宋体" pitchFamily="2" charset="-122"/>
              </a:rPr>
              <a:t>&amp;&amp;  ||</a:t>
            </a:r>
            <a:endParaRPr kumimoji="1" lang="en-US" altLang="zh-CN" sz="2100" b="1" dirty="0">
              <a:solidFill>
                <a:schemeClr val="bg1">
                  <a:lumMod val="75000"/>
                </a:schemeClr>
              </a:solidFill>
              <a:latin typeface="宋体" pitchFamily="2" charset="-122"/>
            </a:endParaRPr>
          </a:p>
          <a:p>
            <a:pPr eaLnBrk="0" hangingPunct="0">
              <a:lnSpc>
                <a:spcPct val="125000"/>
              </a:lnSpc>
              <a:buSzPct val="100000"/>
            </a:pPr>
            <a:r>
              <a:rPr kumimoji="1" lang="zh-CN" altLang="en-US" sz="2100" b="1" dirty="0">
                <a:solidFill>
                  <a:schemeClr val="bg1">
                    <a:lumMod val="75000"/>
                  </a:schemeClr>
                </a:solidFill>
                <a:latin typeface="宋体" pitchFamily="2" charset="-122"/>
              </a:rPr>
              <a:t>条件运算符：</a:t>
            </a:r>
            <a:r>
              <a:rPr kumimoji="1" lang="en-US" altLang="zh-CN" sz="2100" b="1" dirty="0">
                <a:solidFill>
                  <a:schemeClr val="bg1">
                    <a:lumMod val="75000"/>
                  </a:schemeClr>
                </a:solidFill>
                <a:latin typeface="宋体" pitchFamily="2" charset="-122"/>
              </a:rPr>
              <a:t>		?:</a:t>
            </a:r>
            <a:endParaRPr kumimoji="1" lang="en-US" altLang="zh-CN" sz="2100" b="1" dirty="0">
              <a:solidFill>
                <a:schemeClr val="bg1">
                  <a:lumMod val="75000"/>
                </a:schemeClr>
              </a:solidFill>
              <a:latin typeface="宋体" pitchFamily="2" charset="-122"/>
            </a:endParaRPr>
          </a:p>
          <a:p>
            <a:pPr eaLnBrk="0" hangingPunct="0">
              <a:lnSpc>
                <a:spcPct val="125000"/>
              </a:lnSpc>
              <a:buSzPct val="100000"/>
            </a:pPr>
            <a:r>
              <a:rPr kumimoji="1" lang="zh-CN" altLang="en-US" sz="2100" b="1" dirty="0">
                <a:solidFill>
                  <a:schemeClr val="bg1">
                    <a:lumMod val="75000"/>
                  </a:schemeClr>
                </a:solidFill>
                <a:latin typeface="宋体" pitchFamily="2" charset="-122"/>
              </a:rPr>
              <a:t>下标运算符：</a:t>
            </a:r>
            <a:r>
              <a:rPr kumimoji="1" lang="en-US" altLang="zh-CN" sz="2100" b="1" dirty="0">
                <a:solidFill>
                  <a:schemeClr val="bg1">
                    <a:lumMod val="75000"/>
                  </a:schemeClr>
                </a:solidFill>
                <a:latin typeface="宋体" pitchFamily="2" charset="-122"/>
              </a:rPr>
              <a:t>		[]</a:t>
            </a:r>
            <a:endParaRPr kumimoji="1" lang="en-US" altLang="zh-CN" sz="2100" b="1" dirty="0">
              <a:solidFill>
                <a:schemeClr val="bg1">
                  <a:lumMod val="75000"/>
                </a:schemeClr>
              </a:solidFill>
              <a:latin typeface="宋体" pitchFamily="2" charset="-122"/>
            </a:endParaRPr>
          </a:p>
          <a:p>
            <a:pPr eaLnBrk="0" hangingPunct="0">
              <a:lnSpc>
                <a:spcPct val="125000"/>
              </a:lnSpc>
              <a:buSzPct val="100000"/>
            </a:pPr>
            <a:r>
              <a:rPr kumimoji="1" lang="zh-CN" altLang="en-US" sz="2100" b="1" dirty="0">
                <a:solidFill>
                  <a:schemeClr val="bg1">
                    <a:lumMod val="75000"/>
                  </a:schemeClr>
                </a:solidFill>
                <a:latin typeface="宋体" pitchFamily="2" charset="-122"/>
              </a:rPr>
              <a:t>分量运算符：</a:t>
            </a:r>
            <a:r>
              <a:rPr kumimoji="1" lang="en-US" altLang="zh-CN" sz="2100" b="1" dirty="0">
                <a:solidFill>
                  <a:schemeClr val="bg1">
                    <a:lumMod val="75000"/>
                  </a:schemeClr>
                </a:solidFill>
                <a:latin typeface="宋体" pitchFamily="2" charset="-122"/>
              </a:rPr>
              <a:t>		.  </a:t>
            </a:r>
            <a:r>
              <a:rPr kumimoji="1" lang="en-US" altLang="zh-CN" sz="2100" b="1" dirty="0">
                <a:solidFill>
                  <a:srgbClr val="FF0000"/>
                </a:solidFill>
                <a:latin typeface="宋体" pitchFamily="2" charset="-122"/>
              </a:rPr>
              <a:t>-&gt;</a:t>
            </a:r>
            <a:endParaRPr kumimoji="1" lang="en-US" altLang="zh-CN" sz="2100" b="1" dirty="0">
              <a:solidFill>
                <a:srgbClr val="FF0000"/>
              </a:solidFill>
              <a:latin typeface="宋体" pitchFamily="2" charset="-122"/>
            </a:endParaRPr>
          </a:p>
          <a:p>
            <a:pPr eaLnBrk="0" hangingPunct="0">
              <a:lnSpc>
                <a:spcPct val="125000"/>
              </a:lnSpc>
              <a:buSzPct val="100000"/>
            </a:pPr>
            <a:r>
              <a:rPr kumimoji="1" lang="zh-CN" altLang="en-US" sz="2100" b="1" dirty="0">
                <a:solidFill>
                  <a:schemeClr val="bg1">
                    <a:lumMod val="75000"/>
                  </a:schemeClr>
                </a:solidFill>
                <a:latin typeface="宋体" pitchFamily="2" charset="-122"/>
              </a:rPr>
              <a:t>位运算符  ：</a:t>
            </a:r>
            <a:r>
              <a:rPr kumimoji="1" lang="en-US" altLang="zh-CN" sz="2100" b="1" dirty="0">
                <a:solidFill>
                  <a:schemeClr val="bg1">
                    <a:lumMod val="75000"/>
                  </a:schemeClr>
                </a:solidFill>
                <a:latin typeface="宋体" pitchFamily="2" charset="-122"/>
              </a:rPr>
              <a:t>		&lt;&lt;   &gt;&gt;   ~  &amp;  |  ^</a:t>
            </a:r>
            <a:endParaRPr kumimoji="1" lang="en-US" altLang="zh-CN" sz="2100" b="1" dirty="0">
              <a:solidFill>
                <a:schemeClr val="bg1">
                  <a:lumMod val="75000"/>
                </a:schemeClr>
              </a:solidFill>
              <a:latin typeface="宋体" pitchFamily="2" charset="-122"/>
            </a:endParaRPr>
          </a:p>
          <a:p>
            <a:pPr eaLnBrk="0" hangingPunct="0">
              <a:lnSpc>
                <a:spcPct val="125000"/>
              </a:lnSpc>
              <a:buSzPct val="100000"/>
            </a:pPr>
            <a:r>
              <a:rPr kumimoji="1" lang="zh-CN" altLang="en-US" sz="2100" b="1" dirty="0">
                <a:solidFill>
                  <a:srgbClr val="FF0000"/>
                </a:solidFill>
                <a:latin typeface="宋体" pitchFamily="2" charset="-122"/>
              </a:rPr>
              <a:t>指针运算符：</a:t>
            </a:r>
            <a:r>
              <a:rPr kumimoji="1" lang="en-US" altLang="zh-CN" sz="2100" b="1" dirty="0">
                <a:solidFill>
                  <a:srgbClr val="FF0000"/>
                </a:solidFill>
                <a:latin typeface="宋体" pitchFamily="2" charset="-122"/>
              </a:rPr>
              <a:t>		</a:t>
            </a:r>
            <a:r>
              <a:rPr kumimoji="1" lang="zh-CN" altLang="en-US" sz="2100" b="1" dirty="0">
                <a:solidFill>
                  <a:srgbClr val="FF0000"/>
                </a:solidFill>
                <a:latin typeface="宋体" pitchFamily="2" charset="-122"/>
              </a:rPr>
              <a:t>*  </a:t>
            </a:r>
            <a:r>
              <a:rPr kumimoji="1" lang="en-US" altLang="zh-CN" sz="2100" b="1" dirty="0">
                <a:solidFill>
                  <a:srgbClr val="FF0000"/>
                </a:solidFill>
                <a:latin typeface="宋体" pitchFamily="2" charset="-122"/>
              </a:rPr>
              <a:t>&amp;</a:t>
            </a:r>
            <a:endParaRPr kumimoji="1" lang="zh-CN" altLang="en-US" sz="2100" b="1" dirty="0">
              <a:solidFill>
                <a:srgbClr val="FF0000"/>
              </a:solidFill>
              <a:latin typeface="宋体" pitchFamily="2" charset="-122"/>
            </a:endParaRPr>
          </a:p>
          <a:p>
            <a:pPr eaLnBrk="0" hangingPunct="0">
              <a:lnSpc>
                <a:spcPct val="125000"/>
              </a:lnSpc>
              <a:buSzPct val="100000"/>
            </a:pPr>
            <a:r>
              <a:rPr kumimoji="1" lang="zh-CN" altLang="en-US" sz="2100" b="1" dirty="0">
                <a:latin typeface="宋体" pitchFamily="2" charset="-122"/>
              </a:rPr>
              <a:t>逗号运算符：</a:t>
            </a:r>
            <a:r>
              <a:rPr kumimoji="1" lang="en-US" altLang="zh-CN" sz="2100" b="1" dirty="0">
                <a:latin typeface="宋体" pitchFamily="2" charset="-122"/>
              </a:rPr>
              <a:t>		,</a:t>
            </a:r>
            <a:endParaRPr kumimoji="1" lang="zh-CN" altLang="en-US" sz="2100" b="1" dirty="0">
              <a:latin typeface="宋体" pitchFamily="2" charset="-122"/>
            </a:endParaRPr>
          </a:p>
          <a:p>
            <a:pPr eaLnBrk="0" hangingPunct="0">
              <a:lnSpc>
                <a:spcPct val="125000"/>
              </a:lnSpc>
              <a:buSzPct val="100000"/>
            </a:pPr>
            <a:endParaRPr kumimoji="1" lang="zh-CN" altLang="en-US" sz="2100" b="1" dirty="0">
              <a:latin typeface="宋体" pitchFamily="2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/>
          <p:nvPr/>
        </p:nvPicPr>
        <p:blipFill>
          <a:blip r:embed="rId1"/>
          <a:stretch>
            <a:fillRect/>
          </a:stretch>
        </p:blipFill>
        <p:spPr>
          <a:xfrm>
            <a:off x="1043608" y="44624"/>
            <a:ext cx="7343996" cy="6813376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716016" y="5661248"/>
            <a:ext cx="4365840" cy="936000"/>
          </a:xfrm>
        </p:spPr>
        <p:txBody>
          <a:bodyPr>
            <a:normAutofit/>
          </a:bodyPr>
          <a:lstStyle/>
          <a:p>
            <a:r>
              <a:rPr lang="zh-CN" altLang="en-US" sz="3200" dirty="0"/>
              <a:t>运算符优先级和结合性</a:t>
            </a:r>
            <a:endParaRPr lang="zh-CN" altLang="en-US" sz="3200" dirty="0"/>
          </a:p>
        </p:txBody>
      </p:sp>
      <p:sp>
        <p:nvSpPr>
          <p:cNvPr id="2" name="矩形 1"/>
          <p:cNvSpPr/>
          <p:nvPr/>
        </p:nvSpPr>
        <p:spPr>
          <a:xfrm>
            <a:off x="1475656" y="332656"/>
            <a:ext cx="432048" cy="122413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475656" y="1988840"/>
            <a:ext cx="432048" cy="136815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/>
              <a:t>指向数组元素的指针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指针的运算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en-US" dirty="0"/>
              <a:t>通过指针访问数组元素</a:t>
            </a:r>
            <a:endParaRPr lang="en-US" altLang="zh-CN" dirty="0"/>
          </a:p>
          <a:p>
            <a:r>
              <a:rPr lang="zh-CN" altLang="en-US" dirty="0"/>
              <a:t>数组名作为函数参数</a:t>
            </a:r>
            <a:endParaRPr lang="en-US" altLang="zh-CN" dirty="0"/>
          </a:p>
          <a:p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指针与字符串</a:t>
            </a:r>
            <a:endParaRPr lang="en-US" altLang="zh-CN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指向数组的指针</a:t>
            </a:r>
            <a:endParaRPr lang="en-US" altLang="zh-CN" dirty="0">
              <a:solidFill>
                <a:schemeClr val="bg1">
                  <a:lumMod val="65000"/>
                </a:schemeClr>
              </a:solidFill>
            </a:endParaRPr>
          </a:p>
          <a:p>
            <a:pPr lvl="1"/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通过指针访问多维数组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指针数组</a:t>
            </a:r>
            <a:endParaRPr lang="en-US" altLang="zh-CN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指针的指针</a:t>
            </a:r>
            <a:endParaRPr lang="en-US" altLang="zh-CN" dirty="0">
              <a:solidFill>
                <a:schemeClr val="bg1">
                  <a:lumMod val="65000"/>
                </a:schemeClr>
              </a:solidFill>
            </a:endParaRPr>
          </a:p>
          <a:p>
            <a:endParaRPr lang="en-US" dirty="0">
              <a:solidFill>
                <a:schemeClr val="bg1">
                  <a:lumMod val="65000"/>
                </a:schemeClr>
              </a:solidFill>
            </a:endParaRPr>
          </a:p>
          <a:p>
            <a:pPr marL="62230" indent="0">
              <a:buNone/>
            </a:pPr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 </a:t>
            </a:r>
            <a:r>
              <a:rPr lang="zh-CN" altLang="en-US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指针与数组</a:t>
            </a:r>
            <a:endParaRPr lang="en-US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一个变量有地址，一个数组包含若干元素，每个数组元素都有相应的地址</a:t>
            </a:r>
            <a:endParaRPr lang="en-US" altLang="zh-CN" dirty="0"/>
          </a:p>
          <a:p>
            <a:r>
              <a:rPr lang="zh-CN" altLang="en-US" dirty="0"/>
              <a:t>指针变量可以指向数组元素（把某一元素的地址放到一个指针变量中）</a:t>
            </a:r>
            <a:endParaRPr lang="en-US" altLang="zh-CN" dirty="0"/>
          </a:p>
          <a:p>
            <a:r>
              <a:rPr lang="zh-CN" altLang="en-US" dirty="0"/>
              <a:t>数组元素的指针就是数组元素的地址</a:t>
            </a:r>
            <a:endParaRPr lang="en-US" altLang="zh-CN" dirty="0"/>
          </a:p>
          <a:p>
            <a:endParaRPr 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指向数组元素的指针</a:t>
            </a:r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71563" y="678656"/>
            <a:ext cx="7533175" cy="3071813"/>
          </a:xfrm>
        </p:spPr>
        <p:txBody>
          <a:bodyPr/>
          <a:lstStyle/>
          <a:p>
            <a:r>
              <a:rPr lang="zh-CN" altLang="en-US" dirty="0"/>
              <a:t>可以用一个指针变量指向一个数组元素</a:t>
            </a:r>
            <a:endParaRPr lang="en-US" altLang="zh-CN" dirty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dirty="0"/>
              <a:t>   int a[10]={1,3,5,7,9,11,13,15,17,19};</a:t>
            </a:r>
            <a:endParaRPr lang="en-US" altLang="zh-CN" sz="2800" dirty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dirty="0"/>
              <a:t>   int  *p;</a:t>
            </a:r>
            <a:endParaRPr lang="en-US" altLang="zh-CN" sz="2800" dirty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dirty="0"/>
              <a:t>   p=&amp;a[0];</a:t>
            </a:r>
            <a:endParaRPr lang="en-US" altLang="zh-CN" sz="2800" dirty="0"/>
          </a:p>
        </p:txBody>
      </p:sp>
      <p:pic>
        <p:nvPicPr>
          <p:cNvPr id="24371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0813" y="1928813"/>
            <a:ext cx="2451100" cy="485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371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3313" y="1928813"/>
            <a:ext cx="2841625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圆角矩形标注 6"/>
          <p:cNvSpPr>
            <a:spLocks noChangeArrowheads="1"/>
          </p:cNvSpPr>
          <p:nvPr/>
        </p:nvSpPr>
        <p:spPr bwMode="auto">
          <a:xfrm>
            <a:off x="1071563" y="3079322"/>
            <a:ext cx="2571750" cy="714375"/>
          </a:xfrm>
          <a:prstGeom prst="wedgeRoundRectCallout">
            <a:avLst>
              <a:gd name="adj1" fmla="val -20116"/>
              <a:gd name="adj2" fmla="val -104981"/>
              <a:gd name="adj3" fmla="val 16667"/>
            </a:avLst>
          </a:prstGeom>
          <a:solidFill>
            <a:srgbClr val="FFFFCC"/>
          </a:solidFill>
          <a:ln w="9525">
            <a:solidFill>
              <a:schemeClr val="tx1"/>
            </a:solidFill>
            <a:miter lim="800000"/>
          </a:ln>
        </p:spPr>
        <p:txBody>
          <a:bodyPr/>
          <a:lstStyle>
            <a:lvl1pPr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algn="ctr"/>
            <a:r>
              <a:rPr lang="zh-CN" altLang="en-US" sz="2800" b="1">
                <a:solidFill>
                  <a:srgbClr val="0000CC"/>
                </a:solidFill>
              </a:rPr>
              <a:t>等价于</a:t>
            </a:r>
            <a:r>
              <a:rPr lang="en-US" altLang="zh-CN" sz="2800" b="1">
                <a:solidFill>
                  <a:srgbClr val="0000CC"/>
                </a:solidFill>
              </a:rPr>
              <a:t>p=a;</a:t>
            </a:r>
            <a:endParaRPr lang="zh-CN" altLang="en-US" sz="2800" b="1">
              <a:solidFill>
                <a:srgbClr val="0000CC"/>
              </a:solidFill>
            </a:endParaRPr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1191664" y="2274614"/>
            <a:ext cx="1926674" cy="515816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0" name="圆角矩形标注 9"/>
          <p:cNvSpPr>
            <a:spLocks noChangeArrowheads="1"/>
          </p:cNvSpPr>
          <p:nvPr/>
        </p:nvSpPr>
        <p:spPr bwMode="auto">
          <a:xfrm>
            <a:off x="975580" y="3379178"/>
            <a:ext cx="3214687" cy="1285875"/>
          </a:xfrm>
          <a:prstGeom prst="wedgeRoundRectCallout">
            <a:avLst>
              <a:gd name="adj1" fmla="val -20116"/>
              <a:gd name="adj2" fmla="val -104981"/>
              <a:gd name="adj3" fmla="val 16667"/>
            </a:avLst>
          </a:prstGeom>
          <a:solidFill>
            <a:srgbClr val="FFFFCC"/>
          </a:solidFill>
          <a:ln w="9525">
            <a:solidFill>
              <a:schemeClr val="tx1"/>
            </a:solidFill>
            <a:miter lim="800000"/>
          </a:ln>
        </p:spPr>
        <p:txBody>
          <a:bodyPr/>
          <a:lstStyle>
            <a:lvl1pPr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algn="ctr"/>
            <a:r>
              <a:rPr lang="zh-CN" altLang="en-US" sz="2800" b="1">
                <a:solidFill>
                  <a:srgbClr val="0000CC"/>
                </a:solidFill>
              </a:rPr>
              <a:t>等价于</a:t>
            </a:r>
            <a:r>
              <a:rPr lang="en-US" altLang="zh-CN" sz="2800" b="1">
                <a:solidFill>
                  <a:srgbClr val="0000CC"/>
                </a:solidFill>
              </a:rPr>
              <a:t>int *p=a;</a:t>
            </a:r>
            <a:endParaRPr lang="en-US" altLang="zh-CN" sz="2800" b="1">
              <a:solidFill>
                <a:srgbClr val="0000CC"/>
              </a:solidFill>
            </a:endParaRPr>
          </a:p>
          <a:p>
            <a:pPr algn="ctr"/>
            <a:r>
              <a:rPr lang="zh-CN" altLang="en-US" sz="2800" b="1">
                <a:solidFill>
                  <a:srgbClr val="0000CC"/>
                </a:solidFill>
              </a:rPr>
              <a:t>或</a:t>
            </a:r>
            <a:r>
              <a:rPr lang="en-US" altLang="zh-CN" sz="2800" b="1">
                <a:solidFill>
                  <a:srgbClr val="0000CC"/>
                </a:solidFill>
              </a:rPr>
              <a:t>int *p=&amp;a[0];</a:t>
            </a:r>
            <a:endParaRPr lang="zh-CN" altLang="en-US" sz="2800" b="1">
              <a:solidFill>
                <a:srgbClr val="0000CC"/>
              </a:solidFill>
            </a:endParaRPr>
          </a:p>
        </p:txBody>
      </p:sp>
      <p:sp>
        <p:nvSpPr>
          <p:cNvPr id="11" name="矩形 10"/>
          <p:cNvSpPr>
            <a:spLocks noChangeArrowheads="1"/>
          </p:cNvSpPr>
          <p:nvPr/>
        </p:nvSpPr>
        <p:spPr bwMode="auto">
          <a:xfrm>
            <a:off x="1183726" y="1796348"/>
            <a:ext cx="1934612" cy="994081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724388" y="3737647"/>
            <a:ext cx="5643563" cy="2246313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r>
              <a:rPr lang="zh-CN" altLang="en-US" sz="2800" b="1" dirty="0">
                <a:solidFill>
                  <a:srgbClr val="FF0000"/>
                </a:solidFill>
              </a:rPr>
              <a:t>注意</a:t>
            </a:r>
            <a:r>
              <a:rPr lang="zh-CN" altLang="en-US" sz="2800" dirty="0">
                <a:solidFill>
                  <a:srgbClr val="FF0000"/>
                </a:solidFill>
              </a:rPr>
              <a:t>：</a:t>
            </a:r>
            <a:r>
              <a:rPr lang="zh-CN" altLang="en-US" sz="2800" b="1" dirty="0">
                <a:solidFill>
                  <a:srgbClr val="FF0000"/>
                </a:solidFill>
              </a:rPr>
              <a:t>数组名</a:t>
            </a:r>
            <a:r>
              <a:rPr lang="en-US" altLang="zh-CN" sz="2800" b="1" dirty="0">
                <a:solidFill>
                  <a:srgbClr val="FF0000"/>
                </a:solidFill>
              </a:rPr>
              <a:t>a</a:t>
            </a:r>
            <a:r>
              <a:rPr lang="zh-CN" altLang="en-US" sz="2800" b="1" dirty="0">
                <a:solidFill>
                  <a:srgbClr val="FF0000"/>
                </a:solidFill>
              </a:rPr>
              <a:t>不代表整个数组，只代表数组首元素的地址。</a:t>
            </a:r>
            <a:r>
              <a:rPr lang="zh-CN" altLang="en-US" sz="2800" b="1" dirty="0">
                <a:solidFill>
                  <a:srgbClr val="0000CC"/>
                </a:solidFill>
              </a:rPr>
              <a:t>“</a:t>
            </a:r>
            <a:r>
              <a:rPr lang="en-US" altLang="zh-CN" sz="2800" b="1" dirty="0">
                <a:solidFill>
                  <a:srgbClr val="0000CC"/>
                </a:solidFill>
              </a:rPr>
              <a:t>p=a;</a:t>
            </a:r>
            <a:r>
              <a:rPr lang="zh-CN" altLang="en-US" sz="2800" b="1" dirty="0">
                <a:solidFill>
                  <a:srgbClr val="0000CC"/>
                </a:solidFill>
              </a:rPr>
              <a:t>”的作用是“把</a:t>
            </a:r>
            <a:r>
              <a:rPr lang="en-US" altLang="zh-CN" sz="2800" b="1" dirty="0">
                <a:solidFill>
                  <a:srgbClr val="0000CC"/>
                </a:solidFill>
              </a:rPr>
              <a:t>a</a:t>
            </a:r>
            <a:r>
              <a:rPr lang="zh-CN" altLang="en-US" sz="2800" b="1" dirty="0">
                <a:solidFill>
                  <a:srgbClr val="0000CC"/>
                </a:solidFill>
              </a:rPr>
              <a:t>数组的首元素的地址赋给指针变量</a:t>
            </a:r>
            <a:r>
              <a:rPr lang="en-US" altLang="zh-CN" sz="2800" b="1" dirty="0">
                <a:solidFill>
                  <a:srgbClr val="0000CC"/>
                </a:solidFill>
              </a:rPr>
              <a:t>p</a:t>
            </a:r>
            <a:r>
              <a:rPr lang="zh-CN" altLang="en-US" sz="2800" b="1" dirty="0">
                <a:solidFill>
                  <a:srgbClr val="0000CC"/>
                </a:solidFill>
              </a:rPr>
              <a:t>”，而不是“把数组</a:t>
            </a:r>
            <a:r>
              <a:rPr lang="en-US" altLang="zh-CN" sz="2800" b="1" dirty="0">
                <a:solidFill>
                  <a:srgbClr val="0000CC"/>
                </a:solidFill>
              </a:rPr>
              <a:t>a</a:t>
            </a:r>
            <a:r>
              <a:rPr lang="zh-CN" altLang="en-US" sz="2800" b="1" dirty="0">
                <a:solidFill>
                  <a:srgbClr val="0000CC"/>
                </a:solidFill>
              </a:rPr>
              <a:t>各元素的值赋给</a:t>
            </a:r>
            <a:r>
              <a:rPr lang="en-US" altLang="zh-CN" sz="2800" b="1" dirty="0">
                <a:solidFill>
                  <a:srgbClr val="0000CC"/>
                </a:solidFill>
              </a:rPr>
              <a:t>p</a:t>
            </a:r>
            <a:r>
              <a:rPr lang="zh-CN" altLang="en-US" sz="2800" b="1" dirty="0">
                <a:solidFill>
                  <a:srgbClr val="0000CC"/>
                </a:solidFill>
              </a:rPr>
              <a:t>”。</a:t>
            </a:r>
            <a:endParaRPr lang="zh-CN" altLang="en-US" sz="2800" dirty="0">
              <a:solidFill>
                <a:srgbClr val="0000CC"/>
              </a:solidFill>
            </a:endParaRP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43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243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3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0" grpId="0" animBg="1"/>
      <p:bldP spid="11" grpId="0" animBg="1"/>
      <p:bldP spid="1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指针的运算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/>
              <a:t>在指针指向数组元素时，允许以下运算：</a:t>
            </a:r>
            <a:endParaRPr lang="zh-CN" altLang="zh-CN" dirty="0"/>
          </a:p>
          <a:p>
            <a:pPr lvl="1"/>
            <a:r>
              <a:rPr lang="zh-CN" altLang="en-US" dirty="0"/>
              <a:t>加一个整数</a:t>
            </a:r>
            <a:r>
              <a:rPr lang="en-US" altLang="zh-CN" dirty="0"/>
              <a:t>(</a:t>
            </a:r>
            <a:r>
              <a:rPr lang="zh-CN" altLang="en-US" dirty="0"/>
              <a:t>用</a:t>
            </a:r>
            <a:r>
              <a:rPr lang="en-US" altLang="zh-CN" dirty="0"/>
              <a:t>+</a:t>
            </a:r>
            <a:r>
              <a:rPr lang="zh-CN" altLang="en-US" dirty="0"/>
              <a:t>或</a:t>
            </a:r>
            <a:r>
              <a:rPr lang="en-US" altLang="zh-CN" dirty="0"/>
              <a:t>+=)</a:t>
            </a:r>
            <a:r>
              <a:rPr lang="zh-CN" altLang="en-US" dirty="0"/>
              <a:t>，如</a:t>
            </a:r>
            <a:r>
              <a:rPr lang="en-US" altLang="zh-CN" dirty="0"/>
              <a:t>p+1</a:t>
            </a:r>
            <a:endParaRPr lang="zh-CN" altLang="zh-CN" dirty="0"/>
          </a:p>
          <a:p>
            <a:pPr lvl="1"/>
            <a:r>
              <a:rPr lang="zh-CN" altLang="en-US" dirty="0"/>
              <a:t>减一个整数</a:t>
            </a:r>
            <a:r>
              <a:rPr lang="en-US" altLang="zh-CN" dirty="0"/>
              <a:t>(</a:t>
            </a:r>
            <a:r>
              <a:rPr lang="zh-CN" altLang="en-US" dirty="0"/>
              <a:t>用</a:t>
            </a:r>
            <a:r>
              <a:rPr lang="en-US" altLang="zh-CN" dirty="0"/>
              <a:t>-</a:t>
            </a:r>
            <a:r>
              <a:rPr lang="zh-CN" altLang="en-US" dirty="0"/>
              <a:t>或</a:t>
            </a:r>
            <a:r>
              <a:rPr lang="en-US" altLang="zh-CN" dirty="0"/>
              <a:t>-=)</a:t>
            </a:r>
            <a:r>
              <a:rPr lang="zh-CN" altLang="en-US" dirty="0"/>
              <a:t>，如</a:t>
            </a:r>
            <a:r>
              <a:rPr lang="en-US" altLang="zh-CN" dirty="0"/>
              <a:t>p-1</a:t>
            </a:r>
            <a:endParaRPr lang="zh-CN" altLang="zh-CN" dirty="0"/>
          </a:p>
          <a:p>
            <a:pPr lvl="1"/>
            <a:r>
              <a:rPr lang="zh-CN" altLang="en-US" dirty="0"/>
              <a:t>自加运算，如</a:t>
            </a:r>
            <a:r>
              <a:rPr lang="en-US" altLang="zh-CN" dirty="0"/>
              <a:t>p++</a:t>
            </a:r>
            <a:r>
              <a:rPr lang="zh-CN" altLang="en-US" dirty="0"/>
              <a:t>，</a:t>
            </a:r>
            <a:r>
              <a:rPr lang="en-US" altLang="zh-CN" dirty="0"/>
              <a:t>++p</a:t>
            </a:r>
            <a:endParaRPr lang="zh-CN" altLang="zh-CN" dirty="0"/>
          </a:p>
          <a:p>
            <a:pPr lvl="1"/>
            <a:r>
              <a:rPr lang="zh-CN" altLang="en-US" dirty="0"/>
              <a:t>自减运算，如</a:t>
            </a:r>
            <a:r>
              <a:rPr lang="en-US" altLang="zh-CN" dirty="0"/>
              <a:t>p--</a:t>
            </a:r>
            <a:r>
              <a:rPr lang="zh-CN" altLang="en-US" dirty="0"/>
              <a:t>，</a:t>
            </a:r>
            <a:r>
              <a:rPr lang="en-US" altLang="zh-CN" dirty="0"/>
              <a:t>--p</a:t>
            </a:r>
            <a:endParaRPr lang="zh-CN" altLang="zh-CN" dirty="0"/>
          </a:p>
          <a:p>
            <a:pPr lvl="1"/>
            <a:r>
              <a:rPr lang="zh-CN" altLang="en-US" dirty="0"/>
              <a:t>两个指针相减，如</a:t>
            </a:r>
            <a:r>
              <a:rPr lang="en-US" altLang="zh-CN" dirty="0"/>
              <a:t>p1-p2 (</a:t>
            </a:r>
            <a:r>
              <a:rPr lang="zh-CN" altLang="en-US" dirty="0"/>
              <a:t>只有</a:t>
            </a:r>
            <a:r>
              <a:rPr lang="en-US" altLang="zh-CN" dirty="0"/>
              <a:t>p1</a:t>
            </a:r>
            <a:r>
              <a:rPr lang="zh-CN" altLang="en-US" dirty="0"/>
              <a:t>和</a:t>
            </a:r>
            <a:r>
              <a:rPr lang="en-US" altLang="zh-CN" dirty="0"/>
              <a:t>p2</a:t>
            </a:r>
            <a:r>
              <a:rPr lang="zh-CN" altLang="en-US" dirty="0"/>
              <a:t>都指向同一数组中的元素时才有意义</a:t>
            </a:r>
            <a:r>
              <a:rPr lang="en-US" altLang="zh-CN" dirty="0"/>
              <a:t>)</a:t>
            </a:r>
            <a:endParaRPr lang="en-US" altLang="zh-CN" dirty="0"/>
          </a:p>
          <a:p>
            <a:pPr lvl="1"/>
            <a:endParaRPr lang="en-US" altLang="zh-CN" dirty="0"/>
          </a:p>
          <a:p>
            <a:r>
              <a:rPr lang="zh-CN" altLang="en-US" dirty="0"/>
              <a:t>指针的加减法运算不是简单的地址值的加减法</a:t>
            </a:r>
            <a:endParaRPr lang="en-US" altLang="zh-CN" dirty="0"/>
          </a:p>
          <a:p>
            <a:r>
              <a:rPr lang="zh-CN" altLang="en-US" dirty="0"/>
              <a:t>指针的加减法是</a:t>
            </a:r>
            <a:r>
              <a:rPr lang="zh-CN" altLang="en-US" dirty="0">
                <a:solidFill>
                  <a:srgbClr val="C00000"/>
                </a:solidFill>
              </a:rPr>
              <a:t>考虑了类型大小</a:t>
            </a:r>
            <a:r>
              <a:rPr lang="zh-CN" altLang="en-US" dirty="0"/>
              <a:t>的地址加减法</a:t>
            </a:r>
            <a:endParaRPr lang="zh-CN" altLang="en-US" dirty="0"/>
          </a:p>
          <a:p>
            <a:r>
              <a:rPr lang="zh-CN" altLang="en-US" dirty="0"/>
              <a:t>指针变量可以用指针运算的结果赋值</a:t>
            </a:r>
            <a:endParaRPr lang="zh-CN" alt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指针与数组举例</a:t>
            </a:r>
            <a:endParaRPr lang="en-US" dirty="0"/>
          </a:p>
        </p:txBody>
      </p:sp>
      <p:sp>
        <p:nvSpPr>
          <p:cNvPr id="6" name="矩形 5"/>
          <p:cNvSpPr/>
          <p:nvPr/>
        </p:nvSpPr>
        <p:spPr>
          <a:xfrm>
            <a:off x="174256" y="1256368"/>
            <a:ext cx="4655196" cy="353943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//</a:t>
            </a:r>
            <a:r>
              <a:rPr lang="zh-CN" alt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例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</a:rPr>
              <a:t>13-03</a:t>
            </a:r>
            <a:endParaRPr lang="en-US" sz="14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&lt;iostream&gt;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std;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main()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a[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 = {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7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9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*p = a;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 //</a:t>
            </a:r>
            <a:r>
              <a:rPr lang="zh-CN" alt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数组首地址赋值给指针变量</a:t>
            </a:r>
            <a:endParaRPr lang="zh-CN" alt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++)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{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 //</a:t>
            </a:r>
            <a:r>
              <a:rPr lang="zh-CN" alt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通过指针输出数组元素</a:t>
            </a:r>
            <a:endParaRPr lang="zh-CN" alt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"a["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"]="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&lt;&lt; *p &lt;&lt;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p++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 //</a:t>
            </a:r>
            <a:r>
              <a:rPr lang="zh-CN" alt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指针变量</a:t>
            </a:r>
            <a:r>
              <a:rPr lang="en-US" altLang="zh-CN" sz="1400" dirty="0">
                <a:solidFill>
                  <a:srgbClr val="008000"/>
                </a:solidFill>
                <a:latin typeface="Consolas" panose="020B0609020204030204" pitchFamily="49" charset="0"/>
              </a:rPr>
              <a:t>+1</a:t>
            </a:r>
            <a:endParaRPr lang="zh-CN" alt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829452" y="1256368"/>
            <a:ext cx="4234649" cy="353943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endParaRPr lang="en-US" sz="14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&lt;iostream&gt;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std;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main() 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{                               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a[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]={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7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9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}; 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*p;             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              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p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=a; 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p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&lt;a+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p++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   //p</a:t>
            </a:r>
            <a:r>
              <a:rPr lang="zh-CN" alt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指向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a</a:t>
            </a:r>
            <a:r>
              <a:rPr lang="zh-CN" alt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数组</a:t>
            </a:r>
            <a:endParaRPr lang="zh-CN" alt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{                                     </a:t>
            </a: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"a["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"]="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*p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  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++;                               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}  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83210" y="4840885"/>
            <a:ext cx="4234649" cy="1877517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2"/>
          <p:cNvSpPr txBox="1">
            <a:spLocks noChangeArrowheads="1"/>
          </p:cNvSpPr>
          <p:nvPr/>
        </p:nvSpPr>
        <p:spPr bwMode="auto">
          <a:xfrm>
            <a:off x="815919" y="488866"/>
            <a:ext cx="7450138" cy="28992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1pPr>
            <a:lvl2pPr marL="914400" indent="-4572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2pPr>
            <a:lvl3pPr marL="1371600" indent="-4572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3pPr>
            <a:lvl4pPr marL="1828800" indent="-4572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4pPr>
            <a:lvl5pPr marL="2286000" indent="-4572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5pPr>
            <a:lvl6pPr marL="2743200" indent="-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6pPr>
            <a:lvl7pPr marL="3200400" indent="-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7pPr>
            <a:lvl8pPr marL="3657600" indent="-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8pPr>
            <a:lvl9pPr marL="4114800" indent="-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kumimoji="1" lang="zh-CN" altLang="en-US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说明</a:t>
            </a:r>
            <a:endParaRPr kumimoji="1" lang="zh-CN" altLang="en-US" sz="2400" dirty="0">
              <a:latin typeface="Times New Roman" panose="02020503050405090304" pitchFamily="18" charset="0"/>
              <a:ea typeface="黑体" panose="02010609060101010101" pitchFamily="49" charset="-122"/>
            </a:endParaRPr>
          </a:p>
          <a:p>
            <a:pPr eaLnBrk="1" hangingPunct="1">
              <a:buClr>
                <a:schemeClr val="tx2"/>
              </a:buClr>
              <a:buSzTx/>
              <a:buFont typeface="Wingdings" panose="05000000000000000000" pitchFamily="2" charset="2"/>
              <a:buChar char="Ø"/>
            </a:pPr>
            <a:r>
              <a:rPr kumimoji="1" lang="en-US" altLang="zh-CN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(1) p=a; </a:t>
            </a:r>
            <a:r>
              <a:rPr kumimoji="1" lang="zh-CN" altLang="en-US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这里数组名作为数组的起始地址，即</a:t>
            </a:r>
            <a:r>
              <a:rPr kumimoji="1" lang="en-US" altLang="zh-CN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a[0]</a:t>
            </a:r>
            <a:r>
              <a:rPr kumimoji="1" lang="zh-CN" altLang="en-US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的地址。</a:t>
            </a:r>
            <a:br>
              <a:rPr kumimoji="1" lang="zh-CN" altLang="en-US" sz="2400" dirty="0">
                <a:latin typeface="Times New Roman" panose="02020503050405090304" pitchFamily="18" charset="0"/>
                <a:ea typeface="黑体" panose="02010609060101010101" pitchFamily="49" charset="-122"/>
              </a:rPr>
            </a:br>
            <a:r>
              <a:rPr kumimoji="1" lang="zh-CN" altLang="en-US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因此 </a:t>
            </a:r>
            <a:r>
              <a:rPr kumimoji="1" lang="en-US" altLang="zh-CN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p=a </a:t>
            </a:r>
            <a:r>
              <a:rPr kumimoji="1" lang="zh-CN" altLang="en-US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等效于 </a:t>
            </a:r>
            <a:r>
              <a:rPr kumimoji="1" lang="en-US" altLang="zh-CN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p=&amp;a[0];</a:t>
            </a:r>
            <a:endParaRPr kumimoji="1" lang="en-US" altLang="zh-CN" sz="2400" dirty="0">
              <a:latin typeface="Times New Roman" panose="02020503050405090304" pitchFamily="18" charset="0"/>
              <a:ea typeface="黑体" panose="02010609060101010101" pitchFamily="49" charset="-122"/>
            </a:endParaRPr>
          </a:p>
          <a:p>
            <a:pPr eaLnBrk="1" hangingPunct="1">
              <a:buClr>
                <a:schemeClr val="tx2"/>
              </a:buClr>
              <a:buSzTx/>
              <a:buFont typeface="Wingdings" panose="05000000000000000000" pitchFamily="2" charset="2"/>
              <a:buChar char="Ø"/>
            </a:pPr>
            <a:r>
              <a:rPr kumimoji="1" lang="en-US" altLang="zh-CN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(2) p=p+1; </a:t>
            </a:r>
            <a:r>
              <a:rPr kumimoji="1" lang="zh-CN" altLang="en-US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如</a:t>
            </a:r>
            <a:r>
              <a:rPr kumimoji="1" lang="en-US" altLang="zh-CN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p</a:t>
            </a:r>
            <a:r>
              <a:rPr kumimoji="1" lang="zh-CN" altLang="en-US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指向</a:t>
            </a:r>
            <a:r>
              <a:rPr kumimoji="1" lang="en-US" altLang="zh-CN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a[0], </a:t>
            </a:r>
            <a:r>
              <a:rPr kumimoji="1" lang="zh-CN" altLang="en-US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则</a:t>
            </a:r>
            <a:r>
              <a:rPr kumimoji="1" lang="en-US" altLang="zh-CN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p=p+1</a:t>
            </a:r>
            <a:r>
              <a:rPr kumimoji="1" lang="zh-CN" altLang="en-US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之后，</a:t>
            </a:r>
            <a:r>
              <a:rPr kumimoji="1" lang="en-US" altLang="zh-CN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p</a:t>
            </a:r>
            <a:r>
              <a:rPr kumimoji="1" lang="zh-CN" altLang="en-US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指向</a:t>
            </a:r>
            <a:r>
              <a:rPr kumimoji="1" lang="en-US" altLang="zh-CN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a[1]</a:t>
            </a:r>
            <a:endParaRPr kumimoji="1" lang="en-US" altLang="zh-CN" sz="2400" dirty="0">
              <a:latin typeface="Times New Roman" panose="02020503050405090304" pitchFamily="18" charset="0"/>
              <a:ea typeface="黑体" panose="02010609060101010101" pitchFamily="49" charset="-122"/>
            </a:endParaRPr>
          </a:p>
          <a:p>
            <a:pPr eaLnBrk="1" hangingPunct="1">
              <a:buClr>
                <a:schemeClr val="tx2"/>
              </a:buClr>
              <a:buSzTx/>
              <a:buFont typeface="Wingdings" panose="05000000000000000000" pitchFamily="2" charset="2"/>
              <a:buChar char="Ø"/>
            </a:pPr>
            <a:r>
              <a:rPr kumimoji="1" lang="en-US" altLang="zh-CN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(3) p=a </a:t>
            </a:r>
            <a:r>
              <a:rPr kumimoji="1" lang="zh-CN" altLang="en-US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等效于 </a:t>
            </a:r>
            <a:r>
              <a:rPr kumimoji="1" lang="en-US" altLang="zh-CN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p=&amp;a[0];</a:t>
            </a:r>
            <a:br>
              <a:rPr kumimoji="1" lang="en-US" altLang="zh-CN" sz="2400" dirty="0">
                <a:latin typeface="Times New Roman" panose="02020503050405090304" pitchFamily="18" charset="0"/>
                <a:ea typeface="黑体" panose="02010609060101010101" pitchFamily="49" charset="-122"/>
              </a:rPr>
            </a:br>
            <a:r>
              <a:rPr kumimoji="1" lang="en-US" altLang="zh-CN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	p=a+4 </a:t>
            </a:r>
            <a:r>
              <a:rPr kumimoji="1" lang="zh-CN" altLang="en-US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等效于 </a:t>
            </a:r>
            <a:r>
              <a:rPr kumimoji="1" lang="en-US" altLang="zh-CN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p=&amp;a[4];</a:t>
            </a:r>
            <a:endParaRPr kumimoji="1" lang="en-US" altLang="zh-CN" sz="2400" dirty="0">
              <a:latin typeface="Times New Roman" panose="0202050305040509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433155" name="Group 3"/>
          <p:cNvGraphicFramePr>
            <a:graphicFrameLocks noGrp="1"/>
          </p:cNvGraphicFramePr>
          <p:nvPr>
            <p:ph sz="half" idx="1"/>
          </p:nvPr>
        </p:nvGraphicFramePr>
        <p:xfrm>
          <a:off x="2630488" y="3284538"/>
          <a:ext cx="1438275" cy="3108852"/>
        </p:xfrm>
        <a:graphic>
          <a:graphicData uri="http://schemas.openxmlformats.org/drawingml/2006/table">
            <a:tbl>
              <a:tblPr/>
              <a:tblGrid>
                <a:gridCol w="1438275"/>
              </a:tblGrid>
              <a:tr h="518054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en-US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itchFamily="2" charset="-122"/>
                      </a:endParaRP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054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rPr>
                        <a:t>a[0]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itchFamily="2" charset="-122"/>
                      </a:endParaRP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054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rPr>
                        <a:t>a[1]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itchFamily="2" charset="-122"/>
                      </a:endParaRP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054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rPr>
                        <a:t>a[2]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itchFamily="2" charset="-122"/>
                      </a:endParaRP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054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rPr>
                        <a:t>a[3]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itchFamily="2" charset="-122"/>
                      </a:endParaRP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054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rPr>
                        <a:t>a[4]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itchFamily="2" charset="-122"/>
                      </a:endParaRP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433171" name="Group 19"/>
          <p:cNvGraphicFramePr>
            <a:graphicFrameLocks noGrp="1"/>
          </p:cNvGraphicFramePr>
          <p:nvPr>
            <p:ph sz="half" idx="2"/>
          </p:nvPr>
        </p:nvGraphicFramePr>
        <p:xfrm>
          <a:off x="6516688" y="3284538"/>
          <a:ext cx="1543050" cy="3108852"/>
        </p:xfrm>
        <a:graphic>
          <a:graphicData uri="http://schemas.openxmlformats.org/drawingml/2006/table">
            <a:tbl>
              <a:tblPr/>
              <a:tblGrid>
                <a:gridCol w="1543050"/>
              </a:tblGrid>
              <a:tr h="518054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en-US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itchFamily="2" charset="-122"/>
                      </a:endParaRP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054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rPr>
                        <a:t>*p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itchFamily="2" charset="-122"/>
                      </a:endParaRP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054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rPr>
                        <a:t>*(p+1)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itchFamily="2" charset="-122"/>
                      </a:endParaRP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054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rPr>
                        <a:t>*(p+2)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itchFamily="2" charset="-122"/>
                      </a:endParaRP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054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rPr>
                        <a:t>*(p+3)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itchFamily="2" charset="-122"/>
                      </a:endParaRP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054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rPr>
                        <a:t>*(p+4)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itchFamily="2" charset="-122"/>
                      </a:endParaRP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2561" name="Line 35"/>
          <p:cNvSpPr>
            <a:spLocks noChangeShapeType="1"/>
          </p:cNvSpPr>
          <p:nvPr/>
        </p:nvSpPr>
        <p:spPr bwMode="auto">
          <a:xfrm>
            <a:off x="1333500" y="4003675"/>
            <a:ext cx="1296988" cy="0"/>
          </a:xfrm>
          <a:prstGeom prst="line">
            <a:avLst/>
          </a:prstGeom>
          <a:noFill/>
          <a:ln w="12700" cap="sq">
            <a:solidFill>
              <a:schemeClr val="tx2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2562" name="Line 36"/>
          <p:cNvSpPr>
            <a:spLocks noChangeShapeType="1"/>
          </p:cNvSpPr>
          <p:nvPr/>
        </p:nvSpPr>
        <p:spPr bwMode="auto">
          <a:xfrm>
            <a:off x="1333500" y="4579938"/>
            <a:ext cx="1296988" cy="0"/>
          </a:xfrm>
          <a:prstGeom prst="line">
            <a:avLst/>
          </a:prstGeom>
          <a:noFill/>
          <a:ln w="12700" cap="sq">
            <a:solidFill>
              <a:schemeClr val="tx2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2563" name="Line 37"/>
          <p:cNvSpPr>
            <a:spLocks noChangeShapeType="1"/>
          </p:cNvSpPr>
          <p:nvPr/>
        </p:nvSpPr>
        <p:spPr bwMode="auto">
          <a:xfrm>
            <a:off x="1333500" y="5156200"/>
            <a:ext cx="1296988" cy="0"/>
          </a:xfrm>
          <a:prstGeom prst="line">
            <a:avLst/>
          </a:prstGeom>
          <a:noFill/>
          <a:ln w="12700" cap="sq">
            <a:solidFill>
              <a:schemeClr val="tx2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2564" name="Line 38"/>
          <p:cNvSpPr>
            <a:spLocks noChangeShapeType="1"/>
          </p:cNvSpPr>
          <p:nvPr/>
        </p:nvSpPr>
        <p:spPr bwMode="auto">
          <a:xfrm>
            <a:off x="5219700" y="4003675"/>
            <a:ext cx="1296988" cy="0"/>
          </a:xfrm>
          <a:prstGeom prst="line">
            <a:avLst/>
          </a:prstGeom>
          <a:noFill/>
          <a:ln w="12700" cap="sq">
            <a:solidFill>
              <a:schemeClr val="tx2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2565" name="Line 39"/>
          <p:cNvSpPr>
            <a:spLocks noChangeShapeType="1"/>
          </p:cNvSpPr>
          <p:nvPr/>
        </p:nvSpPr>
        <p:spPr bwMode="auto">
          <a:xfrm>
            <a:off x="5219700" y="4579938"/>
            <a:ext cx="1296988" cy="0"/>
          </a:xfrm>
          <a:prstGeom prst="line">
            <a:avLst/>
          </a:prstGeom>
          <a:noFill/>
          <a:ln w="12700" cap="sq">
            <a:solidFill>
              <a:schemeClr val="tx2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2566" name="Line 40"/>
          <p:cNvSpPr>
            <a:spLocks noChangeShapeType="1"/>
          </p:cNvSpPr>
          <p:nvPr/>
        </p:nvSpPr>
        <p:spPr bwMode="auto">
          <a:xfrm>
            <a:off x="5219700" y="5156200"/>
            <a:ext cx="1296988" cy="0"/>
          </a:xfrm>
          <a:prstGeom prst="line">
            <a:avLst/>
          </a:prstGeom>
          <a:noFill/>
          <a:ln w="12700" cap="sq">
            <a:solidFill>
              <a:schemeClr val="tx2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2567" name="Text Box 41"/>
          <p:cNvSpPr txBox="1">
            <a:spLocks noChangeArrowheads="1"/>
          </p:cNvSpPr>
          <p:nvPr/>
        </p:nvSpPr>
        <p:spPr bwMode="auto">
          <a:xfrm>
            <a:off x="1010445" y="3741068"/>
            <a:ext cx="720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p</a:t>
            </a:r>
            <a:endParaRPr kumimoji="1" lang="en-US" altLang="zh-CN" sz="2400" dirty="0">
              <a:latin typeface="Times New Roman" panose="02020503050405090304" pitchFamily="18" charset="0"/>
              <a:ea typeface="黑体" panose="02010609060101010101" pitchFamily="49" charset="-122"/>
            </a:endParaRPr>
          </a:p>
        </p:txBody>
      </p:sp>
      <p:sp>
        <p:nvSpPr>
          <p:cNvPr id="22568" name="Text Box 42"/>
          <p:cNvSpPr txBox="1">
            <a:spLocks noChangeArrowheads="1"/>
          </p:cNvSpPr>
          <p:nvPr/>
        </p:nvSpPr>
        <p:spPr bwMode="auto">
          <a:xfrm>
            <a:off x="900112" y="4293567"/>
            <a:ext cx="720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p+1</a:t>
            </a:r>
            <a:endParaRPr kumimoji="1" lang="en-US" altLang="zh-CN" sz="2400" dirty="0">
              <a:latin typeface="Times New Roman" panose="02020503050405090304" pitchFamily="18" charset="0"/>
              <a:ea typeface="黑体" panose="02010609060101010101" pitchFamily="49" charset="-122"/>
            </a:endParaRPr>
          </a:p>
        </p:txBody>
      </p:sp>
      <p:sp>
        <p:nvSpPr>
          <p:cNvPr id="22569" name="Text Box 43"/>
          <p:cNvSpPr txBox="1">
            <a:spLocks noChangeArrowheads="1"/>
          </p:cNvSpPr>
          <p:nvPr/>
        </p:nvSpPr>
        <p:spPr bwMode="auto">
          <a:xfrm>
            <a:off x="864394" y="4846066"/>
            <a:ext cx="720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p+2</a:t>
            </a:r>
            <a:endParaRPr kumimoji="1" lang="en-US" altLang="zh-CN" sz="2400" dirty="0">
              <a:latin typeface="Times New Roman" panose="02020503050405090304" pitchFamily="18" charset="0"/>
              <a:ea typeface="黑体" panose="02010609060101010101" pitchFamily="49" charset="-122"/>
            </a:endParaRPr>
          </a:p>
        </p:txBody>
      </p:sp>
      <p:sp>
        <p:nvSpPr>
          <p:cNvPr id="22570" name="Text Box 44"/>
          <p:cNvSpPr txBox="1">
            <a:spLocks noChangeArrowheads="1"/>
          </p:cNvSpPr>
          <p:nvPr/>
        </p:nvSpPr>
        <p:spPr bwMode="auto">
          <a:xfrm>
            <a:off x="5169943" y="3532982"/>
            <a:ext cx="720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p</a:t>
            </a:r>
            <a:endParaRPr kumimoji="1" lang="en-US" altLang="zh-CN" sz="2400" dirty="0">
              <a:latin typeface="Times New Roman" panose="02020503050405090304" pitchFamily="18" charset="0"/>
              <a:ea typeface="黑体" panose="02010609060101010101" pitchFamily="49" charset="-122"/>
            </a:endParaRPr>
          </a:p>
        </p:txBody>
      </p:sp>
      <p:sp>
        <p:nvSpPr>
          <p:cNvPr id="22571" name="Text Box 45"/>
          <p:cNvSpPr txBox="1">
            <a:spLocks noChangeArrowheads="1"/>
          </p:cNvSpPr>
          <p:nvPr/>
        </p:nvSpPr>
        <p:spPr bwMode="auto">
          <a:xfrm>
            <a:off x="5110956" y="4182270"/>
            <a:ext cx="720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p+1</a:t>
            </a:r>
            <a:endParaRPr kumimoji="1" lang="en-US" altLang="zh-CN" sz="2400" dirty="0">
              <a:latin typeface="Times New Roman" panose="02020503050405090304" pitchFamily="18" charset="0"/>
              <a:ea typeface="黑体" panose="02010609060101010101" pitchFamily="49" charset="-122"/>
            </a:endParaRPr>
          </a:p>
        </p:txBody>
      </p:sp>
      <p:sp>
        <p:nvSpPr>
          <p:cNvPr id="22572" name="Text Box 46"/>
          <p:cNvSpPr txBox="1">
            <a:spLocks noChangeArrowheads="1"/>
          </p:cNvSpPr>
          <p:nvPr/>
        </p:nvSpPr>
        <p:spPr bwMode="auto">
          <a:xfrm>
            <a:off x="5162607" y="4699000"/>
            <a:ext cx="720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p+2</a:t>
            </a:r>
            <a:endParaRPr kumimoji="1" lang="en-US" altLang="zh-CN" sz="2400" dirty="0">
              <a:latin typeface="Times New Roman" panose="02020503050405090304" pitchFamily="18" charset="0"/>
              <a:ea typeface="黑体" panose="02010609060101010101" pitchFamily="49" charset="-122"/>
            </a:endParaRPr>
          </a:p>
        </p:txBody>
      </p:sp>
      <p:sp>
        <p:nvSpPr>
          <p:cNvPr id="22573" name="AutoShape 47"/>
          <p:cNvSpPr>
            <a:spLocks noChangeArrowheads="1"/>
          </p:cNvSpPr>
          <p:nvPr/>
        </p:nvSpPr>
        <p:spPr bwMode="auto">
          <a:xfrm>
            <a:off x="4356100" y="4652963"/>
            <a:ext cx="790575" cy="503237"/>
          </a:xfrm>
          <a:prstGeom prst="leftRightArrow">
            <a:avLst>
              <a:gd name="adj1" fmla="val 50000"/>
              <a:gd name="adj2" fmla="val 31420"/>
            </a:avLst>
          </a:prstGeom>
          <a:solidFill>
            <a:srgbClr val="C00000">
              <a:alpha val="70195"/>
            </a:srgbClr>
          </a:solidFill>
          <a:ln>
            <a:noFill/>
          </a:ln>
          <a:effectLst/>
        </p:spPr>
        <p:txBody>
          <a:bodyPr wrap="none" anchor="ctr">
            <a:spAutoFit/>
          </a:bodyPr>
          <a:lstStyle>
            <a:lvl1pPr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1pPr>
            <a:lvl2pPr marL="742950" indent="-28575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2pPr>
            <a:lvl3pPr marL="1143000" indent="-22860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3pPr>
            <a:lvl4pPr marL="1600200" indent="-22860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4pPr>
            <a:lvl5pPr marL="2057400" indent="-22860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2574" name="Text Box 48"/>
          <p:cNvSpPr txBox="1">
            <a:spLocks noChangeArrowheads="1"/>
          </p:cNvSpPr>
          <p:nvPr/>
        </p:nvSpPr>
        <p:spPr bwMode="auto">
          <a:xfrm>
            <a:off x="4211638" y="4051300"/>
            <a:ext cx="9350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 sz="2400">
                <a:solidFill>
                  <a:schemeClr val="tx2"/>
                </a:solidFill>
                <a:latin typeface="Times New Roman" panose="02020503050405090304" pitchFamily="18" charset="0"/>
                <a:ea typeface="黑体" panose="02010609060101010101" pitchFamily="49" charset="-122"/>
              </a:rPr>
              <a:t>等效</a:t>
            </a:r>
            <a:endParaRPr kumimoji="1" lang="zh-CN" altLang="en-US" sz="2400">
              <a:solidFill>
                <a:schemeClr val="tx2"/>
              </a:solidFill>
              <a:latin typeface="Times New Roman" panose="02020503050405090304" pitchFamily="18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400452" y="2015556"/>
            <a:ext cx="6343095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//</a:t>
            </a:r>
            <a:r>
              <a:rPr lang="zh-CN" altLang="en-US" dirty="0">
                <a:solidFill>
                  <a:srgbClr val="0000FF"/>
                </a:solidFill>
                <a:latin typeface="Consolas" panose="020B0609020204030204" pitchFamily="49" charset="0"/>
              </a:rPr>
              <a:t>例</a:t>
            </a:r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</a:rPr>
              <a:t>13-04</a:t>
            </a:r>
            <a:endParaRPr lang="en-US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&lt;iostream&gt;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std;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main()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*p =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s[] =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</a:rPr>
              <a:t>abcedfgh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p = s;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 *p !=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'\0'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){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p++;</a:t>
            </a:r>
            <a:endParaRPr lang="en-US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  }</a:t>
            </a:r>
            <a:endParaRPr lang="en-US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"string's length: 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&lt;&lt; p - s &lt;&lt;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5603" name="Text Box 3"/>
          <p:cNvSpPr txBox="1">
            <a:spLocks noChangeArrowheads="1"/>
          </p:cNvSpPr>
          <p:nvPr/>
        </p:nvSpPr>
        <p:spPr bwMode="auto">
          <a:xfrm>
            <a:off x="432000" y="1106101"/>
            <a:ext cx="748254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 sz="2800" dirty="0">
                <a:solidFill>
                  <a:schemeClr val="hlink"/>
                </a:solidFill>
                <a:latin typeface="Times New Roman" panose="02020503050405090304" pitchFamily="18" charset="0"/>
                <a:ea typeface="黑体" panose="02010609060101010101" pitchFamily="49" charset="-122"/>
              </a:rPr>
              <a:t>数组名</a:t>
            </a:r>
            <a:r>
              <a:rPr kumimoji="1" lang="zh-CN" altLang="en-US" sz="2800" dirty="0">
                <a:latin typeface="Times New Roman" panose="02020503050405090304" pitchFamily="18" charset="0"/>
                <a:ea typeface="黑体" panose="02010609060101010101" pitchFamily="49" charset="-122"/>
              </a:rPr>
              <a:t>指向该数组的首地址，</a:t>
            </a:r>
            <a:endParaRPr kumimoji="1" lang="zh-CN" altLang="en-US" sz="2800" dirty="0">
              <a:latin typeface="Times New Roman" panose="02020503050405090304" pitchFamily="18" charset="0"/>
              <a:ea typeface="黑体" panose="02010609060101010101" pitchFamily="49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理解数组名</a:t>
            </a:r>
            <a:endParaRPr lang="en-US" dirty="0"/>
          </a:p>
        </p:txBody>
      </p:sp>
      <p:sp>
        <p:nvSpPr>
          <p:cNvPr id="3" name="矩形 2"/>
          <p:cNvSpPr/>
          <p:nvPr/>
        </p:nvSpPr>
        <p:spPr>
          <a:xfrm>
            <a:off x="4972659" y="1115692"/>
            <a:ext cx="269817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800" dirty="0">
                <a:latin typeface="Times New Roman" panose="02020503050405090304" pitchFamily="18" charset="0"/>
                <a:ea typeface="黑体" panose="02010609060101010101" pitchFamily="49" charset="-122"/>
              </a:rPr>
              <a:t>是一个</a:t>
            </a:r>
            <a:r>
              <a:rPr kumimoji="1" lang="zh-CN" altLang="en-US" sz="2800" dirty="0">
                <a:solidFill>
                  <a:schemeClr val="hlink"/>
                </a:solidFill>
                <a:latin typeface="Times New Roman" panose="02020503050405090304" pitchFamily="18" charset="0"/>
                <a:ea typeface="黑体" panose="02010609060101010101" pitchFamily="49" charset="-122"/>
              </a:rPr>
              <a:t>常量指针</a:t>
            </a:r>
            <a:endParaRPr lang="en-US" dirty="0"/>
          </a:p>
        </p:txBody>
      </p:sp>
      <p:sp>
        <p:nvSpPr>
          <p:cNvPr id="437253" name="Oval 5"/>
          <p:cNvSpPr>
            <a:spLocks noChangeArrowheads="1"/>
          </p:cNvSpPr>
          <p:nvPr/>
        </p:nvSpPr>
        <p:spPr bwMode="auto">
          <a:xfrm>
            <a:off x="5563634" y="5236979"/>
            <a:ext cx="837166" cy="463488"/>
          </a:xfrm>
          <a:prstGeom prst="ellipse">
            <a:avLst/>
          </a:prstGeom>
          <a:noFill/>
          <a:ln w="38100" cap="sq">
            <a:solidFill>
              <a:schemeClr val="hlink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195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1pPr>
            <a:lvl2pPr marL="742950" indent="-28575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2pPr>
            <a:lvl3pPr marL="1143000" indent="-22860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3pPr>
            <a:lvl4pPr marL="1600200" indent="-22860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4pPr>
            <a:lvl5pPr marL="2057400" indent="-22860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37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39298" name="Group 2"/>
          <p:cNvGraphicFramePr>
            <a:graphicFrameLocks noGrp="1"/>
          </p:cNvGraphicFramePr>
          <p:nvPr>
            <p:ph/>
          </p:nvPr>
        </p:nvGraphicFramePr>
        <p:xfrm>
          <a:off x="1120775" y="1038225"/>
          <a:ext cx="7772400" cy="576263"/>
        </p:xfrm>
        <a:graphic>
          <a:graphicData uri="http://schemas.openxmlformats.org/drawingml/2006/table">
            <a:tbl>
              <a:tblPr/>
              <a:tblGrid>
                <a:gridCol w="863600"/>
                <a:gridCol w="863600"/>
                <a:gridCol w="863600"/>
                <a:gridCol w="863600"/>
                <a:gridCol w="863600"/>
                <a:gridCol w="863600"/>
                <a:gridCol w="863600"/>
                <a:gridCol w="863600"/>
                <a:gridCol w="863600"/>
              </a:tblGrid>
              <a:tr h="57626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rPr>
                        <a:t>0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rPr>
                        <a:t>1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rPr>
                        <a:t>2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rPr>
                        <a:t>3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rPr>
                        <a:t>4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rPr>
                        <a:t>5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rPr>
                        <a:t>6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rPr>
                        <a:t>7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rPr>
                        <a:t>8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439328" name="Group 32"/>
          <p:cNvGraphicFramePr>
            <a:graphicFrameLocks noGrp="1"/>
          </p:cNvGraphicFramePr>
          <p:nvPr/>
        </p:nvGraphicFramePr>
        <p:xfrm>
          <a:off x="1120775" y="1614488"/>
          <a:ext cx="7772400" cy="647700"/>
        </p:xfrm>
        <a:graphic>
          <a:graphicData uri="http://schemas.openxmlformats.org/drawingml/2006/table">
            <a:tbl>
              <a:tblPr/>
              <a:tblGrid>
                <a:gridCol w="863600"/>
                <a:gridCol w="863600"/>
                <a:gridCol w="863600"/>
                <a:gridCol w="865188"/>
                <a:gridCol w="862012"/>
                <a:gridCol w="863600"/>
                <a:gridCol w="863600"/>
                <a:gridCol w="863600"/>
                <a:gridCol w="863600"/>
              </a:tblGrid>
              <a:tr h="6477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rPr>
                        <a:t>a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rPr>
                        <a:t>b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rPr>
                        <a:t>c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rPr>
                        <a:t>d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rPr>
                        <a:t>e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rPr>
                        <a:t>f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rPr>
                        <a:t>g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rPr>
                        <a:t>h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rPr>
                        <a:t>\0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6658" name="Text Box 54"/>
          <p:cNvSpPr txBox="1">
            <a:spLocks noChangeArrowheads="1"/>
          </p:cNvSpPr>
          <p:nvPr/>
        </p:nvSpPr>
        <p:spPr bwMode="auto">
          <a:xfrm>
            <a:off x="468313" y="1614488"/>
            <a:ext cx="431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800">
                <a:latin typeface="Times New Roman" panose="02020503050405090304" pitchFamily="18" charset="0"/>
                <a:ea typeface="黑体" panose="02010609060101010101" pitchFamily="49" charset="-122"/>
              </a:rPr>
              <a:t>s</a:t>
            </a:r>
            <a:endParaRPr kumimoji="1" lang="en-US" altLang="zh-CN" sz="2800">
              <a:latin typeface="Times New Roman" panose="02020503050405090304" pitchFamily="18" charset="0"/>
              <a:ea typeface="黑体" panose="02010609060101010101" pitchFamily="49" charset="-122"/>
            </a:endParaRPr>
          </a:p>
        </p:txBody>
      </p:sp>
      <p:sp>
        <p:nvSpPr>
          <p:cNvPr id="26659" name="Text Box 55"/>
          <p:cNvSpPr txBox="1">
            <a:spLocks noChangeArrowheads="1"/>
          </p:cNvSpPr>
          <p:nvPr/>
        </p:nvSpPr>
        <p:spPr bwMode="auto">
          <a:xfrm>
            <a:off x="1187450" y="2622550"/>
            <a:ext cx="431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800">
                <a:latin typeface="Times New Roman" panose="02020503050405090304" pitchFamily="18" charset="0"/>
                <a:ea typeface="黑体" panose="02010609060101010101" pitchFamily="49" charset="-122"/>
              </a:rPr>
              <a:t>s</a:t>
            </a:r>
            <a:endParaRPr kumimoji="1" lang="en-US" altLang="zh-CN" sz="2800">
              <a:latin typeface="Times New Roman" panose="02020503050405090304" pitchFamily="18" charset="0"/>
              <a:ea typeface="黑体" panose="02010609060101010101" pitchFamily="49" charset="-122"/>
            </a:endParaRPr>
          </a:p>
        </p:txBody>
      </p:sp>
      <p:sp>
        <p:nvSpPr>
          <p:cNvPr id="26660" name="Text Box 56"/>
          <p:cNvSpPr txBox="1">
            <a:spLocks noChangeArrowheads="1"/>
          </p:cNvSpPr>
          <p:nvPr/>
        </p:nvSpPr>
        <p:spPr bwMode="auto">
          <a:xfrm>
            <a:off x="1619250" y="2608263"/>
            <a:ext cx="431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800">
                <a:latin typeface="Times New Roman" panose="02020503050405090304" pitchFamily="18" charset="0"/>
                <a:ea typeface="黑体" panose="02010609060101010101" pitchFamily="49" charset="-122"/>
              </a:rPr>
              <a:t>p</a:t>
            </a:r>
            <a:endParaRPr kumimoji="1" lang="en-US" altLang="zh-CN" sz="2800">
              <a:latin typeface="Times New Roman" panose="02020503050405090304" pitchFamily="18" charset="0"/>
              <a:ea typeface="黑体" panose="02010609060101010101" pitchFamily="49" charset="-122"/>
            </a:endParaRPr>
          </a:p>
        </p:txBody>
      </p:sp>
      <p:sp>
        <p:nvSpPr>
          <p:cNvPr id="26661" name="Line 57"/>
          <p:cNvSpPr>
            <a:spLocks noChangeShapeType="1"/>
          </p:cNvSpPr>
          <p:nvPr/>
        </p:nvSpPr>
        <p:spPr bwMode="auto">
          <a:xfrm flipV="1">
            <a:off x="1620838" y="2262188"/>
            <a:ext cx="0" cy="879475"/>
          </a:xfrm>
          <a:prstGeom prst="line">
            <a:avLst/>
          </a:prstGeom>
          <a:noFill/>
          <a:ln w="57150" cap="sq">
            <a:solidFill>
              <a:schemeClr val="tx2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6662" name="Line 58"/>
          <p:cNvSpPr>
            <a:spLocks noChangeShapeType="1"/>
          </p:cNvSpPr>
          <p:nvPr/>
        </p:nvSpPr>
        <p:spPr bwMode="auto">
          <a:xfrm flipV="1">
            <a:off x="1476375" y="2262188"/>
            <a:ext cx="0" cy="879475"/>
          </a:xfrm>
          <a:prstGeom prst="line">
            <a:avLst/>
          </a:prstGeom>
          <a:noFill/>
          <a:ln w="57150" cap="sq">
            <a:solidFill>
              <a:schemeClr val="hlink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6663" name="Text Box 59"/>
          <p:cNvSpPr txBox="1">
            <a:spLocks noChangeArrowheads="1"/>
          </p:cNvSpPr>
          <p:nvPr/>
        </p:nvSpPr>
        <p:spPr bwMode="auto">
          <a:xfrm>
            <a:off x="468313" y="4076700"/>
            <a:ext cx="8675687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800">
                <a:latin typeface="Times New Roman" panose="02020503050405090304" pitchFamily="18" charset="0"/>
                <a:ea typeface="黑体" panose="02010609060101010101" pitchFamily="49" charset="-122"/>
              </a:rPr>
              <a:t>	</a:t>
            </a:r>
            <a:r>
              <a:rPr kumimoji="1" lang="zh-CN" altLang="en-US" sz="2800">
                <a:latin typeface="Times New Roman" panose="02020503050405090304" pitchFamily="18" charset="0"/>
                <a:ea typeface="黑体" panose="02010609060101010101" pitchFamily="49" charset="-122"/>
              </a:rPr>
              <a:t>图中数组的首地址是 </a:t>
            </a:r>
            <a:r>
              <a:rPr kumimoji="1" lang="en-US" altLang="zh-CN" sz="2800">
                <a:latin typeface="Times New Roman" panose="02020503050405090304" pitchFamily="18" charset="0"/>
                <a:ea typeface="黑体" panose="02010609060101010101" pitchFamily="49" charset="-122"/>
              </a:rPr>
              <a:t>s[0] </a:t>
            </a:r>
            <a:r>
              <a:rPr kumimoji="1" lang="zh-CN" altLang="en-US" sz="2800">
                <a:latin typeface="Times New Roman" panose="02020503050405090304" pitchFamily="18" charset="0"/>
                <a:ea typeface="黑体" panose="02010609060101010101" pitchFamily="49" charset="-122"/>
              </a:rPr>
              <a:t>的地址，即</a:t>
            </a:r>
            <a:r>
              <a:rPr kumimoji="1" lang="en-US" altLang="zh-CN" sz="2800">
                <a:latin typeface="Times New Roman" panose="02020503050405090304" pitchFamily="18" charset="0"/>
                <a:ea typeface="黑体" panose="02010609060101010101" pitchFamily="49" charset="-122"/>
              </a:rPr>
              <a:t>&amp;s[0]</a:t>
            </a:r>
            <a:r>
              <a:rPr kumimoji="1" lang="zh-CN" altLang="en-US" sz="2800">
                <a:latin typeface="Times New Roman" panose="02020503050405090304" pitchFamily="18" charset="0"/>
                <a:ea typeface="黑体" panose="02010609060101010101" pitchFamily="49" charset="-122"/>
              </a:rPr>
              <a:t>。</a:t>
            </a:r>
            <a:r>
              <a:rPr kumimoji="1" lang="en-US" altLang="zh-CN" sz="2800">
                <a:solidFill>
                  <a:schemeClr val="hlink"/>
                </a:solidFill>
                <a:latin typeface="Times New Roman" panose="02020503050405090304" pitchFamily="18" charset="0"/>
                <a:ea typeface="黑体" panose="02010609060101010101" pitchFamily="49" charset="-122"/>
              </a:rPr>
              <a:t>s</a:t>
            </a:r>
            <a:r>
              <a:rPr kumimoji="1" lang="en-US" altLang="zh-CN" sz="2800">
                <a:latin typeface="Times New Roman" panose="02020503050405090304" pitchFamily="18" charset="0"/>
                <a:ea typeface="黑体" panose="02010609060101010101" pitchFamily="49" charset="-122"/>
              </a:rPr>
              <a:t> </a:t>
            </a:r>
            <a:r>
              <a:rPr kumimoji="1" lang="zh-CN" altLang="en-US" sz="2800">
                <a:latin typeface="Times New Roman" panose="02020503050405090304" pitchFamily="18" charset="0"/>
                <a:ea typeface="黑体" panose="02010609060101010101" pitchFamily="49" charset="-122"/>
              </a:rPr>
              <a:t>可看作是指向 </a:t>
            </a:r>
            <a:r>
              <a:rPr kumimoji="1" lang="en-US" altLang="zh-CN" sz="2800">
                <a:latin typeface="Times New Roman" panose="02020503050405090304" pitchFamily="18" charset="0"/>
                <a:ea typeface="黑体" panose="02010609060101010101" pitchFamily="49" charset="-122"/>
              </a:rPr>
              <a:t>s[0] </a:t>
            </a:r>
            <a:r>
              <a:rPr kumimoji="1" lang="zh-CN" altLang="en-US" sz="2800">
                <a:latin typeface="Times New Roman" panose="02020503050405090304" pitchFamily="18" charset="0"/>
                <a:ea typeface="黑体" panose="02010609060101010101" pitchFamily="49" charset="-122"/>
              </a:rPr>
              <a:t>的指针。</a:t>
            </a:r>
            <a:r>
              <a:rPr kumimoji="1" lang="en-US" altLang="zh-CN" sz="2800">
                <a:latin typeface="Times New Roman" panose="02020503050405090304" pitchFamily="18" charset="0"/>
                <a:ea typeface="黑体" panose="02010609060101010101" pitchFamily="49" charset="-122"/>
              </a:rPr>
              <a:t>s </a:t>
            </a:r>
            <a:r>
              <a:rPr kumimoji="1" lang="zh-CN" altLang="en-US" sz="2800">
                <a:latin typeface="Times New Roman" panose="02020503050405090304" pitchFamily="18" charset="0"/>
                <a:ea typeface="黑体" panose="02010609060101010101" pitchFamily="49" charset="-122"/>
              </a:rPr>
              <a:t>是不会动的，是常量指针。</a:t>
            </a:r>
            <a:endParaRPr kumimoji="1" lang="zh-CN" altLang="en-US" sz="2800">
              <a:latin typeface="Times New Roman" panose="02020503050405090304" pitchFamily="18" charset="0"/>
              <a:ea typeface="黑体" panose="02010609060101010101" pitchFamily="49" charset="-122"/>
            </a:endParaRPr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757238" y="404813"/>
            <a:ext cx="8062912" cy="5835650"/>
          </a:xfrm>
          <a:prstGeom prst="rect">
            <a:avLst/>
          </a:prstGeom>
        </p:spPr>
        <p:txBody>
          <a:bodyPr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9992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275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99995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CN" sz="2800" dirty="0"/>
              <a:t>   </a:t>
            </a:r>
            <a:r>
              <a:rPr lang="en-US" altLang="zh-CN" dirty="0"/>
              <a:t>                                                                       </a:t>
            </a:r>
            <a:endParaRPr lang="en-US" altLang="zh-CN" dirty="0"/>
          </a:p>
          <a:p>
            <a:pPr>
              <a:buFont typeface="Wingdings" panose="05000000000000000000" pitchFamily="2" charset="2"/>
              <a:buNone/>
              <a:defRPr/>
            </a:pPr>
            <a:endParaRPr lang="en-US" altLang="zh-CN" dirty="0"/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      </a:t>
            </a:r>
            <a:endParaRPr lang="en-US" altLang="zh-CN" dirty="0"/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 </a:t>
            </a:r>
            <a:endParaRPr lang="en-US" altLang="zh-CN" dirty="0"/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CN" sz="2800" dirty="0"/>
              <a:t>                                                              </a:t>
            </a:r>
            <a:endParaRPr lang="en-US" altLang="zh-CN" sz="2800" dirty="0"/>
          </a:p>
        </p:txBody>
      </p:sp>
      <p:sp>
        <p:nvSpPr>
          <p:cNvPr id="11" name="Line 12"/>
          <p:cNvSpPr>
            <a:spLocks noChangeShapeType="1"/>
          </p:cNvSpPr>
          <p:nvPr/>
        </p:nvSpPr>
        <p:spPr bwMode="auto">
          <a:xfrm flipV="1">
            <a:off x="2483768" y="2246312"/>
            <a:ext cx="0" cy="1223963"/>
          </a:xfrm>
          <a:prstGeom prst="line">
            <a:avLst/>
          </a:prstGeom>
          <a:noFill/>
          <a:ln w="76200">
            <a:solidFill>
              <a:schemeClr val="tx1"/>
            </a:solidFill>
            <a:prstDash val="sysDot"/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2" name="Line 13"/>
          <p:cNvSpPr>
            <a:spLocks noChangeShapeType="1"/>
          </p:cNvSpPr>
          <p:nvPr/>
        </p:nvSpPr>
        <p:spPr bwMode="auto">
          <a:xfrm flipV="1">
            <a:off x="3275856" y="2262188"/>
            <a:ext cx="0" cy="1223963"/>
          </a:xfrm>
          <a:prstGeom prst="line">
            <a:avLst/>
          </a:prstGeom>
          <a:noFill/>
          <a:ln w="76200">
            <a:solidFill>
              <a:schemeClr val="tx1"/>
            </a:solidFill>
            <a:prstDash val="sysDot"/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3" name="Line 14"/>
          <p:cNvSpPr>
            <a:spLocks noChangeShapeType="1"/>
          </p:cNvSpPr>
          <p:nvPr/>
        </p:nvSpPr>
        <p:spPr bwMode="auto">
          <a:xfrm flipV="1">
            <a:off x="4211960" y="2246312"/>
            <a:ext cx="0" cy="1223963"/>
          </a:xfrm>
          <a:prstGeom prst="line">
            <a:avLst/>
          </a:prstGeom>
          <a:noFill/>
          <a:ln w="76200">
            <a:solidFill>
              <a:schemeClr val="tx1"/>
            </a:solidFill>
            <a:prstDash val="sysDot"/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" name="Line 15"/>
          <p:cNvSpPr>
            <a:spLocks noChangeShapeType="1"/>
          </p:cNvSpPr>
          <p:nvPr/>
        </p:nvSpPr>
        <p:spPr bwMode="auto">
          <a:xfrm flipV="1">
            <a:off x="5076056" y="2255838"/>
            <a:ext cx="0" cy="1223963"/>
          </a:xfrm>
          <a:prstGeom prst="line">
            <a:avLst/>
          </a:prstGeom>
          <a:noFill/>
          <a:ln w="76200">
            <a:solidFill>
              <a:schemeClr val="tx1"/>
            </a:solidFill>
            <a:prstDash val="sysDot"/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5" name="Line 16"/>
          <p:cNvSpPr>
            <a:spLocks noChangeShapeType="1"/>
          </p:cNvSpPr>
          <p:nvPr/>
        </p:nvSpPr>
        <p:spPr bwMode="auto">
          <a:xfrm flipV="1">
            <a:off x="5936704" y="2262188"/>
            <a:ext cx="0" cy="1223963"/>
          </a:xfrm>
          <a:prstGeom prst="line">
            <a:avLst/>
          </a:prstGeom>
          <a:noFill/>
          <a:ln w="76200">
            <a:solidFill>
              <a:schemeClr val="tx1"/>
            </a:solidFill>
            <a:prstDash val="sysDot"/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6" name="Line 17"/>
          <p:cNvSpPr>
            <a:spLocks noChangeShapeType="1"/>
          </p:cNvSpPr>
          <p:nvPr/>
        </p:nvSpPr>
        <p:spPr bwMode="auto">
          <a:xfrm flipV="1">
            <a:off x="6732240" y="2255838"/>
            <a:ext cx="0" cy="1223963"/>
          </a:xfrm>
          <a:prstGeom prst="line">
            <a:avLst/>
          </a:prstGeom>
          <a:noFill/>
          <a:ln w="76200">
            <a:solidFill>
              <a:schemeClr val="tx1"/>
            </a:solidFill>
            <a:prstDash val="sysDot"/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7" name="Line 18"/>
          <p:cNvSpPr>
            <a:spLocks noChangeShapeType="1"/>
          </p:cNvSpPr>
          <p:nvPr/>
        </p:nvSpPr>
        <p:spPr bwMode="auto">
          <a:xfrm flipV="1">
            <a:off x="7668344" y="2262188"/>
            <a:ext cx="0" cy="1223963"/>
          </a:xfrm>
          <a:prstGeom prst="line">
            <a:avLst/>
          </a:prstGeom>
          <a:noFill/>
          <a:ln w="76200">
            <a:solidFill>
              <a:schemeClr val="tx1"/>
            </a:solidFill>
            <a:prstDash val="sysDot"/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8" name="Line 28"/>
          <p:cNvSpPr>
            <a:spLocks noChangeShapeType="1"/>
          </p:cNvSpPr>
          <p:nvPr/>
        </p:nvSpPr>
        <p:spPr bwMode="auto">
          <a:xfrm flipV="1">
            <a:off x="8448078" y="2255838"/>
            <a:ext cx="0" cy="1274763"/>
          </a:xfrm>
          <a:prstGeom prst="line">
            <a:avLst/>
          </a:prstGeom>
          <a:noFill/>
          <a:ln w="76200">
            <a:solidFill>
              <a:srgbClr val="66FF33"/>
            </a:solidFill>
            <a:prstDash val="sysDot"/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7832873" y="3588306"/>
            <a:ext cx="9829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p = s+8</a:t>
            </a:r>
            <a:endParaRPr lang="en-US" altLang="zh-CN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用数组名作函数参数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用数组名作函数参数时，因为实参数组名代表该数组首元素的地址，形参应该是一个指针变量</a:t>
            </a:r>
            <a:endParaRPr lang="en-US" altLang="zh-CN" dirty="0"/>
          </a:p>
          <a:p>
            <a:r>
              <a:rPr lang="en-US" altLang="zh-CN" dirty="0"/>
              <a:t>C</a:t>
            </a:r>
            <a:r>
              <a:rPr lang="zh-CN" altLang="en-US" dirty="0"/>
              <a:t>编译都是将形参数组名作为指针变量来处理的</a:t>
            </a:r>
            <a:endParaRPr lang="en-US" altLang="zh-CN" dirty="0"/>
          </a:p>
          <a:p>
            <a:endParaRPr lang="en-US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1395412" y="2770436"/>
            <a:ext cx="6353175" cy="43452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0045" indent="-360045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4"/>
              </a:buClr>
              <a:buFontTx/>
              <a:buBlip>
                <a:blip r:embed="rId1"/>
              </a:buBlip>
              <a:defRPr sz="2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685800" indent="-28829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Tx/>
              <a:buBlip>
                <a:blip r:embed="rId1"/>
              </a:buBlip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3050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SzPct val="100000"/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SzPct val="100000"/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SzPct val="100000"/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000"/>
              </a:lnSpc>
              <a:buFontTx/>
              <a:buNone/>
            </a:pPr>
            <a:r>
              <a:rPr lang="en-US" altLang="zh-CN" sz="1800" spc="-100" dirty="0"/>
              <a:t>void fun(int </a:t>
            </a:r>
            <a:r>
              <a:rPr lang="en-US" altLang="zh-CN" sz="1800" spc="-100" dirty="0" err="1"/>
              <a:t>arr</a:t>
            </a:r>
            <a:r>
              <a:rPr lang="en-US" altLang="zh-CN" sz="1800" spc="-100" dirty="0"/>
              <a:t>[ ],int n]; </a:t>
            </a:r>
            <a:endParaRPr lang="en-US" altLang="zh-CN" sz="1800" spc="-100" dirty="0"/>
          </a:p>
          <a:p>
            <a:pPr>
              <a:lnSpc>
                <a:spcPts val="2000"/>
              </a:lnSpc>
              <a:buFontTx/>
              <a:buNone/>
            </a:pPr>
            <a:r>
              <a:rPr lang="en-US" altLang="zh-CN" sz="1800" spc="-100" dirty="0"/>
              <a:t>int main()                   </a:t>
            </a:r>
            <a:endParaRPr lang="zh-CN" altLang="zh-CN" sz="1800" spc="-100" dirty="0"/>
          </a:p>
          <a:p>
            <a:pPr>
              <a:lnSpc>
                <a:spcPts val="2000"/>
              </a:lnSpc>
              <a:buFont typeface="Wingdings" panose="05000000000000000000" pitchFamily="2" charset="2"/>
              <a:buNone/>
            </a:pPr>
            <a:r>
              <a:rPr lang="en-US" altLang="zh-CN" sz="1800" spc="-100" dirty="0"/>
              <a:t>{ </a:t>
            </a:r>
            <a:endParaRPr lang="zh-CN" altLang="zh-CN" sz="1800" spc="-100" dirty="0"/>
          </a:p>
          <a:p>
            <a:pPr>
              <a:lnSpc>
                <a:spcPts val="2000"/>
              </a:lnSpc>
              <a:buFont typeface="Wingdings" panose="05000000000000000000" pitchFamily="2" charset="2"/>
              <a:buNone/>
            </a:pPr>
            <a:r>
              <a:rPr lang="en-US" altLang="zh-CN" sz="1800" spc="-100" dirty="0"/>
              <a:t>   int array[10];    </a:t>
            </a:r>
            <a:r>
              <a:rPr lang="zh-CN" altLang="zh-CN" sz="1800" spc="-100" dirty="0"/>
              <a:t></a:t>
            </a:r>
            <a:r>
              <a:rPr lang="en-US" altLang="zh-CN" sz="1800" spc="-100" dirty="0"/>
              <a:t>     </a:t>
            </a:r>
            <a:endParaRPr lang="zh-CN" altLang="zh-CN" sz="1800" spc="-100" dirty="0"/>
          </a:p>
          <a:p>
            <a:pPr>
              <a:lnSpc>
                <a:spcPts val="2000"/>
              </a:lnSpc>
              <a:buFont typeface="Wingdings" panose="05000000000000000000" pitchFamily="2" charset="2"/>
              <a:buNone/>
            </a:pPr>
            <a:r>
              <a:rPr lang="en-US" altLang="zh-CN" sz="1800" spc="-100" dirty="0"/>
              <a:t>    </a:t>
            </a:r>
            <a:r>
              <a:rPr lang="zh-CN" altLang="zh-CN" sz="1800" spc="-100" dirty="0"/>
              <a:t>┇</a:t>
            </a:r>
            <a:r>
              <a:rPr lang="en-US" altLang="zh-CN" sz="1800" spc="-100" dirty="0"/>
              <a:t>                                </a:t>
            </a:r>
            <a:endParaRPr lang="zh-CN" altLang="zh-CN" sz="1800" spc="-100" dirty="0"/>
          </a:p>
          <a:p>
            <a:pPr>
              <a:lnSpc>
                <a:spcPts val="2000"/>
              </a:lnSpc>
              <a:buFont typeface="Wingdings" panose="05000000000000000000" pitchFamily="2" charset="2"/>
              <a:buNone/>
            </a:pPr>
            <a:r>
              <a:rPr lang="en-US" altLang="zh-CN" sz="1800" spc="-100" dirty="0"/>
              <a:t>   fun (array,10);                      </a:t>
            </a:r>
            <a:endParaRPr lang="zh-CN" altLang="zh-CN" sz="1800" spc="-100" dirty="0"/>
          </a:p>
          <a:p>
            <a:pPr>
              <a:lnSpc>
                <a:spcPts val="2000"/>
              </a:lnSpc>
              <a:buFont typeface="Wingdings" panose="05000000000000000000" pitchFamily="2" charset="2"/>
              <a:buNone/>
            </a:pPr>
            <a:r>
              <a:rPr lang="en-US" altLang="zh-CN" sz="1800" spc="-100" dirty="0"/>
              <a:t>   return 0;</a:t>
            </a:r>
            <a:endParaRPr lang="zh-CN" altLang="zh-CN" sz="1800" spc="-100" dirty="0"/>
          </a:p>
          <a:p>
            <a:pPr>
              <a:lnSpc>
                <a:spcPts val="2000"/>
              </a:lnSpc>
              <a:buFont typeface="Wingdings" panose="05000000000000000000" pitchFamily="2" charset="2"/>
              <a:buNone/>
            </a:pPr>
            <a:r>
              <a:rPr lang="en-US" altLang="zh-CN" sz="1800" spc="-100" dirty="0"/>
              <a:t>} </a:t>
            </a:r>
            <a:endParaRPr lang="zh-CN" altLang="zh-CN" sz="1800" spc="-100" dirty="0"/>
          </a:p>
          <a:p>
            <a:pPr>
              <a:lnSpc>
                <a:spcPts val="2000"/>
              </a:lnSpc>
              <a:buFont typeface="Wingdings" panose="05000000000000000000" pitchFamily="2" charset="2"/>
              <a:buNone/>
            </a:pPr>
            <a:r>
              <a:rPr lang="en-US" altLang="zh-CN" sz="1800" spc="-100" dirty="0"/>
              <a:t>void fun(int </a:t>
            </a:r>
            <a:r>
              <a:rPr lang="en-US" altLang="zh-CN" sz="1800" spc="-100" dirty="0" err="1"/>
              <a:t>arr</a:t>
            </a:r>
            <a:r>
              <a:rPr lang="en-US" altLang="zh-CN" sz="1800" spc="-100" dirty="0"/>
              <a:t>[ ],int n)      </a:t>
            </a:r>
            <a:endParaRPr lang="zh-CN" altLang="zh-CN" sz="1800" spc="-100" dirty="0"/>
          </a:p>
          <a:p>
            <a:pPr>
              <a:lnSpc>
                <a:spcPts val="2000"/>
              </a:lnSpc>
              <a:buFont typeface="Wingdings" panose="05000000000000000000" pitchFamily="2" charset="2"/>
              <a:buNone/>
            </a:pPr>
            <a:r>
              <a:rPr lang="en-US" altLang="zh-CN" sz="1800" spc="-100" dirty="0"/>
              <a:t>{ </a:t>
            </a:r>
            <a:r>
              <a:rPr lang="zh-CN" altLang="zh-CN" sz="1800" spc="-100" dirty="0"/>
              <a:t>┇</a:t>
            </a:r>
            <a:r>
              <a:rPr lang="en-US" altLang="zh-CN" sz="1800" spc="-100" dirty="0"/>
              <a:t>  }</a:t>
            </a:r>
            <a:endParaRPr lang="zh-CN" altLang="zh-CN" sz="1800" spc="-100" dirty="0"/>
          </a:p>
        </p:txBody>
      </p:sp>
      <p:sp>
        <p:nvSpPr>
          <p:cNvPr id="7" name="圆角矩形标注 3"/>
          <p:cNvSpPr>
            <a:spLocks noChangeArrowheads="1"/>
          </p:cNvSpPr>
          <p:nvPr/>
        </p:nvSpPr>
        <p:spPr bwMode="auto">
          <a:xfrm>
            <a:off x="3730379" y="4613857"/>
            <a:ext cx="4018208" cy="658370"/>
          </a:xfrm>
          <a:prstGeom prst="wedgeRoundRectCallout">
            <a:avLst>
              <a:gd name="adj1" fmla="val -66457"/>
              <a:gd name="adj2" fmla="val 143745"/>
              <a:gd name="adj3" fmla="val 16667"/>
            </a:avLst>
          </a:prstGeom>
          <a:solidFill>
            <a:srgbClr val="FFFFCC"/>
          </a:solidFill>
          <a:ln w="9525">
            <a:solidFill>
              <a:schemeClr val="tx1"/>
            </a:solidFill>
            <a:miter lim="800000"/>
          </a:ln>
        </p:spPr>
        <p:txBody>
          <a:bodyPr/>
          <a:lstStyle>
            <a:lvl1pPr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algn="ctr"/>
            <a:r>
              <a:rPr lang="en-US" altLang="zh-CN" sz="2800" b="1" dirty="0">
                <a:solidFill>
                  <a:srgbClr val="0000CC"/>
                </a:solidFill>
                <a:latin typeface="Verdana" panose="020B0804030504040204" pitchFamily="34" charset="0"/>
              </a:rPr>
              <a:t>fun(int *</a:t>
            </a:r>
            <a:r>
              <a:rPr lang="en-US" altLang="zh-CN" sz="2800" b="1" dirty="0" err="1">
                <a:solidFill>
                  <a:srgbClr val="0000CC"/>
                </a:solidFill>
                <a:latin typeface="Verdana" panose="020B0804030504040204" pitchFamily="34" charset="0"/>
              </a:rPr>
              <a:t>arr,int</a:t>
            </a:r>
            <a:r>
              <a:rPr lang="en-US" altLang="zh-CN" sz="2800" b="1" dirty="0">
                <a:solidFill>
                  <a:srgbClr val="0000CC"/>
                </a:solidFill>
                <a:latin typeface="Verdana" panose="020B0804030504040204" pitchFamily="34" charset="0"/>
              </a:rPr>
              <a:t> n)</a:t>
            </a:r>
            <a:endParaRPr lang="zh-CN" altLang="zh-CN" sz="2800" b="1" dirty="0">
              <a:solidFill>
                <a:srgbClr val="0000CC"/>
              </a:solidFill>
              <a:latin typeface="Verdana" panose="020B08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38225" y="1229519"/>
            <a:ext cx="5715000" cy="4786313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altLang="zh-CN" sz="2800" dirty="0">
                <a:solidFill>
                  <a:srgbClr val="1B0FB1"/>
                </a:solidFill>
              </a:rPr>
              <a:t>void fun(int </a:t>
            </a:r>
            <a:r>
              <a:rPr lang="en-US" altLang="zh-CN" sz="2800" dirty="0" err="1">
                <a:solidFill>
                  <a:srgbClr val="1B0FB1"/>
                </a:solidFill>
              </a:rPr>
              <a:t>arr</a:t>
            </a:r>
            <a:r>
              <a:rPr lang="en-US" altLang="zh-CN" sz="2800" dirty="0">
                <a:solidFill>
                  <a:srgbClr val="1B0FB1"/>
                </a:solidFill>
              </a:rPr>
              <a:t>[],int n]; </a:t>
            </a:r>
            <a:endParaRPr lang="en-US" altLang="zh-CN" sz="2800" dirty="0">
              <a:solidFill>
                <a:srgbClr val="1B0FB1"/>
              </a:solidFill>
            </a:endParaRPr>
          </a:p>
          <a:p>
            <a:pPr>
              <a:buNone/>
            </a:pPr>
            <a:r>
              <a:rPr lang="en-US" altLang="zh-CN" sz="2800" dirty="0"/>
              <a:t>int main()                   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{ 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int array[10];         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 </a:t>
            </a:r>
            <a:r>
              <a:rPr lang="zh-CN" altLang="zh-CN" sz="2800" dirty="0"/>
              <a:t>┇</a:t>
            </a:r>
            <a:r>
              <a:rPr lang="en-US" altLang="zh-CN" sz="2800" dirty="0"/>
              <a:t>                                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fun (array,10);              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return 0;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} 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void fun(int </a:t>
            </a:r>
            <a:r>
              <a:rPr lang="en-US" altLang="zh-CN" sz="2800" dirty="0">
                <a:solidFill>
                  <a:srgbClr val="FF0000"/>
                </a:solidFill>
              </a:rPr>
              <a:t>*</a:t>
            </a:r>
            <a:r>
              <a:rPr lang="en-US" altLang="zh-CN" sz="2800" dirty="0" err="1">
                <a:solidFill>
                  <a:srgbClr val="FF0000"/>
                </a:solidFill>
              </a:rPr>
              <a:t>arr</a:t>
            </a:r>
            <a:r>
              <a:rPr lang="en-US" altLang="zh-CN" sz="2800" dirty="0" err="1"/>
              <a:t>,int</a:t>
            </a:r>
            <a:r>
              <a:rPr lang="en-US" altLang="zh-CN" sz="2800" dirty="0"/>
              <a:t> n)      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{ </a:t>
            </a:r>
            <a:r>
              <a:rPr lang="zh-CN" altLang="zh-CN" sz="2800" dirty="0"/>
              <a:t>┇</a:t>
            </a:r>
            <a:r>
              <a:rPr lang="en-US" altLang="zh-CN" sz="2800" dirty="0"/>
              <a:t>  }</a:t>
            </a:r>
            <a:endParaRPr lang="zh-CN" altLang="zh-CN" sz="2800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6453188" y="879475"/>
          <a:ext cx="833437" cy="54784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3437"/>
              </a:tblGrid>
              <a:tr h="531733">
                <a:tc>
                  <a:txBody>
                    <a:bodyPr/>
                    <a:lstStyle/>
                    <a:p>
                      <a:endParaRPr lang="zh-CN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2" marR="91442" marT="45713" marB="4571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1814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2" marR="91442" marT="45713" marB="4571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5332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2" marR="91442" marT="45713" marB="4571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1814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2" marR="91442" marT="45713" marB="4571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5332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2" marR="91442" marT="45713" marB="4571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7141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2" marR="91442" marT="45713" marB="4571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7141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2" marR="91442" marT="45713" marB="4571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7141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2" marR="91442" marT="45713" marB="4571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7141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2" marR="91442" marT="45713" marB="4571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1814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2" marR="91442" marT="45713" marB="4571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cxnSp>
        <p:nvCxnSpPr>
          <p:cNvPr id="8" name="直接箭头连接符 7"/>
          <p:cNvCxnSpPr>
            <a:cxnSpLocks noChangeShapeType="1"/>
          </p:cNvCxnSpPr>
          <p:nvPr/>
        </p:nvCxnSpPr>
        <p:spPr bwMode="auto">
          <a:xfrm>
            <a:off x="5143500" y="858838"/>
            <a:ext cx="1285875" cy="1587"/>
          </a:xfrm>
          <a:prstGeom prst="straightConnector1">
            <a:avLst/>
          </a:prstGeom>
          <a:noFill/>
          <a:ln w="38100">
            <a:solidFill>
              <a:srgbClr val="0000CC"/>
            </a:solidFill>
            <a:miter lim="800000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7429500" y="522288"/>
            <a:ext cx="16430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r>
              <a:rPr lang="en-US" altLang="zh-CN" sz="3200" b="1">
                <a:solidFill>
                  <a:srgbClr val="0000CC"/>
                </a:solidFill>
              </a:rPr>
              <a:t>array[0]</a:t>
            </a:r>
            <a:endParaRPr lang="zh-CN" altLang="en-US" sz="3200" b="1">
              <a:solidFill>
                <a:srgbClr val="0000CC"/>
              </a:solidFill>
            </a:endParaRPr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7572375" y="936625"/>
            <a:ext cx="1357313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r>
              <a:rPr lang="en-US" altLang="zh-CN" sz="3200" b="1">
                <a:solidFill>
                  <a:srgbClr val="0000CC"/>
                </a:solidFill>
              </a:rPr>
              <a:t>arr[0]</a:t>
            </a:r>
            <a:endParaRPr lang="zh-CN" altLang="en-US" sz="3200" b="1">
              <a:solidFill>
                <a:srgbClr val="0000CC"/>
              </a:solidFill>
            </a:endParaRPr>
          </a:p>
        </p:txBody>
      </p:sp>
      <p:sp>
        <p:nvSpPr>
          <p:cNvPr id="14" name="右大括号 13"/>
          <p:cNvSpPr/>
          <p:nvPr/>
        </p:nvSpPr>
        <p:spPr bwMode="auto">
          <a:xfrm>
            <a:off x="7358063" y="879475"/>
            <a:ext cx="142875" cy="500063"/>
          </a:xfrm>
          <a:prstGeom prst="rightBrace">
            <a:avLst>
              <a:gd name="adj1" fmla="val 8329"/>
              <a:gd name="adj2" fmla="val 50000"/>
            </a:avLst>
          </a:prstGeom>
          <a:solidFill>
            <a:schemeClr val="accent1"/>
          </a:solidFill>
          <a:ln w="38100">
            <a:solidFill>
              <a:srgbClr val="0000CC"/>
            </a:solidFill>
            <a:miter lim="800000"/>
          </a:ln>
        </p:spPr>
        <p:txBody>
          <a:bodyPr wrap="none"/>
          <a:lstStyle>
            <a:lvl1pPr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4357688" y="5857875"/>
            <a:ext cx="207168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r>
              <a:rPr lang="en-US" altLang="zh-CN" sz="3200" b="1">
                <a:solidFill>
                  <a:srgbClr val="FF0000"/>
                </a:solidFill>
              </a:rPr>
              <a:t>array</a:t>
            </a:r>
            <a:r>
              <a:rPr lang="zh-CN" altLang="en-US" sz="3200" b="1">
                <a:solidFill>
                  <a:srgbClr val="FF0000"/>
                </a:solidFill>
              </a:rPr>
              <a:t>数组</a:t>
            </a:r>
            <a:endParaRPr lang="zh-CN" altLang="en-US" sz="3200" b="1">
              <a:solidFill>
                <a:srgbClr val="FF0000"/>
              </a:solidFill>
            </a:endParaRPr>
          </a:p>
        </p:txBody>
      </p:sp>
      <p:sp>
        <p:nvSpPr>
          <p:cNvPr id="16" name="TextBox 15"/>
          <p:cNvSpPr txBox="1">
            <a:spLocks noChangeArrowheads="1"/>
          </p:cNvSpPr>
          <p:nvPr/>
        </p:nvSpPr>
        <p:spPr bwMode="auto">
          <a:xfrm>
            <a:off x="4214813" y="571500"/>
            <a:ext cx="8572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r>
              <a:rPr lang="en-US" altLang="zh-CN" sz="3200" b="1">
                <a:solidFill>
                  <a:srgbClr val="9D138D"/>
                </a:solidFill>
              </a:rPr>
              <a:t>arr</a:t>
            </a:r>
            <a:endParaRPr lang="zh-CN" altLang="en-US" sz="3200" b="1">
              <a:solidFill>
                <a:srgbClr val="9D138D"/>
              </a:solidFill>
            </a:endParaRPr>
          </a:p>
        </p:txBody>
      </p:sp>
      <p:cxnSp>
        <p:nvCxnSpPr>
          <p:cNvPr id="17" name="直接箭头连接符 16"/>
          <p:cNvCxnSpPr>
            <a:cxnSpLocks noChangeShapeType="1"/>
          </p:cNvCxnSpPr>
          <p:nvPr/>
        </p:nvCxnSpPr>
        <p:spPr bwMode="auto">
          <a:xfrm>
            <a:off x="5143500" y="2479675"/>
            <a:ext cx="1285875" cy="1588"/>
          </a:xfrm>
          <a:prstGeom prst="straightConnector1">
            <a:avLst/>
          </a:prstGeom>
          <a:noFill/>
          <a:ln w="38100">
            <a:solidFill>
              <a:srgbClr val="0000CC"/>
            </a:solidFill>
            <a:miter lim="800000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" name="TextBox 17"/>
          <p:cNvSpPr txBox="1">
            <a:spLocks noChangeArrowheads="1"/>
          </p:cNvSpPr>
          <p:nvPr/>
        </p:nvSpPr>
        <p:spPr bwMode="auto">
          <a:xfrm>
            <a:off x="7429500" y="2143125"/>
            <a:ext cx="16430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r>
              <a:rPr lang="en-US" altLang="zh-CN" sz="3200" b="1">
                <a:solidFill>
                  <a:srgbClr val="0000CC"/>
                </a:solidFill>
              </a:rPr>
              <a:t>array[3]</a:t>
            </a:r>
            <a:endParaRPr lang="zh-CN" altLang="en-US" sz="3200" b="1">
              <a:solidFill>
                <a:srgbClr val="0000CC"/>
              </a:solidFill>
            </a:endParaRPr>
          </a:p>
        </p:txBody>
      </p:sp>
      <p:sp>
        <p:nvSpPr>
          <p:cNvPr id="19" name="TextBox 18"/>
          <p:cNvSpPr txBox="1">
            <a:spLocks noChangeArrowheads="1"/>
          </p:cNvSpPr>
          <p:nvPr/>
        </p:nvSpPr>
        <p:spPr bwMode="auto">
          <a:xfrm>
            <a:off x="7572375" y="2559050"/>
            <a:ext cx="135731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r>
              <a:rPr lang="en-US" altLang="zh-CN" sz="3200" b="1">
                <a:solidFill>
                  <a:srgbClr val="0000CC"/>
                </a:solidFill>
              </a:rPr>
              <a:t>arr[3]</a:t>
            </a:r>
            <a:endParaRPr lang="zh-CN" altLang="en-US" sz="3200" b="1">
              <a:solidFill>
                <a:srgbClr val="0000CC"/>
              </a:solidFill>
            </a:endParaRPr>
          </a:p>
        </p:txBody>
      </p:sp>
      <p:sp>
        <p:nvSpPr>
          <p:cNvPr id="20" name="右大括号 19"/>
          <p:cNvSpPr/>
          <p:nvPr/>
        </p:nvSpPr>
        <p:spPr bwMode="auto">
          <a:xfrm>
            <a:off x="7358063" y="2500313"/>
            <a:ext cx="142875" cy="500062"/>
          </a:xfrm>
          <a:prstGeom prst="rightBrace">
            <a:avLst>
              <a:gd name="adj1" fmla="val 8329"/>
              <a:gd name="adj2" fmla="val 50000"/>
            </a:avLst>
          </a:prstGeom>
          <a:solidFill>
            <a:schemeClr val="accent1"/>
          </a:solidFill>
          <a:ln w="38100">
            <a:solidFill>
              <a:srgbClr val="0000CC"/>
            </a:solidFill>
            <a:miter lim="800000"/>
          </a:ln>
        </p:spPr>
        <p:txBody>
          <a:bodyPr wrap="none"/>
          <a:lstStyle>
            <a:lvl1pPr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1" name="TextBox 20"/>
          <p:cNvSpPr txBox="1">
            <a:spLocks noChangeArrowheads="1"/>
          </p:cNvSpPr>
          <p:nvPr/>
        </p:nvSpPr>
        <p:spPr bwMode="auto">
          <a:xfrm>
            <a:off x="4572000" y="2428875"/>
            <a:ext cx="12858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r>
              <a:rPr lang="en-US" altLang="zh-CN" sz="3200" b="1">
                <a:solidFill>
                  <a:srgbClr val="9D138D"/>
                </a:solidFill>
              </a:rPr>
              <a:t>arr+3</a:t>
            </a:r>
            <a:endParaRPr lang="zh-CN" altLang="en-US" sz="3200" b="1">
              <a:solidFill>
                <a:srgbClr val="9D138D"/>
              </a:solidFill>
            </a:endParaRP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 animBg="1"/>
      <p:bldP spid="15" grpId="0"/>
      <p:bldP spid="16" grpId="0"/>
      <p:bldP spid="18" grpId="0"/>
      <p:bldP spid="19" grpId="0"/>
      <p:bldP spid="20" grpId="0" animBg="1"/>
      <p:bldP spid="21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数组作为函数参数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32000" y="1230817"/>
            <a:ext cx="8280000" cy="5040000"/>
          </a:xfrm>
        </p:spPr>
        <p:txBody>
          <a:bodyPr>
            <a:normAutofit/>
          </a:bodyPr>
          <a:lstStyle/>
          <a:p>
            <a:r>
              <a:rPr lang="zh-CN" altLang="en-US" dirty="0"/>
              <a:t>实参数组名是指针常量，但形参数组名是按指针变量处理</a:t>
            </a:r>
            <a:endParaRPr lang="en-US" altLang="zh-CN" dirty="0"/>
          </a:p>
          <a:p>
            <a:r>
              <a:rPr lang="zh-CN" altLang="en-US" dirty="0"/>
              <a:t>在函数调用进行虚实结合后，它的值就是实参数组首元素的地址</a:t>
            </a:r>
            <a:endParaRPr lang="en-US" altLang="zh-CN" dirty="0"/>
          </a:p>
          <a:p>
            <a:r>
              <a:rPr lang="zh-CN" altLang="en-US" dirty="0"/>
              <a:t>在函数执行期间，形参数组可以再被赋值</a:t>
            </a:r>
            <a:endParaRPr lang="zh-CN" altLang="zh-CN" dirty="0"/>
          </a:p>
        </p:txBody>
      </p:sp>
      <p:sp>
        <p:nvSpPr>
          <p:cNvPr id="4" name="矩形 3"/>
          <p:cNvSpPr/>
          <p:nvPr/>
        </p:nvSpPr>
        <p:spPr>
          <a:xfrm>
            <a:off x="661480" y="3750817"/>
            <a:ext cx="4572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br>
              <a:rPr lang="sv-SE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sv-SE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sv-SE" dirty="0">
                <a:solidFill>
                  <a:srgbClr val="000000"/>
                </a:solidFill>
                <a:latin typeface="Consolas" panose="020B0609020204030204" pitchFamily="49" charset="0"/>
              </a:rPr>
              <a:t> fun(</a:t>
            </a:r>
            <a:r>
              <a:rPr lang="sv-SE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sv-SE" dirty="0">
                <a:solidFill>
                  <a:srgbClr val="000000"/>
                </a:solidFill>
                <a:latin typeface="Consolas" panose="020B0609020204030204" pitchFamily="49" charset="0"/>
              </a:rPr>
              <a:t> arr[], </a:t>
            </a:r>
            <a:r>
              <a:rPr lang="sv-SE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sv-SE" dirty="0">
                <a:solidFill>
                  <a:srgbClr val="000000"/>
                </a:solidFill>
                <a:latin typeface="Consolas" panose="020B0609020204030204" pitchFamily="49" charset="0"/>
              </a:rPr>
              <a:t> n)</a:t>
            </a:r>
            <a:endParaRPr lang="sv-SE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v-SE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sv-SE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v-SE" dirty="0">
                <a:solidFill>
                  <a:srgbClr val="000000"/>
                </a:solidFill>
                <a:latin typeface="Consolas" panose="020B0609020204030204" pitchFamily="49" charset="0"/>
              </a:rPr>
              <a:t>    printf(</a:t>
            </a:r>
            <a:r>
              <a:rPr lang="sv-SE" dirty="0">
                <a:solidFill>
                  <a:srgbClr val="A31515"/>
                </a:solidFill>
                <a:latin typeface="Consolas" panose="020B0609020204030204" pitchFamily="49" charset="0"/>
              </a:rPr>
              <a:t>"% d\n"</a:t>
            </a:r>
            <a:r>
              <a:rPr lang="sv-SE" dirty="0">
                <a:solidFill>
                  <a:srgbClr val="000000"/>
                </a:solidFill>
                <a:latin typeface="Consolas" panose="020B0609020204030204" pitchFamily="49" charset="0"/>
              </a:rPr>
              <a:t>, *arr);</a:t>
            </a:r>
            <a:endParaRPr lang="sv-SE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v-SE" dirty="0">
                <a:solidFill>
                  <a:srgbClr val="000000"/>
                </a:solidFill>
                <a:latin typeface="Consolas" panose="020B0609020204030204" pitchFamily="49" charset="0"/>
              </a:rPr>
              <a:t>    arr = arr + </a:t>
            </a:r>
            <a:r>
              <a:rPr lang="sv-SE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sv-SE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sv-SE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v-SE" dirty="0">
                <a:solidFill>
                  <a:srgbClr val="000000"/>
                </a:solidFill>
                <a:latin typeface="Consolas" panose="020B0609020204030204" pitchFamily="49" charset="0"/>
              </a:rPr>
              <a:t>    printf(</a:t>
            </a:r>
            <a:r>
              <a:rPr lang="sv-SE" dirty="0">
                <a:solidFill>
                  <a:srgbClr val="A31515"/>
                </a:solidFill>
                <a:latin typeface="Consolas" panose="020B0609020204030204" pitchFamily="49" charset="0"/>
              </a:rPr>
              <a:t>"% d\n"</a:t>
            </a:r>
            <a:r>
              <a:rPr lang="sv-SE" dirty="0">
                <a:solidFill>
                  <a:srgbClr val="000000"/>
                </a:solidFill>
                <a:latin typeface="Consolas" panose="020B0609020204030204" pitchFamily="49" charset="0"/>
              </a:rPr>
              <a:t>, *arr);</a:t>
            </a:r>
            <a:endParaRPr lang="sv-SE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v-SE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sv-SE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4105072" y="3750817"/>
            <a:ext cx="5038928" cy="646331"/>
            <a:chOff x="4105072" y="3750817"/>
            <a:chExt cx="5038928" cy="646331"/>
          </a:xfrm>
        </p:grpSpPr>
        <p:sp>
          <p:nvSpPr>
            <p:cNvPr id="5" name="矩形 4"/>
            <p:cNvSpPr/>
            <p:nvPr/>
          </p:nvSpPr>
          <p:spPr>
            <a:xfrm>
              <a:off x="4572000" y="3750817"/>
              <a:ext cx="4572000" cy="64633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br>
                <a:rPr lang="sv-SE" dirty="0">
                  <a:solidFill>
                    <a:srgbClr val="000000"/>
                  </a:solidFill>
                  <a:latin typeface="Consolas" panose="020B0609020204030204" pitchFamily="49" charset="0"/>
                </a:rPr>
              </a:br>
              <a:r>
                <a:rPr lang="sv-SE" dirty="0">
                  <a:solidFill>
                    <a:srgbClr val="0000FF"/>
                  </a:solidFill>
                  <a:latin typeface="Consolas" panose="020B0609020204030204" pitchFamily="49" charset="0"/>
                </a:rPr>
                <a:t>void</a:t>
              </a:r>
              <a:r>
                <a:rPr lang="sv-SE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fun(</a:t>
              </a:r>
              <a:r>
                <a:rPr lang="sv-SE" dirty="0">
                  <a:solidFill>
                    <a:srgbClr val="0000FF"/>
                  </a:solidFill>
                  <a:latin typeface="Consolas" panose="020B0609020204030204" pitchFamily="49" charset="0"/>
                </a:rPr>
                <a:t>int</a:t>
              </a:r>
              <a:r>
                <a:rPr lang="sv-SE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</a:t>
              </a:r>
              <a:r>
                <a:rPr lang="en-US" dirty="0">
                  <a:solidFill>
                    <a:srgbClr val="000000"/>
                  </a:solidFill>
                  <a:latin typeface="Consolas" panose="020B0609020204030204" pitchFamily="49" charset="0"/>
                </a:rPr>
                <a:t>*</a:t>
              </a:r>
              <a:r>
                <a:rPr lang="sv-SE" dirty="0">
                  <a:solidFill>
                    <a:srgbClr val="000000"/>
                  </a:solidFill>
                  <a:latin typeface="Consolas" panose="020B0609020204030204" pitchFamily="49" charset="0"/>
                </a:rPr>
                <a:t>arr, </a:t>
              </a:r>
              <a:r>
                <a:rPr lang="sv-SE" dirty="0">
                  <a:solidFill>
                    <a:srgbClr val="0000FF"/>
                  </a:solidFill>
                  <a:latin typeface="Consolas" panose="020B0609020204030204" pitchFamily="49" charset="0"/>
                </a:rPr>
                <a:t>int</a:t>
              </a:r>
              <a:r>
                <a:rPr lang="sv-SE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n)</a:t>
              </a:r>
              <a:endParaRPr lang="sv-SE" dirty="0">
                <a:solidFill>
                  <a:srgbClr val="000000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6" name="箭头: 左右 5"/>
            <p:cNvSpPr/>
            <p:nvPr/>
          </p:nvSpPr>
          <p:spPr>
            <a:xfrm>
              <a:off x="4105072" y="4163438"/>
              <a:ext cx="466928" cy="136188"/>
            </a:xfrm>
            <a:prstGeom prst="left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sz="3200" dirty="0"/>
              <a:t>例</a:t>
            </a:r>
            <a:r>
              <a:rPr lang="en-US" altLang="zh-CN" sz="3200" dirty="0"/>
              <a:t>13-05 </a:t>
            </a:r>
            <a:r>
              <a:rPr lang="zh-CN" altLang="en-US" sz="3200" dirty="0"/>
              <a:t>：将数组</a:t>
            </a:r>
            <a:r>
              <a:rPr lang="en-US" altLang="zh-CN" sz="3200" dirty="0"/>
              <a:t>a</a:t>
            </a:r>
            <a:r>
              <a:rPr lang="zh-CN" altLang="en-US" sz="3200" dirty="0"/>
              <a:t>中</a:t>
            </a:r>
            <a:r>
              <a:rPr lang="en-US" altLang="zh-CN" sz="3200" dirty="0"/>
              <a:t>n</a:t>
            </a:r>
            <a:r>
              <a:rPr lang="zh-CN" altLang="en-US" sz="3200" dirty="0"/>
              <a:t>个整数逆序存放</a:t>
            </a:r>
            <a:endParaRPr lang="en-US" sz="3200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解题思路：将</a:t>
            </a:r>
            <a:r>
              <a:rPr lang="en-US" altLang="zh-CN" dirty="0"/>
              <a:t>a[0]</a:t>
            </a:r>
            <a:r>
              <a:rPr lang="zh-CN" altLang="en-US" dirty="0"/>
              <a:t>与</a:t>
            </a:r>
            <a:r>
              <a:rPr lang="en-US" altLang="zh-CN" dirty="0"/>
              <a:t>a[n-1]</a:t>
            </a:r>
            <a:r>
              <a:rPr lang="zh-CN" altLang="en-US" dirty="0"/>
              <a:t>对换，</a:t>
            </a:r>
            <a:r>
              <a:rPr lang="zh-CN" altLang="zh-CN" dirty="0"/>
              <a:t>……</a:t>
            </a:r>
            <a:r>
              <a:rPr lang="zh-CN" altLang="en-US" dirty="0"/>
              <a:t>将</a:t>
            </a:r>
            <a:r>
              <a:rPr lang="en-US" altLang="zh-CN" dirty="0"/>
              <a:t>a[4]</a:t>
            </a:r>
            <a:r>
              <a:rPr lang="zh-CN" altLang="en-US" dirty="0"/>
              <a:t>与</a:t>
            </a:r>
            <a:r>
              <a:rPr lang="en-US" altLang="zh-CN" dirty="0"/>
              <a:t>a[5]</a:t>
            </a:r>
            <a:r>
              <a:rPr lang="zh-CN" altLang="en-US" dirty="0"/>
              <a:t>对换。</a:t>
            </a:r>
            <a:endParaRPr lang="zh-CN" altLang="en-US" dirty="0"/>
          </a:p>
          <a:p>
            <a:endParaRPr lang="en-US" dirty="0"/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621" y="4608523"/>
            <a:ext cx="8294687" cy="827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683" y="2897198"/>
            <a:ext cx="8294688" cy="79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6"/>
          <p:cNvSpPr txBox="1">
            <a:spLocks noChangeArrowheads="1"/>
          </p:cNvSpPr>
          <p:nvPr/>
        </p:nvSpPr>
        <p:spPr bwMode="auto">
          <a:xfrm>
            <a:off x="8208464" y="3580617"/>
            <a:ext cx="4286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r>
              <a:rPr lang="en-US" altLang="zh-CN" sz="3200" b="1" dirty="0">
                <a:solidFill>
                  <a:srgbClr val="FF0000"/>
                </a:solidFill>
              </a:rPr>
              <a:t>j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p:sp>
        <p:nvSpPr>
          <p:cNvPr id="9" name="TextBox 7"/>
          <p:cNvSpPr txBox="1">
            <a:spLocks noChangeArrowheads="1"/>
          </p:cNvSpPr>
          <p:nvPr/>
        </p:nvSpPr>
        <p:spPr bwMode="auto">
          <a:xfrm>
            <a:off x="842222" y="3580617"/>
            <a:ext cx="4286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r>
              <a:rPr lang="en-US" altLang="zh-CN" sz="3200" b="1" dirty="0" err="1">
                <a:solidFill>
                  <a:srgbClr val="FF0000"/>
                </a:solidFill>
              </a:rPr>
              <a:t>i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p:grpSp>
        <p:nvGrpSpPr>
          <p:cNvPr id="10" name="组合 18"/>
          <p:cNvGrpSpPr/>
          <p:nvPr/>
        </p:nvGrpSpPr>
        <p:grpSpPr bwMode="auto">
          <a:xfrm>
            <a:off x="826471" y="2435236"/>
            <a:ext cx="7499350" cy="501650"/>
            <a:chOff x="928662" y="3214686"/>
            <a:chExt cx="7429552" cy="500860"/>
          </a:xfrm>
        </p:grpSpPr>
        <p:cxnSp>
          <p:nvCxnSpPr>
            <p:cNvPr id="11" name="直接连接符 8"/>
            <p:cNvCxnSpPr>
              <a:cxnSpLocks noChangeShapeType="1"/>
            </p:cNvCxnSpPr>
            <p:nvPr/>
          </p:nvCxnSpPr>
          <p:spPr bwMode="auto">
            <a:xfrm>
              <a:off x="928662" y="3214686"/>
              <a:ext cx="7429552" cy="0"/>
            </a:xfrm>
            <a:prstGeom prst="line">
              <a:avLst/>
            </a:prstGeom>
            <a:noFill/>
            <a:ln w="38100">
              <a:solidFill>
                <a:srgbClr val="0000CC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" name="直接箭头连接符 9"/>
            <p:cNvCxnSpPr>
              <a:cxnSpLocks noChangeShapeType="1"/>
            </p:cNvCxnSpPr>
            <p:nvPr/>
          </p:nvCxnSpPr>
          <p:spPr bwMode="auto">
            <a:xfrm rot="5400000">
              <a:off x="8107387" y="3464719"/>
              <a:ext cx="500860" cy="794"/>
            </a:xfrm>
            <a:prstGeom prst="straightConnector1">
              <a:avLst/>
            </a:prstGeom>
            <a:noFill/>
            <a:ln w="38100">
              <a:solidFill>
                <a:srgbClr val="0000CC"/>
              </a:solidFill>
              <a:miter lim="800000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" name="直接箭头连接符 16"/>
            <p:cNvCxnSpPr>
              <a:cxnSpLocks noChangeShapeType="1"/>
            </p:cNvCxnSpPr>
            <p:nvPr/>
          </p:nvCxnSpPr>
          <p:spPr bwMode="auto">
            <a:xfrm rot="5400000">
              <a:off x="678629" y="3464719"/>
              <a:ext cx="500860" cy="794"/>
            </a:xfrm>
            <a:prstGeom prst="straightConnector1">
              <a:avLst/>
            </a:prstGeom>
            <a:noFill/>
            <a:ln w="38100">
              <a:solidFill>
                <a:srgbClr val="0000CC"/>
              </a:solidFill>
              <a:miter lim="800000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2" name="组合 18"/>
          <p:cNvGrpSpPr/>
          <p:nvPr/>
        </p:nvGrpSpPr>
        <p:grpSpPr bwMode="auto">
          <a:xfrm>
            <a:off x="1603275" y="2443539"/>
            <a:ext cx="5928544" cy="501650"/>
            <a:chOff x="928662" y="3214686"/>
            <a:chExt cx="7429552" cy="500860"/>
          </a:xfrm>
        </p:grpSpPr>
        <p:cxnSp>
          <p:nvCxnSpPr>
            <p:cNvPr id="23" name="直接连接符 8"/>
            <p:cNvCxnSpPr>
              <a:cxnSpLocks noChangeShapeType="1"/>
            </p:cNvCxnSpPr>
            <p:nvPr/>
          </p:nvCxnSpPr>
          <p:spPr bwMode="auto">
            <a:xfrm>
              <a:off x="928662" y="3214686"/>
              <a:ext cx="7429552" cy="0"/>
            </a:xfrm>
            <a:prstGeom prst="line">
              <a:avLst/>
            </a:prstGeom>
            <a:noFill/>
            <a:ln w="38100">
              <a:solidFill>
                <a:srgbClr val="0000CC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" name="直接箭头连接符 9"/>
            <p:cNvCxnSpPr>
              <a:cxnSpLocks noChangeShapeType="1"/>
            </p:cNvCxnSpPr>
            <p:nvPr/>
          </p:nvCxnSpPr>
          <p:spPr bwMode="auto">
            <a:xfrm rot="5400000">
              <a:off x="8107387" y="3464719"/>
              <a:ext cx="500860" cy="794"/>
            </a:xfrm>
            <a:prstGeom prst="straightConnector1">
              <a:avLst/>
            </a:prstGeom>
            <a:noFill/>
            <a:ln w="38100">
              <a:solidFill>
                <a:srgbClr val="0000CC"/>
              </a:solidFill>
              <a:miter lim="800000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" name="直接箭头连接符 16"/>
            <p:cNvCxnSpPr>
              <a:cxnSpLocks noChangeShapeType="1"/>
            </p:cNvCxnSpPr>
            <p:nvPr/>
          </p:nvCxnSpPr>
          <p:spPr bwMode="auto">
            <a:xfrm rot="5400000">
              <a:off x="678629" y="3464719"/>
              <a:ext cx="500860" cy="794"/>
            </a:xfrm>
            <a:prstGeom prst="straightConnector1">
              <a:avLst/>
            </a:prstGeom>
            <a:noFill/>
            <a:ln w="38100">
              <a:solidFill>
                <a:srgbClr val="0000CC"/>
              </a:solidFill>
              <a:miter lim="800000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7" name="组合 18"/>
          <p:cNvGrpSpPr/>
          <p:nvPr/>
        </p:nvGrpSpPr>
        <p:grpSpPr bwMode="auto">
          <a:xfrm>
            <a:off x="2397109" y="2451842"/>
            <a:ext cx="4442540" cy="523385"/>
            <a:chOff x="928662" y="3214686"/>
            <a:chExt cx="7429552" cy="500860"/>
          </a:xfrm>
        </p:grpSpPr>
        <p:cxnSp>
          <p:nvCxnSpPr>
            <p:cNvPr id="28" name="直接连接符 8"/>
            <p:cNvCxnSpPr>
              <a:cxnSpLocks noChangeShapeType="1"/>
            </p:cNvCxnSpPr>
            <p:nvPr/>
          </p:nvCxnSpPr>
          <p:spPr bwMode="auto">
            <a:xfrm>
              <a:off x="928662" y="3214686"/>
              <a:ext cx="7429552" cy="0"/>
            </a:xfrm>
            <a:prstGeom prst="line">
              <a:avLst/>
            </a:prstGeom>
            <a:noFill/>
            <a:ln w="38100">
              <a:solidFill>
                <a:srgbClr val="0000CC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" name="直接箭头连接符 9"/>
            <p:cNvCxnSpPr>
              <a:cxnSpLocks noChangeShapeType="1"/>
            </p:cNvCxnSpPr>
            <p:nvPr/>
          </p:nvCxnSpPr>
          <p:spPr bwMode="auto">
            <a:xfrm rot="5400000">
              <a:off x="8107387" y="3464719"/>
              <a:ext cx="500860" cy="794"/>
            </a:xfrm>
            <a:prstGeom prst="straightConnector1">
              <a:avLst/>
            </a:prstGeom>
            <a:noFill/>
            <a:ln w="38100">
              <a:solidFill>
                <a:srgbClr val="0000CC"/>
              </a:solidFill>
              <a:miter lim="800000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" name="直接箭头连接符 16"/>
            <p:cNvCxnSpPr>
              <a:cxnSpLocks noChangeShapeType="1"/>
            </p:cNvCxnSpPr>
            <p:nvPr/>
          </p:nvCxnSpPr>
          <p:spPr bwMode="auto">
            <a:xfrm rot="5400000">
              <a:off x="678629" y="3464719"/>
              <a:ext cx="500860" cy="794"/>
            </a:xfrm>
            <a:prstGeom prst="straightConnector1">
              <a:avLst/>
            </a:prstGeom>
            <a:noFill/>
            <a:ln w="38100">
              <a:solidFill>
                <a:srgbClr val="0000CC"/>
              </a:solidFill>
              <a:miter lim="800000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1" name="组合 18"/>
          <p:cNvGrpSpPr/>
          <p:nvPr/>
        </p:nvGrpSpPr>
        <p:grpSpPr bwMode="auto">
          <a:xfrm>
            <a:off x="4133123" y="2443539"/>
            <a:ext cx="953807" cy="523385"/>
            <a:chOff x="928662" y="3214686"/>
            <a:chExt cx="7429552" cy="500860"/>
          </a:xfrm>
        </p:grpSpPr>
        <p:cxnSp>
          <p:nvCxnSpPr>
            <p:cNvPr id="32" name="直接连接符 8"/>
            <p:cNvCxnSpPr>
              <a:cxnSpLocks noChangeShapeType="1"/>
            </p:cNvCxnSpPr>
            <p:nvPr/>
          </p:nvCxnSpPr>
          <p:spPr bwMode="auto">
            <a:xfrm>
              <a:off x="928662" y="3214686"/>
              <a:ext cx="7429552" cy="0"/>
            </a:xfrm>
            <a:prstGeom prst="line">
              <a:avLst/>
            </a:prstGeom>
            <a:noFill/>
            <a:ln w="38100">
              <a:solidFill>
                <a:srgbClr val="0000CC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" name="直接箭头连接符 9"/>
            <p:cNvCxnSpPr>
              <a:cxnSpLocks noChangeShapeType="1"/>
            </p:cNvCxnSpPr>
            <p:nvPr/>
          </p:nvCxnSpPr>
          <p:spPr bwMode="auto">
            <a:xfrm rot="5400000">
              <a:off x="8107387" y="3464719"/>
              <a:ext cx="500860" cy="794"/>
            </a:xfrm>
            <a:prstGeom prst="straightConnector1">
              <a:avLst/>
            </a:prstGeom>
            <a:noFill/>
            <a:ln w="38100">
              <a:solidFill>
                <a:srgbClr val="0000CC"/>
              </a:solidFill>
              <a:miter lim="800000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" name="直接箭头连接符 16"/>
            <p:cNvCxnSpPr>
              <a:cxnSpLocks noChangeShapeType="1"/>
            </p:cNvCxnSpPr>
            <p:nvPr/>
          </p:nvCxnSpPr>
          <p:spPr bwMode="auto">
            <a:xfrm rot="5400000">
              <a:off x="678629" y="3464719"/>
              <a:ext cx="500860" cy="794"/>
            </a:xfrm>
            <a:prstGeom prst="straightConnector1">
              <a:avLst/>
            </a:prstGeom>
            <a:noFill/>
            <a:ln w="38100">
              <a:solidFill>
                <a:srgbClr val="0000CC"/>
              </a:solidFill>
              <a:miter lim="800000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-7.40741E-7 L 0.07864 0.00208 " pathEditMode="relative" rAng="0" ptsTypes="AA">
                                      <p:cBhvr>
                                        <p:cTn id="27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24" y="93"/>
                                    </p:animMotion>
                                  </p:childTnLst>
                                </p:cTn>
                              </p:par>
                              <p:par>
                                <p:cTn id="28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7.40741E-7 L -0.08837 -0.00208 " pathEditMode="relative" rAng="0" ptsTypes="AA">
                                      <p:cBhvr>
                                        <p:cTn id="29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427" y="-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42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7864 0.00208 L 0.171 0.00208 " pathEditMode="relative" rAng="0" ptsTypes="AA">
                                      <p:cBhvr>
                                        <p:cTn id="39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618" y="0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42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8837 -0.00209 L -0.1717 -0.00208 " pathEditMode="relative" rAng="0" ptsTypes="AA">
                                      <p:cBhvr>
                                        <p:cTn id="41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549" y="-69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42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658 -0.00093 L 0.35434 -0.00093 " pathEditMode="relative" rAng="0" ptsTypes="AA">
                                      <p:cBhvr>
                                        <p:cTn id="57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427" y="0"/>
                                    </p:animMotion>
                                  </p:childTnLst>
                                </p:cTn>
                              </p:par>
                              <p:par>
                                <p:cTn id="58" presetID="42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8194 -0.00093 L -0.3743 -0.00093 " pathEditMode="relative" rAng="0" ptsTypes="AA">
                                      <p:cBhvr>
                                        <p:cTn id="59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61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  <p:bldP spid="8" grpId="2"/>
      <p:bldP spid="8" grpId="3"/>
      <p:bldP spid="9" grpId="0"/>
      <p:bldP spid="9" grpId="1"/>
      <p:bldP spid="9" grpId="2"/>
      <p:bldP spid="9" grpId="3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589280" y="960721"/>
            <a:ext cx="7274559" cy="54784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en-US" sz="1400" dirty="0" err="1">
                <a:solidFill>
                  <a:srgbClr val="A31515"/>
                </a:solidFill>
                <a:latin typeface="Consolas" panose="020B0609020204030204" pitchFamily="49" charset="0"/>
              </a:rPr>
              <a:t>stdio.h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inv(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x[],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n);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main()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a[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10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 = {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7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9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11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6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7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4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10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++)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"%d 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a[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]);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"\n"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inv(a,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10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10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++)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"%d 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a[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]);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"\n"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inv(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x[],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n)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temp, *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*j;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x, j = x + n -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&lt; j;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++, j --){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temp = *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*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*j;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*j = temp;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32000" y="331894"/>
            <a:ext cx="8280000" cy="555414"/>
          </a:xfrm>
        </p:spPr>
        <p:txBody>
          <a:bodyPr>
            <a:noAutofit/>
          </a:bodyPr>
          <a:lstStyle/>
          <a:p>
            <a:r>
              <a:rPr lang="zh-CN" altLang="en-US" sz="2800" dirty="0"/>
              <a:t>例</a:t>
            </a:r>
            <a:r>
              <a:rPr lang="en-US" altLang="zh-CN" sz="2800" dirty="0"/>
              <a:t>13-05</a:t>
            </a:r>
            <a:r>
              <a:rPr lang="zh-CN" altLang="en-US" sz="2800" dirty="0"/>
              <a:t>参考代码</a:t>
            </a:r>
            <a:endParaRPr lang="en-US" sz="2000" dirty="0"/>
          </a:p>
        </p:txBody>
      </p:sp>
      <p:sp>
        <p:nvSpPr>
          <p:cNvPr id="5" name="矩形 4"/>
          <p:cNvSpPr/>
          <p:nvPr/>
        </p:nvSpPr>
        <p:spPr>
          <a:xfrm>
            <a:off x="4226559" y="2587321"/>
            <a:ext cx="208422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</a:rPr>
              <a:t>inv(a, 5);   ??</a:t>
            </a:r>
            <a:endParaRPr lang="en-US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C00000"/>
                </a:solidFill>
                <a:latin typeface="Consolas" panose="020B0609020204030204" pitchFamily="49" charset="0"/>
              </a:rPr>
              <a:t>inv(a, 11);</a:t>
            </a:r>
            <a:endParaRPr 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访问数组元素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引用一个数组元素，可用下面两种方法：</a:t>
            </a:r>
            <a:endParaRPr lang="en-US" altLang="zh-CN" dirty="0"/>
          </a:p>
          <a:p>
            <a:pPr lvl="1"/>
            <a:r>
              <a:rPr lang="zh-CN" altLang="en-US" dirty="0"/>
              <a:t>下标法，如</a:t>
            </a:r>
            <a:r>
              <a:rPr lang="en-US" altLang="zh-CN" dirty="0"/>
              <a:t>a[</a:t>
            </a:r>
            <a:r>
              <a:rPr lang="en-US" altLang="zh-CN" dirty="0" err="1"/>
              <a:t>i</a:t>
            </a:r>
            <a:r>
              <a:rPr lang="en-US" altLang="zh-CN" dirty="0"/>
              <a:t>]</a:t>
            </a:r>
            <a:r>
              <a:rPr lang="zh-CN" altLang="en-US" dirty="0"/>
              <a:t>形式</a:t>
            </a:r>
            <a:endParaRPr lang="en-US" altLang="zh-CN" dirty="0"/>
          </a:p>
          <a:p>
            <a:pPr lvl="1"/>
            <a:r>
              <a:rPr lang="zh-CN" altLang="en-US" dirty="0"/>
              <a:t>指针法，如</a:t>
            </a:r>
            <a:r>
              <a:rPr lang="en-US" altLang="zh-CN" dirty="0"/>
              <a:t>*(</a:t>
            </a:r>
            <a:r>
              <a:rPr lang="en-US" altLang="zh-CN" dirty="0" err="1"/>
              <a:t>a+i</a:t>
            </a:r>
            <a:r>
              <a:rPr lang="en-US" altLang="zh-CN" dirty="0"/>
              <a:t>)</a:t>
            </a:r>
            <a:r>
              <a:rPr lang="zh-CN" altLang="en-US" dirty="0"/>
              <a:t>或</a:t>
            </a:r>
            <a:r>
              <a:rPr lang="en-US" altLang="zh-CN" dirty="0"/>
              <a:t>*(</a:t>
            </a:r>
            <a:r>
              <a:rPr lang="en-US" altLang="zh-CN" dirty="0" err="1"/>
              <a:t>p+i</a:t>
            </a:r>
            <a:r>
              <a:rPr lang="en-US" altLang="zh-CN" dirty="0"/>
              <a:t>)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	</a:t>
            </a:r>
            <a:r>
              <a:rPr lang="zh-CN" altLang="en-US" dirty="0"/>
              <a:t>其中</a:t>
            </a:r>
            <a:r>
              <a:rPr lang="en-US" altLang="zh-CN" dirty="0"/>
              <a:t>a</a:t>
            </a:r>
            <a:r>
              <a:rPr lang="zh-CN" altLang="en-US" dirty="0"/>
              <a:t>是数组名，</a:t>
            </a:r>
            <a:r>
              <a:rPr lang="en-US" altLang="zh-CN" dirty="0"/>
              <a:t>p</a:t>
            </a:r>
            <a:r>
              <a:rPr lang="zh-CN" altLang="en-US" dirty="0"/>
              <a:t>是指向数组元素的指针变量，其初值</a:t>
            </a:r>
            <a:r>
              <a:rPr lang="en-US" altLang="zh-CN" dirty="0"/>
              <a:t>p=a</a:t>
            </a:r>
            <a:endParaRPr lang="en-US" altLang="zh-CN" dirty="0"/>
          </a:p>
          <a:p>
            <a:endParaRPr lang="en-US" dirty="0"/>
          </a:p>
          <a:p>
            <a:r>
              <a:rPr lang="zh-CN" altLang="en-US" dirty="0"/>
              <a:t>例：有一个整型数组</a:t>
            </a:r>
            <a:r>
              <a:rPr lang="en-US" altLang="zh-CN" dirty="0"/>
              <a:t>a</a:t>
            </a:r>
            <a:r>
              <a:rPr lang="zh-CN" altLang="en-US" dirty="0"/>
              <a:t>，要求输出数组中全部元素</a:t>
            </a:r>
            <a:endParaRPr lang="en-US" altLang="zh-CN" dirty="0"/>
          </a:p>
          <a:p>
            <a:pPr lvl="1"/>
            <a:r>
              <a:rPr lang="zh-CN" altLang="en-US" dirty="0"/>
              <a:t>下标法；</a:t>
            </a:r>
            <a:endParaRPr lang="en-US" altLang="zh-CN" dirty="0"/>
          </a:p>
          <a:p>
            <a:pPr lvl="1"/>
            <a:r>
              <a:rPr lang="zh-CN" altLang="en-US" dirty="0"/>
              <a:t>通过数组名计算数组元素地址，找出元素的值；</a:t>
            </a:r>
            <a:endParaRPr lang="en-US" altLang="zh-CN" dirty="0"/>
          </a:p>
          <a:p>
            <a:pPr lvl="1"/>
            <a:r>
              <a:rPr lang="zh-CN" altLang="en-US" dirty="0"/>
              <a:t>用指针变量指向数组元素</a:t>
            </a:r>
            <a:endParaRPr lang="en-US" altLang="zh-CN" dirty="0"/>
          </a:p>
          <a:p>
            <a:pPr lvl="1"/>
            <a:endParaRPr lang="en-US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数组元素访问方式</a:t>
            </a:r>
            <a:endParaRPr lang="en-US" dirty="0"/>
          </a:p>
        </p:txBody>
      </p:sp>
      <p:sp>
        <p:nvSpPr>
          <p:cNvPr id="57345" name="内容占位符 2"/>
          <p:cNvSpPr>
            <a:spLocks noGrp="1"/>
          </p:cNvSpPr>
          <p:nvPr>
            <p:ph idx="1"/>
          </p:nvPr>
        </p:nvSpPr>
        <p:spPr>
          <a:xfrm>
            <a:off x="432000" y="1260000"/>
            <a:ext cx="8280000" cy="1287891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Arial" panose="020B0604020202090204" pitchFamily="34" charset="0"/>
              <a:buChar char="•"/>
            </a:pPr>
            <a:r>
              <a:rPr lang="zh-CN" altLang="en-US" sz="1800" dirty="0"/>
              <a:t>下标法</a:t>
            </a:r>
            <a:endParaRPr lang="en-US" altLang="zh-CN" sz="1800" dirty="0"/>
          </a:p>
          <a:p>
            <a:pPr>
              <a:buFont typeface="Arial" panose="020B0604020202090204" pitchFamily="34" charset="0"/>
              <a:buChar char="•"/>
            </a:pPr>
            <a:r>
              <a:rPr lang="zh-CN" altLang="en-US" sz="1800" dirty="0"/>
              <a:t>通过数组名计算数组元素地址</a:t>
            </a:r>
            <a:endParaRPr lang="en-US" altLang="zh-CN" sz="1800" dirty="0"/>
          </a:p>
          <a:p>
            <a:pPr>
              <a:buFont typeface="Arial" panose="020B0604020202090204" pitchFamily="34" charset="0"/>
              <a:buChar char="•"/>
            </a:pPr>
            <a:r>
              <a:rPr lang="zh-CN" altLang="en-US" sz="1800" dirty="0"/>
              <a:t>用指针变量指向数组元素 </a:t>
            </a:r>
            <a:endParaRPr lang="zh-CN" altLang="en-US" sz="1800" dirty="0"/>
          </a:p>
          <a:p>
            <a:pPr>
              <a:lnSpc>
                <a:spcPct val="100000"/>
              </a:lnSpc>
              <a:buFont typeface="Arial" panose="020B0604020202090204" pitchFamily="34" charset="0"/>
              <a:buChar char="•"/>
            </a:pPr>
            <a:endParaRPr lang="zh-CN" altLang="zh-CN" sz="2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endParaRPr lang="zh-CN" altLang="en-US" sz="2800" dirty="0"/>
          </a:p>
        </p:txBody>
      </p:sp>
      <p:sp>
        <p:nvSpPr>
          <p:cNvPr id="3" name="矩形 2"/>
          <p:cNvSpPr/>
          <p:nvPr/>
        </p:nvSpPr>
        <p:spPr>
          <a:xfrm>
            <a:off x="512685" y="2547891"/>
            <a:ext cx="5098002" cy="37548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//</a:t>
            </a:r>
            <a:r>
              <a:rPr lang="zh-CN" alt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例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</a:rPr>
              <a:t>13-03b</a:t>
            </a:r>
            <a:endParaRPr lang="en-US" sz="14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&lt;iostream&gt;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std;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main()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a[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 = {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7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9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*p = a;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 //</a:t>
            </a:r>
            <a:r>
              <a:rPr lang="zh-CN" alt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数组首地址赋值给指针变量</a:t>
            </a:r>
            <a:endParaRPr lang="zh-CN" alt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++)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{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 //</a:t>
            </a:r>
            <a:r>
              <a:rPr lang="zh-CN" alt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通过指针输出数组元素</a:t>
            </a:r>
            <a:endParaRPr lang="zh-CN" alt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a[</a:t>
            </a:r>
            <a:r>
              <a:rPr lang="en-US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]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 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*(a + </a:t>
            </a:r>
            <a:r>
              <a:rPr lang="en-US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) 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}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p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a; 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p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a + 5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p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++ )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*p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 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200881" y="1420427"/>
            <a:ext cx="3694543" cy="4339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dirty="0">
                <a:latin typeface="楷体" panose="02010609060101010101" pitchFamily="49" charset="-122"/>
                <a:ea typeface="楷体" panose="02010609060101010101" pitchFamily="49" charset="-122"/>
              </a:rPr>
              <a:t>比较：</a:t>
            </a:r>
            <a:endParaRPr lang="en-US" altLang="zh-CN" sz="16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</a:rPr>
              <a:t>第</a:t>
            </a:r>
            <a:r>
              <a:rPr lang="en-US" altLang="zh-CN" sz="1600" dirty="0">
                <a:latin typeface="楷体" panose="02010609060101010101" pitchFamily="49" charset="-122"/>
                <a:ea typeface="楷体" panose="02010609060101010101" pitchFamily="49" charset="-122"/>
              </a:rPr>
              <a:t>(1)</a:t>
            </a:r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</a:rPr>
              <a:t>和第</a:t>
            </a:r>
            <a:r>
              <a:rPr lang="en-US" altLang="zh-CN" sz="1600" dirty="0">
                <a:latin typeface="楷体" panose="02010609060101010101" pitchFamily="49" charset="-122"/>
                <a:ea typeface="楷体" panose="02010609060101010101" pitchFamily="49" charset="-122"/>
              </a:rPr>
              <a:t>(2)</a:t>
            </a:r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</a:rPr>
              <a:t>种方法执行效率相同</a:t>
            </a:r>
            <a:endParaRPr lang="en-US" altLang="zh-CN" sz="16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Ｃ编译系统是将</a:t>
            </a:r>
            <a:r>
              <a:rPr lang="en-US" altLang="zh-CN" sz="1400" dirty="0">
                <a:latin typeface="楷体" panose="02010609060101010101" pitchFamily="49" charset="-122"/>
                <a:ea typeface="楷体" panose="02010609060101010101" pitchFamily="49" charset="-122"/>
              </a:rPr>
              <a:t>a[</a:t>
            </a:r>
            <a:r>
              <a:rPr lang="en-US" altLang="zh-CN" sz="1400" dirty="0" err="1"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en-US" altLang="zh-CN" sz="1400" dirty="0">
                <a:latin typeface="楷体" panose="02010609060101010101" pitchFamily="49" charset="-122"/>
                <a:ea typeface="楷体" panose="02010609060101010101" pitchFamily="49" charset="-122"/>
              </a:rPr>
              <a:t>]</a:t>
            </a: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转换为</a:t>
            </a:r>
            <a:r>
              <a:rPr lang="en-US" altLang="zh-CN" sz="1400" dirty="0">
                <a:latin typeface="楷体" panose="02010609060101010101" pitchFamily="49" charset="-122"/>
                <a:ea typeface="楷体" panose="02010609060101010101" pitchFamily="49" charset="-122"/>
              </a:rPr>
              <a:t>*(</a:t>
            </a:r>
            <a:r>
              <a:rPr lang="en-US" altLang="zh-CN" sz="1400" dirty="0" err="1">
                <a:latin typeface="楷体" panose="02010609060101010101" pitchFamily="49" charset="-122"/>
                <a:ea typeface="楷体" panose="02010609060101010101" pitchFamily="49" charset="-122"/>
              </a:rPr>
              <a:t>a+i</a:t>
            </a:r>
            <a:r>
              <a:rPr lang="en-US" altLang="zh-CN" sz="1400" dirty="0"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处理的，即先计算元素地址。</a:t>
            </a:r>
            <a:endParaRPr lang="en-US" altLang="zh-CN" sz="1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因此用第</a:t>
            </a:r>
            <a:r>
              <a:rPr lang="en-US" altLang="zh-CN" sz="1400" dirty="0">
                <a:latin typeface="楷体" panose="02010609060101010101" pitchFamily="49" charset="-122"/>
                <a:ea typeface="楷体" panose="02010609060101010101" pitchFamily="49" charset="-122"/>
              </a:rPr>
              <a:t>(1)</a:t>
            </a: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和第</a:t>
            </a:r>
            <a:r>
              <a:rPr lang="en-US" altLang="zh-CN" sz="1400" dirty="0">
                <a:latin typeface="楷体" panose="02010609060101010101" pitchFamily="49" charset="-122"/>
                <a:ea typeface="楷体" panose="02010609060101010101" pitchFamily="49" charset="-122"/>
              </a:rPr>
              <a:t>(2)</a:t>
            </a: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种方法找数组元素费时较多。</a:t>
            </a:r>
            <a:endParaRPr lang="en-US" altLang="zh-CN" sz="1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</a:rPr>
              <a:t>第</a:t>
            </a:r>
            <a:r>
              <a:rPr lang="en-US" altLang="zh-CN" sz="1600" dirty="0">
                <a:latin typeface="楷体" panose="02010609060101010101" pitchFamily="49" charset="-122"/>
                <a:ea typeface="楷体" panose="02010609060101010101" pitchFamily="49" charset="-122"/>
              </a:rPr>
              <a:t>(3)</a:t>
            </a:r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</a:rPr>
              <a:t>种方法比第</a:t>
            </a:r>
            <a:r>
              <a:rPr lang="en-US" altLang="zh-CN" sz="1600" dirty="0">
                <a:latin typeface="楷体" panose="02010609060101010101" pitchFamily="49" charset="-122"/>
                <a:ea typeface="楷体" panose="02010609060101010101" pitchFamily="49" charset="-122"/>
              </a:rPr>
              <a:t>(1)</a:t>
            </a:r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</a:rPr>
              <a:t>、第</a:t>
            </a:r>
            <a:r>
              <a:rPr lang="en-US" altLang="zh-CN" sz="1600" dirty="0">
                <a:latin typeface="楷体" panose="02010609060101010101" pitchFamily="49" charset="-122"/>
                <a:ea typeface="楷体" panose="02010609060101010101" pitchFamily="49" charset="-122"/>
              </a:rPr>
              <a:t>(2)</a:t>
            </a:r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</a:rPr>
              <a:t>种方法快</a:t>
            </a:r>
            <a:endParaRPr lang="en-US" altLang="zh-CN" sz="16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用指针变量直接指向元素，不必每次都重新计算地址，像</a:t>
            </a:r>
            <a:r>
              <a:rPr lang="en-US" altLang="zh-CN" sz="1400" dirty="0">
                <a:latin typeface="楷体" panose="02010609060101010101" pitchFamily="49" charset="-122"/>
                <a:ea typeface="楷体" panose="02010609060101010101" pitchFamily="49" charset="-122"/>
              </a:rPr>
              <a:t>p++</a:t>
            </a: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这样的自加操作是比较快的</a:t>
            </a:r>
            <a:endParaRPr lang="en-US" altLang="zh-CN" sz="1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这种有规律地改变地址值</a:t>
            </a:r>
            <a:r>
              <a:rPr lang="en-US" altLang="zh-CN" sz="1400" dirty="0">
                <a:latin typeface="楷体" panose="02010609060101010101" pitchFamily="49" charset="-122"/>
                <a:ea typeface="楷体" panose="02010609060101010101" pitchFamily="49" charset="-122"/>
              </a:rPr>
              <a:t>(p++)</a:t>
            </a: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能大大提高执行效率</a:t>
            </a:r>
            <a:endParaRPr lang="zh-CN" altLang="en-US" sz="1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</a:rPr>
              <a:t>代码可读性</a:t>
            </a:r>
            <a:endParaRPr lang="en-US" altLang="zh-CN" sz="16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用下标法比较直观，能直接知道是第几个元素。</a:t>
            </a:r>
            <a:endParaRPr lang="en-US" altLang="zh-CN" sz="1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用地址法或指针变量的方法不直观，难以很快地判断出当前处理的是哪一个元素。</a:t>
            </a:r>
            <a:endParaRPr lang="en-US" altLang="zh-CN" sz="1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指针与字符串</a:t>
            </a:r>
            <a:endParaRPr lang="en-US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73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字符数组的定义和初始化</a:t>
            </a:r>
            <a:endParaRPr lang="zh-CN" altLang="en-US"/>
          </a:p>
        </p:txBody>
      </p:sp>
      <p:sp>
        <p:nvSpPr>
          <p:cNvPr id="50073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zh-CN" altLang="en-US" dirty="0"/>
              <a:t>两种方法：</a:t>
            </a:r>
            <a:endParaRPr lang="zh-CN" altLang="en-US" dirty="0"/>
          </a:p>
          <a:p>
            <a:pPr lvl="1">
              <a:lnSpc>
                <a:spcPct val="90000"/>
              </a:lnSpc>
            </a:pPr>
            <a:r>
              <a:rPr lang="en-US" altLang="zh-CN" dirty="0"/>
              <a:t>char </a:t>
            </a:r>
            <a:r>
              <a:rPr lang="zh-CN" altLang="en-US" dirty="0">
                <a:solidFill>
                  <a:schemeClr val="hlink"/>
                </a:solidFill>
              </a:rPr>
              <a:t>字符数组名</a:t>
            </a:r>
            <a:r>
              <a:rPr lang="en-US" altLang="zh-CN" dirty="0">
                <a:solidFill>
                  <a:srgbClr val="0099FF"/>
                </a:solidFill>
              </a:rPr>
              <a:t>[</a:t>
            </a:r>
            <a:r>
              <a:rPr lang="zh-CN" altLang="en-US" dirty="0">
                <a:solidFill>
                  <a:srgbClr val="0099FF"/>
                </a:solidFill>
              </a:rPr>
              <a:t>最大字符数</a:t>
            </a:r>
            <a:r>
              <a:rPr lang="en-US" altLang="zh-CN" dirty="0">
                <a:solidFill>
                  <a:srgbClr val="0099FF"/>
                </a:solidFill>
              </a:rPr>
              <a:t>+1] </a:t>
            </a:r>
            <a:r>
              <a:rPr lang="en-US" altLang="zh-CN" dirty="0"/>
              <a:t>= </a:t>
            </a:r>
            <a:r>
              <a:rPr lang="en-US" altLang="zh-CN" dirty="0">
                <a:latin typeface="Arial" panose="020B0604020202090204" pitchFamily="34" charset="0"/>
              </a:rPr>
              <a:t>“</a:t>
            </a:r>
            <a:r>
              <a:rPr lang="zh-CN" altLang="en-US" dirty="0"/>
              <a:t>字符串</a:t>
            </a:r>
            <a:r>
              <a:rPr lang="zh-CN" altLang="en-US" dirty="0">
                <a:latin typeface="Arial" panose="020B0604020202090204" pitchFamily="34" charset="0"/>
              </a:rPr>
              <a:t>”</a:t>
            </a:r>
            <a:r>
              <a:rPr lang="en-US" altLang="zh-CN" dirty="0"/>
              <a:t>;</a:t>
            </a:r>
            <a:endParaRPr lang="en-US" altLang="zh-CN" dirty="0"/>
          </a:p>
          <a:p>
            <a:pPr lvl="1">
              <a:lnSpc>
                <a:spcPct val="90000"/>
              </a:lnSpc>
            </a:pPr>
            <a:r>
              <a:rPr lang="en-US" altLang="zh-CN" dirty="0"/>
              <a:t>char </a:t>
            </a:r>
            <a:r>
              <a:rPr lang="zh-CN" altLang="en-US" dirty="0">
                <a:solidFill>
                  <a:schemeClr val="hlink"/>
                </a:solidFill>
              </a:rPr>
              <a:t>字符数组名</a:t>
            </a:r>
            <a:r>
              <a:rPr lang="en-US" altLang="zh-CN" dirty="0">
                <a:solidFill>
                  <a:srgbClr val="0099FF"/>
                </a:solidFill>
              </a:rPr>
              <a:t>[ ]</a:t>
            </a:r>
            <a:r>
              <a:rPr lang="en-US" altLang="zh-CN" dirty="0"/>
              <a:t> = </a:t>
            </a:r>
            <a:r>
              <a:rPr lang="en-US" altLang="zh-CN" dirty="0">
                <a:latin typeface="Arial" panose="020B0604020202090204" pitchFamily="34" charset="0"/>
              </a:rPr>
              <a:t>“</a:t>
            </a:r>
            <a:r>
              <a:rPr lang="zh-CN" altLang="en-US" dirty="0"/>
              <a:t>字符串</a:t>
            </a:r>
            <a:r>
              <a:rPr lang="zh-CN" altLang="en-US" dirty="0">
                <a:latin typeface="Arial" panose="020B0604020202090204" pitchFamily="34" charset="0"/>
              </a:rPr>
              <a:t>”</a:t>
            </a:r>
            <a:r>
              <a:rPr lang="en-US" altLang="zh-CN" dirty="0"/>
              <a:t>;</a:t>
            </a:r>
            <a:endParaRPr lang="en-US" altLang="zh-CN" dirty="0"/>
          </a:p>
          <a:p>
            <a:pPr>
              <a:lnSpc>
                <a:spcPct val="90000"/>
              </a:lnSpc>
            </a:pPr>
            <a:r>
              <a:rPr lang="zh-CN" altLang="en-US" dirty="0"/>
              <a:t>例如：</a:t>
            </a:r>
            <a:endParaRPr lang="zh-CN" altLang="en-US" dirty="0"/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char A[8]=</a:t>
            </a:r>
            <a:r>
              <a:rPr lang="en-US" altLang="zh-CN" dirty="0">
                <a:latin typeface="Arial" panose="020B0604020202090204" pitchFamily="34" charset="0"/>
              </a:rPr>
              <a:t>“</a:t>
            </a:r>
            <a:r>
              <a:rPr lang="en-US" altLang="zh-CN" dirty="0"/>
              <a:t>Beijing</a:t>
            </a:r>
            <a:r>
              <a:rPr lang="en-US" altLang="zh-CN" dirty="0">
                <a:latin typeface="Arial" panose="020B0604020202090204" pitchFamily="34" charset="0"/>
              </a:rPr>
              <a:t>”</a:t>
            </a:r>
            <a:r>
              <a:rPr lang="en-US" altLang="zh-CN" dirty="0"/>
              <a:t>;</a:t>
            </a:r>
            <a:endParaRPr lang="en-US" altLang="zh-CN" dirty="0"/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char B[10]=</a:t>
            </a:r>
            <a:r>
              <a:rPr lang="en-US" altLang="zh-CN" dirty="0">
                <a:latin typeface="Arial" panose="020B0604020202090204" pitchFamily="34" charset="0"/>
              </a:rPr>
              <a:t>“</a:t>
            </a:r>
            <a:r>
              <a:rPr lang="en-US" altLang="zh-CN" dirty="0"/>
              <a:t>include</a:t>
            </a:r>
            <a:r>
              <a:rPr lang="en-US" altLang="zh-CN" dirty="0">
                <a:latin typeface="Arial" panose="020B0604020202090204" pitchFamily="34" charset="0"/>
              </a:rPr>
              <a:t>”</a:t>
            </a:r>
            <a:r>
              <a:rPr lang="en-US" altLang="zh-CN" dirty="0"/>
              <a:t>;</a:t>
            </a:r>
            <a:endParaRPr lang="en-US" altLang="zh-CN" dirty="0"/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dirty="0"/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char C[ ]=</a:t>
            </a:r>
            <a:r>
              <a:rPr lang="en-US" altLang="zh-CN" dirty="0">
                <a:latin typeface="Arial" panose="020B0604020202090204" pitchFamily="34" charset="0"/>
              </a:rPr>
              <a:t>“</a:t>
            </a:r>
            <a:r>
              <a:rPr lang="en-US" altLang="zh-CN" dirty="0"/>
              <a:t>China</a:t>
            </a:r>
            <a:r>
              <a:rPr lang="en-US" altLang="zh-CN" dirty="0">
                <a:latin typeface="Arial" panose="020B0604020202090204" pitchFamily="34" charset="0"/>
              </a:rPr>
              <a:t>”</a:t>
            </a:r>
            <a:r>
              <a:rPr lang="en-US" altLang="zh-CN" dirty="0"/>
              <a:t>;</a:t>
            </a:r>
            <a:endParaRPr lang="en-US" altLang="zh-CN" dirty="0"/>
          </a:p>
          <a:p>
            <a:pPr>
              <a:lnSpc>
                <a:spcPct val="90000"/>
              </a:lnSpc>
            </a:pPr>
            <a:endParaRPr lang="en-US" altLang="zh-CN" dirty="0"/>
          </a:p>
        </p:txBody>
      </p:sp>
      <p:graphicFrame>
        <p:nvGraphicFramePr>
          <p:cNvPr id="500892" name="Group 156"/>
          <p:cNvGraphicFramePr>
            <a:graphicFrameLocks noGrp="1"/>
          </p:cNvGraphicFramePr>
          <p:nvPr/>
        </p:nvGraphicFramePr>
        <p:xfrm>
          <a:off x="3886869" y="3284538"/>
          <a:ext cx="5076825" cy="1036320"/>
        </p:xfrm>
        <a:graphic>
          <a:graphicData uri="http://schemas.openxmlformats.org/drawingml/2006/table">
            <a:tbl>
              <a:tblPr/>
              <a:tblGrid>
                <a:gridCol w="563563"/>
                <a:gridCol w="563562"/>
                <a:gridCol w="565150"/>
                <a:gridCol w="565150"/>
                <a:gridCol w="561975"/>
                <a:gridCol w="565150"/>
                <a:gridCol w="565150"/>
                <a:gridCol w="563563"/>
                <a:gridCol w="563562"/>
              </a:tblGrid>
              <a:tr h="5048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rPr>
                        <a:t>A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rPr>
                        <a:t>B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rPr>
                        <a:t>e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rPr>
                        <a:t>i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rPr>
                        <a:t>j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rPr>
                        <a:t>i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rPr>
                        <a:t>n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rPr>
                        <a:t>g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rPr>
                        <a:t>\0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32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en-US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rPr>
                        <a:t>0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rPr>
                        <a:t>1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rPr>
                        <a:t>2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rPr>
                        <a:t>3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rPr>
                        <a:t>4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rPr>
                        <a:t>5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rPr>
                        <a:t>6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rPr>
                        <a:t>7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500891" name="Group 155"/>
          <p:cNvGraphicFramePr>
            <a:graphicFrameLocks noGrp="1"/>
          </p:cNvGraphicFramePr>
          <p:nvPr/>
        </p:nvGraphicFramePr>
        <p:xfrm>
          <a:off x="2088232" y="4579938"/>
          <a:ext cx="6875462" cy="1081088"/>
        </p:xfrm>
        <a:graphic>
          <a:graphicData uri="http://schemas.openxmlformats.org/drawingml/2006/table">
            <a:tbl>
              <a:tblPr/>
              <a:tblGrid>
                <a:gridCol w="625475"/>
                <a:gridCol w="623887"/>
                <a:gridCol w="625475"/>
                <a:gridCol w="625475"/>
                <a:gridCol w="625475"/>
                <a:gridCol w="623888"/>
                <a:gridCol w="625475"/>
                <a:gridCol w="625475"/>
                <a:gridCol w="625475"/>
                <a:gridCol w="623887"/>
                <a:gridCol w="625475"/>
              </a:tblGrid>
              <a:tr h="5413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rPr>
                        <a:t>B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rPr>
                        <a:t>i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rPr>
                        <a:t>n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rPr>
                        <a:t>c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rPr>
                        <a:t>l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rPr>
                        <a:t>u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rPr>
                        <a:t>d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rPr>
                        <a:t>e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rPr>
                        <a:t>\0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rPr>
                        <a:t>\0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rPr>
                        <a:t>\0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97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en-US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rPr>
                        <a:t>0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rPr>
                        <a:t>1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rPr>
                        <a:t>2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rPr>
                        <a:t>3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rPr>
                        <a:t>4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rPr>
                        <a:t>5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rPr>
                        <a:t>6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rPr>
                        <a:t>7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rPr>
                        <a:t>8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rPr>
                        <a:t>9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500936" name="Group 200"/>
          <p:cNvGraphicFramePr>
            <a:graphicFrameLocks noGrp="1"/>
          </p:cNvGraphicFramePr>
          <p:nvPr/>
        </p:nvGraphicFramePr>
        <p:xfrm>
          <a:off x="4859338" y="5822950"/>
          <a:ext cx="3949700" cy="1036320"/>
        </p:xfrm>
        <a:graphic>
          <a:graphicData uri="http://schemas.openxmlformats.org/drawingml/2006/table">
            <a:tbl>
              <a:tblPr/>
              <a:tblGrid>
                <a:gridCol w="563562"/>
                <a:gridCol w="563563"/>
                <a:gridCol w="565150"/>
                <a:gridCol w="565150"/>
                <a:gridCol w="561975"/>
                <a:gridCol w="565150"/>
                <a:gridCol w="565150"/>
              </a:tblGrid>
              <a:tr h="5048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rPr>
                        <a:t>C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rPr>
                        <a:t>C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rPr>
                        <a:t>h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rPr>
                        <a:t>i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rPr>
                        <a:t>n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rPr>
                        <a:t>a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rPr>
                        <a:t>\0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32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en-US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rPr>
                        <a:t>0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rPr>
                        <a:t>1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rPr>
                        <a:t>2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rPr>
                        <a:t>3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rPr>
                        <a:t>4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itchFamily="2" charset="-122"/>
                        </a:rPr>
                        <a:t>5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00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500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500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81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思考？</a:t>
            </a:r>
            <a:endParaRPr lang="zh-CN" altLang="en-US" dirty="0"/>
          </a:p>
        </p:txBody>
      </p:sp>
      <p:sp>
        <p:nvSpPr>
          <p:cNvPr id="503812" name="Text Box 4"/>
          <p:cNvSpPr txBox="1">
            <a:spLocks noChangeArrowheads="1"/>
          </p:cNvSpPr>
          <p:nvPr/>
        </p:nvSpPr>
        <p:spPr bwMode="auto">
          <a:xfrm>
            <a:off x="670589" y="1018503"/>
            <a:ext cx="7407673" cy="5581650"/>
          </a:xfrm>
          <a:prstGeom prst="rect">
            <a:avLst/>
          </a:prstGeom>
          <a:noFill/>
          <a:ln w="12700" cap="sq">
            <a:solidFill>
              <a:srgbClr val="00FFFF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9144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3716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8288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2860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itchFamily="2" charset="-122"/>
                <a:cs typeface="+mn-cs"/>
              </a:rPr>
              <a:t>#include&lt;iostream&gt;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aramond" panose="02020404030301010803" pitchFamily="18" charset="0"/>
              <a:ea typeface="宋体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itchFamily="2" charset="-122"/>
                <a:cs typeface="+mn-cs"/>
              </a:rPr>
              <a:t>using namespace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itchFamily="2" charset="-122"/>
                <a:cs typeface="+mn-cs"/>
              </a:rPr>
              <a:t>std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itchFamily="2" charset="-122"/>
                <a:cs typeface="+mn-cs"/>
              </a:rPr>
              <a:t>;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aramond" panose="02020404030301010803" pitchFamily="18" charset="0"/>
              <a:ea typeface="宋体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aramond" panose="02020404030301010803" pitchFamily="18" charset="0"/>
              <a:ea typeface="宋体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itchFamily="2" charset="-122"/>
                <a:cs typeface="+mn-cs"/>
              </a:rPr>
              <a:t>int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itchFamily="2" charset="-122"/>
                <a:cs typeface="+mn-cs"/>
              </a:rPr>
              <a:t> main( )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aramond" panose="02020404030301010803" pitchFamily="18" charset="0"/>
              <a:ea typeface="宋体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itchFamily="2" charset="-122"/>
                <a:cs typeface="+mn-cs"/>
              </a:rPr>
              <a:t>{    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aramond" panose="02020404030301010803" pitchFamily="18" charset="0"/>
              <a:ea typeface="宋体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itchFamily="2" charset="-122"/>
                <a:cs typeface="+mn-cs"/>
              </a:rPr>
              <a:t>       char h[ ] =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“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itchFamily="2" charset="-122"/>
                <a:cs typeface="+mn-cs"/>
              </a:rPr>
              <a:t>123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”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itchFamily="2" charset="-122"/>
                <a:cs typeface="+mn-cs"/>
              </a:rPr>
              <a:t>;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aramond" panose="02020404030301010803" pitchFamily="18" charset="0"/>
              <a:ea typeface="宋体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itchFamily="2" charset="-122"/>
                <a:cs typeface="+mn-cs"/>
              </a:rPr>
              <a:t>      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itchFamily="2" charset="-122"/>
                <a:cs typeface="+mn-cs"/>
              </a:rPr>
              <a:t>int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itchFamily="2" charset="-122"/>
                <a:cs typeface="+mn-cs"/>
              </a:rPr>
              <a:t>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itchFamily="2" charset="-122"/>
                <a:cs typeface="+mn-cs"/>
              </a:rPr>
              <a:t>i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itchFamily="2" charset="-122"/>
                <a:cs typeface="+mn-cs"/>
              </a:rPr>
              <a:t>;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aramond" panose="02020404030301010803" pitchFamily="18" charset="0"/>
              <a:ea typeface="宋体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itchFamily="2" charset="-122"/>
                <a:cs typeface="+mn-cs"/>
              </a:rPr>
              <a:t>       for (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itchFamily="2" charset="-122"/>
                <a:cs typeface="+mn-cs"/>
              </a:rPr>
              <a:t>i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itchFamily="2" charset="-122"/>
                <a:cs typeface="+mn-cs"/>
              </a:rPr>
              <a:t>=0;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itchFamily="2" charset="-122"/>
                <a:cs typeface="+mn-cs"/>
              </a:rPr>
              <a:t>i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itchFamily="2" charset="-122"/>
                <a:cs typeface="+mn-cs"/>
              </a:rPr>
              <a:t>&lt;10;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itchFamily="2" charset="-122"/>
                <a:cs typeface="+mn-cs"/>
              </a:rPr>
              <a:t>i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itchFamily="2" charset="-122"/>
                <a:cs typeface="+mn-cs"/>
              </a:rPr>
              <a:t>++)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aramond" panose="02020404030301010803" pitchFamily="18" charset="0"/>
              <a:ea typeface="宋体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itchFamily="2" charset="-122"/>
                <a:cs typeface="+mn-cs"/>
              </a:rPr>
              <a:t>          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itchFamily="2" charset="-122"/>
                <a:cs typeface="+mn-cs"/>
              </a:rPr>
              <a:t>cin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itchFamily="2" charset="-122"/>
                <a:cs typeface="+mn-cs"/>
              </a:rPr>
              <a:t> &gt;&gt; h[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itchFamily="2" charset="-122"/>
                <a:cs typeface="+mn-cs"/>
              </a:rPr>
              <a:t>i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itchFamily="2" charset="-122"/>
                <a:cs typeface="+mn-cs"/>
              </a:rPr>
              <a:t>];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aramond" panose="02020404030301010803" pitchFamily="18" charset="0"/>
              <a:ea typeface="宋体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itchFamily="2" charset="-122"/>
                <a:cs typeface="+mn-cs"/>
              </a:rPr>
              <a:t>       for (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itchFamily="2" charset="-122"/>
                <a:cs typeface="+mn-cs"/>
              </a:rPr>
              <a:t>i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itchFamily="2" charset="-122"/>
                <a:cs typeface="+mn-cs"/>
              </a:rPr>
              <a:t>=0;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itchFamily="2" charset="-122"/>
                <a:cs typeface="+mn-cs"/>
              </a:rPr>
              <a:t>i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itchFamily="2" charset="-122"/>
                <a:cs typeface="+mn-cs"/>
              </a:rPr>
              <a:t>&lt;10;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itchFamily="2" charset="-122"/>
                <a:cs typeface="+mn-cs"/>
              </a:rPr>
              <a:t>i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itchFamily="2" charset="-122"/>
                <a:cs typeface="+mn-cs"/>
              </a:rPr>
              <a:t>++)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aramond" panose="02020404030301010803" pitchFamily="18" charset="0"/>
              <a:ea typeface="宋体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itchFamily="2" charset="-122"/>
                <a:cs typeface="+mn-cs"/>
              </a:rPr>
              <a:t>		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itchFamily="2" charset="-122"/>
                <a:cs typeface="+mn-cs"/>
              </a:rPr>
              <a:t>cout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itchFamily="2" charset="-122"/>
                <a:cs typeface="+mn-cs"/>
              </a:rPr>
              <a:t> &lt;&lt; h[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itchFamily="2" charset="-122"/>
                <a:cs typeface="+mn-cs"/>
              </a:rPr>
              <a:t>i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itchFamily="2" charset="-122"/>
                <a:cs typeface="+mn-cs"/>
              </a:rPr>
              <a:t>];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aramond" panose="02020404030301010803" pitchFamily="18" charset="0"/>
              <a:ea typeface="宋体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itchFamily="2" charset="-122"/>
                <a:cs typeface="+mn-cs"/>
              </a:rPr>
              <a:t>      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itchFamily="2" charset="-122"/>
                <a:cs typeface="+mn-cs"/>
              </a:rPr>
              <a:t>cout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itchFamily="2" charset="-122"/>
                <a:cs typeface="+mn-cs"/>
              </a:rPr>
              <a:t> &lt;&lt;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itchFamily="2" charset="-122"/>
                <a:cs typeface="+mn-cs"/>
              </a:rPr>
              <a:t>endl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itchFamily="2" charset="-122"/>
                <a:cs typeface="+mn-cs"/>
              </a:rPr>
              <a:t>;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aramond" panose="02020404030301010803" pitchFamily="18" charset="0"/>
              <a:ea typeface="宋体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itchFamily="2" charset="-122"/>
                <a:cs typeface="+mn-cs"/>
              </a:rPr>
              <a:t>      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itchFamily="2" charset="-122"/>
                <a:cs typeface="+mn-cs"/>
              </a:rPr>
              <a:t>cout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itchFamily="2" charset="-122"/>
                <a:cs typeface="+mn-cs"/>
              </a:rPr>
              <a:t> &lt;&lt; h &lt;&lt;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itchFamily="2" charset="-122"/>
                <a:cs typeface="+mn-cs"/>
              </a:rPr>
              <a:t>endl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itchFamily="2" charset="-122"/>
                <a:cs typeface="+mn-cs"/>
              </a:rPr>
              <a:t>;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aramond" panose="02020404030301010803" pitchFamily="18" charset="0"/>
              <a:ea typeface="宋体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itchFamily="2" charset="-122"/>
                <a:cs typeface="+mn-cs"/>
              </a:rPr>
              <a:t>       return 0;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aramond" panose="02020404030301010803" pitchFamily="18" charset="0"/>
              <a:ea typeface="宋体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itchFamily="2" charset="-122"/>
                <a:cs typeface="+mn-cs"/>
              </a:rPr>
              <a:t>}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aramond" panose="02020404030301010803" pitchFamily="18" charset="0"/>
              <a:ea typeface="宋体" pitchFamily="2" charset="-122"/>
              <a:cs typeface="+mn-cs"/>
            </a:endParaRPr>
          </a:p>
        </p:txBody>
      </p:sp>
      <p:sp>
        <p:nvSpPr>
          <p:cNvPr id="503813" name="Text Box 5"/>
          <p:cNvSpPr txBox="1">
            <a:spLocks noChangeArrowheads="1"/>
          </p:cNvSpPr>
          <p:nvPr/>
        </p:nvSpPr>
        <p:spPr bwMode="auto">
          <a:xfrm>
            <a:off x="4786044" y="3988228"/>
            <a:ext cx="3600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Garamond" panose="02020404030301010803" pitchFamily="18" charset="0"/>
                <a:ea typeface="宋体" pitchFamily="2" charset="-122"/>
                <a:cs typeface="+mn-cs"/>
              </a:rPr>
              <a:t>for (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Garamond" panose="02020404030301010803" pitchFamily="18" charset="0"/>
                <a:ea typeface="宋体" pitchFamily="2" charset="-122"/>
                <a:cs typeface="+mn-cs"/>
              </a:rPr>
              <a:t>int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Garamond" panose="02020404030301010803" pitchFamily="18" charset="0"/>
                <a:ea typeface="宋体" pitchFamily="2" charset="-122"/>
                <a:cs typeface="+mn-cs"/>
              </a:rPr>
              <a:t>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Garamond" panose="02020404030301010803" pitchFamily="18" charset="0"/>
                <a:ea typeface="宋体" pitchFamily="2" charset="-122"/>
                <a:cs typeface="+mn-cs"/>
              </a:rPr>
              <a:t>i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Garamond" panose="02020404030301010803" pitchFamily="18" charset="0"/>
                <a:ea typeface="宋体" pitchFamily="2" charset="-122"/>
                <a:cs typeface="+mn-cs"/>
              </a:rPr>
              <a:t>=0;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Garamond" panose="02020404030301010803" pitchFamily="18" charset="0"/>
                <a:ea typeface="宋体" pitchFamily="2" charset="-122"/>
                <a:cs typeface="+mn-cs"/>
              </a:rPr>
              <a:t>i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Garamond" panose="02020404030301010803" pitchFamily="18" charset="0"/>
                <a:ea typeface="宋体" pitchFamily="2" charset="-122"/>
                <a:cs typeface="+mn-cs"/>
              </a:rPr>
              <a:t>&lt;10;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Garamond" panose="02020404030301010803" pitchFamily="18" charset="0"/>
                <a:ea typeface="宋体" pitchFamily="2" charset="-122"/>
                <a:cs typeface="+mn-cs"/>
              </a:rPr>
              <a:t>i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Garamond" panose="02020404030301010803" pitchFamily="18" charset="0"/>
                <a:ea typeface="宋体" pitchFamily="2" charset="-122"/>
                <a:cs typeface="+mn-cs"/>
              </a:rPr>
              <a:t>++)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CC00"/>
              </a:solidFill>
              <a:effectLst/>
              <a:uLnTx/>
              <a:uFillTx/>
              <a:latin typeface="Garamond" panose="02020404030301010803" pitchFamily="18" charset="0"/>
              <a:ea typeface="宋体" pitchFamily="2" charset="-122"/>
              <a:cs typeface="+mn-cs"/>
            </a:endParaRPr>
          </a:p>
        </p:txBody>
      </p:sp>
      <p:sp>
        <p:nvSpPr>
          <p:cNvPr id="503814" name="Rectangle 6"/>
          <p:cNvSpPr>
            <a:spLocks noChangeArrowheads="1"/>
          </p:cNvSpPr>
          <p:nvPr/>
        </p:nvSpPr>
        <p:spPr bwMode="auto">
          <a:xfrm>
            <a:off x="1065738" y="3194903"/>
            <a:ext cx="3167062" cy="792162"/>
          </a:xfrm>
          <a:prstGeom prst="rect">
            <a:avLst/>
          </a:prstGeom>
          <a:noFill/>
          <a:ln w="57150" algn="ctr">
            <a:solidFill>
              <a:schemeClr val="hlink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itchFamily="2" charset="-122"/>
              <a:cs typeface="+mn-cs"/>
            </a:endParaRPr>
          </a:p>
        </p:txBody>
      </p:sp>
      <p:sp>
        <p:nvSpPr>
          <p:cNvPr id="503815" name="Line 7"/>
          <p:cNvSpPr>
            <a:spLocks noChangeShapeType="1"/>
          </p:cNvSpPr>
          <p:nvPr/>
        </p:nvSpPr>
        <p:spPr bwMode="auto">
          <a:xfrm>
            <a:off x="4232800" y="3795347"/>
            <a:ext cx="753053" cy="4572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03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503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503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 Box 2"/>
          <p:cNvSpPr txBox="1">
            <a:spLocks noChangeArrowheads="1"/>
          </p:cNvSpPr>
          <p:nvPr/>
        </p:nvSpPr>
        <p:spPr bwMode="auto">
          <a:xfrm>
            <a:off x="1019646" y="392658"/>
            <a:ext cx="7848600" cy="5632311"/>
          </a:xfrm>
          <a:prstGeom prst="rect">
            <a:avLst/>
          </a:prstGeom>
          <a:noFill/>
          <a:ln w="12700" cap="sq">
            <a:solidFill>
              <a:srgbClr val="00FFFF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195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&lt;iostream&gt;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std;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main()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 //</a:t>
            </a:r>
            <a:r>
              <a:rPr lang="zh-CN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主函数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r>
              <a:rPr lang="zh-CN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          </a:t>
            </a:r>
            <a:r>
              <a:rPr lang="en-US" altLang="zh-CN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zh-CN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函数体开始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*p, str[] =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"computer"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p = str;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           //</a:t>
            </a:r>
            <a:r>
              <a:rPr lang="zh-CN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指针赋值，指向字苻串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"%s\n"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p);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 //</a:t>
            </a:r>
            <a:r>
              <a:rPr lang="zh-CN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输出字苻串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8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++)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&lt;&lt; p[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(*p)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{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&lt;&lt; *p;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 //</a:t>
            </a:r>
            <a:r>
              <a:rPr lang="zh-CN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输出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p</a:t>
            </a:r>
            <a:r>
              <a:rPr lang="zh-CN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所指向的字符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p++;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        //</a:t>
            </a:r>
            <a:r>
              <a:rPr lang="zh-CN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指针变量值加</a:t>
            </a:r>
            <a:r>
              <a:rPr lang="en-US" altLang="zh-CN" dirty="0">
                <a:solidFill>
                  <a:srgbClr val="008000"/>
                </a:solidFill>
                <a:latin typeface="Consolas" panose="020B0609020204030204" pitchFamily="49" charset="0"/>
              </a:rPr>
              <a:t>1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kumimoji="1" lang="en-US" altLang="zh-CN" b="1" dirty="0">
              <a:latin typeface="Times New Roman" panose="02020503050405090304" pitchFamily="18" charset="0"/>
              <a:ea typeface="黑体" panose="02010609060101010101" pitchFamily="49" charset="-122"/>
              <a:cs typeface="Arial" panose="020B0604020202090204" pitchFamily="34" charset="0"/>
            </a:endParaRPr>
          </a:p>
        </p:txBody>
      </p:sp>
      <p:sp>
        <p:nvSpPr>
          <p:cNvPr id="2" name="矩形 1"/>
          <p:cNvSpPr/>
          <p:nvPr/>
        </p:nvSpPr>
        <p:spPr>
          <a:xfrm flipH="1">
            <a:off x="246172" y="1066932"/>
            <a:ext cx="677108" cy="5205852"/>
          </a:xfrm>
          <a:prstGeom prst="rect">
            <a:avLst/>
          </a:prstGeom>
        </p:spPr>
        <p:txBody>
          <a:bodyPr vert="eaVert"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3200" b="1" dirty="0">
                <a:latin typeface="Times New Roman" panose="02020503050405090304" pitchFamily="18" charset="0"/>
                <a:ea typeface="黑体" panose="02010609060101010101" pitchFamily="49" charset="-122"/>
                <a:cs typeface="Arial" panose="020B0604020202090204" pitchFamily="34" charset="0"/>
              </a:rPr>
              <a:t>通过字符指针访问字符串</a:t>
            </a:r>
            <a:endParaRPr kumimoji="1" lang="zh-CN" altLang="en-US" sz="3200" b="1" dirty="0">
              <a:latin typeface="Times New Roman" panose="02020503050405090304" pitchFamily="18" charset="0"/>
              <a:ea typeface="黑体" panose="02010609060101010101" pitchFamily="49" charset="-122"/>
              <a:cs typeface="Arial" panose="020B060402020209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528198" y="2321697"/>
            <a:ext cx="1784463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kumimoji="1" lang="en-US" altLang="zh-CN" b="1" dirty="0">
                <a:solidFill>
                  <a:srgbClr val="FF3300"/>
                </a:solidFill>
                <a:latin typeface="Times New Roman" panose="02020503050405090304" pitchFamily="18" charset="0"/>
                <a:ea typeface="黑体" panose="02010609060101010101" pitchFamily="49" charset="-122"/>
                <a:cs typeface="Arial" panose="020B0604020202090204" pitchFamily="34" charset="0"/>
              </a:rPr>
              <a:t>p="computer";</a:t>
            </a:r>
            <a:r>
              <a:rPr kumimoji="1" lang="en-US" altLang="zh-CN" b="1" dirty="0">
                <a:latin typeface="Times New Roman" panose="02020503050405090304" pitchFamily="18" charset="0"/>
                <a:ea typeface="黑体" panose="02010609060101010101" pitchFamily="49" charset="-122"/>
                <a:cs typeface="Arial" panose="020B0604020202090204" pitchFamily="34" charset="0"/>
              </a:rPr>
              <a:t>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ext Box 2"/>
          <p:cNvSpPr txBox="1">
            <a:spLocks noChangeArrowheads="1"/>
          </p:cNvSpPr>
          <p:nvPr/>
        </p:nvSpPr>
        <p:spPr bwMode="auto">
          <a:xfrm>
            <a:off x="616786" y="1225689"/>
            <a:ext cx="8095214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r>
              <a:rPr kumimoji="1" lang="en-US" altLang="zh-CN" sz="2000" b="1" dirty="0">
                <a:latin typeface="Times New Roman" panose="02020503050405090304" pitchFamily="18" charset="0"/>
                <a:ea typeface="黑体" panose="02010609060101010101" pitchFamily="49" charset="-122"/>
                <a:cs typeface="Arial" panose="020B0604020202090204" pitchFamily="34" charset="0"/>
              </a:rPr>
              <a:t>1</a:t>
            </a:r>
            <a:r>
              <a:rPr kumimoji="1" lang="zh-CN" altLang="en-US" sz="2000" b="1" dirty="0">
                <a:latin typeface="Times New Roman" panose="02020503050405090304" pitchFamily="18" charset="0"/>
                <a:ea typeface="黑体" panose="02010609060101010101" pitchFamily="49" charset="-122"/>
                <a:cs typeface="Arial" panose="020B0604020202090204" pitchFamily="34" charset="0"/>
              </a:rPr>
              <a:t>、对字符指针变量赋值的写法</a:t>
            </a:r>
            <a:endParaRPr kumimoji="1" lang="zh-CN" altLang="en-US" sz="2000" b="1" dirty="0">
              <a:latin typeface="Times New Roman" panose="02020503050405090304" pitchFamily="18" charset="0"/>
              <a:ea typeface="黑体" panose="02010609060101010101" pitchFamily="49" charset="-122"/>
              <a:cs typeface="Arial" panose="020B0604020202090204" pitchFamily="34" charset="0"/>
            </a:endParaRPr>
          </a:p>
          <a:p>
            <a:r>
              <a:rPr kumimoji="1" lang="zh-CN" altLang="en-US" sz="2000" b="1" dirty="0">
                <a:latin typeface="Times New Roman" panose="02020503050405090304" pitchFamily="18" charset="0"/>
                <a:ea typeface="黑体" panose="02010609060101010101" pitchFamily="49" charset="-122"/>
                <a:cs typeface="Arial" panose="020B0604020202090204" pitchFamily="34" charset="0"/>
              </a:rPr>
              <a:t>（</a:t>
            </a:r>
            <a:r>
              <a:rPr kumimoji="1" lang="en-US" altLang="zh-CN" sz="2000" b="1" dirty="0">
                <a:latin typeface="Times New Roman" panose="02020503050405090304" pitchFamily="18" charset="0"/>
                <a:ea typeface="黑体" panose="02010609060101010101" pitchFamily="49" charset="-122"/>
                <a:cs typeface="Arial" panose="020B0604020202090204" pitchFamily="34" charset="0"/>
              </a:rPr>
              <a:t>1</a:t>
            </a:r>
            <a:r>
              <a:rPr kumimoji="1" lang="zh-CN" altLang="en-US" sz="2000" b="1" dirty="0">
                <a:latin typeface="Times New Roman" panose="02020503050405090304" pitchFamily="18" charset="0"/>
                <a:ea typeface="黑体" panose="02010609060101010101" pitchFamily="49" charset="-122"/>
                <a:cs typeface="Arial" panose="020B0604020202090204" pitchFamily="34" charset="0"/>
              </a:rPr>
              <a:t>）</a:t>
            </a:r>
            <a:r>
              <a:rPr kumimoji="1" lang="en-US" altLang="zh-CN" sz="2000" b="1" dirty="0">
                <a:latin typeface="Times New Roman" panose="02020503050405090304" pitchFamily="18" charset="0"/>
                <a:ea typeface="黑体" panose="02010609060101010101" pitchFamily="49" charset="-122"/>
                <a:cs typeface="Arial" panose="020B0604020202090204" pitchFamily="34" charset="0"/>
              </a:rPr>
              <a:t>char *p;			</a:t>
            </a:r>
            <a:r>
              <a:rPr kumimoji="1" lang="zh-CN" altLang="en-US" sz="2000" b="1" dirty="0">
                <a:latin typeface="Times New Roman" panose="02020503050405090304" pitchFamily="18" charset="0"/>
                <a:ea typeface="黑体" panose="02010609060101010101" pitchFamily="49" charset="-122"/>
                <a:cs typeface="Arial" panose="020B0604020202090204" pitchFamily="34" charset="0"/>
              </a:rPr>
              <a:t>（</a:t>
            </a:r>
            <a:r>
              <a:rPr kumimoji="1" lang="en-US" altLang="zh-CN" sz="2000" b="1" dirty="0">
                <a:latin typeface="Times New Roman" panose="02020503050405090304" pitchFamily="18" charset="0"/>
                <a:ea typeface="黑体" panose="02010609060101010101" pitchFamily="49" charset="-122"/>
                <a:cs typeface="Arial" panose="020B0604020202090204" pitchFamily="34" charset="0"/>
              </a:rPr>
              <a:t>2</a:t>
            </a:r>
            <a:r>
              <a:rPr kumimoji="1" lang="zh-CN" altLang="en-US" sz="2000" b="1" dirty="0">
                <a:latin typeface="Times New Roman" panose="02020503050405090304" pitchFamily="18" charset="0"/>
                <a:ea typeface="黑体" panose="02010609060101010101" pitchFamily="49" charset="-122"/>
                <a:cs typeface="Arial" panose="020B0604020202090204" pitchFamily="34" charset="0"/>
              </a:rPr>
              <a:t>） </a:t>
            </a:r>
            <a:r>
              <a:rPr kumimoji="1" lang="en-US" altLang="zh-CN" sz="2000" b="1" dirty="0">
                <a:latin typeface="Times New Roman" panose="02020503050405090304" pitchFamily="18" charset="0"/>
                <a:ea typeface="黑体" panose="02010609060101010101" pitchFamily="49" charset="-122"/>
                <a:cs typeface="Arial" panose="020B0604020202090204" pitchFamily="34" charset="0"/>
              </a:rPr>
              <a:t>char *p=“computer”;</a:t>
            </a:r>
            <a:endParaRPr kumimoji="1" lang="en-US" altLang="zh-CN" sz="2000" b="1" dirty="0">
              <a:latin typeface="Times New Roman" panose="02020503050405090304" pitchFamily="18" charset="0"/>
              <a:ea typeface="黑体" panose="02010609060101010101" pitchFamily="49" charset="-122"/>
              <a:cs typeface="Arial" panose="020B0604020202090204" pitchFamily="34" charset="0"/>
            </a:endParaRPr>
          </a:p>
          <a:p>
            <a:r>
              <a:rPr kumimoji="1" lang="en-US" altLang="zh-CN" sz="2000" b="1" dirty="0">
                <a:latin typeface="Times New Roman" panose="02020503050405090304" pitchFamily="18" charset="0"/>
                <a:ea typeface="黑体" panose="02010609060101010101" pitchFamily="49" charset="-122"/>
                <a:cs typeface="Arial" panose="020B0604020202090204" pitchFamily="34" charset="0"/>
              </a:rPr>
              <a:t>          p = “computer”;</a:t>
            </a:r>
            <a:endParaRPr kumimoji="1" lang="en-US" altLang="zh-CN" sz="2000" b="1" dirty="0">
              <a:latin typeface="Times New Roman" panose="02020503050405090304" pitchFamily="18" charset="0"/>
              <a:ea typeface="黑体" panose="02010609060101010101" pitchFamily="49" charset="-122"/>
              <a:cs typeface="Arial" panose="020B0604020202090204" pitchFamily="34" charset="0"/>
            </a:endParaRPr>
          </a:p>
          <a:p>
            <a:r>
              <a:rPr kumimoji="1" lang="zh-CN" altLang="en-US" sz="2000" b="1" dirty="0">
                <a:solidFill>
                  <a:schemeClr val="hlink"/>
                </a:solidFill>
                <a:latin typeface="Times New Roman" panose="02020503050405090304" pitchFamily="18" charset="0"/>
                <a:ea typeface="黑体" panose="02010609060101010101" pitchFamily="49" charset="-122"/>
                <a:cs typeface="Arial" panose="020B0604020202090204" pitchFamily="34" charset="0"/>
              </a:rPr>
              <a:t>以上两种都行。可以整体赋值。</a:t>
            </a:r>
            <a:endParaRPr kumimoji="1" lang="zh-CN" altLang="en-US" sz="2000" b="1" dirty="0">
              <a:solidFill>
                <a:schemeClr val="hlink"/>
              </a:solidFill>
              <a:latin typeface="Times New Roman" panose="02020503050405090304" pitchFamily="18" charset="0"/>
              <a:ea typeface="黑体" panose="02010609060101010101" pitchFamily="49" charset="-122"/>
              <a:cs typeface="Arial" panose="020B0604020202090204" pitchFamily="34" charset="0"/>
            </a:endParaRPr>
          </a:p>
          <a:p>
            <a:endParaRPr kumimoji="1" lang="en-US" altLang="zh-CN" sz="2000" b="1" dirty="0">
              <a:latin typeface="Times New Roman" panose="02020503050405090304" pitchFamily="18" charset="0"/>
              <a:ea typeface="黑体" panose="02010609060101010101" pitchFamily="49" charset="-122"/>
              <a:cs typeface="Arial" panose="020B0604020202090204" pitchFamily="34" charset="0"/>
            </a:endParaRPr>
          </a:p>
          <a:p>
            <a:endParaRPr kumimoji="1" lang="zh-CN" altLang="en-US" sz="2000" b="1" dirty="0">
              <a:latin typeface="Times New Roman" panose="02020503050405090304" pitchFamily="18" charset="0"/>
              <a:ea typeface="黑体" panose="02010609060101010101" pitchFamily="49" charset="-122"/>
              <a:cs typeface="Arial" panose="020B0604020202090204" pitchFamily="34" charset="0"/>
            </a:endParaRPr>
          </a:p>
          <a:p>
            <a:r>
              <a:rPr kumimoji="1" lang="en-US" altLang="zh-CN" sz="2000" b="1" dirty="0">
                <a:latin typeface="Times New Roman" panose="02020503050405090304" pitchFamily="18" charset="0"/>
                <a:ea typeface="黑体" panose="02010609060101010101" pitchFamily="49" charset="-122"/>
                <a:cs typeface="Arial" panose="020B0604020202090204" pitchFamily="34" charset="0"/>
              </a:rPr>
              <a:t>2</a:t>
            </a:r>
            <a:r>
              <a:rPr kumimoji="1" lang="zh-CN" altLang="en-US" sz="2000" b="1" dirty="0">
                <a:latin typeface="Times New Roman" panose="02020503050405090304" pitchFamily="18" charset="0"/>
                <a:ea typeface="黑体" panose="02010609060101010101" pitchFamily="49" charset="-122"/>
                <a:cs typeface="Arial" panose="020B0604020202090204" pitchFamily="34" charset="0"/>
              </a:rPr>
              <a:t>、对字符数组赋初值的写法</a:t>
            </a:r>
            <a:endParaRPr kumimoji="1" lang="zh-CN" altLang="en-US" sz="2000" b="1" dirty="0">
              <a:latin typeface="Times New Roman" panose="02020503050405090304" pitchFamily="18" charset="0"/>
              <a:ea typeface="黑体" panose="02010609060101010101" pitchFamily="49" charset="-122"/>
              <a:cs typeface="Arial" panose="020B0604020202090204" pitchFamily="34" charset="0"/>
            </a:endParaRPr>
          </a:p>
          <a:p>
            <a:r>
              <a:rPr kumimoji="1" lang="zh-CN" altLang="en-US" sz="2000" b="1" dirty="0">
                <a:latin typeface="Times New Roman" panose="02020503050405090304" pitchFamily="18" charset="0"/>
                <a:ea typeface="黑体" panose="02010609060101010101" pitchFamily="49" charset="-122"/>
                <a:cs typeface="Arial" panose="020B0604020202090204" pitchFamily="34" charset="0"/>
              </a:rPr>
              <a:t>（</a:t>
            </a:r>
            <a:r>
              <a:rPr kumimoji="1" lang="en-US" altLang="zh-CN" sz="2000" b="1" dirty="0">
                <a:latin typeface="Times New Roman" panose="02020503050405090304" pitchFamily="18" charset="0"/>
                <a:ea typeface="黑体" panose="02010609060101010101" pitchFamily="49" charset="-122"/>
                <a:cs typeface="Arial" panose="020B0604020202090204" pitchFamily="34" charset="0"/>
              </a:rPr>
              <a:t>1</a:t>
            </a:r>
            <a:r>
              <a:rPr kumimoji="1" lang="zh-CN" altLang="en-US" sz="2000" b="1" dirty="0">
                <a:latin typeface="Times New Roman" panose="02020503050405090304" pitchFamily="18" charset="0"/>
                <a:ea typeface="黑体" panose="02010609060101010101" pitchFamily="49" charset="-122"/>
                <a:cs typeface="Arial" panose="020B0604020202090204" pitchFamily="34" charset="0"/>
              </a:rPr>
              <a:t>）</a:t>
            </a:r>
            <a:r>
              <a:rPr kumimoji="1" lang="en-US" altLang="zh-CN" sz="2000" b="1" dirty="0">
                <a:latin typeface="Times New Roman" panose="02020503050405090304" pitchFamily="18" charset="0"/>
                <a:ea typeface="黑体" panose="02010609060101010101" pitchFamily="49" charset="-122"/>
                <a:cs typeface="Arial" panose="020B0604020202090204" pitchFamily="34" charset="0"/>
              </a:rPr>
              <a:t>char as[12]=“department”;// </a:t>
            </a:r>
            <a:r>
              <a:rPr kumimoji="1" lang="zh-CN" altLang="en-US" sz="2000" b="1" dirty="0">
                <a:latin typeface="Times New Roman" panose="02020503050405090304" pitchFamily="18" charset="0"/>
                <a:ea typeface="黑体" panose="02010609060101010101" pitchFamily="49" charset="-122"/>
                <a:cs typeface="Arial" panose="020B0604020202090204" pitchFamily="34" charset="0"/>
              </a:rPr>
              <a:t>可以。在定义时可以整体赋值</a:t>
            </a:r>
            <a:endParaRPr kumimoji="1" lang="zh-CN" altLang="en-US" sz="2000" b="1" dirty="0">
              <a:latin typeface="Times New Roman" panose="02020503050405090304" pitchFamily="18" charset="0"/>
              <a:ea typeface="黑体" panose="02010609060101010101" pitchFamily="49" charset="-122"/>
              <a:cs typeface="Arial" panose="020B0604020202090204" pitchFamily="34" charset="0"/>
            </a:endParaRPr>
          </a:p>
          <a:p>
            <a:r>
              <a:rPr kumimoji="1" lang="zh-CN" altLang="en-US" sz="2000" b="1" dirty="0">
                <a:latin typeface="Times New Roman" panose="02020503050405090304" pitchFamily="18" charset="0"/>
                <a:ea typeface="黑体" panose="02010609060101010101" pitchFamily="49" charset="-122"/>
                <a:cs typeface="Arial" panose="020B0604020202090204" pitchFamily="34" charset="0"/>
              </a:rPr>
              <a:t>		</a:t>
            </a:r>
            <a:r>
              <a:rPr kumimoji="1" lang="en-US" altLang="zh-CN" sz="2000" b="1" dirty="0">
                <a:latin typeface="Times New Roman" panose="02020503050405090304" pitchFamily="18" charset="0"/>
                <a:ea typeface="黑体" panose="02010609060101010101" pitchFamily="49" charset="-122"/>
                <a:cs typeface="Arial" panose="020B0604020202090204" pitchFamily="34" charset="0"/>
              </a:rPr>
              <a:t>char as[] =“department”;// </a:t>
            </a:r>
            <a:r>
              <a:rPr kumimoji="1" lang="zh-CN" altLang="en-US" sz="2000" b="1" dirty="0">
                <a:latin typeface="Times New Roman" panose="02020503050405090304" pitchFamily="18" charset="0"/>
                <a:ea typeface="黑体" panose="02010609060101010101" pitchFamily="49" charset="-122"/>
                <a:cs typeface="Arial" panose="020B0604020202090204" pitchFamily="34" charset="0"/>
              </a:rPr>
              <a:t>可以。在定义时可以整体赋值</a:t>
            </a:r>
            <a:endParaRPr kumimoji="1" lang="zh-CN" altLang="en-US" sz="2000" b="1" dirty="0">
              <a:latin typeface="Times New Roman" panose="02020503050405090304" pitchFamily="18" charset="0"/>
              <a:ea typeface="黑体" panose="02010609060101010101" pitchFamily="49" charset="-122"/>
              <a:cs typeface="Arial" panose="020B0604020202090204" pitchFamily="34" charset="0"/>
            </a:endParaRPr>
          </a:p>
          <a:p>
            <a:endParaRPr kumimoji="1" lang="zh-CN" altLang="en-US" sz="2000" b="1" dirty="0">
              <a:latin typeface="Times New Roman" panose="02020503050405090304" pitchFamily="18" charset="0"/>
              <a:ea typeface="黑体" panose="02010609060101010101" pitchFamily="49" charset="-122"/>
              <a:cs typeface="Arial" panose="020B0604020202090204" pitchFamily="34" charset="0"/>
            </a:endParaRPr>
          </a:p>
          <a:p>
            <a:r>
              <a:rPr kumimoji="1" lang="zh-CN" altLang="en-US" sz="2000" b="1" dirty="0">
                <a:latin typeface="Times New Roman" panose="02020503050405090304" pitchFamily="18" charset="0"/>
                <a:ea typeface="黑体" panose="02010609060101010101" pitchFamily="49" charset="-122"/>
                <a:cs typeface="Arial" panose="020B0604020202090204" pitchFamily="34" charset="0"/>
              </a:rPr>
              <a:t>（</a:t>
            </a:r>
            <a:r>
              <a:rPr kumimoji="1" lang="en-US" altLang="zh-CN" sz="2000" b="1" dirty="0">
                <a:latin typeface="Times New Roman" panose="02020503050405090304" pitchFamily="18" charset="0"/>
                <a:ea typeface="黑体" panose="02010609060101010101" pitchFamily="49" charset="-122"/>
                <a:cs typeface="Arial" panose="020B0604020202090204" pitchFamily="34" charset="0"/>
              </a:rPr>
              <a:t>2</a:t>
            </a:r>
            <a:r>
              <a:rPr kumimoji="1" lang="zh-CN" altLang="en-US" sz="2000" b="1" dirty="0">
                <a:latin typeface="Times New Roman" panose="02020503050405090304" pitchFamily="18" charset="0"/>
                <a:ea typeface="黑体" panose="02010609060101010101" pitchFamily="49" charset="-122"/>
                <a:cs typeface="Arial" panose="020B0604020202090204" pitchFamily="34" charset="0"/>
              </a:rPr>
              <a:t>）</a:t>
            </a:r>
            <a:r>
              <a:rPr kumimoji="1" lang="en-US" altLang="zh-CN" sz="2000" b="1" dirty="0">
                <a:latin typeface="Times New Roman" panose="02020503050405090304" pitchFamily="18" charset="0"/>
                <a:ea typeface="黑体" panose="02010609060101010101" pitchFamily="49" charset="-122"/>
                <a:cs typeface="Arial" panose="020B0604020202090204" pitchFamily="34" charset="0"/>
              </a:rPr>
              <a:t>char as[12];</a:t>
            </a:r>
            <a:endParaRPr kumimoji="1" lang="en-US" altLang="zh-CN" sz="2000" b="1" dirty="0">
              <a:latin typeface="Times New Roman" panose="02020503050405090304" pitchFamily="18" charset="0"/>
              <a:ea typeface="黑体" panose="02010609060101010101" pitchFamily="49" charset="-122"/>
              <a:cs typeface="Arial" panose="020B0604020202090204" pitchFamily="34" charset="0"/>
            </a:endParaRPr>
          </a:p>
          <a:p>
            <a:r>
              <a:rPr kumimoji="1" lang="en-US" altLang="zh-CN" sz="2000" b="1" dirty="0">
                <a:latin typeface="Times New Roman" panose="02020503050405090304" pitchFamily="18" charset="0"/>
                <a:ea typeface="黑体" panose="02010609060101010101" pitchFamily="49" charset="-122"/>
                <a:cs typeface="Arial" panose="020B0604020202090204" pitchFamily="34" charset="0"/>
              </a:rPr>
              <a:t>		as = “department”;	// </a:t>
            </a:r>
            <a:r>
              <a:rPr kumimoji="1" lang="zh-CN" altLang="en-US" sz="2000" b="1" dirty="0">
                <a:solidFill>
                  <a:schemeClr val="hlink"/>
                </a:solidFill>
                <a:latin typeface="Times New Roman" panose="02020503050405090304" pitchFamily="18" charset="0"/>
                <a:ea typeface="黑体" panose="02010609060101010101" pitchFamily="49" charset="-122"/>
                <a:cs typeface="Arial" panose="020B0604020202090204" pitchFamily="34" charset="0"/>
              </a:rPr>
              <a:t>不可以！不可以整体赋值</a:t>
            </a:r>
            <a:endParaRPr kumimoji="1" lang="zh-CN" altLang="en-US" sz="2000" b="1" dirty="0">
              <a:solidFill>
                <a:schemeClr val="hlink"/>
              </a:solidFill>
              <a:latin typeface="Times New Roman" panose="02020503050405090304" pitchFamily="18" charset="0"/>
              <a:ea typeface="黑体" panose="02010609060101010101" pitchFamily="49" charset="-122"/>
              <a:cs typeface="Arial" panose="020B0604020202090204" pitchFamily="34" charset="0"/>
            </a:endParaRPr>
          </a:p>
          <a:p>
            <a:r>
              <a:rPr kumimoji="1" lang="zh-CN" altLang="en-US" sz="2000" b="1" dirty="0">
                <a:latin typeface="Times New Roman" panose="02020503050405090304" pitchFamily="18" charset="0"/>
                <a:ea typeface="黑体" panose="02010609060101010101" pitchFamily="49" charset="-122"/>
                <a:cs typeface="Arial" panose="020B0604020202090204" pitchFamily="34" charset="0"/>
              </a:rPr>
              <a:t>		</a:t>
            </a:r>
            <a:r>
              <a:rPr kumimoji="1" lang="en-US" altLang="zh-CN" sz="2000" b="1" dirty="0">
                <a:latin typeface="Times New Roman" panose="02020503050405090304" pitchFamily="18" charset="0"/>
                <a:ea typeface="黑体" panose="02010609060101010101" pitchFamily="49" charset="-122"/>
                <a:cs typeface="Arial" panose="020B0604020202090204" pitchFamily="34" charset="0"/>
              </a:rPr>
              <a:t>as[12]=“department”;     //</a:t>
            </a:r>
            <a:r>
              <a:rPr kumimoji="1" lang="zh-CN" altLang="en-US" sz="2000" b="1" dirty="0">
                <a:solidFill>
                  <a:schemeClr val="hlink"/>
                </a:solidFill>
                <a:latin typeface="Times New Roman" panose="02020503050405090304" pitchFamily="18" charset="0"/>
                <a:ea typeface="黑体" panose="02010609060101010101" pitchFamily="49" charset="-122"/>
                <a:cs typeface="Arial" panose="020B0604020202090204" pitchFamily="34" charset="0"/>
              </a:rPr>
              <a:t>不可以！不可以整体赋值</a:t>
            </a:r>
            <a:endParaRPr kumimoji="1" lang="zh-CN" altLang="en-US" sz="2400" b="1" dirty="0">
              <a:solidFill>
                <a:schemeClr val="hlink"/>
              </a:solidFill>
              <a:latin typeface="Times New Roman" panose="02020503050405090304" pitchFamily="18" charset="0"/>
              <a:ea typeface="黑体" panose="02010609060101010101" pitchFamily="49" charset="-122"/>
              <a:cs typeface="Arial" panose="020B0604020202090204" pitchFamily="34" charset="0"/>
            </a:endParaRPr>
          </a:p>
        </p:txBody>
      </p:sp>
      <p:sp>
        <p:nvSpPr>
          <p:cNvPr id="451587" name="Rectangle 3"/>
          <p:cNvSpPr>
            <a:spLocks noGrp="1" noRot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Ctr="0" compatLnSpc="1">
            <a:normAutofit/>
          </a:bodyPr>
          <a:lstStyle/>
          <a:p>
            <a:pPr eaLnBrk="1" hangingPunct="1"/>
            <a:r>
              <a:rPr lang="zh-CN" altLang="en-US" sz="36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对字符指针和字符数组的赋值</a:t>
            </a:r>
            <a:endParaRPr lang="zh-CN" altLang="en-US" sz="36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83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字符数组的赋值</a:t>
            </a:r>
            <a:endParaRPr lang="zh-CN" altLang="en-US" dirty="0"/>
          </a:p>
        </p:txBody>
      </p:sp>
      <p:sp>
        <p:nvSpPr>
          <p:cNvPr id="5048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只能在初始化的时候给字符串整体赋值，</a:t>
            </a:r>
            <a:r>
              <a:rPr lang="zh-CN" altLang="en-US" sz="2800" dirty="0">
                <a:solidFill>
                  <a:schemeClr val="hlink"/>
                </a:solidFill>
              </a:rPr>
              <a:t>其它时候不能整体赋值，只能一个元素一个元素地赋值</a:t>
            </a:r>
            <a:endParaRPr lang="zh-CN" altLang="en-US" sz="2800" dirty="0">
              <a:solidFill>
                <a:schemeClr val="hlink"/>
              </a:solidFill>
            </a:endParaRPr>
          </a:p>
          <a:p>
            <a:endParaRPr lang="zh-CN" altLang="en-US" sz="2800" dirty="0">
              <a:solidFill>
                <a:schemeClr val="hlink"/>
              </a:solidFill>
            </a:endParaRPr>
          </a:p>
        </p:txBody>
      </p:sp>
      <p:sp>
        <p:nvSpPr>
          <p:cNvPr id="504836" name="Text Box 4"/>
          <p:cNvSpPr txBox="1">
            <a:spLocks noChangeArrowheads="1"/>
          </p:cNvSpPr>
          <p:nvPr/>
        </p:nvSpPr>
        <p:spPr bwMode="auto">
          <a:xfrm>
            <a:off x="179388" y="2708275"/>
            <a:ext cx="4392612" cy="3756025"/>
          </a:xfrm>
          <a:prstGeom prst="rect">
            <a:avLst/>
          </a:prstGeom>
          <a:noFill/>
          <a:ln w="12700" cap="sq">
            <a:solidFill>
              <a:srgbClr val="00FFFF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9144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3716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8288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2860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itchFamily="2" charset="-122"/>
                <a:cs typeface="+mn-cs"/>
              </a:rPr>
              <a:t>#include&lt;iostream&gt;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aramond" panose="02020404030301010803" pitchFamily="18" charset="0"/>
              <a:ea typeface="宋体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itchFamily="2" charset="-122"/>
                <a:cs typeface="+mn-cs"/>
              </a:rPr>
              <a:t>using namespace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itchFamily="2" charset="-122"/>
                <a:cs typeface="+mn-cs"/>
              </a:rPr>
              <a:t>std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itchFamily="2" charset="-122"/>
                <a:cs typeface="+mn-cs"/>
              </a:rPr>
              <a:t>;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aramond" panose="02020404030301010803" pitchFamily="18" charset="0"/>
              <a:ea typeface="宋体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aramond" panose="02020404030301010803" pitchFamily="18" charset="0"/>
              <a:ea typeface="宋体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itchFamily="2" charset="-122"/>
                <a:cs typeface="+mn-cs"/>
              </a:rPr>
              <a:t>int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itchFamily="2" charset="-122"/>
                <a:cs typeface="+mn-cs"/>
              </a:rPr>
              <a:t> main( )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aramond" panose="02020404030301010803" pitchFamily="18" charset="0"/>
              <a:ea typeface="宋体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itchFamily="2" charset="-122"/>
                <a:cs typeface="+mn-cs"/>
              </a:rPr>
              <a:t>{    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aramond" panose="02020404030301010803" pitchFamily="18" charset="0"/>
              <a:ea typeface="宋体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itchFamily="2" charset="-122"/>
                <a:cs typeface="+mn-cs"/>
              </a:rPr>
              <a:t>	char h[ ] =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“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itchFamily="2" charset="-122"/>
                <a:cs typeface="+mn-cs"/>
              </a:rPr>
              <a:t>123456789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”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itchFamily="2" charset="-122"/>
                <a:cs typeface="+mn-cs"/>
              </a:rPr>
              <a:t>;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aramond" panose="02020404030301010803" pitchFamily="18" charset="0"/>
              <a:ea typeface="宋体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itchFamily="2" charset="-122"/>
                <a:cs typeface="+mn-cs"/>
              </a:rPr>
              <a:t>	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aramond" panose="02020404030301010803" pitchFamily="18" charset="0"/>
                <a:ea typeface="宋体" pitchFamily="2" charset="-122"/>
                <a:cs typeface="+mn-cs"/>
              </a:rPr>
              <a:t>h = "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aramond" panose="02020404030301010803" pitchFamily="18" charset="0"/>
                <a:ea typeface="宋体" pitchFamily="2" charset="-122"/>
                <a:cs typeface="+mn-cs"/>
              </a:rPr>
              <a:t>ruc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aramond" panose="02020404030301010803" pitchFamily="18" charset="0"/>
                <a:ea typeface="宋体" pitchFamily="2" charset="-122"/>
                <a:cs typeface="+mn-cs"/>
              </a:rPr>
              <a:t>";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Garamond" panose="02020404030301010803" pitchFamily="18" charset="0"/>
              <a:ea typeface="宋体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itchFamily="2" charset="-122"/>
                <a:cs typeface="+mn-cs"/>
              </a:rPr>
              <a:t>	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itchFamily="2" charset="-122"/>
                <a:cs typeface="+mn-cs"/>
              </a:rPr>
              <a:t>cout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itchFamily="2" charset="-122"/>
                <a:cs typeface="+mn-cs"/>
              </a:rPr>
              <a:t> &lt;&lt;h;       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aramond" panose="02020404030301010803" pitchFamily="18" charset="0"/>
              <a:ea typeface="宋体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itchFamily="2" charset="-122"/>
                <a:cs typeface="+mn-cs"/>
              </a:rPr>
              <a:t>       return 0;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aramond" panose="02020404030301010803" pitchFamily="18" charset="0"/>
              <a:ea typeface="宋体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itchFamily="2" charset="-122"/>
                <a:cs typeface="+mn-cs"/>
              </a:rPr>
              <a:t>}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aramond" panose="02020404030301010803" pitchFamily="18" charset="0"/>
              <a:ea typeface="宋体" pitchFamily="2" charset="-122"/>
              <a:cs typeface="+mn-cs"/>
            </a:endParaRPr>
          </a:p>
        </p:txBody>
      </p:sp>
      <p:sp>
        <p:nvSpPr>
          <p:cNvPr id="504837" name="Text Box 5"/>
          <p:cNvSpPr txBox="1">
            <a:spLocks noChangeArrowheads="1"/>
          </p:cNvSpPr>
          <p:nvPr/>
        </p:nvSpPr>
        <p:spPr bwMode="auto">
          <a:xfrm>
            <a:off x="2555875" y="4868863"/>
            <a:ext cx="28797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Garamond" panose="02020404030301010803" pitchFamily="18" charset="0"/>
                <a:ea typeface="宋体" pitchFamily="2" charset="-122"/>
                <a:cs typeface="+mn-cs"/>
              </a:rPr>
              <a:t>出现编译错误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Garamond" panose="02020404030301010803" pitchFamily="18" charset="0"/>
                <a:ea typeface="宋体" pitchFamily="2" charset="-122"/>
                <a:cs typeface="+mn-cs"/>
              </a:rPr>
              <a:t>！</a:t>
            </a: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FFCC00"/>
              </a:solidFill>
              <a:effectLst/>
              <a:uLnTx/>
              <a:uFillTx/>
              <a:latin typeface="Garamond" panose="02020404030301010803" pitchFamily="18" charset="0"/>
              <a:ea typeface="宋体" pitchFamily="2" charset="-122"/>
              <a:cs typeface="+mn-cs"/>
            </a:endParaRPr>
          </a:p>
        </p:txBody>
      </p:sp>
      <p:sp>
        <p:nvSpPr>
          <p:cNvPr id="504838" name="Text Box 6"/>
          <p:cNvSpPr txBox="1">
            <a:spLocks noChangeArrowheads="1"/>
          </p:cNvSpPr>
          <p:nvPr/>
        </p:nvSpPr>
        <p:spPr bwMode="auto">
          <a:xfrm>
            <a:off x="4751388" y="2708275"/>
            <a:ext cx="4392612" cy="3756025"/>
          </a:xfrm>
          <a:prstGeom prst="rect">
            <a:avLst/>
          </a:prstGeom>
          <a:noFill/>
          <a:ln w="12700" cap="sq">
            <a:solidFill>
              <a:srgbClr val="00FFFF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9144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3716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8288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2860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itchFamily="2" charset="-122"/>
                <a:cs typeface="+mn-cs"/>
              </a:rPr>
              <a:t>#include&lt;iostream&gt;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aramond" panose="02020404030301010803" pitchFamily="18" charset="0"/>
              <a:ea typeface="宋体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itchFamily="2" charset="-122"/>
                <a:cs typeface="+mn-cs"/>
              </a:rPr>
              <a:t>using namespace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itchFamily="2" charset="-122"/>
                <a:cs typeface="+mn-cs"/>
              </a:rPr>
              <a:t>std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itchFamily="2" charset="-122"/>
                <a:cs typeface="+mn-cs"/>
              </a:rPr>
              <a:t>;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aramond" panose="02020404030301010803" pitchFamily="18" charset="0"/>
              <a:ea typeface="宋体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aramond" panose="02020404030301010803" pitchFamily="18" charset="0"/>
              <a:ea typeface="宋体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itchFamily="2" charset="-122"/>
                <a:cs typeface="+mn-cs"/>
              </a:rPr>
              <a:t>int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itchFamily="2" charset="-122"/>
                <a:cs typeface="+mn-cs"/>
              </a:rPr>
              <a:t> main( )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aramond" panose="02020404030301010803" pitchFamily="18" charset="0"/>
              <a:ea typeface="宋体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itchFamily="2" charset="-122"/>
                <a:cs typeface="+mn-cs"/>
              </a:rPr>
              <a:t>{    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aramond" panose="02020404030301010803" pitchFamily="18" charset="0"/>
              <a:ea typeface="宋体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itchFamily="2" charset="-122"/>
                <a:cs typeface="+mn-cs"/>
              </a:rPr>
              <a:t>	char h[ ] =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“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itchFamily="2" charset="-122"/>
                <a:cs typeface="+mn-cs"/>
              </a:rPr>
              <a:t>123456789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”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itchFamily="2" charset="-122"/>
                <a:cs typeface="+mn-cs"/>
              </a:rPr>
              <a:t>;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aramond" panose="02020404030301010803" pitchFamily="18" charset="0"/>
              <a:ea typeface="宋体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itchFamily="2" charset="-122"/>
                <a:cs typeface="+mn-cs"/>
              </a:rPr>
              <a:t>	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aramond" panose="02020404030301010803" pitchFamily="18" charset="0"/>
                <a:ea typeface="宋体" pitchFamily="2" charset="-122"/>
                <a:cs typeface="+mn-cs"/>
              </a:rPr>
              <a:t>strcpy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aramond" panose="02020404030301010803" pitchFamily="18" charset="0"/>
                <a:ea typeface="宋体" pitchFamily="2" charset="-122"/>
                <a:cs typeface="+mn-cs"/>
              </a:rPr>
              <a:t>( h,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“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aramond" panose="02020404030301010803" pitchFamily="18" charset="0"/>
                <a:ea typeface="宋体" pitchFamily="2" charset="-122"/>
                <a:cs typeface="+mn-cs"/>
              </a:rPr>
              <a:t>ruc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”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aramond" panose="02020404030301010803" pitchFamily="18" charset="0"/>
                <a:ea typeface="宋体" pitchFamily="2" charset="-122"/>
                <a:cs typeface="+mn-cs"/>
              </a:rPr>
              <a:t>);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Garamond" panose="02020404030301010803" pitchFamily="18" charset="0"/>
              <a:ea typeface="宋体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itchFamily="2" charset="-122"/>
                <a:cs typeface="+mn-cs"/>
              </a:rPr>
              <a:t>	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itchFamily="2" charset="-122"/>
                <a:cs typeface="+mn-cs"/>
              </a:rPr>
              <a:t>cout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itchFamily="2" charset="-122"/>
                <a:cs typeface="+mn-cs"/>
              </a:rPr>
              <a:t> &lt;&lt;h;       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aramond" panose="02020404030301010803" pitchFamily="18" charset="0"/>
              <a:ea typeface="宋体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itchFamily="2" charset="-122"/>
                <a:cs typeface="+mn-cs"/>
              </a:rPr>
              <a:t>       return 0;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aramond" panose="02020404030301010803" pitchFamily="18" charset="0"/>
              <a:ea typeface="宋体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itchFamily="2" charset="-122"/>
                <a:cs typeface="+mn-cs"/>
              </a:rPr>
              <a:t>}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aramond" panose="02020404030301010803" pitchFamily="18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04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504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4837" grpId="0"/>
      <p:bldP spid="504838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Ctr="0" compatLnSpc="1"/>
          <a:lstStyle/>
          <a:p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字符串处理函数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  <a:ea typeface="华文中宋" panose="02010600040101010101" pitchFamily="2" charset="-122"/>
            </a:endParaRPr>
          </a:p>
        </p:txBody>
      </p:sp>
      <p:sp>
        <p:nvSpPr>
          <p:cNvPr id="3277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C</a:t>
            </a:r>
            <a:r>
              <a:rPr lang="zh-CN" altLang="en-US" dirty="0"/>
              <a:t>的库函数提供一组字符串处理函数</a:t>
            </a:r>
            <a:endParaRPr lang="en-US" altLang="zh-CN" dirty="0"/>
          </a:p>
          <a:p>
            <a:r>
              <a:rPr lang="zh-CN" altLang="en-US" dirty="0"/>
              <a:t>头文件：</a:t>
            </a:r>
            <a:r>
              <a:rPr lang="en-US" altLang="zh-CN" dirty="0" err="1">
                <a:solidFill>
                  <a:srgbClr val="FF0000"/>
                </a:solidFill>
              </a:rPr>
              <a:t>string.h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/>
              <a:t>常用的字符串操作函数</a:t>
            </a:r>
            <a:endParaRPr lang="en-US" altLang="zh-CN" dirty="0"/>
          </a:p>
          <a:p>
            <a:pPr lvl="1"/>
            <a:r>
              <a:rPr lang="zh-CN" altLang="en-US" dirty="0"/>
              <a:t>字符串长度：</a:t>
            </a:r>
            <a:r>
              <a:rPr lang="en-US" altLang="en-US" dirty="0" err="1">
                <a:ea typeface="华文中宋" panose="02010600040101010101" pitchFamily="2" charset="-122"/>
              </a:rPr>
              <a:t>strlen</a:t>
            </a:r>
            <a:r>
              <a:rPr lang="en-US" altLang="en-US" dirty="0">
                <a:ea typeface="华文中宋" panose="02010600040101010101" pitchFamily="2" charset="-122"/>
              </a:rPr>
              <a:t>() </a:t>
            </a:r>
            <a:endParaRPr lang="en-US" altLang="zh-CN" dirty="0"/>
          </a:p>
          <a:p>
            <a:pPr lvl="1"/>
            <a:r>
              <a:rPr lang="zh-CN" altLang="en-US" dirty="0"/>
              <a:t>字符串连接：</a:t>
            </a:r>
            <a:r>
              <a:rPr lang="en-US" altLang="en-US" dirty="0" err="1">
                <a:ea typeface="华文中宋" panose="02010600040101010101" pitchFamily="2" charset="-122"/>
              </a:rPr>
              <a:t>strcat</a:t>
            </a:r>
            <a:r>
              <a:rPr lang="en-US" altLang="en-US" dirty="0">
                <a:ea typeface="华文中宋" panose="02010600040101010101" pitchFamily="2" charset="-122"/>
              </a:rPr>
              <a:t>(), </a:t>
            </a:r>
            <a:r>
              <a:rPr lang="en-US" altLang="en-US" dirty="0" err="1">
                <a:ea typeface="华文中宋" panose="02010600040101010101" pitchFamily="2" charset="-122"/>
              </a:rPr>
              <a:t>strncat</a:t>
            </a:r>
            <a:r>
              <a:rPr lang="en-US" altLang="en-US" dirty="0">
                <a:ea typeface="华文中宋" panose="02010600040101010101" pitchFamily="2" charset="-122"/>
              </a:rPr>
              <a:t>() </a:t>
            </a:r>
            <a:endParaRPr lang="en-US" altLang="zh-CN" dirty="0"/>
          </a:p>
          <a:p>
            <a:pPr lvl="1"/>
            <a:r>
              <a:rPr lang="zh-CN" altLang="en-US" dirty="0"/>
              <a:t>字符串比较：</a:t>
            </a:r>
            <a:r>
              <a:rPr lang="en-US" altLang="en-US" dirty="0" err="1">
                <a:ea typeface="华文中宋" panose="02010600040101010101" pitchFamily="2" charset="-122"/>
              </a:rPr>
              <a:t>strcmp</a:t>
            </a:r>
            <a:r>
              <a:rPr lang="en-US" altLang="en-US" dirty="0">
                <a:ea typeface="华文中宋" panose="02010600040101010101" pitchFamily="2" charset="-122"/>
              </a:rPr>
              <a:t>(), </a:t>
            </a:r>
            <a:r>
              <a:rPr lang="en-US" altLang="en-US" dirty="0" err="1">
                <a:ea typeface="华文中宋" panose="02010600040101010101" pitchFamily="2" charset="-122"/>
              </a:rPr>
              <a:t>strncmp</a:t>
            </a:r>
            <a:r>
              <a:rPr lang="en-US" altLang="en-US" dirty="0">
                <a:ea typeface="华文中宋" panose="02010600040101010101" pitchFamily="2" charset="-122"/>
              </a:rPr>
              <a:t>() </a:t>
            </a:r>
            <a:endParaRPr lang="en-US" altLang="zh-CN" dirty="0"/>
          </a:p>
          <a:p>
            <a:pPr lvl="1"/>
            <a:r>
              <a:rPr lang="zh-CN" altLang="en-US" dirty="0"/>
              <a:t>字符串拷贝：</a:t>
            </a:r>
            <a:r>
              <a:rPr lang="en-US" altLang="en-US" dirty="0">
                <a:ea typeface="华文中宋" panose="02010600040101010101" pitchFamily="2" charset="-122"/>
              </a:rPr>
              <a:t> </a:t>
            </a:r>
            <a:r>
              <a:rPr lang="en-US" altLang="en-US" dirty="0" err="1">
                <a:ea typeface="华文中宋" panose="02010600040101010101" pitchFamily="2" charset="-122"/>
              </a:rPr>
              <a:t>strcpy</a:t>
            </a:r>
            <a:r>
              <a:rPr lang="en-US" altLang="en-US" dirty="0">
                <a:ea typeface="华文中宋" panose="02010600040101010101" pitchFamily="2" charset="-122"/>
              </a:rPr>
              <a:t>(), </a:t>
            </a:r>
            <a:r>
              <a:rPr lang="en-US" altLang="en-US" dirty="0" err="1">
                <a:ea typeface="华文中宋" panose="02010600040101010101" pitchFamily="2" charset="-122"/>
              </a:rPr>
              <a:t>strncpy</a:t>
            </a:r>
            <a:r>
              <a:rPr lang="en-US" altLang="en-US" dirty="0">
                <a:ea typeface="华文中宋" panose="02010600040101010101" pitchFamily="2" charset="-122"/>
              </a:rPr>
              <a:t>() </a:t>
            </a:r>
            <a:endParaRPr lang="en-US" altLang="en-US" dirty="0">
              <a:ea typeface="华文中宋" panose="02010600040101010101" pitchFamily="2" charset="-122"/>
            </a:endParaRPr>
          </a:p>
          <a:p>
            <a:pPr lvl="1"/>
            <a:endParaRPr lang="en-US" altLang="en-US" dirty="0">
              <a:ea typeface="华文中宋" panose="02010600040101010101" pitchFamily="2" charset="-122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85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字符复制函数</a:t>
            </a:r>
            <a:r>
              <a:rPr lang="en-US" altLang="zh-CN" dirty="0" err="1"/>
              <a:t>strcpy</a:t>
            </a:r>
            <a:endParaRPr lang="zh-CN" altLang="en-US" dirty="0"/>
          </a:p>
        </p:txBody>
      </p:sp>
      <p:sp>
        <p:nvSpPr>
          <p:cNvPr id="5058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CN" altLang="en-US" dirty="0"/>
              <a:t>考虑以下</a:t>
            </a:r>
            <a:r>
              <a:rPr lang="zh-CN" altLang="en-US" dirty="0">
                <a:solidFill>
                  <a:srgbClr val="FF0000"/>
                </a:solidFill>
              </a:rPr>
              <a:t>字符串赋值</a:t>
            </a:r>
            <a:r>
              <a:rPr lang="zh-CN" altLang="en-US" dirty="0"/>
              <a:t>问题</a:t>
            </a:r>
            <a:endParaRPr lang="en-US" altLang="zh-CN" dirty="0"/>
          </a:p>
          <a:p>
            <a:pPr lvl="1"/>
            <a:r>
              <a:rPr lang="zh-CN" altLang="en-US" dirty="0"/>
              <a:t>将指针</a:t>
            </a:r>
            <a:r>
              <a:rPr lang="en-US" altLang="zh-CN" dirty="0"/>
              <a:t>pts1</a:t>
            </a:r>
            <a:r>
              <a:rPr lang="zh-CN" altLang="en-US" dirty="0"/>
              <a:t>指向的字符串拷贝到</a:t>
            </a:r>
            <a:r>
              <a:rPr lang="en-US" altLang="zh-CN" dirty="0"/>
              <a:t>pts2</a:t>
            </a:r>
            <a:r>
              <a:rPr lang="zh-CN" altLang="en-US" dirty="0"/>
              <a:t>上</a:t>
            </a:r>
            <a:endParaRPr lang="en-US" altLang="zh-CN" dirty="0"/>
          </a:p>
          <a:p>
            <a:r>
              <a:rPr lang="zh-CN" altLang="en-US" dirty="0"/>
              <a:t>实现方法</a:t>
            </a:r>
            <a:r>
              <a:rPr lang="en-US" altLang="zh-CN" dirty="0"/>
              <a:t>1</a:t>
            </a:r>
            <a:r>
              <a:rPr lang="zh-CN" altLang="en-US" dirty="0"/>
              <a:t>：</a:t>
            </a:r>
            <a:endParaRPr lang="en-US" altLang="zh-CN" dirty="0"/>
          </a:p>
          <a:p>
            <a:endParaRPr lang="en-US" altLang="en-US" dirty="0">
              <a:ea typeface="华文中宋" panose="02010600040101010101" pitchFamily="2" charset="-122"/>
            </a:endParaRPr>
          </a:p>
          <a:p>
            <a:pPr lvl="1"/>
            <a:r>
              <a:rPr lang="zh-CN" altLang="en-US" dirty="0"/>
              <a:t>只实现了地址的拷贝</a:t>
            </a:r>
            <a:endParaRPr lang="en-US" altLang="zh-CN" dirty="0"/>
          </a:p>
          <a:p>
            <a:pPr lvl="1"/>
            <a:r>
              <a:rPr lang="zh-CN" altLang="en-US" dirty="0"/>
              <a:t>没有实现字符串内容的拷贝</a:t>
            </a:r>
            <a:endParaRPr lang="en-US" altLang="zh-CN" dirty="0"/>
          </a:p>
          <a:p>
            <a:r>
              <a:rPr lang="zh-CN" altLang="en-US" dirty="0"/>
              <a:t>函数</a:t>
            </a:r>
            <a:r>
              <a:rPr lang="en-US" altLang="zh-CN" dirty="0" err="1"/>
              <a:t>strcpy</a:t>
            </a:r>
            <a:endParaRPr lang="en-US" altLang="zh-CN" dirty="0"/>
          </a:p>
          <a:p>
            <a:pPr lvl="1"/>
            <a:r>
              <a:rPr lang="en-US" altLang="zh-CN" dirty="0"/>
              <a:t>char * </a:t>
            </a:r>
            <a:r>
              <a:rPr lang="en-US" altLang="zh-CN" dirty="0" err="1"/>
              <a:t>strcpy</a:t>
            </a:r>
            <a:r>
              <a:rPr lang="en-US" altLang="zh-CN" dirty="0"/>
              <a:t> ( char * </a:t>
            </a:r>
            <a:r>
              <a:rPr lang="en-US" altLang="zh-CN" dirty="0" err="1"/>
              <a:t>dest</a:t>
            </a:r>
            <a:r>
              <a:rPr lang="en-US" altLang="zh-CN" dirty="0"/>
              <a:t>, const char * </a:t>
            </a:r>
            <a:r>
              <a:rPr lang="en-US" altLang="zh-CN" dirty="0" err="1"/>
              <a:t>src</a:t>
            </a:r>
            <a:r>
              <a:rPr lang="en-US" altLang="zh-CN" dirty="0"/>
              <a:t> ); </a:t>
            </a:r>
            <a:endParaRPr lang="en-US" altLang="zh-CN" dirty="0"/>
          </a:p>
          <a:p>
            <a:pPr lvl="1"/>
            <a:r>
              <a:rPr lang="zh-CN" altLang="en-US" dirty="0"/>
              <a:t>输入：两个字符串</a:t>
            </a:r>
            <a:r>
              <a:rPr lang="en-US" altLang="zh-CN" dirty="0"/>
              <a:t>str1</a:t>
            </a:r>
            <a:r>
              <a:rPr lang="zh-CN" altLang="en-US" dirty="0"/>
              <a:t>和</a:t>
            </a:r>
            <a:r>
              <a:rPr lang="en-US" altLang="zh-CN" dirty="0"/>
              <a:t>str2</a:t>
            </a:r>
            <a:endParaRPr lang="en-US" altLang="zh-CN" dirty="0"/>
          </a:p>
          <a:p>
            <a:pPr lvl="1"/>
            <a:r>
              <a:rPr lang="zh-CN" altLang="en-US" dirty="0"/>
              <a:t>输出：将</a:t>
            </a:r>
            <a:r>
              <a:rPr lang="en-US" altLang="zh-CN" dirty="0"/>
              <a:t>str2</a:t>
            </a:r>
            <a:r>
              <a:rPr lang="zh-CN" altLang="en-US" dirty="0"/>
              <a:t>拷贝到</a:t>
            </a:r>
            <a:r>
              <a:rPr lang="en-US" altLang="zh-CN" dirty="0"/>
              <a:t>str1</a:t>
            </a:r>
            <a:r>
              <a:rPr lang="zh-CN" altLang="en-US" dirty="0"/>
              <a:t>起始的位置上</a:t>
            </a:r>
            <a:endParaRPr lang="en-US" altLang="zh-CN" dirty="0"/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2346268" y="2384785"/>
            <a:ext cx="25812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  <a:cs typeface="+mn-cs"/>
              </a:defRPr>
            </a:lvl9pPr>
          </a:lstStyle>
          <a:p>
            <a:r>
              <a:rPr lang="en-US" altLang="en-US" sz="2400" dirty="0">
                <a:solidFill>
                  <a:srgbClr val="770028"/>
                </a:solidFill>
                <a:latin typeface="CourierNewPSMT" panose="02070409020205090404"/>
              </a:rPr>
              <a:t>pts2 = pts1; </a:t>
            </a:r>
            <a:endParaRPr lang="en-US" altLang="en-US" sz="24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其他字符串处理库函数（课后了解）</a:t>
            </a:r>
            <a:endParaRPr lang="en-US" dirty="0"/>
          </a:p>
        </p:txBody>
      </p:sp>
      <p:sp>
        <p:nvSpPr>
          <p:cNvPr id="52226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举例：匹配函数</a:t>
            </a:r>
            <a:r>
              <a:rPr lang="en-US" altLang="zh-CN" dirty="0" err="1"/>
              <a:t>strstr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sz="2800" dirty="0"/>
              <a:t>返回</a:t>
            </a:r>
            <a:r>
              <a:rPr lang="en-US" altLang="zh-CN" sz="2800" dirty="0" err="1"/>
              <a:t>substr</a:t>
            </a:r>
            <a:r>
              <a:rPr lang="zh-CN" altLang="en-US" sz="2800" dirty="0">
                <a:solidFill>
                  <a:srgbClr val="FF0000"/>
                </a:solidFill>
              </a:rPr>
              <a:t>第一次</a:t>
            </a:r>
            <a:r>
              <a:rPr lang="zh-CN" altLang="en-US" sz="2800" dirty="0"/>
              <a:t>出现在</a:t>
            </a:r>
            <a:r>
              <a:rPr lang="en-US" altLang="zh-CN" sz="2800" dirty="0"/>
              <a:t>str</a:t>
            </a:r>
            <a:r>
              <a:rPr lang="zh-CN" altLang="en-US" sz="2800" dirty="0"/>
              <a:t>中的指针；如果</a:t>
            </a:r>
            <a:r>
              <a:rPr lang="en-US" altLang="zh-CN" sz="2800" dirty="0" err="1"/>
              <a:t>substr</a:t>
            </a:r>
            <a:r>
              <a:rPr lang="zh-CN" altLang="en-US" sz="2800" dirty="0"/>
              <a:t>从未出现在</a:t>
            </a:r>
            <a:r>
              <a:rPr lang="en-US" altLang="zh-CN" sz="2800" dirty="0"/>
              <a:t>str</a:t>
            </a:r>
            <a:r>
              <a:rPr lang="zh-CN" altLang="en-US" sz="2800" dirty="0"/>
              <a:t>中，返回</a:t>
            </a:r>
            <a:r>
              <a:rPr lang="en-US" altLang="zh-CN" sz="2800" dirty="0"/>
              <a:t>NULL</a:t>
            </a:r>
            <a:endParaRPr lang="en-US" altLang="en-US" sz="2800" dirty="0">
              <a:ea typeface="华文中宋" panose="02010600040101010101" pitchFamily="2" charset="-122"/>
            </a:endParaRPr>
          </a:p>
        </p:txBody>
      </p:sp>
      <p:sp>
        <p:nvSpPr>
          <p:cNvPr id="52229" name="Rectangle 6"/>
          <p:cNvSpPr>
            <a:spLocks noChangeArrowheads="1"/>
          </p:cNvSpPr>
          <p:nvPr/>
        </p:nvSpPr>
        <p:spPr bwMode="auto">
          <a:xfrm>
            <a:off x="884237" y="1830989"/>
            <a:ext cx="66246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r>
              <a:rPr lang="en-US" altLang="en-US" sz="2000" dirty="0">
                <a:solidFill>
                  <a:srgbClr val="FF0000"/>
                </a:solidFill>
              </a:rPr>
              <a:t>const char * </a:t>
            </a:r>
            <a:r>
              <a:rPr lang="en-US" altLang="en-US" sz="2000" dirty="0" err="1">
                <a:solidFill>
                  <a:srgbClr val="FF0000"/>
                </a:solidFill>
              </a:rPr>
              <a:t>strstr</a:t>
            </a:r>
            <a:r>
              <a:rPr lang="en-US" altLang="en-US" sz="2000" dirty="0">
                <a:solidFill>
                  <a:srgbClr val="FF0000"/>
                </a:solidFill>
              </a:rPr>
              <a:t> ( const char * str, const char * </a:t>
            </a:r>
            <a:r>
              <a:rPr lang="en-US" altLang="zh-CN" sz="2000" dirty="0" err="1">
                <a:solidFill>
                  <a:srgbClr val="FF0000"/>
                </a:solidFill>
              </a:rPr>
              <a:t>sub</a:t>
            </a:r>
            <a:r>
              <a:rPr lang="en-US" altLang="en-US" sz="2000" dirty="0" err="1">
                <a:solidFill>
                  <a:srgbClr val="FF0000"/>
                </a:solidFill>
              </a:rPr>
              <a:t>str</a:t>
            </a:r>
            <a:r>
              <a:rPr lang="en-US" altLang="en-US" sz="2000" dirty="0">
                <a:solidFill>
                  <a:srgbClr val="FF0000"/>
                </a:solidFill>
              </a:rPr>
              <a:t> );</a:t>
            </a:r>
            <a:endParaRPr lang="en-US" altLang="en-US" sz="2000" dirty="0">
              <a:solidFill>
                <a:srgbClr val="FF0000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80"/>
          <a:stretch>
            <a:fillRect/>
          </a:stretch>
        </p:blipFill>
        <p:spPr bwMode="auto">
          <a:xfrm>
            <a:off x="628874" y="3311525"/>
            <a:ext cx="4416425" cy="2740025"/>
          </a:xfrm>
          <a:prstGeom prst="rect">
            <a:avLst/>
          </a:prstGeom>
          <a:noFill/>
          <a:ln>
            <a:noFill/>
          </a:ln>
          <a:effectLst>
            <a:outerShdw blurRad="190500" algn="tl" rotWithShape="0">
              <a:srgbClr val="80808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Content Placeholder 4"/>
          <p:cNvSpPr txBox="1"/>
          <p:nvPr/>
        </p:nvSpPr>
        <p:spPr bwMode="auto">
          <a:xfrm>
            <a:off x="6084888" y="2784475"/>
            <a:ext cx="2849562" cy="3668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65125" indent="-282575"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华文中宋" panose="02010600040101010101" pitchFamily="2" charset="-122"/>
              </a:defRPr>
            </a:lvl1pPr>
            <a:lvl2pPr marL="640080" indent="-236855">
              <a:spcBef>
                <a:spcPts val="550"/>
              </a:spcBef>
              <a:buClr>
                <a:schemeClr val="accent1"/>
              </a:buClr>
              <a:buFont typeface="Verdana" panose="020B0804030504040204" pitchFamily="34" charset="0"/>
              <a:buChar char="◦"/>
              <a:defRPr sz="2800">
                <a:solidFill>
                  <a:srgbClr val="0000CC"/>
                </a:solidFill>
                <a:latin typeface="Gill Sans MT" panose="020B0502020104020203" pitchFamily="34" charset="0"/>
                <a:ea typeface="华文中宋" panose="02010600040101010101" pitchFamily="2" charset="-122"/>
              </a:defRPr>
            </a:lvl2pPr>
            <a:lvl3pPr marL="885825" indent="-22860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华文中宋" panose="02010600040101010101" pitchFamily="2" charset="-122"/>
              </a:defRPr>
            </a:lvl3pPr>
            <a:lvl4pPr marL="1097280" indent="-173355">
              <a:spcBef>
                <a:spcPct val="20000"/>
              </a:spcBef>
              <a:buClr>
                <a:srgbClr val="9BBB59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华文中宋" panose="02010600040101010101" pitchFamily="2" charset="-122"/>
              </a:defRPr>
            </a:lvl4pPr>
            <a:lvl5pPr marL="1297305" indent="-182880">
              <a:spcBef>
                <a:spcPct val="20000"/>
              </a:spcBef>
              <a:buClr>
                <a:srgbClr val="8064A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华文中宋" panose="02010600040101010101" pitchFamily="2" charset="-122"/>
              </a:defRPr>
            </a:lvl5pPr>
            <a:lvl6pPr marL="17545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华文中宋" panose="02010600040101010101" pitchFamily="2" charset="-122"/>
              </a:defRPr>
            </a:lvl6pPr>
            <a:lvl7pPr marL="22117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华文中宋" panose="02010600040101010101" pitchFamily="2" charset="-122"/>
              </a:defRPr>
            </a:lvl7pPr>
            <a:lvl8pPr marL="26689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华文中宋" panose="02010600040101010101" pitchFamily="2" charset="-122"/>
              </a:defRPr>
            </a:lvl8pPr>
            <a:lvl9pPr marL="31261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华文中宋" panose="02010600040101010101" pitchFamily="2" charset="-122"/>
              </a:defRPr>
            </a:lvl9pPr>
          </a:lstStyle>
          <a:p>
            <a:endParaRPr lang="en-US" altLang="zh-CN"/>
          </a:p>
          <a:p>
            <a:r>
              <a:rPr lang="zh-CN" altLang="en-US" sz="2000"/>
              <a:t>老师没讲过怎么办？</a:t>
            </a:r>
            <a:endParaRPr lang="en-US" altLang="en-US" sz="2000">
              <a:ea typeface="宋体" pitchFamily="2" charset="-122"/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6162675" y="3851275"/>
            <a:ext cx="28400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r>
              <a:rPr lang="en-US" altLang="en-US">
                <a:solidFill>
                  <a:srgbClr val="FF0000"/>
                </a:solidFill>
              </a:rPr>
              <a:t>http://www.cplusplus.com/</a:t>
            </a:r>
            <a:endParaRPr lang="en-US" altLang="en-US">
              <a:solidFill>
                <a:srgbClr val="FF0000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3288" y="4581525"/>
            <a:ext cx="3051175" cy="147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Line Callout 1 5"/>
          <p:cNvSpPr/>
          <p:nvPr/>
        </p:nvSpPr>
        <p:spPr>
          <a:xfrm>
            <a:off x="6162675" y="1225005"/>
            <a:ext cx="2626218" cy="683693"/>
          </a:xfrm>
          <a:prstGeom prst="borderCallout1">
            <a:avLst>
              <a:gd name="adj1" fmla="val 48634"/>
              <a:gd name="adj2" fmla="val -22"/>
              <a:gd name="adj3" fmla="val 114774"/>
              <a:gd name="adj4" fmla="val -33188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algn="ctr"/>
            <a:r>
              <a:rPr lang="zh-CN" altLang="en-US">
                <a:solidFill>
                  <a:srgbClr val="FFFFFF"/>
                </a:solidFill>
                <a:latin typeface="Gill Sans MT" panose="020B0502020104020203" pitchFamily="34" charset="0"/>
                <a:ea typeface="华文中宋" panose="02010600040101010101" pitchFamily="2" charset="-122"/>
              </a:rPr>
              <a:t>使用</a:t>
            </a:r>
            <a:r>
              <a:rPr lang="en-US" altLang="zh-CN" dirty="0">
                <a:solidFill>
                  <a:srgbClr val="FFFFFF"/>
                </a:solidFill>
                <a:latin typeface="Gill Sans MT" panose="020B0502020104020203" pitchFamily="34" charset="0"/>
                <a:ea typeface="华文中宋" panose="02010600040101010101" pitchFamily="2" charset="-122"/>
              </a:rPr>
              <a:t>const</a:t>
            </a:r>
            <a:r>
              <a:rPr lang="zh-CN" altLang="en-US" dirty="0">
                <a:solidFill>
                  <a:srgbClr val="FFFFFF"/>
                </a:solidFill>
                <a:latin typeface="Gill Sans MT" panose="020B0502020104020203" pitchFamily="34" charset="0"/>
                <a:ea typeface="华文中宋" panose="02010600040101010101" pitchFamily="2" charset="-122"/>
              </a:rPr>
              <a:t>是良好的习惯，避免字符串被意外修改！</a:t>
            </a:r>
            <a:endParaRPr lang="en-US" altLang="en-US" dirty="0">
              <a:solidFill>
                <a:srgbClr val="FFFFFF"/>
              </a:solidFill>
              <a:latin typeface="Gill Sans MT" panose="020B0502020104020203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226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字符串的</a:t>
            </a:r>
            <a:r>
              <a:rPr lang="en-US" altLang="zh-CN" dirty="0"/>
              <a:t>3</a:t>
            </a:r>
            <a:r>
              <a:rPr lang="zh-CN" altLang="en-US" dirty="0"/>
              <a:t>种操作</a:t>
            </a:r>
            <a:endParaRPr lang="zh-CN" altLang="en-US" dirty="0"/>
          </a:p>
        </p:txBody>
      </p:sp>
      <p:sp>
        <p:nvSpPr>
          <p:cNvPr id="5642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字符串处理中的常用操作</a:t>
            </a:r>
            <a:endParaRPr lang="zh-CN" altLang="en-US" dirty="0"/>
          </a:p>
          <a:p>
            <a:pPr lvl="1"/>
            <a:r>
              <a:rPr lang="zh-CN" altLang="en-US" dirty="0">
                <a:solidFill>
                  <a:srgbClr val="C00000"/>
                </a:solidFill>
              </a:rPr>
              <a:t>取子串</a:t>
            </a:r>
            <a:r>
              <a:rPr lang="zh-CN" altLang="en-US" dirty="0"/>
              <a:t>：输入字符串、子串的起始位置、长度，输出子串内容</a:t>
            </a:r>
            <a:endParaRPr lang="zh-CN" altLang="en-US" dirty="0"/>
          </a:p>
          <a:p>
            <a:pPr lvl="1"/>
            <a:r>
              <a:rPr lang="zh-CN" altLang="en-US" dirty="0">
                <a:solidFill>
                  <a:srgbClr val="C00000"/>
                </a:solidFill>
              </a:rPr>
              <a:t>插入子串</a:t>
            </a:r>
            <a:r>
              <a:rPr lang="zh-CN" altLang="en-US" dirty="0"/>
              <a:t>：输入待插入字符串、目标字符串、制定位置，将待插入字符串插到目标串的制定位置前，并输出插入后的目标串</a:t>
            </a:r>
            <a:endParaRPr lang="zh-CN" altLang="en-US" dirty="0"/>
          </a:p>
          <a:p>
            <a:pPr lvl="1"/>
            <a:r>
              <a:rPr lang="zh-CN" altLang="en-US" dirty="0">
                <a:solidFill>
                  <a:srgbClr val="C00000"/>
                </a:solidFill>
              </a:rPr>
              <a:t>删除子串</a:t>
            </a:r>
            <a:r>
              <a:rPr lang="zh-CN" altLang="en-US" dirty="0"/>
              <a:t>：输入字符串、待删除子串的起始位置和长度，从字符串中删除子串，并输出删除后的字符串</a:t>
            </a:r>
            <a:endParaRPr lang="zh-CN" altLang="en-US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25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解题思路</a:t>
            </a:r>
            <a:endParaRPr lang="zh-CN" altLang="en-US"/>
          </a:p>
        </p:txBody>
      </p:sp>
      <p:sp>
        <p:nvSpPr>
          <p:cNvPr id="56525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取子串</a:t>
            </a:r>
            <a:endParaRPr lang="zh-CN" altLang="en-US"/>
          </a:p>
          <a:p>
            <a:pPr lvl="1"/>
            <a:r>
              <a:rPr lang="zh-CN" altLang="en-US"/>
              <a:t>原字符串</a:t>
            </a:r>
            <a:r>
              <a:rPr lang="en-US" altLang="zh-CN"/>
              <a:t>a, </a:t>
            </a:r>
            <a:r>
              <a:rPr lang="zh-CN" altLang="en-US"/>
              <a:t>子串的起始位置</a:t>
            </a:r>
            <a:r>
              <a:rPr lang="en-US" altLang="zh-CN"/>
              <a:t>start</a:t>
            </a:r>
            <a:r>
              <a:rPr lang="zh-CN" altLang="en-US"/>
              <a:t>，子串的长度</a:t>
            </a:r>
            <a:r>
              <a:rPr lang="en-US" altLang="zh-CN"/>
              <a:t>len</a:t>
            </a:r>
            <a:endParaRPr lang="en-US" altLang="zh-CN"/>
          </a:p>
          <a:p>
            <a:pPr lvl="1"/>
            <a:r>
              <a:rPr lang="zh-CN" altLang="en-US"/>
              <a:t>字符串</a:t>
            </a:r>
            <a:r>
              <a:rPr lang="en-US" altLang="zh-CN"/>
              <a:t>ans</a:t>
            </a:r>
            <a:r>
              <a:rPr lang="zh-CN" altLang="en-US"/>
              <a:t>表示所求的子串</a:t>
            </a:r>
            <a:endParaRPr lang="zh-CN" altLang="en-US"/>
          </a:p>
          <a:p>
            <a:pPr lvl="1"/>
            <a:endParaRPr lang="zh-CN" altLang="en-US"/>
          </a:p>
          <a:p>
            <a:pPr lvl="1"/>
            <a:r>
              <a:rPr lang="zh-CN" altLang="en-US"/>
              <a:t>循环变量</a:t>
            </a:r>
            <a:r>
              <a:rPr lang="en-US" altLang="zh-CN"/>
              <a:t>i</a:t>
            </a:r>
            <a:r>
              <a:rPr lang="zh-CN" altLang="en-US"/>
              <a:t>表示当前复制的字符，让</a:t>
            </a:r>
            <a:r>
              <a:rPr lang="en-US" altLang="zh-CN"/>
              <a:t>i</a:t>
            </a:r>
            <a:r>
              <a:rPr lang="zh-CN" altLang="en-US"/>
              <a:t>从</a:t>
            </a:r>
            <a:r>
              <a:rPr lang="en-US" altLang="zh-CN"/>
              <a:t>start</a:t>
            </a:r>
            <a:r>
              <a:rPr lang="zh-CN" altLang="en-US"/>
              <a:t>循环到</a:t>
            </a:r>
            <a:r>
              <a:rPr lang="en-US" altLang="zh-CN"/>
              <a:t>start+len-1</a:t>
            </a:r>
            <a:r>
              <a:rPr lang="zh-CN" altLang="en-US"/>
              <a:t>，把</a:t>
            </a:r>
            <a:r>
              <a:rPr lang="en-US" altLang="zh-CN"/>
              <a:t>a[i]</a:t>
            </a:r>
            <a:r>
              <a:rPr lang="zh-CN" altLang="en-US"/>
              <a:t>复制到</a:t>
            </a:r>
            <a:r>
              <a:rPr lang="en-US" altLang="zh-CN"/>
              <a:t>ans[i-start]</a:t>
            </a:r>
            <a:r>
              <a:rPr lang="zh-CN" altLang="en-US"/>
              <a:t>的位置上</a:t>
            </a:r>
            <a:endParaRPr lang="zh-CN" altLang="en-US"/>
          </a:p>
          <a:p>
            <a:pPr lvl="1"/>
            <a:r>
              <a:rPr lang="en-US" altLang="zh-CN"/>
              <a:t>ans[len]=</a:t>
            </a:r>
            <a:r>
              <a:rPr lang="en-US" altLang="zh-CN">
                <a:latin typeface="Arial" panose="020B0604020202090204" pitchFamily="34" charset="0"/>
              </a:rPr>
              <a:t>‘</a:t>
            </a:r>
            <a:r>
              <a:rPr lang="en-US" altLang="zh-CN"/>
              <a:t>\0</a:t>
            </a:r>
            <a:r>
              <a:rPr lang="en-US" altLang="zh-CN">
                <a:latin typeface="Arial" panose="020B0604020202090204" pitchFamily="34" charset="0"/>
              </a:rPr>
              <a:t>’</a:t>
            </a:r>
            <a:r>
              <a:rPr lang="en-US" altLang="zh-CN"/>
              <a:t>;</a:t>
            </a:r>
            <a:endParaRPr lang="en-US" altLang="zh-CN"/>
          </a:p>
          <a:p>
            <a:pPr lvl="1"/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65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5652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27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插入子串</a:t>
            </a:r>
            <a:endParaRPr lang="zh-CN" altLang="en-US"/>
          </a:p>
        </p:txBody>
      </p:sp>
      <p:sp>
        <p:nvSpPr>
          <p:cNvPr id="5662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将字符串</a:t>
            </a:r>
            <a:r>
              <a:rPr lang="en-US" altLang="zh-CN" dirty="0"/>
              <a:t>a</a:t>
            </a:r>
            <a:r>
              <a:rPr lang="zh-CN" altLang="en-US" dirty="0"/>
              <a:t>插入字符串</a:t>
            </a:r>
            <a:r>
              <a:rPr lang="en-US" altLang="zh-CN" dirty="0"/>
              <a:t>b</a:t>
            </a:r>
            <a:r>
              <a:rPr lang="zh-CN" altLang="en-US" dirty="0"/>
              <a:t>的</a:t>
            </a:r>
            <a:r>
              <a:rPr lang="en-US" altLang="zh-CN" dirty="0" err="1"/>
              <a:t>pos</a:t>
            </a:r>
            <a:r>
              <a:rPr lang="zh-CN" altLang="en-US" dirty="0"/>
              <a:t>位置前，相当于将</a:t>
            </a:r>
            <a:r>
              <a:rPr lang="en-US" altLang="zh-CN" dirty="0"/>
              <a:t>b</a:t>
            </a:r>
            <a:r>
              <a:rPr lang="zh-CN" altLang="en-US" dirty="0"/>
              <a:t>分成</a:t>
            </a:r>
            <a:r>
              <a:rPr lang="en-US" altLang="zh-CN" dirty="0"/>
              <a:t>2</a:t>
            </a:r>
            <a:r>
              <a:rPr lang="zh-CN" altLang="en-US" dirty="0"/>
              <a:t>部分</a:t>
            </a:r>
            <a:r>
              <a:rPr lang="en-US" altLang="zh-CN" dirty="0"/>
              <a:t>b[</a:t>
            </a:r>
            <a:r>
              <a:rPr lang="en-US" altLang="zh-CN" dirty="0">
                <a:solidFill>
                  <a:schemeClr val="hlink"/>
                </a:solidFill>
              </a:rPr>
              <a:t>0</a:t>
            </a:r>
            <a:r>
              <a:rPr lang="en-US" altLang="zh-CN" dirty="0"/>
              <a:t>~</a:t>
            </a:r>
            <a:r>
              <a:rPr lang="en-US" altLang="zh-CN" dirty="0">
                <a:solidFill>
                  <a:schemeClr val="hlink"/>
                </a:solidFill>
              </a:rPr>
              <a:t>pos-1</a:t>
            </a:r>
            <a:r>
              <a:rPr lang="en-US" altLang="zh-CN" dirty="0"/>
              <a:t>]</a:t>
            </a:r>
            <a:r>
              <a:rPr lang="zh-CN" altLang="en-US" dirty="0"/>
              <a:t>和</a:t>
            </a:r>
            <a:r>
              <a:rPr lang="en-US" altLang="zh-CN" dirty="0"/>
              <a:t>b[</a:t>
            </a:r>
            <a:r>
              <a:rPr lang="en-US" altLang="zh-CN" dirty="0" err="1">
                <a:solidFill>
                  <a:schemeClr val="hlink"/>
                </a:solidFill>
              </a:rPr>
              <a:t>pos</a:t>
            </a:r>
            <a:r>
              <a:rPr lang="en-US" altLang="zh-CN" dirty="0" err="1"/>
              <a:t>~</a:t>
            </a:r>
            <a:r>
              <a:rPr lang="en-US" altLang="zh-CN" dirty="0" err="1">
                <a:solidFill>
                  <a:schemeClr val="hlink"/>
                </a:solidFill>
              </a:rPr>
              <a:t>strlen</a:t>
            </a:r>
            <a:r>
              <a:rPr lang="en-US" altLang="zh-CN" dirty="0">
                <a:solidFill>
                  <a:schemeClr val="hlink"/>
                </a:solidFill>
              </a:rPr>
              <a:t>(b)-1</a:t>
            </a:r>
            <a:r>
              <a:rPr lang="en-US" altLang="zh-CN" dirty="0"/>
              <a:t>]</a:t>
            </a:r>
            <a:r>
              <a:rPr lang="zh-CN" altLang="en-US" dirty="0"/>
              <a:t>，把</a:t>
            </a:r>
            <a:r>
              <a:rPr lang="en-US" altLang="zh-CN" dirty="0"/>
              <a:t>a</a:t>
            </a:r>
            <a:r>
              <a:rPr lang="zh-CN" altLang="en-US" dirty="0"/>
              <a:t>接在</a:t>
            </a:r>
            <a:r>
              <a:rPr lang="en-US" altLang="zh-CN" dirty="0"/>
              <a:t>b[</a:t>
            </a:r>
            <a:r>
              <a:rPr lang="en-US" altLang="zh-CN" dirty="0">
                <a:solidFill>
                  <a:schemeClr val="hlink"/>
                </a:solidFill>
              </a:rPr>
              <a:t>0</a:t>
            </a:r>
            <a:r>
              <a:rPr lang="en-US" altLang="zh-CN" dirty="0"/>
              <a:t>~</a:t>
            </a:r>
            <a:r>
              <a:rPr lang="en-US" altLang="zh-CN" dirty="0">
                <a:solidFill>
                  <a:schemeClr val="hlink"/>
                </a:solidFill>
              </a:rPr>
              <a:t>pos-1</a:t>
            </a:r>
            <a:r>
              <a:rPr lang="en-US" altLang="zh-CN" dirty="0"/>
              <a:t>]</a:t>
            </a:r>
            <a:r>
              <a:rPr lang="zh-CN" altLang="en-US" dirty="0"/>
              <a:t>之后，再把</a:t>
            </a:r>
            <a:r>
              <a:rPr lang="en-US" altLang="zh-CN" dirty="0"/>
              <a:t>b[</a:t>
            </a:r>
            <a:r>
              <a:rPr lang="en-US" altLang="zh-CN" dirty="0" err="1">
                <a:solidFill>
                  <a:schemeClr val="hlink"/>
                </a:solidFill>
              </a:rPr>
              <a:t>pos</a:t>
            </a:r>
            <a:r>
              <a:rPr lang="en-US" altLang="zh-CN" dirty="0" err="1"/>
              <a:t>~</a:t>
            </a:r>
            <a:r>
              <a:rPr lang="en-US" altLang="zh-CN" dirty="0" err="1">
                <a:solidFill>
                  <a:schemeClr val="hlink"/>
                </a:solidFill>
              </a:rPr>
              <a:t>strlen</a:t>
            </a:r>
            <a:r>
              <a:rPr lang="en-US" altLang="zh-CN" dirty="0">
                <a:solidFill>
                  <a:schemeClr val="hlink"/>
                </a:solidFill>
              </a:rPr>
              <a:t>(b)-1</a:t>
            </a:r>
            <a:r>
              <a:rPr lang="en-US" altLang="zh-CN" dirty="0"/>
              <a:t>]</a:t>
            </a:r>
            <a:r>
              <a:rPr lang="zh-CN" altLang="en-US" dirty="0"/>
              <a:t>接在</a:t>
            </a:r>
            <a:r>
              <a:rPr lang="en-US" altLang="zh-CN" dirty="0"/>
              <a:t>a</a:t>
            </a:r>
            <a:r>
              <a:rPr lang="zh-CN" altLang="en-US" dirty="0"/>
              <a:t>之后</a:t>
            </a:r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298" name="Rectangle 2"/>
          <p:cNvSpPr>
            <a:spLocks noChangeArrowheads="1"/>
          </p:cNvSpPr>
          <p:nvPr/>
        </p:nvSpPr>
        <p:spPr bwMode="auto">
          <a:xfrm>
            <a:off x="1547813" y="2114550"/>
            <a:ext cx="6337300" cy="622300"/>
          </a:xfrm>
          <a:prstGeom prst="rect">
            <a:avLst/>
          </a:prstGeom>
          <a:noFill/>
          <a:ln w="57150" algn="ctr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itchFamily="2" charset="-122"/>
              <a:cs typeface="+mn-cs"/>
            </a:endParaRPr>
          </a:p>
        </p:txBody>
      </p:sp>
      <p:sp>
        <p:nvSpPr>
          <p:cNvPr id="567299" name="Line 3"/>
          <p:cNvSpPr>
            <a:spLocks noChangeShapeType="1"/>
          </p:cNvSpPr>
          <p:nvPr/>
        </p:nvSpPr>
        <p:spPr bwMode="auto">
          <a:xfrm>
            <a:off x="5005388" y="2114550"/>
            <a:ext cx="0" cy="55245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itchFamily="2" charset="-122"/>
              <a:cs typeface="+mn-cs"/>
            </a:endParaRPr>
          </a:p>
        </p:txBody>
      </p:sp>
      <p:sp>
        <p:nvSpPr>
          <p:cNvPr id="567300" name="Line 4"/>
          <p:cNvSpPr>
            <a:spLocks noChangeShapeType="1"/>
          </p:cNvSpPr>
          <p:nvPr/>
        </p:nvSpPr>
        <p:spPr bwMode="auto">
          <a:xfrm>
            <a:off x="5508625" y="2114550"/>
            <a:ext cx="0" cy="6223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itchFamily="2" charset="-122"/>
              <a:cs typeface="+mn-cs"/>
            </a:endParaRPr>
          </a:p>
        </p:txBody>
      </p:sp>
      <p:sp>
        <p:nvSpPr>
          <p:cNvPr id="567301" name="Line 5"/>
          <p:cNvSpPr>
            <a:spLocks noChangeShapeType="1"/>
          </p:cNvSpPr>
          <p:nvPr/>
        </p:nvSpPr>
        <p:spPr bwMode="auto">
          <a:xfrm>
            <a:off x="6013450" y="2114550"/>
            <a:ext cx="0" cy="6223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itchFamily="2" charset="-122"/>
              <a:cs typeface="+mn-cs"/>
            </a:endParaRPr>
          </a:p>
        </p:txBody>
      </p:sp>
      <p:sp>
        <p:nvSpPr>
          <p:cNvPr id="567302" name="Line 6"/>
          <p:cNvSpPr>
            <a:spLocks noChangeShapeType="1"/>
          </p:cNvSpPr>
          <p:nvPr/>
        </p:nvSpPr>
        <p:spPr bwMode="auto">
          <a:xfrm>
            <a:off x="5005388" y="2184400"/>
            <a:ext cx="0" cy="55245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itchFamily="2" charset="-122"/>
              <a:cs typeface="+mn-cs"/>
            </a:endParaRPr>
          </a:p>
        </p:txBody>
      </p:sp>
      <p:sp>
        <p:nvSpPr>
          <p:cNvPr id="567303" name="Line 7"/>
          <p:cNvSpPr>
            <a:spLocks noChangeShapeType="1"/>
          </p:cNvSpPr>
          <p:nvPr/>
        </p:nvSpPr>
        <p:spPr bwMode="auto">
          <a:xfrm>
            <a:off x="1547813" y="1562100"/>
            <a:ext cx="0" cy="1382713"/>
          </a:xfrm>
          <a:prstGeom prst="line">
            <a:avLst/>
          </a:prstGeom>
          <a:noFill/>
          <a:ln w="28575">
            <a:solidFill>
              <a:srgbClr val="0099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itchFamily="2" charset="-122"/>
              <a:cs typeface="+mn-cs"/>
            </a:endParaRPr>
          </a:p>
        </p:txBody>
      </p:sp>
      <p:sp>
        <p:nvSpPr>
          <p:cNvPr id="567304" name="Line 8"/>
          <p:cNvSpPr>
            <a:spLocks noChangeShapeType="1"/>
          </p:cNvSpPr>
          <p:nvPr/>
        </p:nvSpPr>
        <p:spPr bwMode="auto">
          <a:xfrm>
            <a:off x="5508625" y="1562100"/>
            <a:ext cx="0" cy="1382713"/>
          </a:xfrm>
          <a:prstGeom prst="line">
            <a:avLst/>
          </a:prstGeom>
          <a:noFill/>
          <a:ln w="28575">
            <a:solidFill>
              <a:srgbClr val="0099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itchFamily="2" charset="-122"/>
              <a:cs typeface="+mn-cs"/>
            </a:endParaRPr>
          </a:p>
        </p:txBody>
      </p:sp>
      <p:sp>
        <p:nvSpPr>
          <p:cNvPr id="567305" name="Line 9"/>
          <p:cNvSpPr>
            <a:spLocks noChangeShapeType="1"/>
          </p:cNvSpPr>
          <p:nvPr/>
        </p:nvSpPr>
        <p:spPr bwMode="auto">
          <a:xfrm>
            <a:off x="7885113" y="1562100"/>
            <a:ext cx="0" cy="1382713"/>
          </a:xfrm>
          <a:prstGeom prst="line">
            <a:avLst/>
          </a:prstGeom>
          <a:noFill/>
          <a:ln w="28575">
            <a:solidFill>
              <a:srgbClr val="0099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itchFamily="2" charset="-122"/>
              <a:cs typeface="+mn-cs"/>
            </a:endParaRPr>
          </a:p>
        </p:txBody>
      </p:sp>
      <p:sp>
        <p:nvSpPr>
          <p:cNvPr id="567306" name="Line 10"/>
          <p:cNvSpPr>
            <a:spLocks noChangeShapeType="1"/>
          </p:cNvSpPr>
          <p:nvPr/>
        </p:nvSpPr>
        <p:spPr bwMode="auto">
          <a:xfrm>
            <a:off x="1619250" y="1770063"/>
            <a:ext cx="3817938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stealth" w="med" len="med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itchFamily="2" charset="-122"/>
              <a:cs typeface="+mn-cs"/>
            </a:endParaRPr>
          </a:p>
        </p:txBody>
      </p:sp>
      <p:sp>
        <p:nvSpPr>
          <p:cNvPr id="567307" name="Text Box 11"/>
          <p:cNvSpPr txBox="1">
            <a:spLocks noChangeArrowheads="1"/>
          </p:cNvSpPr>
          <p:nvPr/>
        </p:nvSpPr>
        <p:spPr bwMode="auto">
          <a:xfrm>
            <a:off x="2771775" y="1341438"/>
            <a:ext cx="13684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Garamond" panose="02020404030301010803" pitchFamily="18" charset="0"/>
                <a:ea typeface="宋体" pitchFamily="2" charset="-122"/>
                <a:cs typeface="+mn-cs"/>
              </a:rPr>
              <a:t>pos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99FF"/>
              </a:solidFill>
              <a:effectLst/>
              <a:uLnTx/>
              <a:uFillTx/>
              <a:latin typeface="Garamond" panose="02020404030301010803" pitchFamily="18" charset="0"/>
              <a:ea typeface="宋体" pitchFamily="2" charset="-122"/>
              <a:cs typeface="+mn-cs"/>
            </a:endParaRPr>
          </a:p>
        </p:txBody>
      </p:sp>
      <p:sp>
        <p:nvSpPr>
          <p:cNvPr id="567308" name="Line 12"/>
          <p:cNvSpPr>
            <a:spLocks noChangeShapeType="1"/>
          </p:cNvSpPr>
          <p:nvPr/>
        </p:nvSpPr>
        <p:spPr bwMode="auto">
          <a:xfrm>
            <a:off x="5508625" y="1757363"/>
            <a:ext cx="2303463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stealth" w="med" len="med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itchFamily="2" charset="-122"/>
              <a:cs typeface="+mn-cs"/>
            </a:endParaRPr>
          </a:p>
        </p:txBody>
      </p:sp>
      <p:sp>
        <p:nvSpPr>
          <p:cNvPr id="567309" name="Text Box 13"/>
          <p:cNvSpPr txBox="1">
            <a:spLocks noChangeArrowheads="1"/>
          </p:cNvSpPr>
          <p:nvPr/>
        </p:nvSpPr>
        <p:spPr bwMode="auto">
          <a:xfrm>
            <a:off x="5724525" y="1341438"/>
            <a:ext cx="19446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Garamond" panose="02020404030301010803" pitchFamily="18" charset="0"/>
                <a:ea typeface="宋体" pitchFamily="2" charset="-122"/>
                <a:cs typeface="+mn-cs"/>
              </a:rPr>
              <a:t>strlen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Garamond" panose="02020404030301010803" pitchFamily="18" charset="0"/>
                <a:ea typeface="宋体" pitchFamily="2" charset="-122"/>
                <a:cs typeface="+mn-cs"/>
              </a:rPr>
              <a:t>(b)-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Garamond" panose="02020404030301010803" pitchFamily="18" charset="0"/>
                <a:ea typeface="宋体" pitchFamily="2" charset="-122"/>
                <a:cs typeface="+mn-cs"/>
              </a:rPr>
              <a:t>pos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99FF"/>
              </a:solidFill>
              <a:effectLst/>
              <a:uLnTx/>
              <a:uFillTx/>
              <a:latin typeface="Garamond" panose="02020404030301010803" pitchFamily="18" charset="0"/>
              <a:ea typeface="宋体" pitchFamily="2" charset="-122"/>
              <a:cs typeface="+mn-cs"/>
            </a:endParaRPr>
          </a:p>
        </p:txBody>
      </p:sp>
      <p:sp>
        <p:nvSpPr>
          <p:cNvPr id="567310" name="Line 14"/>
          <p:cNvSpPr>
            <a:spLocks noChangeShapeType="1"/>
          </p:cNvSpPr>
          <p:nvPr/>
        </p:nvSpPr>
        <p:spPr bwMode="auto">
          <a:xfrm flipV="1">
            <a:off x="5221288" y="2516188"/>
            <a:ext cx="0" cy="690562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itchFamily="2" charset="-122"/>
              <a:cs typeface="+mn-cs"/>
            </a:endParaRPr>
          </a:p>
        </p:txBody>
      </p:sp>
      <p:sp>
        <p:nvSpPr>
          <p:cNvPr id="567311" name="Line 15"/>
          <p:cNvSpPr>
            <a:spLocks noChangeShapeType="1"/>
          </p:cNvSpPr>
          <p:nvPr/>
        </p:nvSpPr>
        <p:spPr bwMode="auto">
          <a:xfrm flipV="1">
            <a:off x="5797550" y="2516188"/>
            <a:ext cx="0" cy="690562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itchFamily="2" charset="-122"/>
              <a:cs typeface="+mn-cs"/>
            </a:endParaRPr>
          </a:p>
        </p:txBody>
      </p:sp>
      <p:sp>
        <p:nvSpPr>
          <p:cNvPr id="567312" name="Text Box 16"/>
          <p:cNvSpPr txBox="1">
            <a:spLocks noChangeArrowheads="1"/>
          </p:cNvSpPr>
          <p:nvPr/>
        </p:nvSpPr>
        <p:spPr bwMode="auto">
          <a:xfrm>
            <a:off x="4356100" y="3136900"/>
            <a:ext cx="1225550" cy="458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Garamond" panose="02020404030301010803" pitchFamily="18" charset="0"/>
                <a:ea typeface="宋体" pitchFamily="2" charset="-122"/>
                <a:cs typeface="+mn-cs"/>
              </a:rPr>
              <a:t>pos-1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99FF"/>
              </a:solidFill>
              <a:effectLst/>
              <a:uLnTx/>
              <a:uFillTx/>
              <a:latin typeface="Garamond" panose="02020404030301010803" pitchFamily="18" charset="0"/>
              <a:ea typeface="宋体" pitchFamily="2" charset="-122"/>
              <a:cs typeface="+mn-cs"/>
            </a:endParaRPr>
          </a:p>
        </p:txBody>
      </p:sp>
      <p:sp>
        <p:nvSpPr>
          <p:cNvPr id="567313" name="Text Box 17"/>
          <p:cNvSpPr txBox="1">
            <a:spLocks noChangeArrowheads="1"/>
          </p:cNvSpPr>
          <p:nvPr/>
        </p:nvSpPr>
        <p:spPr bwMode="auto">
          <a:xfrm>
            <a:off x="5437188" y="3136900"/>
            <a:ext cx="792162" cy="458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Garamond" panose="02020404030301010803" pitchFamily="18" charset="0"/>
                <a:ea typeface="宋体" pitchFamily="2" charset="-122"/>
                <a:cs typeface="+mn-cs"/>
              </a:rPr>
              <a:t>pos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99FF"/>
              </a:solidFill>
              <a:effectLst/>
              <a:uLnTx/>
              <a:uFillTx/>
              <a:latin typeface="Garamond" panose="02020404030301010803" pitchFamily="18" charset="0"/>
              <a:ea typeface="宋体" pitchFamily="2" charset="-122"/>
              <a:cs typeface="+mn-cs"/>
            </a:endParaRPr>
          </a:p>
        </p:txBody>
      </p:sp>
      <p:sp>
        <p:nvSpPr>
          <p:cNvPr id="567314" name="Text Box 18"/>
          <p:cNvSpPr txBox="1">
            <a:spLocks noChangeArrowheads="1"/>
          </p:cNvSpPr>
          <p:nvPr/>
        </p:nvSpPr>
        <p:spPr bwMode="auto">
          <a:xfrm>
            <a:off x="971550" y="2170113"/>
            <a:ext cx="7921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Garamond" panose="02020404030301010803" pitchFamily="18" charset="0"/>
                <a:ea typeface="宋体" pitchFamily="2" charset="-122"/>
                <a:cs typeface="+mn-cs"/>
              </a:rPr>
              <a:t>b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99FF"/>
              </a:solidFill>
              <a:effectLst/>
              <a:uLnTx/>
              <a:uFillTx/>
              <a:latin typeface="Garamond" panose="02020404030301010803" pitchFamily="18" charset="0"/>
              <a:ea typeface="宋体" pitchFamily="2" charset="-122"/>
              <a:cs typeface="+mn-cs"/>
            </a:endParaRPr>
          </a:p>
        </p:txBody>
      </p:sp>
      <p:grpSp>
        <p:nvGrpSpPr>
          <p:cNvPr id="567315" name="Group 19"/>
          <p:cNvGrpSpPr/>
          <p:nvPr/>
        </p:nvGrpSpPr>
        <p:grpSpPr bwMode="auto">
          <a:xfrm>
            <a:off x="1549400" y="2135196"/>
            <a:ext cx="3960813" cy="622301"/>
            <a:chOff x="884" y="3113"/>
            <a:chExt cx="2495" cy="392"/>
          </a:xfrm>
        </p:grpSpPr>
        <p:sp>
          <p:nvSpPr>
            <p:cNvPr id="567316" name="Rectangle 20"/>
            <p:cNvSpPr>
              <a:spLocks noChangeArrowheads="1"/>
            </p:cNvSpPr>
            <p:nvPr/>
          </p:nvSpPr>
          <p:spPr bwMode="auto">
            <a:xfrm>
              <a:off x="884" y="3113"/>
              <a:ext cx="2495" cy="392"/>
            </a:xfrm>
            <a:prstGeom prst="rect">
              <a:avLst/>
            </a:prstGeom>
            <a:noFill/>
            <a:ln w="57150" algn="ctr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宋体" pitchFamily="2" charset="-122"/>
                <a:cs typeface="+mn-cs"/>
              </a:endParaRPr>
            </a:p>
          </p:txBody>
        </p:sp>
        <p:sp>
          <p:nvSpPr>
            <p:cNvPr id="567317" name="Line 21"/>
            <p:cNvSpPr>
              <a:spLocks noChangeShapeType="1"/>
            </p:cNvSpPr>
            <p:nvPr/>
          </p:nvSpPr>
          <p:spPr bwMode="auto">
            <a:xfrm>
              <a:off x="3061" y="3113"/>
              <a:ext cx="1" cy="39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宋体" pitchFamily="2" charset="-122"/>
                <a:cs typeface="+mn-cs"/>
              </a:endParaRPr>
            </a:p>
          </p:txBody>
        </p:sp>
      </p:grpSp>
      <p:grpSp>
        <p:nvGrpSpPr>
          <p:cNvPr id="567318" name="Group 22"/>
          <p:cNvGrpSpPr/>
          <p:nvPr/>
        </p:nvGrpSpPr>
        <p:grpSpPr bwMode="auto">
          <a:xfrm>
            <a:off x="5510213" y="2133600"/>
            <a:ext cx="2374900" cy="649288"/>
            <a:chOff x="3425" y="2976"/>
            <a:chExt cx="1496" cy="409"/>
          </a:xfrm>
        </p:grpSpPr>
        <p:sp>
          <p:nvSpPr>
            <p:cNvPr id="567319" name="Rectangle 23"/>
            <p:cNvSpPr>
              <a:spLocks noChangeArrowheads="1"/>
            </p:cNvSpPr>
            <p:nvPr/>
          </p:nvSpPr>
          <p:spPr bwMode="auto">
            <a:xfrm>
              <a:off x="3425" y="2976"/>
              <a:ext cx="1496" cy="391"/>
            </a:xfrm>
            <a:prstGeom prst="rect">
              <a:avLst/>
            </a:prstGeom>
            <a:noFill/>
            <a:ln w="57150" algn="ctr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宋体" pitchFamily="2" charset="-122"/>
                <a:cs typeface="+mn-cs"/>
              </a:endParaRPr>
            </a:p>
          </p:txBody>
        </p:sp>
        <p:sp>
          <p:nvSpPr>
            <p:cNvPr id="567320" name="Line 24"/>
            <p:cNvSpPr>
              <a:spLocks noChangeShapeType="1"/>
            </p:cNvSpPr>
            <p:nvPr/>
          </p:nvSpPr>
          <p:spPr bwMode="auto">
            <a:xfrm>
              <a:off x="3742" y="2976"/>
              <a:ext cx="0" cy="409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宋体" pitchFamily="2" charset="-122"/>
                <a:cs typeface="+mn-cs"/>
              </a:endParaRPr>
            </a:p>
          </p:txBody>
        </p:sp>
      </p:grpSp>
      <p:grpSp>
        <p:nvGrpSpPr>
          <p:cNvPr id="567321" name="Group 25"/>
          <p:cNvGrpSpPr/>
          <p:nvPr/>
        </p:nvGrpSpPr>
        <p:grpSpPr bwMode="auto">
          <a:xfrm>
            <a:off x="3779838" y="3933825"/>
            <a:ext cx="2592387" cy="1582738"/>
            <a:chOff x="2381" y="2478"/>
            <a:chExt cx="1633" cy="997"/>
          </a:xfrm>
        </p:grpSpPr>
        <p:grpSp>
          <p:nvGrpSpPr>
            <p:cNvPr id="567322" name="Group 26"/>
            <p:cNvGrpSpPr/>
            <p:nvPr/>
          </p:nvGrpSpPr>
          <p:grpSpPr bwMode="auto">
            <a:xfrm>
              <a:off x="2381" y="3113"/>
              <a:ext cx="1633" cy="362"/>
              <a:chOff x="2381" y="3113"/>
              <a:chExt cx="1633" cy="362"/>
            </a:xfrm>
          </p:grpSpPr>
          <p:sp>
            <p:nvSpPr>
              <p:cNvPr id="567323" name="Rectangle 27"/>
              <p:cNvSpPr>
                <a:spLocks noChangeArrowheads="1"/>
              </p:cNvSpPr>
              <p:nvPr/>
            </p:nvSpPr>
            <p:spPr bwMode="auto">
              <a:xfrm>
                <a:off x="2789" y="3113"/>
                <a:ext cx="1225" cy="362"/>
              </a:xfrm>
              <a:prstGeom prst="rect">
                <a:avLst/>
              </a:prstGeom>
              <a:noFill/>
              <a:ln w="57150" algn="ctr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aramond" panose="02020404030301010803" pitchFamily="18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567324" name="Text Box 28"/>
              <p:cNvSpPr txBox="1">
                <a:spLocks noChangeArrowheads="1"/>
              </p:cNvSpPr>
              <p:nvPr/>
            </p:nvSpPr>
            <p:spPr bwMode="auto">
              <a:xfrm>
                <a:off x="2381" y="3113"/>
                <a:ext cx="453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571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99FF"/>
                    </a:solidFill>
                    <a:effectLst/>
                    <a:uLnTx/>
                    <a:uFillTx/>
                    <a:latin typeface="Garamond" panose="02020404030301010803" pitchFamily="18" charset="0"/>
                    <a:ea typeface="宋体" pitchFamily="2" charset="-122"/>
                    <a:cs typeface="+mn-cs"/>
                  </a:rPr>
                  <a:t>a</a:t>
                </a:r>
                <a:endPara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99FF"/>
                  </a:solidFill>
                  <a:effectLst/>
                  <a:uLnTx/>
                  <a:uFillTx/>
                  <a:latin typeface="Garamond" panose="02020404030301010803" pitchFamily="18" charset="0"/>
                  <a:ea typeface="宋体" pitchFamily="2" charset="-122"/>
                  <a:cs typeface="+mn-cs"/>
                </a:endParaRPr>
              </a:p>
            </p:txBody>
          </p:sp>
        </p:grpSp>
        <p:sp>
          <p:nvSpPr>
            <p:cNvPr id="567325" name="AutoShape 29"/>
            <p:cNvSpPr>
              <a:spLocks noChangeArrowheads="1"/>
            </p:cNvSpPr>
            <p:nvPr/>
          </p:nvSpPr>
          <p:spPr bwMode="auto">
            <a:xfrm>
              <a:off x="3288" y="2478"/>
              <a:ext cx="318" cy="499"/>
            </a:xfrm>
            <a:prstGeom prst="upArrow">
              <a:avLst>
                <a:gd name="adj1" fmla="val 50000"/>
                <a:gd name="adj2" fmla="val 39230"/>
              </a:avLst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71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宋体" pitchFamily="2" charset="-122"/>
                <a:cs typeface="+mn-cs"/>
              </a:endParaRPr>
            </a:p>
          </p:txBody>
        </p:sp>
      </p:grpSp>
      <p:sp>
        <p:nvSpPr>
          <p:cNvPr id="567326" name="Line 30"/>
          <p:cNvSpPr>
            <a:spLocks noChangeShapeType="1"/>
          </p:cNvSpPr>
          <p:nvPr/>
        </p:nvSpPr>
        <p:spPr bwMode="auto">
          <a:xfrm flipV="1">
            <a:off x="3924300" y="4221163"/>
            <a:ext cx="0" cy="690562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itchFamily="2" charset="-122"/>
              <a:cs typeface="+mn-cs"/>
            </a:endParaRPr>
          </a:p>
        </p:txBody>
      </p:sp>
      <p:sp>
        <p:nvSpPr>
          <p:cNvPr id="567327" name="Text Box 31"/>
          <p:cNvSpPr txBox="1">
            <a:spLocks noChangeArrowheads="1"/>
          </p:cNvSpPr>
          <p:nvPr/>
        </p:nvSpPr>
        <p:spPr bwMode="auto">
          <a:xfrm>
            <a:off x="3059113" y="4841875"/>
            <a:ext cx="1225550" cy="458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Garamond" panose="02020404030301010803" pitchFamily="18" charset="0"/>
                <a:ea typeface="宋体" pitchFamily="2" charset="-122"/>
                <a:cs typeface="+mn-cs"/>
              </a:rPr>
              <a:t>pos-1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99FF"/>
              </a:solidFill>
              <a:effectLst/>
              <a:uLnTx/>
              <a:uFillTx/>
              <a:latin typeface="Garamond" panose="02020404030301010803" pitchFamily="18" charset="0"/>
              <a:ea typeface="宋体" pitchFamily="2" charset="-122"/>
              <a:cs typeface="+mn-cs"/>
            </a:endParaRPr>
          </a:p>
        </p:txBody>
      </p:sp>
      <p:sp>
        <p:nvSpPr>
          <p:cNvPr id="567328" name="Line 32"/>
          <p:cNvSpPr>
            <a:spLocks noChangeShapeType="1"/>
          </p:cNvSpPr>
          <p:nvPr/>
        </p:nvSpPr>
        <p:spPr bwMode="auto">
          <a:xfrm flipV="1">
            <a:off x="7019925" y="4149725"/>
            <a:ext cx="0" cy="690563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itchFamily="2" charset="-122"/>
              <a:cs typeface="+mn-cs"/>
            </a:endParaRPr>
          </a:p>
        </p:txBody>
      </p:sp>
      <p:sp>
        <p:nvSpPr>
          <p:cNvPr id="567329" name="Text Box 33"/>
          <p:cNvSpPr txBox="1">
            <a:spLocks noChangeArrowheads="1"/>
          </p:cNvSpPr>
          <p:nvPr/>
        </p:nvSpPr>
        <p:spPr bwMode="auto">
          <a:xfrm>
            <a:off x="6659563" y="4770438"/>
            <a:ext cx="792162" cy="458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Garamond" panose="02020404030301010803" pitchFamily="18" charset="0"/>
                <a:ea typeface="宋体" pitchFamily="2" charset="-122"/>
                <a:cs typeface="+mn-cs"/>
              </a:rPr>
              <a:t>pos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99FF"/>
              </a:solidFill>
              <a:effectLst/>
              <a:uLnTx/>
              <a:uFillTx/>
              <a:latin typeface="Garamond" panose="02020404030301010803" pitchFamily="18" charset="0"/>
              <a:ea typeface="宋体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9.24855E-7 C -0.00053 0.06058 -0.0007 0.12139 0.02152 0.15954 C 0.04392 0.19792 0.08993 0.21318 0.13593 0.22936 " pathEditMode="relative" rAng="0" ptsTypes="aaA">
                                      <p:cBhvr>
                                        <p:cTn id="6" dur="2000" fill="hold"/>
                                        <p:tgtEl>
                                          <p:spTgt spid="5673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753" y="11468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-2.94798E-6 C 0.00469 0.04486 0.00955 0.08971 -0.01441 0.12717 C -0.03836 0.16416 -0.0908 0.19376 -0.14323 0.22382 " pathEditMode="relative" rAng="0" ptsTypes="aaA">
                                      <p:cBhvr>
                                        <p:cTn id="8" dur="2000" fill="hold"/>
                                        <p:tgtEl>
                                          <p:spTgt spid="5673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684" y="11191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000" fill="hold"/>
                                        <p:tgtEl>
                                          <p:spTgt spid="5673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5673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567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567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567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567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7327" grpId="0"/>
      <p:bldP spid="567329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322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具体操作</a:t>
            </a:r>
            <a:endParaRPr lang="zh-CN" altLang="en-US"/>
          </a:p>
        </p:txBody>
      </p:sp>
      <p:sp>
        <p:nvSpPr>
          <p:cNvPr id="56832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定义一个字符串</a:t>
            </a:r>
            <a:r>
              <a:rPr lang="en-US" altLang="zh-CN" dirty="0" err="1"/>
              <a:t>ans</a:t>
            </a:r>
            <a:r>
              <a:rPr lang="en-US" altLang="zh-CN" dirty="0"/>
              <a:t>, </a:t>
            </a:r>
            <a:r>
              <a:rPr lang="zh-CN" altLang="en-US" dirty="0"/>
              <a:t>存放插入后的字符串</a:t>
            </a:r>
            <a:endParaRPr lang="zh-CN" altLang="en-US" dirty="0"/>
          </a:p>
          <a:p>
            <a:r>
              <a:rPr lang="en-US" altLang="zh-CN" dirty="0" err="1"/>
              <a:t>ans</a:t>
            </a:r>
            <a:r>
              <a:rPr lang="en-US" altLang="zh-CN" dirty="0"/>
              <a:t> = </a:t>
            </a:r>
            <a:r>
              <a:rPr lang="en-US" altLang="zh-CN" dirty="0" err="1"/>
              <a:t>Substr</a:t>
            </a:r>
            <a:r>
              <a:rPr lang="en-US" altLang="zh-CN" dirty="0"/>
              <a:t>(b, 0, pos)</a:t>
            </a:r>
            <a:r>
              <a:rPr lang="zh-CN" altLang="en-US" dirty="0"/>
              <a:t>，直接调用取子串的函数</a:t>
            </a:r>
            <a:endParaRPr lang="zh-CN" altLang="en-US" dirty="0"/>
          </a:p>
          <a:p>
            <a:r>
              <a:rPr lang="en-US" altLang="zh-CN" dirty="0" err="1">
                <a:solidFill>
                  <a:schemeClr val="hlink"/>
                </a:solidFill>
              </a:rPr>
              <a:t>strcat</a:t>
            </a:r>
            <a:r>
              <a:rPr lang="en-US" altLang="zh-CN" dirty="0"/>
              <a:t>(</a:t>
            </a:r>
            <a:r>
              <a:rPr lang="en-US" altLang="zh-CN" dirty="0" err="1"/>
              <a:t>ans</a:t>
            </a:r>
            <a:r>
              <a:rPr lang="en-US" altLang="zh-CN" dirty="0"/>
              <a:t>, a), </a:t>
            </a:r>
            <a:r>
              <a:rPr lang="zh-CN" altLang="en-US" dirty="0"/>
              <a:t>调用函数将</a:t>
            </a:r>
            <a:r>
              <a:rPr lang="en-US" altLang="zh-CN" dirty="0"/>
              <a:t>a</a:t>
            </a:r>
            <a:r>
              <a:rPr lang="zh-CN" altLang="en-US" dirty="0"/>
              <a:t>赋值到</a:t>
            </a:r>
            <a:r>
              <a:rPr lang="en-US" altLang="zh-CN" dirty="0" err="1"/>
              <a:t>ans</a:t>
            </a:r>
            <a:r>
              <a:rPr lang="zh-CN" altLang="en-US" dirty="0"/>
              <a:t>后面</a:t>
            </a:r>
            <a:endParaRPr lang="zh-CN" altLang="en-US" dirty="0"/>
          </a:p>
          <a:p>
            <a:r>
              <a:rPr lang="en-US" altLang="zh-CN" dirty="0" err="1">
                <a:solidFill>
                  <a:schemeClr val="hlink"/>
                </a:solidFill>
              </a:rPr>
              <a:t>strcat</a:t>
            </a:r>
            <a:r>
              <a:rPr lang="en-US" altLang="zh-CN" dirty="0"/>
              <a:t>(</a:t>
            </a:r>
            <a:r>
              <a:rPr lang="en-US" altLang="zh-CN" dirty="0" err="1"/>
              <a:t>ans</a:t>
            </a:r>
            <a:r>
              <a:rPr lang="en-US" altLang="zh-CN" dirty="0"/>
              <a:t>, </a:t>
            </a:r>
            <a:r>
              <a:rPr lang="en-US" altLang="zh-CN" dirty="0" err="1"/>
              <a:t>Substr</a:t>
            </a:r>
            <a:r>
              <a:rPr lang="en-US" altLang="zh-CN" dirty="0"/>
              <a:t>(b, pos, </a:t>
            </a:r>
            <a:r>
              <a:rPr lang="en-US" altLang="zh-CN" dirty="0" err="1"/>
              <a:t>strlen</a:t>
            </a:r>
            <a:r>
              <a:rPr lang="en-US" altLang="zh-CN" dirty="0"/>
              <a:t>(b)-pos))</a:t>
            </a:r>
            <a:r>
              <a:rPr lang="zh-CN" altLang="en-US" dirty="0"/>
              <a:t>，把</a:t>
            </a:r>
            <a:r>
              <a:rPr lang="en-US" altLang="zh-CN" dirty="0"/>
              <a:t>b</a:t>
            </a:r>
            <a:r>
              <a:rPr lang="zh-CN" altLang="en-US" dirty="0"/>
              <a:t>的后半部分赋值到</a:t>
            </a:r>
            <a:r>
              <a:rPr lang="en-US" altLang="zh-CN" dirty="0" err="1"/>
              <a:t>ans</a:t>
            </a:r>
            <a:r>
              <a:rPr lang="zh-CN" altLang="en-US" dirty="0"/>
              <a:t>后面</a:t>
            </a:r>
            <a:endParaRPr lang="zh-CN" altLang="en-US" dirty="0"/>
          </a:p>
          <a:p>
            <a:r>
              <a:rPr lang="en-US" altLang="zh-CN" dirty="0" err="1"/>
              <a:t>ans</a:t>
            </a:r>
            <a:r>
              <a:rPr lang="zh-CN" altLang="en-US" dirty="0"/>
              <a:t>就是插入后的结果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Rounded Rectangular Callout 1"/>
          <p:cNvSpPr/>
          <p:nvPr/>
        </p:nvSpPr>
        <p:spPr>
          <a:xfrm>
            <a:off x="4176713" y="274638"/>
            <a:ext cx="2016125" cy="647700"/>
          </a:xfrm>
          <a:prstGeom prst="wedgeRoundRectCallout">
            <a:avLst>
              <a:gd name="adj1" fmla="val -112666"/>
              <a:gd name="adj2" fmla="val 193136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>
                <a:solidFill>
                  <a:srgbClr val="FFFFFF"/>
                </a:solidFill>
                <a:latin typeface="Gill Sans MT" panose="020B0502020104020203" pitchFamily="34" charset="0"/>
                <a:ea typeface="华文中宋" panose="02010600040101010101" pitchFamily="2" charset="-122"/>
              </a:rPr>
              <a:t>C</a:t>
            </a:r>
            <a:r>
              <a:rPr lang="zh-CN" altLang="en-US">
                <a:solidFill>
                  <a:srgbClr val="FFFFFF"/>
                </a:solidFill>
                <a:latin typeface="Gill Sans MT" panose="020B0502020104020203" pitchFamily="34" charset="0"/>
                <a:ea typeface="华文中宋" panose="02010600040101010101" pitchFamily="2" charset="-122"/>
              </a:rPr>
              <a:t>的标准库中没有</a:t>
            </a:r>
            <a:endParaRPr lang="en-US" altLang="en-US">
              <a:solidFill>
                <a:srgbClr val="FFFFFF"/>
              </a:solidFill>
              <a:latin typeface="Gill Sans MT" panose="020B0502020104020203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346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删除子串</a:t>
            </a:r>
            <a:endParaRPr lang="zh-CN" altLang="en-US"/>
          </a:p>
        </p:txBody>
      </p:sp>
      <p:sp>
        <p:nvSpPr>
          <p:cNvPr id="5693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把字符串</a:t>
            </a:r>
            <a:r>
              <a:rPr lang="en-US" altLang="zh-CN" dirty="0"/>
              <a:t>a</a:t>
            </a:r>
            <a:r>
              <a:rPr lang="zh-CN" altLang="en-US" dirty="0"/>
              <a:t>当中从</a:t>
            </a:r>
            <a:r>
              <a:rPr lang="en-US" altLang="zh-CN" dirty="0"/>
              <a:t>start</a:t>
            </a:r>
            <a:r>
              <a:rPr lang="zh-CN" altLang="en-US" dirty="0"/>
              <a:t>开始，长为</a:t>
            </a:r>
            <a:r>
              <a:rPr lang="en-US" altLang="zh-CN" dirty="0" err="1"/>
              <a:t>len</a:t>
            </a:r>
            <a:r>
              <a:rPr lang="zh-CN" altLang="en-US" dirty="0"/>
              <a:t>的一段删除，相当于把</a:t>
            </a:r>
            <a:r>
              <a:rPr lang="en-US" altLang="zh-CN" dirty="0"/>
              <a:t>a</a:t>
            </a:r>
            <a:r>
              <a:rPr lang="zh-CN" altLang="en-US" dirty="0"/>
              <a:t>分成</a:t>
            </a:r>
            <a:r>
              <a:rPr lang="en-US" altLang="zh-CN" dirty="0"/>
              <a:t>3</a:t>
            </a:r>
            <a:r>
              <a:rPr lang="zh-CN" altLang="en-US" dirty="0"/>
              <a:t>部分，</a:t>
            </a:r>
            <a:r>
              <a:rPr lang="en-US" altLang="zh-CN" dirty="0">
                <a:solidFill>
                  <a:schemeClr val="hlink"/>
                </a:solidFill>
              </a:rPr>
              <a:t>a[0~start-1]</a:t>
            </a:r>
            <a:r>
              <a:rPr lang="en-US" altLang="zh-CN" dirty="0"/>
              <a:t>, </a:t>
            </a:r>
            <a:r>
              <a:rPr lang="en-US" altLang="zh-CN" dirty="0">
                <a:solidFill>
                  <a:schemeClr val="hlink"/>
                </a:solidFill>
              </a:rPr>
              <a:t>a[start~start+len-1]</a:t>
            </a:r>
            <a:r>
              <a:rPr lang="en-US" altLang="zh-CN" dirty="0"/>
              <a:t>, </a:t>
            </a:r>
            <a:r>
              <a:rPr lang="en-US" altLang="zh-CN" dirty="0">
                <a:solidFill>
                  <a:schemeClr val="hlink"/>
                </a:solidFill>
              </a:rPr>
              <a:t>a[start+len-1 ~ </a:t>
            </a:r>
            <a:r>
              <a:rPr lang="en-US" altLang="zh-CN" dirty="0" err="1">
                <a:solidFill>
                  <a:schemeClr val="hlink"/>
                </a:solidFill>
              </a:rPr>
              <a:t>strlen</a:t>
            </a:r>
            <a:r>
              <a:rPr lang="en-US" altLang="zh-CN" dirty="0">
                <a:solidFill>
                  <a:schemeClr val="hlink"/>
                </a:solidFill>
              </a:rPr>
              <a:t>(a)-1]</a:t>
            </a:r>
            <a:r>
              <a:rPr lang="en-US" altLang="zh-CN" dirty="0"/>
              <a:t>, </a:t>
            </a:r>
            <a:r>
              <a:rPr lang="zh-CN" altLang="en-US" dirty="0"/>
              <a:t>并且只保留第</a:t>
            </a:r>
            <a:r>
              <a:rPr lang="en-US" altLang="zh-CN" dirty="0"/>
              <a:t>1</a:t>
            </a:r>
            <a:r>
              <a:rPr lang="zh-CN" altLang="en-US" dirty="0"/>
              <a:t>段和第</a:t>
            </a:r>
            <a:r>
              <a:rPr lang="en-US" altLang="zh-CN" dirty="0"/>
              <a:t>3</a:t>
            </a:r>
            <a:r>
              <a:rPr lang="zh-CN" altLang="en-US" dirty="0"/>
              <a:t>段，即将这两段相连。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569348" name="Line 4"/>
          <p:cNvSpPr>
            <a:spLocks noChangeShapeType="1"/>
          </p:cNvSpPr>
          <p:nvPr/>
        </p:nvSpPr>
        <p:spPr bwMode="auto">
          <a:xfrm>
            <a:off x="827088" y="4495726"/>
            <a:ext cx="0" cy="1382712"/>
          </a:xfrm>
          <a:prstGeom prst="line">
            <a:avLst/>
          </a:prstGeom>
          <a:noFill/>
          <a:ln w="28575">
            <a:solidFill>
              <a:srgbClr val="0099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itchFamily="2" charset="-122"/>
              <a:cs typeface="+mn-cs"/>
            </a:endParaRPr>
          </a:p>
        </p:txBody>
      </p:sp>
      <p:sp>
        <p:nvSpPr>
          <p:cNvPr id="569349" name="Line 5"/>
          <p:cNvSpPr>
            <a:spLocks noChangeShapeType="1"/>
          </p:cNvSpPr>
          <p:nvPr/>
        </p:nvSpPr>
        <p:spPr bwMode="auto">
          <a:xfrm>
            <a:off x="4787900" y="4495726"/>
            <a:ext cx="0" cy="1382712"/>
          </a:xfrm>
          <a:prstGeom prst="line">
            <a:avLst/>
          </a:prstGeom>
          <a:noFill/>
          <a:ln w="28575">
            <a:solidFill>
              <a:srgbClr val="0099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itchFamily="2" charset="-122"/>
              <a:cs typeface="+mn-cs"/>
            </a:endParaRPr>
          </a:p>
        </p:txBody>
      </p:sp>
      <p:sp>
        <p:nvSpPr>
          <p:cNvPr id="569350" name="Line 6"/>
          <p:cNvSpPr>
            <a:spLocks noChangeShapeType="1"/>
          </p:cNvSpPr>
          <p:nvPr/>
        </p:nvSpPr>
        <p:spPr bwMode="auto">
          <a:xfrm>
            <a:off x="8677275" y="4514776"/>
            <a:ext cx="0" cy="1382712"/>
          </a:xfrm>
          <a:prstGeom prst="line">
            <a:avLst/>
          </a:prstGeom>
          <a:noFill/>
          <a:ln w="28575">
            <a:solidFill>
              <a:srgbClr val="0099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itchFamily="2" charset="-122"/>
              <a:cs typeface="+mn-cs"/>
            </a:endParaRPr>
          </a:p>
        </p:txBody>
      </p:sp>
      <p:sp>
        <p:nvSpPr>
          <p:cNvPr id="569351" name="Line 7"/>
          <p:cNvSpPr>
            <a:spLocks noChangeShapeType="1"/>
          </p:cNvSpPr>
          <p:nvPr/>
        </p:nvSpPr>
        <p:spPr bwMode="auto">
          <a:xfrm>
            <a:off x="898525" y="4703688"/>
            <a:ext cx="3817938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stealth" w="med" len="med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itchFamily="2" charset="-122"/>
              <a:cs typeface="+mn-cs"/>
            </a:endParaRPr>
          </a:p>
        </p:txBody>
      </p:sp>
      <p:sp>
        <p:nvSpPr>
          <p:cNvPr id="569352" name="Text Box 8"/>
          <p:cNvSpPr txBox="1">
            <a:spLocks noChangeArrowheads="1"/>
          </p:cNvSpPr>
          <p:nvPr/>
        </p:nvSpPr>
        <p:spPr bwMode="auto">
          <a:xfrm>
            <a:off x="2051050" y="4275063"/>
            <a:ext cx="13684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Garamond" panose="02020404030301010803" pitchFamily="18" charset="0"/>
                <a:ea typeface="宋体" pitchFamily="2" charset="-122"/>
                <a:cs typeface="+mn-cs"/>
              </a:rPr>
              <a:t>start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99FF"/>
              </a:solidFill>
              <a:effectLst/>
              <a:uLnTx/>
              <a:uFillTx/>
              <a:latin typeface="Garamond" panose="02020404030301010803" pitchFamily="18" charset="0"/>
              <a:ea typeface="宋体" pitchFamily="2" charset="-122"/>
              <a:cs typeface="+mn-cs"/>
            </a:endParaRPr>
          </a:p>
        </p:txBody>
      </p:sp>
      <p:sp>
        <p:nvSpPr>
          <p:cNvPr id="569353" name="Line 9"/>
          <p:cNvSpPr>
            <a:spLocks noChangeShapeType="1"/>
          </p:cNvSpPr>
          <p:nvPr/>
        </p:nvSpPr>
        <p:spPr bwMode="auto">
          <a:xfrm>
            <a:off x="6300788" y="4710038"/>
            <a:ext cx="2303462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stealth" w="med" len="med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itchFamily="2" charset="-122"/>
              <a:cs typeface="+mn-cs"/>
            </a:endParaRPr>
          </a:p>
        </p:txBody>
      </p:sp>
      <p:sp>
        <p:nvSpPr>
          <p:cNvPr id="569354" name="Text Box 10"/>
          <p:cNvSpPr txBox="1">
            <a:spLocks noChangeArrowheads="1"/>
          </p:cNvSpPr>
          <p:nvPr/>
        </p:nvSpPr>
        <p:spPr bwMode="auto">
          <a:xfrm>
            <a:off x="6156325" y="4327451"/>
            <a:ext cx="26273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Garamond" panose="02020404030301010803" pitchFamily="18" charset="0"/>
                <a:ea typeface="宋体" pitchFamily="2" charset="-122"/>
                <a:cs typeface="+mn-cs"/>
              </a:rPr>
              <a:t>strlen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Garamond" panose="02020404030301010803" pitchFamily="18" charset="0"/>
                <a:ea typeface="宋体" pitchFamily="2" charset="-122"/>
                <a:cs typeface="+mn-cs"/>
              </a:rPr>
              <a:t>(a)-start-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Garamond" panose="02020404030301010803" pitchFamily="18" charset="0"/>
                <a:ea typeface="宋体" pitchFamily="2" charset="-122"/>
                <a:cs typeface="+mn-cs"/>
              </a:rPr>
              <a:t>len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99FF"/>
              </a:solidFill>
              <a:effectLst/>
              <a:uLnTx/>
              <a:uFillTx/>
              <a:latin typeface="Garamond" panose="02020404030301010803" pitchFamily="18" charset="0"/>
              <a:ea typeface="宋体" pitchFamily="2" charset="-122"/>
              <a:cs typeface="+mn-cs"/>
            </a:endParaRPr>
          </a:p>
        </p:txBody>
      </p:sp>
      <p:sp>
        <p:nvSpPr>
          <p:cNvPr id="569355" name="Line 11"/>
          <p:cNvSpPr>
            <a:spLocks noChangeShapeType="1"/>
          </p:cNvSpPr>
          <p:nvPr/>
        </p:nvSpPr>
        <p:spPr bwMode="auto">
          <a:xfrm flipV="1">
            <a:off x="5076825" y="5373613"/>
            <a:ext cx="0" cy="690563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itchFamily="2" charset="-122"/>
              <a:cs typeface="+mn-cs"/>
            </a:endParaRPr>
          </a:p>
        </p:txBody>
      </p:sp>
      <p:sp>
        <p:nvSpPr>
          <p:cNvPr id="569356" name="Line 12"/>
          <p:cNvSpPr>
            <a:spLocks noChangeShapeType="1"/>
          </p:cNvSpPr>
          <p:nvPr/>
        </p:nvSpPr>
        <p:spPr bwMode="auto">
          <a:xfrm flipV="1">
            <a:off x="6588125" y="5373613"/>
            <a:ext cx="0" cy="690563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itchFamily="2" charset="-122"/>
              <a:cs typeface="+mn-cs"/>
            </a:endParaRPr>
          </a:p>
        </p:txBody>
      </p:sp>
      <p:sp>
        <p:nvSpPr>
          <p:cNvPr id="569357" name="Text Box 13"/>
          <p:cNvSpPr txBox="1">
            <a:spLocks noChangeArrowheads="1"/>
          </p:cNvSpPr>
          <p:nvPr/>
        </p:nvSpPr>
        <p:spPr bwMode="auto">
          <a:xfrm>
            <a:off x="0" y="5084688"/>
            <a:ext cx="7921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Garamond" panose="02020404030301010803" pitchFamily="18" charset="0"/>
                <a:ea typeface="宋体" pitchFamily="2" charset="-122"/>
                <a:cs typeface="+mn-cs"/>
              </a:rPr>
              <a:t>a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99FF"/>
              </a:solidFill>
              <a:effectLst/>
              <a:uLnTx/>
              <a:uFillTx/>
              <a:latin typeface="Garamond" panose="02020404030301010803" pitchFamily="18" charset="0"/>
              <a:ea typeface="宋体" pitchFamily="2" charset="-122"/>
              <a:cs typeface="+mn-cs"/>
            </a:endParaRPr>
          </a:p>
        </p:txBody>
      </p:sp>
      <p:grpSp>
        <p:nvGrpSpPr>
          <p:cNvPr id="569358" name="Group 14"/>
          <p:cNvGrpSpPr/>
          <p:nvPr/>
        </p:nvGrpSpPr>
        <p:grpSpPr bwMode="auto">
          <a:xfrm>
            <a:off x="827088" y="5086276"/>
            <a:ext cx="3960812" cy="622300"/>
            <a:chOff x="521" y="3023"/>
            <a:chExt cx="2495" cy="392"/>
          </a:xfrm>
        </p:grpSpPr>
        <p:sp>
          <p:nvSpPr>
            <p:cNvPr id="569359" name="Rectangle 15"/>
            <p:cNvSpPr>
              <a:spLocks noChangeArrowheads="1"/>
            </p:cNvSpPr>
            <p:nvPr/>
          </p:nvSpPr>
          <p:spPr bwMode="auto">
            <a:xfrm>
              <a:off x="521" y="3023"/>
              <a:ext cx="2495" cy="392"/>
            </a:xfrm>
            <a:prstGeom prst="rect">
              <a:avLst/>
            </a:prstGeom>
            <a:noFill/>
            <a:ln w="57150" algn="ctr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宋体" pitchFamily="2" charset="-122"/>
                <a:cs typeface="+mn-cs"/>
              </a:endParaRPr>
            </a:p>
          </p:txBody>
        </p:sp>
        <p:sp>
          <p:nvSpPr>
            <p:cNvPr id="569360" name="Line 16"/>
            <p:cNvSpPr>
              <a:spLocks noChangeShapeType="1"/>
            </p:cNvSpPr>
            <p:nvPr/>
          </p:nvSpPr>
          <p:spPr bwMode="auto">
            <a:xfrm>
              <a:off x="839" y="3023"/>
              <a:ext cx="1" cy="39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宋体" pitchFamily="2" charset="-122"/>
                <a:cs typeface="+mn-cs"/>
              </a:endParaRPr>
            </a:p>
          </p:txBody>
        </p:sp>
      </p:grpSp>
      <p:grpSp>
        <p:nvGrpSpPr>
          <p:cNvPr id="569361" name="Group 17"/>
          <p:cNvGrpSpPr/>
          <p:nvPr/>
        </p:nvGrpSpPr>
        <p:grpSpPr bwMode="auto">
          <a:xfrm>
            <a:off x="6300788" y="5086276"/>
            <a:ext cx="2374900" cy="649287"/>
            <a:chOff x="3425" y="2976"/>
            <a:chExt cx="1496" cy="409"/>
          </a:xfrm>
        </p:grpSpPr>
        <p:sp>
          <p:nvSpPr>
            <p:cNvPr id="569362" name="Rectangle 18"/>
            <p:cNvSpPr>
              <a:spLocks noChangeArrowheads="1"/>
            </p:cNvSpPr>
            <p:nvPr/>
          </p:nvSpPr>
          <p:spPr bwMode="auto">
            <a:xfrm>
              <a:off x="3425" y="2976"/>
              <a:ext cx="1496" cy="391"/>
            </a:xfrm>
            <a:prstGeom prst="rect">
              <a:avLst/>
            </a:prstGeom>
            <a:noFill/>
            <a:ln w="57150" algn="ctr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宋体" pitchFamily="2" charset="-122"/>
                <a:cs typeface="+mn-cs"/>
              </a:endParaRPr>
            </a:p>
          </p:txBody>
        </p:sp>
        <p:sp>
          <p:nvSpPr>
            <p:cNvPr id="569363" name="Line 19"/>
            <p:cNvSpPr>
              <a:spLocks noChangeShapeType="1"/>
            </p:cNvSpPr>
            <p:nvPr/>
          </p:nvSpPr>
          <p:spPr bwMode="auto">
            <a:xfrm>
              <a:off x="3742" y="2976"/>
              <a:ext cx="0" cy="409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宋体" pitchFamily="2" charset="-122"/>
                <a:cs typeface="+mn-cs"/>
              </a:endParaRPr>
            </a:p>
          </p:txBody>
        </p:sp>
      </p:grpSp>
      <p:sp>
        <p:nvSpPr>
          <p:cNvPr id="569364" name="Rectangle 20"/>
          <p:cNvSpPr>
            <a:spLocks noChangeArrowheads="1"/>
          </p:cNvSpPr>
          <p:nvPr/>
        </p:nvSpPr>
        <p:spPr bwMode="auto">
          <a:xfrm>
            <a:off x="4787900" y="5086276"/>
            <a:ext cx="1498600" cy="617537"/>
          </a:xfrm>
          <a:prstGeom prst="rect">
            <a:avLst/>
          </a:prstGeom>
          <a:noFill/>
          <a:ln w="57150" algn="ctr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itchFamily="2" charset="-122"/>
              <a:cs typeface="+mn-cs"/>
            </a:endParaRPr>
          </a:p>
        </p:txBody>
      </p:sp>
      <p:sp>
        <p:nvSpPr>
          <p:cNvPr id="569365" name="Line 21"/>
          <p:cNvSpPr>
            <a:spLocks noChangeShapeType="1"/>
          </p:cNvSpPr>
          <p:nvPr/>
        </p:nvSpPr>
        <p:spPr bwMode="auto">
          <a:xfrm>
            <a:off x="5292725" y="5086276"/>
            <a:ext cx="1588" cy="6223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itchFamily="2" charset="-122"/>
              <a:cs typeface="+mn-cs"/>
            </a:endParaRPr>
          </a:p>
        </p:txBody>
      </p:sp>
      <p:sp>
        <p:nvSpPr>
          <p:cNvPr id="569366" name="Line 22"/>
          <p:cNvSpPr>
            <a:spLocks noChangeShapeType="1"/>
          </p:cNvSpPr>
          <p:nvPr/>
        </p:nvSpPr>
        <p:spPr bwMode="auto">
          <a:xfrm>
            <a:off x="6300788" y="4294113"/>
            <a:ext cx="0" cy="1382713"/>
          </a:xfrm>
          <a:prstGeom prst="line">
            <a:avLst/>
          </a:prstGeom>
          <a:noFill/>
          <a:ln w="28575">
            <a:solidFill>
              <a:srgbClr val="0099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itchFamily="2" charset="-122"/>
              <a:cs typeface="+mn-cs"/>
            </a:endParaRPr>
          </a:p>
        </p:txBody>
      </p:sp>
      <p:sp>
        <p:nvSpPr>
          <p:cNvPr id="569367" name="Line 23"/>
          <p:cNvSpPr>
            <a:spLocks noChangeShapeType="1"/>
          </p:cNvSpPr>
          <p:nvPr/>
        </p:nvSpPr>
        <p:spPr bwMode="auto">
          <a:xfrm>
            <a:off x="4787900" y="4710038"/>
            <a:ext cx="1728788" cy="15875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stealth" w="med" len="med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itchFamily="2" charset="-122"/>
              <a:cs typeface="+mn-cs"/>
            </a:endParaRPr>
          </a:p>
        </p:txBody>
      </p:sp>
      <p:sp>
        <p:nvSpPr>
          <p:cNvPr id="569368" name="Text Box 24"/>
          <p:cNvSpPr txBox="1">
            <a:spLocks noChangeArrowheads="1"/>
          </p:cNvSpPr>
          <p:nvPr/>
        </p:nvSpPr>
        <p:spPr bwMode="auto">
          <a:xfrm>
            <a:off x="5219700" y="4221088"/>
            <a:ext cx="647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Garamond" panose="02020404030301010803" pitchFamily="18" charset="0"/>
                <a:ea typeface="宋体" pitchFamily="2" charset="-122"/>
                <a:cs typeface="+mn-cs"/>
              </a:rPr>
              <a:t>len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99FF"/>
              </a:solidFill>
              <a:effectLst/>
              <a:uLnTx/>
              <a:uFillTx/>
              <a:latin typeface="Garamond" panose="02020404030301010803" pitchFamily="18" charset="0"/>
              <a:ea typeface="宋体" pitchFamily="2" charset="-122"/>
              <a:cs typeface="+mn-cs"/>
            </a:endParaRPr>
          </a:p>
        </p:txBody>
      </p:sp>
      <p:sp>
        <p:nvSpPr>
          <p:cNvPr id="569369" name="Text Box 25"/>
          <p:cNvSpPr txBox="1">
            <a:spLocks noChangeArrowheads="1"/>
          </p:cNvSpPr>
          <p:nvPr/>
        </p:nvSpPr>
        <p:spPr bwMode="auto">
          <a:xfrm>
            <a:off x="502444" y="6103143"/>
            <a:ext cx="7921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Garamond" panose="02020404030301010803" pitchFamily="18" charset="0"/>
                <a:ea typeface="宋体" pitchFamily="2" charset="-122"/>
                <a:cs typeface="+mn-cs"/>
              </a:rPr>
              <a:t>ans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99FF"/>
              </a:solidFill>
              <a:effectLst/>
              <a:uLnTx/>
              <a:uFillTx/>
              <a:latin typeface="Garamond" panose="02020404030301010803" pitchFamily="18" charset="0"/>
              <a:ea typeface="宋体" pitchFamily="2" charset="-122"/>
              <a:cs typeface="+mn-cs"/>
            </a:endParaRPr>
          </a:p>
        </p:txBody>
      </p:sp>
      <p:grpSp>
        <p:nvGrpSpPr>
          <p:cNvPr id="569370" name="Group 26"/>
          <p:cNvGrpSpPr/>
          <p:nvPr/>
        </p:nvGrpSpPr>
        <p:grpSpPr bwMode="auto">
          <a:xfrm>
            <a:off x="827088" y="5084688"/>
            <a:ext cx="3960812" cy="622300"/>
            <a:chOff x="521" y="3023"/>
            <a:chExt cx="2495" cy="392"/>
          </a:xfrm>
        </p:grpSpPr>
        <p:sp>
          <p:nvSpPr>
            <p:cNvPr id="569371" name="Rectangle 27"/>
            <p:cNvSpPr>
              <a:spLocks noChangeArrowheads="1"/>
            </p:cNvSpPr>
            <p:nvPr/>
          </p:nvSpPr>
          <p:spPr bwMode="auto">
            <a:xfrm>
              <a:off x="521" y="3023"/>
              <a:ext cx="2495" cy="392"/>
            </a:xfrm>
            <a:prstGeom prst="rect">
              <a:avLst/>
            </a:prstGeom>
            <a:noFill/>
            <a:ln w="57150" algn="ctr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宋体" pitchFamily="2" charset="-122"/>
                <a:cs typeface="+mn-cs"/>
              </a:endParaRPr>
            </a:p>
          </p:txBody>
        </p:sp>
        <p:sp>
          <p:nvSpPr>
            <p:cNvPr id="569372" name="Line 28"/>
            <p:cNvSpPr>
              <a:spLocks noChangeShapeType="1"/>
            </p:cNvSpPr>
            <p:nvPr/>
          </p:nvSpPr>
          <p:spPr bwMode="auto">
            <a:xfrm>
              <a:off x="839" y="3023"/>
              <a:ext cx="1" cy="39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宋体" pitchFamily="2" charset="-122"/>
                <a:cs typeface="+mn-cs"/>
              </a:endParaRPr>
            </a:p>
          </p:txBody>
        </p:sp>
      </p:grpSp>
      <p:grpSp>
        <p:nvGrpSpPr>
          <p:cNvPr id="569373" name="Group 29"/>
          <p:cNvGrpSpPr/>
          <p:nvPr/>
        </p:nvGrpSpPr>
        <p:grpSpPr bwMode="auto">
          <a:xfrm>
            <a:off x="6300788" y="5084688"/>
            <a:ext cx="2374900" cy="649288"/>
            <a:chOff x="3425" y="2976"/>
            <a:chExt cx="1496" cy="409"/>
          </a:xfrm>
        </p:grpSpPr>
        <p:sp>
          <p:nvSpPr>
            <p:cNvPr id="569374" name="Rectangle 30"/>
            <p:cNvSpPr>
              <a:spLocks noChangeArrowheads="1"/>
            </p:cNvSpPr>
            <p:nvPr/>
          </p:nvSpPr>
          <p:spPr bwMode="auto">
            <a:xfrm>
              <a:off x="3425" y="2976"/>
              <a:ext cx="1496" cy="391"/>
            </a:xfrm>
            <a:prstGeom prst="rect">
              <a:avLst/>
            </a:prstGeom>
            <a:noFill/>
            <a:ln w="57150" algn="ctr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宋体" pitchFamily="2" charset="-122"/>
                <a:cs typeface="+mn-cs"/>
              </a:endParaRPr>
            </a:p>
          </p:txBody>
        </p:sp>
        <p:sp>
          <p:nvSpPr>
            <p:cNvPr id="569375" name="Line 31"/>
            <p:cNvSpPr>
              <a:spLocks noChangeShapeType="1"/>
            </p:cNvSpPr>
            <p:nvPr/>
          </p:nvSpPr>
          <p:spPr bwMode="auto">
            <a:xfrm>
              <a:off x="3742" y="2976"/>
              <a:ext cx="0" cy="409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宋体" pitchFamily="2" charset="-122"/>
                <a:cs typeface="+mn-c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05556E-6 -6.41618E-6 L 0.05521 0.15722 " pathEditMode="relative" ptsTypes="AA">
                                      <p:cBhvr>
                                        <p:cTn id="6" dur="2000" fill="hold"/>
                                        <p:tgtEl>
                                          <p:spTgt spid="5693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1111E-6 2.83237E-6 L -0.10798 0.15584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5693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399" y="779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例：日期识别</a:t>
            </a:r>
            <a:r>
              <a:rPr lang="en-US" altLang="zh-CN" dirty="0"/>
              <a:t>(</a:t>
            </a:r>
            <a:r>
              <a:rPr lang="en-US" altLang="zh-CN" dirty="0" err="1"/>
              <a:t>yoj</a:t>
            </a:r>
            <a:r>
              <a:rPr lang="en-US" altLang="zh-CN" dirty="0"/>
              <a:t> 231)</a:t>
            </a:r>
            <a:endParaRPr 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8862" y="1345117"/>
            <a:ext cx="7417676" cy="5056294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分析问题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字符串分析</a:t>
            </a:r>
            <a:endParaRPr lang="en-US" altLang="zh-CN" dirty="0"/>
          </a:p>
          <a:p>
            <a:pPr lvl="1"/>
            <a:r>
              <a:rPr lang="zh-CN" altLang="en-US" dirty="0"/>
              <a:t>得到年、月、日的具体数值</a:t>
            </a:r>
            <a:endParaRPr lang="en-US" altLang="zh-CN" dirty="0"/>
          </a:p>
          <a:p>
            <a:pPr marL="854710" lvl="1" indent="-457200">
              <a:buFont typeface="+mj-lt"/>
              <a:buAutoNum type="arabicPeriod"/>
            </a:pPr>
            <a:r>
              <a:rPr lang="en-US" altLang="zh-CN" sz="2000" dirty="0"/>
              <a:t>	</a:t>
            </a:r>
            <a:r>
              <a:rPr lang="zh-CN" altLang="en-US" sz="2000" dirty="0"/>
              <a:t>月、日、年</a:t>
            </a:r>
            <a:r>
              <a:rPr lang="en-US" altLang="zh-CN" sz="2000" dirty="0"/>
              <a:t>    </a:t>
            </a:r>
            <a:r>
              <a:rPr lang="zh-CN" altLang="en-US" sz="2000" dirty="0"/>
              <a:t>例：</a:t>
            </a:r>
            <a:r>
              <a:rPr lang="en-US" sz="2000" dirty="0"/>
              <a:t>January 3,2018 （</a:t>
            </a:r>
            <a:r>
              <a:rPr lang="zh-CN" altLang="en-US" sz="2000" dirty="0"/>
              <a:t>注意逗号后有一个空格）</a:t>
            </a:r>
            <a:endParaRPr lang="en-US" altLang="zh-CN" sz="2000" dirty="0"/>
          </a:p>
          <a:p>
            <a:pPr marL="854710" lvl="1" indent="-457200">
              <a:buFont typeface="+mj-lt"/>
              <a:buAutoNum type="arabicPeriod"/>
            </a:pPr>
            <a:r>
              <a:rPr lang="zh-CN" altLang="en-US" sz="2000" dirty="0"/>
              <a:t>月、日、年</a:t>
            </a:r>
            <a:r>
              <a:rPr lang="en-US" altLang="zh-CN" sz="2000" dirty="0"/>
              <a:t>	</a:t>
            </a:r>
            <a:r>
              <a:rPr lang="zh-CN" altLang="en-US" sz="2000" dirty="0"/>
              <a:t>例：</a:t>
            </a:r>
            <a:r>
              <a:rPr lang="en-US" dirty="0"/>
              <a:t>1.3.2018		1/3/2018</a:t>
            </a:r>
            <a:endParaRPr lang="en-US" altLang="zh-CN" sz="2000" dirty="0"/>
          </a:p>
          <a:p>
            <a:pPr marL="854710" lvl="1" indent="-457200">
              <a:buFont typeface="+mj-lt"/>
              <a:buAutoNum type="arabicPeriod"/>
            </a:pPr>
            <a:r>
              <a:rPr lang="zh-CN" altLang="en-US" sz="2000" dirty="0"/>
              <a:t>年、月、日</a:t>
            </a:r>
            <a:r>
              <a:rPr lang="en-US" altLang="zh-CN" sz="2000" dirty="0"/>
              <a:t>	</a:t>
            </a:r>
            <a:r>
              <a:rPr lang="zh-CN" altLang="en-US" sz="2000" dirty="0"/>
              <a:t>例：</a:t>
            </a:r>
            <a:r>
              <a:rPr lang="en-US" dirty="0"/>
              <a:t>2018/1/3	2018-1-3	 2018.1.3</a:t>
            </a:r>
            <a:endParaRPr lang="en-US" dirty="0"/>
          </a:p>
          <a:p>
            <a:pPr lvl="1"/>
            <a:r>
              <a:rPr lang="zh-CN" altLang="en-US" dirty="0"/>
              <a:t>观察特点：</a:t>
            </a:r>
            <a:endParaRPr lang="en-US" altLang="zh-CN" dirty="0"/>
          </a:p>
          <a:p>
            <a:pPr lvl="2"/>
            <a:r>
              <a:rPr lang="zh-CN" altLang="en-US" dirty="0"/>
              <a:t>日期串中都有分隔符： </a:t>
            </a:r>
            <a:r>
              <a:rPr lang="en-US" dirty="0"/>
              <a:t>",/-."</a:t>
            </a:r>
            <a:endParaRPr lang="en-US" dirty="0"/>
          </a:p>
          <a:p>
            <a:pPr lvl="2"/>
            <a:r>
              <a:rPr lang="zh-CN" altLang="en-US" dirty="0"/>
              <a:t>从日期串开头找第</a:t>
            </a:r>
            <a:r>
              <a:rPr lang="en-US" altLang="zh-CN" dirty="0"/>
              <a:t>1</a:t>
            </a:r>
            <a:r>
              <a:rPr lang="zh-CN" altLang="en-US" dirty="0"/>
              <a:t>个分隔符的位置，根据位置来区分</a:t>
            </a:r>
            <a:r>
              <a:rPr lang="en-US" altLang="zh-CN" dirty="0"/>
              <a:t>3</a:t>
            </a:r>
            <a:r>
              <a:rPr lang="zh-CN" altLang="en-US" dirty="0"/>
              <a:t>类情况</a:t>
            </a:r>
            <a:endParaRPr lang="en-US" altLang="zh-CN" dirty="0"/>
          </a:p>
          <a:p>
            <a:pPr marL="397510" lvl="1" indent="0">
              <a:buNone/>
            </a:pPr>
            <a:endParaRPr lang="en-US" altLang="zh-CN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参考代码：</a:t>
            </a:r>
            <a:endParaRPr 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21126" y="973802"/>
            <a:ext cx="4724881" cy="4663218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2045400"/>
            <a:ext cx="3482736" cy="214823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756745" y="5971768"/>
            <a:ext cx="36418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另</a:t>
            </a:r>
            <a:r>
              <a:rPr lang="en-US" altLang="zh-CN" dirty="0"/>
              <a:t>: </a:t>
            </a:r>
            <a:r>
              <a:rPr lang="zh-CN" altLang="en-US" dirty="0"/>
              <a:t>可用库函数</a:t>
            </a:r>
            <a:r>
              <a:rPr lang="en-US" dirty="0" err="1"/>
              <a:t>strtok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sz="4800" dirty="0"/>
              <a:t>通过指针访问多维数组</a:t>
            </a:r>
            <a:endParaRPr lang="en-US" sz="48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多维数组元素的地址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通过指针引用多维数组</a:t>
            </a:r>
            <a:endParaRPr lang="zh-CN" altLang="en-US" dirty="0"/>
          </a:p>
        </p:txBody>
      </p:sp>
      <p:sp>
        <p:nvSpPr>
          <p:cNvPr id="4" name="MH_Desc_1"/>
          <p:cNvSpPr/>
          <p:nvPr>
            <p:custDataLst>
              <p:tags r:id="rId1"/>
            </p:custDataLst>
          </p:nvPr>
        </p:nvSpPr>
        <p:spPr>
          <a:xfrm>
            <a:off x="107504" y="2087623"/>
            <a:ext cx="8928992" cy="4579415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-1" fmla="*/ 0 w 2520280"/>
              <a:gd name="connsiteY0-2" fmla="*/ 1584176 h 1872208"/>
              <a:gd name="connsiteX1-3" fmla="*/ 2520280 w 2520280"/>
              <a:gd name="connsiteY1-4" fmla="*/ 1584176 h 1872208"/>
              <a:gd name="connsiteX2-5" fmla="*/ 2520280 w 2520280"/>
              <a:gd name="connsiteY2-6" fmla="*/ 1872208 h 1872208"/>
              <a:gd name="connsiteX3-7" fmla="*/ 0 w 2520280"/>
              <a:gd name="connsiteY3-8" fmla="*/ 1872208 h 1872208"/>
              <a:gd name="connsiteX4-9" fmla="*/ 0 w 2520280"/>
              <a:gd name="connsiteY4-10" fmla="*/ 1584176 h 1872208"/>
              <a:gd name="connsiteX5-11" fmla="*/ 0 w 2520280"/>
              <a:gd name="connsiteY5-12" fmla="*/ 0 h 1872208"/>
              <a:gd name="connsiteX6-13" fmla="*/ 2520280 w 2520280"/>
              <a:gd name="connsiteY6-14" fmla="*/ 0 h 1872208"/>
              <a:gd name="connsiteX7-15" fmla="*/ 0 w 2520280"/>
              <a:gd name="connsiteY7-16" fmla="*/ 0 h 1872208"/>
              <a:gd name="connsiteX0-17" fmla="*/ 0 w 2520280"/>
              <a:gd name="connsiteY0-18" fmla="*/ 1872208 h 1872208"/>
              <a:gd name="connsiteX1-19" fmla="*/ 2520280 w 2520280"/>
              <a:gd name="connsiteY1-20" fmla="*/ 1584176 h 1872208"/>
              <a:gd name="connsiteX2-21" fmla="*/ 2520280 w 2520280"/>
              <a:gd name="connsiteY2-22" fmla="*/ 1872208 h 1872208"/>
              <a:gd name="connsiteX3-23" fmla="*/ 0 w 2520280"/>
              <a:gd name="connsiteY3-24" fmla="*/ 1872208 h 1872208"/>
              <a:gd name="connsiteX4-25" fmla="*/ 0 w 2520280"/>
              <a:gd name="connsiteY4-26" fmla="*/ 0 h 1872208"/>
              <a:gd name="connsiteX5-27" fmla="*/ 2520280 w 2520280"/>
              <a:gd name="connsiteY5-28" fmla="*/ 0 h 1872208"/>
              <a:gd name="connsiteX6-29" fmla="*/ 0 w 2520280"/>
              <a:gd name="connsiteY6-30" fmla="*/ 0 h 1872208"/>
              <a:gd name="connsiteX0-31" fmla="*/ 0 w 2520280"/>
              <a:gd name="connsiteY0-32" fmla="*/ 1872208 h 1872208"/>
              <a:gd name="connsiteX1-33" fmla="*/ 2520280 w 2520280"/>
              <a:gd name="connsiteY1-34" fmla="*/ 1872208 h 1872208"/>
              <a:gd name="connsiteX2-35" fmla="*/ 0 w 2520280"/>
              <a:gd name="connsiteY2-36" fmla="*/ 1872208 h 1872208"/>
              <a:gd name="connsiteX3-37" fmla="*/ 0 w 2520280"/>
              <a:gd name="connsiteY3-38" fmla="*/ 0 h 1872208"/>
              <a:gd name="connsiteX4-39" fmla="*/ 2520280 w 2520280"/>
              <a:gd name="connsiteY4-40" fmla="*/ 0 h 1872208"/>
              <a:gd name="connsiteX5-41" fmla="*/ 0 w 2520280"/>
              <a:gd name="connsiteY5-42" fmla="*/ 0 h 18722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2520280" y="0"/>
                </a:lnTo>
                <a:lnTo>
                  <a:pt x="0" y="0"/>
                </a:lnTo>
                <a:close/>
              </a:path>
            </a:pathLst>
          </a:custGeom>
          <a:noFill/>
          <a:ln w="25400" cap="sq" cmpd="sng" algn="ctr">
            <a:solidFill>
              <a:srgbClr val="E84C22"/>
            </a:solidFill>
            <a:prstDash val="solid"/>
            <a:bevel/>
          </a:ln>
          <a:effectLst/>
        </p:spPr>
        <p:txBody>
          <a:bodyPr lIns="72000" tIns="72000" rIns="72000" bIns="72000" anchor="t">
            <a:noAutofit/>
          </a:bodyPr>
          <a:lstStyle/>
          <a:p>
            <a:pPr marL="0" marR="0" lvl="0" indent="0" algn="just" defTabSz="91440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107504" y="2728024"/>
          <a:ext cx="4641366" cy="2966720"/>
        </p:xfrm>
        <a:graphic>
          <a:graphicData uri="http://schemas.openxmlformats.org/drawingml/2006/table">
            <a:tbl>
              <a:tblPr bandRow="1"/>
              <a:tblGrid>
                <a:gridCol w="773561"/>
                <a:gridCol w="773561"/>
                <a:gridCol w="773561"/>
                <a:gridCol w="773561"/>
                <a:gridCol w="773561"/>
                <a:gridCol w="773561"/>
              </a:tblGrid>
              <a:tr h="370840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endParaRPr lang="zh-CN" altLang="en-US" sz="16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endParaRPr lang="zh-CN" altLang="en-US" sz="16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l"/>
                      <a:r>
                        <a:rPr lang="en-US" altLang="zh-CN" sz="1600"/>
                        <a:t>a[0]</a:t>
                      </a:r>
                      <a:endParaRPr lang="zh-CN" altLang="en-US" sz="16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l"/>
                      <a:r>
                        <a:rPr lang="en-US" altLang="zh-CN" sz="1600"/>
                        <a:t>a[0]+1</a:t>
                      </a:r>
                      <a:endParaRPr lang="zh-CN" altLang="en-US" sz="16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l"/>
                      <a:r>
                        <a:rPr lang="en-US" altLang="zh-CN" sz="1600"/>
                        <a:t>a[0]+2</a:t>
                      </a:r>
                      <a:endParaRPr lang="zh-CN" altLang="en-US" sz="16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l"/>
                      <a:r>
                        <a:rPr lang="en-US" altLang="zh-CN" sz="1600"/>
                        <a:t>a[0]+3</a:t>
                      </a:r>
                      <a:endParaRPr lang="zh-CN" altLang="en-US" sz="16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l"/>
                      <a:r>
                        <a:rPr lang="en-US" altLang="zh-CN" sz="1600"/>
                        <a:t>a</a:t>
                      </a:r>
                      <a:endParaRPr lang="zh-CN" altLang="en-US" sz="16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l"/>
                      <a:r>
                        <a:rPr lang="en-US" altLang="zh-CN" sz="1600"/>
                        <a:t>a[0]</a:t>
                      </a:r>
                      <a:endParaRPr lang="zh-CN" altLang="en-US" sz="16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endParaRPr lang="zh-CN" altLang="en-US" sz="16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endParaRPr lang="zh-CN" altLang="en-US" sz="16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endParaRPr lang="zh-CN" altLang="en-US" sz="16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endParaRPr lang="zh-CN" altLang="en-US" sz="16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l"/>
                      <a:endParaRPr lang="zh-CN" altLang="en-US" sz="160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l"/>
                      <a:endParaRPr lang="zh-CN" altLang="en-US" sz="160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en-US" altLang="zh-CN" sz="1600">
                          <a:solidFill>
                            <a:schemeClr val="bg1"/>
                          </a:solidFill>
                        </a:rPr>
                        <a:t>2000</a:t>
                      </a:r>
                      <a:endParaRPr lang="zh-CN" altLang="en-US" sz="16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/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en-US" altLang="zh-CN" sz="1600">
                          <a:solidFill>
                            <a:schemeClr val="bg1"/>
                          </a:solidFill>
                        </a:rPr>
                        <a:t>2004</a:t>
                      </a:r>
                      <a:endParaRPr lang="zh-CN" altLang="en-US" sz="16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/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en-US" altLang="zh-CN" sz="1600">
                          <a:solidFill>
                            <a:schemeClr val="bg1"/>
                          </a:solidFill>
                        </a:rPr>
                        <a:t>2008</a:t>
                      </a:r>
                      <a:endParaRPr lang="zh-CN" altLang="en-US" sz="16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/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en-US" altLang="zh-CN" sz="1600">
                          <a:solidFill>
                            <a:schemeClr val="bg1"/>
                          </a:solidFill>
                        </a:rPr>
                        <a:t>2012</a:t>
                      </a:r>
                      <a:endParaRPr lang="zh-CN" altLang="en-US" sz="16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/>
                    </a:solidFill>
                  </a:tcPr>
                </a:tc>
              </a:tr>
              <a:tr h="370840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l"/>
                      <a:r>
                        <a:rPr lang="en-US" altLang="zh-CN" sz="1600"/>
                        <a:t>a+1</a:t>
                      </a:r>
                      <a:endParaRPr lang="zh-CN" altLang="en-US" sz="160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l"/>
                      <a:r>
                        <a:rPr lang="en-US" altLang="zh-CN" sz="1600"/>
                        <a:t>a[1]</a:t>
                      </a:r>
                      <a:endParaRPr lang="zh-CN" altLang="en-US" sz="160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en-US" altLang="zh-CN" sz="1600"/>
                        <a:t>1</a:t>
                      </a:r>
                      <a:endParaRPr lang="zh-CN" altLang="en-US" sz="16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en-US" altLang="zh-CN" sz="1600"/>
                        <a:t>3</a:t>
                      </a:r>
                      <a:endParaRPr lang="zh-CN" altLang="en-US" sz="1600"/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en-US" altLang="zh-CN" sz="1600"/>
                        <a:t>5</a:t>
                      </a:r>
                      <a:endParaRPr lang="zh-CN" altLang="en-US" sz="1600"/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en-US" altLang="zh-CN" sz="1600"/>
                        <a:t>7</a:t>
                      </a:r>
                      <a:endParaRPr lang="zh-CN" altLang="en-US" sz="1600"/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20000"/>
                      </a:srgbClr>
                    </a:solidFill>
                  </a:tcPr>
                </a:tc>
              </a:tr>
              <a:tr h="370840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l"/>
                      <a:endParaRPr lang="zh-CN" altLang="en-US" sz="160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l"/>
                      <a:endParaRPr lang="zh-CN" altLang="en-US" sz="160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en-US" altLang="zh-CN" sz="1600">
                          <a:solidFill>
                            <a:schemeClr val="bg1"/>
                          </a:solidFill>
                        </a:rPr>
                        <a:t>2016</a:t>
                      </a:r>
                      <a:endParaRPr lang="zh-CN" altLang="en-US" sz="16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/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en-US" altLang="zh-CN" sz="1600">
                          <a:solidFill>
                            <a:schemeClr val="bg1"/>
                          </a:solidFill>
                        </a:rPr>
                        <a:t>2020</a:t>
                      </a:r>
                      <a:endParaRPr lang="zh-CN" altLang="en-US" sz="16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/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en-US" altLang="zh-CN" sz="1600">
                          <a:solidFill>
                            <a:schemeClr val="bg1"/>
                          </a:solidFill>
                        </a:rPr>
                        <a:t>2024</a:t>
                      </a:r>
                      <a:endParaRPr lang="zh-CN" altLang="en-US" sz="16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/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en-US" altLang="zh-CN" sz="1600">
                          <a:solidFill>
                            <a:schemeClr val="bg1"/>
                          </a:solidFill>
                        </a:rPr>
                        <a:t>2028</a:t>
                      </a:r>
                      <a:endParaRPr lang="zh-CN" altLang="en-US" sz="16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/>
                    </a:solidFill>
                  </a:tcPr>
                </a:tc>
              </a:tr>
              <a:tr h="370840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l"/>
                      <a:r>
                        <a:rPr lang="en-US" altLang="zh-CN" sz="1600"/>
                        <a:t>a+2</a:t>
                      </a:r>
                      <a:endParaRPr lang="zh-CN" altLang="en-US" sz="160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l"/>
                      <a:r>
                        <a:rPr lang="en-US" altLang="zh-CN" sz="1600"/>
                        <a:t>a[2]</a:t>
                      </a:r>
                      <a:endParaRPr lang="zh-CN" altLang="en-US" sz="160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en-US" altLang="zh-CN" sz="1600"/>
                        <a:t>9</a:t>
                      </a:r>
                      <a:endParaRPr lang="zh-CN" altLang="en-US" sz="16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en-US" altLang="zh-CN" sz="1600"/>
                        <a:t>11</a:t>
                      </a:r>
                      <a:endParaRPr lang="zh-CN" altLang="en-US" sz="1600"/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en-US" altLang="zh-CN" sz="1600"/>
                        <a:t>13</a:t>
                      </a:r>
                      <a:endParaRPr lang="zh-CN" altLang="en-US" sz="1600"/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en-US" altLang="zh-CN" sz="1600"/>
                        <a:t>15</a:t>
                      </a:r>
                      <a:endParaRPr lang="zh-CN" altLang="en-US" sz="1600"/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20000"/>
                      </a:srgbClr>
                    </a:solidFill>
                  </a:tcPr>
                </a:tc>
              </a:tr>
              <a:tr h="370840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endParaRPr lang="zh-CN" altLang="en-US" sz="160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endParaRPr lang="zh-CN" altLang="en-US" sz="160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en-US" altLang="zh-CN" sz="1600">
                          <a:solidFill>
                            <a:schemeClr val="bg1"/>
                          </a:solidFill>
                        </a:rPr>
                        <a:t>2032</a:t>
                      </a:r>
                      <a:endParaRPr lang="zh-CN" altLang="en-US" sz="16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/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en-US" altLang="zh-CN" sz="1600">
                          <a:solidFill>
                            <a:schemeClr val="bg1"/>
                          </a:solidFill>
                        </a:rPr>
                        <a:t>2036</a:t>
                      </a:r>
                      <a:endParaRPr lang="zh-CN" altLang="en-US" sz="16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/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en-US" altLang="zh-CN" sz="1600">
                          <a:solidFill>
                            <a:schemeClr val="bg1"/>
                          </a:solidFill>
                        </a:rPr>
                        <a:t>2040</a:t>
                      </a:r>
                      <a:endParaRPr lang="zh-CN" altLang="en-US" sz="16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/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en-US" altLang="zh-CN" sz="1600">
                          <a:solidFill>
                            <a:schemeClr val="bg1"/>
                          </a:solidFill>
                        </a:rPr>
                        <a:t>2044</a:t>
                      </a:r>
                      <a:endParaRPr lang="zh-CN" altLang="en-US" sz="16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/>
                    </a:solidFill>
                  </a:tcPr>
                </a:tc>
              </a:tr>
              <a:tr h="370840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endParaRPr lang="zh-CN" altLang="en-US" sz="160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endParaRPr lang="zh-CN" altLang="en-US" sz="160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en-US" altLang="zh-CN" sz="1600"/>
                        <a:t>17</a:t>
                      </a:r>
                      <a:endParaRPr lang="zh-CN" altLang="en-US" sz="16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en-US" altLang="zh-CN" sz="1600"/>
                        <a:t>19</a:t>
                      </a:r>
                      <a:endParaRPr lang="zh-CN" altLang="en-US" sz="1600"/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en-US" altLang="zh-CN" sz="1600"/>
                        <a:t>21</a:t>
                      </a:r>
                      <a:endParaRPr lang="zh-CN" altLang="en-US" sz="1600"/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en-US" altLang="zh-CN" sz="1600"/>
                        <a:t>23</a:t>
                      </a:r>
                      <a:endParaRPr lang="zh-CN" altLang="en-US" sz="1600"/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20000"/>
                      </a:srgbClr>
                    </a:solidFill>
                  </a:tcPr>
                </a:tc>
              </a:tr>
            </a:tbl>
          </a:graphicData>
        </a:graphic>
      </p:graphicFrame>
      <p:cxnSp>
        <p:nvCxnSpPr>
          <p:cNvPr id="6" name="直接箭头连接符 5"/>
          <p:cNvCxnSpPr/>
          <p:nvPr/>
        </p:nvCxnSpPr>
        <p:spPr>
          <a:xfrm>
            <a:off x="1652348" y="2708920"/>
            <a:ext cx="0" cy="765313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stealth"/>
          </a:ln>
          <a:effectLst/>
        </p:spPr>
      </p:cxnSp>
      <p:cxnSp>
        <p:nvCxnSpPr>
          <p:cNvPr id="7" name="直接箭头连接符 6"/>
          <p:cNvCxnSpPr/>
          <p:nvPr/>
        </p:nvCxnSpPr>
        <p:spPr>
          <a:xfrm>
            <a:off x="2427601" y="2708920"/>
            <a:ext cx="0" cy="765313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stealth"/>
          </a:ln>
          <a:effectLst/>
        </p:spPr>
      </p:cxnSp>
      <p:cxnSp>
        <p:nvCxnSpPr>
          <p:cNvPr id="8" name="直接箭头连接符 7"/>
          <p:cNvCxnSpPr/>
          <p:nvPr/>
        </p:nvCxnSpPr>
        <p:spPr>
          <a:xfrm>
            <a:off x="3202853" y="2708920"/>
            <a:ext cx="0" cy="765313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stealth"/>
          </a:ln>
          <a:effectLst/>
        </p:spPr>
      </p:cxnSp>
      <p:cxnSp>
        <p:nvCxnSpPr>
          <p:cNvPr id="9" name="直接箭头连接符 8"/>
          <p:cNvCxnSpPr/>
          <p:nvPr/>
        </p:nvCxnSpPr>
        <p:spPr>
          <a:xfrm>
            <a:off x="3978105" y="2708920"/>
            <a:ext cx="0" cy="765313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stealth"/>
          </a:ln>
          <a:effectLst/>
        </p:spPr>
      </p:cxnSp>
      <p:cxnSp>
        <p:nvCxnSpPr>
          <p:cNvPr id="10" name="直接箭头连接符 9"/>
          <p:cNvCxnSpPr/>
          <p:nvPr/>
        </p:nvCxnSpPr>
        <p:spPr>
          <a:xfrm>
            <a:off x="994410" y="3484172"/>
            <a:ext cx="648000" cy="0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stealth"/>
          </a:ln>
          <a:effectLst/>
        </p:spPr>
      </p:cxnSp>
      <p:cxnSp>
        <p:nvCxnSpPr>
          <p:cNvPr id="11" name="直接箭头连接符 10"/>
          <p:cNvCxnSpPr/>
          <p:nvPr/>
        </p:nvCxnSpPr>
        <p:spPr>
          <a:xfrm>
            <a:off x="994410" y="4232037"/>
            <a:ext cx="648000" cy="0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stealth"/>
          </a:ln>
          <a:effectLst/>
        </p:spPr>
      </p:cxnSp>
      <p:cxnSp>
        <p:nvCxnSpPr>
          <p:cNvPr id="12" name="直接箭头连接符 11"/>
          <p:cNvCxnSpPr/>
          <p:nvPr/>
        </p:nvCxnSpPr>
        <p:spPr>
          <a:xfrm>
            <a:off x="994409" y="4967532"/>
            <a:ext cx="648000" cy="0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stealth"/>
          </a:ln>
          <a:effectLst/>
        </p:spPr>
      </p:cxnSp>
      <p:cxnSp>
        <p:nvCxnSpPr>
          <p:cNvPr id="13" name="直接箭头连接符 12"/>
          <p:cNvCxnSpPr/>
          <p:nvPr/>
        </p:nvCxnSpPr>
        <p:spPr>
          <a:xfrm>
            <a:off x="229097" y="3474233"/>
            <a:ext cx="648000" cy="0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stealth"/>
          </a:ln>
          <a:effectLst/>
        </p:spPr>
      </p:cxnSp>
      <p:sp>
        <p:nvSpPr>
          <p:cNvPr id="14" name="圆角矩形 13"/>
          <p:cNvSpPr/>
          <p:nvPr/>
        </p:nvSpPr>
        <p:spPr>
          <a:xfrm>
            <a:off x="107504" y="2204864"/>
            <a:ext cx="4641366" cy="406411"/>
          </a:xfrm>
          <a:prstGeom prst="roundRect">
            <a:avLst>
              <a:gd name="adj" fmla="val 13591"/>
            </a:avLst>
          </a:prstGeom>
          <a:solidFill>
            <a:sysClr val="window" lastClr="FFFFFF"/>
          </a:solidFill>
          <a:ln w="12700" cap="flat" cmpd="sng" algn="ctr">
            <a:solidFill>
              <a:srgbClr val="E84C22"/>
            </a:solidFill>
            <a:prstDash val="solid"/>
            <a:miter lim="800000"/>
          </a:ln>
          <a:effectLst/>
        </p:spPr>
        <p:txBody>
          <a:bodyPr numCol="1" spcCol="360000" rtlCol="0" anchor="t"/>
          <a:lstStyle/>
          <a:p>
            <a:pPr marL="0" marR="0" lvl="0" indent="0" defTabSz="36385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int a[3][4]={{1,3,5,7},{9,11,13,15},{17,19,21,23}};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</p:txBody>
      </p:sp>
      <p:cxnSp>
        <p:nvCxnSpPr>
          <p:cNvPr id="15" name="直接箭头连接符 14"/>
          <p:cNvCxnSpPr/>
          <p:nvPr/>
        </p:nvCxnSpPr>
        <p:spPr>
          <a:xfrm>
            <a:off x="229097" y="4236085"/>
            <a:ext cx="648000" cy="0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stealth"/>
          </a:ln>
          <a:effectLst/>
        </p:spPr>
      </p:cxnSp>
      <p:cxnSp>
        <p:nvCxnSpPr>
          <p:cNvPr id="16" name="直接箭头连接符 15"/>
          <p:cNvCxnSpPr/>
          <p:nvPr/>
        </p:nvCxnSpPr>
        <p:spPr>
          <a:xfrm>
            <a:off x="229096" y="4963485"/>
            <a:ext cx="648000" cy="0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  <a:tailEnd type="stealth"/>
          </a:ln>
          <a:effectLst/>
        </p:spPr>
      </p:cxnSp>
      <p:graphicFrame>
        <p:nvGraphicFramePr>
          <p:cNvPr id="17" name="表格 16"/>
          <p:cNvGraphicFramePr>
            <a:graphicFrameLocks noGrp="1"/>
          </p:cNvGraphicFramePr>
          <p:nvPr/>
        </p:nvGraphicFramePr>
        <p:xfrm>
          <a:off x="4932040" y="2180527"/>
          <a:ext cx="4032448" cy="3566160"/>
        </p:xfrm>
        <a:graphic>
          <a:graphicData uri="http://schemas.openxmlformats.org/drawingml/2006/table">
            <a:tbl>
              <a:tblPr firstRow="1" bandRow="1"/>
              <a:tblGrid>
                <a:gridCol w="1036688"/>
                <a:gridCol w="2347954"/>
                <a:gridCol w="647806"/>
              </a:tblGrid>
              <a:tr h="217896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zh-CN" altLang="en-US" sz="1200" dirty="0"/>
                        <a:t>表示形式</a:t>
                      </a:r>
                      <a:endParaRPr lang="zh-CN" altLang="en-US" sz="1200" dirty="0"/>
                    </a:p>
                  </a:txBody>
                  <a:tcPr marL="72000" marR="3600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/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zh-CN" altLang="en-US" sz="1200" dirty="0"/>
                        <a:t>含义</a:t>
                      </a:r>
                      <a:endParaRPr lang="zh-CN" altLang="en-US" sz="1200" dirty="0"/>
                    </a:p>
                  </a:txBody>
                  <a:tcPr marL="72000" marR="3600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/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zh-CN" altLang="en-US" sz="1200" dirty="0"/>
                        <a:t>值</a:t>
                      </a:r>
                      <a:endParaRPr lang="zh-CN" altLang="en-US" sz="1200" dirty="0"/>
                    </a:p>
                  </a:txBody>
                  <a:tcPr marL="72000" marR="3600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/>
                    </a:solidFill>
                  </a:tcPr>
                </a:tc>
              </a:tr>
              <a:tr h="363160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r>
                        <a:rPr lang="en-US" altLang="zh-CN" sz="1200" dirty="0"/>
                        <a:t>a</a:t>
                      </a:r>
                      <a:endParaRPr lang="en-US" altLang="zh-CN" sz="1200" dirty="0"/>
                    </a:p>
                  </a:txBody>
                  <a:tcPr marL="72000" marR="3600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r>
                        <a:rPr lang="zh-CN" altLang="en-US" sz="1200" dirty="0"/>
                        <a:t>二维数组名，指向一维数组</a:t>
                      </a:r>
                      <a:r>
                        <a:rPr lang="en-US" altLang="zh-CN" sz="1200" dirty="0"/>
                        <a:t>a[0]</a:t>
                      </a:r>
                      <a:r>
                        <a:rPr lang="zh-CN" altLang="en-US" sz="1200" dirty="0"/>
                        <a:t>，即</a:t>
                      </a:r>
                      <a:r>
                        <a:rPr lang="en-US" altLang="zh-CN" sz="1200" dirty="0"/>
                        <a:t>0</a:t>
                      </a:r>
                      <a:r>
                        <a:rPr lang="zh-CN" altLang="en-US" sz="1200" dirty="0"/>
                        <a:t>行起始地址</a:t>
                      </a:r>
                      <a:endParaRPr lang="zh-CN" altLang="en-US" sz="1200" dirty="0"/>
                    </a:p>
                  </a:txBody>
                  <a:tcPr marL="72000" marR="3600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r>
                        <a:rPr lang="zh-CN" altLang="en-US" sz="1200" dirty="0"/>
                        <a:t>地址</a:t>
                      </a:r>
                      <a:r>
                        <a:rPr lang="en-US" altLang="zh-CN" sz="1200" dirty="0"/>
                        <a:t>2000</a:t>
                      </a:r>
                      <a:endParaRPr lang="zh-CN" altLang="en-US" sz="1200" dirty="0"/>
                    </a:p>
                  </a:txBody>
                  <a:tcPr marL="72000" marR="3600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40000"/>
                      </a:srgbClr>
                    </a:solidFill>
                  </a:tcPr>
                </a:tc>
              </a:tr>
              <a:tr h="508424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r>
                        <a:rPr lang="en-US" altLang="zh-CN" sz="1200" dirty="0"/>
                        <a:t>a[0], </a:t>
                      </a:r>
                      <a:endParaRPr lang="en-US" altLang="zh-CN" sz="1200" dirty="0"/>
                    </a:p>
                    <a:p>
                      <a:r>
                        <a:rPr lang="en-US" altLang="zh-CN" sz="1200" dirty="0"/>
                        <a:t>*(a+0), </a:t>
                      </a:r>
                      <a:endParaRPr lang="en-US" altLang="zh-CN" sz="1200" dirty="0"/>
                    </a:p>
                    <a:p>
                      <a:r>
                        <a:rPr lang="en-US" altLang="zh-CN" sz="1200" dirty="0"/>
                        <a:t>*a</a:t>
                      </a:r>
                      <a:endParaRPr lang="zh-CN" altLang="en-US" sz="1200" dirty="0"/>
                    </a:p>
                  </a:txBody>
                  <a:tcPr marL="72000" marR="3600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r>
                        <a:rPr lang="en-US" altLang="zh-CN" sz="1200" dirty="0"/>
                        <a:t>0</a:t>
                      </a:r>
                      <a:r>
                        <a:rPr lang="zh-CN" altLang="en-US" sz="1200" dirty="0"/>
                        <a:t>行</a:t>
                      </a:r>
                      <a:r>
                        <a:rPr lang="en-US" altLang="zh-CN" sz="1200" dirty="0"/>
                        <a:t>0</a:t>
                      </a:r>
                      <a:r>
                        <a:rPr lang="zh-CN" altLang="en-US" sz="1200" dirty="0"/>
                        <a:t>列元素地址</a:t>
                      </a:r>
                      <a:endParaRPr lang="zh-CN" altLang="en-US" sz="1200" dirty="0"/>
                    </a:p>
                  </a:txBody>
                  <a:tcPr marL="72000" marR="3600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r>
                        <a:rPr lang="zh-CN" altLang="en-US" sz="1200" dirty="0"/>
                        <a:t>地址</a:t>
                      </a:r>
                      <a:r>
                        <a:rPr lang="en-US" altLang="zh-CN" sz="1200" dirty="0"/>
                        <a:t>2000</a:t>
                      </a:r>
                      <a:endParaRPr lang="zh-CN" altLang="en-US" sz="1200" dirty="0"/>
                    </a:p>
                  </a:txBody>
                  <a:tcPr marL="72000" marR="3600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20000"/>
                      </a:srgbClr>
                    </a:solidFill>
                  </a:tcPr>
                </a:tc>
              </a:tr>
              <a:tr h="363160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r>
                        <a:rPr lang="en-US" altLang="zh-CN" sz="1200" dirty="0"/>
                        <a:t>a+1,</a:t>
                      </a:r>
                      <a:r>
                        <a:rPr lang="en-US" altLang="zh-CN" sz="1200" baseline="0" dirty="0"/>
                        <a:t> </a:t>
                      </a:r>
                      <a:endParaRPr lang="en-US" altLang="zh-CN" sz="1200" baseline="0" dirty="0"/>
                    </a:p>
                    <a:p>
                      <a:r>
                        <a:rPr lang="en-US" altLang="zh-CN" sz="1200" baseline="0" dirty="0"/>
                        <a:t>&amp;a[1]</a:t>
                      </a:r>
                      <a:endParaRPr lang="zh-CN" altLang="en-US" sz="1200" dirty="0"/>
                    </a:p>
                  </a:txBody>
                  <a:tcPr marL="72000" marR="3600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r>
                        <a:rPr lang="zh-CN" altLang="en-US" sz="1200" dirty="0"/>
                        <a:t>指向第</a:t>
                      </a:r>
                      <a:r>
                        <a:rPr lang="en-US" altLang="zh-CN" sz="1200" dirty="0"/>
                        <a:t>1</a:t>
                      </a:r>
                      <a:r>
                        <a:rPr lang="zh-CN" altLang="en-US" sz="1200" dirty="0"/>
                        <a:t>行起始地址</a:t>
                      </a:r>
                      <a:endParaRPr lang="zh-CN" altLang="en-US" sz="1200" dirty="0"/>
                    </a:p>
                  </a:txBody>
                  <a:tcPr marL="72000" marR="3600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r>
                        <a:rPr lang="zh-CN" altLang="en-US" sz="1200" dirty="0"/>
                        <a:t>地址</a:t>
                      </a:r>
                      <a:r>
                        <a:rPr lang="en-US" altLang="zh-CN" sz="1200" dirty="0"/>
                        <a:t>2016</a:t>
                      </a:r>
                      <a:endParaRPr lang="zh-CN" altLang="en-US" sz="1200" dirty="0"/>
                    </a:p>
                  </a:txBody>
                  <a:tcPr marL="72000" marR="3600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40000"/>
                      </a:srgbClr>
                    </a:solidFill>
                  </a:tcPr>
                </a:tc>
              </a:tr>
              <a:tr h="363160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r>
                        <a:rPr lang="en-US" altLang="zh-CN" sz="1200" dirty="0"/>
                        <a:t>a[1], </a:t>
                      </a:r>
                      <a:endParaRPr lang="en-US" altLang="zh-CN" sz="1200" dirty="0"/>
                    </a:p>
                    <a:p>
                      <a:r>
                        <a:rPr lang="en-US" altLang="zh-CN" sz="1200" dirty="0"/>
                        <a:t>*(a+1)</a:t>
                      </a:r>
                      <a:endParaRPr lang="zh-CN" altLang="en-US" sz="1200" dirty="0"/>
                    </a:p>
                  </a:txBody>
                  <a:tcPr marL="72000" marR="3600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r>
                        <a:rPr lang="en-US" altLang="zh-CN" sz="1200" dirty="0"/>
                        <a:t>1</a:t>
                      </a:r>
                      <a:r>
                        <a:rPr lang="zh-CN" altLang="en-US" sz="1200" dirty="0"/>
                        <a:t>行</a:t>
                      </a:r>
                      <a:r>
                        <a:rPr lang="en-US" altLang="zh-CN" sz="1200" dirty="0"/>
                        <a:t>0</a:t>
                      </a:r>
                      <a:r>
                        <a:rPr lang="zh-CN" altLang="en-US" sz="1200" dirty="0"/>
                        <a:t>列元素</a:t>
                      </a:r>
                      <a:r>
                        <a:rPr lang="en-US" altLang="zh-CN" sz="1200" dirty="0"/>
                        <a:t>a[1][0]</a:t>
                      </a:r>
                      <a:r>
                        <a:rPr lang="zh-CN" altLang="en-US" sz="1200" dirty="0"/>
                        <a:t>的地址</a:t>
                      </a:r>
                      <a:endParaRPr lang="zh-CN" altLang="en-US" sz="1200" dirty="0"/>
                    </a:p>
                  </a:txBody>
                  <a:tcPr marL="72000" marR="3600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r>
                        <a:rPr lang="zh-CN" altLang="en-US" sz="1200" dirty="0"/>
                        <a:t>地址</a:t>
                      </a:r>
                      <a:r>
                        <a:rPr lang="en-US" altLang="zh-CN" sz="1200" dirty="0"/>
                        <a:t>2016</a:t>
                      </a:r>
                      <a:endParaRPr lang="zh-CN" altLang="en-US" sz="1200" dirty="0"/>
                    </a:p>
                  </a:txBody>
                  <a:tcPr marL="72000" marR="3600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20000"/>
                      </a:srgbClr>
                    </a:solidFill>
                  </a:tcPr>
                </a:tc>
              </a:tr>
              <a:tr h="508424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r>
                        <a:rPr lang="en-US" altLang="zh-CN" sz="1200" dirty="0"/>
                        <a:t>a[1]+2, </a:t>
                      </a:r>
                      <a:endParaRPr lang="en-US" altLang="zh-CN" sz="1200" dirty="0"/>
                    </a:p>
                    <a:p>
                      <a:r>
                        <a:rPr lang="en-US" altLang="zh-CN" sz="1200" dirty="0"/>
                        <a:t>*(a+1)+2, </a:t>
                      </a:r>
                      <a:endParaRPr lang="en-US" altLang="zh-CN" sz="1200" dirty="0"/>
                    </a:p>
                    <a:p>
                      <a:r>
                        <a:rPr lang="en-US" altLang="zh-CN" sz="1200" dirty="0"/>
                        <a:t>&amp;a[1][2]</a:t>
                      </a:r>
                      <a:endParaRPr lang="zh-CN" altLang="en-US" sz="1200" dirty="0"/>
                    </a:p>
                  </a:txBody>
                  <a:tcPr marL="72000" marR="3600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r>
                        <a:rPr lang="en-US" altLang="zh-CN" sz="1200" dirty="0"/>
                        <a:t>1</a:t>
                      </a:r>
                      <a:r>
                        <a:rPr lang="zh-CN" altLang="en-US" sz="1200" dirty="0"/>
                        <a:t>行</a:t>
                      </a:r>
                      <a:r>
                        <a:rPr lang="en-US" altLang="zh-CN" sz="1200" dirty="0"/>
                        <a:t>2</a:t>
                      </a:r>
                      <a:r>
                        <a:rPr lang="zh-CN" altLang="en-US" sz="1200" dirty="0"/>
                        <a:t>列元素</a:t>
                      </a:r>
                      <a:r>
                        <a:rPr lang="en-US" altLang="zh-CN" sz="1200" dirty="0"/>
                        <a:t>a[1][2]</a:t>
                      </a:r>
                      <a:r>
                        <a:rPr lang="zh-CN" altLang="en-US" sz="1200" dirty="0"/>
                        <a:t>的地址</a:t>
                      </a:r>
                      <a:endParaRPr lang="zh-CN" altLang="en-US" sz="1200" dirty="0"/>
                    </a:p>
                  </a:txBody>
                  <a:tcPr marL="72000" marR="3600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r>
                        <a:rPr lang="zh-CN" altLang="en-US" sz="1200" dirty="0"/>
                        <a:t>地址</a:t>
                      </a:r>
                      <a:r>
                        <a:rPr lang="en-US" altLang="zh-CN" sz="1200" dirty="0"/>
                        <a:t>2024</a:t>
                      </a:r>
                      <a:endParaRPr lang="zh-CN" altLang="en-US" sz="1200" dirty="0"/>
                    </a:p>
                  </a:txBody>
                  <a:tcPr marL="72000" marR="3600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40000"/>
                      </a:srgbClr>
                    </a:solidFill>
                  </a:tcPr>
                </a:tc>
              </a:tr>
              <a:tr h="508424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r>
                        <a:rPr lang="en-US" altLang="zh-CN" sz="1200" dirty="0"/>
                        <a:t>*(a[1]+2), </a:t>
                      </a:r>
                      <a:endParaRPr lang="en-US" altLang="zh-CN" sz="1200" dirty="0"/>
                    </a:p>
                    <a:p>
                      <a:r>
                        <a:rPr lang="en-US" altLang="zh-CN" sz="1200" dirty="0"/>
                        <a:t>*(*(a+1)+2),</a:t>
                      </a:r>
                      <a:r>
                        <a:rPr lang="en-US" altLang="zh-CN" sz="1200" baseline="0" dirty="0"/>
                        <a:t> </a:t>
                      </a:r>
                      <a:endParaRPr lang="en-US" altLang="zh-CN" sz="1200" baseline="0" dirty="0"/>
                    </a:p>
                    <a:p>
                      <a:r>
                        <a:rPr lang="en-US" altLang="zh-CN" sz="1200" baseline="0" dirty="0"/>
                        <a:t>a[1][2]</a:t>
                      </a:r>
                      <a:endParaRPr lang="zh-CN" altLang="en-US" sz="1200" dirty="0"/>
                    </a:p>
                  </a:txBody>
                  <a:tcPr marL="72000" marR="3600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r>
                        <a:rPr lang="en-US" altLang="zh-CN" sz="1200" dirty="0"/>
                        <a:t>1</a:t>
                      </a:r>
                      <a:r>
                        <a:rPr lang="zh-CN" altLang="en-US" sz="1200" dirty="0"/>
                        <a:t>行</a:t>
                      </a:r>
                      <a:r>
                        <a:rPr lang="en-US" altLang="zh-CN" sz="1200" dirty="0"/>
                        <a:t>2</a:t>
                      </a:r>
                      <a:r>
                        <a:rPr lang="zh-CN" altLang="en-US" sz="1200" dirty="0"/>
                        <a:t>列元素</a:t>
                      </a:r>
                      <a:r>
                        <a:rPr lang="en-US" altLang="zh-CN" sz="1200" dirty="0"/>
                        <a:t>a[1][2]</a:t>
                      </a:r>
                      <a:r>
                        <a:rPr lang="zh-CN" altLang="en-US" sz="1200" dirty="0"/>
                        <a:t>的值</a:t>
                      </a:r>
                      <a:endParaRPr lang="zh-CN" altLang="en-US" sz="1200" dirty="0"/>
                    </a:p>
                  </a:txBody>
                  <a:tcPr marL="72000" marR="3600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r>
                        <a:rPr lang="zh-CN" altLang="en-US" sz="1200" dirty="0"/>
                        <a:t>元素值</a:t>
                      </a:r>
                      <a:r>
                        <a:rPr lang="en-US" altLang="zh-CN" sz="1200" dirty="0"/>
                        <a:t>13</a:t>
                      </a:r>
                      <a:endParaRPr lang="zh-CN" altLang="en-US" sz="1200" dirty="0"/>
                    </a:p>
                  </a:txBody>
                  <a:tcPr marL="72000" marR="3600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2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8" name="矩形 17"/>
          <p:cNvSpPr/>
          <p:nvPr/>
        </p:nvSpPr>
        <p:spPr>
          <a:xfrm>
            <a:off x="142186" y="5805264"/>
            <a:ext cx="8822301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125000"/>
              </a:lnSpc>
              <a:defRPr/>
            </a:pPr>
            <a:r>
              <a:rPr lang="en-US" altLang="zh-CN" sz="1300" kern="0" dirty="0">
                <a:solidFill>
                  <a:prstClr val="black"/>
                </a:solidFill>
                <a:latin typeface="等线"/>
                <a:ea typeface="等线"/>
              </a:rPr>
              <a:t>C</a:t>
            </a:r>
            <a:r>
              <a:rPr lang="zh-CN" altLang="en-US" sz="1300" kern="0" dirty="0">
                <a:solidFill>
                  <a:prstClr val="black"/>
                </a:solidFill>
                <a:latin typeface="等线"/>
                <a:ea typeface="等线"/>
              </a:rPr>
              <a:t>语言的地址信息中既包含位置信息</a:t>
            </a:r>
            <a:r>
              <a:rPr lang="en-US" altLang="zh-CN" sz="1300" kern="0" dirty="0">
                <a:solidFill>
                  <a:prstClr val="black"/>
                </a:solidFill>
                <a:latin typeface="等线"/>
                <a:ea typeface="等线"/>
              </a:rPr>
              <a:t>(</a:t>
            </a:r>
            <a:r>
              <a:rPr lang="zh-CN" altLang="en-US" sz="1300" kern="0" dirty="0">
                <a:solidFill>
                  <a:prstClr val="black"/>
                </a:solidFill>
                <a:latin typeface="等线"/>
                <a:ea typeface="等线"/>
              </a:rPr>
              <a:t>如内存编号</a:t>
            </a:r>
            <a:r>
              <a:rPr lang="en-US" altLang="zh-CN" sz="1300" kern="0" dirty="0">
                <a:solidFill>
                  <a:prstClr val="black"/>
                </a:solidFill>
                <a:latin typeface="等线"/>
                <a:ea typeface="等线"/>
              </a:rPr>
              <a:t>2000)</a:t>
            </a:r>
            <a:r>
              <a:rPr lang="zh-CN" altLang="en-US" sz="1300" kern="0" dirty="0">
                <a:solidFill>
                  <a:prstClr val="black"/>
                </a:solidFill>
                <a:latin typeface="等线"/>
                <a:ea typeface="等线"/>
              </a:rPr>
              <a:t>，还包含它所指向的数据的类型信息。</a:t>
            </a:r>
            <a:endParaRPr lang="en-US" altLang="zh-CN" sz="1300" kern="0" dirty="0">
              <a:solidFill>
                <a:prstClr val="black"/>
              </a:solidFill>
              <a:latin typeface="等线"/>
              <a:ea typeface="等线"/>
            </a:endParaRPr>
          </a:p>
          <a:p>
            <a:pPr lvl="0" algn="just">
              <a:lnSpc>
                <a:spcPct val="125000"/>
              </a:lnSpc>
              <a:defRPr/>
            </a:pPr>
            <a:r>
              <a:rPr lang="en-US" altLang="zh-CN" sz="1300" kern="0" dirty="0">
                <a:solidFill>
                  <a:prstClr val="black"/>
                </a:solidFill>
                <a:latin typeface="等线"/>
                <a:ea typeface="等线"/>
              </a:rPr>
              <a:t>a[0]</a:t>
            </a:r>
            <a:r>
              <a:rPr lang="zh-CN" altLang="en-US" sz="1300" kern="0" dirty="0">
                <a:solidFill>
                  <a:prstClr val="black"/>
                </a:solidFill>
                <a:latin typeface="等线"/>
                <a:ea typeface="等线"/>
              </a:rPr>
              <a:t>是一维数组名，它是一维数组中起始元素的地址；</a:t>
            </a:r>
            <a:r>
              <a:rPr lang="en-US" altLang="zh-CN" sz="1300" kern="0" dirty="0">
                <a:solidFill>
                  <a:prstClr val="black"/>
                </a:solidFill>
                <a:latin typeface="等线"/>
                <a:ea typeface="等线"/>
              </a:rPr>
              <a:t>a</a:t>
            </a:r>
            <a:r>
              <a:rPr lang="zh-CN" altLang="en-US" sz="1300" kern="0" dirty="0">
                <a:solidFill>
                  <a:prstClr val="black"/>
                </a:solidFill>
                <a:latin typeface="等线"/>
                <a:ea typeface="等线"/>
              </a:rPr>
              <a:t>是二维数组名，它是二维数组的首行起始地址。</a:t>
            </a:r>
            <a:endParaRPr lang="en-US" altLang="zh-CN" sz="1300" kern="0" dirty="0">
              <a:solidFill>
                <a:prstClr val="black"/>
              </a:solidFill>
              <a:latin typeface="等线"/>
              <a:ea typeface="等线"/>
            </a:endParaRPr>
          </a:p>
          <a:p>
            <a:pPr lvl="0" algn="just">
              <a:lnSpc>
                <a:spcPct val="125000"/>
              </a:lnSpc>
              <a:defRPr/>
            </a:pPr>
            <a:r>
              <a:rPr lang="zh-CN" altLang="en-US" sz="1300" kern="0" dirty="0">
                <a:solidFill>
                  <a:prstClr val="black"/>
                </a:solidFill>
                <a:latin typeface="等线"/>
                <a:ea typeface="等线"/>
              </a:rPr>
              <a:t>二者的纯地址是相同的，但它们的基类型不同，即它们指向的数据的类型不同，前者是整型数据，后者是一维数组。</a:t>
            </a:r>
            <a:endParaRPr lang="en-US" altLang="zh-CN" sz="1300" kern="0" dirty="0">
              <a:solidFill>
                <a:prstClr val="black"/>
              </a:solidFill>
              <a:latin typeface="等线"/>
              <a:ea typeface="等线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6123940" y="699135"/>
            <a:ext cx="29394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highlight>
                  <a:srgbClr val="00FFFF"/>
                </a:highlight>
              </a:rPr>
              <a:t>指针相等的条件是指针重数相等</a:t>
            </a:r>
            <a:r>
              <a:rPr lang="en-US" altLang="zh-CN">
                <a:highlight>
                  <a:srgbClr val="00FFFF"/>
                </a:highlight>
              </a:rPr>
              <a:t>！！</a:t>
            </a:r>
            <a:endParaRPr lang="en-US" altLang="zh-CN">
              <a:highlight>
                <a:srgbClr val="00FFFF"/>
              </a:highlight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sz="2800" dirty="0"/>
              <a:t>例</a:t>
            </a:r>
            <a:r>
              <a:rPr lang="en-US" altLang="zh-CN" sz="2800" dirty="0"/>
              <a:t>13-06</a:t>
            </a:r>
            <a:r>
              <a:rPr lang="zh-CN" altLang="en-US" sz="2800" dirty="0"/>
              <a:t>：输出二维数组的有关数据</a:t>
            </a:r>
            <a:r>
              <a:rPr lang="en-US" altLang="zh-CN" sz="2800" dirty="0"/>
              <a:t>(</a:t>
            </a:r>
            <a:r>
              <a:rPr lang="zh-CN" altLang="en-US" sz="2800" dirty="0"/>
              <a:t>地址和元素的值</a:t>
            </a:r>
            <a:r>
              <a:rPr lang="en-US" altLang="zh-CN" sz="2800" dirty="0"/>
              <a:t>)</a:t>
            </a:r>
            <a:endParaRPr lang="en-US" sz="2800" dirty="0"/>
          </a:p>
        </p:txBody>
      </p:sp>
      <p:sp>
        <p:nvSpPr>
          <p:cNvPr id="4" name="圆角矩形 12"/>
          <p:cNvSpPr/>
          <p:nvPr/>
        </p:nvSpPr>
        <p:spPr>
          <a:xfrm>
            <a:off x="215008" y="1314137"/>
            <a:ext cx="7686118" cy="3399906"/>
          </a:xfrm>
          <a:prstGeom prst="roundRect">
            <a:avLst>
              <a:gd name="adj" fmla="val 1868"/>
            </a:avLst>
          </a:prstGeom>
          <a:solidFill>
            <a:sysClr val="window" lastClr="FFFFFF"/>
          </a:solidFill>
          <a:ln w="12700" cap="flat" cmpd="sng" algn="ctr">
            <a:solidFill>
              <a:srgbClr val="E84C22"/>
            </a:solidFill>
            <a:prstDash val="solid"/>
            <a:miter lim="800000"/>
          </a:ln>
          <a:effectLst/>
        </p:spPr>
        <p:txBody>
          <a:bodyPr numCol="1" spcCol="360000" rtlCol="0" anchor="t"/>
          <a:lstStyle/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&lt;iostream&gt;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std;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main()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a[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][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4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]={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7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9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11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13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15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17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19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21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23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a &lt;&lt;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 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*a &lt;&lt;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 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**a &lt;&lt;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   //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数组首地址</a:t>
            </a:r>
            <a:endParaRPr lang="zh-CN" alt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  </a:t>
            </a:r>
            <a:r>
              <a:rPr lang="en-US" altLang="zh-CN" sz="1200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a[1]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a[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] &lt;&lt;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 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&amp;a[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] &lt;&lt;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 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 &amp;a[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][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] &lt;&lt;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  //a[2], a[2][2]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a[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] &lt;&lt;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 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a +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 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*(a +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 &lt;&lt;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 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(*(a +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))[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] &lt;&lt;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  //a[1][3]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的地址</a:t>
            </a:r>
            <a:endParaRPr lang="zh-CN" alt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&amp;a[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][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] &lt;&lt;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 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*(a +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 +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 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*(*(a +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 +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 &lt;&lt;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  //a[2][0], a[2][2]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的元素</a:t>
            </a:r>
            <a:endParaRPr lang="zh-CN" alt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*(a[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]) &lt;&lt;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 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*(*(a+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)+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 &lt;&lt;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15008" y="5058553"/>
            <a:ext cx="604867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500" dirty="0"/>
              <a:t>注：使用</a:t>
            </a:r>
            <a:r>
              <a:rPr lang="en-US" altLang="zh-CN" sz="1500" dirty="0" err="1"/>
              <a:t>printf</a:t>
            </a:r>
            <a:r>
              <a:rPr lang="zh-CN" altLang="en-US" sz="1500" dirty="0"/>
              <a:t>格式控制符“</a:t>
            </a:r>
            <a:r>
              <a:rPr lang="en-US" altLang="zh-CN" sz="1500" dirty="0"/>
              <a:t>%p”</a:t>
            </a:r>
            <a:r>
              <a:rPr lang="zh-CN" altLang="en-US" sz="1500" dirty="0"/>
              <a:t>中的</a:t>
            </a:r>
            <a:r>
              <a:rPr lang="en-US" altLang="zh-CN" sz="1500" dirty="0"/>
              <a:t>p</a:t>
            </a:r>
            <a:r>
              <a:rPr lang="zh-CN" altLang="en-US" sz="1500" dirty="0"/>
              <a:t>是</a:t>
            </a:r>
            <a:r>
              <a:rPr lang="en-US" altLang="zh-CN" sz="1500" dirty="0"/>
              <a:t>pointer</a:t>
            </a:r>
            <a:r>
              <a:rPr lang="zh-CN" altLang="en-US" sz="1500" dirty="0"/>
              <a:t>（指针）的缩写。指针的值是语言实现（编译程序）相关的。但是几乎所有实现中，指针的值都是一个表示地址空间中某个存储器单元的整数。</a:t>
            </a:r>
            <a:r>
              <a:rPr lang="en-US" altLang="zh-CN" sz="1500" dirty="0" err="1"/>
              <a:t>printf</a:t>
            </a:r>
            <a:r>
              <a:rPr lang="zh-CN" altLang="en-US" sz="1500" dirty="0"/>
              <a:t>函数族中对于</a:t>
            </a:r>
            <a:r>
              <a:rPr lang="en-US" altLang="zh-CN" sz="1500" dirty="0"/>
              <a:t>%p</a:t>
            </a:r>
            <a:r>
              <a:rPr lang="zh-CN" altLang="en-US" sz="1500" dirty="0"/>
              <a:t>一般以十六进制整数方式输出指针的值。</a:t>
            </a:r>
            <a:endParaRPr lang="zh-CN" altLang="en-US" sz="1500" dirty="0"/>
          </a:p>
        </p:txBody>
      </p:sp>
      <p:sp>
        <p:nvSpPr>
          <p:cNvPr id="7" name="矩形 6"/>
          <p:cNvSpPr/>
          <p:nvPr/>
        </p:nvSpPr>
        <p:spPr>
          <a:xfrm>
            <a:off x="1851819" y="6241334"/>
            <a:ext cx="38779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更多指针与多维数组的内容后续说明</a:t>
            </a:r>
            <a:endParaRPr lang="zh-CN" altLang="en-US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7140696" y="1332134"/>
          <a:ext cx="1788296" cy="1402188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447074"/>
                <a:gridCol w="447074"/>
                <a:gridCol w="447074"/>
                <a:gridCol w="447074"/>
              </a:tblGrid>
              <a:tr h="46739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  <a:endParaRPr lang="en-US" dirty="0"/>
                    </a:p>
                  </a:txBody>
                  <a:tcPr anchor="ctr"/>
                </a:tc>
              </a:tr>
              <a:tr h="46739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  <a:endParaRPr lang="en-US" dirty="0"/>
                    </a:p>
                  </a:txBody>
                  <a:tcPr anchor="ctr"/>
                </a:tc>
              </a:tr>
              <a:tr h="46739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17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19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21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23</a:t>
                      </a:r>
                      <a:endParaRPr lang="en-US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8" name="矩形 7"/>
          <p:cNvSpPr/>
          <p:nvPr/>
        </p:nvSpPr>
        <p:spPr>
          <a:xfrm>
            <a:off x="6263680" y="4301508"/>
            <a:ext cx="2569602" cy="116955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b="1" dirty="0"/>
              <a:t>0x61fdf0 </a:t>
            </a:r>
            <a:r>
              <a:rPr lang="en-US" sz="1400" b="1" dirty="0" err="1"/>
              <a:t>0x61fdf0</a:t>
            </a:r>
            <a:r>
              <a:rPr lang="en-US" sz="1400" b="1" dirty="0"/>
              <a:t> 1</a:t>
            </a:r>
            <a:endParaRPr lang="en-US" sz="1400" b="1" dirty="0"/>
          </a:p>
          <a:p>
            <a:r>
              <a:rPr lang="en-US" sz="1400" b="1" dirty="0"/>
              <a:t>0x61fe00 </a:t>
            </a:r>
            <a:r>
              <a:rPr lang="en-US" sz="1400" b="1" dirty="0" err="1"/>
              <a:t>0x61fe00</a:t>
            </a:r>
            <a:r>
              <a:rPr lang="en-US" sz="1400" b="1" dirty="0"/>
              <a:t> </a:t>
            </a:r>
            <a:r>
              <a:rPr lang="en-US" sz="1400" b="1" dirty="0" err="1"/>
              <a:t>0x61fe00</a:t>
            </a:r>
            <a:endParaRPr lang="en-US" sz="1400" b="1" dirty="0"/>
          </a:p>
          <a:p>
            <a:r>
              <a:rPr lang="en-US" sz="1400" b="1" dirty="0"/>
              <a:t>0x61fe10 </a:t>
            </a:r>
            <a:r>
              <a:rPr lang="en-US" sz="1400" b="1" dirty="0" err="1"/>
              <a:t>0x61fe10</a:t>
            </a:r>
            <a:r>
              <a:rPr lang="en-US" sz="1400" b="1" dirty="0"/>
              <a:t> </a:t>
            </a:r>
            <a:r>
              <a:rPr lang="en-US" sz="1400" b="1" dirty="0" err="1"/>
              <a:t>0x61fe10</a:t>
            </a:r>
            <a:r>
              <a:rPr lang="en-US" sz="1400" b="1" dirty="0"/>
              <a:t> 21</a:t>
            </a:r>
            <a:endParaRPr lang="en-US" sz="1400" b="1" dirty="0"/>
          </a:p>
          <a:p>
            <a:r>
              <a:rPr lang="en-US" sz="1400" b="1" dirty="0"/>
              <a:t>0x61fe0c </a:t>
            </a:r>
            <a:r>
              <a:rPr lang="en-US" sz="1400" b="1" dirty="0" err="1"/>
              <a:t>0x61fe0c</a:t>
            </a:r>
            <a:r>
              <a:rPr lang="en-US" sz="1400" b="1" dirty="0"/>
              <a:t> 15</a:t>
            </a:r>
            <a:endParaRPr lang="en-US" sz="1400" b="1" dirty="0"/>
          </a:p>
          <a:p>
            <a:r>
              <a:rPr lang="en-US" sz="1400" b="1" dirty="0"/>
              <a:t>17 19</a:t>
            </a:r>
            <a:endParaRPr lang="en-US" sz="14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通过指针访问多维数组</a:t>
            </a:r>
            <a:endParaRPr lang="en-US" dirty="0"/>
          </a:p>
        </p:txBody>
      </p:sp>
      <p:sp>
        <p:nvSpPr>
          <p:cNvPr id="4" name="内容占位符 1"/>
          <p:cNvSpPr>
            <a:spLocks noGrp="1"/>
          </p:cNvSpPr>
          <p:nvPr>
            <p:ph idx="1"/>
          </p:nvPr>
        </p:nvSpPr>
        <p:spPr>
          <a:xfrm>
            <a:off x="354037" y="1225716"/>
            <a:ext cx="7886700" cy="4680000"/>
          </a:xfrm>
        </p:spPr>
        <p:txBody>
          <a:bodyPr/>
          <a:lstStyle/>
          <a:p>
            <a:r>
              <a:rPr lang="zh-CN" altLang="en-US" sz="2000" dirty="0"/>
              <a:t>例</a:t>
            </a:r>
            <a:r>
              <a:rPr lang="en-US" altLang="zh-CN" sz="2000" dirty="0"/>
              <a:t>13-7</a:t>
            </a:r>
            <a:r>
              <a:rPr lang="zh-CN" altLang="en-US" sz="2000" dirty="0"/>
              <a:t>：有一个</a:t>
            </a:r>
            <a:r>
              <a:rPr lang="en-US" altLang="zh-CN" sz="2000" dirty="0"/>
              <a:t>3×4</a:t>
            </a:r>
            <a:r>
              <a:rPr lang="zh-CN" altLang="en-US" sz="2000" dirty="0"/>
              <a:t>的二维数组，要求用指向元素的指针变量输出二维数组各元素的值</a:t>
            </a:r>
            <a:endParaRPr lang="zh-CN" altLang="en-US" sz="2000" dirty="0"/>
          </a:p>
          <a:p>
            <a:endParaRPr lang="zh-CN" altLang="en-US" dirty="0"/>
          </a:p>
        </p:txBody>
      </p:sp>
      <p:sp>
        <p:nvSpPr>
          <p:cNvPr id="5" name="圆角矩形 12"/>
          <p:cNvSpPr/>
          <p:nvPr/>
        </p:nvSpPr>
        <p:spPr>
          <a:xfrm>
            <a:off x="179512" y="2445033"/>
            <a:ext cx="5328592" cy="2578220"/>
          </a:xfrm>
          <a:prstGeom prst="roundRect">
            <a:avLst>
              <a:gd name="adj" fmla="val 1868"/>
            </a:avLst>
          </a:prstGeom>
          <a:solidFill>
            <a:sysClr val="window" lastClr="FFFFFF"/>
          </a:solidFill>
          <a:ln w="12700" cap="flat" cmpd="sng" algn="ctr">
            <a:solidFill>
              <a:srgbClr val="E84C22"/>
            </a:solidFill>
            <a:prstDash val="solid"/>
            <a:miter lim="800000"/>
          </a:ln>
          <a:effectLst/>
        </p:spPr>
        <p:txBody>
          <a:bodyPr numCol="1" spcCol="360000" rtlCol="0" anchor="t"/>
          <a:lstStyle/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&lt;iostream&gt;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std;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main()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a[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][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4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]={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7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9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11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13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15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17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19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21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23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*p;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(p = a[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]; p &lt; a[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] +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12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p ++){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*p &lt;&lt;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 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5652120" y="2473802"/>
            <a:ext cx="3096344" cy="2549451"/>
            <a:chOff x="8050698" y="5019263"/>
            <a:chExt cx="3975726" cy="2971422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7" name="剪去单角的矩形 6"/>
            <p:cNvSpPr/>
            <p:nvPr/>
          </p:nvSpPr>
          <p:spPr>
            <a:xfrm>
              <a:off x="8050698" y="5019263"/>
              <a:ext cx="3975726" cy="2971422"/>
            </a:xfrm>
            <a:prstGeom prst="snip1Rect">
              <a:avLst>
                <a:gd name="adj" fmla="val 5596"/>
              </a:avLst>
            </a:prstGeom>
            <a:solidFill>
              <a:srgbClr val="E84C22"/>
            </a:solidFill>
            <a:ln w="12700" cap="flat" cmpd="sng" algn="ctr">
              <a:solidFill>
                <a:srgbClr val="E84C22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endParaRPr>
            </a:p>
          </p:txBody>
        </p:sp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08212" y="5064435"/>
              <a:ext cx="290352" cy="327244"/>
            </a:xfrm>
            <a:prstGeom prst="rect">
              <a:avLst/>
            </a:prstGeom>
          </p:spPr>
        </p:pic>
        <p:sp>
          <p:nvSpPr>
            <p:cNvPr id="9" name="文本框 9"/>
            <p:cNvSpPr txBox="1"/>
            <p:nvPr/>
          </p:nvSpPr>
          <p:spPr>
            <a:xfrm>
              <a:off x="8388007" y="5054496"/>
              <a:ext cx="3409818" cy="27140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p</a:t>
              </a:r>
              <a:r>
                <a:rPr kumimoji="0" lang="zh-CN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是一个</a:t>
              </a:r>
              <a:r>
                <a:rPr kumimoji="0" lang="en-US" altLang="zh-CN" sz="11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int</a:t>
              </a:r>
              <a:r>
                <a:rPr kumimoji="0" lang="en-US" altLang="zh-CN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 *</a:t>
              </a:r>
              <a:r>
                <a:rPr kumimoji="0" lang="zh-CN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型</a:t>
              </a:r>
              <a:r>
                <a:rPr kumimoji="0" lang="en-US" altLang="zh-CN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(</a:t>
              </a:r>
              <a:r>
                <a:rPr kumimoji="0" lang="zh-CN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指向整型数据</a:t>
              </a:r>
              <a:r>
                <a:rPr kumimoji="0" lang="en-US" altLang="zh-CN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)</a:t>
              </a:r>
              <a:r>
                <a:rPr kumimoji="0" lang="zh-CN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的指针变量，它可以指向一般的整型变量，也可以指向整型的数组元素。每次使</a:t>
              </a:r>
              <a:r>
                <a:rPr kumimoji="0" lang="en-US" altLang="zh-CN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p</a:t>
              </a:r>
              <a:r>
                <a:rPr kumimoji="0" lang="zh-CN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值加</a:t>
              </a:r>
              <a:r>
                <a:rPr kumimoji="0" lang="en-US" altLang="zh-CN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1</a:t>
              </a:r>
              <a:r>
                <a:rPr kumimoji="0" lang="zh-CN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，使</a:t>
              </a:r>
              <a:r>
                <a:rPr kumimoji="0" lang="en-US" altLang="zh-CN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p</a:t>
              </a:r>
              <a:r>
                <a:rPr kumimoji="0" lang="zh-CN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指向下一元素。</a:t>
              </a:r>
              <a:endParaRPr kumimoji="0" lang="en-US" altLang="zh-CN" sz="1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</a:endParaRPr>
            </a:p>
            <a:p>
              <a:pPr marL="0" marR="0" lvl="0" indent="0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</a:endParaRPr>
            </a:p>
            <a:p>
              <a:pPr marL="0" marR="0" lvl="0" indent="0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如果要输出某个指定的数值元素（例如</a:t>
              </a:r>
              <a:r>
                <a:rPr kumimoji="0" lang="en-US" altLang="zh-CN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a[2][3]</a:t>
              </a:r>
              <a:r>
                <a:rPr kumimoji="0" lang="zh-CN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），则应事先计算该元素在数组中的相对位置（即相对于数组起始位置的相对位移量）。计算</a:t>
              </a:r>
              <a:r>
                <a:rPr kumimoji="0" lang="en-US" altLang="zh-CN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a[</a:t>
              </a:r>
              <a:r>
                <a:rPr kumimoji="0" lang="en-US" altLang="zh-CN" sz="11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i</a:t>
              </a:r>
              <a:r>
                <a:rPr kumimoji="0" lang="en-US" altLang="zh-CN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][j]</a:t>
              </a:r>
              <a:r>
                <a:rPr kumimoji="0" lang="zh-CN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在数组中的相对位置的计算公式为：</a:t>
              </a:r>
              <a:r>
                <a:rPr kumimoji="0" lang="en-US" altLang="zh-CN" sz="1100" b="1" i="0" u="none" strike="noStrike" kern="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i</a:t>
              </a:r>
              <a:r>
                <a:rPr kumimoji="0" lang="en-US" altLang="zh-CN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*m</a:t>
              </a:r>
              <a:r>
                <a:rPr kumimoji="0" lang="zh-CN" altLang="en-US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＋</a:t>
              </a:r>
              <a:r>
                <a:rPr kumimoji="0" lang="en-US" altLang="zh-CN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j</a:t>
              </a:r>
              <a:r>
                <a:rPr kumimoji="0" lang="zh-CN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，其中，</a:t>
              </a:r>
              <a:r>
                <a:rPr kumimoji="0" lang="en-US" altLang="zh-CN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m</a:t>
              </a:r>
              <a:r>
                <a:rPr kumimoji="0" lang="zh-CN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为二维数组的列数（二维数组大小为</a:t>
              </a:r>
              <a:r>
                <a:rPr kumimoji="0" lang="en-US" altLang="zh-CN" sz="11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n×m</a:t>
              </a:r>
              <a:r>
                <a:rPr kumimoji="0" lang="zh-CN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）。</a:t>
              </a:r>
              <a:endParaRPr kumimoji="0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</a:endParaRPr>
            </a:p>
          </p:txBody>
        </p:sp>
      </p:grpSp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4716016" y="5200236"/>
          <a:ext cx="4334920" cy="1613140"/>
        </p:xfrm>
        <a:graphic>
          <a:graphicData uri="http://schemas.openxmlformats.org/drawingml/2006/table">
            <a:tbl>
              <a:tblPr/>
              <a:tblGrid>
                <a:gridCol w="787784"/>
                <a:gridCol w="787784"/>
                <a:gridCol w="787784"/>
                <a:gridCol w="787784"/>
                <a:gridCol w="787784"/>
                <a:gridCol w="396000"/>
              </a:tblGrid>
              <a:tr h="424420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en-US" altLang="zh-CN" dirty="0"/>
                        <a:t>m</a:t>
                      </a:r>
                      <a:endParaRPr lang="en-US" altLang="zh-CN" dirty="0"/>
                    </a:p>
                    <a:p>
                      <a:pPr algn="ctr"/>
                      <a:endParaRPr lang="zh-CN" altLang="en-US" dirty="0"/>
                    </a:p>
                  </a:txBody>
                  <a:tcPr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endParaRPr lang="zh-CN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45894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endParaRPr lang="zh-CN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endParaRPr lang="zh-CN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noFill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endParaRPr lang="zh-CN" altLang="en-US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noFill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endParaRPr lang="zh-CN" altLang="en-US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noFill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endParaRPr lang="zh-CN" altLang="en-US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20000"/>
                      </a:srgbClr>
                    </a:solidFill>
                  </a:tcPr>
                </a:tc>
                <a:tc rowSpan="3"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r"/>
                      <a:r>
                        <a:rPr lang="en-US" altLang="zh-CN" dirty="0"/>
                        <a:t>n</a:t>
                      </a:r>
                      <a:endParaRPr lang="zh-CN" altLang="en-US" dirty="0"/>
                    </a:p>
                  </a:txBody>
                  <a:tcPr marR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45894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endParaRPr lang="zh-CN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endParaRPr lang="zh-CN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endParaRPr lang="zh-CN" altLang="en-US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endParaRPr lang="zh-CN" altLang="en-US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endParaRPr lang="zh-CN" altLang="en-US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noFill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20000"/>
                      </a:srgbClr>
                    </a:solidFill>
                  </a:tcPr>
                </a:tc>
                <a:tc vMerge="1">
                  <a:tcPr marR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45894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r"/>
                      <a:r>
                        <a:rPr lang="en-US" altLang="zh-CN"/>
                        <a:t>i=2</a:t>
                      </a:r>
                      <a:endParaRPr lang="zh-CN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endParaRPr lang="zh-CN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endParaRPr lang="zh-CN" altLang="en-US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endParaRPr lang="zh-CN" altLang="en-US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en-US" altLang="zh-CN"/>
                        <a:t>a[2][3]</a:t>
                      </a:r>
                      <a:endParaRPr lang="zh-CN" altLang="en-US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noFill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20000"/>
                      </a:srgbClr>
                    </a:solidFill>
                  </a:tcPr>
                </a:tc>
                <a:tc vMerge="1">
                  <a:tcPr marR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45894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endParaRPr lang="zh-CN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endParaRPr lang="zh-CN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endParaRPr lang="zh-CN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endParaRPr lang="zh-CN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en-US" altLang="zh-CN"/>
                        <a:t>j=3</a:t>
                      </a:r>
                      <a:endParaRPr lang="zh-CN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r"/>
                      <a:endParaRPr lang="zh-CN" altLang="en-US" dirty="0"/>
                    </a:p>
                  </a:txBody>
                  <a:tcPr marR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1" name="左大括号 10"/>
          <p:cNvSpPr/>
          <p:nvPr/>
        </p:nvSpPr>
        <p:spPr>
          <a:xfrm rot="5400000">
            <a:off x="6944712" y="3931159"/>
            <a:ext cx="264550" cy="3137699"/>
          </a:xfrm>
          <a:prstGeom prst="leftBrace">
            <a:avLst/>
          </a:prstGeom>
          <a:noFill/>
          <a:ln w="6350" cap="flat" cmpd="sng" algn="ctr">
            <a:solidFill>
              <a:srgbClr val="E84C2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</p:txBody>
      </p:sp>
      <p:sp>
        <p:nvSpPr>
          <p:cNvPr id="12" name="右大括号 11"/>
          <p:cNvSpPr/>
          <p:nvPr/>
        </p:nvSpPr>
        <p:spPr>
          <a:xfrm>
            <a:off x="8645836" y="5632285"/>
            <a:ext cx="218661" cy="864096"/>
          </a:xfrm>
          <a:prstGeom prst="rightBrace">
            <a:avLst/>
          </a:prstGeom>
          <a:noFill/>
          <a:ln w="6350" cap="flat" cmpd="sng" algn="ctr">
            <a:solidFill>
              <a:srgbClr val="E84C2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323528" y="5485644"/>
            <a:ext cx="3042821" cy="36933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none">
            <a:spAutoFit/>
          </a:bodyPr>
          <a:lstStyle/>
          <a:p>
            <a:r>
              <a:rPr lang="en-US" dirty="0"/>
              <a:t>1 3 5 7 9 11 13 15 17 19 21 23 </a:t>
            </a:r>
            <a:endParaRPr lang="en-US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指向数组的指针</a:t>
            </a:r>
            <a:endParaRPr lang="en-US" dirty="0"/>
          </a:p>
        </p:txBody>
      </p:sp>
      <p:sp>
        <p:nvSpPr>
          <p:cNvPr id="11" name="内容占位符 10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指向一维数组的指针变量</a:t>
            </a:r>
            <a:endParaRPr lang="en-US" altLang="zh-CN" dirty="0"/>
          </a:p>
          <a:p>
            <a:pPr lvl="1"/>
            <a:r>
              <a:rPr lang="en-US" altLang="zh-CN" dirty="0"/>
              <a:t>int(*p)[4]</a:t>
            </a:r>
            <a:endParaRPr lang="en-US" altLang="zh-CN" dirty="0"/>
          </a:p>
          <a:p>
            <a:pPr lvl="1">
              <a:buFont typeface="Arial" panose="020B0604020202090204" pitchFamily="34" charset="0"/>
              <a:buChar char="•"/>
            </a:pPr>
            <a:r>
              <a:rPr lang="en-US" altLang="zh-CN" sz="1400" dirty="0"/>
              <a:t>() </a:t>
            </a:r>
            <a:r>
              <a:rPr lang="zh-CN" altLang="en-US" sz="1400" dirty="0"/>
              <a:t>优先级高，说明</a:t>
            </a:r>
            <a:r>
              <a:rPr lang="en-US" altLang="zh-CN" sz="1400" dirty="0"/>
              <a:t>p</a:t>
            </a:r>
            <a:r>
              <a:rPr lang="zh-CN" altLang="en-US" sz="1400" dirty="0"/>
              <a:t>是一个指针，指向一个整型的一维数组，这个一维数组的元素个数是</a:t>
            </a:r>
            <a:r>
              <a:rPr lang="en-US" altLang="zh-CN" sz="1400" dirty="0"/>
              <a:t>4</a:t>
            </a:r>
            <a:r>
              <a:rPr lang="zh-CN" altLang="en-US" sz="1400" dirty="0"/>
              <a:t>。</a:t>
            </a:r>
            <a:endParaRPr lang="en-US" altLang="zh-CN" sz="1400" dirty="0"/>
          </a:p>
          <a:p>
            <a:pPr lvl="1">
              <a:buFont typeface="Arial" panose="020B0604020202090204" pitchFamily="34" charset="0"/>
              <a:buChar char="•"/>
            </a:pPr>
            <a:r>
              <a:rPr lang="en-US" altLang="zh-CN" sz="1400" dirty="0"/>
              <a:t>p</a:t>
            </a:r>
            <a:r>
              <a:rPr lang="zh-CN" altLang="en-US" sz="1400" dirty="0"/>
              <a:t>的类型是</a:t>
            </a:r>
            <a:r>
              <a:rPr lang="en-US" altLang="zh-CN" sz="1400" dirty="0"/>
              <a:t>int (*)[4]</a:t>
            </a:r>
            <a:r>
              <a:rPr lang="zh-CN" altLang="en-US" sz="1400" dirty="0"/>
              <a:t>，基类型是</a:t>
            </a:r>
            <a:r>
              <a:rPr lang="en-US" altLang="zh-CN" sz="1400" dirty="0"/>
              <a:t>int[4]</a:t>
            </a:r>
            <a:r>
              <a:rPr lang="zh-CN" altLang="en-US" sz="1400" dirty="0"/>
              <a:t>。</a:t>
            </a:r>
            <a:r>
              <a:rPr lang="en-US" altLang="zh-CN" sz="1400" dirty="0"/>
              <a:t>p</a:t>
            </a:r>
            <a:r>
              <a:rPr lang="zh-CN" altLang="en-US" sz="1400" dirty="0"/>
              <a:t>的步长是</a:t>
            </a:r>
            <a:r>
              <a:rPr lang="en-US" altLang="zh-CN" sz="1400" dirty="0"/>
              <a:t>4</a:t>
            </a:r>
            <a:r>
              <a:rPr lang="zh-CN" altLang="en-US" sz="1400" dirty="0"/>
              <a:t>，也就是说执行</a:t>
            </a:r>
            <a:r>
              <a:rPr lang="en-US" altLang="zh-CN" sz="1400" dirty="0"/>
              <a:t>p+1</a:t>
            </a:r>
            <a:r>
              <a:rPr lang="zh-CN" altLang="en-US" sz="1400" dirty="0"/>
              <a:t>时，</a:t>
            </a:r>
            <a:r>
              <a:rPr lang="en-US" altLang="zh-CN" sz="1400" dirty="0"/>
              <a:t>p</a:t>
            </a:r>
            <a:r>
              <a:rPr lang="zh-CN" altLang="en-US" sz="1400" dirty="0"/>
              <a:t>要跨过</a:t>
            </a:r>
            <a:r>
              <a:rPr lang="en-US" altLang="zh-CN" sz="1400" dirty="0"/>
              <a:t>4</a:t>
            </a:r>
            <a:r>
              <a:rPr lang="zh-CN" altLang="en-US" sz="1400" dirty="0"/>
              <a:t>个整型数据的长度。</a:t>
            </a:r>
            <a:r>
              <a:rPr lang="en-US" altLang="zh-CN" sz="1400" dirty="0"/>
              <a:t> </a:t>
            </a:r>
            <a:endParaRPr lang="en-US" altLang="zh-CN" sz="1400" dirty="0"/>
          </a:p>
          <a:p>
            <a:pPr lvl="1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zh-CN" dirty="0"/>
              <a:t>(p+2)+3</a:t>
            </a:r>
            <a:endParaRPr lang="en-US" altLang="zh-CN" dirty="0"/>
          </a:p>
          <a:p>
            <a:pPr lvl="1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90204" pitchFamily="34" charset="0"/>
              <a:buChar char="•"/>
              <a:defRPr/>
            </a:pPr>
            <a:r>
              <a:rPr lang="zh-CN" altLang="en-US" sz="1400" dirty="0"/>
              <a:t>括号中的加</a:t>
            </a:r>
            <a:r>
              <a:rPr lang="en-US" altLang="zh-CN" sz="1400" dirty="0"/>
              <a:t>2</a:t>
            </a:r>
            <a:r>
              <a:rPr lang="zh-CN" altLang="en-US" sz="1400" dirty="0"/>
              <a:t>是以</a:t>
            </a:r>
            <a:r>
              <a:rPr lang="en-US" altLang="zh-CN" sz="1400" dirty="0"/>
              <a:t>p</a:t>
            </a:r>
            <a:r>
              <a:rPr lang="zh-CN" altLang="en-US" sz="1400" dirty="0"/>
              <a:t>的基类型</a:t>
            </a:r>
            <a:r>
              <a:rPr lang="en-US" altLang="zh-CN" sz="1400" dirty="0"/>
              <a:t>(</a:t>
            </a:r>
            <a:r>
              <a:rPr lang="zh-CN" altLang="en-US" sz="1400" dirty="0"/>
              <a:t>一维整型数组</a:t>
            </a:r>
            <a:r>
              <a:rPr lang="en-US" altLang="zh-CN" sz="1400" dirty="0"/>
              <a:t>)</a:t>
            </a:r>
            <a:r>
              <a:rPr lang="zh-CN" altLang="en-US" sz="1400" dirty="0"/>
              <a:t>的长度为单位，即</a:t>
            </a:r>
            <a:r>
              <a:rPr lang="en-US" altLang="zh-CN" sz="1400" dirty="0"/>
              <a:t>p</a:t>
            </a:r>
            <a:r>
              <a:rPr lang="zh-CN" altLang="en-US" sz="1400" dirty="0"/>
              <a:t>每加</a:t>
            </a:r>
            <a:r>
              <a:rPr lang="en-US" altLang="zh-CN" sz="1400" dirty="0"/>
              <a:t>1</a:t>
            </a:r>
            <a:r>
              <a:rPr lang="zh-CN" altLang="en-US" sz="1400" dirty="0"/>
              <a:t>，地址就增加</a:t>
            </a:r>
            <a:r>
              <a:rPr lang="en-US" altLang="zh-CN" sz="1400" dirty="0"/>
              <a:t>16</a:t>
            </a:r>
            <a:r>
              <a:rPr lang="zh-CN" altLang="en-US" sz="1400" dirty="0"/>
              <a:t>个字节（</a:t>
            </a:r>
            <a:r>
              <a:rPr lang="en-US" altLang="zh-CN" sz="1400" dirty="0"/>
              <a:t>4</a:t>
            </a:r>
            <a:r>
              <a:rPr lang="zh-CN" altLang="en-US" sz="1400" dirty="0"/>
              <a:t>个元素，每个元素</a:t>
            </a:r>
            <a:r>
              <a:rPr lang="en-US" altLang="zh-CN" sz="1400" dirty="0"/>
              <a:t>4</a:t>
            </a:r>
            <a:r>
              <a:rPr lang="zh-CN" altLang="en-US" sz="1400" dirty="0"/>
              <a:t>个字节）；</a:t>
            </a:r>
            <a:r>
              <a:rPr lang="en-US" altLang="zh-CN" sz="1400" dirty="0"/>
              <a:t>(p+2)</a:t>
            </a:r>
            <a:r>
              <a:rPr lang="zh-CN" altLang="en-US" sz="1400" dirty="0"/>
              <a:t>之后基类型不变，再加</a:t>
            </a:r>
            <a:r>
              <a:rPr lang="en-US" altLang="zh-CN" sz="1400" dirty="0"/>
              <a:t>3</a:t>
            </a:r>
            <a:r>
              <a:rPr lang="zh-CN" altLang="en-US" sz="1400" dirty="0"/>
              <a:t>相当于总共加了</a:t>
            </a:r>
            <a:r>
              <a:rPr lang="en-US" altLang="zh-CN" sz="1400" dirty="0"/>
              <a:t>5</a:t>
            </a:r>
            <a:r>
              <a:rPr lang="zh-CN" altLang="en-US" sz="1400" dirty="0"/>
              <a:t>个基类型的长度。综上，*</a:t>
            </a:r>
            <a:r>
              <a:rPr lang="en-US" altLang="zh-CN" sz="1400" dirty="0"/>
              <a:t>(p+2)+3</a:t>
            </a:r>
            <a:r>
              <a:rPr lang="zh-CN" altLang="en-US" sz="1400" dirty="0"/>
              <a:t>的地址比</a:t>
            </a:r>
            <a:r>
              <a:rPr lang="en-US" altLang="zh-CN" sz="1400" dirty="0"/>
              <a:t>p</a:t>
            </a:r>
            <a:r>
              <a:rPr lang="zh-CN" altLang="en-US" sz="1400" dirty="0"/>
              <a:t>的地址增加了</a:t>
            </a:r>
            <a:r>
              <a:rPr lang="en-US" altLang="zh-CN" sz="1400" dirty="0"/>
              <a:t>80</a:t>
            </a:r>
            <a:r>
              <a:rPr lang="zh-CN" altLang="en-US" sz="1400" dirty="0"/>
              <a:t>个字节。</a:t>
            </a:r>
            <a:endParaRPr lang="en-US" altLang="zh-CN" sz="900" kern="0" dirty="0">
              <a:solidFill>
                <a:prstClr val="black"/>
              </a:solidFill>
              <a:latin typeface="等线"/>
              <a:ea typeface="等线"/>
            </a:endParaRPr>
          </a:p>
          <a:p>
            <a:pPr lvl="1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zh-CN" altLang="en-US" dirty="0"/>
              <a:t>*</a:t>
            </a:r>
            <a:r>
              <a:rPr lang="en-US" altLang="zh-CN" dirty="0"/>
              <a:t>(p+2)+3</a:t>
            </a:r>
            <a:endParaRPr lang="en-US" altLang="zh-CN" dirty="0"/>
          </a:p>
          <a:p>
            <a:pPr lvl="1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90204" pitchFamily="34" charset="0"/>
              <a:buChar char="•"/>
              <a:defRPr/>
            </a:pPr>
            <a:r>
              <a:rPr lang="zh-CN" altLang="en-US" sz="1400" dirty="0"/>
              <a:t>由于经过*</a:t>
            </a:r>
            <a:r>
              <a:rPr lang="en-US" altLang="zh-CN" sz="1400" dirty="0"/>
              <a:t>(p+2)</a:t>
            </a:r>
            <a:r>
              <a:rPr lang="zh-CN" altLang="en-US" sz="1400" dirty="0"/>
              <a:t>的运算，得到</a:t>
            </a:r>
            <a:r>
              <a:rPr lang="en-US" altLang="zh-CN" sz="1400" dirty="0"/>
              <a:t>a[2]</a:t>
            </a:r>
            <a:r>
              <a:rPr lang="zh-CN" altLang="en-US" sz="1400" dirty="0"/>
              <a:t>，即</a:t>
            </a:r>
            <a:r>
              <a:rPr lang="en-US" altLang="zh-CN" sz="1400" dirty="0"/>
              <a:t>&amp;a[2][0]</a:t>
            </a:r>
            <a:r>
              <a:rPr lang="zh-CN" altLang="en-US" sz="1400" dirty="0"/>
              <a:t>，它已转化为指向列元素的指针了，故加</a:t>
            </a:r>
            <a:r>
              <a:rPr lang="en-US" altLang="zh-CN" sz="1400" dirty="0"/>
              <a:t>3</a:t>
            </a:r>
            <a:r>
              <a:rPr lang="zh-CN" altLang="en-US" sz="1400" dirty="0"/>
              <a:t>是以元素的长度为单位的，加</a:t>
            </a:r>
            <a:r>
              <a:rPr lang="en-US" altLang="zh-CN" sz="1400" dirty="0"/>
              <a:t>3</a:t>
            </a:r>
            <a:r>
              <a:rPr lang="zh-CN" altLang="en-US" sz="1400" dirty="0"/>
              <a:t>就是加</a:t>
            </a:r>
            <a:r>
              <a:rPr lang="en-US" altLang="zh-CN" sz="1400" dirty="0"/>
              <a:t>(3×4)</a:t>
            </a:r>
            <a:r>
              <a:rPr lang="zh-CN" altLang="en-US" sz="1400" dirty="0"/>
              <a:t>个字节。综上，*</a:t>
            </a:r>
            <a:r>
              <a:rPr lang="en-US" altLang="zh-CN" sz="1400" dirty="0"/>
              <a:t>(p+2)+3</a:t>
            </a:r>
            <a:r>
              <a:rPr lang="zh-CN" altLang="en-US" sz="1400" dirty="0"/>
              <a:t>的地址比</a:t>
            </a:r>
            <a:r>
              <a:rPr lang="en-US" altLang="zh-CN" sz="1400" dirty="0"/>
              <a:t>p</a:t>
            </a:r>
            <a:r>
              <a:rPr lang="zh-CN" altLang="en-US" sz="1400" dirty="0"/>
              <a:t>的地址增加了</a:t>
            </a:r>
            <a:r>
              <a:rPr lang="en-US" altLang="zh-CN" sz="1400" dirty="0"/>
              <a:t>44</a:t>
            </a:r>
            <a:r>
              <a:rPr lang="zh-CN" altLang="en-US" sz="1400" dirty="0"/>
              <a:t>字节。</a:t>
            </a:r>
            <a:endParaRPr lang="zh-CN" altLang="en-US" sz="1400" dirty="0"/>
          </a:p>
          <a:p>
            <a:pPr lvl="1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endParaRPr lang="en-US" altLang="zh-CN" dirty="0"/>
          </a:p>
        </p:txBody>
      </p:sp>
      <p:sp>
        <p:nvSpPr>
          <p:cNvPr id="3" name="文本框 2"/>
          <p:cNvSpPr txBox="1"/>
          <p:nvPr/>
        </p:nvSpPr>
        <p:spPr>
          <a:xfrm>
            <a:off x="4154805" y="431800"/>
            <a:ext cx="49110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highlight>
                  <a:srgbClr val="00FFFF"/>
                </a:highlight>
              </a:rPr>
              <a:t>a[1]</a:t>
            </a:r>
            <a:r>
              <a:rPr lang="zh-CN" altLang="en-US">
                <a:highlight>
                  <a:srgbClr val="00FFFF"/>
                </a:highlight>
              </a:rPr>
              <a:t>不能给</a:t>
            </a:r>
            <a:r>
              <a:rPr lang="en-US" altLang="zh-CN">
                <a:highlight>
                  <a:srgbClr val="00FFFF"/>
                </a:highlight>
              </a:rPr>
              <a:t>int(*p)[5]</a:t>
            </a:r>
            <a:r>
              <a:rPr lang="zh-CN" altLang="en-US">
                <a:highlight>
                  <a:srgbClr val="00FFFF"/>
                </a:highlight>
              </a:rPr>
              <a:t>赋值</a:t>
            </a:r>
            <a:endParaRPr lang="zh-CN" altLang="en-US">
              <a:highlight>
                <a:srgbClr val="00FFFF"/>
              </a:highlight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指向一维数组的指针</a:t>
            </a:r>
            <a:endParaRPr lang="en-US" dirty="0"/>
          </a:p>
        </p:txBody>
      </p:sp>
      <p:sp>
        <p:nvSpPr>
          <p:cNvPr id="4" name="矩形 3"/>
          <p:cNvSpPr/>
          <p:nvPr/>
        </p:nvSpPr>
        <p:spPr>
          <a:xfrm>
            <a:off x="179900" y="1201688"/>
            <a:ext cx="4686889" cy="286232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//</a:t>
            </a:r>
            <a:r>
              <a:rPr lang="zh-CN" alt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例</a:t>
            </a: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</a:rPr>
              <a:t>13-08</a:t>
            </a:r>
            <a:endParaRPr lang="en-US" sz="12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&lt;iostream&gt;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std;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main()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aa[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4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] = {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7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endParaRPr lang="zh-CN" alt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(*p)[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4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 //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定义指向包含</a:t>
            </a:r>
            <a:r>
              <a:rPr lang="en-US" altLang="zh-CN" sz="1200" dirty="0">
                <a:solidFill>
                  <a:srgbClr val="008000"/>
                </a:solidFill>
                <a:latin typeface="Consolas" panose="020B0609020204030204" pitchFamily="49" charset="0"/>
              </a:rPr>
              <a:t>4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个元素的一维数组的指针变量</a:t>
            </a:r>
            <a:endParaRPr lang="zh-CN" alt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p = &amp;aa;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                  //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使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p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指向一维数组</a:t>
            </a:r>
            <a:endParaRPr lang="zh-CN" alt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p &lt;&lt;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 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p +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*p &lt;&lt;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(*p)[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] &lt;&lt;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 //*p 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相当于 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aa, 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即输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aa[3]</a:t>
            </a:r>
            <a:endParaRPr lang="en-US" sz="12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r>
              <a:rPr lang="zh-CN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sizeof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(p) &lt;&lt;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 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sizeof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(aa)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&lt;&lt;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 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sizeof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(&amp;aa[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]) &lt;&lt;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207121" y="4600867"/>
            <a:ext cx="1583555" cy="1298870"/>
            <a:chOff x="565165" y="4263516"/>
            <a:chExt cx="1583555" cy="1298870"/>
          </a:xfrm>
        </p:grpSpPr>
        <p:sp>
          <p:nvSpPr>
            <p:cNvPr id="5" name="矩形 4"/>
            <p:cNvSpPr/>
            <p:nvPr/>
          </p:nvSpPr>
          <p:spPr>
            <a:xfrm>
              <a:off x="565165" y="4608279"/>
              <a:ext cx="1583555" cy="95410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lang="en-US" sz="1400" dirty="0"/>
                <a:t>0x61fe00 0x61fe10</a:t>
              </a:r>
              <a:endParaRPr lang="en-US" sz="1400" dirty="0"/>
            </a:p>
            <a:p>
              <a:r>
                <a:rPr lang="en-US" sz="1400" dirty="0"/>
                <a:t>0x61fe00</a:t>
              </a:r>
              <a:endParaRPr lang="en-US" sz="1400" dirty="0"/>
            </a:p>
            <a:p>
              <a:r>
                <a:rPr lang="en-US" sz="1400" dirty="0"/>
                <a:t>7</a:t>
              </a:r>
              <a:endParaRPr lang="en-US" sz="1400" dirty="0"/>
            </a:p>
            <a:p>
              <a:r>
                <a:rPr lang="en-US" sz="1400" dirty="0"/>
                <a:t>8 16 8</a:t>
              </a:r>
              <a:endParaRPr lang="en-US" sz="1400" dirty="0"/>
            </a:p>
          </p:txBody>
        </p:sp>
        <p:sp>
          <p:nvSpPr>
            <p:cNvPr id="6" name="矩形 5"/>
            <p:cNvSpPr/>
            <p:nvPr/>
          </p:nvSpPr>
          <p:spPr>
            <a:xfrm>
              <a:off x="565165" y="4263516"/>
              <a:ext cx="723275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400" dirty="0"/>
                <a:t>输出：</a:t>
              </a:r>
              <a:endParaRPr lang="en-US" sz="1400" dirty="0"/>
            </a:p>
          </p:txBody>
        </p:sp>
      </p:grpSp>
      <p:sp>
        <p:nvSpPr>
          <p:cNvPr id="8" name="矩形 7"/>
          <p:cNvSpPr/>
          <p:nvPr/>
        </p:nvSpPr>
        <p:spPr>
          <a:xfrm>
            <a:off x="1870575" y="4353573"/>
            <a:ext cx="3076113" cy="20724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20000"/>
              </a:lnSpc>
              <a:defRPr/>
            </a:pPr>
            <a:r>
              <a:rPr lang="en-US" altLang="zh-CN" sz="1200" kern="0" dirty="0">
                <a:latin typeface="等线"/>
                <a:ea typeface="等线"/>
              </a:rPr>
              <a:t>int (*p)[4];  </a:t>
            </a:r>
            <a:r>
              <a:rPr lang="zh-CN" altLang="en-US" sz="1200" kern="0" dirty="0">
                <a:latin typeface="等线"/>
                <a:ea typeface="等线"/>
              </a:rPr>
              <a:t>表示</a:t>
            </a:r>
            <a:r>
              <a:rPr lang="en-US" altLang="zh-CN" sz="1200" kern="0" dirty="0">
                <a:latin typeface="等线"/>
                <a:ea typeface="等线"/>
              </a:rPr>
              <a:t>(*p)</a:t>
            </a:r>
            <a:r>
              <a:rPr lang="zh-CN" altLang="en-US" sz="1200" kern="0" dirty="0">
                <a:latin typeface="等线"/>
                <a:ea typeface="等线"/>
              </a:rPr>
              <a:t>有</a:t>
            </a:r>
            <a:r>
              <a:rPr lang="en-US" altLang="zh-CN" sz="1200" kern="0" dirty="0">
                <a:latin typeface="等线"/>
                <a:ea typeface="等线"/>
              </a:rPr>
              <a:t>4</a:t>
            </a:r>
            <a:r>
              <a:rPr lang="zh-CN" altLang="en-US" sz="1200" kern="0" dirty="0">
                <a:latin typeface="等线"/>
                <a:ea typeface="等线"/>
              </a:rPr>
              <a:t>个元素，每个元素为整型。也就是</a:t>
            </a:r>
            <a:r>
              <a:rPr lang="en-US" altLang="zh-CN" sz="1200" kern="0" dirty="0">
                <a:latin typeface="等线"/>
                <a:ea typeface="等线"/>
              </a:rPr>
              <a:t>p</a:t>
            </a:r>
            <a:r>
              <a:rPr lang="zh-CN" altLang="en-US" sz="1200" kern="0" dirty="0">
                <a:latin typeface="等线"/>
                <a:ea typeface="等线"/>
              </a:rPr>
              <a:t>所指的对象是有</a:t>
            </a:r>
            <a:r>
              <a:rPr lang="en-US" altLang="zh-CN" sz="1200" kern="0" dirty="0">
                <a:latin typeface="等线"/>
                <a:ea typeface="等线"/>
              </a:rPr>
              <a:t>4</a:t>
            </a:r>
            <a:r>
              <a:rPr lang="zh-CN" altLang="en-US" sz="1200" kern="0" dirty="0">
                <a:latin typeface="等线"/>
                <a:ea typeface="等线"/>
              </a:rPr>
              <a:t>个整型元素的数组，即</a:t>
            </a:r>
            <a:r>
              <a:rPr lang="en-US" altLang="zh-CN" sz="1200" kern="0" dirty="0">
                <a:latin typeface="等线"/>
                <a:ea typeface="等线"/>
              </a:rPr>
              <a:t>p</a:t>
            </a:r>
            <a:r>
              <a:rPr lang="zh-CN" altLang="en-US" sz="1200" kern="0" dirty="0">
                <a:latin typeface="等线"/>
                <a:ea typeface="等线"/>
              </a:rPr>
              <a:t>是指向一维数组的指针。</a:t>
            </a:r>
            <a:endParaRPr lang="en-US" altLang="zh-CN" sz="1200" kern="0" dirty="0">
              <a:latin typeface="等线"/>
              <a:ea typeface="等线"/>
            </a:endParaRPr>
          </a:p>
          <a:p>
            <a:pPr lvl="0">
              <a:lnSpc>
                <a:spcPct val="120000"/>
              </a:lnSpc>
              <a:defRPr/>
            </a:pPr>
            <a:endParaRPr lang="en-US" altLang="zh-CN" sz="1200" kern="0" dirty="0">
              <a:latin typeface="等线"/>
              <a:ea typeface="等线"/>
            </a:endParaRPr>
          </a:p>
          <a:p>
            <a:pPr lvl="0">
              <a:lnSpc>
                <a:spcPct val="120000"/>
              </a:lnSpc>
              <a:defRPr/>
            </a:pPr>
            <a:r>
              <a:rPr lang="zh-CN" altLang="en-US" sz="1200" kern="0" dirty="0">
                <a:solidFill>
                  <a:srgbClr val="C00000"/>
                </a:solidFill>
                <a:latin typeface="等线"/>
                <a:ea typeface="等线"/>
              </a:rPr>
              <a:t>注意：</a:t>
            </a:r>
            <a:r>
              <a:rPr lang="zh-CN" altLang="en-US" sz="1200" kern="0" dirty="0">
                <a:latin typeface="等线"/>
                <a:ea typeface="等线"/>
              </a:rPr>
              <a:t>此时</a:t>
            </a:r>
            <a:r>
              <a:rPr lang="en-US" altLang="zh-CN" sz="1200" kern="0" dirty="0">
                <a:latin typeface="等线"/>
                <a:ea typeface="等线"/>
              </a:rPr>
              <a:t>p</a:t>
            </a:r>
            <a:r>
              <a:rPr lang="zh-CN" altLang="en-US" sz="1200" kern="0" dirty="0">
                <a:latin typeface="等线"/>
                <a:ea typeface="等线"/>
              </a:rPr>
              <a:t>只能指向一个包含</a:t>
            </a:r>
            <a:r>
              <a:rPr lang="en-US" altLang="zh-CN" sz="1200" kern="0" dirty="0">
                <a:latin typeface="等线"/>
                <a:ea typeface="等线"/>
              </a:rPr>
              <a:t>4</a:t>
            </a:r>
            <a:r>
              <a:rPr lang="zh-CN" altLang="en-US" sz="1200" kern="0" dirty="0">
                <a:latin typeface="等线"/>
                <a:ea typeface="等线"/>
              </a:rPr>
              <a:t>个元素的一维数组，不能指向一维数组中的某一个元素。</a:t>
            </a:r>
            <a:r>
              <a:rPr lang="en-US" altLang="zh-CN" sz="1200" kern="0" dirty="0">
                <a:latin typeface="等线"/>
                <a:ea typeface="等线"/>
              </a:rPr>
              <a:t>p</a:t>
            </a:r>
            <a:r>
              <a:rPr lang="zh-CN" altLang="en-US" sz="1200" kern="0" dirty="0">
                <a:latin typeface="等线"/>
                <a:ea typeface="等线"/>
              </a:rPr>
              <a:t>的值是该一维数组的起始地址。虽然这个地址与该一维数组首元素的地址相同，但它们的基类型是不同的。</a:t>
            </a:r>
            <a:endParaRPr lang="en-US" altLang="zh-CN" sz="1200" b="1" kern="0" dirty="0">
              <a:latin typeface="等线"/>
              <a:ea typeface="等线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866789" y="1201688"/>
            <a:ext cx="3845211" cy="433965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//</a:t>
            </a:r>
            <a:r>
              <a:rPr lang="zh-CN" alt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例</a:t>
            </a:r>
            <a:r>
              <a:rPr lang="en-US" altLang="zh-CN" sz="1200" dirty="0">
                <a:solidFill>
                  <a:srgbClr val="0000FF"/>
                </a:solidFill>
                <a:latin typeface="Consolas" panose="020B0609020204030204" pitchFamily="49" charset="0"/>
              </a:rPr>
              <a:t>13-09</a:t>
            </a:r>
            <a:endParaRPr lang="en-US" sz="12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&lt;iostream&gt;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std;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main()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a[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][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4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]={{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7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}, 		{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9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11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13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15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},{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17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19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21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23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}}; 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(*p)[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4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],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 j;       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p = a;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p &lt;&lt;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 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p +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*p &lt;&lt;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    //*p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相当于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a[0], （*p)[3]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相当于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a[0][3]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(*p)[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] &lt;&lt;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//p[2]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相当于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a[2], *(p[2])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相当于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a[2][0] 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*p[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] &lt;&lt;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      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&amp;p[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][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] &lt;&lt;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 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	&lt;&lt; *(p +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 +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p[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][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] &lt;&lt;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 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	&lt;&lt; *(*(p +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 +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 &lt;&lt;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6262381" y="4941173"/>
            <a:ext cx="2308853" cy="1200329"/>
            <a:chOff x="6187077" y="5225671"/>
            <a:chExt cx="2308853" cy="1200329"/>
          </a:xfrm>
        </p:grpSpPr>
        <p:sp>
          <p:nvSpPr>
            <p:cNvPr id="10" name="矩形 9"/>
            <p:cNvSpPr/>
            <p:nvPr/>
          </p:nvSpPr>
          <p:spPr>
            <a:xfrm>
              <a:off x="6910352" y="5225671"/>
              <a:ext cx="1585578" cy="120032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lang="en-US" sz="1200" dirty="0"/>
                <a:t>0x61fde0 0x61fdf0</a:t>
              </a:r>
              <a:endParaRPr lang="en-US" sz="1200" dirty="0"/>
            </a:p>
            <a:p>
              <a:r>
                <a:rPr lang="en-US" sz="1200" dirty="0"/>
                <a:t>0x61fde0</a:t>
              </a:r>
              <a:endParaRPr lang="en-US" sz="1200" dirty="0"/>
            </a:p>
            <a:p>
              <a:r>
                <a:rPr lang="en-US" sz="1200" dirty="0"/>
                <a:t>7</a:t>
              </a:r>
              <a:endParaRPr lang="en-US" sz="1200" dirty="0"/>
            </a:p>
            <a:p>
              <a:r>
                <a:rPr lang="en-US" sz="1200" dirty="0"/>
                <a:t>17</a:t>
              </a:r>
              <a:endParaRPr lang="en-US" sz="1200" dirty="0"/>
            </a:p>
            <a:p>
              <a:r>
                <a:rPr lang="en-US" sz="1200" dirty="0"/>
                <a:t>0x61fe0c </a:t>
              </a:r>
              <a:r>
                <a:rPr lang="en-US" sz="1200" dirty="0" err="1"/>
                <a:t>0x61fe0c</a:t>
              </a:r>
              <a:endParaRPr lang="en-US" sz="1200" dirty="0"/>
            </a:p>
            <a:p>
              <a:r>
                <a:rPr lang="en-US" sz="1200" dirty="0"/>
                <a:t>23 23</a:t>
              </a:r>
              <a:endParaRPr lang="en-US" sz="1200" dirty="0"/>
            </a:p>
          </p:txBody>
        </p:sp>
        <p:sp>
          <p:nvSpPr>
            <p:cNvPr id="11" name="矩形 10"/>
            <p:cNvSpPr/>
            <p:nvPr/>
          </p:nvSpPr>
          <p:spPr>
            <a:xfrm>
              <a:off x="6187077" y="5235897"/>
              <a:ext cx="723275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400" dirty="0"/>
                <a:t>输出：</a:t>
              </a:r>
              <a:endParaRPr lang="en-US" sz="1400" dirty="0"/>
            </a:p>
          </p:txBody>
        </p:sp>
      </p:grpSp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7493492" y="432000"/>
          <a:ext cx="1218508" cy="1042941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304627"/>
                <a:gridCol w="304627"/>
                <a:gridCol w="304627"/>
                <a:gridCol w="304627"/>
              </a:tblGrid>
              <a:tr h="347647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/>
                        <a:t>1</a:t>
                      </a:r>
                      <a:endParaRPr 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/>
                        <a:t>3</a:t>
                      </a:r>
                      <a:endParaRPr 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/>
                        <a:t>5</a:t>
                      </a:r>
                      <a:endParaRPr 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/>
                        <a:t>7</a:t>
                      </a:r>
                      <a:endParaRPr lang="en-US" sz="900" b="1" dirty="0"/>
                    </a:p>
                  </a:txBody>
                  <a:tcPr anchor="ctr"/>
                </a:tc>
              </a:tr>
              <a:tr h="347647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/>
                        <a:t>9</a:t>
                      </a:r>
                      <a:endParaRPr 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/>
                        <a:t>11</a:t>
                      </a:r>
                      <a:endParaRPr 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/>
                        <a:t>13</a:t>
                      </a:r>
                      <a:endParaRPr 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/>
                        <a:t>15</a:t>
                      </a:r>
                      <a:endParaRPr lang="en-US" sz="900" b="1" dirty="0"/>
                    </a:p>
                  </a:txBody>
                  <a:tcPr anchor="ctr"/>
                </a:tc>
              </a:tr>
              <a:tr h="347647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/>
                        <a:t>17</a:t>
                      </a:r>
                      <a:endParaRPr 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/>
                        <a:t>19</a:t>
                      </a:r>
                      <a:endParaRPr 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/>
                        <a:t>21</a:t>
                      </a:r>
                      <a:endParaRPr lang="en-US" sz="9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/>
                        <a:t>23</a:t>
                      </a:r>
                      <a:endParaRPr lang="en-US" sz="900" b="1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14" name="矩形 13"/>
          <p:cNvSpPr/>
          <p:nvPr/>
        </p:nvSpPr>
        <p:spPr>
          <a:xfrm>
            <a:off x="4946688" y="6241334"/>
            <a:ext cx="31021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思考：如何通过</a:t>
            </a:r>
            <a:r>
              <a:rPr lang="en-US" altLang="zh-CN" dirty="0">
                <a:solidFill>
                  <a:srgbClr val="C00000"/>
                </a:solidFill>
              </a:rPr>
              <a:t>p</a:t>
            </a:r>
            <a:r>
              <a:rPr lang="zh-CN" altLang="en-US" dirty="0">
                <a:solidFill>
                  <a:srgbClr val="C00000"/>
                </a:solidFill>
              </a:rPr>
              <a:t>访问</a:t>
            </a:r>
            <a:r>
              <a:rPr lang="en-US" altLang="zh-CN" dirty="0">
                <a:solidFill>
                  <a:srgbClr val="C00000"/>
                </a:solidFill>
              </a:rPr>
              <a:t>a[</a:t>
            </a:r>
            <a:r>
              <a:rPr lang="en-US" altLang="zh-CN" dirty="0" err="1">
                <a:solidFill>
                  <a:srgbClr val="C00000"/>
                </a:solidFill>
              </a:rPr>
              <a:t>i</a:t>
            </a:r>
            <a:r>
              <a:rPr lang="en-US" altLang="zh-CN" dirty="0">
                <a:solidFill>
                  <a:srgbClr val="C00000"/>
                </a:solidFill>
              </a:rPr>
              <a:t>][j]</a:t>
            </a:r>
            <a:r>
              <a:rPr lang="zh-CN" altLang="en-US" dirty="0">
                <a:solidFill>
                  <a:srgbClr val="C00000"/>
                </a:solidFill>
              </a:rPr>
              <a:t>？</a:t>
            </a:r>
            <a:endParaRPr 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  <p:bldP spid="14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指针数组</a:t>
            </a:r>
            <a:endParaRPr lang="en-US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指针数组的定义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432000" y="1260000"/>
            <a:ext cx="8280000" cy="5040000"/>
          </a:xfrm>
        </p:spPr>
        <p:txBody>
          <a:bodyPr/>
          <a:lstStyle/>
          <a:p>
            <a:r>
              <a:rPr lang="zh-CN" altLang="en-US" dirty="0">
                <a:solidFill>
                  <a:prstClr val="black"/>
                </a:solidFill>
                <a:latin typeface="等线"/>
                <a:ea typeface="等线"/>
              </a:rPr>
              <a:t>定义一维指针数组的一般形式为</a:t>
            </a:r>
            <a:endParaRPr lang="en-US" altLang="zh-CN" dirty="0">
              <a:solidFill>
                <a:prstClr val="black"/>
              </a:solidFill>
              <a:latin typeface="等线"/>
              <a:ea typeface="等线"/>
            </a:endParaRPr>
          </a:p>
          <a:p>
            <a:pPr lvl="1"/>
            <a:endParaRPr lang="en-US" altLang="zh-CN" dirty="0">
              <a:solidFill>
                <a:prstClr val="black"/>
              </a:solidFill>
              <a:latin typeface="等线"/>
              <a:ea typeface="等线"/>
            </a:endParaRPr>
          </a:p>
          <a:p>
            <a:pPr lvl="1"/>
            <a:r>
              <a:rPr lang="zh-CN" altLang="en-US" kern="0" dirty="0">
                <a:solidFill>
                  <a:prstClr val="black"/>
                </a:solidFill>
                <a:latin typeface="等线"/>
                <a:ea typeface="等线"/>
              </a:rPr>
              <a:t>一个数组，若其元素均为指针类型数据，称为</a:t>
            </a:r>
            <a:r>
              <a:rPr lang="zh-CN" altLang="en-US" b="1" kern="0" dirty="0">
                <a:solidFill>
                  <a:prstClr val="black"/>
                </a:solidFill>
                <a:latin typeface="等线"/>
                <a:ea typeface="等线"/>
              </a:rPr>
              <a:t>指针数组，</a:t>
            </a:r>
            <a:r>
              <a:rPr lang="zh-CN" altLang="en-US" kern="0" dirty="0">
                <a:solidFill>
                  <a:prstClr val="black"/>
                </a:solidFill>
                <a:latin typeface="等线"/>
                <a:ea typeface="等线"/>
              </a:rPr>
              <a:t>即指针数组中的每一个元素都存放一个地址（指针）</a:t>
            </a:r>
            <a:endParaRPr lang="en-US" altLang="zh-CN" kern="0" dirty="0">
              <a:solidFill>
                <a:prstClr val="black"/>
              </a:solidFill>
              <a:latin typeface="等线"/>
              <a:ea typeface="等线"/>
            </a:endParaRPr>
          </a:p>
          <a:p>
            <a:pPr lvl="1"/>
            <a:endParaRPr lang="en-US" altLang="zh-CN" kern="0" dirty="0">
              <a:solidFill>
                <a:prstClr val="black"/>
              </a:solidFill>
              <a:latin typeface="等线"/>
              <a:ea typeface="等线"/>
            </a:endParaRPr>
          </a:p>
          <a:p>
            <a:pPr lvl="1"/>
            <a:r>
              <a:rPr lang="zh-CN" altLang="en-US" kern="0" dirty="0">
                <a:solidFill>
                  <a:prstClr val="black"/>
                </a:solidFill>
                <a:latin typeface="等线"/>
                <a:ea typeface="等线"/>
              </a:rPr>
              <a:t>定义一个有</a:t>
            </a:r>
            <a:r>
              <a:rPr lang="en-US" altLang="zh-CN" kern="0" dirty="0">
                <a:solidFill>
                  <a:prstClr val="black"/>
                </a:solidFill>
                <a:latin typeface="等线"/>
                <a:ea typeface="等线"/>
              </a:rPr>
              <a:t>4</a:t>
            </a:r>
            <a:r>
              <a:rPr lang="zh-CN" altLang="en-US" kern="0" dirty="0">
                <a:solidFill>
                  <a:prstClr val="black"/>
                </a:solidFill>
                <a:latin typeface="等线"/>
                <a:ea typeface="等线"/>
              </a:rPr>
              <a:t>个元素的指针数组。</a:t>
            </a:r>
            <a:r>
              <a:rPr lang="en-US" altLang="zh-CN" kern="0" dirty="0">
                <a:solidFill>
                  <a:prstClr val="black"/>
                </a:solidFill>
                <a:latin typeface="等线"/>
                <a:ea typeface="等线"/>
              </a:rPr>
              <a:t>[]</a:t>
            </a:r>
            <a:r>
              <a:rPr lang="zh-CN" altLang="en-US" kern="0" dirty="0">
                <a:solidFill>
                  <a:prstClr val="black"/>
                </a:solidFill>
                <a:latin typeface="等线"/>
                <a:ea typeface="等线"/>
              </a:rPr>
              <a:t>优先级高，先与</a:t>
            </a:r>
            <a:r>
              <a:rPr lang="en-US" altLang="zh-CN" kern="0" dirty="0">
                <a:solidFill>
                  <a:prstClr val="black"/>
                </a:solidFill>
                <a:latin typeface="等线"/>
                <a:ea typeface="等线"/>
              </a:rPr>
              <a:t>p</a:t>
            </a:r>
            <a:r>
              <a:rPr lang="zh-CN" altLang="en-US" kern="0" dirty="0">
                <a:solidFill>
                  <a:prstClr val="black"/>
                </a:solidFill>
                <a:latin typeface="等线"/>
                <a:ea typeface="等线"/>
              </a:rPr>
              <a:t>结合称为一个数组，再由</a:t>
            </a:r>
            <a:r>
              <a:rPr lang="en-US" altLang="zh-CN" kern="0" dirty="0">
                <a:solidFill>
                  <a:prstClr val="black"/>
                </a:solidFill>
                <a:latin typeface="等线"/>
                <a:ea typeface="等线"/>
              </a:rPr>
              <a:t>int *</a:t>
            </a:r>
            <a:r>
              <a:rPr lang="zh-CN" altLang="en-US" kern="0" dirty="0">
                <a:solidFill>
                  <a:prstClr val="black"/>
                </a:solidFill>
                <a:latin typeface="等线"/>
                <a:ea typeface="等线"/>
              </a:rPr>
              <a:t>说明这是一个整型指针数组。</a:t>
            </a:r>
            <a:endParaRPr lang="en-US" altLang="zh-CN" kern="0" dirty="0">
              <a:solidFill>
                <a:prstClr val="black"/>
              </a:solidFill>
              <a:latin typeface="等线"/>
              <a:ea typeface="等线"/>
            </a:endParaRPr>
          </a:p>
          <a:p>
            <a:pPr lvl="1"/>
            <a:endParaRPr lang="en-US" altLang="zh-CN" dirty="0">
              <a:solidFill>
                <a:prstClr val="black"/>
              </a:solidFill>
              <a:latin typeface="等线"/>
              <a:ea typeface="等线"/>
            </a:endParaRPr>
          </a:p>
          <a:p>
            <a:endParaRPr lang="zh-CN" altLang="en-US" dirty="0">
              <a:solidFill>
                <a:prstClr val="black"/>
              </a:solidFill>
              <a:latin typeface="等线"/>
              <a:ea typeface="等线"/>
            </a:endParaRPr>
          </a:p>
          <a:p>
            <a:endParaRPr lang="en-US" dirty="0"/>
          </a:p>
        </p:txBody>
      </p:sp>
      <p:sp>
        <p:nvSpPr>
          <p:cNvPr id="7" name="矩形 6"/>
          <p:cNvSpPr/>
          <p:nvPr/>
        </p:nvSpPr>
        <p:spPr>
          <a:xfrm>
            <a:off x="2131347" y="1733517"/>
            <a:ext cx="3004930" cy="400693"/>
          </a:xfrm>
          <a:prstGeom prst="rect">
            <a:avLst/>
          </a:prstGeom>
          <a:solidFill>
            <a:srgbClr val="E84C22"/>
          </a:solidFill>
          <a:ln w="12700" cap="flat" cmpd="sng" algn="ctr">
            <a:solidFill>
              <a:srgbClr val="E84C22">
                <a:shade val="50000"/>
              </a:srgbClr>
            </a:solidFill>
            <a:prstDash val="solid"/>
            <a:miter lim="800000"/>
          </a:ln>
          <a:effectLst/>
        </p:spPr>
        <p:txBody>
          <a:bodyPr lIns="180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类型名 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*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数组名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[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数组长度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];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</p:txBody>
      </p:sp>
      <p:sp>
        <p:nvSpPr>
          <p:cNvPr id="9" name="圆角矩形 5"/>
          <p:cNvSpPr/>
          <p:nvPr/>
        </p:nvSpPr>
        <p:spPr>
          <a:xfrm>
            <a:off x="1484609" y="2998240"/>
            <a:ext cx="1882059" cy="400693"/>
          </a:xfrm>
          <a:prstGeom prst="roundRect">
            <a:avLst>
              <a:gd name="adj" fmla="val 13754"/>
            </a:avLst>
          </a:prstGeom>
          <a:solidFill>
            <a:sysClr val="window" lastClr="FFFFFF"/>
          </a:solidFill>
          <a:ln w="12700" cap="flat" cmpd="sng" algn="ctr">
            <a:solidFill>
              <a:srgbClr val="E84C22"/>
            </a:solidFill>
            <a:prstDash val="solid"/>
            <a:miter lim="800000"/>
          </a:ln>
          <a:effectLst/>
        </p:spPr>
        <p:txBody>
          <a:bodyPr lIns="180000" rtlCol="0" anchor="t"/>
          <a:lstStyle/>
          <a:p>
            <a:pPr marL="0" marR="0" lvl="0" indent="0" defTabSz="363855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int *p[4];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</p:txBody>
      </p:sp>
      <p:sp>
        <p:nvSpPr>
          <p:cNvPr id="10" name="圆角矩形 7"/>
          <p:cNvSpPr/>
          <p:nvPr/>
        </p:nvSpPr>
        <p:spPr>
          <a:xfrm>
            <a:off x="620810" y="4651422"/>
            <a:ext cx="5123774" cy="1648578"/>
          </a:xfrm>
          <a:prstGeom prst="roundRect">
            <a:avLst>
              <a:gd name="adj" fmla="val 2090"/>
            </a:avLst>
          </a:prstGeom>
          <a:solidFill>
            <a:sysClr val="window" lastClr="FFFFFF"/>
          </a:solidFill>
          <a:ln w="12700" cap="flat" cmpd="sng" algn="ctr">
            <a:solidFill>
              <a:srgbClr val="E84C22"/>
            </a:solidFill>
            <a:prstDash val="solid"/>
            <a:miter lim="800000"/>
          </a:ln>
          <a:effectLst/>
        </p:spPr>
        <p:txBody>
          <a:bodyPr numCol="1" spcCol="360000" rtlCol="0" anchor="t"/>
          <a:lstStyle/>
          <a:p>
            <a:pPr marR="0" lvl="0" defTabSz="363855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int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 *p[4];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409020205090404" pitchFamily="49" charset="0"/>
              <a:ea typeface="等线"/>
              <a:cs typeface="Courier New" panose="02070409020205090404" pitchFamily="49" charset="0"/>
            </a:endParaRPr>
          </a:p>
          <a:p>
            <a:pPr marR="0" lvl="0" defTabSz="363855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en-US" altLang="zh-CN" sz="1400" kern="0" dirty="0" err="1">
                <a:solidFill>
                  <a:prstClr val="black"/>
                </a:solidFill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int</a:t>
            </a:r>
            <a:r>
              <a:rPr lang="en-US" altLang="zh-CN" sz="1400" kern="0" dirty="0">
                <a:solidFill>
                  <a:prstClr val="black"/>
                </a:solidFill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 a[4][4];</a:t>
            </a:r>
            <a:endParaRPr lang="en-US" altLang="zh-CN" sz="1400" kern="0" dirty="0">
              <a:solidFill>
                <a:prstClr val="black"/>
              </a:solidFill>
              <a:latin typeface="Courier New" panose="02070409020205090404" pitchFamily="49" charset="0"/>
              <a:ea typeface="等线"/>
              <a:cs typeface="Courier New" panose="02070409020205090404" pitchFamily="49" charset="0"/>
            </a:endParaRPr>
          </a:p>
          <a:p>
            <a:pPr marR="0" lvl="0" defTabSz="363855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endParaRPr lang="en-US" altLang="zh-CN" sz="1400" kern="0" dirty="0">
              <a:solidFill>
                <a:prstClr val="black"/>
              </a:solidFill>
              <a:latin typeface="Courier New" panose="02070409020205090404" pitchFamily="49" charset="0"/>
              <a:ea typeface="等线"/>
              <a:cs typeface="Courier New" panose="02070409020205090404" pitchFamily="49" charset="0"/>
            </a:endParaRPr>
          </a:p>
          <a:p>
            <a:pPr marR="0" lvl="0" defTabSz="363855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en-US" altLang="zh-CN" sz="1400" kern="0" dirty="0">
                <a:solidFill>
                  <a:prstClr val="black"/>
                </a:solidFill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for (</a:t>
            </a:r>
            <a:r>
              <a:rPr lang="en-US" altLang="zh-CN" sz="1400" kern="0" dirty="0" err="1">
                <a:solidFill>
                  <a:prstClr val="black"/>
                </a:solidFill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int</a:t>
            </a:r>
            <a:r>
              <a:rPr lang="en-US" altLang="zh-CN" sz="1400" kern="0" dirty="0">
                <a:solidFill>
                  <a:prstClr val="black"/>
                </a:solidFill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 </a:t>
            </a:r>
            <a:r>
              <a:rPr lang="en-US" altLang="zh-CN" sz="1400" kern="0" dirty="0" err="1">
                <a:solidFill>
                  <a:prstClr val="black"/>
                </a:solidFill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i</a:t>
            </a:r>
            <a:r>
              <a:rPr lang="en-US" altLang="zh-CN" sz="1400" kern="0" dirty="0">
                <a:solidFill>
                  <a:prstClr val="black"/>
                </a:solidFill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 = 0; </a:t>
            </a:r>
            <a:r>
              <a:rPr lang="en-US" altLang="zh-CN" sz="1400" kern="0" dirty="0" err="1">
                <a:solidFill>
                  <a:prstClr val="black"/>
                </a:solidFill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i</a:t>
            </a:r>
            <a:r>
              <a:rPr lang="en-US" altLang="zh-CN" sz="1400" kern="0" dirty="0">
                <a:solidFill>
                  <a:prstClr val="black"/>
                </a:solidFill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 &lt; 4; </a:t>
            </a:r>
            <a:r>
              <a:rPr lang="en-US" altLang="zh-CN" sz="1400" kern="0" dirty="0" err="1">
                <a:solidFill>
                  <a:prstClr val="black"/>
                </a:solidFill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i</a:t>
            </a:r>
            <a:r>
              <a:rPr lang="en-US" altLang="zh-CN" sz="1400" kern="0" dirty="0">
                <a:solidFill>
                  <a:prstClr val="black"/>
                </a:solidFill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++) p[</a:t>
            </a:r>
            <a:r>
              <a:rPr lang="en-US" altLang="zh-CN" sz="1400" kern="0" dirty="0" err="1">
                <a:solidFill>
                  <a:prstClr val="black"/>
                </a:solidFill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i</a:t>
            </a:r>
            <a:r>
              <a:rPr lang="en-US" altLang="zh-CN" sz="1400" kern="0" dirty="0">
                <a:solidFill>
                  <a:prstClr val="black"/>
                </a:solidFill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] = a[</a:t>
            </a:r>
            <a:r>
              <a:rPr lang="en-US" altLang="zh-CN" sz="1400" kern="0" dirty="0" err="1">
                <a:solidFill>
                  <a:prstClr val="black"/>
                </a:solidFill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i</a:t>
            </a:r>
            <a:r>
              <a:rPr lang="en-US" altLang="zh-CN" sz="1400" kern="0" dirty="0">
                <a:solidFill>
                  <a:prstClr val="black"/>
                </a:solidFill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];</a:t>
            </a:r>
            <a:endParaRPr lang="en-US" altLang="zh-CN" sz="1400" kern="0" dirty="0">
              <a:solidFill>
                <a:prstClr val="black"/>
              </a:solidFill>
              <a:latin typeface="Courier New" panose="02070409020205090404" pitchFamily="49" charset="0"/>
              <a:ea typeface="等线"/>
              <a:cs typeface="Courier New" panose="02070409020205090404" pitchFamily="49" charset="0"/>
            </a:endParaRPr>
          </a:p>
          <a:p>
            <a:pPr defTabSz="363855">
              <a:lnSpc>
                <a:spcPct val="120000"/>
              </a:lnSpc>
            </a:pPr>
            <a:r>
              <a:rPr lang="en-US" altLang="zh-CN" sz="1400" kern="0" dirty="0" err="1">
                <a:solidFill>
                  <a:prstClr val="black"/>
                </a:solidFill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printf</a:t>
            </a:r>
            <a:r>
              <a:rPr lang="en-US" altLang="zh-CN" sz="1400" kern="0" dirty="0">
                <a:solidFill>
                  <a:prstClr val="black"/>
                </a:solidFill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("%d\n", </a:t>
            </a:r>
            <a:r>
              <a:rPr lang="en-US" altLang="zh-CN" sz="1400" kern="0" dirty="0" err="1">
                <a:solidFill>
                  <a:prstClr val="black"/>
                </a:solidFill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sizeof</a:t>
            </a:r>
            <a:r>
              <a:rPr lang="en-US" altLang="zh-CN" sz="1400" kern="0" dirty="0">
                <a:solidFill>
                  <a:prstClr val="black"/>
                </a:solidFill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(p));</a:t>
            </a:r>
            <a:endParaRPr lang="en-US" altLang="zh-CN" sz="1400" kern="0" dirty="0">
              <a:solidFill>
                <a:prstClr val="black"/>
              </a:solidFill>
              <a:latin typeface="Courier New" panose="02070409020205090404" pitchFamily="49" charset="0"/>
              <a:ea typeface="等线"/>
              <a:cs typeface="Courier New" panose="02070409020205090404" pitchFamily="49" charset="0"/>
            </a:endParaRPr>
          </a:p>
          <a:p>
            <a:pPr marL="228600" marR="0" lvl="0" indent="-228600" defTabSz="363855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endParaRPr lang="en-US" altLang="zh-CN" sz="1200" kern="0" dirty="0">
              <a:solidFill>
                <a:prstClr val="black"/>
              </a:solidFill>
              <a:latin typeface="Courier New" panose="02070409020205090404" pitchFamily="49" charset="0"/>
              <a:ea typeface="等线"/>
              <a:cs typeface="Courier New" panose="02070409020205090404" pitchFamily="49" charset="0"/>
            </a:endParaRPr>
          </a:p>
          <a:p>
            <a:pPr marL="228600" marR="0" lvl="0" indent="-228600" defTabSz="363855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endParaRPr lang="en-US" altLang="zh-CN" sz="1200" kern="0" dirty="0">
              <a:solidFill>
                <a:prstClr val="black"/>
              </a:solidFill>
              <a:latin typeface="Courier New" panose="02070409020205090404" pitchFamily="49" charset="0"/>
              <a:ea typeface="等线"/>
              <a:cs typeface="Courier New" panose="02070409020205090404" pitchFamily="49" charset="0"/>
            </a:endParaRPr>
          </a:p>
          <a:p>
            <a:pPr marL="228600" marR="0" lvl="0" indent="-228600" defTabSz="363855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endParaRPr kumimoji="0" lang="en-US" altLang="zh-CN" sz="12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409020205090404" pitchFamily="49" charset="0"/>
              <a:ea typeface="等线"/>
              <a:cs typeface="Courier New" panose="02070409020205090404" pitchFamily="49" charset="0"/>
            </a:endParaRPr>
          </a:p>
          <a:p>
            <a:pPr marL="228600" marR="0" lvl="0" indent="-228600" defTabSz="363855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endParaRPr kumimoji="0" lang="zh-CN" altLang="en-US" sz="1200" i="0" u="none" strike="noStrike" kern="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Courier New" panose="02070409020205090404" pitchFamily="49" charset="0"/>
              <a:ea typeface="等线"/>
              <a:cs typeface="Courier New" panose="02070409020205090404" pitchFamily="49" charset="0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例</a:t>
            </a:r>
            <a:r>
              <a:rPr lang="en-US" altLang="zh-CN" dirty="0"/>
              <a:t>13-10</a:t>
            </a:r>
            <a:r>
              <a:rPr lang="zh-CN" altLang="en-US" dirty="0"/>
              <a:t>：若干字符串排序</a:t>
            </a:r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947" y="1766394"/>
            <a:ext cx="8686106" cy="38884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矩形 4"/>
          <p:cNvSpPr/>
          <p:nvPr/>
        </p:nvSpPr>
        <p:spPr>
          <a:xfrm>
            <a:off x="432000" y="1203174"/>
            <a:ext cx="7808358" cy="4033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120000"/>
              </a:lnSpc>
              <a:spcBef>
                <a:spcPts val="1200"/>
              </a:spcBef>
              <a:spcAft>
                <a:spcPts val="600"/>
              </a:spcAft>
              <a:defRPr/>
            </a:pPr>
            <a:r>
              <a:rPr lang="zh-CN" altLang="en-US" kern="0" dirty="0">
                <a:solidFill>
                  <a:prstClr val="black"/>
                </a:solidFill>
                <a:latin typeface="等线"/>
                <a:ea typeface="等线"/>
              </a:rPr>
              <a:t>用指针数组指向若干个字符串，可以使字符串处理更加方便灵活。</a:t>
            </a:r>
            <a:endParaRPr lang="zh-CN" altLang="en-US" kern="0" dirty="0">
              <a:solidFill>
                <a:prstClr val="black"/>
              </a:solidFill>
              <a:latin typeface="等线"/>
              <a:ea typeface="等线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13-10</a:t>
            </a:r>
            <a:r>
              <a:rPr lang="zh-CN" altLang="en-US" dirty="0"/>
              <a:t>参考代码</a:t>
            </a:r>
            <a:endParaRPr lang="en-US" dirty="0"/>
          </a:p>
        </p:txBody>
      </p:sp>
      <p:sp>
        <p:nvSpPr>
          <p:cNvPr id="5" name="矩形 4"/>
          <p:cNvSpPr/>
          <p:nvPr/>
        </p:nvSpPr>
        <p:spPr>
          <a:xfrm>
            <a:off x="279701" y="1628507"/>
            <a:ext cx="4157830" cy="36009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en-US" sz="1200" dirty="0" err="1">
                <a:solidFill>
                  <a:srgbClr val="A31515"/>
                </a:solidFill>
                <a:latin typeface="Consolas" panose="020B0609020204030204" pitchFamily="49" charset="0"/>
              </a:rPr>
              <a:t>stdio.h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en-US" sz="1200" dirty="0" err="1">
                <a:solidFill>
                  <a:srgbClr val="A31515"/>
                </a:solidFill>
                <a:latin typeface="Consolas" panose="020B0609020204030204" pitchFamily="49" charset="0"/>
              </a:rPr>
              <a:t>string.h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sort(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name[],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n);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  //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函数声明</a:t>
            </a:r>
            <a:endParaRPr lang="zh-CN" alt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print(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name[],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n);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 //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函数声明</a:t>
            </a:r>
            <a:endParaRPr lang="zh-CN" alt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zh-CN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main()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*name[] = {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"Follow me"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"BASIC"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"Great Wall"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"FORTRAN"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"Computer design"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}; 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n =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sort(name, n);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  //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调用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sort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函数，对字符串排序</a:t>
            </a:r>
            <a:endParaRPr lang="zh-CN" alt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print(name, n);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 //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调用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print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函数，输出字符串</a:t>
            </a:r>
            <a:endParaRPr lang="zh-CN" alt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437530" y="1339048"/>
            <a:ext cx="4572000" cy="526297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print(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name[],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n)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 //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定义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print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函数</a:t>
            </a:r>
            <a:endParaRPr lang="zh-CN" alt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 n;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++)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"%s\n"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 name[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]);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sort(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name[],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n)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 //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定义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sort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函数</a:t>
            </a:r>
            <a:endParaRPr lang="zh-CN" alt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*temp;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 j, k;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 n -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++)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 //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用选择法排序</a:t>
            </a:r>
            <a:endParaRPr lang="zh-CN" alt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k =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(j =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j &lt; n;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j++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strcmp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(name[k], name[j]) &gt;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k = j;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(k !=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{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temp = name[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name[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] = name[k];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name[k] = temp;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}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Ctr="0" compatLnSpc="1"/>
          <a:lstStyle/>
          <a:p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指针的指针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  <a:ea typeface="华文中宋" panose="02010600040101010101" pitchFamily="2" charset="-122"/>
            </a:endParaRPr>
          </a:p>
        </p:txBody>
      </p:sp>
      <p:sp>
        <p:nvSpPr>
          <p:cNvPr id="3277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可以定义指向指针的指针</a:t>
            </a:r>
            <a:endParaRPr lang="en-US" altLang="zh-CN" sz="2800" dirty="0"/>
          </a:p>
          <a:p>
            <a:pPr lvl="1"/>
            <a:r>
              <a:rPr lang="zh-CN" altLang="en-US" sz="2400" dirty="0"/>
              <a:t>二级指针，例子：</a:t>
            </a:r>
            <a:r>
              <a:rPr lang="en-US" altLang="zh-CN" sz="2400" dirty="0"/>
              <a:t>int</a:t>
            </a:r>
            <a:r>
              <a:rPr lang="zh-CN" altLang="en-US" sz="2400" dirty="0"/>
              <a:t> **</a:t>
            </a:r>
            <a:r>
              <a:rPr lang="en-US" altLang="zh-CN" sz="2400" dirty="0"/>
              <a:t>q</a:t>
            </a:r>
            <a:endParaRPr lang="en-US" altLang="zh-CN" sz="2400" dirty="0"/>
          </a:p>
          <a:p>
            <a:pPr lvl="1"/>
            <a:r>
              <a:rPr lang="zh-CN" altLang="en-US" sz="2400" dirty="0"/>
              <a:t>三级指针，例子：</a:t>
            </a:r>
            <a:r>
              <a:rPr lang="en-US" altLang="zh-CN" sz="2400" dirty="0"/>
              <a:t>int</a:t>
            </a:r>
            <a:r>
              <a:rPr lang="zh-CN" altLang="en-US" sz="2400" dirty="0"/>
              <a:t> ***</a:t>
            </a:r>
            <a:r>
              <a:rPr lang="en-US" altLang="zh-CN" sz="2400" dirty="0"/>
              <a:t>r</a:t>
            </a:r>
            <a:endParaRPr lang="en-US" altLang="en-US" sz="2400" dirty="0">
              <a:ea typeface="华文中宋" panose="02010600040101010101" pitchFamily="2" charset="-122"/>
            </a:endParaRPr>
          </a:p>
        </p:txBody>
      </p:sp>
      <p:sp>
        <p:nvSpPr>
          <p:cNvPr id="32772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686800" y="6305550"/>
            <a:ext cx="4572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D09C2F9F-21C8-49B7-B07C-DB1470D31712}" type="slidenum">
              <a:rPr lang="zh-CN" altLang="en-US" smtClean="0">
                <a:solidFill>
                  <a:srgbClr val="B4B1A0"/>
                </a:solidFill>
                <a:latin typeface="Gill Sans MT" panose="020B0502020104020203" pitchFamily="34" charset="0"/>
                <a:ea typeface="华文中宋" panose="02010600040101010101" pitchFamily="2" charset="-122"/>
              </a:rPr>
            </a:fld>
            <a:endParaRPr lang="en-US" altLang="zh-CN">
              <a:solidFill>
                <a:srgbClr val="B4B1A0"/>
              </a:solidFill>
              <a:latin typeface="Gill Sans MT" panose="020B0502020104020203" pitchFamily="34" charset="0"/>
              <a:ea typeface="华文中宋" panose="02010600040101010101" pitchFamily="2" charset="-122"/>
            </a:endParaRPr>
          </a:p>
        </p:txBody>
      </p:sp>
      <p:grpSp>
        <p:nvGrpSpPr>
          <p:cNvPr id="32773" name="Group 6"/>
          <p:cNvGrpSpPr/>
          <p:nvPr/>
        </p:nvGrpSpPr>
        <p:grpSpPr bwMode="auto">
          <a:xfrm>
            <a:off x="5387975" y="2371725"/>
            <a:ext cx="3144838" cy="4187825"/>
            <a:chOff x="5387986" y="2371725"/>
            <a:chExt cx="3144454" cy="4188475"/>
          </a:xfrm>
        </p:grpSpPr>
        <p:sp>
          <p:nvSpPr>
            <p:cNvPr id="8" name="Rectangle 7"/>
            <p:cNvSpPr/>
            <p:nvPr/>
          </p:nvSpPr>
          <p:spPr>
            <a:xfrm>
              <a:off x="6441957" y="2522561"/>
              <a:ext cx="2017467" cy="360418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6441957" y="3213231"/>
              <a:ext cx="2017467" cy="360419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6441957" y="3573650"/>
              <a:ext cx="2017467" cy="358831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6441957" y="3932480"/>
              <a:ext cx="2017467" cy="360418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6441957" y="4296074"/>
              <a:ext cx="2017467" cy="358831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441957" y="4654904"/>
              <a:ext cx="2017467" cy="358831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/>
                <a:t>00000000</a:t>
              </a:r>
              <a:endParaRPr lang="en-US" dirty="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441957" y="5012148"/>
              <a:ext cx="2017467" cy="360418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/>
                <a:t>00000000</a:t>
              </a:r>
              <a:endParaRPr lang="en-US" dirty="0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6441957" y="5370978"/>
              <a:ext cx="2017467" cy="360418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/>
                <a:t>00000100</a:t>
              </a:r>
              <a:endParaRPr lang="en-US" dirty="0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6441957" y="6090227"/>
              <a:ext cx="2017467" cy="360419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17" name="Straight Connector 16"/>
            <p:cNvCxnSpPr/>
            <p:nvPr/>
          </p:nvCxnSpPr>
          <p:spPr>
            <a:xfrm>
              <a:off x="6372116" y="2522561"/>
              <a:ext cx="2160324" cy="0"/>
            </a:xfrm>
            <a:prstGeom prst="line">
              <a:avLst/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372116" y="6450646"/>
              <a:ext cx="2160324" cy="0"/>
            </a:xfrm>
            <a:prstGeom prst="line">
              <a:avLst/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Up Arrow 18"/>
            <p:cNvSpPr/>
            <p:nvPr/>
          </p:nvSpPr>
          <p:spPr>
            <a:xfrm>
              <a:off x="7198804" y="2371725"/>
              <a:ext cx="504056" cy="322888"/>
            </a:xfrm>
            <a:prstGeom prst="upArrow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0" name="Up Arrow 19"/>
            <p:cNvSpPr/>
            <p:nvPr/>
          </p:nvSpPr>
          <p:spPr>
            <a:xfrm rot="10800000">
              <a:off x="7198804" y="6237312"/>
              <a:ext cx="504056" cy="322888"/>
            </a:xfrm>
            <a:prstGeom prst="upArrow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2801" name="TextBox 20"/>
            <p:cNvSpPr txBox="1">
              <a:spLocks noChangeArrowheads="1"/>
            </p:cNvSpPr>
            <p:nvPr/>
          </p:nvSpPr>
          <p:spPr bwMode="auto">
            <a:xfrm>
              <a:off x="5873333" y="5752309"/>
              <a:ext cx="56938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9pPr>
            </a:lstStyle>
            <a:p>
              <a:r>
                <a:rPr lang="en-US" altLang="zh-CN"/>
                <a:t>200</a:t>
              </a:r>
              <a:endParaRPr lang="en-US" altLang="en-US"/>
            </a:p>
          </p:txBody>
        </p:sp>
        <p:sp>
          <p:nvSpPr>
            <p:cNvPr id="32802" name="TextBox 21"/>
            <p:cNvSpPr txBox="1">
              <a:spLocks noChangeArrowheads="1"/>
            </p:cNvSpPr>
            <p:nvPr/>
          </p:nvSpPr>
          <p:spPr bwMode="auto">
            <a:xfrm>
              <a:off x="5873333" y="5402458"/>
              <a:ext cx="56938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9pPr>
            </a:lstStyle>
            <a:p>
              <a:r>
                <a:rPr lang="en-US" altLang="zh-CN"/>
                <a:t>201</a:t>
              </a:r>
              <a:endParaRPr lang="en-US" altLang="en-US"/>
            </a:p>
          </p:txBody>
        </p:sp>
        <p:sp>
          <p:nvSpPr>
            <p:cNvPr id="32803" name="TextBox 22"/>
            <p:cNvSpPr txBox="1">
              <a:spLocks noChangeArrowheads="1"/>
            </p:cNvSpPr>
            <p:nvPr/>
          </p:nvSpPr>
          <p:spPr bwMode="auto">
            <a:xfrm>
              <a:off x="5877944" y="5038468"/>
              <a:ext cx="56938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9pPr>
            </a:lstStyle>
            <a:p>
              <a:r>
                <a:rPr lang="en-US" altLang="zh-CN"/>
                <a:t>202</a:t>
              </a:r>
              <a:endParaRPr lang="en-US" altLang="en-US"/>
            </a:p>
          </p:txBody>
        </p:sp>
        <p:sp>
          <p:nvSpPr>
            <p:cNvPr id="32804" name="TextBox 23"/>
            <p:cNvSpPr txBox="1">
              <a:spLocks noChangeArrowheads="1"/>
            </p:cNvSpPr>
            <p:nvPr/>
          </p:nvSpPr>
          <p:spPr bwMode="auto">
            <a:xfrm>
              <a:off x="5875011" y="4680717"/>
              <a:ext cx="56938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9pPr>
            </a:lstStyle>
            <a:p>
              <a:r>
                <a:rPr lang="en-US" altLang="zh-CN"/>
                <a:t>203</a:t>
              </a:r>
              <a:endParaRPr lang="en-US" altLang="en-US"/>
            </a:p>
          </p:txBody>
        </p:sp>
        <p:sp>
          <p:nvSpPr>
            <p:cNvPr id="32805" name="TextBox 24"/>
            <p:cNvSpPr txBox="1">
              <a:spLocks noChangeArrowheads="1"/>
            </p:cNvSpPr>
            <p:nvPr/>
          </p:nvSpPr>
          <p:spPr bwMode="auto">
            <a:xfrm>
              <a:off x="5877944" y="4330606"/>
              <a:ext cx="56938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9pPr>
            </a:lstStyle>
            <a:p>
              <a:r>
                <a:rPr lang="en-US" altLang="zh-CN"/>
                <a:t>204</a:t>
              </a:r>
              <a:endParaRPr lang="en-US" altLang="en-US"/>
            </a:p>
          </p:txBody>
        </p:sp>
        <p:sp>
          <p:nvSpPr>
            <p:cNvPr id="32806" name="TextBox 25"/>
            <p:cNvSpPr txBox="1">
              <a:spLocks noChangeArrowheads="1"/>
            </p:cNvSpPr>
            <p:nvPr/>
          </p:nvSpPr>
          <p:spPr bwMode="auto">
            <a:xfrm>
              <a:off x="5387986" y="3939895"/>
              <a:ext cx="103105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9pPr>
            </a:lstStyle>
            <a:p>
              <a:r>
                <a:rPr lang="en-US" altLang="zh-CN"/>
                <a:t>605-608</a:t>
              </a:r>
              <a:endParaRPr lang="en-US" alt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6441957" y="2860751"/>
              <a:ext cx="2017467" cy="360419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6441957" y="5729809"/>
              <a:ext cx="2017467" cy="360418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zh-CN" dirty="0"/>
                <a:t>00000001</a:t>
              </a:r>
              <a:endParaRPr lang="en-US" dirty="0"/>
            </a:p>
          </p:txBody>
        </p:sp>
        <p:sp>
          <p:nvSpPr>
            <p:cNvPr id="32809" name="TextBox 29"/>
            <p:cNvSpPr txBox="1">
              <a:spLocks noChangeArrowheads="1"/>
            </p:cNvSpPr>
            <p:nvPr/>
          </p:nvSpPr>
          <p:spPr bwMode="auto">
            <a:xfrm>
              <a:off x="5405298" y="3221938"/>
              <a:ext cx="103105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9pPr>
            </a:lstStyle>
            <a:p>
              <a:r>
                <a:rPr lang="en-US" altLang="zh-CN"/>
                <a:t>609-612</a:t>
              </a:r>
              <a:endParaRPr lang="en-US" altLang="en-US"/>
            </a:p>
          </p:txBody>
        </p:sp>
      </p:grpSp>
      <p:sp>
        <p:nvSpPr>
          <p:cNvPr id="33" name="Rectangle 32"/>
          <p:cNvSpPr/>
          <p:nvPr/>
        </p:nvSpPr>
        <p:spPr>
          <a:xfrm>
            <a:off x="6448425" y="4672013"/>
            <a:ext cx="2016125" cy="1409700"/>
          </a:xfrm>
          <a:prstGeom prst="rect">
            <a:avLst/>
          </a:prstGeom>
          <a:solidFill>
            <a:srgbClr val="FFFDA9">
              <a:alpha val="5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2775" name="Rectangle 33"/>
          <p:cNvSpPr>
            <a:spLocks noChangeArrowheads="1"/>
          </p:cNvSpPr>
          <p:nvPr/>
        </p:nvSpPr>
        <p:spPr bwMode="auto">
          <a:xfrm>
            <a:off x="6448425" y="4803775"/>
            <a:ext cx="20161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algn="ctr"/>
            <a:r>
              <a:rPr lang="en-US" altLang="en-US" sz="2000">
                <a:solidFill>
                  <a:srgbClr val="FF0000"/>
                </a:solidFill>
                <a:latin typeface="Monaco"/>
              </a:rPr>
              <a:t>var</a:t>
            </a:r>
            <a:r>
              <a:rPr lang="zh-CN" altLang="en-US" sz="2000">
                <a:solidFill>
                  <a:srgbClr val="FF0000"/>
                </a:solidFill>
                <a:latin typeface="Monaco"/>
              </a:rPr>
              <a:t> </a:t>
            </a:r>
            <a:r>
              <a:rPr lang="en-US" altLang="zh-CN" sz="2000">
                <a:solidFill>
                  <a:srgbClr val="FF0000"/>
                </a:solidFill>
                <a:latin typeface="Monaco"/>
              </a:rPr>
              <a:t>=</a:t>
            </a:r>
            <a:r>
              <a:rPr lang="zh-CN" altLang="en-US" sz="2000">
                <a:solidFill>
                  <a:srgbClr val="FF0000"/>
                </a:solidFill>
                <a:latin typeface="Monaco"/>
              </a:rPr>
              <a:t> </a:t>
            </a:r>
            <a:r>
              <a:rPr lang="en-US" altLang="zh-CN" sz="2000">
                <a:solidFill>
                  <a:srgbClr val="FF0000"/>
                </a:solidFill>
                <a:latin typeface="Monaco"/>
              </a:rPr>
              <a:t>1025</a:t>
            </a:r>
            <a:endParaRPr lang="en-US" altLang="en-US" sz="2000">
              <a:solidFill>
                <a:srgbClr val="FF0000"/>
              </a:solidFill>
            </a:endParaRPr>
          </a:p>
        </p:txBody>
      </p:sp>
      <p:sp>
        <p:nvSpPr>
          <p:cNvPr id="32776" name="Rectangle 36"/>
          <p:cNvSpPr>
            <a:spLocks noChangeArrowheads="1"/>
          </p:cNvSpPr>
          <p:nvPr/>
        </p:nvSpPr>
        <p:spPr bwMode="auto">
          <a:xfrm>
            <a:off x="6443663" y="3917950"/>
            <a:ext cx="12620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r>
              <a:rPr lang="en-US" altLang="zh-CN" sz="2000">
                <a:solidFill>
                  <a:srgbClr val="FF0000"/>
                </a:solidFill>
                <a:latin typeface="Monaco"/>
              </a:rPr>
              <a:t>p</a:t>
            </a:r>
            <a:r>
              <a:rPr lang="zh-CN" altLang="en-US" sz="2000">
                <a:solidFill>
                  <a:srgbClr val="FF0000"/>
                </a:solidFill>
                <a:latin typeface="Monaco"/>
              </a:rPr>
              <a:t> </a:t>
            </a:r>
            <a:r>
              <a:rPr lang="en-US" altLang="zh-CN" sz="2000">
                <a:solidFill>
                  <a:srgbClr val="FF0000"/>
                </a:solidFill>
                <a:latin typeface="Monaco"/>
              </a:rPr>
              <a:t>=</a:t>
            </a:r>
            <a:r>
              <a:rPr lang="zh-CN" altLang="en-US" sz="2000">
                <a:solidFill>
                  <a:srgbClr val="FF0000"/>
                </a:solidFill>
                <a:latin typeface="Monaco"/>
              </a:rPr>
              <a:t> </a:t>
            </a:r>
            <a:r>
              <a:rPr lang="en-US" altLang="zh-CN" sz="2000">
                <a:solidFill>
                  <a:srgbClr val="FF0000"/>
                </a:solidFill>
                <a:latin typeface="Monaco"/>
              </a:rPr>
              <a:t>200</a:t>
            </a:r>
            <a:endParaRPr lang="en-US" altLang="en-US" sz="2000">
              <a:solidFill>
                <a:srgbClr val="FF0000"/>
              </a:solidFill>
            </a:endParaRPr>
          </a:p>
        </p:txBody>
      </p:sp>
      <p:cxnSp>
        <p:nvCxnSpPr>
          <p:cNvPr id="38" name="Elbow Connector 37"/>
          <p:cNvCxnSpPr>
            <a:cxnSpLocks noChangeShapeType="1"/>
            <a:endCxn id="29" idx="3"/>
          </p:cNvCxnSpPr>
          <p:nvPr/>
        </p:nvCxnSpPr>
        <p:spPr bwMode="auto">
          <a:xfrm flipH="1">
            <a:off x="8458200" y="4114800"/>
            <a:ext cx="4763" cy="1795463"/>
          </a:xfrm>
          <a:prstGeom prst="bentConnector3">
            <a:avLst>
              <a:gd name="adj1" fmla="val -6813713"/>
            </a:avLst>
          </a:prstGeom>
          <a:noFill/>
          <a:ln w="25400">
            <a:solidFill>
              <a:schemeClr val="accent2"/>
            </a:solidFill>
            <a:miter lim="800000"/>
            <a:tailEnd type="triangle" w="med" len="med"/>
          </a:ln>
          <a:effectLst>
            <a:outerShdw dist="25400" dir="5400000" rotWithShape="0">
              <a:srgbClr val="808080">
                <a:alpha val="43137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2778" name="Rectangle 38"/>
          <p:cNvSpPr>
            <a:spLocks noChangeArrowheads="1"/>
          </p:cNvSpPr>
          <p:nvPr/>
        </p:nvSpPr>
        <p:spPr bwMode="auto">
          <a:xfrm>
            <a:off x="6443663" y="3190875"/>
            <a:ext cx="12620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r>
              <a:rPr lang="en-US" altLang="zh-CN" sz="2000">
                <a:solidFill>
                  <a:srgbClr val="FF0000"/>
                </a:solidFill>
                <a:latin typeface="Monaco"/>
              </a:rPr>
              <a:t>q</a:t>
            </a:r>
            <a:r>
              <a:rPr lang="zh-CN" altLang="en-US" sz="2000">
                <a:solidFill>
                  <a:srgbClr val="FF0000"/>
                </a:solidFill>
                <a:latin typeface="Monaco"/>
              </a:rPr>
              <a:t> </a:t>
            </a:r>
            <a:r>
              <a:rPr lang="en-US" altLang="zh-CN" sz="2000">
                <a:solidFill>
                  <a:srgbClr val="FF0000"/>
                </a:solidFill>
                <a:latin typeface="Monaco"/>
              </a:rPr>
              <a:t>=</a:t>
            </a:r>
            <a:r>
              <a:rPr lang="zh-CN" altLang="en-US" sz="2000">
                <a:solidFill>
                  <a:srgbClr val="FF0000"/>
                </a:solidFill>
                <a:latin typeface="Monaco"/>
              </a:rPr>
              <a:t> </a:t>
            </a:r>
            <a:r>
              <a:rPr lang="en-US" altLang="zh-CN" sz="2000">
                <a:solidFill>
                  <a:srgbClr val="FF0000"/>
                </a:solidFill>
                <a:latin typeface="Monaco"/>
              </a:rPr>
              <a:t>605</a:t>
            </a:r>
            <a:endParaRPr lang="en-US" altLang="en-US" sz="2000">
              <a:solidFill>
                <a:srgbClr val="FF0000"/>
              </a:solidFill>
            </a:endParaRPr>
          </a:p>
        </p:txBody>
      </p:sp>
      <p:cxnSp>
        <p:nvCxnSpPr>
          <p:cNvPr id="40" name="Elbow Connector 39"/>
          <p:cNvCxnSpPr>
            <a:cxnSpLocks noChangeShapeType="1"/>
            <a:stCxn id="9" idx="3"/>
            <a:endCxn id="11" idx="3"/>
          </p:cNvCxnSpPr>
          <p:nvPr/>
        </p:nvCxnSpPr>
        <p:spPr bwMode="auto">
          <a:xfrm>
            <a:off x="8458200" y="3392488"/>
            <a:ext cx="12700" cy="720725"/>
          </a:xfrm>
          <a:prstGeom prst="bentConnector3">
            <a:avLst>
              <a:gd name="adj1" fmla="val 1800000"/>
            </a:avLst>
          </a:prstGeom>
          <a:noFill/>
          <a:ln w="25400">
            <a:solidFill>
              <a:schemeClr val="accent2"/>
            </a:solidFill>
            <a:miter lim="800000"/>
            <a:tailEnd type="triangle" w="med" len="med"/>
          </a:ln>
          <a:effectLst>
            <a:outerShdw dist="25400" dir="5400000" rotWithShape="0">
              <a:srgbClr val="808080">
                <a:alpha val="43137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2780" name="TextBox 41"/>
          <p:cNvSpPr txBox="1">
            <a:spLocks noChangeArrowheads="1"/>
          </p:cNvSpPr>
          <p:nvPr/>
        </p:nvSpPr>
        <p:spPr bwMode="auto">
          <a:xfrm>
            <a:off x="5405438" y="2846388"/>
            <a:ext cx="10302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r>
              <a:rPr lang="en-US" altLang="zh-CN"/>
              <a:t>613-616</a:t>
            </a:r>
            <a:endParaRPr lang="en-US" altLang="en-US"/>
          </a:p>
        </p:txBody>
      </p:sp>
      <p:sp>
        <p:nvSpPr>
          <p:cNvPr id="32781" name="Rectangle 42"/>
          <p:cNvSpPr>
            <a:spLocks noChangeArrowheads="1"/>
          </p:cNvSpPr>
          <p:nvPr/>
        </p:nvSpPr>
        <p:spPr bwMode="auto">
          <a:xfrm>
            <a:off x="6434138" y="2841625"/>
            <a:ext cx="12620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r>
              <a:rPr lang="en-US" altLang="zh-CN" sz="2000">
                <a:solidFill>
                  <a:srgbClr val="FF0000"/>
                </a:solidFill>
                <a:latin typeface="Monaco"/>
              </a:rPr>
              <a:t>r</a:t>
            </a:r>
            <a:r>
              <a:rPr lang="zh-CN" altLang="en-US" sz="2000">
                <a:solidFill>
                  <a:srgbClr val="FF0000"/>
                </a:solidFill>
                <a:latin typeface="Monaco"/>
              </a:rPr>
              <a:t> </a:t>
            </a:r>
            <a:r>
              <a:rPr lang="en-US" altLang="zh-CN" sz="2000">
                <a:solidFill>
                  <a:srgbClr val="FF0000"/>
                </a:solidFill>
                <a:latin typeface="Monaco"/>
              </a:rPr>
              <a:t>=</a:t>
            </a:r>
            <a:r>
              <a:rPr lang="zh-CN" altLang="en-US" sz="2000">
                <a:solidFill>
                  <a:srgbClr val="FF0000"/>
                </a:solidFill>
                <a:latin typeface="Monaco"/>
              </a:rPr>
              <a:t> </a:t>
            </a:r>
            <a:r>
              <a:rPr lang="en-US" altLang="zh-CN" sz="2000">
                <a:solidFill>
                  <a:srgbClr val="FF0000"/>
                </a:solidFill>
                <a:latin typeface="Monaco"/>
              </a:rPr>
              <a:t>609</a:t>
            </a:r>
            <a:endParaRPr lang="en-US" altLang="en-US" sz="2000">
              <a:solidFill>
                <a:srgbClr val="FF0000"/>
              </a:solidFill>
            </a:endParaRPr>
          </a:p>
        </p:txBody>
      </p:sp>
      <p:sp>
        <p:nvSpPr>
          <p:cNvPr id="32782" name="Rectangle 30"/>
          <p:cNvSpPr>
            <a:spLocks noChangeArrowheads="1"/>
          </p:cNvSpPr>
          <p:nvPr/>
        </p:nvSpPr>
        <p:spPr bwMode="auto">
          <a:xfrm>
            <a:off x="1763713" y="2873375"/>
            <a:ext cx="3814762" cy="3694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r>
              <a:rPr lang="en-US" altLang="en-US" dirty="0">
                <a:solidFill>
                  <a:srgbClr val="7F0055"/>
                </a:solidFill>
                <a:latin typeface="Monaco"/>
              </a:rPr>
              <a:t>int</a:t>
            </a:r>
            <a:r>
              <a:rPr lang="en-US" altLang="en-US" dirty="0">
                <a:latin typeface="Monaco"/>
              </a:rPr>
              <a:t> var = </a:t>
            </a:r>
            <a:r>
              <a:rPr lang="en-US" altLang="zh-CN" dirty="0">
                <a:latin typeface="Monaco"/>
              </a:rPr>
              <a:t>1025</a:t>
            </a:r>
            <a:r>
              <a:rPr lang="en-US" altLang="en-US" dirty="0">
                <a:latin typeface="Monaco"/>
              </a:rPr>
              <a:t>;</a:t>
            </a:r>
            <a:endParaRPr lang="en-US" altLang="en-US" dirty="0">
              <a:latin typeface="Monaco"/>
            </a:endParaRPr>
          </a:p>
          <a:p>
            <a:r>
              <a:rPr lang="en-US" altLang="en-US" dirty="0">
                <a:solidFill>
                  <a:srgbClr val="7F0055"/>
                </a:solidFill>
                <a:latin typeface="Monaco"/>
              </a:rPr>
              <a:t>int</a:t>
            </a:r>
            <a:r>
              <a:rPr lang="en-US" altLang="en-US" dirty="0">
                <a:latin typeface="Monaco"/>
              </a:rPr>
              <a:t> *p = &amp;var;</a:t>
            </a:r>
            <a:endParaRPr lang="en-US" altLang="en-US" dirty="0">
              <a:latin typeface="Monaco"/>
            </a:endParaRPr>
          </a:p>
          <a:p>
            <a:r>
              <a:rPr lang="en-US" altLang="en-US" dirty="0">
                <a:solidFill>
                  <a:srgbClr val="7F0055"/>
                </a:solidFill>
                <a:latin typeface="Monaco"/>
              </a:rPr>
              <a:t>int</a:t>
            </a:r>
            <a:r>
              <a:rPr lang="en-US" altLang="en-US" dirty="0">
                <a:latin typeface="Monaco"/>
              </a:rPr>
              <a:t> **q = &amp;p;</a:t>
            </a:r>
            <a:endParaRPr lang="en-US" altLang="en-US" dirty="0">
              <a:latin typeface="Monaco"/>
            </a:endParaRPr>
          </a:p>
          <a:p>
            <a:r>
              <a:rPr lang="en-US" altLang="en-US" dirty="0">
                <a:solidFill>
                  <a:srgbClr val="7F0055"/>
                </a:solidFill>
                <a:latin typeface="Monaco"/>
              </a:rPr>
              <a:t>int</a:t>
            </a:r>
            <a:r>
              <a:rPr lang="en-US" altLang="en-US" dirty="0">
                <a:latin typeface="Monaco"/>
              </a:rPr>
              <a:t> ***r = &amp;q;</a:t>
            </a:r>
            <a:endParaRPr lang="en-US" altLang="en-US" dirty="0">
              <a:latin typeface="Monaco"/>
            </a:endParaRPr>
          </a:p>
          <a:p>
            <a:r>
              <a:rPr lang="en-US" altLang="en-US" dirty="0">
                <a:solidFill>
                  <a:srgbClr val="642880"/>
                </a:solidFill>
                <a:latin typeface="Monaco"/>
              </a:rPr>
              <a:t>printf</a:t>
            </a:r>
            <a:r>
              <a:rPr lang="en-US" altLang="en-US" dirty="0">
                <a:solidFill>
                  <a:srgbClr val="000000"/>
                </a:solidFill>
                <a:latin typeface="Monaco"/>
              </a:rPr>
              <a:t>(</a:t>
            </a:r>
            <a:r>
              <a:rPr lang="en-US" altLang="en-US" dirty="0">
                <a:solidFill>
                  <a:srgbClr val="2A00FF"/>
                </a:solidFill>
                <a:latin typeface="Monaco"/>
              </a:rPr>
              <a:t>"*p = %d\n"</a:t>
            </a:r>
            <a:r>
              <a:rPr lang="en-US" altLang="en-US" dirty="0">
                <a:solidFill>
                  <a:srgbClr val="000000"/>
                </a:solidFill>
                <a:latin typeface="Monaco"/>
              </a:rPr>
              <a:t>, *p);</a:t>
            </a:r>
            <a:endParaRPr lang="en-US" altLang="en-US" dirty="0">
              <a:solidFill>
                <a:srgbClr val="2A00FF"/>
              </a:solidFill>
              <a:latin typeface="Monaco"/>
            </a:endParaRPr>
          </a:p>
          <a:p>
            <a:r>
              <a:rPr lang="en-US" altLang="en-US" dirty="0">
                <a:solidFill>
                  <a:srgbClr val="642880"/>
                </a:solidFill>
                <a:latin typeface="Monaco"/>
              </a:rPr>
              <a:t>printf</a:t>
            </a:r>
            <a:r>
              <a:rPr lang="en-US" altLang="en-US" dirty="0">
                <a:solidFill>
                  <a:srgbClr val="000000"/>
                </a:solidFill>
                <a:latin typeface="Monaco"/>
              </a:rPr>
              <a:t>(</a:t>
            </a:r>
            <a:r>
              <a:rPr lang="en-US" altLang="en-US" dirty="0">
                <a:solidFill>
                  <a:srgbClr val="2A00FF"/>
                </a:solidFill>
                <a:latin typeface="Monaco"/>
              </a:rPr>
              <a:t>"*q = %d\n"</a:t>
            </a:r>
            <a:r>
              <a:rPr lang="en-US" altLang="en-US" dirty="0">
                <a:solidFill>
                  <a:srgbClr val="000000"/>
                </a:solidFill>
                <a:latin typeface="Monaco"/>
              </a:rPr>
              <a:t>, *q);</a:t>
            </a:r>
            <a:endParaRPr lang="en-US" altLang="en-US" dirty="0">
              <a:solidFill>
                <a:srgbClr val="2A00FF"/>
              </a:solidFill>
              <a:latin typeface="Monaco"/>
            </a:endParaRPr>
          </a:p>
          <a:p>
            <a:r>
              <a:rPr lang="en-US" altLang="en-US" dirty="0">
                <a:solidFill>
                  <a:srgbClr val="642880"/>
                </a:solidFill>
                <a:latin typeface="Monaco"/>
              </a:rPr>
              <a:t>printf</a:t>
            </a:r>
            <a:r>
              <a:rPr lang="en-US" altLang="en-US" dirty="0">
                <a:solidFill>
                  <a:srgbClr val="000000"/>
                </a:solidFill>
                <a:latin typeface="Monaco"/>
              </a:rPr>
              <a:t>(</a:t>
            </a:r>
            <a:r>
              <a:rPr lang="en-US" altLang="en-US" dirty="0">
                <a:solidFill>
                  <a:srgbClr val="2A00FF"/>
                </a:solidFill>
                <a:latin typeface="Monaco"/>
              </a:rPr>
              <a:t>"**q = %d\n"</a:t>
            </a:r>
            <a:r>
              <a:rPr lang="en-US" altLang="en-US" dirty="0">
                <a:solidFill>
                  <a:srgbClr val="000000"/>
                </a:solidFill>
                <a:latin typeface="Monaco"/>
              </a:rPr>
              <a:t>, **q);</a:t>
            </a:r>
            <a:endParaRPr lang="en-US" altLang="en-US" dirty="0">
              <a:solidFill>
                <a:srgbClr val="2A00FF"/>
              </a:solidFill>
              <a:latin typeface="Monaco"/>
            </a:endParaRPr>
          </a:p>
          <a:p>
            <a:r>
              <a:rPr lang="en-US" altLang="en-US" dirty="0">
                <a:solidFill>
                  <a:srgbClr val="642880"/>
                </a:solidFill>
                <a:latin typeface="Monaco"/>
              </a:rPr>
              <a:t>printf</a:t>
            </a:r>
            <a:r>
              <a:rPr lang="en-US" altLang="en-US" dirty="0">
                <a:solidFill>
                  <a:srgbClr val="000000"/>
                </a:solidFill>
                <a:latin typeface="Monaco"/>
              </a:rPr>
              <a:t>(</a:t>
            </a:r>
            <a:r>
              <a:rPr lang="en-US" altLang="en-US" dirty="0">
                <a:solidFill>
                  <a:srgbClr val="2A00FF"/>
                </a:solidFill>
                <a:latin typeface="Monaco"/>
              </a:rPr>
              <a:t>"**r = %d\n"</a:t>
            </a:r>
            <a:r>
              <a:rPr lang="en-US" altLang="en-US" dirty="0">
                <a:solidFill>
                  <a:srgbClr val="000000"/>
                </a:solidFill>
                <a:latin typeface="Monaco"/>
              </a:rPr>
              <a:t>, **r);</a:t>
            </a:r>
            <a:endParaRPr lang="en-US" altLang="en-US" dirty="0">
              <a:solidFill>
                <a:srgbClr val="2A00FF"/>
              </a:solidFill>
              <a:latin typeface="Monaco"/>
            </a:endParaRPr>
          </a:p>
          <a:p>
            <a:r>
              <a:rPr lang="en-US" altLang="en-US" dirty="0">
                <a:solidFill>
                  <a:srgbClr val="642880"/>
                </a:solidFill>
                <a:latin typeface="Monaco"/>
              </a:rPr>
              <a:t>printf</a:t>
            </a:r>
            <a:r>
              <a:rPr lang="en-US" altLang="en-US" dirty="0">
                <a:solidFill>
                  <a:srgbClr val="000000"/>
                </a:solidFill>
                <a:latin typeface="Monaco"/>
              </a:rPr>
              <a:t>(</a:t>
            </a:r>
            <a:r>
              <a:rPr lang="en-US" altLang="en-US" dirty="0">
                <a:solidFill>
                  <a:srgbClr val="2A00FF"/>
                </a:solidFill>
                <a:latin typeface="Monaco"/>
              </a:rPr>
              <a:t>"***r = %d\n"</a:t>
            </a:r>
            <a:r>
              <a:rPr lang="en-US" altLang="en-US" dirty="0">
                <a:solidFill>
                  <a:srgbClr val="000000"/>
                </a:solidFill>
                <a:latin typeface="Monaco"/>
              </a:rPr>
              <a:t>, ***r);</a:t>
            </a:r>
            <a:endParaRPr lang="en-US" altLang="en-US" dirty="0">
              <a:solidFill>
                <a:srgbClr val="2A00FF"/>
              </a:solidFill>
              <a:latin typeface="Monaco"/>
            </a:endParaRPr>
          </a:p>
          <a:p>
            <a:r>
              <a:rPr lang="en-US" altLang="en-US" dirty="0">
                <a:latin typeface="Monaco"/>
              </a:rPr>
              <a:t>***r = 10;</a:t>
            </a:r>
            <a:endParaRPr lang="en-US" altLang="en-US" dirty="0">
              <a:latin typeface="Monaco"/>
            </a:endParaRPr>
          </a:p>
          <a:p>
            <a:r>
              <a:rPr lang="en-US" altLang="en-US" dirty="0">
                <a:solidFill>
                  <a:srgbClr val="642880"/>
                </a:solidFill>
                <a:latin typeface="Monaco"/>
              </a:rPr>
              <a:t>printf</a:t>
            </a:r>
            <a:r>
              <a:rPr lang="en-US" altLang="en-US" dirty="0">
                <a:solidFill>
                  <a:srgbClr val="000000"/>
                </a:solidFill>
                <a:latin typeface="Monaco"/>
              </a:rPr>
              <a:t> (</a:t>
            </a:r>
            <a:r>
              <a:rPr lang="en-US" altLang="en-US" dirty="0">
                <a:solidFill>
                  <a:srgbClr val="2A00FF"/>
                </a:solidFill>
                <a:latin typeface="Monaco"/>
              </a:rPr>
              <a:t>"</a:t>
            </a:r>
            <a:r>
              <a:rPr lang="en-US" altLang="en-US" u="sng" dirty="0">
                <a:solidFill>
                  <a:srgbClr val="2A00FF"/>
                </a:solidFill>
                <a:latin typeface="Monaco"/>
              </a:rPr>
              <a:t>var</a:t>
            </a:r>
            <a:r>
              <a:rPr lang="en-US" altLang="en-US" dirty="0">
                <a:solidFill>
                  <a:srgbClr val="2A00FF"/>
                </a:solidFill>
                <a:latin typeface="Monaco"/>
              </a:rPr>
              <a:t> = %d\n"</a:t>
            </a:r>
            <a:r>
              <a:rPr lang="en-US" altLang="en-US" dirty="0">
                <a:solidFill>
                  <a:srgbClr val="000000"/>
                </a:solidFill>
                <a:latin typeface="Monaco"/>
              </a:rPr>
              <a:t>, var);</a:t>
            </a:r>
            <a:endParaRPr lang="en-US" altLang="en-US" dirty="0">
              <a:solidFill>
                <a:srgbClr val="2A00FF"/>
              </a:solidFill>
              <a:latin typeface="Monaco"/>
            </a:endParaRPr>
          </a:p>
          <a:p>
            <a:r>
              <a:rPr lang="en-US" altLang="en-US" dirty="0">
                <a:latin typeface="Monaco"/>
              </a:rPr>
              <a:t>**q = *p + 2;</a:t>
            </a:r>
            <a:endParaRPr lang="en-US" altLang="en-US" dirty="0">
              <a:latin typeface="Monaco"/>
            </a:endParaRPr>
          </a:p>
          <a:p>
            <a:r>
              <a:rPr lang="en-US" altLang="en-US" dirty="0">
                <a:solidFill>
                  <a:srgbClr val="642880"/>
                </a:solidFill>
                <a:latin typeface="Monaco"/>
              </a:rPr>
              <a:t>printf</a:t>
            </a:r>
            <a:r>
              <a:rPr lang="en-US" altLang="en-US" dirty="0">
                <a:solidFill>
                  <a:srgbClr val="000000"/>
                </a:solidFill>
                <a:latin typeface="Monaco"/>
              </a:rPr>
              <a:t> (</a:t>
            </a:r>
            <a:r>
              <a:rPr lang="en-US" altLang="en-US" dirty="0">
                <a:solidFill>
                  <a:srgbClr val="2A00FF"/>
                </a:solidFill>
                <a:latin typeface="Monaco"/>
              </a:rPr>
              <a:t>"</a:t>
            </a:r>
            <a:r>
              <a:rPr lang="en-US" altLang="en-US" u="sng" dirty="0">
                <a:solidFill>
                  <a:srgbClr val="2A00FF"/>
                </a:solidFill>
                <a:latin typeface="Monaco"/>
              </a:rPr>
              <a:t>var</a:t>
            </a:r>
            <a:r>
              <a:rPr lang="en-US" altLang="en-US" dirty="0">
                <a:solidFill>
                  <a:srgbClr val="2A00FF"/>
                </a:solidFill>
                <a:latin typeface="Monaco"/>
              </a:rPr>
              <a:t> = %d\n"</a:t>
            </a:r>
            <a:r>
              <a:rPr lang="en-US" altLang="en-US" dirty="0">
                <a:solidFill>
                  <a:srgbClr val="000000"/>
                </a:solidFill>
                <a:latin typeface="Monaco"/>
              </a:rPr>
              <a:t>, var);</a:t>
            </a:r>
            <a:endParaRPr lang="en-US" altLang="en-US" dirty="0">
              <a:solidFill>
                <a:srgbClr val="2A00FF"/>
              </a:solidFill>
              <a:latin typeface="Monaco"/>
            </a:endParaRPr>
          </a:p>
        </p:txBody>
      </p:sp>
      <p:cxnSp>
        <p:nvCxnSpPr>
          <p:cNvPr id="46" name="Elbow Connector 45"/>
          <p:cNvCxnSpPr>
            <a:cxnSpLocks noChangeShapeType="1"/>
            <a:stCxn id="28" idx="3"/>
            <a:endCxn id="9" idx="3"/>
          </p:cNvCxnSpPr>
          <p:nvPr/>
        </p:nvCxnSpPr>
        <p:spPr bwMode="auto">
          <a:xfrm>
            <a:off x="8458200" y="3041650"/>
            <a:ext cx="0" cy="350838"/>
          </a:xfrm>
          <a:prstGeom prst="bentConnector3">
            <a:avLst>
              <a:gd name="adj1" fmla="val -2147483648"/>
            </a:avLst>
          </a:prstGeom>
          <a:noFill/>
          <a:ln w="25400">
            <a:solidFill>
              <a:schemeClr val="accent2"/>
            </a:solidFill>
            <a:miter lim="800000"/>
            <a:tailEnd type="triangle" w="med" len="med"/>
          </a:ln>
          <a:effectLst>
            <a:outerShdw dist="25400" dir="5400000" rotWithShape="0">
              <a:srgbClr val="808080">
                <a:alpha val="43137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H_Desc_1"/>
          <p:cNvSpPr/>
          <p:nvPr>
            <p:custDataLst>
              <p:tags r:id="rId1"/>
            </p:custDataLst>
          </p:nvPr>
        </p:nvSpPr>
        <p:spPr>
          <a:xfrm>
            <a:off x="164409" y="1234904"/>
            <a:ext cx="8862324" cy="5392991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-1" fmla="*/ 0 w 2520280"/>
              <a:gd name="connsiteY0-2" fmla="*/ 1584176 h 1872208"/>
              <a:gd name="connsiteX1-3" fmla="*/ 2520280 w 2520280"/>
              <a:gd name="connsiteY1-4" fmla="*/ 1584176 h 1872208"/>
              <a:gd name="connsiteX2-5" fmla="*/ 2520280 w 2520280"/>
              <a:gd name="connsiteY2-6" fmla="*/ 1872208 h 1872208"/>
              <a:gd name="connsiteX3-7" fmla="*/ 0 w 2520280"/>
              <a:gd name="connsiteY3-8" fmla="*/ 1872208 h 1872208"/>
              <a:gd name="connsiteX4-9" fmla="*/ 0 w 2520280"/>
              <a:gd name="connsiteY4-10" fmla="*/ 1584176 h 1872208"/>
              <a:gd name="connsiteX5-11" fmla="*/ 0 w 2520280"/>
              <a:gd name="connsiteY5-12" fmla="*/ 0 h 1872208"/>
              <a:gd name="connsiteX6-13" fmla="*/ 2520280 w 2520280"/>
              <a:gd name="connsiteY6-14" fmla="*/ 0 h 1872208"/>
              <a:gd name="connsiteX7-15" fmla="*/ 0 w 2520280"/>
              <a:gd name="connsiteY7-16" fmla="*/ 0 h 1872208"/>
              <a:gd name="connsiteX0-17" fmla="*/ 0 w 2520280"/>
              <a:gd name="connsiteY0-18" fmla="*/ 1872208 h 1872208"/>
              <a:gd name="connsiteX1-19" fmla="*/ 2520280 w 2520280"/>
              <a:gd name="connsiteY1-20" fmla="*/ 1584176 h 1872208"/>
              <a:gd name="connsiteX2-21" fmla="*/ 2520280 w 2520280"/>
              <a:gd name="connsiteY2-22" fmla="*/ 1872208 h 1872208"/>
              <a:gd name="connsiteX3-23" fmla="*/ 0 w 2520280"/>
              <a:gd name="connsiteY3-24" fmla="*/ 1872208 h 1872208"/>
              <a:gd name="connsiteX4-25" fmla="*/ 0 w 2520280"/>
              <a:gd name="connsiteY4-26" fmla="*/ 0 h 1872208"/>
              <a:gd name="connsiteX5-27" fmla="*/ 2520280 w 2520280"/>
              <a:gd name="connsiteY5-28" fmla="*/ 0 h 1872208"/>
              <a:gd name="connsiteX6-29" fmla="*/ 0 w 2520280"/>
              <a:gd name="connsiteY6-30" fmla="*/ 0 h 1872208"/>
              <a:gd name="connsiteX0-31" fmla="*/ 0 w 2520280"/>
              <a:gd name="connsiteY0-32" fmla="*/ 1872208 h 1872208"/>
              <a:gd name="connsiteX1-33" fmla="*/ 2520280 w 2520280"/>
              <a:gd name="connsiteY1-34" fmla="*/ 1872208 h 1872208"/>
              <a:gd name="connsiteX2-35" fmla="*/ 0 w 2520280"/>
              <a:gd name="connsiteY2-36" fmla="*/ 1872208 h 1872208"/>
              <a:gd name="connsiteX3-37" fmla="*/ 0 w 2520280"/>
              <a:gd name="connsiteY3-38" fmla="*/ 0 h 1872208"/>
              <a:gd name="connsiteX4-39" fmla="*/ 2520280 w 2520280"/>
              <a:gd name="connsiteY4-40" fmla="*/ 0 h 1872208"/>
              <a:gd name="connsiteX5-41" fmla="*/ 0 w 2520280"/>
              <a:gd name="connsiteY5-42" fmla="*/ 0 h 18722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2520280" y="0"/>
                </a:lnTo>
                <a:lnTo>
                  <a:pt x="0" y="0"/>
                </a:lnTo>
                <a:close/>
              </a:path>
            </a:pathLst>
          </a:custGeom>
          <a:noFill/>
          <a:ln w="25400" cap="sq" cmpd="sng" algn="ctr">
            <a:solidFill>
              <a:srgbClr val="E84C22"/>
            </a:solidFill>
            <a:prstDash val="solid"/>
            <a:bevel/>
          </a:ln>
          <a:effectLst/>
        </p:spPr>
        <p:txBody>
          <a:bodyPr lIns="72000" tIns="72000" rIns="72000" bIns="72000" anchor="t">
            <a:noAutofit/>
          </a:bodyPr>
          <a:lstStyle/>
          <a:p>
            <a:pPr lvl="0" algn="just">
              <a:lnSpc>
                <a:spcPct val="120000"/>
              </a:lnSpc>
              <a:spcAft>
                <a:spcPts val="600"/>
              </a:spcAft>
              <a:defRPr/>
            </a:pPr>
            <a:r>
              <a:rPr lang="zh-CN" altLang="en-US" sz="1600" dirty="0"/>
              <a:t>例</a:t>
            </a:r>
            <a:r>
              <a:rPr lang="en-US" altLang="zh-CN" sz="1600" dirty="0"/>
              <a:t>13-11</a:t>
            </a:r>
            <a:r>
              <a:rPr lang="zh-CN" altLang="en-US" sz="1600" dirty="0"/>
              <a:t>：若干字符串排序</a:t>
            </a: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0" indent="0" algn="just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0" indent="0" algn="just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0" indent="0" algn="just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0" indent="0" algn="just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0" indent="0" algn="just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0" indent="0" algn="just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name</a:t>
            </a: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是一个指针数组，它的每一个元素是一个指针型的变量，其值为地址。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name</a:t>
            </a: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既然是一个数组，它的每一元素都应有相应的地址。数组名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name</a:t>
            </a: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代表该指针数组首元素的地址。</a:t>
            </a:r>
            <a:r>
              <a:rPr kumimoji="0" lang="en-US" altLang="zh-CN" sz="15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name+i</a:t>
            </a: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是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name[</a:t>
            </a:r>
            <a:r>
              <a:rPr kumimoji="0" lang="en-US" altLang="zh-CN" sz="15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i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]</a:t>
            </a: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的地址。</a:t>
            </a:r>
            <a:r>
              <a:rPr kumimoji="0" lang="en-US" altLang="zh-CN" sz="15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name+i</a:t>
            </a: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就是指向指针型数据的指针。还可以设置一个指针变量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p</a:t>
            </a: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，它指向指针数组的元素。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p</a:t>
            </a: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就是指向指针型数据的指针变量。</a:t>
            </a:r>
            <a:endParaRPr kumimoji="0" lang="zh-CN" altLang="en-US" sz="15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0" indent="0" algn="just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定义一个指向指针数据的指针变量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: </a:t>
            </a: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0" indent="0" algn="just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p</a:t>
            </a: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的前面有两个*号。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p</a:t>
            </a: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指向一个字符指针变量（这个字符指针变量指向一个字符型数据）。如果引用*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p</a:t>
            </a: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，就得到</a:t>
            </a:r>
            <a:r>
              <a:rPr kumimoji="0" lang="en-US" altLang="zh-CN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p</a:t>
            </a: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所指向的字符指针变量的值。</a:t>
            </a: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32000" y="410509"/>
            <a:ext cx="8280000" cy="683692"/>
          </a:xfrm>
        </p:spPr>
        <p:txBody>
          <a:bodyPr/>
          <a:lstStyle/>
          <a:p>
            <a:r>
              <a:rPr lang="zh-CN" altLang="en-US" dirty="0"/>
              <a:t>指针的指针</a:t>
            </a:r>
            <a:endParaRPr lang="zh-CN" altLang="en-US" dirty="0"/>
          </a:p>
        </p:txBody>
      </p:sp>
      <p:sp>
        <p:nvSpPr>
          <p:cNvPr id="5" name="圆角矩形 4"/>
          <p:cNvSpPr/>
          <p:nvPr/>
        </p:nvSpPr>
        <p:spPr>
          <a:xfrm>
            <a:off x="3390677" y="4631548"/>
            <a:ext cx="1008732" cy="280423"/>
          </a:xfrm>
          <a:prstGeom prst="roundRect">
            <a:avLst>
              <a:gd name="adj" fmla="val 13754"/>
            </a:avLst>
          </a:prstGeom>
          <a:solidFill>
            <a:sysClr val="window" lastClr="FFFFFF"/>
          </a:solidFill>
          <a:ln w="12700" cap="flat" cmpd="sng" algn="ctr">
            <a:solidFill>
              <a:srgbClr val="E84C22"/>
            </a:solidFill>
            <a:prstDash val="solid"/>
            <a:miter lim="800000"/>
          </a:ln>
          <a:effectLst/>
        </p:spPr>
        <p:txBody>
          <a:bodyPr lIns="180000" rtlCol="0" anchor="t"/>
          <a:lstStyle/>
          <a:p>
            <a:pPr marL="0" marR="0" lvl="0" indent="0" defTabSz="363855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char **p;</a:t>
            </a:r>
            <a:endParaRPr kumimoji="0" lang="en-US" altLang="zh-CN" sz="12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3509549" y="5477310"/>
            <a:ext cx="5401220" cy="864096"/>
          </a:xfrm>
          <a:prstGeom prst="roundRect">
            <a:avLst>
              <a:gd name="adj" fmla="val 6182"/>
            </a:avLst>
          </a:prstGeom>
          <a:solidFill>
            <a:sysClr val="window" lastClr="FFFFFF"/>
          </a:solidFill>
          <a:ln w="12700" cap="flat" cmpd="sng" algn="ctr">
            <a:solidFill>
              <a:srgbClr val="E84C22"/>
            </a:solidFill>
            <a:prstDash val="solid"/>
            <a:miter lim="800000"/>
          </a:ln>
          <a:effectLst/>
        </p:spPr>
        <p:txBody>
          <a:bodyPr lIns="180000" tIns="0" bIns="0" rtlCol="0" anchor="t"/>
          <a:lstStyle/>
          <a:p>
            <a:pPr marL="0" marR="0" lvl="0" indent="0" algn="just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p=name+2;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0" indent="0" algn="just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printf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(″%d\n″,*p);	//name[2]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的值（它是一个地址）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0" indent="0" algn="just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printf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(″%s\n″,*p);	//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以字符串形式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(%s)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输出字符串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″Great Wall″</a:t>
            </a: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4181" y="1607872"/>
            <a:ext cx="5675637" cy="1588176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多重指针</a:t>
            </a:r>
            <a:endParaRPr lang="zh-CN" altLang="en-US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例</a:t>
            </a:r>
            <a:r>
              <a:rPr lang="en-US" altLang="zh-CN" dirty="0"/>
              <a:t>13-10b.c</a:t>
            </a:r>
            <a:r>
              <a:rPr lang="zh-CN" altLang="en-US" dirty="0"/>
              <a:t>：指向指针数据的指针变量</a:t>
            </a:r>
            <a:endParaRPr lang="zh-CN" altLang="en-US" dirty="0"/>
          </a:p>
        </p:txBody>
      </p:sp>
      <p:sp>
        <p:nvSpPr>
          <p:cNvPr id="4" name="圆角矩形 12"/>
          <p:cNvSpPr/>
          <p:nvPr/>
        </p:nvSpPr>
        <p:spPr>
          <a:xfrm>
            <a:off x="251521" y="2056871"/>
            <a:ext cx="8640960" cy="2992530"/>
          </a:xfrm>
          <a:prstGeom prst="roundRect">
            <a:avLst>
              <a:gd name="adj" fmla="val 1743"/>
            </a:avLst>
          </a:prstGeom>
          <a:solidFill>
            <a:sysClr val="window" lastClr="FFFFFF"/>
          </a:solidFill>
          <a:ln w="12700" cap="flat" cmpd="sng" algn="ctr">
            <a:solidFill>
              <a:srgbClr val="E84C22"/>
            </a:solidFill>
            <a:prstDash val="solid"/>
            <a:miter lim="800000"/>
          </a:ln>
          <a:effectLst/>
        </p:spPr>
        <p:txBody>
          <a:bodyPr numCol="1" spcCol="360000" rtlCol="0" anchor="t"/>
          <a:lstStyle/>
          <a:p>
            <a:pPr marR="0" lvl="0" defTabSz="363855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#include &lt;</a:t>
            </a:r>
            <a:r>
              <a:rPr kumimoji="0" lang="en-US" altLang="zh-CN" sz="12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stdio.h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&gt;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409020205090404" pitchFamily="49" charset="0"/>
              <a:ea typeface="等线"/>
              <a:cs typeface="Courier New" panose="02070409020205090404" pitchFamily="49" charset="0"/>
            </a:endParaRPr>
          </a:p>
          <a:p>
            <a:pPr marR="0" lvl="0" defTabSz="363855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en-US" altLang="zh-CN" sz="12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int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 main()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409020205090404" pitchFamily="49" charset="0"/>
              <a:ea typeface="等线"/>
              <a:cs typeface="Courier New" panose="02070409020205090404" pitchFamily="49" charset="0"/>
            </a:endParaRPr>
          </a:p>
          <a:p>
            <a:pPr marR="0" lvl="0" defTabSz="363855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{	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409020205090404" pitchFamily="49" charset="0"/>
              <a:ea typeface="等线"/>
              <a:cs typeface="Courier New" panose="02070409020205090404" pitchFamily="49" charset="0"/>
            </a:endParaRPr>
          </a:p>
          <a:p>
            <a:pPr marR="0" lvl="0" defTabSz="363855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en-US" altLang="zh-CN" sz="1200" kern="0" dirty="0">
                <a:solidFill>
                  <a:prstClr val="black"/>
                </a:solidFill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   	  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char *name[]={"Follow </a:t>
            </a:r>
            <a:r>
              <a:rPr kumimoji="0" lang="en-US" altLang="zh-CN" sz="12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me","BASIC","Great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 </a:t>
            </a:r>
            <a:r>
              <a:rPr kumimoji="0" lang="en-US" altLang="zh-CN" sz="12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Wall","FORTRAN","Computer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 design"};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409020205090404" pitchFamily="49" charset="0"/>
              <a:ea typeface="等线"/>
              <a:cs typeface="Courier New" panose="02070409020205090404" pitchFamily="49" charset="0"/>
            </a:endParaRPr>
          </a:p>
          <a:p>
            <a:pPr marR="0" lvl="0" defTabSz="363855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	  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B22600"/>
                </a:solidFill>
                <a:effectLst/>
                <a:uLnTx/>
                <a:uFillTx/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char **p;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B22600"/>
              </a:solidFill>
              <a:effectLst/>
              <a:uLnTx/>
              <a:uFillTx/>
              <a:latin typeface="Courier New" panose="02070409020205090404" pitchFamily="49" charset="0"/>
              <a:ea typeface="等线"/>
              <a:cs typeface="Courier New" panose="02070409020205090404" pitchFamily="49" charset="0"/>
            </a:endParaRPr>
          </a:p>
          <a:p>
            <a:pPr marR="0" lvl="0" defTabSz="363855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	  </a:t>
            </a:r>
            <a:r>
              <a:rPr kumimoji="0" lang="en-US" altLang="zh-CN" sz="12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int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 </a:t>
            </a:r>
            <a:r>
              <a:rPr kumimoji="0" lang="en-US" altLang="zh-CN" sz="12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i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;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409020205090404" pitchFamily="49" charset="0"/>
              <a:ea typeface="等线"/>
              <a:cs typeface="Courier New" panose="02070409020205090404" pitchFamily="49" charset="0"/>
            </a:endParaRPr>
          </a:p>
          <a:p>
            <a:pPr marR="0" lvl="0" defTabSz="363855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	  for(</a:t>
            </a:r>
            <a:r>
              <a:rPr kumimoji="0" lang="en-US" altLang="zh-CN" sz="12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i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=0;i&lt;5;i++)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409020205090404" pitchFamily="49" charset="0"/>
              <a:ea typeface="等线"/>
              <a:cs typeface="Courier New" panose="02070409020205090404" pitchFamily="49" charset="0"/>
            </a:endParaRPr>
          </a:p>
          <a:p>
            <a:pPr marR="0" lvl="0" defTabSz="363855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en-US" altLang="zh-CN" sz="1200" kern="0" dirty="0">
                <a:solidFill>
                  <a:prstClr val="black"/>
                </a:solidFill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      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{	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409020205090404" pitchFamily="49" charset="0"/>
              <a:ea typeface="等线"/>
              <a:cs typeface="Courier New" panose="02070409020205090404" pitchFamily="49" charset="0"/>
            </a:endParaRPr>
          </a:p>
          <a:p>
            <a:pPr marR="0" lvl="0" defTabSz="363855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en-US" altLang="zh-CN" sz="1200" kern="0" dirty="0">
                <a:solidFill>
                  <a:prstClr val="black"/>
                </a:solidFill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         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B22600"/>
                </a:solidFill>
                <a:effectLst/>
                <a:uLnTx/>
                <a:uFillTx/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p=</a:t>
            </a:r>
            <a:r>
              <a:rPr kumimoji="0" lang="en-US" altLang="zh-CN" sz="1200" b="0" i="0" u="none" strike="noStrike" kern="0" cap="none" spc="0" normalizeH="0" baseline="0" noProof="0" dirty="0" err="1">
                <a:ln>
                  <a:noFill/>
                </a:ln>
                <a:solidFill>
                  <a:srgbClr val="B22600"/>
                </a:solidFill>
                <a:effectLst/>
                <a:uLnTx/>
                <a:uFillTx/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name+i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B22600"/>
                </a:solidFill>
                <a:effectLst/>
                <a:uLnTx/>
                <a:uFillTx/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;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B22600"/>
              </a:solidFill>
              <a:effectLst/>
              <a:uLnTx/>
              <a:uFillTx/>
              <a:latin typeface="Courier New" panose="02070409020205090404" pitchFamily="49" charset="0"/>
              <a:ea typeface="等线"/>
              <a:cs typeface="Courier New" panose="02070409020205090404" pitchFamily="49" charset="0"/>
            </a:endParaRPr>
          </a:p>
          <a:p>
            <a:pPr marR="0" lvl="0" defTabSz="363855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	</a:t>
            </a:r>
            <a:r>
              <a:rPr kumimoji="0" lang="en-US" altLang="zh-CN" sz="12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     </a:t>
            </a:r>
            <a:r>
              <a:rPr kumimoji="0" lang="en-US" altLang="zh-CN" sz="12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printf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("%s\n",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B22600"/>
                </a:solidFill>
                <a:effectLst/>
                <a:uLnTx/>
                <a:uFillTx/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*p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);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409020205090404" pitchFamily="49" charset="0"/>
              <a:ea typeface="等线"/>
              <a:cs typeface="Courier New" panose="02070409020205090404" pitchFamily="49" charset="0"/>
            </a:endParaRPr>
          </a:p>
          <a:p>
            <a:pPr marR="0" lvl="0" defTabSz="363855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	  }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409020205090404" pitchFamily="49" charset="0"/>
              <a:ea typeface="等线"/>
              <a:cs typeface="Courier New" panose="02070409020205090404" pitchFamily="49" charset="0"/>
            </a:endParaRPr>
          </a:p>
          <a:p>
            <a:pPr marR="0" lvl="0" defTabSz="363855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	  return 0;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409020205090404" pitchFamily="49" charset="0"/>
              <a:ea typeface="等线"/>
              <a:cs typeface="Courier New" panose="02070409020205090404" pitchFamily="49" charset="0"/>
            </a:endParaRPr>
          </a:p>
          <a:p>
            <a:pPr marR="0" lvl="0" defTabSz="363855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}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Courier New" panose="02070409020205090404" pitchFamily="49" charset="0"/>
              <a:ea typeface="等线"/>
              <a:cs typeface="Courier New" panose="02070409020205090404" pitchFamily="49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5254425" y="3577926"/>
            <a:ext cx="3457575" cy="1285875"/>
          </a:xfrm>
          <a:prstGeom prst="rect">
            <a:avLst/>
          </a:prstGeom>
        </p:spPr>
      </p:pic>
      <p:grpSp>
        <p:nvGrpSpPr>
          <p:cNvPr id="6" name="组合 5"/>
          <p:cNvGrpSpPr/>
          <p:nvPr/>
        </p:nvGrpSpPr>
        <p:grpSpPr>
          <a:xfrm>
            <a:off x="251521" y="5249131"/>
            <a:ext cx="8712968" cy="1420229"/>
            <a:chOff x="8050698" y="5019262"/>
            <a:chExt cx="10448563" cy="1420229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7" name="剪去单角的矩形 6"/>
            <p:cNvSpPr/>
            <p:nvPr/>
          </p:nvSpPr>
          <p:spPr>
            <a:xfrm>
              <a:off x="8050698" y="5019262"/>
              <a:ext cx="10448563" cy="1420229"/>
            </a:xfrm>
            <a:prstGeom prst="snip1Rect">
              <a:avLst>
                <a:gd name="adj" fmla="val 5596"/>
              </a:avLst>
            </a:prstGeom>
            <a:solidFill>
              <a:srgbClr val="E84C22"/>
            </a:solidFill>
            <a:ln w="12700" cap="flat" cmpd="sng" algn="ctr">
              <a:solidFill>
                <a:srgbClr val="E84C22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endParaRPr>
            </a:p>
          </p:txBody>
        </p:sp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08212" y="5064435"/>
              <a:ext cx="290352" cy="327244"/>
            </a:xfrm>
            <a:prstGeom prst="rect">
              <a:avLst/>
            </a:prstGeom>
          </p:spPr>
        </p:pic>
        <p:sp>
          <p:nvSpPr>
            <p:cNvPr id="9" name="文本框 34"/>
            <p:cNvSpPr txBox="1"/>
            <p:nvPr/>
          </p:nvSpPr>
          <p:spPr>
            <a:xfrm>
              <a:off x="8388007" y="5054496"/>
              <a:ext cx="9926218" cy="9644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p</a:t>
              </a: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是指向</a:t>
              </a: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char*</a:t>
              </a: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型数据的指针变量，即指向指针的指针。在第</a:t>
              </a: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1</a:t>
              </a: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次执行</a:t>
              </a: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for</a:t>
              </a: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循环体时，赋值语句“</a:t>
              </a: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p=</a:t>
              </a:r>
              <a:r>
                <a:rPr kumimoji="0" lang="en-US" altLang="zh-CN" sz="12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name+i</a:t>
              </a: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;”</a:t>
              </a: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使</a:t>
              </a: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p</a:t>
              </a: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指向</a:t>
              </a: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name</a:t>
              </a: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数组的</a:t>
              </a: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0</a:t>
              </a: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号元素</a:t>
              </a: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name</a:t>
              </a: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［</a:t>
              </a: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0</a:t>
              </a: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］，*</a:t>
              </a: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p</a:t>
              </a: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是</a:t>
              </a: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name</a:t>
              </a: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［</a:t>
              </a: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0</a:t>
              </a: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］的值，即第</a:t>
              </a: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1</a:t>
              </a: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个字符串首字符的地址，用</a:t>
              </a:r>
              <a:r>
                <a:rPr kumimoji="0" lang="en-US" altLang="zh-CN" sz="12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printf</a:t>
              </a: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函数输出第</a:t>
              </a: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1</a:t>
              </a: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个字符串（格式符为</a:t>
              </a: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%s</a:t>
              </a: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）。执行</a:t>
              </a: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5</a:t>
              </a: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次循环体，依次输出</a:t>
              </a: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5</a:t>
              </a: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个字符串。</a:t>
              </a:r>
              <a:endPara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</a:endParaRPr>
            </a:p>
            <a:p>
              <a:pPr marL="0" marR="0" lvl="0" indent="0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</a:endParaRPr>
            </a:p>
            <a:p>
              <a:pPr marL="0" marR="0" lvl="0" indent="0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/>
                  <a:ea typeface="等线"/>
                </a:rPr>
                <a:t>指针数组的元素也可以不指向字符串，而指向整型数据或实型数据等。</a:t>
              </a:r>
              <a:endPara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</a:endParaRPr>
            </a:p>
          </p:txBody>
        </p:sp>
      </p:grp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指针数组与多重指针</a:t>
            </a:r>
            <a:endParaRPr lang="zh-CN" altLang="en-US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13-11</a:t>
            </a:r>
            <a:r>
              <a:rPr lang="zh-CN" altLang="en-US" dirty="0"/>
              <a:t>：有一个指针数组，其元素分别指向一个整型数组的元素，用指向指针数据的指针变量，输出整型数组各元素的值</a:t>
            </a:r>
            <a:endParaRPr lang="zh-CN" altLang="en-US" dirty="0"/>
          </a:p>
        </p:txBody>
      </p:sp>
      <p:sp>
        <p:nvSpPr>
          <p:cNvPr id="4" name="圆角矩形 12"/>
          <p:cNvSpPr/>
          <p:nvPr/>
        </p:nvSpPr>
        <p:spPr>
          <a:xfrm>
            <a:off x="755578" y="2708920"/>
            <a:ext cx="5428086" cy="3449730"/>
          </a:xfrm>
          <a:prstGeom prst="roundRect">
            <a:avLst>
              <a:gd name="adj" fmla="val 1743"/>
            </a:avLst>
          </a:prstGeom>
          <a:solidFill>
            <a:sysClr val="window" lastClr="FFFFFF"/>
          </a:solidFill>
          <a:ln w="12700" cap="flat" cmpd="sng" algn="ctr">
            <a:solidFill>
              <a:srgbClr val="E84C22"/>
            </a:solidFill>
            <a:prstDash val="solid"/>
            <a:miter lim="800000"/>
          </a:ln>
          <a:effectLst/>
        </p:spPr>
        <p:txBody>
          <a:bodyPr numCol="1" spcCol="360000" rtlCol="0" anchor="t"/>
          <a:lstStyle/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&lt;iostream&gt;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std;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main()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{   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a[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]={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7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9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C00000"/>
                </a:solidFill>
                <a:latin typeface="Consolas" panose="020B0609020204030204" pitchFamily="49" charset="0"/>
              </a:rPr>
              <a:t>*num[5]={&amp;a[0],&amp;a[1],&amp;a[2],&amp;a[3],&amp;a[4]};</a:t>
            </a:r>
            <a:endParaRPr lang="en-US" sz="1200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C00000"/>
                </a:solidFill>
                <a:latin typeface="Consolas" panose="020B0609020204030204" pitchFamily="49" charset="0"/>
              </a:rPr>
              <a:t>**</a:t>
            </a:r>
            <a:r>
              <a:rPr lang="en-US" sz="1200" dirty="0" err="1">
                <a:solidFill>
                  <a:srgbClr val="C00000"/>
                </a:solidFill>
                <a:latin typeface="Consolas" panose="020B0609020204030204" pitchFamily="49" charset="0"/>
              </a:rPr>
              <a:t>p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,i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                //p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是指向指针型数据的指针变量</a:t>
            </a:r>
            <a:endParaRPr lang="zh-CN" alt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p = num;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                  //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使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p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指向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num[0]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;i&lt;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;i++)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{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**p &lt;&lt;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 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&lt;&lt; p &lt;&lt;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 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*p &lt;&lt;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p++;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}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8157606" y="3241582"/>
          <a:ext cx="363985" cy="1828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3985"/>
              </a:tblGrid>
              <a:tr h="36373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373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373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373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373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7216573" y="3241582"/>
          <a:ext cx="497150" cy="18186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7150"/>
              </a:tblGrid>
              <a:tr h="363738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&amp;</a:t>
                      </a:r>
                      <a:r>
                        <a:rPr lang="en-US" altLang="zh-CN" sz="900" dirty="0"/>
                        <a:t>a[0]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3738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&amp;</a:t>
                      </a:r>
                      <a:r>
                        <a:rPr lang="en-US" altLang="zh-CN" sz="900" dirty="0"/>
                        <a:t>a[1]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3738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&amp;</a:t>
                      </a:r>
                      <a:r>
                        <a:rPr lang="en-US" altLang="zh-CN" sz="900" dirty="0"/>
                        <a:t>a[2]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3738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&amp;</a:t>
                      </a:r>
                      <a:r>
                        <a:rPr lang="en-US" altLang="zh-CN" sz="900" dirty="0"/>
                        <a:t>a[3]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3738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&amp;</a:t>
                      </a:r>
                      <a:r>
                        <a:rPr lang="en-US" altLang="zh-CN" sz="900" dirty="0"/>
                        <a:t>a[4]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0" name="表格 19"/>
          <p:cNvGraphicFramePr>
            <a:graphicFrameLocks noGrp="1"/>
          </p:cNvGraphicFramePr>
          <p:nvPr/>
        </p:nvGraphicFramePr>
        <p:xfrm>
          <a:off x="6259898" y="3244913"/>
          <a:ext cx="536925" cy="36373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6925"/>
              </a:tblGrid>
              <a:tr h="36373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num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22" name="组合 21"/>
          <p:cNvGrpSpPr/>
          <p:nvPr/>
        </p:nvGrpSpPr>
        <p:grpSpPr>
          <a:xfrm>
            <a:off x="6245562" y="2872250"/>
            <a:ext cx="2244131" cy="1992718"/>
            <a:chOff x="6742710" y="2410610"/>
            <a:chExt cx="2244131" cy="1992718"/>
          </a:xfrm>
        </p:grpSpPr>
        <p:sp>
          <p:nvSpPr>
            <p:cNvPr id="9" name="矩形 8"/>
            <p:cNvSpPr/>
            <p:nvPr/>
          </p:nvSpPr>
          <p:spPr>
            <a:xfrm>
              <a:off x="8730364" y="2410610"/>
              <a:ext cx="256477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dirty="0"/>
                <a:t>a</a:t>
              </a:r>
              <a:endParaRPr lang="en-US" dirty="0"/>
            </a:p>
          </p:txBody>
        </p:sp>
        <p:sp>
          <p:nvSpPr>
            <p:cNvPr id="10" name="矩形 9"/>
            <p:cNvSpPr/>
            <p:nvPr/>
          </p:nvSpPr>
          <p:spPr>
            <a:xfrm>
              <a:off x="7669575" y="2415371"/>
              <a:ext cx="603195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dirty="0"/>
                <a:t>num</a:t>
              </a:r>
              <a:endParaRPr lang="en-US" dirty="0"/>
            </a:p>
          </p:txBody>
        </p:sp>
        <p:cxnSp>
          <p:nvCxnSpPr>
            <p:cNvPr id="12" name="直接箭头连接符 11"/>
            <p:cNvCxnSpPr/>
            <p:nvPr/>
          </p:nvCxnSpPr>
          <p:spPr>
            <a:xfrm>
              <a:off x="8210871" y="2965142"/>
              <a:ext cx="44388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箭头连接符 12"/>
            <p:cNvCxnSpPr/>
            <p:nvPr/>
          </p:nvCxnSpPr>
          <p:spPr>
            <a:xfrm>
              <a:off x="8210871" y="3338005"/>
              <a:ext cx="44388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箭头连接符 13"/>
            <p:cNvCxnSpPr/>
            <p:nvPr/>
          </p:nvCxnSpPr>
          <p:spPr>
            <a:xfrm>
              <a:off x="8209897" y="3698165"/>
              <a:ext cx="44388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箭头连接符 14"/>
            <p:cNvCxnSpPr/>
            <p:nvPr/>
          </p:nvCxnSpPr>
          <p:spPr>
            <a:xfrm>
              <a:off x="8200045" y="4071026"/>
              <a:ext cx="44388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箭头连接符 15"/>
            <p:cNvCxnSpPr/>
            <p:nvPr/>
          </p:nvCxnSpPr>
          <p:spPr>
            <a:xfrm>
              <a:off x="8198097" y="4403328"/>
              <a:ext cx="44388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矩形 17"/>
            <p:cNvSpPr/>
            <p:nvPr/>
          </p:nvSpPr>
          <p:spPr>
            <a:xfrm>
              <a:off x="6742710" y="2415885"/>
              <a:ext cx="603195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dirty="0"/>
                <a:t>p</a:t>
              </a:r>
              <a:endParaRPr lang="en-US" dirty="0"/>
            </a:p>
          </p:txBody>
        </p:sp>
        <p:cxnSp>
          <p:nvCxnSpPr>
            <p:cNvPr id="21" name="直接箭头连接符 20"/>
            <p:cNvCxnSpPr/>
            <p:nvPr/>
          </p:nvCxnSpPr>
          <p:spPr>
            <a:xfrm>
              <a:off x="7293971" y="2965142"/>
              <a:ext cx="44388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指针数组与多重指针</a:t>
            </a:r>
            <a:endParaRPr lang="zh-CN" altLang="en-US" dirty="0"/>
          </a:p>
        </p:txBody>
      </p:sp>
      <p:sp>
        <p:nvSpPr>
          <p:cNvPr id="6" name="MH_Desc_1"/>
          <p:cNvSpPr/>
          <p:nvPr>
            <p:custDataLst>
              <p:tags r:id="rId1"/>
            </p:custDataLst>
          </p:nvPr>
        </p:nvSpPr>
        <p:spPr>
          <a:xfrm>
            <a:off x="216088" y="1453931"/>
            <a:ext cx="8856984" cy="4877882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-1" fmla="*/ 0 w 2520280"/>
              <a:gd name="connsiteY0-2" fmla="*/ 1584176 h 1872208"/>
              <a:gd name="connsiteX1-3" fmla="*/ 2520280 w 2520280"/>
              <a:gd name="connsiteY1-4" fmla="*/ 1584176 h 1872208"/>
              <a:gd name="connsiteX2-5" fmla="*/ 2520280 w 2520280"/>
              <a:gd name="connsiteY2-6" fmla="*/ 1872208 h 1872208"/>
              <a:gd name="connsiteX3-7" fmla="*/ 0 w 2520280"/>
              <a:gd name="connsiteY3-8" fmla="*/ 1872208 h 1872208"/>
              <a:gd name="connsiteX4-9" fmla="*/ 0 w 2520280"/>
              <a:gd name="connsiteY4-10" fmla="*/ 1584176 h 1872208"/>
              <a:gd name="connsiteX5-11" fmla="*/ 0 w 2520280"/>
              <a:gd name="connsiteY5-12" fmla="*/ 0 h 1872208"/>
              <a:gd name="connsiteX6-13" fmla="*/ 2520280 w 2520280"/>
              <a:gd name="connsiteY6-14" fmla="*/ 0 h 1872208"/>
              <a:gd name="connsiteX7-15" fmla="*/ 0 w 2520280"/>
              <a:gd name="connsiteY7-16" fmla="*/ 0 h 1872208"/>
              <a:gd name="connsiteX0-17" fmla="*/ 0 w 2520280"/>
              <a:gd name="connsiteY0-18" fmla="*/ 1872208 h 1872208"/>
              <a:gd name="connsiteX1-19" fmla="*/ 2520280 w 2520280"/>
              <a:gd name="connsiteY1-20" fmla="*/ 1584176 h 1872208"/>
              <a:gd name="connsiteX2-21" fmla="*/ 2520280 w 2520280"/>
              <a:gd name="connsiteY2-22" fmla="*/ 1872208 h 1872208"/>
              <a:gd name="connsiteX3-23" fmla="*/ 0 w 2520280"/>
              <a:gd name="connsiteY3-24" fmla="*/ 1872208 h 1872208"/>
              <a:gd name="connsiteX4-25" fmla="*/ 0 w 2520280"/>
              <a:gd name="connsiteY4-26" fmla="*/ 0 h 1872208"/>
              <a:gd name="connsiteX5-27" fmla="*/ 2520280 w 2520280"/>
              <a:gd name="connsiteY5-28" fmla="*/ 0 h 1872208"/>
              <a:gd name="connsiteX6-29" fmla="*/ 0 w 2520280"/>
              <a:gd name="connsiteY6-30" fmla="*/ 0 h 1872208"/>
              <a:gd name="connsiteX0-31" fmla="*/ 0 w 2520280"/>
              <a:gd name="connsiteY0-32" fmla="*/ 1872208 h 1872208"/>
              <a:gd name="connsiteX1-33" fmla="*/ 2520280 w 2520280"/>
              <a:gd name="connsiteY1-34" fmla="*/ 1872208 h 1872208"/>
              <a:gd name="connsiteX2-35" fmla="*/ 0 w 2520280"/>
              <a:gd name="connsiteY2-36" fmla="*/ 1872208 h 1872208"/>
              <a:gd name="connsiteX3-37" fmla="*/ 0 w 2520280"/>
              <a:gd name="connsiteY3-38" fmla="*/ 0 h 1872208"/>
              <a:gd name="connsiteX4-39" fmla="*/ 2520280 w 2520280"/>
              <a:gd name="connsiteY4-40" fmla="*/ 0 h 1872208"/>
              <a:gd name="connsiteX5-41" fmla="*/ 0 w 2520280"/>
              <a:gd name="connsiteY5-42" fmla="*/ 0 h 18722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2520280" y="0"/>
                </a:lnTo>
                <a:lnTo>
                  <a:pt x="0" y="0"/>
                </a:lnTo>
                <a:close/>
              </a:path>
            </a:pathLst>
          </a:custGeom>
          <a:noFill/>
          <a:ln w="25400" cap="sq" cmpd="sng" algn="ctr">
            <a:solidFill>
              <a:srgbClr val="E84C22"/>
            </a:solidFill>
            <a:prstDash val="solid"/>
            <a:bevel/>
          </a:ln>
          <a:effectLst/>
        </p:spPr>
        <p:txBody>
          <a:bodyPr lIns="72000" tIns="72000" rIns="72000" bIns="72000" anchor="t">
            <a:noAutofit/>
          </a:bodyPr>
          <a:lstStyle/>
          <a:p>
            <a:pPr marL="0" marR="0" lvl="0" indent="0" algn="just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利用指针变量访问另一个变量就是“间接访问”。</a:t>
            </a:r>
            <a:endParaRPr kumimoji="0" lang="en-US" altLang="zh-CN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0" indent="0" algn="just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如果在一个指针变量中存放一个目标变量的地址，这就是“单级间址”；</a:t>
            </a:r>
            <a:endParaRPr kumimoji="0" lang="en-US" altLang="zh-CN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0" indent="0" algn="just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0" indent="0" algn="just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0" indent="0" algn="just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指向指针数据的指针用的是“二级间址”方法；</a:t>
            </a:r>
            <a:endParaRPr kumimoji="0" lang="en-US" altLang="zh-CN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0" indent="0" algn="just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0" indent="0" algn="just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0" indent="0" algn="just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从理论上说，间址方法可以延伸到更多的级，即多重指针。</a:t>
            </a:r>
            <a:endParaRPr kumimoji="0" lang="en-US" altLang="zh-CN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3912594" y="2375275"/>
          <a:ext cx="2592000" cy="741680"/>
        </p:xfrm>
        <a:graphic>
          <a:graphicData uri="http://schemas.openxmlformats.org/drawingml/2006/table">
            <a:tbl>
              <a:tblPr/>
              <a:tblGrid>
                <a:gridCol w="1188000"/>
                <a:gridCol w="216000"/>
                <a:gridCol w="1188000"/>
              </a:tblGrid>
              <a:tr h="370840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zh-CN" altLang="en-US" sz="1600"/>
                        <a:t>指针变量</a:t>
                      </a:r>
                      <a:endParaRPr lang="zh-CN" altLang="en-US" sz="16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endParaRPr lang="zh-CN" altLang="en-US" sz="16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zh-CN" altLang="en-US" sz="1600"/>
                        <a:t>变量</a:t>
                      </a:r>
                      <a:endParaRPr lang="zh-CN" altLang="en-US" sz="16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zh-CN" altLang="en-US" sz="1600"/>
                        <a:t>地址</a:t>
                      </a:r>
                      <a:endParaRPr lang="zh-CN" altLang="en-US" sz="1600"/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zh-CN" altLang="en-US" sz="1600"/>
                        <a:t>→</a:t>
                      </a:r>
                      <a:endParaRPr lang="zh-CN" altLang="en-US" sz="1600"/>
                    </a:p>
                  </a:txBody>
                  <a:tcPr marL="0" marR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zh-CN" altLang="en-US" sz="1600"/>
                        <a:t>值</a:t>
                      </a:r>
                      <a:endParaRPr lang="zh-CN" altLang="en-US" sz="16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noFill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2000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3210594" y="3858745"/>
          <a:ext cx="3996000" cy="741680"/>
        </p:xfrm>
        <a:graphic>
          <a:graphicData uri="http://schemas.openxmlformats.org/drawingml/2006/table">
            <a:tbl>
              <a:tblPr/>
              <a:tblGrid>
                <a:gridCol w="1188000"/>
                <a:gridCol w="216000"/>
                <a:gridCol w="1188000"/>
                <a:gridCol w="216000"/>
                <a:gridCol w="1188000"/>
              </a:tblGrid>
              <a:tr h="370840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zh-CN" altLang="en-US" sz="1600"/>
                        <a:t>指针变量</a:t>
                      </a:r>
                      <a:r>
                        <a:rPr lang="en-US" altLang="zh-CN" sz="1600"/>
                        <a:t>1</a:t>
                      </a:r>
                      <a:endParaRPr lang="zh-CN" altLang="en-US" sz="16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endParaRPr lang="zh-CN" altLang="en-US" sz="16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zh-CN" altLang="en-US" sz="1600"/>
                        <a:t>指针变量</a:t>
                      </a:r>
                      <a:r>
                        <a:rPr lang="en-US" altLang="zh-CN" sz="1600"/>
                        <a:t>2</a:t>
                      </a:r>
                      <a:endParaRPr lang="zh-CN" altLang="en-US" sz="16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endParaRPr lang="zh-CN" altLang="en-US" sz="16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zh-CN" altLang="en-US" sz="1600"/>
                        <a:t>变量</a:t>
                      </a:r>
                      <a:endParaRPr lang="zh-CN" altLang="en-US" sz="16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zh-CN" altLang="en-US" sz="1600"/>
                        <a:t>地址</a:t>
                      </a:r>
                      <a:r>
                        <a:rPr lang="en-US" altLang="zh-CN" sz="1600"/>
                        <a:t>1</a:t>
                      </a:r>
                      <a:endParaRPr lang="zh-CN" altLang="en-US" sz="1600"/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zh-CN" altLang="en-US" sz="1600"/>
                        <a:t>→</a:t>
                      </a:r>
                      <a:endParaRPr lang="zh-CN" altLang="en-US" sz="1600"/>
                    </a:p>
                  </a:txBody>
                  <a:tcPr marL="0" marR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zh-CN" altLang="en-US" sz="1600"/>
                        <a:t>地址</a:t>
                      </a:r>
                      <a:r>
                        <a:rPr lang="en-US" altLang="zh-CN" sz="1600"/>
                        <a:t>2</a:t>
                      </a:r>
                      <a:endParaRPr lang="zh-CN" altLang="en-US" sz="16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zh-CN" altLang="en-US" sz="1600"/>
                        <a:t>→</a:t>
                      </a:r>
                      <a:endParaRPr lang="zh-CN" altLang="en-US" sz="16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等线"/>
                        </a:defRPr>
                      </a:lvl9pPr>
                    </a:lstStyle>
                    <a:p>
                      <a:pPr algn="ctr"/>
                      <a:r>
                        <a:rPr lang="zh-CN" altLang="en-US" sz="1600"/>
                        <a:t>值</a:t>
                      </a:r>
                      <a:endParaRPr lang="zh-CN" altLang="en-US" sz="16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noFill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4C22">
                        <a:tint val="20000"/>
                      </a:srgbClr>
                    </a:solidFill>
                  </a:tcPr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表格 8"/>
              <p:cNvGraphicFramePr>
                <a:graphicFrameLocks noGrp="1"/>
              </p:cNvGraphicFramePr>
              <p:nvPr/>
            </p:nvGraphicFramePr>
            <p:xfrm>
              <a:off x="1469249" y="5342215"/>
              <a:ext cx="7362970" cy="741680"/>
            </p:xfrm>
            <a:graphic>
              <a:graphicData uri="http://schemas.openxmlformats.org/drawingml/2006/table">
                <a:tbl>
                  <a:tblPr/>
                  <a:tblGrid>
                    <a:gridCol w="1188000"/>
                    <a:gridCol w="216000"/>
                    <a:gridCol w="1188000"/>
                    <a:gridCol w="216000"/>
                    <a:gridCol w="1800000"/>
                    <a:gridCol w="216000"/>
                    <a:gridCol w="1188000"/>
                    <a:gridCol w="216000"/>
                    <a:gridCol w="1134970"/>
                  </a:tblGrid>
                  <a:tr h="370840">
                    <a:tc>
                      <a:txBody>
                        <a:bodyPr/>
                        <a:lstStyle>
                          <a:lvl1pPr marL="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1pPr>
                          <a:lvl2pPr marL="3429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2pPr>
                          <a:lvl3pPr marL="6858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3pPr>
                          <a:lvl4pPr marL="10287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4pPr>
                          <a:lvl5pPr marL="13716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5pPr>
                          <a:lvl6pPr marL="17145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6pPr>
                          <a:lvl7pPr marL="20574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7pPr>
                          <a:lvl8pPr marL="24003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8pPr>
                          <a:lvl9pPr marL="27432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9pPr>
                        </a:lstStyle>
                        <a:p>
                          <a:pPr algn="ctr"/>
                          <a:r>
                            <a:rPr lang="zh-CN" altLang="en-US" sz="1600"/>
                            <a:t>指针变量</a:t>
                          </a:r>
                          <a:r>
                            <a:rPr lang="en-US" altLang="zh-CN" sz="1600"/>
                            <a:t>1</a:t>
                          </a:r>
                          <a:endParaRPr lang="zh-CN" altLang="en-US" sz="160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1pPr>
                          <a:lvl2pPr marL="3429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2pPr>
                          <a:lvl3pPr marL="6858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3pPr>
                          <a:lvl4pPr marL="10287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4pPr>
                          <a:lvl5pPr marL="13716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5pPr>
                          <a:lvl6pPr marL="17145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6pPr>
                          <a:lvl7pPr marL="20574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7pPr>
                          <a:lvl8pPr marL="24003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8pPr>
                          <a:lvl9pPr marL="27432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9pPr>
                        </a:lstStyle>
                        <a:p>
                          <a:pPr algn="ctr"/>
                          <a:endParaRPr lang="zh-CN" altLang="en-US" sz="160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1pPr>
                          <a:lvl2pPr marL="3429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2pPr>
                          <a:lvl3pPr marL="6858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3pPr>
                          <a:lvl4pPr marL="10287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4pPr>
                          <a:lvl5pPr marL="13716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5pPr>
                          <a:lvl6pPr marL="17145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6pPr>
                          <a:lvl7pPr marL="20574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7pPr>
                          <a:lvl8pPr marL="24003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8pPr>
                          <a:lvl9pPr marL="27432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9pPr>
                        </a:lstStyle>
                        <a:p>
                          <a:pPr algn="ctr"/>
                          <a:r>
                            <a:rPr lang="zh-CN" altLang="en-US" sz="1600"/>
                            <a:t>指针变量</a:t>
                          </a:r>
                          <a:r>
                            <a:rPr lang="en-US" altLang="zh-CN" sz="1600"/>
                            <a:t>2</a:t>
                          </a:r>
                          <a:endParaRPr lang="zh-CN" altLang="en-US" sz="160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1pPr>
                          <a:lvl2pPr marL="3429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2pPr>
                          <a:lvl3pPr marL="6858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3pPr>
                          <a:lvl4pPr marL="10287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4pPr>
                          <a:lvl5pPr marL="13716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5pPr>
                          <a:lvl6pPr marL="17145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6pPr>
                          <a:lvl7pPr marL="20574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7pPr>
                          <a:lvl8pPr marL="24003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8pPr>
                          <a:lvl9pPr marL="27432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9pPr>
                        </a:lstStyle>
                        <a:p>
                          <a:pPr algn="ctr"/>
                          <a:endParaRPr lang="zh-CN" altLang="en-US" sz="160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1pPr>
                          <a:lvl2pPr marL="3429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2pPr>
                          <a:lvl3pPr marL="6858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3pPr>
                          <a:lvl4pPr marL="10287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4pPr>
                          <a:lvl5pPr marL="13716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5pPr>
                          <a:lvl6pPr marL="17145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6pPr>
                          <a:lvl7pPr marL="20574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7pPr>
                          <a:lvl8pPr marL="24003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8pPr>
                          <a:lvl9pPr marL="27432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9pPr>
                        </a:lstStyle>
                        <a:p>
                          <a:pPr algn="ctr"/>
                          <a:endParaRPr lang="zh-CN" altLang="en-US" sz="160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1pPr>
                          <a:lvl2pPr marL="3429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2pPr>
                          <a:lvl3pPr marL="6858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3pPr>
                          <a:lvl4pPr marL="10287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4pPr>
                          <a:lvl5pPr marL="13716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5pPr>
                          <a:lvl6pPr marL="17145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6pPr>
                          <a:lvl7pPr marL="20574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7pPr>
                          <a:lvl8pPr marL="24003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8pPr>
                          <a:lvl9pPr marL="27432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9pPr>
                        </a:lstStyle>
                        <a:p>
                          <a:pPr algn="ctr"/>
                          <a:endParaRPr lang="zh-CN" altLang="en-US" sz="160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1pPr>
                          <a:lvl2pPr marL="3429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2pPr>
                          <a:lvl3pPr marL="6858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3pPr>
                          <a:lvl4pPr marL="10287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4pPr>
                          <a:lvl5pPr marL="13716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5pPr>
                          <a:lvl6pPr marL="17145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6pPr>
                          <a:lvl7pPr marL="20574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7pPr>
                          <a:lvl8pPr marL="24003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8pPr>
                          <a:lvl9pPr marL="27432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9pPr>
                        </a:lstStyle>
                        <a:p>
                          <a:pPr algn="ctr"/>
                          <a:r>
                            <a:rPr lang="zh-CN" altLang="en-US" sz="1600"/>
                            <a:t>指针变量</a:t>
                          </a:r>
                          <a:r>
                            <a:rPr lang="en-US" altLang="zh-CN" sz="1600"/>
                            <a:t>n</a:t>
                          </a:r>
                          <a:endParaRPr lang="zh-CN" altLang="en-US" sz="160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1pPr>
                          <a:lvl2pPr marL="3429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2pPr>
                          <a:lvl3pPr marL="6858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3pPr>
                          <a:lvl4pPr marL="10287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4pPr>
                          <a:lvl5pPr marL="13716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5pPr>
                          <a:lvl6pPr marL="17145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6pPr>
                          <a:lvl7pPr marL="20574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7pPr>
                          <a:lvl8pPr marL="24003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8pPr>
                          <a:lvl9pPr marL="27432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9pPr>
                        </a:lstStyle>
                        <a:p>
                          <a:pPr algn="ctr"/>
                          <a:endParaRPr lang="zh-CN" altLang="en-US" sz="160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1pPr>
                          <a:lvl2pPr marL="3429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2pPr>
                          <a:lvl3pPr marL="6858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3pPr>
                          <a:lvl4pPr marL="10287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4pPr>
                          <a:lvl5pPr marL="13716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5pPr>
                          <a:lvl6pPr marL="17145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6pPr>
                          <a:lvl7pPr marL="20574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7pPr>
                          <a:lvl8pPr marL="24003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8pPr>
                          <a:lvl9pPr marL="27432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9pPr>
                        </a:lstStyle>
                        <a:p>
                          <a:pPr algn="ctr"/>
                          <a:r>
                            <a:rPr lang="zh-CN" altLang="en-US" sz="1600"/>
                            <a:t>变量</a:t>
                          </a:r>
                          <a:endParaRPr lang="zh-CN" altLang="en-US" sz="160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>
                          <a:lvl1pPr marL="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1pPr>
                          <a:lvl2pPr marL="3429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2pPr>
                          <a:lvl3pPr marL="6858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3pPr>
                          <a:lvl4pPr marL="10287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4pPr>
                          <a:lvl5pPr marL="13716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5pPr>
                          <a:lvl6pPr marL="17145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6pPr>
                          <a:lvl7pPr marL="20574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7pPr>
                          <a:lvl8pPr marL="24003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8pPr>
                          <a:lvl9pPr marL="27432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9pPr>
                        </a:lstStyle>
                        <a:p>
                          <a:pPr algn="ctr"/>
                          <a:r>
                            <a:rPr lang="zh-CN" altLang="en-US" sz="1600"/>
                            <a:t>地址</a:t>
                          </a:r>
                          <a:r>
                            <a:rPr lang="en-US" altLang="zh-CN" sz="1600"/>
                            <a:t>1</a:t>
                          </a:r>
                          <a:endParaRPr lang="zh-CN" altLang="en-US" sz="1600"/>
                        </a:p>
                      </a:txBody>
                      <a:tcPr anchor="ctr">
                        <a:lnL w="12700" cmpd="sng">
                          <a:solidFill>
                            <a:sysClr val="window" lastClr="FFFFFF"/>
                          </a:solidFill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solidFill>
                            <a:sysClr val="window" lastClr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84C22">
                            <a:tint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1pPr>
                          <a:lvl2pPr marL="3429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2pPr>
                          <a:lvl3pPr marL="6858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3pPr>
                          <a:lvl4pPr marL="10287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4pPr>
                          <a:lvl5pPr marL="13716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5pPr>
                          <a:lvl6pPr marL="17145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6pPr>
                          <a:lvl7pPr marL="20574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7pPr>
                          <a:lvl8pPr marL="24003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8pPr>
                          <a:lvl9pPr marL="27432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9pPr>
                        </a:lstStyle>
                        <a:p>
                          <a:pPr algn="ctr"/>
                          <a:r>
                            <a:rPr lang="zh-CN" altLang="en-US" sz="1600"/>
                            <a:t>→</a:t>
                          </a:r>
                          <a:endParaRPr lang="zh-CN" altLang="en-US" sz="1600"/>
                        </a:p>
                      </a:txBody>
                      <a:tcPr marL="0" marR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1pPr>
                          <a:lvl2pPr marL="3429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2pPr>
                          <a:lvl3pPr marL="6858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3pPr>
                          <a:lvl4pPr marL="10287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4pPr>
                          <a:lvl5pPr marL="13716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5pPr>
                          <a:lvl6pPr marL="17145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6pPr>
                          <a:lvl7pPr marL="20574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7pPr>
                          <a:lvl8pPr marL="24003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8pPr>
                          <a:lvl9pPr marL="27432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9pPr>
                        </a:lstStyle>
                        <a:p>
                          <a:pPr algn="ctr"/>
                          <a:r>
                            <a:rPr lang="zh-CN" altLang="en-US" sz="1600"/>
                            <a:t>地址</a:t>
                          </a:r>
                          <a:r>
                            <a:rPr lang="en-US" altLang="zh-CN" sz="1600"/>
                            <a:t>2</a:t>
                          </a:r>
                          <a:endParaRPr lang="zh-CN" altLang="en-US" sz="160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solidFill>
                            <a:sysClr val="window" lastClr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84C22">
                            <a:tint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1pPr>
                          <a:lvl2pPr marL="3429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2pPr>
                          <a:lvl3pPr marL="6858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3pPr>
                          <a:lvl4pPr marL="10287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4pPr>
                          <a:lvl5pPr marL="13716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5pPr>
                          <a:lvl6pPr marL="17145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6pPr>
                          <a:lvl7pPr marL="20574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7pPr>
                          <a:lvl8pPr marL="24003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8pPr>
                          <a:lvl9pPr marL="27432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9pPr>
                        </a:lstStyle>
                        <a:p>
                          <a:pPr algn="ctr"/>
                          <a:r>
                            <a:rPr lang="zh-CN" altLang="en-US" sz="1600"/>
                            <a:t>→</a:t>
                          </a:r>
                          <a:endParaRPr lang="zh-CN" altLang="en-US" sz="160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1pPr>
                          <a:lvl2pPr marL="3429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2pPr>
                          <a:lvl3pPr marL="6858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3pPr>
                          <a:lvl4pPr marL="10287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4pPr>
                          <a:lvl5pPr marL="13716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5pPr>
                          <a:lvl6pPr marL="17145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6pPr>
                          <a:lvl7pPr marL="20574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7pPr>
                          <a:lvl8pPr marL="24003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8pPr>
                          <a:lvl9pPr marL="27432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9pPr>
                        </a:lstStyle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CN" altLang="en-US" sz="160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zh-CN" altLang="en-US" sz="160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solidFill>
                            <a:sysClr val="window" lastClr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84C22">
                            <a:tint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1pPr>
                          <a:lvl2pPr marL="3429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2pPr>
                          <a:lvl3pPr marL="6858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3pPr>
                          <a:lvl4pPr marL="10287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4pPr>
                          <a:lvl5pPr marL="13716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5pPr>
                          <a:lvl6pPr marL="17145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6pPr>
                          <a:lvl7pPr marL="20574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7pPr>
                          <a:lvl8pPr marL="24003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8pPr>
                          <a:lvl9pPr marL="27432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9pPr>
                        </a:lstStyle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zh-CN" altLang="en-US" sz="1600"/>
                            <a:t>→</a:t>
                          </a:r>
                          <a:endParaRPr lang="zh-CN" altLang="en-US" sz="160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1pPr>
                          <a:lvl2pPr marL="3429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2pPr>
                          <a:lvl3pPr marL="6858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3pPr>
                          <a:lvl4pPr marL="10287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4pPr>
                          <a:lvl5pPr marL="13716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5pPr>
                          <a:lvl6pPr marL="17145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6pPr>
                          <a:lvl7pPr marL="20574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7pPr>
                          <a:lvl8pPr marL="24003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8pPr>
                          <a:lvl9pPr marL="27432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9pPr>
                        </a:lstStyle>
                        <a:p>
                          <a:pPr algn="ctr"/>
                          <a:r>
                            <a:rPr lang="zh-CN" altLang="en-US" sz="1600"/>
                            <a:t>地址</a:t>
                          </a:r>
                          <a:r>
                            <a:rPr lang="en-US" altLang="zh-CN" sz="1600"/>
                            <a:t>n</a:t>
                          </a:r>
                          <a:endParaRPr lang="zh-CN" altLang="en-US" sz="160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solidFill>
                            <a:sysClr val="window" lastClr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84C22">
                            <a:tint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1pPr>
                          <a:lvl2pPr marL="3429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2pPr>
                          <a:lvl3pPr marL="6858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3pPr>
                          <a:lvl4pPr marL="10287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4pPr>
                          <a:lvl5pPr marL="13716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5pPr>
                          <a:lvl6pPr marL="17145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6pPr>
                          <a:lvl7pPr marL="20574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7pPr>
                          <a:lvl8pPr marL="24003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8pPr>
                          <a:lvl9pPr marL="27432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9pPr>
                        </a:lstStyle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zh-CN" altLang="en-US" sz="1600"/>
                            <a:t>→</a:t>
                          </a:r>
                          <a:endParaRPr lang="zh-CN" altLang="en-US" sz="160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1pPr>
                          <a:lvl2pPr marL="3429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2pPr>
                          <a:lvl3pPr marL="6858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3pPr>
                          <a:lvl4pPr marL="10287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4pPr>
                          <a:lvl5pPr marL="13716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5pPr>
                          <a:lvl6pPr marL="17145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6pPr>
                          <a:lvl7pPr marL="20574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7pPr>
                          <a:lvl8pPr marL="24003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8pPr>
                          <a:lvl9pPr marL="27432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9pPr>
                        </a:lstStyle>
                        <a:p>
                          <a:pPr algn="ctr"/>
                          <a:r>
                            <a:rPr lang="zh-CN" altLang="en-US" sz="1600"/>
                            <a:t>值</a:t>
                          </a:r>
                          <a:endParaRPr lang="zh-CN" altLang="en-US" sz="160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solidFill>
                            <a:sysClr val="window" lastClr="FFFFFF"/>
                          </a:solidFill>
                        </a:lnR>
                        <a:lnT w="12700" cmpd="sng">
                          <a:noFill/>
                        </a:lnT>
                        <a:lnB w="12700" cmpd="sng">
                          <a:solidFill>
                            <a:sysClr val="window" lastClr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84C22">
                            <a:tint val="20000"/>
                          </a:srgbClr>
                        </a:solidFill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表格 8"/>
              <p:cNvGraphicFramePr>
                <a:graphicFrameLocks noGrp="1"/>
              </p:cNvGraphicFramePr>
              <p:nvPr/>
            </p:nvGraphicFramePr>
            <p:xfrm>
              <a:off x="1469249" y="5342215"/>
              <a:ext cx="7362970" cy="741680"/>
            </p:xfrm>
            <a:graphic>
              <a:graphicData uri="http://schemas.openxmlformats.org/drawingml/2006/table">
                <a:tbl>
                  <a:tblPr/>
                  <a:tblGrid>
                    <a:gridCol w="1188000"/>
                    <a:gridCol w="216000"/>
                    <a:gridCol w="1188000"/>
                    <a:gridCol w="216000"/>
                    <a:gridCol w="1800000"/>
                    <a:gridCol w="216000"/>
                    <a:gridCol w="1188000"/>
                    <a:gridCol w="216000"/>
                    <a:gridCol w="1134970"/>
                  </a:tblGrid>
                  <a:tr h="370840">
                    <a:tc>
                      <a:txBody>
                        <a:bodyPr/>
                        <a:lstStyle>
                          <a:lvl1pPr marL="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1pPr>
                          <a:lvl2pPr marL="3429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2pPr>
                          <a:lvl3pPr marL="6858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3pPr>
                          <a:lvl4pPr marL="10287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4pPr>
                          <a:lvl5pPr marL="13716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5pPr>
                          <a:lvl6pPr marL="17145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6pPr>
                          <a:lvl7pPr marL="20574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7pPr>
                          <a:lvl8pPr marL="24003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8pPr>
                          <a:lvl9pPr marL="27432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9pPr>
                        </a:lstStyle>
                        <a:p>
                          <a:pPr algn="ctr"/>
                          <a:r>
                            <a:rPr lang="zh-CN" altLang="en-US" sz="1600"/>
                            <a:t>指针变量</a:t>
                          </a:r>
                          <a:r>
                            <a:rPr lang="en-US" altLang="zh-CN" sz="1600"/>
                            <a:t>1</a:t>
                          </a:r>
                          <a:endParaRPr lang="zh-CN" altLang="en-US" sz="160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1pPr>
                          <a:lvl2pPr marL="3429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2pPr>
                          <a:lvl3pPr marL="6858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3pPr>
                          <a:lvl4pPr marL="10287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4pPr>
                          <a:lvl5pPr marL="13716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5pPr>
                          <a:lvl6pPr marL="17145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6pPr>
                          <a:lvl7pPr marL="20574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7pPr>
                          <a:lvl8pPr marL="24003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8pPr>
                          <a:lvl9pPr marL="27432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9pPr>
                        </a:lstStyle>
                        <a:p>
                          <a:pPr algn="ctr"/>
                          <a:endParaRPr lang="zh-CN" altLang="en-US" sz="160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1pPr>
                          <a:lvl2pPr marL="3429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2pPr>
                          <a:lvl3pPr marL="6858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3pPr>
                          <a:lvl4pPr marL="10287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4pPr>
                          <a:lvl5pPr marL="13716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5pPr>
                          <a:lvl6pPr marL="17145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6pPr>
                          <a:lvl7pPr marL="20574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7pPr>
                          <a:lvl8pPr marL="24003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8pPr>
                          <a:lvl9pPr marL="27432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9pPr>
                        </a:lstStyle>
                        <a:p>
                          <a:pPr algn="ctr"/>
                          <a:r>
                            <a:rPr lang="zh-CN" altLang="en-US" sz="1600"/>
                            <a:t>指针变量</a:t>
                          </a:r>
                          <a:r>
                            <a:rPr lang="en-US" altLang="zh-CN" sz="1600"/>
                            <a:t>2</a:t>
                          </a:r>
                          <a:endParaRPr lang="zh-CN" altLang="en-US" sz="160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1pPr>
                          <a:lvl2pPr marL="3429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2pPr>
                          <a:lvl3pPr marL="6858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3pPr>
                          <a:lvl4pPr marL="10287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4pPr>
                          <a:lvl5pPr marL="13716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5pPr>
                          <a:lvl6pPr marL="17145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6pPr>
                          <a:lvl7pPr marL="20574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7pPr>
                          <a:lvl8pPr marL="24003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8pPr>
                          <a:lvl9pPr marL="27432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9pPr>
                        </a:lstStyle>
                        <a:p>
                          <a:pPr algn="ctr"/>
                          <a:endParaRPr lang="zh-CN" altLang="en-US" sz="160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1pPr>
                          <a:lvl2pPr marL="3429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2pPr>
                          <a:lvl3pPr marL="6858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3pPr>
                          <a:lvl4pPr marL="10287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4pPr>
                          <a:lvl5pPr marL="13716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5pPr>
                          <a:lvl6pPr marL="17145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6pPr>
                          <a:lvl7pPr marL="20574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7pPr>
                          <a:lvl8pPr marL="24003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8pPr>
                          <a:lvl9pPr marL="27432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9pPr>
                        </a:lstStyle>
                        <a:p>
                          <a:pPr algn="ctr"/>
                          <a:endParaRPr lang="zh-CN" altLang="en-US" sz="160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1pPr>
                          <a:lvl2pPr marL="3429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2pPr>
                          <a:lvl3pPr marL="6858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3pPr>
                          <a:lvl4pPr marL="10287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4pPr>
                          <a:lvl5pPr marL="13716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5pPr>
                          <a:lvl6pPr marL="17145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6pPr>
                          <a:lvl7pPr marL="20574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7pPr>
                          <a:lvl8pPr marL="24003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8pPr>
                          <a:lvl9pPr marL="27432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9pPr>
                        </a:lstStyle>
                        <a:p>
                          <a:pPr algn="ctr"/>
                          <a:endParaRPr lang="zh-CN" altLang="en-US" sz="160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1pPr>
                          <a:lvl2pPr marL="3429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2pPr>
                          <a:lvl3pPr marL="6858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3pPr>
                          <a:lvl4pPr marL="10287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4pPr>
                          <a:lvl5pPr marL="13716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5pPr>
                          <a:lvl6pPr marL="17145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6pPr>
                          <a:lvl7pPr marL="20574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7pPr>
                          <a:lvl8pPr marL="24003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8pPr>
                          <a:lvl9pPr marL="27432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9pPr>
                        </a:lstStyle>
                        <a:p>
                          <a:pPr algn="ctr"/>
                          <a:r>
                            <a:rPr lang="zh-CN" altLang="en-US" sz="1600"/>
                            <a:t>指针变量</a:t>
                          </a:r>
                          <a:r>
                            <a:rPr lang="en-US" altLang="zh-CN" sz="1600"/>
                            <a:t>n</a:t>
                          </a:r>
                          <a:endParaRPr lang="zh-CN" altLang="en-US" sz="160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1pPr>
                          <a:lvl2pPr marL="3429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2pPr>
                          <a:lvl3pPr marL="6858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3pPr>
                          <a:lvl4pPr marL="10287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4pPr>
                          <a:lvl5pPr marL="13716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5pPr>
                          <a:lvl6pPr marL="17145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6pPr>
                          <a:lvl7pPr marL="20574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7pPr>
                          <a:lvl8pPr marL="24003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8pPr>
                          <a:lvl9pPr marL="27432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9pPr>
                        </a:lstStyle>
                        <a:p>
                          <a:pPr algn="ctr"/>
                          <a:endParaRPr lang="zh-CN" altLang="en-US" sz="160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1pPr>
                          <a:lvl2pPr marL="3429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2pPr>
                          <a:lvl3pPr marL="6858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3pPr>
                          <a:lvl4pPr marL="10287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4pPr>
                          <a:lvl5pPr marL="13716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5pPr>
                          <a:lvl6pPr marL="17145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6pPr>
                          <a:lvl7pPr marL="20574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7pPr>
                          <a:lvl8pPr marL="24003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8pPr>
                          <a:lvl9pPr marL="27432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9pPr>
                        </a:lstStyle>
                        <a:p>
                          <a:pPr algn="ctr"/>
                          <a:r>
                            <a:rPr lang="zh-CN" altLang="en-US" sz="1600"/>
                            <a:t>变量</a:t>
                          </a:r>
                          <a:endParaRPr lang="zh-CN" altLang="en-US" sz="160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</a:tr>
                  <a:tr h="377190">
                    <a:tc>
                      <a:txBody>
                        <a:bodyPr/>
                        <a:lstStyle>
                          <a:lvl1pPr marL="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1pPr>
                          <a:lvl2pPr marL="3429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2pPr>
                          <a:lvl3pPr marL="6858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3pPr>
                          <a:lvl4pPr marL="10287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4pPr>
                          <a:lvl5pPr marL="13716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5pPr>
                          <a:lvl6pPr marL="17145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6pPr>
                          <a:lvl7pPr marL="20574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7pPr>
                          <a:lvl8pPr marL="24003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8pPr>
                          <a:lvl9pPr marL="27432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9pPr>
                        </a:lstStyle>
                        <a:p>
                          <a:pPr algn="ctr"/>
                          <a:r>
                            <a:rPr lang="zh-CN" altLang="en-US" sz="1600"/>
                            <a:t>地址</a:t>
                          </a:r>
                          <a:r>
                            <a:rPr lang="en-US" altLang="zh-CN" sz="1600"/>
                            <a:t>1</a:t>
                          </a:r>
                          <a:endParaRPr lang="zh-CN" altLang="en-US" sz="1600"/>
                        </a:p>
                      </a:txBody>
                      <a:tcPr anchor="ctr">
                        <a:lnL w="12700" cmpd="sng">
                          <a:solidFill>
                            <a:sysClr val="window" lastClr="FFFFFF"/>
                          </a:solidFill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solidFill>
                            <a:sysClr val="window" lastClr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84C22">
                            <a:tint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1pPr>
                          <a:lvl2pPr marL="3429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2pPr>
                          <a:lvl3pPr marL="6858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3pPr>
                          <a:lvl4pPr marL="10287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4pPr>
                          <a:lvl5pPr marL="13716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5pPr>
                          <a:lvl6pPr marL="17145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6pPr>
                          <a:lvl7pPr marL="20574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7pPr>
                          <a:lvl8pPr marL="24003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8pPr>
                          <a:lvl9pPr marL="27432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9pPr>
                        </a:lstStyle>
                        <a:p>
                          <a:pPr algn="ctr"/>
                          <a:r>
                            <a:rPr lang="zh-CN" altLang="en-US" sz="1600"/>
                            <a:t>→</a:t>
                          </a:r>
                          <a:endParaRPr lang="zh-CN" altLang="en-US" sz="1600"/>
                        </a:p>
                      </a:txBody>
                      <a:tcPr marL="0" marR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1pPr>
                          <a:lvl2pPr marL="3429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2pPr>
                          <a:lvl3pPr marL="6858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3pPr>
                          <a:lvl4pPr marL="10287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4pPr>
                          <a:lvl5pPr marL="13716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5pPr>
                          <a:lvl6pPr marL="17145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6pPr>
                          <a:lvl7pPr marL="20574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7pPr>
                          <a:lvl8pPr marL="24003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8pPr>
                          <a:lvl9pPr marL="27432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9pPr>
                        </a:lstStyle>
                        <a:p>
                          <a:pPr algn="ctr"/>
                          <a:r>
                            <a:rPr lang="zh-CN" altLang="en-US" sz="1600"/>
                            <a:t>地址</a:t>
                          </a:r>
                          <a:r>
                            <a:rPr lang="en-US" altLang="zh-CN" sz="1600"/>
                            <a:t>2</a:t>
                          </a:r>
                          <a:endParaRPr lang="zh-CN" altLang="en-US" sz="160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solidFill>
                            <a:sysClr val="window" lastClr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84C22">
                            <a:tint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1pPr>
                          <a:lvl2pPr marL="3429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2pPr>
                          <a:lvl3pPr marL="6858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3pPr>
                          <a:lvl4pPr marL="10287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4pPr>
                          <a:lvl5pPr marL="13716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5pPr>
                          <a:lvl6pPr marL="17145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6pPr>
                          <a:lvl7pPr marL="20574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7pPr>
                          <a:lvl8pPr marL="24003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8pPr>
                          <a:lvl9pPr marL="27432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9pPr>
                        </a:lstStyle>
                        <a:p>
                          <a:pPr algn="ctr"/>
                          <a:r>
                            <a:rPr lang="zh-CN" altLang="en-US" sz="1600"/>
                            <a:t>→</a:t>
                          </a:r>
                          <a:endParaRPr lang="zh-CN" altLang="en-US" sz="160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solidFill>
                            <a:sysClr val="window" lastClr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>
                          <a:lvl1pPr marL="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1pPr>
                          <a:lvl2pPr marL="3429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2pPr>
                          <a:lvl3pPr marL="6858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3pPr>
                          <a:lvl4pPr marL="10287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4pPr>
                          <a:lvl5pPr marL="13716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5pPr>
                          <a:lvl6pPr marL="17145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6pPr>
                          <a:lvl7pPr marL="20574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7pPr>
                          <a:lvl8pPr marL="24003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8pPr>
                          <a:lvl9pPr marL="27432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9pPr>
                        </a:lstStyle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zh-CN" altLang="en-US" sz="1600"/>
                            <a:t>→</a:t>
                          </a:r>
                          <a:endParaRPr lang="zh-CN" altLang="en-US" sz="160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1pPr>
                          <a:lvl2pPr marL="3429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2pPr>
                          <a:lvl3pPr marL="6858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3pPr>
                          <a:lvl4pPr marL="10287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4pPr>
                          <a:lvl5pPr marL="13716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5pPr>
                          <a:lvl6pPr marL="17145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6pPr>
                          <a:lvl7pPr marL="20574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7pPr>
                          <a:lvl8pPr marL="24003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8pPr>
                          <a:lvl9pPr marL="27432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9pPr>
                        </a:lstStyle>
                        <a:p>
                          <a:pPr algn="ctr"/>
                          <a:r>
                            <a:rPr lang="zh-CN" altLang="en-US" sz="1600"/>
                            <a:t>地址</a:t>
                          </a:r>
                          <a:r>
                            <a:rPr lang="en-US" altLang="zh-CN" sz="1600"/>
                            <a:t>n</a:t>
                          </a:r>
                          <a:endParaRPr lang="zh-CN" altLang="en-US" sz="160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solidFill>
                            <a:sysClr val="window" lastClr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84C22">
                            <a:tint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1pPr>
                          <a:lvl2pPr marL="3429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2pPr>
                          <a:lvl3pPr marL="6858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3pPr>
                          <a:lvl4pPr marL="10287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4pPr>
                          <a:lvl5pPr marL="13716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5pPr>
                          <a:lvl6pPr marL="17145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6pPr>
                          <a:lvl7pPr marL="20574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7pPr>
                          <a:lvl8pPr marL="24003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8pPr>
                          <a:lvl9pPr marL="27432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9pPr>
                        </a:lstStyle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zh-CN" altLang="en-US" sz="1600"/>
                            <a:t>→</a:t>
                          </a:r>
                          <a:endParaRPr lang="zh-CN" altLang="en-US" sz="160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1pPr>
                          <a:lvl2pPr marL="3429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2pPr>
                          <a:lvl3pPr marL="6858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3pPr>
                          <a:lvl4pPr marL="10287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4pPr>
                          <a:lvl5pPr marL="13716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5pPr>
                          <a:lvl6pPr marL="17145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6pPr>
                          <a:lvl7pPr marL="20574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7pPr>
                          <a:lvl8pPr marL="24003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8pPr>
                          <a:lvl9pPr marL="2743200" algn="l" defTabSz="685800" rtl="0" eaLnBrk="1" latinLnBrk="0" hangingPunct="1">
                            <a:defRPr sz="1350" kern="1200">
                              <a:solidFill>
                                <a:schemeClr val="dk1"/>
                              </a:solidFill>
                              <a:latin typeface="等线"/>
                            </a:defRPr>
                          </a:lvl9pPr>
                        </a:lstStyle>
                        <a:p>
                          <a:pPr algn="ctr"/>
                          <a:r>
                            <a:rPr lang="zh-CN" altLang="en-US" sz="1600"/>
                            <a:t>值</a:t>
                          </a:r>
                          <a:endParaRPr lang="zh-CN" altLang="en-US" sz="160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solidFill>
                            <a:sysClr val="window" lastClr="FFFFFF"/>
                          </a:solidFill>
                        </a:lnR>
                        <a:lnT w="12700" cmpd="sng">
                          <a:noFill/>
                        </a:lnT>
                        <a:lnB w="12700" cmpd="sng">
                          <a:solidFill>
                            <a:sysClr val="window" lastClr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84C22">
                            <a:tint val="20000"/>
                          </a:srgbClr>
                        </a:solidFill>
                      </a:tcPr>
                    </a:tc>
                  </a:tr>
                </a:tbl>
              </a:graphicData>
            </a:graphic>
          </p:graphicFrame>
        </mc:Fallback>
      </mc:AlternateContent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 </a:t>
            </a:r>
            <a:r>
              <a:rPr lang="zh-CN" altLang="en-US" dirty="0"/>
              <a:t>指针与函数</a:t>
            </a:r>
            <a:endParaRPr lang="en-US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指针变量作为函数参数</a:t>
            </a:r>
            <a:endParaRPr lang="en-US" altLang="zh-CN" dirty="0"/>
          </a:p>
          <a:p>
            <a:pPr lvl="1"/>
            <a:r>
              <a:rPr lang="zh-CN" altLang="en-US" dirty="0"/>
              <a:t>定义一个函数</a:t>
            </a:r>
            <a:r>
              <a:rPr lang="en-US" altLang="zh-CN" dirty="0"/>
              <a:t>swap</a:t>
            </a:r>
            <a:r>
              <a:rPr lang="zh-CN" altLang="en-US" dirty="0"/>
              <a:t>，将指向两个整型变量的指针变量作为实参传递给</a:t>
            </a:r>
            <a:r>
              <a:rPr lang="en-US" altLang="zh-CN" dirty="0"/>
              <a:t>swap</a:t>
            </a:r>
            <a:r>
              <a:rPr lang="zh-CN" altLang="en-US" dirty="0"/>
              <a:t>函数的形参指针变量，在函数中通过指针实现交换两个变量的值</a:t>
            </a:r>
            <a:endParaRPr lang="en-US" dirty="0"/>
          </a:p>
          <a:p>
            <a:r>
              <a:rPr lang="zh-CN" altLang="en-US" dirty="0"/>
              <a:t>函数的返回值为指针</a:t>
            </a:r>
            <a:endParaRPr lang="en-US" altLang="zh-CN" dirty="0"/>
          </a:p>
          <a:p>
            <a:pPr lvl="1"/>
            <a:r>
              <a:rPr lang="en-US" dirty="0">
                <a:solidFill>
                  <a:srgbClr val="FF0000"/>
                </a:solidFill>
              </a:rPr>
              <a:t>char *</a:t>
            </a:r>
            <a:r>
              <a:rPr lang="en-US" b="1" dirty="0" err="1">
                <a:solidFill>
                  <a:srgbClr val="FF0000"/>
                </a:solidFill>
              </a:rPr>
              <a:t>strcpy</a:t>
            </a:r>
            <a:r>
              <a:rPr lang="en-US" dirty="0">
                <a:solidFill>
                  <a:srgbClr val="FF0000"/>
                </a:solidFill>
              </a:rPr>
              <a:t>(char *</a:t>
            </a:r>
            <a:r>
              <a:rPr lang="en-US" dirty="0" err="1">
                <a:solidFill>
                  <a:srgbClr val="FF0000"/>
                </a:solidFill>
              </a:rPr>
              <a:t>dst</a:t>
            </a:r>
            <a:r>
              <a:rPr lang="en-US" dirty="0">
                <a:solidFill>
                  <a:srgbClr val="FF0000"/>
                </a:solidFill>
              </a:rPr>
              <a:t>, const char *</a:t>
            </a:r>
            <a:r>
              <a:rPr lang="en-US" dirty="0" err="1">
                <a:solidFill>
                  <a:srgbClr val="FF0000"/>
                </a:solidFill>
              </a:rPr>
              <a:t>src</a:t>
            </a:r>
            <a:r>
              <a:rPr lang="en-US" dirty="0">
                <a:solidFill>
                  <a:srgbClr val="FF0000"/>
                </a:solidFill>
              </a:rPr>
              <a:t>);</a:t>
            </a:r>
            <a:endParaRPr lang="en-US" altLang="zh-CN" dirty="0">
              <a:solidFill>
                <a:srgbClr val="FF0000"/>
              </a:solidFill>
            </a:endParaRPr>
          </a:p>
          <a:p>
            <a:endParaRPr lang="en-US" altLang="zh-CN" dirty="0"/>
          </a:p>
          <a:p>
            <a:r>
              <a:rPr lang="zh-CN" altLang="en-US" dirty="0"/>
              <a:t>指向函数的指针</a:t>
            </a:r>
            <a:endParaRPr lang="zh-CN" altLang="en-US" dirty="0"/>
          </a:p>
          <a:p>
            <a:endParaRPr lang="en-US" altLang="zh-CN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内容占位符 2"/>
          <p:cNvSpPr>
            <a:spLocks noGrp="1"/>
          </p:cNvSpPr>
          <p:nvPr>
            <p:ph idx="1"/>
          </p:nvPr>
        </p:nvSpPr>
        <p:spPr>
          <a:xfrm>
            <a:off x="357187" y="952500"/>
            <a:ext cx="8153400" cy="5261869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000" dirty="0"/>
              <a:t>#include &lt;</a:t>
            </a:r>
            <a:r>
              <a:rPr lang="en-US" altLang="zh-CN" sz="2000" dirty="0" err="1"/>
              <a:t>stdio.h</a:t>
            </a:r>
            <a:r>
              <a:rPr lang="en-US" altLang="zh-CN" sz="2000" dirty="0"/>
              <a:t>&gt;</a:t>
            </a:r>
            <a:endParaRPr lang="zh-CN" altLang="zh-CN" sz="2000" dirty="0"/>
          </a:p>
          <a:p>
            <a:pPr>
              <a:lnSpc>
                <a:spcPct val="100000"/>
              </a:lnSpc>
              <a:buNone/>
            </a:pPr>
            <a:r>
              <a:rPr lang="en-US" altLang="zh-CN" sz="2000" dirty="0"/>
              <a:t>void swap(int *p1,int *p2);  </a:t>
            </a:r>
            <a:endParaRPr lang="zh-CN" altLang="zh-CN" sz="20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000" dirty="0"/>
              <a:t>int main()</a:t>
            </a:r>
            <a:endParaRPr lang="en-US" altLang="zh-CN" sz="20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000" dirty="0"/>
              <a:t>{</a:t>
            </a:r>
            <a:endParaRPr lang="en-US" altLang="zh-CN" sz="20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zh-CN" altLang="zh-CN" sz="2000" dirty="0"/>
              <a:t> </a:t>
            </a:r>
            <a:r>
              <a:rPr lang="zh-CN" altLang="en-US" sz="2000" dirty="0"/>
              <a:t> </a:t>
            </a:r>
            <a:r>
              <a:rPr lang="en-US" altLang="zh-CN" sz="2000" dirty="0"/>
              <a:t>int a = 5, b = 9;  </a:t>
            </a:r>
            <a:endParaRPr lang="en-US" altLang="zh-CN" sz="20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000" dirty="0"/>
              <a:t>  int*pointer_1,*pointer_2; </a:t>
            </a:r>
            <a:endParaRPr lang="zh-CN" altLang="zh-CN" sz="20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000" dirty="0"/>
              <a:t>  pointer_1=&amp;a; </a:t>
            </a:r>
            <a:endParaRPr lang="zh-CN" altLang="zh-CN" sz="20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000" dirty="0"/>
              <a:t>  pointer_2=&amp;b;  </a:t>
            </a:r>
            <a:endParaRPr lang="zh-CN" altLang="zh-CN" sz="20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000" dirty="0"/>
              <a:t>  if (a&lt;b)  swap(pointer_1,pointer_2); </a:t>
            </a:r>
            <a:endParaRPr lang="zh-CN" altLang="zh-CN" sz="20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000" dirty="0"/>
              <a:t>  </a:t>
            </a:r>
            <a:r>
              <a:rPr lang="en-US" altLang="zh-CN" sz="2000" dirty="0" err="1"/>
              <a:t>printf</a:t>
            </a:r>
            <a:r>
              <a:rPr lang="en-US" altLang="zh-CN" sz="2000" dirty="0"/>
              <a:t>(“max=%</a:t>
            </a:r>
            <a:r>
              <a:rPr lang="en-US" altLang="zh-CN" sz="2000" dirty="0" err="1"/>
              <a:t>d,min</a:t>
            </a:r>
            <a:r>
              <a:rPr lang="en-US" altLang="zh-CN" sz="2000" dirty="0"/>
              <a:t>=%d\n”,</a:t>
            </a:r>
            <a:r>
              <a:rPr lang="en-US" altLang="zh-CN" sz="2000" dirty="0" err="1"/>
              <a:t>a,b</a:t>
            </a:r>
            <a:r>
              <a:rPr lang="en-US" altLang="zh-CN" sz="2000" dirty="0"/>
              <a:t>); </a:t>
            </a:r>
            <a:endParaRPr lang="zh-CN" altLang="zh-CN" sz="20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000" dirty="0"/>
              <a:t>  return 0;</a:t>
            </a:r>
            <a:endParaRPr lang="zh-CN" altLang="zh-CN" sz="20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000" dirty="0"/>
              <a:t> }    </a:t>
            </a:r>
            <a:endParaRPr lang="zh-CN" altLang="en-US" sz="2800" dirty="0"/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5386790" y="2699304"/>
            <a:ext cx="714375" cy="7143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</a:ln>
        </p:spPr>
        <p:txBody>
          <a:bodyPr wrap="none"/>
          <a:lstStyle>
            <a:lvl1pPr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8383990" y="2686604"/>
            <a:ext cx="714375" cy="7143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</a:ln>
        </p:spPr>
        <p:txBody>
          <a:bodyPr wrap="none"/>
          <a:lstStyle>
            <a:lvl1pPr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3958040" y="2699304"/>
            <a:ext cx="714375" cy="7143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</a:ln>
        </p:spPr>
        <p:txBody>
          <a:bodyPr wrap="none"/>
          <a:lstStyle>
            <a:lvl1pPr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6955240" y="2686604"/>
            <a:ext cx="714375" cy="7143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</a:ln>
        </p:spPr>
        <p:txBody>
          <a:bodyPr wrap="none"/>
          <a:lstStyle>
            <a:lvl1pPr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5570940" y="2191304"/>
            <a:ext cx="50006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r>
              <a:rPr lang="en-US" altLang="zh-CN" sz="3200">
                <a:solidFill>
                  <a:srgbClr val="FF0000"/>
                </a:solidFill>
              </a:rPr>
              <a:t>a</a:t>
            </a:r>
            <a:endParaRPr lang="zh-CN" altLang="en-US" sz="3200">
              <a:solidFill>
                <a:srgbClr val="FF0000"/>
              </a:solidFill>
            </a:endParaRP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8455427" y="2102404"/>
            <a:ext cx="5000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r>
              <a:rPr lang="en-US" altLang="zh-CN" sz="3200">
                <a:solidFill>
                  <a:srgbClr val="FF0000"/>
                </a:solidFill>
              </a:rPr>
              <a:t>b</a:t>
            </a:r>
            <a:endParaRPr lang="zh-CN" altLang="en-US" sz="3200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3454802" y="2186542"/>
            <a:ext cx="18573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r>
              <a:rPr lang="en-US" altLang="zh-CN" sz="2800" b="1" dirty="0">
                <a:solidFill>
                  <a:srgbClr val="FF0000"/>
                </a:solidFill>
              </a:rPr>
              <a:t>pointer_1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5529665" y="2770742"/>
            <a:ext cx="500062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r>
              <a:rPr lang="en-US" altLang="zh-CN" sz="3200" b="1" dirty="0">
                <a:solidFill>
                  <a:srgbClr val="0000CC"/>
                </a:solidFill>
              </a:rPr>
              <a:t>5</a:t>
            </a:r>
            <a:endParaRPr lang="zh-CN" altLang="en-US" sz="3200" b="1" dirty="0">
              <a:solidFill>
                <a:srgbClr val="0000CC"/>
              </a:solidFill>
            </a:endParaRP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8526865" y="2758042"/>
            <a:ext cx="50006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r>
              <a:rPr lang="en-US" altLang="zh-CN" sz="3200" b="1">
                <a:solidFill>
                  <a:srgbClr val="0000CC"/>
                </a:solidFill>
              </a:rPr>
              <a:t>9</a:t>
            </a:r>
            <a:endParaRPr lang="zh-CN" altLang="en-US" sz="3200" b="1">
              <a:solidFill>
                <a:srgbClr val="0000CC"/>
              </a:solidFill>
            </a:endParaRPr>
          </a:p>
        </p:txBody>
      </p:sp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3942165" y="2746929"/>
            <a:ext cx="78581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algn="ctr"/>
            <a:r>
              <a:rPr lang="en-US" altLang="zh-CN" sz="3200" b="1">
                <a:solidFill>
                  <a:srgbClr val="0000CC"/>
                </a:solidFill>
              </a:rPr>
              <a:t>&amp;a</a:t>
            </a:r>
            <a:endParaRPr lang="zh-CN" altLang="en-US" sz="3200" b="1">
              <a:solidFill>
                <a:srgbClr val="0000CC"/>
              </a:solidFill>
            </a:endParaRPr>
          </a:p>
        </p:txBody>
      </p:sp>
      <p:sp>
        <p:nvSpPr>
          <p:cNvPr id="16" name="TextBox 15"/>
          <p:cNvSpPr txBox="1">
            <a:spLocks noChangeArrowheads="1"/>
          </p:cNvSpPr>
          <p:nvPr/>
        </p:nvSpPr>
        <p:spPr bwMode="auto">
          <a:xfrm>
            <a:off x="6955240" y="2758042"/>
            <a:ext cx="78581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algn="ctr"/>
            <a:r>
              <a:rPr lang="en-US" altLang="zh-CN" sz="3200" b="1" dirty="0">
                <a:solidFill>
                  <a:srgbClr val="0000CC"/>
                </a:solidFill>
              </a:rPr>
              <a:t>&amp;b</a:t>
            </a:r>
            <a:endParaRPr lang="zh-CN" altLang="en-US" sz="3200" b="1" dirty="0">
              <a:solidFill>
                <a:srgbClr val="0000CC"/>
              </a:solidFill>
            </a:endParaRPr>
          </a:p>
        </p:txBody>
      </p:sp>
      <p:cxnSp>
        <p:nvCxnSpPr>
          <p:cNvPr id="17" name="直接箭头连接符 16"/>
          <p:cNvCxnSpPr>
            <a:cxnSpLocks noChangeShapeType="1"/>
          </p:cNvCxnSpPr>
          <p:nvPr/>
        </p:nvCxnSpPr>
        <p:spPr bwMode="auto">
          <a:xfrm>
            <a:off x="7669615" y="3043792"/>
            <a:ext cx="714375" cy="1587"/>
          </a:xfrm>
          <a:prstGeom prst="straightConnector1">
            <a:avLst/>
          </a:prstGeom>
          <a:noFill/>
          <a:ln w="38100">
            <a:solidFill>
              <a:srgbClr val="FF0000"/>
            </a:solidFill>
            <a:miter lim="800000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" name="直接箭头连接符 17"/>
          <p:cNvCxnSpPr>
            <a:cxnSpLocks noChangeShapeType="1"/>
          </p:cNvCxnSpPr>
          <p:nvPr/>
        </p:nvCxnSpPr>
        <p:spPr bwMode="auto">
          <a:xfrm>
            <a:off x="4669240" y="3043792"/>
            <a:ext cx="714375" cy="1587"/>
          </a:xfrm>
          <a:prstGeom prst="straightConnector1">
            <a:avLst/>
          </a:prstGeom>
          <a:noFill/>
          <a:ln w="38100">
            <a:solidFill>
              <a:srgbClr val="FF0000"/>
            </a:solidFill>
            <a:miter lim="800000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" name="TextBox 18"/>
          <p:cNvSpPr txBox="1">
            <a:spLocks noChangeArrowheads="1"/>
          </p:cNvSpPr>
          <p:nvPr/>
        </p:nvSpPr>
        <p:spPr bwMode="auto">
          <a:xfrm>
            <a:off x="6383740" y="2186542"/>
            <a:ext cx="18573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r>
              <a:rPr lang="en-US" altLang="zh-CN" sz="2800" b="1">
                <a:solidFill>
                  <a:srgbClr val="FF0000"/>
                </a:solidFill>
              </a:rPr>
              <a:t>pointer_2</a:t>
            </a:r>
            <a:endParaRPr lang="zh-CN" altLang="en-US" sz="2800" b="1">
              <a:solidFill>
                <a:srgbClr val="FF0000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357187" y="285175"/>
            <a:ext cx="428835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latin typeface="+mj-ea"/>
                <a:ea typeface="+mj-ea"/>
              </a:rPr>
              <a:t>指针变量作为函数参数</a:t>
            </a:r>
            <a:endParaRPr lang="en-US" altLang="zh-CN" sz="3200" b="1" dirty="0">
              <a:latin typeface="+mj-ea"/>
              <a:ea typeface="+mj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/>
      <p:bldP spid="10" grpId="0"/>
      <p:bldP spid="11" grpId="0"/>
      <p:bldP spid="13" grpId="0"/>
      <p:bldP spid="14" grpId="0"/>
      <p:bldP spid="15" grpId="0"/>
      <p:bldP spid="16" grpId="0"/>
      <p:bldP spid="19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内容占位符 2"/>
          <p:cNvSpPr>
            <a:spLocks noGrp="1"/>
          </p:cNvSpPr>
          <p:nvPr>
            <p:ph idx="1"/>
          </p:nvPr>
        </p:nvSpPr>
        <p:spPr>
          <a:xfrm>
            <a:off x="594518" y="651192"/>
            <a:ext cx="7104063" cy="4143375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800" dirty="0"/>
              <a:t>void swap(int *p1,int *p2) </a:t>
            </a:r>
            <a:endParaRPr lang="zh-CN" altLang="zh-CN" sz="2800" dirty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dirty="0"/>
              <a:t>{  int temp;</a:t>
            </a:r>
            <a:endParaRPr lang="zh-CN" altLang="zh-CN" sz="2800" dirty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dirty="0"/>
              <a:t>   temp=*p1;     </a:t>
            </a:r>
            <a:endParaRPr lang="zh-CN" altLang="zh-CN" sz="2800" dirty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dirty="0"/>
              <a:t>   *p1=*p2;</a:t>
            </a:r>
            <a:endParaRPr lang="zh-CN" altLang="zh-CN" sz="2800" dirty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dirty="0"/>
              <a:t>   *p2=temp;</a:t>
            </a:r>
            <a:endParaRPr lang="zh-CN" altLang="zh-CN" sz="2800" dirty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dirty="0"/>
              <a:t>}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endParaRPr lang="zh-CN" altLang="en-US" sz="2800" dirty="0"/>
          </a:p>
        </p:txBody>
      </p:sp>
      <p:sp>
        <p:nvSpPr>
          <p:cNvPr id="43010" name="矩形 17"/>
          <p:cNvSpPr>
            <a:spLocks noChangeArrowheads="1"/>
          </p:cNvSpPr>
          <p:nvPr/>
        </p:nvSpPr>
        <p:spPr bwMode="auto">
          <a:xfrm>
            <a:off x="5218113" y="4013200"/>
            <a:ext cx="714375" cy="7143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</a:ln>
        </p:spPr>
        <p:txBody>
          <a:bodyPr wrap="none"/>
          <a:lstStyle>
            <a:lvl1pPr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43011" name="矩形 18"/>
          <p:cNvSpPr>
            <a:spLocks noChangeArrowheads="1"/>
          </p:cNvSpPr>
          <p:nvPr/>
        </p:nvSpPr>
        <p:spPr bwMode="auto">
          <a:xfrm>
            <a:off x="8215313" y="4013200"/>
            <a:ext cx="714375" cy="7143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</a:ln>
        </p:spPr>
        <p:txBody>
          <a:bodyPr wrap="none"/>
          <a:lstStyle>
            <a:lvl1pPr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43012" name="矩形 19"/>
          <p:cNvSpPr>
            <a:spLocks noChangeArrowheads="1"/>
          </p:cNvSpPr>
          <p:nvPr/>
        </p:nvSpPr>
        <p:spPr bwMode="auto">
          <a:xfrm>
            <a:off x="3789363" y="4013200"/>
            <a:ext cx="714375" cy="7143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</a:ln>
        </p:spPr>
        <p:txBody>
          <a:bodyPr wrap="none"/>
          <a:lstStyle>
            <a:lvl1pPr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43013" name="矩形 20"/>
          <p:cNvSpPr>
            <a:spLocks noChangeArrowheads="1"/>
          </p:cNvSpPr>
          <p:nvPr/>
        </p:nvSpPr>
        <p:spPr bwMode="auto">
          <a:xfrm>
            <a:off x="6786563" y="4000500"/>
            <a:ext cx="714375" cy="7143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</a:ln>
        </p:spPr>
        <p:txBody>
          <a:bodyPr wrap="none"/>
          <a:lstStyle>
            <a:lvl1pPr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43014" name="TextBox 21"/>
          <p:cNvSpPr txBox="1">
            <a:spLocks noChangeArrowheads="1"/>
          </p:cNvSpPr>
          <p:nvPr/>
        </p:nvSpPr>
        <p:spPr bwMode="auto">
          <a:xfrm>
            <a:off x="5402263" y="3505200"/>
            <a:ext cx="50006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r>
              <a:rPr lang="en-US" altLang="zh-CN" sz="3200">
                <a:solidFill>
                  <a:srgbClr val="FF0000"/>
                </a:solidFill>
              </a:rPr>
              <a:t>a</a:t>
            </a:r>
            <a:endParaRPr lang="zh-CN" altLang="en-US" sz="3200">
              <a:solidFill>
                <a:srgbClr val="FF0000"/>
              </a:solidFill>
            </a:endParaRPr>
          </a:p>
        </p:txBody>
      </p:sp>
      <p:sp>
        <p:nvSpPr>
          <p:cNvPr id="43015" name="TextBox 22"/>
          <p:cNvSpPr txBox="1">
            <a:spLocks noChangeArrowheads="1"/>
          </p:cNvSpPr>
          <p:nvPr/>
        </p:nvSpPr>
        <p:spPr bwMode="auto">
          <a:xfrm>
            <a:off x="8286750" y="3416300"/>
            <a:ext cx="5000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r>
              <a:rPr lang="en-US" altLang="zh-CN" sz="3200">
                <a:solidFill>
                  <a:srgbClr val="FF0000"/>
                </a:solidFill>
              </a:rPr>
              <a:t>b</a:t>
            </a:r>
            <a:endParaRPr lang="zh-CN" altLang="en-US" sz="3200">
              <a:solidFill>
                <a:srgbClr val="FF0000"/>
              </a:solidFill>
            </a:endParaRPr>
          </a:p>
        </p:txBody>
      </p:sp>
      <p:sp>
        <p:nvSpPr>
          <p:cNvPr id="43016" name="TextBox 23"/>
          <p:cNvSpPr txBox="1">
            <a:spLocks noChangeArrowheads="1"/>
          </p:cNvSpPr>
          <p:nvPr/>
        </p:nvSpPr>
        <p:spPr bwMode="auto">
          <a:xfrm>
            <a:off x="3286125" y="3500438"/>
            <a:ext cx="18573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r>
              <a:rPr lang="en-US" altLang="zh-CN" sz="2800" b="1">
                <a:solidFill>
                  <a:srgbClr val="FF0000"/>
                </a:solidFill>
              </a:rPr>
              <a:t>pointer_1</a:t>
            </a:r>
            <a:endParaRPr lang="zh-CN" altLang="en-US" sz="2800" b="1">
              <a:solidFill>
                <a:srgbClr val="FF0000"/>
              </a:solidFill>
            </a:endParaRPr>
          </a:p>
        </p:txBody>
      </p:sp>
      <p:sp>
        <p:nvSpPr>
          <p:cNvPr id="43017" name="TextBox 24"/>
          <p:cNvSpPr txBox="1">
            <a:spLocks noChangeArrowheads="1"/>
          </p:cNvSpPr>
          <p:nvPr/>
        </p:nvSpPr>
        <p:spPr bwMode="auto">
          <a:xfrm>
            <a:off x="5360988" y="4084638"/>
            <a:ext cx="500062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r>
              <a:rPr lang="en-US" altLang="zh-CN" sz="3200" b="1">
                <a:solidFill>
                  <a:srgbClr val="0000CC"/>
                </a:solidFill>
              </a:rPr>
              <a:t>5</a:t>
            </a:r>
            <a:endParaRPr lang="zh-CN" altLang="en-US" sz="3200" b="1">
              <a:solidFill>
                <a:srgbClr val="0000CC"/>
              </a:solidFill>
            </a:endParaRPr>
          </a:p>
        </p:txBody>
      </p:sp>
      <p:sp>
        <p:nvSpPr>
          <p:cNvPr id="43018" name="TextBox 25"/>
          <p:cNvSpPr txBox="1">
            <a:spLocks noChangeArrowheads="1"/>
          </p:cNvSpPr>
          <p:nvPr/>
        </p:nvSpPr>
        <p:spPr bwMode="auto">
          <a:xfrm>
            <a:off x="8358188" y="4071938"/>
            <a:ext cx="50006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r>
              <a:rPr lang="en-US" altLang="zh-CN" sz="3200" b="1">
                <a:solidFill>
                  <a:srgbClr val="0000CC"/>
                </a:solidFill>
              </a:rPr>
              <a:t>9</a:t>
            </a:r>
            <a:endParaRPr lang="zh-CN" altLang="en-US" sz="3200" b="1">
              <a:solidFill>
                <a:srgbClr val="0000CC"/>
              </a:solidFill>
            </a:endParaRPr>
          </a:p>
        </p:txBody>
      </p:sp>
      <p:sp>
        <p:nvSpPr>
          <p:cNvPr id="43019" name="TextBox 26"/>
          <p:cNvSpPr txBox="1">
            <a:spLocks noChangeArrowheads="1"/>
          </p:cNvSpPr>
          <p:nvPr/>
        </p:nvSpPr>
        <p:spPr bwMode="auto">
          <a:xfrm>
            <a:off x="3773488" y="4060825"/>
            <a:ext cx="78581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algn="ctr"/>
            <a:r>
              <a:rPr lang="en-US" altLang="zh-CN" sz="3200" b="1">
                <a:solidFill>
                  <a:srgbClr val="0000CC"/>
                </a:solidFill>
              </a:rPr>
              <a:t>&amp;a</a:t>
            </a:r>
            <a:endParaRPr lang="zh-CN" altLang="en-US" sz="3200" b="1">
              <a:solidFill>
                <a:srgbClr val="0000CC"/>
              </a:solidFill>
            </a:endParaRPr>
          </a:p>
        </p:txBody>
      </p:sp>
      <p:sp>
        <p:nvSpPr>
          <p:cNvPr id="43020" name="TextBox 27"/>
          <p:cNvSpPr txBox="1">
            <a:spLocks noChangeArrowheads="1"/>
          </p:cNvSpPr>
          <p:nvPr/>
        </p:nvSpPr>
        <p:spPr bwMode="auto">
          <a:xfrm>
            <a:off x="6786563" y="4071938"/>
            <a:ext cx="78581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algn="ctr"/>
            <a:r>
              <a:rPr lang="en-US" altLang="zh-CN" sz="3200" b="1">
                <a:solidFill>
                  <a:srgbClr val="0000CC"/>
                </a:solidFill>
              </a:rPr>
              <a:t>&amp;b</a:t>
            </a:r>
            <a:endParaRPr lang="zh-CN" altLang="en-US" sz="3200" b="1">
              <a:solidFill>
                <a:srgbClr val="0000CC"/>
              </a:solidFill>
            </a:endParaRPr>
          </a:p>
        </p:txBody>
      </p:sp>
      <p:cxnSp>
        <p:nvCxnSpPr>
          <p:cNvPr id="43021" name="直接箭头连接符 28"/>
          <p:cNvCxnSpPr>
            <a:cxnSpLocks noChangeShapeType="1"/>
          </p:cNvCxnSpPr>
          <p:nvPr/>
        </p:nvCxnSpPr>
        <p:spPr bwMode="auto">
          <a:xfrm>
            <a:off x="7500938" y="4357688"/>
            <a:ext cx="714375" cy="1587"/>
          </a:xfrm>
          <a:prstGeom prst="straightConnector1">
            <a:avLst/>
          </a:prstGeom>
          <a:noFill/>
          <a:ln w="38100">
            <a:solidFill>
              <a:srgbClr val="FF0000"/>
            </a:solidFill>
            <a:miter lim="800000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022" name="直接箭头连接符 29"/>
          <p:cNvCxnSpPr>
            <a:cxnSpLocks noChangeShapeType="1"/>
          </p:cNvCxnSpPr>
          <p:nvPr/>
        </p:nvCxnSpPr>
        <p:spPr bwMode="auto">
          <a:xfrm>
            <a:off x="4500563" y="4357688"/>
            <a:ext cx="714375" cy="1587"/>
          </a:xfrm>
          <a:prstGeom prst="straightConnector1">
            <a:avLst/>
          </a:prstGeom>
          <a:noFill/>
          <a:ln w="38100">
            <a:solidFill>
              <a:srgbClr val="FF0000"/>
            </a:solidFill>
            <a:miter lim="800000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3023" name="TextBox 30"/>
          <p:cNvSpPr txBox="1">
            <a:spLocks noChangeArrowheads="1"/>
          </p:cNvSpPr>
          <p:nvPr/>
        </p:nvSpPr>
        <p:spPr bwMode="auto">
          <a:xfrm>
            <a:off x="6215063" y="3500438"/>
            <a:ext cx="18573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r>
              <a:rPr lang="en-US" altLang="zh-CN" sz="2800" b="1">
                <a:solidFill>
                  <a:srgbClr val="FF0000"/>
                </a:solidFill>
              </a:rPr>
              <a:t>pointer_2</a:t>
            </a:r>
            <a:endParaRPr lang="zh-CN" altLang="en-US" sz="2800" b="1">
              <a:solidFill>
                <a:srgbClr val="FF0000"/>
              </a:solidFill>
            </a:endParaRPr>
          </a:p>
        </p:txBody>
      </p:sp>
      <p:sp>
        <p:nvSpPr>
          <p:cNvPr id="32" name="矩形 31"/>
          <p:cNvSpPr>
            <a:spLocks noChangeArrowheads="1"/>
          </p:cNvSpPr>
          <p:nvPr/>
        </p:nvSpPr>
        <p:spPr bwMode="auto">
          <a:xfrm>
            <a:off x="5214938" y="5357813"/>
            <a:ext cx="714375" cy="7143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</a:ln>
        </p:spPr>
        <p:txBody>
          <a:bodyPr wrap="none"/>
          <a:lstStyle>
            <a:lvl1pPr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33" name="TextBox 32"/>
          <p:cNvSpPr txBox="1">
            <a:spLocks noChangeArrowheads="1"/>
          </p:cNvSpPr>
          <p:nvPr/>
        </p:nvSpPr>
        <p:spPr bwMode="auto">
          <a:xfrm>
            <a:off x="4572000" y="5429250"/>
            <a:ext cx="6429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r>
              <a:rPr lang="en-US" altLang="zh-CN" sz="2800" b="1">
                <a:solidFill>
                  <a:srgbClr val="FF0000"/>
                </a:solidFill>
              </a:rPr>
              <a:t>p1</a:t>
            </a:r>
            <a:endParaRPr lang="zh-CN" altLang="en-US" sz="2800" b="1">
              <a:solidFill>
                <a:srgbClr val="FF0000"/>
              </a:solidFill>
            </a:endParaRPr>
          </a:p>
        </p:txBody>
      </p:sp>
      <p:sp>
        <p:nvSpPr>
          <p:cNvPr id="34" name="TextBox 33"/>
          <p:cNvSpPr txBox="1">
            <a:spLocks noChangeArrowheads="1"/>
          </p:cNvSpPr>
          <p:nvPr/>
        </p:nvSpPr>
        <p:spPr bwMode="auto">
          <a:xfrm>
            <a:off x="5199063" y="5403850"/>
            <a:ext cx="785812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algn="ctr"/>
            <a:r>
              <a:rPr lang="en-US" altLang="zh-CN" sz="3200" b="1">
                <a:solidFill>
                  <a:srgbClr val="0000CC"/>
                </a:solidFill>
              </a:rPr>
              <a:t>&amp;a</a:t>
            </a:r>
            <a:endParaRPr lang="zh-CN" altLang="en-US" sz="3200" b="1">
              <a:solidFill>
                <a:srgbClr val="0000CC"/>
              </a:solidFill>
            </a:endParaRPr>
          </a:p>
        </p:txBody>
      </p:sp>
      <p:cxnSp>
        <p:nvCxnSpPr>
          <p:cNvPr id="35" name="直接箭头连接符 34"/>
          <p:cNvCxnSpPr>
            <a:cxnSpLocks noChangeShapeType="1"/>
            <a:stCxn id="32" idx="0"/>
            <a:endCxn id="43010" idx="2"/>
          </p:cNvCxnSpPr>
          <p:nvPr/>
        </p:nvCxnSpPr>
        <p:spPr bwMode="auto">
          <a:xfrm rot="5400000" flipH="1" flipV="1">
            <a:off x="5258594" y="5041106"/>
            <a:ext cx="630238" cy="3175"/>
          </a:xfrm>
          <a:prstGeom prst="straightConnector1">
            <a:avLst/>
          </a:prstGeom>
          <a:noFill/>
          <a:ln w="38100">
            <a:solidFill>
              <a:srgbClr val="FF0000"/>
            </a:solidFill>
            <a:miter lim="800000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8" name="矩形 37"/>
          <p:cNvSpPr>
            <a:spLocks noChangeArrowheads="1"/>
          </p:cNvSpPr>
          <p:nvPr/>
        </p:nvSpPr>
        <p:spPr bwMode="auto">
          <a:xfrm>
            <a:off x="8231188" y="5311775"/>
            <a:ext cx="714375" cy="7143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</a:ln>
        </p:spPr>
        <p:txBody>
          <a:bodyPr wrap="none"/>
          <a:lstStyle>
            <a:lvl1pPr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39" name="TextBox 38"/>
          <p:cNvSpPr txBox="1">
            <a:spLocks noChangeArrowheads="1"/>
          </p:cNvSpPr>
          <p:nvPr/>
        </p:nvSpPr>
        <p:spPr bwMode="auto">
          <a:xfrm>
            <a:off x="7588250" y="5383213"/>
            <a:ext cx="642938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r>
              <a:rPr lang="en-US" altLang="zh-CN" sz="2800" b="1">
                <a:solidFill>
                  <a:srgbClr val="FF0000"/>
                </a:solidFill>
              </a:rPr>
              <a:t>p2</a:t>
            </a:r>
            <a:endParaRPr lang="zh-CN" altLang="en-US" sz="2800" b="1">
              <a:solidFill>
                <a:srgbClr val="FF0000"/>
              </a:solidFill>
            </a:endParaRPr>
          </a:p>
        </p:txBody>
      </p:sp>
      <p:sp>
        <p:nvSpPr>
          <p:cNvPr id="40" name="TextBox 39"/>
          <p:cNvSpPr txBox="1">
            <a:spLocks noChangeArrowheads="1"/>
          </p:cNvSpPr>
          <p:nvPr/>
        </p:nvSpPr>
        <p:spPr bwMode="auto">
          <a:xfrm>
            <a:off x="8215313" y="5357813"/>
            <a:ext cx="78581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algn="ctr"/>
            <a:r>
              <a:rPr lang="en-US" altLang="zh-CN" sz="3200" b="1">
                <a:solidFill>
                  <a:srgbClr val="0000CC"/>
                </a:solidFill>
              </a:rPr>
              <a:t>&amp;b</a:t>
            </a:r>
            <a:endParaRPr lang="zh-CN" altLang="en-US" sz="3200" b="1">
              <a:solidFill>
                <a:srgbClr val="0000CC"/>
              </a:solidFill>
            </a:endParaRPr>
          </a:p>
        </p:txBody>
      </p:sp>
      <p:cxnSp>
        <p:nvCxnSpPr>
          <p:cNvPr id="41" name="直接箭头连接符 40"/>
          <p:cNvCxnSpPr>
            <a:cxnSpLocks noChangeShapeType="1"/>
          </p:cNvCxnSpPr>
          <p:nvPr/>
        </p:nvCxnSpPr>
        <p:spPr bwMode="auto">
          <a:xfrm rot="5400000" flipH="1" flipV="1">
            <a:off x="8275638" y="5006975"/>
            <a:ext cx="630237" cy="4763"/>
          </a:xfrm>
          <a:prstGeom prst="straightConnector1">
            <a:avLst/>
          </a:prstGeom>
          <a:noFill/>
          <a:ln w="38100">
            <a:solidFill>
              <a:srgbClr val="FF0000"/>
            </a:solidFill>
            <a:miter lim="800000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2" name="矩形 41"/>
          <p:cNvSpPr>
            <a:spLocks noChangeArrowheads="1"/>
          </p:cNvSpPr>
          <p:nvPr/>
        </p:nvSpPr>
        <p:spPr bwMode="auto">
          <a:xfrm>
            <a:off x="803417" y="1824202"/>
            <a:ext cx="2482708" cy="1639724"/>
          </a:xfrm>
          <a:prstGeom prst="rect">
            <a:avLst/>
          </a:prstGeom>
          <a:noFill/>
          <a:ln w="38100">
            <a:solidFill>
              <a:srgbClr val="9D138D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44" name="TextBox 43"/>
          <p:cNvSpPr txBox="1">
            <a:spLocks noChangeArrowheads="1"/>
          </p:cNvSpPr>
          <p:nvPr/>
        </p:nvSpPr>
        <p:spPr bwMode="auto">
          <a:xfrm>
            <a:off x="5311775" y="4084638"/>
            <a:ext cx="500063" cy="49212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algn="ctr"/>
            <a:r>
              <a:rPr lang="en-US" altLang="zh-CN" sz="3200" b="1">
                <a:solidFill>
                  <a:srgbClr val="9D138D"/>
                </a:solidFill>
              </a:rPr>
              <a:t>9</a:t>
            </a:r>
            <a:endParaRPr lang="zh-CN" altLang="en-US" sz="3200" b="1">
              <a:solidFill>
                <a:srgbClr val="9D138D"/>
              </a:solidFill>
            </a:endParaRPr>
          </a:p>
        </p:txBody>
      </p:sp>
      <p:sp>
        <p:nvSpPr>
          <p:cNvPr id="45" name="TextBox 44"/>
          <p:cNvSpPr txBox="1">
            <a:spLocks noChangeArrowheads="1"/>
          </p:cNvSpPr>
          <p:nvPr/>
        </p:nvSpPr>
        <p:spPr bwMode="auto">
          <a:xfrm>
            <a:off x="8312150" y="4117975"/>
            <a:ext cx="500063" cy="49212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algn="ctr"/>
            <a:r>
              <a:rPr lang="en-US" altLang="zh-CN" sz="3200" b="1">
                <a:solidFill>
                  <a:srgbClr val="9D138D"/>
                </a:solidFill>
              </a:rPr>
              <a:t>5</a:t>
            </a:r>
            <a:endParaRPr lang="zh-CN" altLang="en-US" sz="3200" b="1">
              <a:solidFill>
                <a:srgbClr val="9D138D"/>
              </a:solidFill>
            </a:endParaRPr>
          </a:p>
        </p:txBody>
      </p:sp>
      <p:sp>
        <p:nvSpPr>
          <p:cNvPr id="46" name="矩形 45"/>
          <p:cNvSpPr>
            <a:spLocks noChangeArrowheads="1"/>
          </p:cNvSpPr>
          <p:nvPr/>
        </p:nvSpPr>
        <p:spPr bwMode="auto">
          <a:xfrm>
            <a:off x="4500563" y="4740275"/>
            <a:ext cx="4500562" cy="15001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/>
          <a:lstStyle>
            <a:lvl1pPr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3" grpId="0"/>
      <p:bldP spid="34" grpId="0"/>
      <p:bldP spid="38" grpId="0" animBg="1"/>
      <p:bldP spid="42" grpId="0" animBg="1"/>
      <p:bldP spid="44" grpId="0" animBg="1"/>
      <p:bldP spid="45" grpId="0" animBg="1"/>
      <p:bldP spid="46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内容占位符 2"/>
          <p:cNvSpPr>
            <a:spLocks noGrp="1"/>
          </p:cNvSpPr>
          <p:nvPr>
            <p:ph idx="1"/>
          </p:nvPr>
        </p:nvSpPr>
        <p:spPr>
          <a:xfrm>
            <a:off x="539750" y="1000125"/>
            <a:ext cx="5818188" cy="3643313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800"/>
              <a:t>void swap(int *p1,int *p2) </a:t>
            </a:r>
            <a:endParaRPr lang="zh-CN" altLang="zh-CN" sz="2800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/>
              <a:t>{ int temp;</a:t>
            </a:r>
            <a:endParaRPr lang="zh-CN" altLang="zh-CN" sz="2800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/>
              <a:t>   temp=*p1;     </a:t>
            </a:r>
            <a:endParaRPr lang="zh-CN" altLang="zh-CN" sz="2800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/>
              <a:t>   *p1=*p2;</a:t>
            </a:r>
            <a:endParaRPr lang="zh-CN" altLang="zh-CN" sz="2800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/>
              <a:t>   *p2=temp;</a:t>
            </a:r>
            <a:endParaRPr lang="zh-CN" altLang="zh-CN" sz="2800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/>
              <a:t>}</a:t>
            </a:r>
            <a:endParaRPr lang="zh-CN" altLang="zh-CN" sz="280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endParaRPr lang="zh-CN" altLang="en-US" sz="2800"/>
          </a:p>
        </p:txBody>
      </p:sp>
      <p:sp>
        <p:nvSpPr>
          <p:cNvPr id="36" name="内容占位符 2"/>
          <p:cNvSpPr txBox="1"/>
          <p:nvPr/>
        </p:nvSpPr>
        <p:spPr bwMode="auto">
          <a:xfrm>
            <a:off x="3286125" y="3500438"/>
            <a:ext cx="5786438" cy="3143250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0" hangingPunct="0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2800" b="1">
                <a:latin typeface="Verdana" panose="020B0804030504040204" pitchFamily="34" charset="0"/>
              </a:rPr>
              <a:t>void swap(int *p1,int *p2) </a:t>
            </a:r>
            <a:endParaRPr lang="zh-CN" altLang="zh-CN" sz="2800" b="1">
              <a:latin typeface="Verdana" panose="020B0804030504040204" pitchFamily="34" charset="0"/>
            </a:endParaRPr>
          </a:p>
          <a:p>
            <a:pPr eaLnBrk="0" hangingPunct="0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2800" b="1">
                <a:latin typeface="Verdana" panose="020B0804030504040204" pitchFamily="34" charset="0"/>
              </a:rPr>
              <a:t>{ int </a:t>
            </a:r>
            <a:r>
              <a:rPr lang="en-US" altLang="zh-CN" sz="2800" b="1">
                <a:solidFill>
                  <a:srgbClr val="FF0000"/>
                </a:solidFill>
                <a:latin typeface="Verdana" panose="020B0804030504040204" pitchFamily="34" charset="0"/>
              </a:rPr>
              <a:t>*</a:t>
            </a:r>
            <a:r>
              <a:rPr lang="en-US" altLang="zh-CN" sz="2800" b="1">
                <a:latin typeface="Verdana" panose="020B0804030504040204" pitchFamily="34" charset="0"/>
              </a:rPr>
              <a:t>temp;</a:t>
            </a:r>
            <a:endParaRPr lang="zh-CN" altLang="zh-CN" sz="2800" b="1">
              <a:latin typeface="Verdana" panose="020B0804030504040204" pitchFamily="34" charset="0"/>
            </a:endParaRPr>
          </a:p>
          <a:p>
            <a:pPr eaLnBrk="0" hangingPunct="0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2800" b="1">
                <a:latin typeface="Verdana" panose="020B0804030504040204" pitchFamily="34" charset="0"/>
              </a:rPr>
              <a:t>   </a:t>
            </a:r>
            <a:r>
              <a:rPr lang="en-US" altLang="zh-CN" sz="2800" b="1">
                <a:solidFill>
                  <a:srgbClr val="FF0000"/>
                </a:solidFill>
                <a:latin typeface="Verdana" panose="020B0804030504040204" pitchFamily="34" charset="0"/>
              </a:rPr>
              <a:t>*</a:t>
            </a:r>
            <a:r>
              <a:rPr lang="en-US" altLang="zh-CN" sz="2800" b="1">
                <a:latin typeface="Verdana" panose="020B0804030504040204" pitchFamily="34" charset="0"/>
              </a:rPr>
              <a:t>temp=*p1;     </a:t>
            </a:r>
            <a:endParaRPr lang="zh-CN" altLang="zh-CN" sz="2800" b="1">
              <a:latin typeface="Verdana" panose="020B0804030504040204" pitchFamily="34" charset="0"/>
            </a:endParaRPr>
          </a:p>
          <a:p>
            <a:pPr eaLnBrk="0" hangingPunct="0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2800" b="1">
                <a:latin typeface="Verdana" panose="020B0804030504040204" pitchFamily="34" charset="0"/>
              </a:rPr>
              <a:t>   *p1=*p2;</a:t>
            </a:r>
            <a:endParaRPr lang="zh-CN" altLang="zh-CN" sz="2800" b="1">
              <a:latin typeface="Verdana" panose="020B0804030504040204" pitchFamily="34" charset="0"/>
            </a:endParaRPr>
          </a:p>
          <a:p>
            <a:pPr eaLnBrk="0" hangingPunct="0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2800" b="1">
                <a:latin typeface="Verdana" panose="020B0804030504040204" pitchFamily="34" charset="0"/>
              </a:rPr>
              <a:t>   *p2=</a:t>
            </a:r>
            <a:r>
              <a:rPr lang="en-US" altLang="zh-CN" sz="2800" b="1">
                <a:solidFill>
                  <a:srgbClr val="FF0000"/>
                </a:solidFill>
                <a:latin typeface="Verdana" panose="020B0804030504040204" pitchFamily="34" charset="0"/>
              </a:rPr>
              <a:t>*</a:t>
            </a:r>
            <a:r>
              <a:rPr lang="en-US" altLang="zh-CN" sz="2800" b="1">
                <a:latin typeface="Verdana" panose="020B0804030504040204" pitchFamily="34" charset="0"/>
              </a:rPr>
              <a:t>temp;</a:t>
            </a:r>
            <a:endParaRPr lang="zh-CN" altLang="zh-CN" sz="2800" b="1">
              <a:latin typeface="Verdana" panose="020B0804030504040204" pitchFamily="34" charset="0"/>
            </a:endParaRPr>
          </a:p>
          <a:p>
            <a:pPr eaLnBrk="0" hangingPunct="0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2800" b="1">
                <a:latin typeface="Verdana" panose="020B0804030504040204" pitchFamily="34" charset="0"/>
              </a:rPr>
              <a:t>}</a:t>
            </a:r>
            <a:endParaRPr lang="zh-CN" altLang="zh-CN" sz="2800" b="1">
              <a:latin typeface="Verdana" panose="020B0804030504040204" pitchFamily="34" charset="0"/>
            </a:endParaRPr>
          </a:p>
          <a:p>
            <a:pPr eaLnBrk="0" hangingPunct="0">
              <a:spcBef>
                <a:spcPct val="20000"/>
              </a:spcBef>
              <a:buFont typeface="Wingdings" panose="05000000000000000000" pitchFamily="2" charset="2"/>
              <a:buNone/>
            </a:pPr>
            <a:endParaRPr lang="zh-CN" altLang="en-US" sz="2800" b="1">
              <a:latin typeface="Verdana" panose="020B0804030504040204" pitchFamily="34" charset="0"/>
            </a:endParaRPr>
          </a:p>
        </p:txBody>
      </p:sp>
      <p:sp>
        <p:nvSpPr>
          <p:cNvPr id="37" name="圆角矩形标注 36"/>
          <p:cNvSpPr>
            <a:spLocks noChangeArrowheads="1"/>
          </p:cNvSpPr>
          <p:nvPr/>
        </p:nvSpPr>
        <p:spPr bwMode="auto">
          <a:xfrm>
            <a:off x="285750" y="4643438"/>
            <a:ext cx="2571750" cy="1143000"/>
          </a:xfrm>
          <a:prstGeom prst="wedgeRoundRectCallout">
            <a:avLst>
              <a:gd name="adj1" fmla="val 79245"/>
              <a:gd name="adj2" fmla="val -35065"/>
              <a:gd name="adj3" fmla="val 16667"/>
            </a:avLst>
          </a:prstGeom>
          <a:solidFill>
            <a:srgbClr val="FFFFCC"/>
          </a:solidFill>
          <a:ln w="9525">
            <a:solidFill>
              <a:schemeClr val="tx1"/>
            </a:solidFill>
            <a:miter lim="800000"/>
          </a:ln>
        </p:spPr>
        <p:txBody>
          <a:bodyPr/>
          <a:lstStyle>
            <a:lvl1pPr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algn="ctr"/>
            <a:r>
              <a:rPr lang="zh-CN" altLang="en-US" sz="2800" b="1">
                <a:solidFill>
                  <a:srgbClr val="FF0000"/>
                </a:solidFill>
              </a:rPr>
              <a:t>错！！！</a:t>
            </a:r>
            <a:endParaRPr lang="en-US" altLang="zh-CN" sz="2800" b="1">
              <a:solidFill>
                <a:srgbClr val="FF0000"/>
              </a:solidFill>
            </a:endParaRPr>
          </a:p>
          <a:p>
            <a:pPr algn="ctr"/>
            <a:r>
              <a:rPr lang="zh-CN" altLang="en-US" sz="2800" b="1">
                <a:solidFill>
                  <a:srgbClr val="0000CC"/>
                </a:solidFill>
              </a:rPr>
              <a:t>无确定的指向</a:t>
            </a:r>
            <a:endParaRPr lang="zh-CN" altLang="en-US" sz="2800" b="1">
              <a:solidFill>
                <a:srgbClr val="0000CC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7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内容占位符 2"/>
          <p:cNvSpPr>
            <a:spLocks noGrp="1"/>
          </p:cNvSpPr>
          <p:nvPr>
            <p:ph idx="1"/>
          </p:nvPr>
        </p:nvSpPr>
        <p:spPr>
          <a:xfrm>
            <a:off x="539750" y="1000125"/>
            <a:ext cx="5818188" cy="3643313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800"/>
              <a:t>void swap(int *p1,int *p2) </a:t>
            </a:r>
            <a:endParaRPr lang="zh-CN" altLang="zh-CN" sz="2800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/>
              <a:t>{ int temp;</a:t>
            </a:r>
            <a:endParaRPr lang="zh-CN" altLang="zh-CN" sz="2800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/>
              <a:t>   temp=*p1;     </a:t>
            </a:r>
            <a:endParaRPr lang="zh-CN" altLang="zh-CN" sz="2800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/>
              <a:t>   *p1=*p2;</a:t>
            </a:r>
            <a:endParaRPr lang="zh-CN" altLang="zh-CN" sz="2800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/>
              <a:t>   *p2=temp;</a:t>
            </a:r>
            <a:endParaRPr lang="zh-CN" altLang="zh-CN" sz="2800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/>
              <a:t>}</a:t>
            </a:r>
            <a:endParaRPr lang="zh-CN" altLang="zh-CN" sz="280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endParaRPr lang="zh-CN" altLang="en-US" sz="2800"/>
          </a:p>
        </p:txBody>
      </p:sp>
      <p:sp>
        <p:nvSpPr>
          <p:cNvPr id="36" name="内容占位符 2"/>
          <p:cNvSpPr txBox="1"/>
          <p:nvPr/>
        </p:nvSpPr>
        <p:spPr bwMode="auto">
          <a:xfrm>
            <a:off x="3286125" y="3500438"/>
            <a:ext cx="5786438" cy="3143250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0" hangingPunct="0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Verdana" panose="020B0804030504040204" pitchFamily="34" charset="0"/>
              </a:rPr>
              <a:t>void swap(int p1,int p2) </a:t>
            </a:r>
            <a:endParaRPr lang="zh-CN" altLang="zh-CN" sz="2800" b="1" dirty="0">
              <a:latin typeface="Verdana" panose="020B0804030504040204" pitchFamily="34" charset="0"/>
            </a:endParaRPr>
          </a:p>
          <a:p>
            <a:pPr eaLnBrk="0" hangingPunct="0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Verdana" panose="020B0804030504040204" pitchFamily="34" charset="0"/>
              </a:rPr>
              <a:t>{ int temp;</a:t>
            </a:r>
            <a:endParaRPr lang="zh-CN" altLang="zh-CN" sz="2800" b="1" dirty="0">
              <a:latin typeface="Verdana" panose="020B0804030504040204" pitchFamily="34" charset="0"/>
            </a:endParaRPr>
          </a:p>
          <a:p>
            <a:pPr eaLnBrk="0" hangingPunct="0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Verdana" panose="020B0804030504040204" pitchFamily="34" charset="0"/>
              </a:rPr>
              <a:t>   temp=p1;     </a:t>
            </a:r>
            <a:endParaRPr lang="zh-CN" altLang="zh-CN" sz="2800" b="1" dirty="0">
              <a:latin typeface="Verdana" panose="020B0804030504040204" pitchFamily="34" charset="0"/>
            </a:endParaRPr>
          </a:p>
          <a:p>
            <a:pPr eaLnBrk="0" hangingPunct="0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Verdana" panose="020B0804030504040204" pitchFamily="34" charset="0"/>
              </a:rPr>
              <a:t>   p1=p2;</a:t>
            </a:r>
            <a:endParaRPr lang="zh-CN" altLang="zh-CN" sz="2800" b="1" dirty="0">
              <a:latin typeface="Verdana" panose="020B0804030504040204" pitchFamily="34" charset="0"/>
            </a:endParaRPr>
          </a:p>
          <a:p>
            <a:pPr eaLnBrk="0" hangingPunct="0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Verdana" panose="020B0804030504040204" pitchFamily="34" charset="0"/>
              </a:rPr>
              <a:t>   p2=temp;</a:t>
            </a:r>
            <a:endParaRPr lang="zh-CN" altLang="zh-CN" sz="2800" b="1" dirty="0">
              <a:latin typeface="Verdana" panose="020B0804030504040204" pitchFamily="34" charset="0"/>
            </a:endParaRPr>
          </a:p>
          <a:p>
            <a:pPr eaLnBrk="0" hangingPunct="0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Verdana" panose="020B0804030504040204" pitchFamily="34" charset="0"/>
              </a:rPr>
              <a:t>}</a:t>
            </a:r>
            <a:endParaRPr lang="zh-CN" altLang="zh-CN" sz="2800" b="1" dirty="0">
              <a:latin typeface="Verdana" panose="020B0804030504040204" pitchFamily="34" charset="0"/>
            </a:endParaRPr>
          </a:p>
          <a:p>
            <a:pPr eaLnBrk="0" hangingPunct="0">
              <a:spcBef>
                <a:spcPct val="20000"/>
              </a:spcBef>
              <a:buFont typeface="Wingdings" panose="05000000000000000000" pitchFamily="2" charset="2"/>
              <a:buNone/>
            </a:pPr>
            <a:endParaRPr lang="zh-CN" altLang="en-US" sz="2800" b="1" dirty="0">
              <a:latin typeface="Verdana" panose="020B0804030504040204" pitchFamily="34" charset="0"/>
            </a:endParaRPr>
          </a:p>
        </p:txBody>
      </p:sp>
      <p:sp>
        <p:nvSpPr>
          <p:cNvPr id="37" name="圆角矩形标注 36"/>
          <p:cNvSpPr>
            <a:spLocks noChangeArrowheads="1"/>
          </p:cNvSpPr>
          <p:nvPr/>
        </p:nvSpPr>
        <p:spPr bwMode="auto">
          <a:xfrm>
            <a:off x="222687" y="4643438"/>
            <a:ext cx="2571750" cy="1143000"/>
          </a:xfrm>
          <a:prstGeom prst="wedgeRoundRectCallout">
            <a:avLst>
              <a:gd name="adj1" fmla="val 79245"/>
              <a:gd name="adj2" fmla="val -35065"/>
              <a:gd name="adj3" fmla="val 16667"/>
            </a:avLst>
          </a:prstGeom>
          <a:solidFill>
            <a:srgbClr val="FFFFCC"/>
          </a:solidFill>
          <a:ln w="9525">
            <a:solidFill>
              <a:schemeClr val="tx1"/>
            </a:solidFill>
            <a:miter lim="800000"/>
          </a:ln>
        </p:spPr>
        <p:txBody>
          <a:bodyPr/>
          <a:lstStyle>
            <a:lvl1pPr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algn="ctr"/>
            <a:r>
              <a:rPr lang="zh-CN" altLang="en-US" sz="2800" b="1" dirty="0">
                <a:solidFill>
                  <a:srgbClr val="FF0000"/>
                </a:solidFill>
              </a:rPr>
              <a:t>对比</a:t>
            </a:r>
            <a:endParaRPr lang="zh-CN" altLang="en-US" sz="2800" b="1" dirty="0">
              <a:solidFill>
                <a:srgbClr val="0000CC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7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30946" y="294663"/>
            <a:ext cx="8280000" cy="683692"/>
          </a:xfrm>
        </p:spPr>
        <p:txBody>
          <a:bodyPr>
            <a:normAutofit/>
          </a:bodyPr>
          <a:lstStyle/>
          <a:p>
            <a:r>
              <a:rPr lang="zh-CN" altLang="en-US" sz="3200" dirty="0"/>
              <a:t>例</a:t>
            </a:r>
            <a:r>
              <a:rPr lang="en-US" altLang="zh-CN" sz="3200" dirty="0"/>
              <a:t>13-12 </a:t>
            </a:r>
            <a:r>
              <a:rPr lang="zh-CN" altLang="en-US" sz="3200" dirty="0"/>
              <a:t>参数传递方式的比较</a:t>
            </a:r>
            <a:endParaRPr lang="en-US" sz="3200" dirty="0"/>
          </a:p>
        </p:txBody>
      </p:sp>
      <p:sp>
        <p:nvSpPr>
          <p:cNvPr id="5" name="矩形 4"/>
          <p:cNvSpPr/>
          <p:nvPr/>
        </p:nvSpPr>
        <p:spPr>
          <a:xfrm>
            <a:off x="130946" y="1021555"/>
            <a:ext cx="4654118" cy="544764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传地址（指针），修改指针所指地址的内容</a:t>
            </a:r>
            <a:endParaRPr lang="zh-CN" alt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swap1(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xx,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yy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temp;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temp = *xx;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*xx = *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yy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*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yy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 temp;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"In swap1: *xx="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&lt;&lt;*xx&lt;&lt;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 *</a:t>
            </a:r>
            <a:r>
              <a:rPr lang="en-US" sz="1200" dirty="0" err="1">
                <a:solidFill>
                  <a:srgbClr val="A31515"/>
                </a:solidFill>
                <a:latin typeface="Consolas" panose="020B0609020204030204" pitchFamily="49" charset="0"/>
              </a:rPr>
              <a:t>yy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="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&lt;&lt;*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yy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&lt;&lt;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传值</a:t>
            </a:r>
            <a:endParaRPr lang="zh-CN" alt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swap2(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xx,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yy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temp;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temp = xx;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xx =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yy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yy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 temp;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"In swap2: xx="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&lt;&lt;xx&lt;&lt;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 </a:t>
            </a:r>
            <a:r>
              <a:rPr lang="en-US" sz="1200" dirty="0" err="1">
                <a:solidFill>
                  <a:srgbClr val="A31515"/>
                </a:solidFill>
                <a:latin typeface="Consolas" panose="020B0609020204030204" pitchFamily="49" charset="0"/>
              </a:rPr>
              <a:t>yy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="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yy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&lt;&lt;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传地址（指针），修改指针本身</a:t>
            </a:r>
            <a:endParaRPr lang="zh-CN" alt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swap3(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xx,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yy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*p;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p = xx;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xx =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yy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yy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 p;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"In swap3: *xx="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&lt;&lt;*xx&lt;&lt;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 *</a:t>
            </a:r>
            <a:r>
              <a:rPr lang="en-US" sz="1200" dirty="0" err="1">
                <a:solidFill>
                  <a:srgbClr val="A31515"/>
                </a:solidFill>
                <a:latin typeface="Consolas" panose="020B0609020204030204" pitchFamily="49" charset="0"/>
              </a:rPr>
              <a:t>yy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="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&lt;&lt;*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yy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&lt;&lt;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785064" y="1021555"/>
            <a:ext cx="4174724" cy="433965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main()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          // 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主函数</a:t>
            </a:r>
            <a:endParaRPr lang="zh-CN" alt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x =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100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 y =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200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  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"After swap1(&amp;</a:t>
            </a:r>
            <a:r>
              <a:rPr lang="en-US" sz="1200" dirty="0" err="1">
                <a:solidFill>
                  <a:srgbClr val="A31515"/>
                </a:solidFill>
                <a:latin typeface="Consolas" panose="020B0609020204030204" pitchFamily="49" charset="0"/>
              </a:rPr>
              <a:t>x,&amp;y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)"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swap1(&amp;x, &amp;y);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  // 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传地址（传址）</a:t>
            </a:r>
            <a:endParaRPr lang="zh-CN" alt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"In main: x="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&lt;&lt;x&lt;&lt;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 y="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&lt;&lt;y&lt;&lt;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x=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100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 y=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200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"After swap2(</a:t>
            </a:r>
            <a:r>
              <a:rPr lang="en-US" sz="1200" dirty="0" err="1">
                <a:solidFill>
                  <a:srgbClr val="A31515"/>
                </a:solidFill>
                <a:latin typeface="Consolas" panose="020B0609020204030204" pitchFamily="49" charset="0"/>
              </a:rPr>
              <a:t>x,y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):"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swap2(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x,y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         // 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传值</a:t>
            </a:r>
            <a:endParaRPr lang="zh-CN" alt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"In main: x="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&lt;&lt;x&lt;&lt;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 y="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&lt;&lt;y&lt;&lt;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x=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100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 y=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200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"After swap3(&amp;</a:t>
            </a:r>
            <a:r>
              <a:rPr lang="en-US" sz="1200" dirty="0" err="1">
                <a:solidFill>
                  <a:srgbClr val="A31515"/>
                </a:solidFill>
                <a:latin typeface="Consolas" panose="020B0609020204030204" pitchFamily="49" charset="0"/>
              </a:rPr>
              <a:t>x,&amp;y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):"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swap3(&amp;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x,&amp;y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       //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传址</a:t>
            </a:r>
            <a:endParaRPr lang="zh-CN" alt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"In main: x="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&lt;&lt;x&lt;&lt;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 y="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&lt;&lt;y&lt;&lt;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5225360" y="4734342"/>
            <a:ext cx="3734428" cy="2123658"/>
            <a:chOff x="5225360" y="4734342"/>
            <a:chExt cx="3734428" cy="2123658"/>
          </a:xfrm>
        </p:grpSpPr>
        <p:sp>
          <p:nvSpPr>
            <p:cNvPr id="8" name="矩形 7"/>
            <p:cNvSpPr/>
            <p:nvPr/>
          </p:nvSpPr>
          <p:spPr>
            <a:xfrm>
              <a:off x="6296487" y="4734342"/>
              <a:ext cx="2663301" cy="212365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lang="en-US" sz="1200" dirty="0"/>
                <a:t>After swap1(&amp;</a:t>
              </a:r>
              <a:r>
                <a:rPr lang="en-US" sz="1200" dirty="0" err="1"/>
                <a:t>x,&amp;y</a:t>
              </a:r>
              <a:r>
                <a:rPr lang="en-US" sz="1200" dirty="0"/>
                <a:t>)</a:t>
              </a:r>
              <a:endParaRPr lang="en-US" sz="1200" dirty="0"/>
            </a:p>
            <a:p>
              <a:r>
                <a:rPr lang="en-US" sz="1200" dirty="0"/>
                <a:t>In swap1: *xx=200 *</a:t>
              </a:r>
              <a:r>
                <a:rPr lang="en-US" sz="1200" dirty="0" err="1"/>
                <a:t>yy</a:t>
              </a:r>
              <a:r>
                <a:rPr lang="en-US" sz="1200" dirty="0"/>
                <a:t>=100</a:t>
              </a:r>
              <a:endParaRPr lang="en-US" sz="1200" dirty="0"/>
            </a:p>
            <a:p>
              <a:r>
                <a:rPr lang="en-US" sz="1200" dirty="0"/>
                <a:t>In main: x=200 y=100</a:t>
              </a:r>
              <a:endParaRPr lang="en-US" sz="1200" dirty="0"/>
            </a:p>
            <a:p>
              <a:endParaRPr lang="en-US" sz="1200" dirty="0"/>
            </a:p>
            <a:p>
              <a:r>
                <a:rPr lang="en-US" sz="1200" dirty="0"/>
                <a:t>After swap2(</a:t>
              </a:r>
              <a:r>
                <a:rPr lang="en-US" sz="1200" dirty="0" err="1"/>
                <a:t>x,y</a:t>
              </a:r>
              <a:r>
                <a:rPr lang="en-US" sz="1200" dirty="0"/>
                <a:t>):</a:t>
              </a:r>
              <a:endParaRPr lang="en-US" sz="1200" dirty="0"/>
            </a:p>
            <a:p>
              <a:r>
                <a:rPr lang="en-US" sz="1200" dirty="0"/>
                <a:t>In swap2: xx=200 </a:t>
              </a:r>
              <a:r>
                <a:rPr lang="en-US" sz="1200" dirty="0" err="1"/>
                <a:t>yy</a:t>
              </a:r>
              <a:r>
                <a:rPr lang="en-US" sz="1200" dirty="0"/>
                <a:t>=100</a:t>
              </a:r>
              <a:endParaRPr lang="en-US" sz="1200" dirty="0"/>
            </a:p>
            <a:p>
              <a:r>
                <a:rPr lang="en-US" sz="1200" dirty="0"/>
                <a:t>In main: x=100 y=200</a:t>
              </a:r>
              <a:endParaRPr lang="en-US" sz="1200" dirty="0"/>
            </a:p>
            <a:p>
              <a:endParaRPr lang="en-US" sz="1200" dirty="0"/>
            </a:p>
            <a:p>
              <a:r>
                <a:rPr lang="en-US" sz="1200" dirty="0"/>
                <a:t>After swap3(&amp;</a:t>
              </a:r>
              <a:r>
                <a:rPr lang="en-US" sz="1200" dirty="0" err="1"/>
                <a:t>x,&amp;y</a:t>
              </a:r>
              <a:r>
                <a:rPr lang="en-US" sz="1200" dirty="0"/>
                <a:t>):</a:t>
              </a:r>
              <a:endParaRPr lang="en-US" sz="1200" dirty="0"/>
            </a:p>
            <a:p>
              <a:r>
                <a:rPr lang="en-US" sz="1200" dirty="0"/>
                <a:t>In swap3: *xx=200 *</a:t>
              </a:r>
              <a:r>
                <a:rPr lang="en-US" sz="1200" dirty="0" err="1"/>
                <a:t>yy</a:t>
              </a:r>
              <a:r>
                <a:rPr lang="en-US" sz="1200" dirty="0"/>
                <a:t>=100</a:t>
              </a:r>
              <a:endParaRPr lang="en-US" sz="1200" dirty="0"/>
            </a:p>
            <a:p>
              <a:r>
                <a:rPr lang="en-US" sz="1200" dirty="0"/>
                <a:t>In main: x=100 y=200</a:t>
              </a:r>
              <a:endParaRPr lang="en-US" sz="1200" dirty="0"/>
            </a:p>
          </p:txBody>
        </p:sp>
        <p:sp>
          <p:nvSpPr>
            <p:cNvPr id="9" name="矩形 8"/>
            <p:cNvSpPr/>
            <p:nvPr/>
          </p:nvSpPr>
          <p:spPr>
            <a:xfrm>
              <a:off x="5225360" y="5542145"/>
              <a:ext cx="1071127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14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运行结果：</a:t>
              </a:r>
              <a:endParaRPr lang="en-US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47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233954"/>
            <a:ext cx="7772400" cy="6245629"/>
          </a:xfrm>
          <a:ln>
            <a:solidFill>
              <a:schemeClr val="bg2"/>
            </a:solidFill>
          </a:ln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dirty="0"/>
              <a:t>第一种方式：</a:t>
            </a:r>
            <a:endParaRPr lang="en-US" altLang="zh-CN" sz="24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	</a:t>
            </a:r>
            <a:r>
              <a:rPr lang="zh-CN" altLang="en-US" sz="2400" dirty="0"/>
              <a:t>传地址（指针），修改指针所指地址的内容</a:t>
            </a:r>
            <a:endParaRPr lang="zh-CN" altLang="en-US" sz="24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dirty="0"/>
              <a:t>  </a:t>
            </a:r>
            <a:r>
              <a:rPr lang="en-US" altLang="zh-CN" sz="2400" dirty="0"/>
              <a:t>x=100;y=200;</a:t>
            </a:r>
            <a:endParaRPr lang="en-US" altLang="zh-CN" sz="24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   </a:t>
            </a:r>
            <a:r>
              <a:rPr lang="zh-CN" altLang="en-US" sz="2400" dirty="0"/>
              <a:t>主函数</a:t>
            </a:r>
            <a:r>
              <a:rPr lang="en-US" altLang="zh-CN" sz="2400" dirty="0"/>
              <a:t>:   swap1( &amp;x, &amp;y );</a:t>
            </a:r>
            <a:endParaRPr lang="en-US" altLang="zh-CN" sz="24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   </a:t>
            </a:r>
            <a:r>
              <a:rPr lang="zh-CN" altLang="en-US" sz="2400" dirty="0"/>
              <a:t>子函数</a:t>
            </a:r>
            <a:r>
              <a:rPr lang="en-US" altLang="zh-CN" sz="2400" dirty="0"/>
              <a:t>:  swap1( int*p, int *q );</a:t>
            </a:r>
            <a:endParaRPr lang="en-US" altLang="zh-CN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    p                   x                temp</a:t>
            </a:r>
            <a:endParaRPr lang="en-US" altLang="zh-CN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      &amp;x             100       </a:t>
            </a:r>
            <a:endParaRPr lang="en-US" altLang="zh-CN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 </a:t>
            </a:r>
            <a:endParaRPr lang="en-US" altLang="zh-CN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    q                   y        </a:t>
            </a:r>
            <a:endParaRPr lang="en-US" altLang="zh-CN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      &amp;y              200</a:t>
            </a:r>
            <a:endParaRPr lang="en-US" altLang="zh-CN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                                         *q          *p</a:t>
            </a:r>
            <a:endParaRPr lang="en-US" altLang="zh-CN" dirty="0"/>
          </a:p>
        </p:txBody>
      </p:sp>
      <p:sp>
        <p:nvSpPr>
          <p:cNvPr id="617475" name="Rectangle 3"/>
          <p:cNvSpPr>
            <a:spLocks noChangeArrowheads="1"/>
          </p:cNvSpPr>
          <p:nvPr/>
        </p:nvSpPr>
        <p:spPr bwMode="auto">
          <a:xfrm>
            <a:off x="1187450" y="3068638"/>
            <a:ext cx="1008063" cy="576262"/>
          </a:xfrm>
          <a:prstGeom prst="rect">
            <a:avLst/>
          </a:prstGeom>
          <a:noFill/>
          <a:ln w="57150" cap="sq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itchFamily="2" charset="-122"/>
              <a:cs typeface="+mn-cs"/>
            </a:endParaRPr>
          </a:p>
        </p:txBody>
      </p:sp>
      <p:sp>
        <p:nvSpPr>
          <p:cNvPr id="617476" name="Rectangle 4"/>
          <p:cNvSpPr>
            <a:spLocks noChangeArrowheads="1"/>
          </p:cNvSpPr>
          <p:nvPr/>
        </p:nvSpPr>
        <p:spPr bwMode="auto">
          <a:xfrm>
            <a:off x="3132138" y="3068638"/>
            <a:ext cx="1079500" cy="576262"/>
          </a:xfrm>
          <a:prstGeom prst="rect">
            <a:avLst/>
          </a:prstGeom>
          <a:noFill/>
          <a:ln w="57150" cap="sq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itchFamily="2" charset="-122"/>
              <a:cs typeface="+mn-cs"/>
            </a:endParaRPr>
          </a:p>
        </p:txBody>
      </p:sp>
      <p:sp>
        <p:nvSpPr>
          <p:cNvPr id="617477" name="Rectangle 5"/>
          <p:cNvSpPr>
            <a:spLocks noChangeArrowheads="1"/>
          </p:cNvSpPr>
          <p:nvPr/>
        </p:nvSpPr>
        <p:spPr bwMode="auto">
          <a:xfrm>
            <a:off x="5148263" y="3068638"/>
            <a:ext cx="1152525" cy="576262"/>
          </a:xfrm>
          <a:prstGeom prst="rect">
            <a:avLst/>
          </a:prstGeom>
          <a:noFill/>
          <a:ln w="57150" cap="sq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itchFamily="2" charset="-122"/>
              <a:cs typeface="+mn-cs"/>
            </a:endParaRPr>
          </a:p>
        </p:txBody>
      </p:sp>
      <p:sp>
        <p:nvSpPr>
          <p:cNvPr id="617478" name="Rectangle 6"/>
          <p:cNvSpPr>
            <a:spLocks noChangeArrowheads="1"/>
          </p:cNvSpPr>
          <p:nvPr/>
        </p:nvSpPr>
        <p:spPr bwMode="auto">
          <a:xfrm>
            <a:off x="1154200" y="4420209"/>
            <a:ext cx="1008063" cy="576262"/>
          </a:xfrm>
          <a:prstGeom prst="rect">
            <a:avLst/>
          </a:prstGeom>
          <a:noFill/>
          <a:ln w="57150" cap="sq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itchFamily="2" charset="-122"/>
              <a:cs typeface="+mn-cs"/>
            </a:endParaRPr>
          </a:p>
        </p:txBody>
      </p:sp>
      <p:sp>
        <p:nvSpPr>
          <p:cNvPr id="617479" name="Rectangle 7"/>
          <p:cNvSpPr>
            <a:spLocks noChangeArrowheads="1"/>
          </p:cNvSpPr>
          <p:nvPr/>
        </p:nvSpPr>
        <p:spPr bwMode="auto">
          <a:xfrm>
            <a:off x="3098888" y="4420209"/>
            <a:ext cx="1079500" cy="576262"/>
          </a:xfrm>
          <a:prstGeom prst="rect">
            <a:avLst/>
          </a:prstGeom>
          <a:noFill/>
          <a:ln w="57150" cap="sq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itchFamily="2" charset="-122"/>
              <a:cs typeface="+mn-cs"/>
            </a:endParaRPr>
          </a:p>
        </p:txBody>
      </p:sp>
      <p:sp>
        <p:nvSpPr>
          <p:cNvPr id="617480" name="Line 8"/>
          <p:cNvSpPr>
            <a:spLocks noChangeShapeType="1"/>
          </p:cNvSpPr>
          <p:nvPr/>
        </p:nvSpPr>
        <p:spPr bwMode="auto">
          <a:xfrm>
            <a:off x="2051050" y="3357563"/>
            <a:ext cx="1081088" cy="0"/>
          </a:xfrm>
          <a:prstGeom prst="line">
            <a:avLst/>
          </a:prstGeom>
          <a:noFill/>
          <a:ln w="76200" cap="sq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itchFamily="2" charset="-122"/>
              <a:cs typeface="+mn-cs"/>
            </a:endParaRPr>
          </a:p>
        </p:txBody>
      </p:sp>
      <p:sp>
        <p:nvSpPr>
          <p:cNvPr id="617481" name="Line 9"/>
          <p:cNvSpPr>
            <a:spLocks noChangeShapeType="1"/>
          </p:cNvSpPr>
          <p:nvPr/>
        </p:nvSpPr>
        <p:spPr bwMode="auto">
          <a:xfrm>
            <a:off x="2017800" y="4709134"/>
            <a:ext cx="1081088" cy="0"/>
          </a:xfrm>
          <a:prstGeom prst="line">
            <a:avLst/>
          </a:prstGeom>
          <a:noFill/>
          <a:ln w="76200" cap="sq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itchFamily="2" charset="-122"/>
              <a:cs typeface="+mn-cs"/>
            </a:endParaRPr>
          </a:p>
        </p:txBody>
      </p:sp>
      <p:sp>
        <p:nvSpPr>
          <p:cNvPr id="617482" name="Line 10"/>
          <p:cNvSpPr>
            <a:spLocks noChangeShapeType="1"/>
          </p:cNvSpPr>
          <p:nvPr/>
        </p:nvSpPr>
        <p:spPr bwMode="auto">
          <a:xfrm>
            <a:off x="3995738" y="3357563"/>
            <a:ext cx="1584325" cy="0"/>
          </a:xfrm>
          <a:prstGeom prst="line">
            <a:avLst/>
          </a:prstGeom>
          <a:noFill/>
          <a:ln w="76200" cap="sq">
            <a:solidFill>
              <a:schemeClr val="hlink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itchFamily="2" charset="-122"/>
              <a:cs typeface="+mn-cs"/>
            </a:endParaRPr>
          </a:p>
        </p:txBody>
      </p:sp>
      <p:sp>
        <p:nvSpPr>
          <p:cNvPr id="617483" name="Line 11"/>
          <p:cNvSpPr>
            <a:spLocks noChangeShapeType="1"/>
          </p:cNvSpPr>
          <p:nvPr/>
        </p:nvSpPr>
        <p:spPr bwMode="auto">
          <a:xfrm flipH="1" flipV="1">
            <a:off x="3957549" y="3428998"/>
            <a:ext cx="0" cy="955490"/>
          </a:xfrm>
          <a:prstGeom prst="line">
            <a:avLst/>
          </a:prstGeom>
          <a:noFill/>
          <a:ln w="76200" cap="sq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itchFamily="2" charset="-122"/>
              <a:cs typeface="+mn-cs"/>
            </a:endParaRPr>
          </a:p>
        </p:txBody>
      </p:sp>
      <p:sp>
        <p:nvSpPr>
          <p:cNvPr id="617484" name="Line 12"/>
          <p:cNvSpPr>
            <a:spLocks noChangeShapeType="1"/>
          </p:cNvSpPr>
          <p:nvPr/>
        </p:nvSpPr>
        <p:spPr bwMode="auto">
          <a:xfrm flipH="1">
            <a:off x="5940424" y="3357564"/>
            <a:ext cx="1" cy="1350776"/>
          </a:xfrm>
          <a:prstGeom prst="line">
            <a:avLst/>
          </a:prstGeom>
          <a:noFill/>
          <a:ln w="76200" cap="sq">
            <a:solidFill>
              <a:srgbClr val="66FF33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itchFamily="2" charset="-122"/>
              <a:cs typeface="+mn-cs"/>
            </a:endParaRPr>
          </a:p>
        </p:txBody>
      </p:sp>
      <p:sp>
        <p:nvSpPr>
          <p:cNvPr id="617485" name="Line 13"/>
          <p:cNvSpPr>
            <a:spLocks noChangeShapeType="1"/>
          </p:cNvSpPr>
          <p:nvPr/>
        </p:nvSpPr>
        <p:spPr bwMode="auto">
          <a:xfrm flipH="1">
            <a:off x="3901484" y="4708340"/>
            <a:ext cx="1944687" cy="0"/>
          </a:xfrm>
          <a:prstGeom prst="line">
            <a:avLst/>
          </a:prstGeom>
          <a:noFill/>
          <a:ln w="76200" cap="sq">
            <a:solidFill>
              <a:srgbClr val="66FF33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itchFamily="2" charset="-122"/>
              <a:cs typeface="+mn-cs"/>
            </a:endParaRPr>
          </a:p>
        </p:txBody>
      </p:sp>
      <p:sp>
        <p:nvSpPr>
          <p:cNvPr id="617486" name="Oval 14"/>
          <p:cNvSpPr>
            <a:spLocks noChangeArrowheads="1"/>
          </p:cNvSpPr>
          <p:nvPr/>
        </p:nvSpPr>
        <p:spPr bwMode="auto">
          <a:xfrm>
            <a:off x="4823809" y="4977606"/>
            <a:ext cx="792163" cy="576263"/>
          </a:xfrm>
          <a:prstGeom prst="ellipse">
            <a:avLst/>
          </a:prstGeom>
          <a:noFill/>
          <a:ln w="38100" cap="sq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itchFamily="2" charset="-122"/>
              <a:cs typeface="+mn-cs"/>
            </a:endParaRPr>
          </a:p>
        </p:txBody>
      </p:sp>
      <p:sp>
        <p:nvSpPr>
          <p:cNvPr id="617487" name="Oval 15"/>
          <p:cNvSpPr>
            <a:spLocks noChangeArrowheads="1"/>
          </p:cNvSpPr>
          <p:nvPr/>
        </p:nvSpPr>
        <p:spPr bwMode="auto">
          <a:xfrm>
            <a:off x="6120606" y="4977605"/>
            <a:ext cx="792162" cy="576263"/>
          </a:xfrm>
          <a:prstGeom prst="ellipse">
            <a:avLst/>
          </a:prstGeom>
          <a:noFill/>
          <a:ln w="38100" cap="sq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itchFamily="2" charset="-122"/>
              <a:cs typeface="+mn-cs"/>
            </a:endParaRPr>
          </a:p>
        </p:txBody>
      </p:sp>
      <p:sp>
        <p:nvSpPr>
          <p:cNvPr id="617488" name="Line 16"/>
          <p:cNvSpPr>
            <a:spLocks noChangeShapeType="1"/>
          </p:cNvSpPr>
          <p:nvPr/>
        </p:nvSpPr>
        <p:spPr bwMode="auto">
          <a:xfrm flipH="1" flipV="1">
            <a:off x="4035508" y="4941887"/>
            <a:ext cx="827674" cy="287337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itchFamily="2" charset="-122"/>
              <a:cs typeface="+mn-cs"/>
            </a:endParaRPr>
          </a:p>
        </p:txBody>
      </p:sp>
      <p:sp>
        <p:nvSpPr>
          <p:cNvPr id="617489" name="Line 17"/>
          <p:cNvSpPr>
            <a:spLocks noChangeShapeType="1"/>
          </p:cNvSpPr>
          <p:nvPr/>
        </p:nvSpPr>
        <p:spPr bwMode="auto">
          <a:xfrm flipH="1" flipV="1">
            <a:off x="4035511" y="3680617"/>
            <a:ext cx="2085093" cy="1315851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49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55171" y="430844"/>
            <a:ext cx="7772400" cy="5762625"/>
          </a:xfrm>
          <a:ln>
            <a:solidFill>
              <a:schemeClr val="bg2"/>
            </a:solidFill>
          </a:ln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2000" dirty="0"/>
              <a:t>第二种方式：传值</a:t>
            </a:r>
            <a:endParaRPr lang="zh-CN" altLang="en-US" sz="2000" dirty="0"/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000" dirty="0"/>
              <a:t>  </a:t>
            </a:r>
            <a:r>
              <a:rPr lang="en-US" altLang="zh-CN" sz="2000" dirty="0"/>
              <a:t>x=100;y=200;</a:t>
            </a:r>
            <a:endParaRPr lang="en-US" altLang="zh-CN" sz="2000" dirty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 dirty="0"/>
              <a:t>   </a:t>
            </a:r>
            <a:r>
              <a:rPr lang="zh-CN" altLang="en-US" sz="2000" dirty="0"/>
              <a:t>主函数</a:t>
            </a:r>
            <a:r>
              <a:rPr lang="en-US" altLang="zh-CN" sz="2000" dirty="0"/>
              <a:t>:   swap2( x, y );</a:t>
            </a:r>
            <a:endParaRPr lang="en-US" altLang="zh-CN" sz="2000" dirty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 dirty="0"/>
              <a:t>   </a:t>
            </a:r>
            <a:r>
              <a:rPr lang="zh-CN" altLang="en-US" sz="2000" dirty="0"/>
              <a:t>子函数</a:t>
            </a:r>
            <a:r>
              <a:rPr lang="en-US" altLang="zh-CN" sz="2000" dirty="0"/>
              <a:t>:  swap2( int xc, int </a:t>
            </a:r>
            <a:r>
              <a:rPr lang="en-US" altLang="zh-CN" sz="2000" dirty="0" err="1"/>
              <a:t>yc</a:t>
            </a:r>
            <a:r>
              <a:rPr lang="en-US" altLang="zh-CN" sz="2000" dirty="0"/>
              <a:t>);</a:t>
            </a:r>
            <a:endParaRPr lang="en-US" altLang="zh-CN" sz="2000" dirty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/>
              <a:t>              	 xc                    </a:t>
            </a:r>
            <a:r>
              <a:rPr lang="en-US" altLang="zh-CN" dirty="0" err="1"/>
              <a:t>yc</a:t>
            </a:r>
            <a:r>
              <a:rPr lang="en-US" altLang="zh-CN" dirty="0"/>
              <a:t>   </a:t>
            </a:r>
            <a:endParaRPr lang="en-US" altLang="zh-CN" dirty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/>
              <a:t>                 100                   200   </a:t>
            </a:r>
            <a:endParaRPr lang="en-US" altLang="zh-CN" dirty="0"/>
          </a:p>
          <a:p>
            <a:pPr>
              <a:buFont typeface="Wingdings" panose="05000000000000000000" pitchFamily="2" charset="2"/>
              <a:buNone/>
            </a:pPr>
            <a:endParaRPr lang="en-US" altLang="zh-CN" dirty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/>
              <a:t>                           temp</a:t>
            </a:r>
            <a:endParaRPr lang="en-US" altLang="zh-CN" dirty="0"/>
          </a:p>
        </p:txBody>
      </p:sp>
      <p:sp>
        <p:nvSpPr>
          <p:cNvPr id="618499" name="Rectangle 3"/>
          <p:cNvSpPr>
            <a:spLocks noChangeArrowheads="1"/>
          </p:cNvSpPr>
          <p:nvPr/>
        </p:nvSpPr>
        <p:spPr bwMode="auto">
          <a:xfrm>
            <a:off x="2095761" y="2735895"/>
            <a:ext cx="1368425" cy="576262"/>
          </a:xfrm>
          <a:prstGeom prst="rect">
            <a:avLst/>
          </a:prstGeom>
          <a:noFill/>
          <a:ln w="57150" cap="sq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itchFamily="2" charset="-122"/>
              <a:cs typeface="+mn-cs"/>
            </a:endParaRPr>
          </a:p>
        </p:txBody>
      </p:sp>
      <p:sp>
        <p:nvSpPr>
          <p:cNvPr id="618500" name="Rectangle 4"/>
          <p:cNvSpPr>
            <a:spLocks noChangeArrowheads="1"/>
          </p:cNvSpPr>
          <p:nvPr/>
        </p:nvSpPr>
        <p:spPr bwMode="auto">
          <a:xfrm>
            <a:off x="4688148" y="2735895"/>
            <a:ext cx="1439863" cy="576262"/>
          </a:xfrm>
          <a:prstGeom prst="rect">
            <a:avLst/>
          </a:prstGeom>
          <a:noFill/>
          <a:ln w="57150" cap="sq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itchFamily="2" charset="-122"/>
              <a:cs typeface="+mn-cs"/>
            </a:endParaRPr>
          </a:p>
        </p:txBody>
      </p:sp>
      <p:sp>
        <p:nvSpPr>
          <p:cNvPr id="618501" name="Rectangle 5"/>
          <p:cNvSpPr>
            <a:spLocks noChangeArrowheads="1"/>
          </p:cNvSpPr>
          <p:nvPr/>
        </p:nvSpPr>
        <p:spPr bwMode="auto">
          <a:xfrm>
            <a:off x="3464186" y="4464682"/>
            <a:ext cx="1223962" cy="576263"/>
          </a:xfrm>
          <a:prstGeom prst="rect">
            <a:avLst/>
          </a:prstGeom>
          <a:noFill/>
          <a:ln w="57150" cap="sq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itchFamily="2" charset="-122"/>
              <a:cs typeface="+mn-cs"/>
            </a:endParaRPr>
          </a:p>
        </p:txBody>
      </p:sp>
      <p:sp>
        <p:nvSpPr>
          <p:cNvPr id="618502" name="Line 6"/>
          <p:cNvSpPr>
            <a:spLocks noChangeShapeType="1"/>
          </p:cNvSpPr>
          <p:nvPr/>
        </p:nvSpPr>
        <p:spPr bwMode="auto">
          <a:xfrm flipH="1">
            <a:off x="1448061" y="3024820"/>
            <a:ext cx="936625" cy="0"/>
          </a:xfrm>
          <a:prstGeom prst="line">
            <a:avLst/>
          </a:prstGeom>
          <a:noFill/>
          <a:ln w="76200" cap="sq">
            <a:solidFill>
              <a:schemeClr val="hlink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itchFamily="2" charset="-122"/>
              <a:cs typeface="+mn-cs"/>
            </a:endParaRPr>
          </a:p>
        </p:txBody>
      </p:sp>
      <p:sp>
        <p:nvSpPr>
          <p:cNvPr id="618503" name="Line 7"/>
          <p:cNvSpPr>
            <a:spLocks noChangeShapeType="1"/>
          </p:cNvSpPr>
          <p:nvPr/>
        </p:nvSpPr>
        <p:spPr bwMode="auto">
          <a:xfrm>
            <a:off x="1448061" y="3024820"/>
            <a:ext cx="0" cy="1727200"/>
          </a:xfrm>
          <a:prstGeom prst="line">
            <a:avLst/>
          </a:prstGeom>
          <a:noFill/>
          <a:ln w="76200" cap="sq">
            <a:solidFill>
              <a:schemeClr val="hlink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itchFamily="2" charset="-122"/>
              <a:cs typeface="+mn-cs"/>
            </a:endParaRPr>
          </a:p>
        </p:txBody>
      </p:sp>
      <p:sp>
        <p:nvSpPr>
          <p:cNvPr id="618504" name="Line 8"/>
          <p:cNvSpPr>
            <a:spLocks noChangeShapeType="1"/>
          </p:cNvSpPr>
          <p:nvPr/>
        </p:nvSpPr>
        <p:spPr bwMode="auto">
          <a:xfrm>
            <a:off x="1448061" y="4752020"/>
            <a:ext cx="2376487" cy="0"/>
          </a:xfrm>
          <a:prstGeom prst="line">
            <a:avLst/>
          </a:prstGeom>
          <a:noFill/>
          <a:ln w="76200" cap="sq">
            <a:solidFill>
              <a:schemeClr val="hlink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itchFamily="2" charset="-122"/>
              <a:cs typeface="+mn-cs"/>
            </a:endParaRPr>
          </a:p>
        </p:txBody>
      </p:sp>
      <p:sp>
        <p:nvSpPr>
          <p:cNvPr id="618505" name="Line 9"/>
          <p:cNvSpPr>
            <a:spLocks noChangeShapeType="1"/>
          </p:cNvSpPr>
          <p:nvPr/>
        </p:nvSpPr>
        <p:spPr bwMode="auto">
          <a:xfrm>
            <a:off x="4256348" y="4752020"/>
            <a:ext cx="2808288" cy="0"/>
          </a:xfrm>
          <a:prstGeom prst="line">
            <a:avLst/>
          </a:prstGeom>
          <a:noFill/>
          <a:ln w="76200" cap="sq">
            <a:solidFill>
              <a:srgbClr val="66FF33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itchFamily="2" charset="-122"/>
              <a:cs typeface="+mn-cs"/>
            </a:endParaRPr>
          </a:p>
        </p:txBody>
      </p:sp>
      <p:sp>
        <p:nvSpPr>
          <p:cNvPr id="618506" name="Line 10"/>
          <p:cNvSpPr>
            <a:spLocks noChangeShapeType="1"/>
          </p:cNvSpPr>
          <p:nvPr/>
        </p:nvSpPr>
        <p:spPr bwMode="auto">
          <a:xfrm flipV="1">
            <a:off x="7064636" y="3024820"/>
            <a:ext cx="0" cy="1727200"/>
          </a:xfrm>
          <a:prstGeom prst="line">
            <a:avLst/>
          </a:prstGeom>
          <a:noFill/>
          <a:ln w="76200" cap="sq">
            <a:solidFill>
              <a:srgbClr val="66FF33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itchFamily="2" charset="-122"/>
              <a:cs typeface="+mn-cs"/>
            </a:endParaRPr>
          </a:p>
        </p:txBody>
      </p:sp>
      <p:sp>
        <p:nvSpPr>
          <p:cNvPr id="618507" name="Line 11"/>
          <p:cNvSpPr>
            <a:spLocks noChangeShapeType="1"/>
          </p:cNvSpPr>
          <p:nvPr/>
        </p:nvSpPr>
        <p:spPr bwMode="auto">
          <a:xfrm flipH="1">
            <a:off x="5696211" y="3024820"/>
            <a:ext cx="1368425" cy="0"/>
          </a:xfrm>
          <a:prstGeom prst="line">
            <a:avLst/>
          </a:prstGeom>
          <a:noFill/>
          <a:ln w="76200" cap="sq">
            <a:solidFill>
              <a:srgbClr val="66FF33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itchFamily="2" charset="-122"/>
              <a:cs typeface="+mn-cs"/>
            </a:endParaRPr>
          </a:p>
        </p:txBody>
      </p:sp>
      <p:sp>
        <p:nvSpPr>
          <p:cNvPr id="618508" name="Line 12"/>
          <p:cNvSpPr>
            <a:spLocks noChangeShapeType="1"/>
          </p:cNvSpPr>
          <p:nvPr/>
        </p:nvSpPr>
        <p:spPr bwMode="auto">
          <a:xfrm flipH="1">
            <a:off x="3103823" y="3024820"/>
            <a:ext cx="1728788" cy="0"/>
          </a:xfrm>
          <a:prstGeom prst="line">
            <a:avLst/>
          </a:prstGeom>
          <a:noFill/>
          <a:ln w="76200" cap="sq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52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62000" y="242887"/>
            <a:ext cx="7772400" cy="5762625"/>
          </a:xfrm>
          <a:ln>
            <a:solidFill>
              <a:schemeClr val="tx1"/>
            </a:solidFill>
          </a:ln>
        </p:spPr>
        <p:txBody>
          <a:bodyPr>
            <a:normAutofit fontScale="92500"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2600" dirty="0"/>
              <a:t>第三种方式</a:t>
            </a:r>
            <a:endParaRPr lang="zh-CN" altLang="en-US" sz="2600" dirty="0"/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600" dirty="0"/>
              <a:t>  </a:t>
            </a:r>
            <a:r>
              <a:rPr lang="en-US" altLang="zh-CN" sz="2600" dirty="0"/>
              <a:t>x=100;y=200;</a:t>
            </a:r>
            <a:endParaRPr lang="en-US" altLang="zh-CN" sz="2600" dirty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600" dirty="0"/>
              <a:t>   </a:t>
            </a:r>
            <a:r>
              <a:rPr lang="zh-CN" altLang="en-US" sz="2600" dirty="0"/>
              <a:t>主函数</a:t>
            </a:r>
            <a:r>
              <a:rPr lang="en-US" altLang="zh-CN" sz="2600" dirty="0"/>
              <a:t>:   swap3( &amp;x, &amp;y );</a:t>
            </a:r>
            <a:endParaRPr lang="en-US" altLang="zh-CN" sz="2600" dirty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600" dirty="0"/>
              <a:t>   </a:t>
            </a:r>
            <a:r>
              <a:rPr lang="zh-CN" altLang="en-US" sz="2600" dirty="0"/>
              <a:t>子函数</a:t>
            </a:r>
            <a:r>
              <a:rPr lang="en-US" altLang="zh-CN" sz="2600" dirty="0"/>
              <a:t>:  swap3( int *</a:t>
            </a:r>
            <a:r>
              <a:rPr lang="en-US" altLang="zh-CN" sz="2600" dirty="0" err="1"/>
              <a:t>xd</a:t>
            </a:r>
            <a:r>
              <a:rPr lang="en-US" altLang="zh-CN" sz="2600" dirty="0"/>
              <a:t>, int *yd );</a:t>
            </a:r>
            <a:endParaRPr lang="en-US" altLang="zh-CN" sz="2600" dirty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/>
              <a:t>       </a:t>
            </a:r>
            <a:endParaRPr lang="en-US" altLang="zh-CN" dirty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/>
              <a:t> 		</a:t>
            </a:r>
            <a:r>
              <a:rPr lang="en-US" altLang="zh-CN" dirty="0" err="1"/>
              <a:t>xd</a:t>
            </a:r>
            <a:r>
              <a:rPr lang="en-US" altLang="zh-CN" dirty="0"/>
              <a:t>              x                   </a:t>
            </a:r>
            <a:r>
              <a:rPr lang="en-US" altLang="zh-CN" dirty="0" err="1"/>
              <a:t>xd</a:t>
            </a:r>
            <a:r>
              <a:rPr lang="en-US" altLang="zh-CN" dirty="0"/>
              <a:t>                  x</a:t>
            </a:r>
            <a:endParaRPr lang="en-US" altLang="zh-CN" dirty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/>
              <a:t>        &amp;x           100                   &amp;y              100 </a:t>
            </a:r>
            <a:endParaRPr lang="en-US" altLang="zh-CN" dirty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/>
              <a:t>  p   </a:t>
            </a:r>
            <a:endParaRPr lang="en-US" altLang="zh-CN" dirty="0"/>
          </a:p>
          <a:p>
            <a:pPr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dirty="0"/>
              <a:t>     </a:t>
            </a:r>
            <a:endParaRPr lang="en-US" altLang="zh-CN" dirty="0"/>
          </a:p>
          <a:p>
            <a:pPr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dirty="0"/>
              <a:t>		  yd               y                  yd                  y   </a:t>
            </a:r>
            <a:endParaRPr lang="en-US" altLang="zh-CN" dirty="0"/>
          </a:p>
          <a:p>
            <a:pPr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dirty="0"/>
              <a:t>        &amp;y              200                  &amp;x              200              </a:t>
            </a:r>
            <a:endParaRPr lang="en-US" altLang="zh-CN" dirty="0"/>
          </a:p>
        </p:txBody>
      </p:sp>
      <p:sp>
        <p:nvSpPr>
          <p:cNvPr id="619523" name="Rectangle 3"/>
          <p:cNvSpPr>
            <a:spLocks noChangeArrowheads="1"/>
          </p:cNvSpPr>
          <p:nvPr/>
        </p:nvSpPr>
        <p:spPr bwMode="auto">
          <a:xfrm>
            <a:off x="1476375" y="3284538"/>
            <a:ext cx="935038" cy="649287"/>
          </a:xfrm>
          <a:prstGeom prst="rect">
            <a:avLst/>
          </a:prstGeom>
          <a:noFill/>
          <a:ln w="57150" cap="sq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itchFamily="2" charset="-122"/>
              <a:cs typeface="+mn-cs"/>
            </a:endParaRPr>
          </a:p>
        </p:txBody>
      </p:sp>
      <p:sp>
        <p:nvSpPr>
          <p:cNvPr id="619524" name="Rectangle 4"/>
          <p:cNvSpPr>
            <a:spLocks noChangeArrowheads="1"/>
          </p:cNvSpPr>
          <p:nvPr/>
        </p:nvSpPr>
        <p:spPr bwMode="auto">
          <a:xfrm>
            <a:off x="3048000" y="3284538"/>
            <a:ext cx="990600" cy="649287"/>
          </a:xfrm>
          <a:prstGeom prst="rect">
            <a:avLst/>
          </a:prstGeom>
          <a:noFill/>
          <a:ln w="57150" cap="sq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itchFamily="2" charset="-122"/>
              <a:cs typeface="+mn-cs"/>
            </a:endParaRPr>
          </a:p>
        </p:txBody>
      </p:sp>
      <p:sp>
        <p:nvSpPr>
          <p:cNvPr id="619525" name="Rectangle 5"/>
          <p:cNvSpPr>
            <a:spLocks noChangeArrowheads="1"/>
          </p:cNvSpPr>
          <p:nvPr/>
        </p:nvSpPr>
        <p:spPr bwMode="auto">
          <a:xfrm>
            <a:off x="1476375" y="5029200"/>
            <a:ext cx="935038" cy="609600"/>
          </a:xfrm>
          <a:prstGeom prst="rect">
            <a:avLst/>
          </a:prstGeom>
          <a:noFill/>
          <a:ln w="57150" cap="sq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itchFamily="2" charset="-122"/>
              <a:cs typeface="+mn-cs"/>
            </a:endParaRPr>
          </a:p>
        </p:txBody>
      </p:sp>
      <p:sp>
        <p:nvSpPr>
          <p:cNvPr id="619526" name="Rectangle 6"/>
          <p:cNvSpPr>
            <a:spLocks noChangeArrowheads="1"/>
          </p:cNvSpPr>
          <p:nvPr/>
        </p:nvSpPr>
        <p:spPr bwMode="auto">
          <a:xfrm>
            <a:off x="3200400" y="5029200"/>
            <a:ext cx="990600" cy="609600"/>
          </a:xfrm>
          <a:prstGeom prst="rect">
            <a:avLst/>
          </a:prstGeom>
          <a:noFill/>
          <a:ln w="57150" cap="sq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itchFamily="2" charset="-122"/>
              <a:cs typeface="+mn-cs"/>
            </a:endParaRPr>
          </a:p>
        </p:txBody>
      </p:sp>
      <p:sp>
        <p:nvSpPr>
          <p:cNvPr id="619527" name="Rectangle 7"/>
          <p:cNvSpPr>
            <a:spLocks noChangeArrowheads="1"/>
          </p:cNvSpPr>
          <p:nvPr/>
        </p:nvSpPr>
        <p:spPr bwMode="auto">
          <a:xfrm>
            <a:off x="228600" y="4114800"/>
            <a:ext cx="685800" cy="533400"/>
          </a:xfrm>
          <a:prstGeom prst="rect">
            <a:avLst/>
          </a:prstGeom>
          <a:noFill/>
          <a:ln w="57150" cap="sq">
            <a:solidFill>
              <a:schemeClr val="bg2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itchFamily="2" charset="-122"/>
              <a:cs typeface="+mn-cs"/>
            </a:endParaRPr>
          </a:p>
        </p:txBody>
      </p:sp>
      <p:sp>
        <p:nvSpPr>
          <p:cNvPr id="619528" name="Line 8"/>
          <p:cNvSpPr>
            <a:spLocks noChangeShapeType="1"/>
          </p:cNvSpPr>
          <p:nvPr/>
        </p:nvSpPr>
        <p:spPr bwMode="auto">
          <a:xfrm flipH="1">
            <a:off x="685800" y="3733800"/>
            <a:ext cx="990600" cy="0"/>
          </a:xfrm>
          <a:prstGeom prst="line">
            <a:avLst/>
          </a:prstGeom>
          <a:noFill/>
          <a:ln w="76200" cap="sq">
            <a:solidFill>
              <a:schemeClr val="hlink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itchFamily="2" charset="-122"/>
              <a:cs typeface="+mn-cs"/>
            </a:endParaRPr>
          </a:p>
        </p:txBody>
      </p:sp>
      <p:sp>
        <p:nvSpPr>
          <p:cNvPr id="619529" name="Line 9"/>
          <p:cNvSpPr>
            <a:spLocks noChangeShapeType="1"/>
          </p:cNvSpPr>
          <p:nvPr/>
        </p:nvSpPr>
        <p:spPr bwMode="auto">
          <a:xfrm>
            <a:off x="685800" y="3733800"/>
            <a:ext cx="0" cy="609600"/>
          </a:xfrm>
          <a:prstGeom prst="line">
            <a:avLst/>
          </a:prstGeom>
          <a:noFill/>
          <a:ln w="76200" cap="sq">
            <a:solidFill>
              <a:schemeClr val="hlink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itchFamily="2" charset="-122"/>
              <a:cs typeface="+mn-cs"/>
            </a:endParaRPr>
          </a:p>
        </p:txBody>
      </p:sp>
      <p:sp>
        <p:nvSpPr>
          <p:cNvPr id="619530" name="Line 10"/>
          <p:cNvSpPr>
            <a:spLocks noChangeShapeType="1"/>
          </p:cNvSpPr>
          <p:nvPr/>
        </p:nvSpPr>
        <p:spPr bwMode="auto">
          <a:xfrm>
            <a:off x="685800" y="4343400"/>
            <a:ext cx="0" cy="1066800"/>
          </a:xfrm>
          <a:prstGeom prst="line">
            <a:avLst/>
          </a:prstGeom>
          <a:noFill/>
          <a:ln w="76200" cap="sq">
            <a:solidFill>
              <a:srgbClr val="66FF33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itchFamily="2" charset="-122"/>
              <a:cs typeface="+mn-cs"/>
            </a:endParaRPr>
          </a:p>
        </p:txBody>
      </p:sp>
      <p:sp>
        <p:nvSpPr>
          <p:cNvPr id="619531" name="Line 11"/>
          <p:cNvSpPr>
            <a:spLocks noChangeShapeType="1"/>
          </p:cNvSpPr>
          <p:nvPr/>
        </p:nvSpPr>
        <p:spPr bwMode="auto">
          <a:xfrm>
            <a:off x="644236" y="5410200"/>
            <a:ext cx="1032164" cy="0"/>
          </a:xfrm>
          <a:prstGeom prst="line">
            <a:avLst/>
          </a:prstGeom>
          <a:noFill/>
          <a:ln w="76200" cap="sq">
            <a:solidFill>
              <a:srgbClr val="66FF33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itchFamily="2" charset="-122"/>
              <a:cs typeface="+mn-cs"/>
            </a:endParaRPr>
          </a:p>
        </p:txBody>
      </p:sp>
      <p:sp>
        <p:nvSpPr>
          <p:cNvPr id="619532" name="Line 12"/>
          <p:cNvSpPr>
            <a:spLocks noChangeShapeType="1"/>
          </p:cNvSpPr>
          <p:nvPr/>
        </p:nvSpPr>
        <p:spPr bwMode="auto">
          <a:xfrm>
            <a:off x="2209800" y="3581400"/>
            <a:ext cx="838200" cy="0"/>
          </a:xfrm>
          <a:prstGeom prst="line">
            <a:avLst/>
          </a:prstGeom>
          <a:noFill/>
          <a:ln w="76200" cap="sq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itchFamily="2" charset="-122"/>
              <a:cs typeface="+mn-cs"/>
            </a:endParaRPr>
          </a:p>
        </p:txBody>
      </p:sp>
      <p:sp>
        <p:nvSpPr>
          <p:cNvPr id="619533" name="Line 13"/>
          <p:cNvSpPr>
            <a:spLocks noChangeShapeType="1"/>
          </p:cNvSpPr>
          <p:nvPr/>
        </p:nvSpPr>
        <p:spPr bwMode="auto">
          <a:xfrm>
            <a:off x="2209800" y="5410200"/>
            <a:ext cx="990600" cy="0"/>
          </a:xfrm>
          <a:prstGeom prst="line">
            <a:avLst/>
          </a:prstGeom>
          <a:noFill/>
          <a:ln w="76200" cap="sq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itchFamily="2" charset="-122"/>
              <a:cs typeface="+mn-cs"/>
            </a:endParaRPr>
          </a:p>
        </p:txBody>
      </p:sp>
      <p:sp>
        <p:nvSpPr>
          <p:cNvPr id="619534" name="Line 14"/>
          <p:cNvSpPr>
            <a:spLocks noChangeShapeType="1"/>
          </p:cNvSpPr>
          <p:nvPr/>
        </p:nvSpPr>
        <p:spPr bwMode="auto">
          <a:xfrm flipV="1">
            <a:off x="1676400" y="3619500"/>
            <a:ext cx="0" cy="1447800"/>
          </a:xfrm>
          <a:prstGeom prst="line">
            <a:avLst/>
          </a:prstGeom>
          <a:noFill/>
          <a:ln w="76200" cap="sq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itchFamily="2" charset="-122"/>
              <a:cs typeface="+mn-cs"/>
            </a:endParaRPr>
          </a:p>
        </p:txBody>
      </p:sp>
      <p:sp>
        <p:nvSpPr>
          <p:cNvPr id="619535" name="Rectangle 15"/>
          <p:cNvSpPr>
            <a:spLocks noChangeArrowheads="1"/>
          </p:cNvSpPr>
          <p:nvPr/>
        </p:nvSpPr>
        <p:spPr bwMode="auto">
          <a:xfrm>
            <a:off x="5105400" y="3284538"/>
            <a:ext cx="1219200" cy="649287"/>
          </a:xfrm>
          <a:prstGeom prst="rect">
            <a:avLst/>
          </a:prstGeom>
          <a:noFill/>
          <a:ln w="57150" cap="sq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itchFamily="2" charset="-122"/>
              <a:cs typeface="+mn-cs"/>
            </a:endParaRPr>
          </a:p>
        </p:txBody>
      </p:sp>
      <p:sp>
        <p:nvSpPr>
          <p:cNvPr id="619536" name="Rectangle 16"/>
          <p:cNvSpPr>
            <a:spLocks noChangeArrowheads="1"/>
          </p:cNvSpPr>
          <p:nvPr/>
        </p:nvSpPr>
        <p:spPr bwMode="auto">
          <a:xfrm>
            <a:off x="5105400" y="5029200"/>
            <a:ext cx="1219200" cy="609600"/>
          </a:xfrm>
          <a:prstGeom prst="rect">
            <a:avLst/>
          </a:prstGeom>
          <a:noFill/>
          <a:ln w="57150" cap="sq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itchFamily="2" charset="-122"/>
              <a:cs typeface="+mn-cs"/>
            </a:endParaRPr>
          </a:p>
        </p:txBody>
      </p:sp>
      <p:sp>
        <p:nvSpPr>
          <p:cNvPr id="619537" name="Rectangle 17"/>
          <p:cNvSpPr>
            <a:spLocks noChangeArrowheads="1"/>
          </p:cNvSpPr>
          <p:nvPr/>
        </p:nvSpPr>
        <p:spPr bwMode="auto">
          <a:xfrm>
            <a:off x="7162800" y="3284538"/>
            <a:ext cx="1143000" cy="649287"/>
          </a:xfrm>
          <a:prstGeom prst="rect">
            <a:avLst/>
          </a:prstGeom>
          <a:noFill/>
          <a:ln w="57150" cap="sq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itchFamily="2" charset="-122"/>
              <a:cs typeface="+mn-cs"/>
            </a:endParaRPr>
          </a:p>
        </p:txBody>
      </p:sp>
      <p:sp>
        <p:nvSpPr>
          <p:cNvPr id="619538" name="Rectangle 18"/>
          <p:cNvSpPr>
            <a:spLocks noChangeArrowheads="1"/>
          </p:cNvSpPr>
          <p:nvPr/>
        </p:nvSpPr>
        <p:spPr bwMode="auto">
          <a:xfrm>
            <a:off x="7162800" y="5029200"/>
            <a:ext cx="1143000" cy="609600"/>
          </a:xfrm>
          <a:prstGeom prst="rect">
            <a:avLst/>
          </a:prstGeom>
          <a:noFill/>
          <a:ln w="57150" cap="sq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itchFamily="2" charset="-122"/>
              <a:cs typeface="+mn-cs"/>
            </a:endParaRPr>
          </a:p>
        </p:txBody>
      </p:sp>
      <p:sp>
        <p:nvSpPr>
          <p:cNvPr id="619539" name="Line 19"/>
          <p:cNvSpPr>
            <a:spLocks noChangeShapeType="1"/>
          </p:cNvSpPr>
          <p:nvPr/>
        </p:nvSpPr>
        <p:spPr bwMode="auto">
          <a:xfrm>
            <a:off x="6096000" y="5410200"/>
            <a:ext cx="457200" cy="0"/>
          </a:xfrm>
          <a:prstGeom prst="line">
            <a:avLst/>
          </a:prstGeom>
          <a:noFill/>
          <a:ln w="76200" cap="sq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itchFamily="2" charset="-122"/>
              <a:cs typeface="+mn-cs"/>
            </a:endParaRPr>
          </a:p>
        </p:txBody>
      </p:sp>
      <p:sp>
        <p:nvSpPr>
          <p:cNvPr id="619540" name="Line 20"/>
          <p:cNvSpPr>
            <a:spLocks noChangeShapeType="1"/>
          </p:cNvSpPr>
          <p:nvPr/>
        </p:nvSpPr>
        <p:spPr bwMode="auto">
          <a:xfrm flipH="1">
            <a:off x="6553200" y="3581400"/>
            <a:ext cx="304800" cy="1828800"/>
          </a:xfrm>
          <a:prstGeom prst="line">
            <a:avLst/>
          </a:prstGeom>
          <a:noFill/>
          <a:ln w="76200" cap="sq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itchFamily="2" charset="-122"/>
              <a:cs typeface="+mn-cs"/>
            </a:endParaRPr>
          </a:p>
        </p:txBody>
      </p:sp>
      <p:sp>
        <p:nvSpPr>
          <p:cNvPr id="619541" name="Line 21"/>
          <p:cNvSpPr>
            <a:spLocks noChangeShapeType="1"/>
          </p:cNvSpPr>
          <p:nvPr/>
        </p:nvSpPr>
        <p:spPr bwMode="auto">
          <a:xfrm>
            <a:off x="6096000" y="3581400"/>
            <a:ext cx="457200" cy="0"/>
          </a:xfrm>
          <a:prstGeom prst="line">
            <a:avLst/>
          </a:prstGeom>
          <a:noFill/>
          <a:ln w="76200" cap="sq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itchFamily="2" charset="-122"/>
              <a:cs typeface="+mn-cs"/>
            </a:endParaRPr>
          </a:p>
        </p:txBody>
      </p:sp>
      <p:sp>
        <p:nvSpPr>
          <p:cNvPr id="619542" name="Line 22"/>
          <p:cNvSpPr>
            <a:spLocks noChangeShapeType="1"/>
          </p:cNvSpPr>
          <p:nvPr/>
        </p:nvSpPr>
        <p:spPr bwMode="auto">
          <a:xfrm>
            <a:off x="6553200" y="3581400"/>
            <a:ext cx="304800" cy="1828800"/>
          </a:xfrm>
          <a:prstGeom prst="line">
            <a:avLst/>
          </a:prstGeom>
          <a:noFill/>
          <a:ln w="76200" cap="sq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itchFamily="2" charset="-122"/>
              <a:cs typeface="+mn-cs"/>
            </a:endParaRPr>
          </a:p>
        </p:txBody>
      </p:sp>
      <p:sp>
        <p:nvSpPr>
          <p:cNvPr id="619543" name="Line 23"/>
          <p:cNvSpPr>
            <a:spLocks noChangeShapeType="1"/>
          </p:cNvSpPr>
          <p:nvPr/>
        </p:nvSpPr>
        <p:spPr bwMode="auto">
          <a:xfrm>
            <a:off x="6858000" y="3581400"/>
            <a:ext cx="304800" cy="0"/>
          </a:xfrm>
          <a:prstGeom prst="line">
            <a:avLst/>
          </a:prstGeom>
          <a:noFill/>
          <a:ln w="76200" cap="sq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itchFamily="2" charset="-122"/>
              <a:cs typeface="+mn-cs"/>
            </a:endParaRPr>
          </a:p>
        </p:txBody>
      </p:sp>
      <p:sp>
        <p:nvSpPr>
          <p:cNvPr id="619544" name="Line 24"/>
          <p:cNvSpPr>
            <a:spLocks noChangeShapeType="1"/>
          </p:cNvSpPr>
          <p:nvPr/>
        </p:nvSpPr>
        <p:spPr bwMode="auto">
          <a:xfrm>
            <a:off x="6858000" y="5410200"/>
            <a:ext cx="304800" cy="0"/>
          </a:xfrm>
          <a:prstGeom prst="line">
            <a:avLst/>
          </a:prstGeom>
          <a:noFill/>
          <a:ln w="76200" cap="sq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itchFamily="2" charset="-122"/>
              <a:cs typeface="+mn-cs"/>
            </a:endParaRPr>
          </a:p>
        </p:txBody>
      </p:sp>
      <p:sp>
        <p:nvSpPr>
          <p:cNvPr id="619545" name="Line 25"/>
          <p:cNvSpPr>
            <a:spLocks noChangeShapeType="1"/>
          </p:cNvSpPr>
          <p:nvPr/>
        </p:nvSpPr>
        <p:spPr bwMode="auto">
          <a:xfrm>
            <a:off x="4191000" y="4343400"/>
            <a:ext cx="914400" cy="0"/>
          </a:xfrm>
          <a:prstGeom prst="line">
            <a:avLst/>
          </a:prstGeom>
          <a:noFill/>
          <a:ln w="76200" cap="sq">
            <a:solidFill>
              <a:schemeClr val="hlink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330600" y="103609"/>
            <a:ext cx="8280000" cy="683692"/>
          </a:xfrm>
        </p:spPr>
        <p:txBody>
          <a:bodyPr>
            <a:noAutofit/>
          </a:bodyPr>
          <a:lstStyle/>
          <a:p>
            <a:r>
              <a:rPr lang="zh-CN" altLang="en-US" sz="2800" dirty="0"/>
              <a:t>函数返回值为指针</a:t>
            </a:r>
            <a:endParaRPr lang="en-US" sz="2800" dirty="0"/>
          </a:p>
        </p:txBody>
      </p:sp>
      <p:sp>
        <p:nvSpPr>
          <p:cNvPr id="6" name="矩形 5"/>
          <p:cNvSpPr/>
          <p:nvPr/>
        </p:nvSpPr>
        <p:spPr>
          <a:xfrm>
            <a:off x="290195" y="866616"/>
            <a:ext cx="8145670" cy="59913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//</a:t>
            </a:r>
            <a:r>
              <a:rPr lang="zh-CN" altLang="en-US" dirty="0">
                <a:solidFill>
                  <a:srgbClr val="0000FF"/>
                </a:solidFill>
                <a:latin typeface="Consolas" panose="020B0609020204030204" pitchFamily="49" charset="0"/>
              </a:rPr>
              <a:t>例</a:t>
            </a:r>
            <a:r>
              <a:rPr lang="en-US" altLang="zh-CN" dirty="0">
                <a:solidFill>
                  <a:srgbClr val="0000FF"/>
                </a:solidFill>
                <a:latin typeface="Consolas" panose="020B0609020204030204" pitchFamily="49" charset="0"/>
              </a:rPr>
              <a:t>13-13</a:t>
            </a:r>
            <a:endParaRPr lang="en-US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>
              <a:lnSpc>
                <a:spcPts val="2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#include 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&lt;iostream&gt;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2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std;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2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max(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p,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q)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 // </a:t>
            </a:r>
            <a:r>
              <a:rPr lang="zh-CN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函数，求两数中的大者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r>
              <a:rPr lang="zh-CN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                              </a:t>
            </a:r>
            <a:r>
              <a:rPr lang="en-US" altLang="zh-CN" dirty="0">
                <a:solidFill>
                  <a:srgbClr val="008000"/>
                </a:solidFill>
                <a:latin typeface="Consolas" panose="020B0609020204030204" pitchFamily="49" charset="0"/>
              </a:rPr>
              <a:t>// </a:t>
            </a:r>
            <a:r>
              <a:rPr lang="zh-CN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返回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float*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2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*r;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2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(*p &gt; *q)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2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r = p;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2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2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r = q;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2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r;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2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2000"/>
              </a:lnSpc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main()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 // </a:t>
            </a:r>
            <a:r>
              <a:rPr lang="zh-CN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主函数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2000"/>
              </a:lnSpc>
            </a:pP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2000"/>
              </a:lnSpc>
            </a:pP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x, y, *s =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2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cin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&gt;&gt; x;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2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"x="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&lt;&lt; x &lt;&lt;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2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cin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&gt;&gt; y;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2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"y="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&lt;&lt; y &lt;&lt;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2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s = max(&amp;x, &amp;y);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2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"The bigger one is 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&lt;&lt; *s;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 // </a:t>
            </a:r>
            <a:r>
              <a:rPr lang="zh-CN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输出</a:t>
            </a:r>
            <a:r>
              <a:rPr lang="en-US" dirty="0" err="1">
                <a:solidFill>
                  <a:srgbClr val="008000"/>
                </a:solidFill>
                <a:latin typeface="Consolas" panose="020B0609020204030204" pitchFamily="49" charset="0"/>
              </a:rPr>
              <a:t>x,y</a:t>
            </a:r>
            <a:r>
              <a:rPr lang="zh-CN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中的大者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2000"/>
              </a:lnSpc>
            </a:pPr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2000"/>
              </a:lnSpc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890501" y="1203187"/>
            <a:ext cx="3963304" cy="2862322"/>
          </a:xfrm>
          <a:prstGeom prst="rect">
            <a:avLst/>
          </a:prstGeom>
          <a:solidFill>
            <a:schemeClr val="bg2">
              <a:lumMod val="9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max(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p,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q)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r>
              <a:rPr lang="zh-CN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                              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r;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(*p &gt; *q)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r = *p;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r = *q;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&amp;r;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867400" y="625912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max</a:t>
            </a:r>
            <a:r>
              <a:rPr lang="zh-CN" altLang="en-US" dirty="0">
                <a:solidFill>
                  <a:srgbClr val="FF0000"/>
                </a:solidFill>
              </a:rPr>
              <a:t>函数这样写，可以吗？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496220" y="585144"/>
            <a:ext cx="7905915" cy="56877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95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</a:pPr>
            <a:r>
              <a:rPr kumimoji="1" lang="zh-CN" altLang="en-US" sz="2400" dirty="0">
                <a:solidFill>
                  <a:schemeClr val="hlink"/>
                </a:solidFill>
                <a:latin typeface="Times New Roman" panose="02020503050405090304" pitchFamily="18" charset="0"/>
                <a:ea typeface="黑体" panose="02010609060101010101" pitchFamily="49" charset="-122"/>
              </a:rPr>
              <a:t>说明：</a:t>
            </a:r>
            <a:endParaRPr kumimoji="1" lang="zh-CN" altLang="en-US" sz="2400" dirty="0">
              <a:solidFill>
                <a:schemeClr val="hlink"/>
              </a:solidFill>
              <a:latin typeface="Times New Roman" panose="02020503050405090304" pitchFamily="18" charset="0"/>
              <a:ea typeface="黑体" panose="02010609060101010101" pitchFamily="49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① 在函数名 </a:t>
            </a:r>
            <a:r>
              <a:rPr kumimoji="1" lang="en-US" altLang="zh-CN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max </a:t>
            </a:r>
            <a:r>
              <a:rPr kumimoji="1" lang="zh-CN" altLang="en-US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前加 * 号，表明该函数的返回值为指针，该指针指向的地址中的变量类型为 </a:t>
            </a:r>
            <a:r>
              <a:rPr kumimoji="1" lang="en-US" altLang="zh-CN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float</a:t>
            </a:r>
            <a:r>
              <a:rPr kumimoji="1" lang="zh-CN" altLang="en-US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，因此，在定义时写成</a:t>
            </a:r>
            <a:endParaRPr kumimoji="1" lang="zh-CN" altLang="en-US" sz="2400" dirty="0">
              <a:latin typeface="Times New Roman" panose="02020503050405090304" pitchFamily="18" charset="0"/>
              <a:ea typeface="黑体" panose="02010609060101010101" pitchFamily="49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dirty="0">
                <a:solidFill>
                  <a:schemeClr val="tx2"/>
                </a:solidFill>
                <a:latin typeface="Times New Roman" panose="02020503050405090304" pitchFamily="18" charset="0"/>
                <a:ea typeface="黑体" panose="02010609060101010101" pitchFamily="49" charset="-122"/>
              </a:rPr>
              <a:t>		</a:t>
            </a:r>
            <a:r>
              <a:rPr kumimoji="1" lang="en-US" altLang="zh-CN" sz="2400" dirty="0">
                <a:solidFill>
                  <a:schemeClr val="hlink"/>
                </a:solidFill>
                <a:latin typeface="Times New Roman" panose="02020503050405090304" pitchFamily="18" charset="0"/>
                <a:ea typeface="黑体" panose="02010609060101010101" pitchFamily="49" charset="-122"/>
              </a:rPr>
              <a:t>float *max( float*p, float *q );</a:t>
            </a:r>
            <a:endParaRPr kumimoji="1" lang="en-US" altLang="zh-CN" sz="2400" dirty="0">
              <a:solidFill>
                <a:schemeClr val="hlink"/>
              </a:solidFill>
              <a:latin typeface="Times New Roman" panose="02020503050405090304" pitchFamily="18" charset="0"/>
              <a:ea typeface="黑体" panose="02010609060101010101" pitchFamily="49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solidFill>
                  <a:schemeClr val="tx2"/>
                </a:solidFill>
                <a:latin typeface="Times New Roman" panose="02020503050405090304" pitchFamily="18" charset="0"/>
                <a:ea typeface="黑体" panose="02010609060101010101" pitchFamily="49" charset="-122"/>
              </a:rPr>
              <a:t>	</a:t>
            </a:r>
            <a:r>
              <a:rPr kumimoji="1" lang="zh-CN" altLang="en-US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这个类型标志要写在这一行的最前面，在*号前面。</a:t>
            </a:r>
            <a:endParaRPr kumimoji="1" lang="zh-CN" altLang="en-US" sz="2400" dirty="0">
              <a:latin typeface="Times New Roman" panose="02020503050405090304" pitchFamily="18" charset="0"/>
              <a:ea typeface="黑体" panose="02010609060101010101" pitchFamily="49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1" lang="zh-CN" altLang="en-US" sz="2400" dirty="0">
              <a:latin typeface="Times New Roman" panose="02020503050405090304" pitchFamily="18" charset="0"/>
              <a:ea typeface="黑体" panose="02010609060101010101" pitchFamily="49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② 函数有两个形式参数</a:t>
            </a:r>
            <a:r>
              <a:rPr kumimoji="1" lang="en-US" altLang="zh-CN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p</a:t>
            </a:r>
            <a:r>
              <a:rPr kumimoji="1" lang="zh-CN" altLang="en-US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、</a:t>
            </a:r>
            <a:r>
              <a:rPr kumimoji="1" lang="en-US" altLang="zh-CN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q</a:t>
            </a:r>
            <a:r>
              <a:rPr kumimoji="1" lang="zh-CN" altLang="en-US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，都是指向 </a:t>
            </a:r>
            <a:r>
              <a:rPr kumimoji="1" lang="en-US" altLang="zh-CN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float </a:t>
            </a:r>
            <a:r>
              <a:rPr kumimoji="1" lang="zh-CN" altLang="en-US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型变量的指针。</a:t>
            </a:r>
            <a:endParaRPr kumimoji="1" lang="zh-CN" altLang="en-US" sz="2400" dirty="0">
              <a:latin typeface="Times New Roman" panose="02020503050405090304" pitchFamily="18" charset="0"/>
              <a:ea typeface="黑体" panose="02010609060101010101" pitchFamily="49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1" lang="zh-CN" altLang="en-US" sz="2400" dirty="0">
              <a:latin typeface="Times New Roman" panose="02020503050405090304" pitchFamily="18" charset="0"/>
              <a:ea typeface="黑体" panose="02010609060101010101" pitchFamily="49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③ 在函数体中又定义了一个指针变量 </a:t>
            </a:r>
            <a:r>
              <a:rPr kumimoji="1" lang="en-US" altLang="zh-CN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r</a:t>
            </a:r>
            <a:r>
              <a:rPr kumimoji="1" lang="zh-CN" altLang="en-US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，也是指向 </a:t>
            </a:r>
            <a:r>
              <a:rPr kumimoji="1" lang="en-US" altLang="zh-CN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float </a:t>
            </a:r>
            <a:r>
              <a:rPr kumimoji="1" lang="zh-CN" altLang="en-US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型变量的指针。</a:t>
            </a:r>
            <a:endParaRPr kumimoji="1" lang="zh-CN" altLang="en-US" sz="2400" dirty="0">
              <a:latin typeface="Times New Roman" panose="02020503050405090304" pitchFamily="18" charset="0"/>
              <a:ea typeface="黑体" panose="02010609060101010101" pitchFamily="49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1" lang="zh-CN" altLang="en-US" sz="2400" dirty="0">
              <a:latin typeface="Times New Roman" panose="02020503050405090304" pitchFamily="18" charset="0"/>
              <a:ea typeface="黑体" panose="02010609060101010101" pitchFamily="49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④ 在主函数中定义 </a:t>
            </a:r>
            <a:r>
              <a:rPr kumimoji="1" lang="en-US" altLang="zh-CN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x</a:t>
            </a:r>
            <a:r>
              <a:rPr kumimoji="1" lang="zh-CN" altLang="en-US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，</a:t>
            </a:r>
            <a:r>
              <a:rPr kumimoji="1" lang="en-US" altLang="zh-CN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y</a:t>
            </a:r>
            <a:r>
              <a:rPr kumimoji="1" lang="zh-CN" altLang="en-US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为 </a:t>
            </a:r>
            <a:r>
              <a:rPr kumimoji="1" lang="en-US" altLang="zh-CN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float </a:t>
            </a:r>
            <a:r>
              <a:rPr kumimoji="1" lang="zh-CN" altLang="en-US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型变量，其数值由键盘输入。还定义了一个指向 </a:t>
            </a:r>
            <a:r>
              <a:rPr kumimoji="1" lang="en-US" altLang="zh-CN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float </a:t>
            </a:r>
            <a:r>
              <a:rPr kumimoji="1" lang="zh-CN" altLang="en-US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型变量的指针变量 </a:t>
            </a:r>
            <a:r>
              <a:rPr kumimoji="1" lang="en-US" altLang="zh-CN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s</a:t>
            </a:r>
            <a:r>
              <a:rPr kumimoji="1" lang="zh-CN" altLang="en-US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。</a:t>
            </a:r>
            <a:endParaRPr kumimoji="1" lang="zh-CN" altLang="en-US" sz="2400" dirty="0">
              <a:latin typeface="Times New Roman" panose="02020503050405090304" pitchFamily="18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2"/>
          <p:cNvSpPr txBox="1">
            <a:spLocks noChangeArrowheads="1"/>
          </p:cNvSpPr>
          <p:nvPr/>
        </p:nvSpPr>
        <p:spPr bwMode="auto">
          <a:xfrm>
            <a:off x="540215" y="334662"/>
            <a:ext cx="8063570" cy="304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⑤ </a:t>
            </a:r>
            <a:r>
              <a:rPr kumimoji="1"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在主函数中最关键的一条语句为</a:t>
            </a:r>
            <a:endParaRPr kumimoji="1" lang="zh-CN" altLang="en-US" sz="2400" dirty="0">
              <a:latin typeface="Times New Roman" panose="02020503050405090304" pitchFamily="18" charset="0"/>
              <a:ea typeface="黑体" panose="02010609060101010101" pitchFamily="49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dirty="0">
                <a:solidFill>
                  <a:schemeClr val="tx2"/>
                </a:solidFill>
                <a:latin typeface="Times New Roman" panose="02020503050405090304" pitchFamily="18" charset="0"/>
                <a:ea typeface="黑体" panose="02010609060101010101" pitchFamily="49" charset="-122"/>
              </a:rPr>
              <a:t>		</a:t>
            </a:r>
            <a:r>
              <a:rPr kumimoji="1" lang="en-US" altLang="zh-CN" sz="2400" dirty="0">
                <a:solidFill>
                  <a:schemeClr val="hlink"/>
                </a:solidFill>
                <a:latin typeface="Times New Roman" panose="02020503050405090304" pitchFamily="18" charset="0"/>
                <a:ea typeface="黑体" panose="02010609060101010101" pitchFamily="49" charset="-122"/>
              </a:rPr>
              <a:t>s = max (&amp;x, &amp;y);</a:t>
            </a:r>
            <a:endParaRPr kumimoji="1" lang="en-US" altLang="zh-CN" sz="2400" dirty="0">
              <a:solidFill>
                <a:schemeClr val="hlink"/>
              </a:solidFill>
              <a:latin typeface="Times New Roman" panose="02020503050405090304" pitchFamily="18" charset="0"/>
              <a:ea typeface="黑体" panose="02010609060101010101" pitchFamily="49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solidFill>
                  <a:schemeClr val="tx2"/>
                </a:solidFill>
                <a:latin typeface="Times New Roman" panose="02020503050405090304" pitchFamily="18" charset="0"/>
                <a:ea typeface="黑体" panose="02010609060101010101" pitchFamily="49" charset="-122"/>
              </a:rPr>
              <a:t>		</a:t>
            </a:r>
            <a:r>
              <a:rPr kumimoji="1" lang="zh-CN" altLang="en-US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我们来分析这条语句，因为 </a:t>
            </a:r>
            <a:r>
              <a:rPr kumimoji="1" lang="en-US" altLang="zh-CN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s </a:t>
            </a:r>
            <a:r>
              <a:rPr kumimoji="1" lang="zh-CN" altLang="en-US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是指针变量。它肯定是指向一个变量（</a:t>
            </a:r>
            <a:r>
              <a:rPr kumimoji="1" lang="en-US" altLang="zh-CN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float </a:t>
            </a:r>
            <a:r>
              <a:rPr kumimoji="1" lang="zh-CN" altLang="en-US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型）的地址，所以 </a:t>
            </a:r>
            <a:r>
              <a:rPr kumimoji="1" lang="en-US" altLang="zh-CN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max(&amp;x, &amp;y)</a:t>
            </a:r>
            <a:r>
              <a:rPr kumimoji="1" lang="zh-CN" altLang="en-US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应该是一个地址。此其一；其二，主函数中出现</a:t>
            </a:r>
            <a:r>
              <a:rPr kumimoji="1" lang="en-US" altLang="zh-CN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max(&amp;x, &amp;y)</a:t>
            </a:r>
            <a:r>
              <a:rPr kumimoji="1" lang="zh-CN" altLang="en-US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是说要去调用子函数。 调用中 </a:t>
            </a:r>
            <a:r>
              <a:rPr kumimoji="1" lang="en-US" altLang="zh-CN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x </a:t>
            </a:r>
            <a:r>
              <a:rPr kumimoji="1" lang="zh-CN" altLang="en-US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与 </a:t>
            </a:r>
            <a:r>
              <a:rPr kumimoji="1" lang="en-US" altLang="zh-CN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y </a:t>
            </a:r>
            <a:r>
              <a:rPr kumimoji="1" lang="zh-CN" altLang="en-US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的地址 </a:t>
            </a:r>
            <a:r>
              <a:rPr kumimoji="1" lang="en-US" altLang="zh-CN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&amp;x </a:t>
            </a:r>
            <a:r>
              <a:rPr kumimoji="1" lang="zh-CN" altLang="en-US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和 </a:t>
            </a:r>
            <a:r>
              <a:rPr kumimoji="1" lang="en-US" altLang="zh-CN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&amp;y </a:t>
            </a:r>
            <a:r>
              <a:rPr kumimoji="1" lang="zh-CN" altLang="en-US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作为实际参数赋给形式参数 </a:t>
            </a:r>
            <a:r>
              <a:rPr kumimoji="1" lang="en-US" altLang="zh-CN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p </a:t>
            </a:r>
            <a:r>
              <a:rPr kumimoji="1" lang="zh-CN" altLang="en-US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和 </a:t>
            </a:r>
            <a:r>
              <a:rPr kumimoji="1" lang="en-US" altLang="zh-CN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q</a:t>
            </a:r>
            <a:r>
              <a:rPr kumimoji="1" lang="zh-CN" altLang="en-US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，形成了如图所示的指向关系， </a:t>
            </a:r>
            <a:r>
              <a:rPr kumimoji="1" lang="en-US" altLang="zh-CN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p </a:t>
            </a:r>
            <a:r>
              <a:rPr kumimoji="1" lang="zh-CN" altLang="en-US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指向变量 </a:t>
            </a:r>
            <a:r>
              <a:rPr kumimoji="1" lang="en-US" altLang="zh-CN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x</a:t>
            </a:r>
            <a:r>
              <a:rPr kumimoji="1" lang="zh-CN" altLang="en-US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，</a:t>
            </a:r>
            <a:r>
              <a:rPr kumimoji="1" lang="en-US" altLang="zh-CN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q</a:t>
            </a:r>
            <a:r>
              <a:rPr kumimoji="1" lang="zh-CN" altLang="en-US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指向变量 </a:t>
            </a:r>
            <a:r>
              <a:rPr kumimoji="1" lang="en-US" altLang="zh-CN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y</a:t>
            </a:r>
            <a:r>
              <a:rPr kumimoji="1" lang="zh-CN" altLang="en-US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。</a:t>
            </a:r>
            <a:endParaRPr kumimoji="1" lang="zh-CN" altLang="en-US" sz="2400" dirty="0">
              <a:latin typeface="Times New Roman" panose="02020503050405090304" pitchFamily="18" charset="0"/>
              <a:ea typeface="黑体" panose="02010609060101010101" pitchFamily="49" charset="-122"/>
            </a:endParaRPr>
          </a:p>
        </p:txBody>
      </p:sp>
      <p:sp>
        <p:nvSpPr>
          <p:cNvPr id="10243" name="Text Box 3"/>
          <p:cNvSpPr txBox="1">
            <a:spLocks noChangeArrowheads="1"/>
          </p:cNvSpPr>
          <p:nvPr/>
        </p:nvSpPr>
        <p:spPr bwMode="auto">
          <a:xfrm>
            <a:off x="2650469" y="4030663"/>
            <a:ext cx="1223963" cy="469900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&amp;x</a:t>
            </a:r>
            <a:endParaRPr kumimoji="1" lang="en-US" altLang="zh-CN" sz="2400" dirty="0">
              <a:latin typeface="Times New Roman" panose="02020503050405090304" pitchFamily="18" charset="0"/>
              <a:ea typeface="黑体" panose="02010609060101010101" pitchFamily="49" charset="-122"/>
            </a:endParaRPr>
          </a:p>
        </p:txBody>
      </p:sp>
      <p:sp>
        <p:nvSpPr>
          <p:cNvPr id="10244" name="Text Box 4"/>
          <p:cNvSpPr txBox="1">
            <a:spLocks noChangeArrowheads="1"/>
          </p:cNvSpPr>
          <p:nvPr/>
        </p:nvSpPr>
        <p:spPr bwMode="auto">
          <a:xfrm>
            <a:off x="5817532" y="4030663"/>
            <a:ext cx="1223962" cy="469900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503050405090304" pitchFamily="18" charset="0"/>
                <a:ea typeface="黑体" panose="02010609060101010101" pitchFamily="49" charset="-122"/>
              </a:rPr>
              <a:t>*p</a:t>
            </a:r>
            <a:endParaRPr kumimoji="1" lang="en-US" altLang="zh-CN" sz="2400">
              <a:latin typeface="Times New Roman" panose="02020503050405090304" pitchFamily="18" charset="0"/>
              <a:ea typeface="黑体" panose="02010609060101010101" pitchFamily="49" charset="-122"/>
            </a:endParaRPr>
          </a:p>
        </p:txBody>
      </p:sp>
      <p:sp>
        <p:nvSpPr>
          <p:cNvPr id="10245" name="Text Box 5"/>
          <p:cNvSpPr txBox="1">
            <a:spLocks noChangeArrowheads="1"/>
          </p:cNvSpPr>
          <p:nvPr/>
        </p:nvSpPr>
        <p:spPr bwMode="auto">
          <a:xfrm>
            <a:off x="2650469" y="4967288"/>
            <a:ext cx="1223963" cy="469900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503050405090304" pitchFamily="18" charset="0"/>
                <a:ea typeface="黑体" panose="02010609060101010101" pitchFamily="49" charset="-122"/>
              </a:rPr>
              <a:t>&amp;x</a:t>
            </a:r>
            <a:endParaRPr kumimoji="1" lang="en-US" altLang="zh-CN" sz="2400">
              <a:latin typeface="Times New Roman" panose="02020503050405090304" pitchFamily="18" charset="0"/>
              <a:ea typeface="黑体" panose="02010609060101010101" pitchFamily="49" charset="-122"/>
            </a:endParaRPr>
          </a:p>
        </p:txBody>
      </p:sp>
      <p:sp>
        <p:nvSpPr>
          <p:cNvPr id="10246" name="Text Box 6"/>
          <p:cNvSpPr txBox="1">
            <a:spLocks noChangeArrowheads="1"/>
          </p:cNvSpPr>
          <p:nvPr/>
        </p:nvSpPr>
        <p:spPr bwMode="auto">
          <a:xfrm>
            <a:off x="5817532" y="4967288"/>
            <a:ext cx="1223962" cy="469900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503050405090304" pitchFamily="18" charset="0"/>
                <a:ea typeface="黑体" panose="02010609060101010101" pitchFamily="49" charset="-122"/>
              </a:rPr>
              <a:t>*q</a:t>
            </a:r>
            <a:endParaRPr kumimoji="1" lang="en-US" altLang="zh-CN" sz="2400">
              <a:latin typeface="Times New Roman" panose="02020503050405090304" pitchFamily="18" charset="0"/>
              <a:ea typeface="黑体" panose="02010609060101010101" pitchFamily="49" charset="-122"/>
            </a:endParaRPr>
          </a:p>
        </p:txBody>
      </p:sp>
      <p:sp>
        <p:nvSpPr>
          <p:cNvPr id="10247" name="Line 7"/>
          <p:cNvSpPr>
            <a:spLocks noChangeShapeType="1"/>
          </p:cNvSpPr>
          <p:nvPr/>
        </p:nvSpPr>
        <p:spPr bwMode="auto">
          <a:xfrm>
            <a:off x="3585507" y="5254625"/>
            <a:ext cx="2232025" cy="0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0248" name="Text Box 8"/>
          <p:cNvSpPr txBox="1">
            <a:spLocks noChangeArrowheads="1"/>
          </p:cNvSpPr>
          <p:nvPr/>
        </p:nvSpPr>
        <p:spPr bwMode="auto">
          <a:xfrm>
            <a:off x="3874432" y="3789363"/>
            <a:ext cx="12239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503050405090304" pitchFamily="18" charset="0"/>
                <a:ea typeface="黑体" panose="02010609060101010101" pitchFamily="49" charset="-122"/>
              </a:rPr>
              <a:t>p</a:t>
            </a:r>
            <a:endParaRPr kumimoji="1" lang="en-US" altLang="zh-CN" sz="2400">
              <a:latin typeface="Times New Roman" panose="02020503050405090304" pitchFamily="18" charset="0"/>
              <a:ea typeface="黑体" panose="02010609060101010101" pitchFamily="49" charset="-122"/>
            </a:endParaRPr>
          </a:p>
        </p:txBody>
      </p:sp>
      <p:sp>
        <p:nvSpPr>
          <p:cNvPr id="10249" name="Text Box 9"/>
          <p:cNvSpPr txBox="1">
            <a:spLocks noChangeArrowheads="1"/>
          </p:cNvSpPr>
          <p:nvPr/>
        </p:nvSpPr>
        <p:spPr bwMode="auto">
          <a:xfrm>
            <a:off x="3874432" y="4738688"/>
            <a:ext cx="12239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503050405090304" pitchFamily="18" charset="0"/>
                <a:ea typeface="黑体" panose="02010609060101010101" pitchFamily="49" charset="-122"/>
              </a:rPr>
              <a:t>q</a:t>
            </a:r>
            <a:endParaRPr kumimoji="1" lang="en-US" altLang="zh-CN" sz="2400">
              <a:latin typeface="Times New Roman" panose="02020503050405090304" pitchFamily="18" charset="0"/>
              <a:ea typeface="黑体" panose="02010609060101010101" pitchFamily="49" charset="-122"/>
            </a:endParaRPr>
          </a:p>
        </p:txBody>
      </p:sp>
      <p:sp>
        <p:nvSpPr>
          <p:cNvPr id="10250" name="Text Box 10"/>
          <p:cNvSpPr txBox="1">
            <a:spLocks noChangeArrowheads="1"/>
          </p:cNvSpPr>
          <p:nvPr/>
        </p:nvSpPr>
        <p:spPr bwMode="auto">
          <a:xfrm>
            <a:off x="5204757" y="3646488"/>
            <a:ext cx="12239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503050405090304" pitchFamily="18" charset="0"/>
                <a:ea typeface="黑体" panose="02010609060101010101" pitchFamily="49" charset="-122"/>
              </a:rPr>
              <a:t>x</a:t>
            </a:r>
            <a:endParaRPr kumimoji="1" lang="en-US" altLang="zh-CN" sz="2400">
              <a:latin typeface="Times New Roman" panose="02020503050405090304" pitchFamily="18" charset="0"/>
              <a:ea typeface="黑体" panose="02010609060101010101" pitchFamily="49" charset="-122"/>
            </a:endParaRPr>
          </a:p>
        </p:txBody>
      </p:sp>
      <p:sp>
        <p:nvSpPr>
          <p:cNvPr id="10251" name="Text Box 11"/>
          <p:cNvSpPr txBox="1">
            <a:spLocks noChangeArrowheads="1"/>
          </p:cNvSpPr>
          <p:nvPr/>
        </p:nvSpPr>
        <p:spPr bwMode="auto">
          <a:xfrm>
            <a:off x="5204757" y="4510088"/>
            <a:ext cx="12239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503050405090304" pitchFamily="18" charset="0"/>
                <a:ea typeface="黑体" panose="02010609060101010101" pitchFamily="49" charset="-122"/>
              </a:rPr>
              <a:t>y</a:t>
            </a:r>
            <a:endParaRPr kumimoji="1" lang="en-US" altLang="zh-CN" sz="2400">
              <a:latin typeface="Times New Roman" panose="02020503050405090304" pitchFamily="18" charset="0"/>
              <a:ea typeface="黑体" panose="02010609060101010101" pitchFamily="49" charset="-122"/>
            </a:endParaRPr>
          </a:p>
        </p:txBody>
      </p:sp>
      <p:sp>
        <p:nvSpPr>
          <p:cNvPr id="10252" name="Text Box 12"/>
          <p:cNvSpPr txBox="1">
            <a:spLocks noChangeArrowheads="1"/>
          </p:cNvSpPr>
          <p:nvPr/>
        </p:nvSpPr>
        <p:spPr bwMode="auto">
          <a:xfrm>
            <a:off x="5817532" y="5327650"/>
            <a:ext cx="12239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503050405090304" pitchFamily="18" charset="0"/>
                <a:ea typeface="黑体" panose="02010609060101010101" pitchFamily="49" charset="-122"/>
              </a:rPr>
              <a:t>&amp;y</a:t>
            </a:r>
            <a:endParaRPr kumimoji="1" lang="en-US" altLang="zh-CN" sz="2400">
              <a:latin typeface="Times New Roman" panose="02020503050405090304" pitchFamily="18" charset="0"/>
              <a:ea typeface="黑体" panose="02010609060101010101" pitchFamily="49" charset="-122"/>
            </a:endParaRPr>
          </a:p>
        </p:txBody>
      </p:sp>
      <p:sp>
        <p:nvSpPr>
          <p:cNvPr id="10253" name="Text Box 13"/>
          <p:cNvSpPr txBox="1">
            <a:spLocks noChangeArrowheads="1"/>
          </p:cNvSpPr>
          <p:nvPr/>
        </p:nvSpPr>
        <p:spPr bwMode="auto">
          <a:xfrm>
            <a:off x="5890557" y="4391025"/>
            <a:ext cx="12239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503050405090304" pitchFamily="18" charset="0"/>
                <a:ea typeface="黑体" panose="02010609060101010101" pitchFamily="49" charset="-122"/>
              </a:rPr>
              <a:t>&amp;x</a:t>
            </a:r>
            <a:endParaRPr kumimoji="1" lang="en-US" altLang="zh-CN" sz="2400">
              <a:latin typeface="Times New Roman" panose="02020503050405090304" pitchFamily="18" charset="0"/>
              <a:ea typeface="黑体" panose="02010609060101010101" pitchFamily="49" charset="-122"/>
            </a:endParaRPr>
          </a:p>
        </p:txBody>
      </p:sp>
      <p:sp>
        <p:nvSpPr>
          <p:cNvPr id="10254" name="Text Box 14"/>
          <p:cNvSpPr txBox="1">
            <a:spLocks noChangeArrowheads="1"/>
          </p:cNvSpPr>
          <p:nvPr/>
        </p:nvSpPr>
        <p:spPr bwMode="auto">
          <a:xfrm>
            <a:off x="1400176" y="5844901"/>
            <a:ext cx="739643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  <a:r>
              <a:rPr kumimoji="1"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注意到图中的指向关系是主函数在调用子函数过程中形成的。</a:t>
            </a:r>
            <a:endParaRPr kumimoji="1" lang="zh-CN" altLang="en-US" sz="2000" dirty="0">
              <a:latin typeface="Times New Roman" panose="02020503050405090304" pitchFamily="18" charset="0"/>
              <a:ea typeface="黑体" panose="02010609060101010101" pitchFamily="49" charset="-122"/>
            </a:endParaRPr>
          </a:p>
        </p:txBody>
      </p:sp>
      <p:sp>
        <p:nvSpPr>
          <p:cNvPr id="10255" name="Line 15"/>
          <p:cNvSpPr>
            <a:spLocks noChangeShapeType="1"/>
          </p:cNvSpPr>
          <p:nvPr/>
        </p:nvSpPr>
        <p:spPr bwMode="auto">
          <a:xfrm>
            <a:off x="3587094" y="4292600"/>
            <a:ext cx="2232025" cy="0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370" name="Rectangle 2"/>
          <p:cNvSpPr>
            <a:spLocks noGrp="1" noChangeArrowheads="1"/>
          </p:cNvSpPr>
          <p:nvPr>
            <p:ph idx="1"/>
          </p:nvPr>
        </p:nvSpPr>
        <p:spPr>
          <a:xfrm>
            <a:off x="577848" y="291088"/>
            <a:ext cx="8207375" cy="266382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US" altLang="zh-CN" sz="2400" dirty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400" b="0" dirty="0">
                <a:effectLst/>
              </a:rPr>
              <a:t>⑥ </a:t>
            </a:r>
            <a:r>
              <a:rPr kumimoji="1" lang="zh-CN" altLang="en-US" sz="2400" dirty="0">
                <a:effectLst/>
                <a:latin typeface="Times New Roman" panose="02020503050405090304" pitchFamily="18" charset="0"/>
                <a:ea typeface="黑体" panose="02010609060101010101" pitchFamily="49" charset="-122"/>
              </a:rPr>
              <a:t>加入从键盘键入 </a:t>
            </a:r>
            <a:r>
              <a:rPr kumimoji="1" lang="en-US" altLang="zh-CN" sz="2400" dirty="0">
                <a:effectLst/>
                <a:latin typeface="Times New Roman" panose="02020503050405090304" pitchFamily="18" charset="0"/>
                <a:ea typeface="黑体" panose="02010609060101010101" pitchFamily="49" charset="-122"/>
              </a:rPr>
              <a:t>x=3.1416,      y=2.7182</a:t>
            </a:r>
            <a:r>
              <a:rPr kumimoji="1" lang="zh-CN" altLang="en-US" sz="2400" dirty="0">
                <a:effectLst/>
                <a:latin typeface="Times New Roman" panose="02020503050405090304" pitchFamily="18" charset="0"/>
                <a:ea typeface="黑体" panose="02010609060101010101" pitchFamily="49" charset="-122"/>
              </a:rPr>
              <a:t>。</a:t>
            </a:r>
            <a:endParaRPr kumimoji="1" lang="zh-CN" altLang="en-US" sz="2400" dirty="0">
              <a:effectLst/>
              <a:latin typeface="Times New Roman" panose="02020503050405090304" pitchFamily="18" charset="0"/>
              <a:ea typeface="黑体" panose="02010609060101010101" pitchFamily="49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zh-CN" altLang="en-US" sz="2400" dirty="0">
                <a:effectLst/>
                <a:latin typeface="Times New Roman" panose="02020503050405090304" pitchFamily="18" charset="0"/>
                <a:ea typeface="黑体" panose="02010609060101010101" pitchFamily="49" charset="-122"/>
              </a:rPr>
              <a:t>   在调用子函数</a:t>
            </a:r>
            <a:r>
              <a:rPr kumimoji="1" lang="en-US" altLang="zh-CN" sz="2400" dirty="0">
                <a:effectLst/>
                <a:latin typeface="Times New Roman" panose="02020503050405090304" pitchFamily="18" charset="0"/>
                <a:ea typeface="黑体" panose="02010609060101010101" pitchFamily="49" charset="-122"/>
              </a:rPr>
              <a:t>max(*p, *q) </a:t>
            </a:r>
            <a:r>
              <a:rPr kumimoji="1" lang="zh-CN" altLang="en-US" sz="2400" dirty="0">
                <a:effectLst/>
                <a:latin typeface="Times New Roman" panose="02020503050405090304" pitchFamily="18" charset="0"/>
                <a:ea typeface="黑体" panose="02010609060101010101" pitchFamily="49" charset="-122"/>
              </a:rPr>
              <a:t>后，*</a:t>
            </a:r>
            <a:r>
              <a:rPr kumimoji="1" lang="en-US" altLang="zh-CN" sz="2400" dirty="0">
                <a:effectLst/>
                <a:latin typeface="Times New Roman" panose="02020503050405090304" pitchFamily="18" charset="0"/>
                <a:ea typeface="黑体" panose="02010609060101010101" pitchFamily="49" charset="-122"/>
              </a:rPr>
              <a:t>p </a:t>
            </a:r>
            <a:r>
              <a:rPr kumimoji="1" lang="zh-CN" altLang="en-US" sz="2400" dirty="0">
                <a:effectLst/>
                <a:latin typeface="Times New Roman" panose="02020503050405090304" pitchFamily="18" charset="0"/>
                <a:ea typeface="黑体" panose="02010609060101010101" pitchFamily="49" charset="-122"/>
              </a:rPr>
              <a:t>为 </a:t>
            </a:r>
            <a:r>
              <a:rPr kumimoji="1" lang="en-US" altLang="zh-CN" sz="2400" dirty="0">
                <a:effectLst/>
                <a:latin typeface="Times New Roman" panose="02020503050405090304" pitchFamily="18" charset="0"/>
                <a:ea typeface="黑体" panose="02010609060101010101" pitchFamily="49" charset="-122"/>
              </a:rPr>
              <a:t>3.1416</a:t>
            </a:r>
            <a:r>
              <a:rPr kumimoji="1" lang="zh-CN" altLang="en-US" sz="2400" dirty="0">
                <a:effectLst/>
                <a:latin typeface="Times New Roman" panose="02020503050405090304" pitchFamily="18" charset="0"/>
                <a:ea typeface="黑体" panose="02010609060101010101" pitchFamily="49" charset="-122"/>
              </a:rPr>
              <a:t>，*</a:t>
            </a:r>
            <a:r>
              <a:rPr kumimoji="1" lang="en-US" altLang="zh-CN" sz="2400" dirty="0">
                <a:effectLst/>
                <a:latin typeface="Times New Roman" panose="02020503050405090304" pitchFamily="18" charset="0"/>
                <a:ea typeface="黑体" panose="02010609060101010101" pitchFamily="49" charset="-122"/>
              </a:rPr>
              <a:t>q </a:t>
            </a:r>
            <a:r>
              <a:rPr kumimoji="1" lang="zh-CN" altLang="en-US" sz="2400" dirty="0">
                <a:effectLst/>
                <a:latin typeface="Times New Roman" panose="02020503050405090304" pitchFamily="18" charset="0"/>
                <a:ea typeface="黑体" panose="02010609060101010101" pitchFamily="49" charset="-122"/>
              </a:rPr>
              <a:t>为 </a:t>
            </a:r>
            <a:r>
              <a:rPr kumimoji="1" lang="en-US" altLang="zh-CN" sz="2400" dirty="0">
                <a:effectLst/>
                <a:latin typeface="Times New Roman" panose="02020503050405090304" pitchFamily="18" charset="0"/>
                <a:ea typeface="黑体" panose="02010609060101010101" pitchFamily="49" charset="-122"/>
              </a:rPr>
              <a:t>2.7182</a:t>
            </a:r>
            <a:r>
              <a:rPr kumimoji="1" lang="zh-CN" altLang="en-US" sz="2400" dirty="0">
                <a:effectLst/>
                <a:latin typeface="Times New Roman" panose="02020503050405090304" pitchFamily="18" charset="0"/>
                <a:ea typeface="黑体" panose="02010609060101010101" pitchFamily="49" charset="-122"/>
              </a:rPr>
              <a:t>，这时*</a:t>
            </a:r>
            <a:r>
              <a:rPr kumimoji="1" lang="en-US" altLang="zh-CN" sz="2400" dirty="0">
                <a:effectLst/>
                <a:latin typeface="Times New Roman" panose="02020503050405090304" pitchFamily="18" charset="0"/>
                <a:ea typeface="黑体" panose="02010609060101010101" pitchFamily="49" charset="-122"/>
              </a:rPr>
              <a:t>p&gt;*q</a:t>
            </a:r>
            <a:r>
              <a:rPr kumimoji="1" lang="zh-CN" altLang="en-US" sz="2400" dirty="0">
                <a:effectLst/>
                <a:latin typeface="Times New Roman" panose="02020503050405090304" pitchFamily="18" charset="0"/>
                <a:ea typeface="黑体" panose="02010609060101010101" pitchFamily="49" charset="-122"/>
              </a:rPr>
              <a:t>，要执行 </a:t>
            </a:r>
            <a:r>
              <a:rPr kumimoji="1" lang="en-US" altLang="zh-CN" sz="2400" dirty="0">
                <a:effectLst/>
                <a:latin typeface="Times New Roman" panose="02020503050405090304" pitchFamily="18" charset="0"/>
                <a:ea typeface="黑体" panose="02010609060101010101" pitchFamily="49" charset="-122"/>
              </a:rPr>
              <a:t>r=p</a:t>
            </a:r>
            <a:r>
              <a:rPr kumimoji="1" lang="zh-CN" altLang="en-US" sz="2400" dirty="0">
                <a:effectLst/>
                <a:latin typeface="Times New Roman" panose="02020503050405090304" pitchFamily="18" charset="0"/>
                <a:ea typeface="黑体" panose="02010609060101010101" pitchFamily="49" charset="-122"/>
              </a:rPr>
              <a:t>，即让指针 </a:t>
            </a:r>
            <a:r>
              <a:rPr kumimoji="1" lang="en-US" altLang="zh-CN" sz="2400" dirty="0">
                <a:effectLst/>
                <a:latin typeface="Times New Roman" panose="02020503050405090304" pitchFamily="18" charset="0"/>
                <a:ea typeface="黑体" panose="02010609060101010101" pitchFamily="49" charset="-122"/>
              </a:rPr>
              <a:t>r </a:t>
            </a:r>
            <a:r>
              <a:rPr kumimoji="1" lang="zh-CN" altLang="en-US" sz="2400" dirty="0">
                <a:effectLst/>
                <a:latin typeface="Times New Roman" panose="02020503050405090304" pitchFamily="18" charset="0"/>
                <a:ea typeface="黑体" panose="02010609060101010101" pitchFamily="49" charset="-122"/>
              </a:rPr>
              <a:t>指向 </a:t>
            </a:r>
            <a:r>
              <a:rPr kumimoji="1" lang="en-US" altLang="zh-CN" sz="2400" dirty="0">
                <a:effectLst/>
                <a:latin typeface="Times New Roman" panose="02020503050405090304" pitchFamily="18" charset="0"/>
                <a:ea typeface="黑体" panose="02010609060101010101" pitchFamily="49" charset="-122"/>
              </a:rPr>
              <a:t>p </a:t>
            </a:r>
            <a:r>
              <a:rPr kumimoji="1" lang="zh-CN" altLang="en-US" sz="2400" dirty="0">
                <a:effectLst/>
                <a:latin typeface="Times New Roman" panose="02020503050405090304" pitchFamily="18" charset="0"/>
                <a:ea typeface="黑体" panose="02010609060101010101" pitchFamily="49" charset="-122"/>
              </a:rPr>
              <a:t>所指向的地址 </a:t>
            </a:r>
            <a:r>
              <a:rPr kumimoji="1" lang="en-US" altLang="zh-CN" sz="2400" dirty="0">
                <a:effectLst/>
                <a:latin typeface="Times New Roman" panose="02020503050405090304" pitchFamily="18" charset="0"/>
                <a:ea typeface="黑体" panose="02010609060101010101" pitchFamily="49" charset="-122"/>
              </a:rPr>
              <a:t>&amp;x</a:t>
            </a:r>
            <a:r>
              <a:rPr kumimoji="1" lang="zh-CN" altLang="en-US" sz="2400" dirty="0">
                <a:effectLst/>
                <a:latin typeface="Times New Roman" panose="02020503050405090304" pitchFamily="18" charset="0"/>
                <a:ea typeface="黑体" panose="02010609060101010101" pitchFamily="49" charset="-122"/>
              </a:rPr>
              <a:t>，如下图</a:t>
            </a:r>
            <a:r>
              <a:rPr kumimoji="1" lang="en-US" altLang="zh-CN" sz="2400" dirty="0">
                <a:effectLst/>
                <a:latin typeface="Times New Roman" panose="02020503050405090304" pitchFamily="18" charset="0"/>
                <a:ea typeface="黑体" panose="02010609060101010101" pitchFamily="49" charset="-122"/>
              </a:rPr>
              <a:t>:</a:t>
            </a:r>
            <a:r>
              <a:rPr lang="en-US" altLang="zh-CN" sz="2400" dirty="0"/>
              <a:t>  </a:t>
            </a:r>
            <a:endParaRPr lang="en-US" altLang="zh-CN" sz="2400" dirty="0"/>
          </a:p>
        </p:txBody>
      </p:sp>
      <p:grpSp>
        <p:nvGrpSpPr>
          <p:cNvPr id="11267" name="Group 3"/>
          <p:cNvGrpSpPr/>
          <p:nvPr/>
        </p:nvGrpSpPr>
        <p:grpSpPr bwMode="auto">
          <a:xfrm>
            <a:off x="2267743" y="2452469"/>
            <a:ext cx="6049962" cy="3527425"/>
            <a:chOff x="793" y="1525"/>
            <a:chExt cx="3811" cy="2222"/>
          </a:xfrm>
        </p:grpSpPr>
        <p:sp>
          <p:nvSpPr>
            <p:cNvPr id="11268" name="Rectangle 4"/>
            <p:cNvSpPr>
              <a:spLocks noChangeArrowheads="1"/>
            </p:cNvSpPr>
            <p:nvPr/>
          </p:nvSpPr>
          <p:spPr bwMode="auto">
            <a:xfrm>
              <a:off x="1474" y="1978"/>
              <a:ext cx="635" cy="318"/>
            </a:xfrm>
            <a:prstGeom prst="rect">
              <a:avLst/>
            </a:prstGeom>
            <a:noFill/>
            <a:ln w="57150" cap="sq">
              <a:solidFill>
                <a:schemeClr val="tx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1269" name="Rectangle 5"/>
            <p:cNvSpPr>
              <a:spLocks noChangeArrowheads="1"/>
            </p:cNvSpPr>
            <p:nvPr/>
          </p:nvSpPr>
          <p:spPr bwMode="auto">
            <a:xfrm>
              <a:off x="3061" y="1842"/>
              <a:ext cx="1089" cy="454"/>
            </a:xfrm>
            <a:prstGeom prst="rect">
              <a:avLst/>
            </a:prstGeom>
            <a:noFill/>
            <a:ln w="57150" cap="sq">
              <a:solidFill>
                <a:schemeClr val="tx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1270" name="Rectangle 6"/>
            <p:cNvSpPr>
              <a:spLocks noChangeArrowheads="1"/>
            </p:cNvSpPr>
            <p:nvPr/>
          </p:nvSpPr>
          <p:spPr bwMode="auto">
            <a:xfrm>
              <a:off x="2109" y="2658"/>
              <a:ext cx="544" cy="363"/>
            </a:xfrm>
            <a:prstGeom prst="rect">
              <a:avLst/>
            </a:prstGeom>
            <a:noFill/>
            <a:ln w="57150" cap="sq">
              <a:solidFill>
                <a:schemeClr val="tx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1271" name="Rectangle 7"/>
            <p:cNvSpPr>
              <a:spLocks noChangeArrowheads="1"/>
            </p:cNvSpPr>
            <p:nvPr/>
          </p:nvSpPr>
          <p:spPr bwMode="auto">
            <a:xfrm>
              <a:off x="3061" y="2658"/>
              <a:ext cx="1089" cy="363"/>
            </a:xfrm>
            <a:prstGeom prst="rect">
              <a:avLst/>
            </a:prstGeom>
            <a:noFill/>
            <a:ln w="57150" cap="sq">
              <a:solidFill>
                <a:schemeClr val="tx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1272" name="Rectangle 8"/>
            <p:cNvSpPr>
              <a:spLocks noChangeArrowheads="1"/>
            </p:cNvSpPr>
            <p:nvPr/>
          </p:nvSpPr>
          <p:spPr bwMode="auto">
            <a:xfrm>
              <a:off x="1474" y="3339"/>
              <a:ext cx="635" cy="408"/>
            </a:xfrm>
            <a:prstGeom prst="rect">
              <a:avLst/>
            </a:prstGeom>
            <a:noFill/>
            <a:ln w="57150" cap="sq">
              <a:solidFill>
                <a:schemeClr val="tx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1273" name="Line 9"/>
            <p:cNvSpPr>
              <a:spLocks noChangeShapeType="1"/>
            </p:cNvSpPr>
            <p:nvPr/>
          </p:nvSpPr>
          <p:spPr bwMode="auto">
            <a:xfrm>
              <a:off x="1973" y="2114"/>
              <a:ext cx="0" cy="1361"/>
            </a:xfrm>
            <a:prstGeom prst="line">
              <a:avLst/>
            </a:prstGeom>
            <a:noFill/>
            <a:ln w="57150" cap="sq">
              <a:solidFill>
                <a:schemeClr val="hlink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1274" name="Line 10"/>
            <p:cNvSpPr>
              <a:spLocks noChangeShapeType="1"/>
            </p:cNvSpPr>
            <p:nvPr/>
          </p:nvSpPr>
          <p:spPr bwMode="auto">
            <a:xfrm>
              <a:off x="1973" y="2114"/>
              <a:ext cx="1088" cy="0"/>
            </a:xfrm>
            <a:prstGeom prst="line">
              <a:avLst/>
            </a:prstGeom>
            <a:noFill/>
            <a:ln w="57150" cap="sq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1275" name="Line 11"/>
            <p:cNvSpPr>
              <a:spLocks noChangeShapeType="1"/>
            </p:cNvSpPr>
            <p:nvPr/>
          </p:nvSpPr>
          <p:spPr bwMode="auto">
            <a:xfrm>
              <a:off x="2517" y="2840"/>
              <a:ext cx="544" cy="0"/>
            </a:xfrm>
            <a:prstGeom prst="line">
              <a:avLst/>
            </a:prstGeom>
            <a:noFill/>
            <a:ln w="57150" cap="sq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1276" name="Line 12"/>
            <p:cNvSpPr>
              <a:spLocks noChangeShapeType="1"/>
            </p:cNvSpPr>
            <p:nvPr/>
          </p:nvSpPr>
          <p:spPr bwMode="auto">
            <a:xfrm>
              <a:off x="1973" y="3611"/>
              <a:ext cx="2631" cy="0"/>
            </a:xfrm>
            <a:prstGeom prst="line">
              <a:avLst/>
            </a:prstGeom>
            <a:noFill/>
            <a:ln w="57150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1277" name="Line 13"/>
            <p:cNvSpPr>
              <a:spLocks noChangeShapeType="1"/>
            </p:cNvSpPr>
            <p:nvPr/>
          </p:nvSpPr>
          <p:spPr bwMode="auto">
            <a:xfrm flipV="1">
              <a:off x="4604" y="2114"/>
              <a:ext cx="0" cy="1497"/>
            </a:xfrm>
            <a:prstGeom prst="line">
              <a:avLst/>
            </a:prstGeom>
            <a:noFill/>
            <a:ln w="57150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1278" name="Line 14"/>
            <p:cNvSpPr>
              <a:spLocks noChangeShapeType="1"/>
            </p:cNvSpPr>
            <p:nvPr/>
          </p:nvSpPr>
          <p:spPr bwMode="auto">
            <a:xfrm flipH="1">
              <a:off x="4150" y="2114"/>
              <a:ext cx="454" cy="0"/>
            </a:xfrm>
            <a:prstGeom prst="line">
              <a:avLst/>
            </a:prstGeom>
            <a:noFill/>
            <a:ln w="57150" cap="sq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1279" name="Oval 15"/>
            <p:cNvSpPr>
              <a:spLocks noChangeArrowheads="1"/>
            </p:cNvSpPr>
            <p:nvPr/>
          </p:nvSpPr>
          <p:spPr bwMode="auto">
            <a:xfrm>
              <a:off x="793" y="2658"/>
              <a:ext cx="681" cy="363"/>
            </a:xfrm>
            <a:prstGeom prst="ellipse">
              <a:avLst/>
            </a:prstGeom>
            <a:noFill/>
            <a:ln w="57150" cap="sq">
              <a:solidFill>
                <a:srgbClr val="66FF33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1280" name="Line 16"/>
            <p:cNvSpPr>
              <a:spLocks noChangeShapeType="1"/>
            </p:cNvSpPr>
            <p:nvPr/>
          </p:nvSpPr>
          <p:spPr bwMode="auto">
            <a:xfrm>
              <a:off x="1474" y="2840"/>
              <a:ext cx="499" cy="0"/>
            </a:xfrm>
            <a:prstGeom prst="line">
              <a:avLst/>
            </a:prstGeom>
            <a:noFill/>
            <a:ln w="57150" cap="sq">
              <a:solidFill>
                <a:srgbClr val="66FF33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1281" name="Text Box 17"/>
            <p:cNvSpPr txBox="1">
              <a:spLocks noChangeArrowheads="1"/>
            </p:cNvSpPr>
            <p:nvPr/>
          </p:nvSpPr>
          <p:spPr bwMode="auto">
            <a:xfrm>
              <a:off x="1430" y="1955"/>
              <a:ext cx="68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/>
                <a:t>&amp;x</a:t>
              </a:r>
              <a:endParaRPr lang="en-US" altLang="zh-CN" sz="2800"/>
            </a:p>
          </p:txBody>
        </p:sp>
        <p:sp>
          <p:nvSpPr>
            <p:cNvPr id="11282" name="Text Box 18"/>
            <p:cNvSpPr txBox="1">
              <a:spLocks noChangeArrowheads="1"/>
            </p:cNvSpPr>
            <p:nvPr/>
          </p:nvSpPr>
          <p:spPr bwMode="auto">
            <a:xfrm>
              <a:off x="3334" y="1888"/>
              <a:ext cx="68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/>
                <a:t>3.1416</a:t>
              </a:r>
              <a:endParaRPr lang="en-US" altLang="zh-CN" sz="2800"/>
            </a:p>
          </p:txBody>
        </p:sp>
        <p:sp>
          <p:nvSpPr>
            <p:cNvPr id="11283" name="Text Box 19"/>
            <p:cNvSpPr txBox="1">
              <a:spLocks noChangeArrowheads="1"/>
            </p:cNvSpPr>
            <p:nvPr/>
          </p:nvSpPr>
          <p:spPr bwMode="auto">
            <a:xfrm>
              <a:off x="3288" y="2659"/>
              <a:ext cx="86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/>
                <a:t>2.7187</a:t>
              </a:r>
              <a:endParaRPr lang="en-US" altLang="zh-CN" sz="2800"/>
            </a:p>
          </p:txBody>
        </p:sp>
        <p:sp>
          <p:nvSpPr>
            <p:cNvPr id="11284" name="Text Box 20"/>
            <p:cNvSpPr txBox="1">
              <a:spLocks noChangeArrowheads="1"/>
            </p:cNvSpPr>
            <p:nvPr/>
          </p:nvSpPr>
          <p:spPr bwMode="auto">
            <a:xfrm>
              <a:off x="1973" y="2659"/>
              <a:ext cx="68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/>
                <a:t>&amp;y</a:t>
              </a:r>
              <a:endParaRPr lang="en-US" altLang="zh-CN" sz="2800"/>
            </a:p>
          </p:txBody>
        </p:sp>
        <p:sp>
          <p:nvSpPr>
            <p:cNvPr id="11285" name="Text Box 21"/>
            <p:cNvSpPr txBox="1">
              <a:spLocks noChangeArrowheads="1"/>
            </p:cNvSpPr>
            <p:nvPr/>
          </p:nvSpPr>
          <p:spPr bwMode="auto">
            <a:xfrm>
              <a:off x="793" y="2659"/>
              <a:ext cx="68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/>
                <a:t>r=p</a:t>
              </a:r>
              <a:endParaRPr lang="en-US" altLang="zh-CN" sz="2800"/>
            </a:p>
          </p:txBody>
        </p:sp>
        <p:sp>
          <p:nvSpPr>
            <p:cNvPr id="11286" name="Text Box 22"/>
            <p:cNvSpPr txBox="1">
              <a:spLocks noChangeArrowheads="1"/>
            </p:cNvSpPr>
            <p:nvPr/>
          </p:nvSpPr>
          <p:spPr bwMode="auto">
            <a:xfrm>
              <a:off x="1383" y="3385"/>
              <a:ext cx="68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/>
                <a:t>&amp;x</a:t>
              </a:r>
              <a:endParaRPr lang="en-US" altLang="zh-CN" sz="2800"/>
            </a:p>
          </p:txBody>
        </p:sp>
        <p:sp>
          <p:nvSpPr>
            <p:cNvPr id="11287" name="Text Box 23"/>
            <p:cNvSpPr txBox="1">
              <a:spLocks noChangeArrowheads="1"/>
            </p:cNvSpPr>
            <p:nvPr/>
          </p:nvSpPr>
          <p:spPr bwMode="auto">
            <a:xfrm>
              <a:off x="1429" y="1661"/>
              <a:ext cx="68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/>
                <a:t>p</a:t>
              </a:r>
              <a:endParaRPr lang="en-US" altLang="zh-CN" sz="2800"/>
            </a:p>
          </p:txBody>
        </p:sp>
        <p:sp>
          <p:nvSpPr>
            <p:cNvPr id="11288" name="Text Box 24"/>
            <p:cNvSpPr txBox="1">
              <a:spLocks noChangeArrowheads="1"/>
            </p:cNvSpPr>
            <p:nvPr/>
          </p:nvSpPr>
          <p:spPr bwMode="auto">
            <a:xfrm>
              <a:off x="3016" y="1525"/>
              <a:ext cx="68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/>
                <a:t>x</a:t>
              </a:r>
              <a:endParaRPr lang="en-US" altLang="zh-CN" sz="2800"/>
            </a:p>
          </p:txBody>
        </p:sp>
        <p:sp>
          <p:nvSpPr>
            <p:cNvPr id="11289" name="Text Box 25"/>
            <p:cNvSpPr txBox="1">
              <a:spLocks noChangeArrowheads="1"/>
            </p:cNvSpPr>
            <p:nvPr/>
          </p:nvSpPr>
          <p:spPr bwMode="auto">
            <a:xfrm>
              <a:off x="1292" y="3012"/>
              <a:ext cx="68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/>
                <a:t>r</a:t>
              </a:r>
              <a:endParaRPr lang="en-US" altLang="zh-CN" sz="2800"/>
            </a:p>
          </p:txBody>
        </p:sp>
        <p:sp>
          <p:nvSpPr>
            <p:cNvPr id="11290" name="Text Box 26"/>
            <p:cNvSpPr txBox="1">
              <a:spLocks noChangeArrowheads="1"/>
            </p:cNvSpPr>
            <p:nvPr/>
          </p:nvSpPr>
          <p:spPr bwMode="auto">
            <a:xfrm>
              <a:off x="3061" y="2341"/>
              <a:ext cx="68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/>
                <a:t>y</a:t>
              </a:r>
              <a:endParaRPr lang="en-US" altLang="zh-CN" sz="2800"/>
            </a:p>
          </p:txBody>
        </p:sp>
        <p:sp>
          <p:nvSpPr>
            <p:cNvPr id="11291" name="Text Box 27"/>
            <p:cNvSpPr txBox="1">
              <a:spLocks noChangeArrowheads="1"/>
            </p:cNvSpPr>
            <p:nvPr/>
          </p:nvSpPr>
          <p:spPr bwMode="auto">
            <a:xfrm>
              <a:off x="2018" y="2341"/>
              <a:ext cx="68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800"/>
                <a:t>q</a:t>
              </a:r>
              <a:endParaRPr lang="en-US" altLang="zh-CN" sz="2800"/>
            </a:p>
          </p:txBody>
        </p:sp>
      </p:grp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2"/>
          <p:cNvSpPr txBox="1">
            <a:spLocks noChangeArrowheads="1"/>
          </p:cNvSpPr>
          <p:nvPr/>
        </p:nvSpPr>
        <p:spPr bwMode="auto">
          <a:xfrm>
            <a:off x="605002" y="473075"/>
            <a:ext cx="7953211" cy="52544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</a:pPr>
            <a:r>
              <a:rPr kumimoji="1" lang="en-US" altLang="zh-CN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⑦ </a:t>
            </a:r>
            <a:r>
              <a:rPr kumimoji="1" lang="zh-CN" altLang="en-US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在子函数中 </a:t>
            </a:r>
            <a:r>
              <a:rPr kumimoji="1" lang="en-US" altLang="zh-CN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return r; </a:t>
            </a:r>
            <a:r>
              <a:rPr kumimoji="1" lang="zh-CN" altLang="en-US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是将指针 </a:t>
            </a:r>
            <a:r>
              <a:rPr kumimoji="1" lang="en-US" altLang="zh-CN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r </a:t>
            </a:r>
            <a:r>
              <a:rPr kumimoji="1" lang="zh-CN" altLang="en-US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返回给 </a:t>
            </a:r>
            <a:r>
              <a:rPr kumimoji="1" lang="en-US" altLang="zh-CN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max </a:t>
            </a:r>
            <a:r>
              <a:rPr kumimoji="1" lang="zh-CN" altLang="en-US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函数，这个 </a:t>
            </a:r>
            <a:r>
              <a:rPr kumimoji="1" lang="en-US" altLang="zh-CN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r </a:t>
            </a:r>
            <a:r>
              <a:rPr kumimoji="1" lang="zh-CN" altLang="en-US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是 </a:t>
            </a:r>
            <a:r>
              <a:rPr kumimoji="1" lang="en-US" altLang="zh-CN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x </a:t>
            </a:r>
            <a:r>
              <a:rPr kumimoji="1" lang="zh-CN" altLang="en-US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变量的地址值 </a:t>
            </a:r>
            <a:r>
              <a:rPr kumimoji="1" lang="en-US" altLang="zh-CN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&amp;x</a:t>
            </a:r>
            <a:r>
              <a:rPr kumimoji="1" lang="zh-CN" altLang="en-US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。</a:t>
            </a:r>
            <a:endParaRPr kumimoji="1" lang="zh-CN" altLang="en-US" sz="2400" dirty="0">
              <a:latin typeface="Times New Roman" panose="02020503050405090304" pitchFamily="18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</a:pPr>
            <a:r>
              <a:rPr kumimoji="1" lang="zh-CN" altLang="en-US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	在主函数中</a:t>
            </a:r>
            <a:endParaRPr kumimoji="1" lang="zh-CN" altLang="en-US" sz="2400" dirty="0">
              <a:latin typeface="Times New Roman" panose="02020503050405090304" pitchFamily="18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</a:pPr>
            <a:r>
              <a:rPr kumimoji="1" lang="zh-CN" altLang="en-US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	</a:t>
            </a:r>
            <a:r>
              <a:rPr kumimoji="1" lang="zh-CN" altLang="en-US" sz="2400" dirty="0">
                <a:solidFill>
                  <a:schemeClr val="tx2"/>
                </a:solidFill>
                <a:latin typeface="Times New Roman" panose="02020503050405090304" pitchFamily="18" charset="0"/>
                <a:ea typeface="黑体" panose="02010609060101010101" pitchFamily="49" charset="-122"/>
              </a:rPr>
              <a:t>	</a:t>
            </a:r>
            <a:r>
              <a:rPr kumimoji="1" lang="en-US" altLang="zh-CN" dirty="0">
                <a:solidFill>
                  <a:schemeClr val="hlink"/>
                </a:solidFill>
                <a:latin typeface="Times New Roman" panose="02020503050405090304" pitchFamily="18" charset="0"/>
                <a:ea typeface="黑体" panose="02010609060101010101" pitchFamily="49" charset="-122"/>
              </a:rPr>
              <a:t>s=max(&amp;x, &amp;y);</a:t>
            </a:r>
            <a:endParaRPr kumimoji="1" lang="en-US" altLang="zh-CN" dirty="0">
              <a:solidFill>
                <a:schemeClr val="hlink"/>
              </a:solidFill>
              <a:latin typeface="Times New Roman" panose="02020503050405090304" pitchFamily="18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</a:pPr>
            <a:r>
              <a:rPr kumimoji="1" lang="en-US" altLang="zh-CN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	</a:t>
            </a:r>
            <a:r>
              <a:rPr kumimoji="1" lang="zh-CN" altLang="en-US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等效于 </a:t>
            </a:r>
            <a:r>
              <a:rPr kumimoji="1" lang="en-US" altLang="zh-CN" dirty="0">
                <a:latin typeface="Times New Roman" panose="02020503050405090304" pitchFamily="18" charset="0"/>
                <a:ea typeface="黑体" panose="02010609060101010101" pitchFamily="49" charset="-122"/>
              </a:rPr>
              <a:t>s = r;</a:t>
            </a:r>
            <a:r>
              <a:rPr kumimoji="1" lang="en-US" altLang="zh-CN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 </a:t>
            </a:r>
            <a:r>
              <a:rPr kumimoji="1" lang="zh-CN" altLang="en-US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当然  </a:t>
            </a:r>
            <a:r>
              <a:rPr kumimoji="1" lang="en-US" altLang="zh-CN" dirty="0">
                <a:latin typeface="Times New Roman" panose="02020503050405090304" pitchFamily="18" charset="0"/>
                <a:ea typeface="黑体" panose="02010609060101010101" pitchFamily="49" charset="-122"/>
              </a:rPr>
              <a:t>s</a:t>
            </a:r>
            <a:r>
              <a:rPr kumimoji="1" lang="en-US" altLang="zh-CN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 </a:t>
            </a:r>
            <a:r>
              <a:rPr kumimoji="1" lang="zh-CN" altLang="en-US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和</a:t>
            </a:r>
            <a:r>
              <a:rPr kumimoji="1" lang="zh-CN" altLang="en-US" dirty="0">
                <a:latin typeface="Times New Roman" panose="02020503050405090304" pitchFamily="18" charset="0"/>
                <a:ea typeface="黑体" panose="02010609060101010101" pitchFamily="49" charset="-122"/>
              </a:rPr>
              <a:t> </a:t>
            </a:r>
            <a:r>
              <a:rPr kumimoji="1" lang="en-US" altLang="zh-CN" dirty="0">
                <a:latin typeface="Times New Roman" panose="02020503050405090304" pitchFamily="18" charset="0"/>
                <a:ea typeface="黑体" panose="02010609060101010101" pitchFamily="49" charset="-122"/>
              </a:rPr>
              <a:t>r</a:t>
            </a:r>
            <a:r>
              <a:rPr kumimoji="1" lang="en-US" altLang="zh-CN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 </a:t>
            </a:r>
            <a:r>
              <a:rPr kumimoji="1" lang="zh-CN" altLang="en-US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的指向一致，为 </a:t>
            </a:r>
            <a:r>
              <a:rPr kumimoji="1" lang="en-US" altLang="zh-CN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x </a:t>
            </a:r>
            <a:r>
              <a:rPr kumimoji="1" lang="zh-CN" altLang="en-US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的地址，按照程序如 </a:t>
            </a:r>
            <a:r>
              <a:rPr kumimoji="1" lang="en-US" altLang="zh-CN" dirty="0">
                <a:latin typeface="Times New Roman" panose="02020503050405090304" pitchFamily="18" charset="0"/>
                <a:ea typeface="黑体" panose="02010609060101010101" pitchFamily="49" charset="-122"/>
              </a:rPr>
              <a:t>y&gt;x</a:t>
            </a:r>
            <a:r>
              <a:rPr kumimoji="1" lang="zh-CN" altLang="en-US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，则 </a:t>
            </a:r>
            <a:r>
              <a:rPr kumimoji="1" lang="en-US" altLang="zh-CN" dirty="0">
                <a:latin typeface="Times New Roman" panose="02020503050405090304" pitchFamily="18" charset="0"/>
                <a:ea typeface="黑体" panose="02010609060101010101" pitchFamily="49" charset="-122"/>
              </a:rPr>
              <a:t>r</a:t>
            </a:r>
            <a:r>
              <a:rPr kumimoji="1" lang="en-US" altLang="zh-CN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 </a:t>
            </a:r>
            <a:r>
              <a:rPr kumimoji="1" lang="zh-CN" altLang="en-US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指向</a:t>
            </a:r>
            <a:r>
              <a:rPr kumimoji="1" lang="zh-CN" altLang="en-US" dirty="0">
                <a:latin typeface="Times New Roman" panose="02020503050405090304" pitchFamily="18" charset="0"/>
                <a:ea typeface="黑体" panose="02010609060101010101" pitchFamily="49" charset="-122"/>
              </a:rPr>
              <a:t> </a:t>
            </a:r>
            <a:r>
              <a:rPr kumimoji="1" lang="en-US" altLang="zh-CN" dirty="0">
                <a:latin typeface="Times New Roman" panose="02020503050405090304" pitchFamily="18" charset="0"/>
                <a:ea typeface="黑体" panose="02010609060101010101" pitchFamily="49" charset="-122"/>
              </a:rPr>
              <a:t>y</a:t>
            </a:r>
            <a:r>
              <a:rPr kumimoji="1" lang="zh-CN" altLang="en-US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，则 </a:t>
            </a:r>
            <a:r>
              <a:rPr kumimoji="1" lang="en-US" altLang="zh-CN" dirty="0">
                <a:latin typeface="Times New Roman" panose="02020503050405090304" pitchFamily="18" charset="0"/>
                <a:ea typeface="黑体" panose="02010609060101010101" pitchFamily="49" charset="-122"/>
              </a:rPr>
              <a:t>s</a:t>
            </a:r>
            <a:r>
              <a:rPr kumimoji="1" lang="en-US" altLang="zh-CN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 </a:t>
            </a:r>
            <a:r>
              <a:rPr kumimoji="1" lang="zh-CN" altLang="en-US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也指向</a:t>
            </a:r>
            <a:r>
              <a:rPr kumimoji="1" lang="zh-CN" altLang="en-US" dirty="0">
                <a:latin typeface="Times New Roman" panose="02020503050405090304" pitchFamily="18" charset="0"/>
                <a:ea typeface="黑体" panose="02010609060101010101" pitchFamily="49" charset="-122"/>
              </a:rPr>
              <a:t> </a:t>
            </a:r>
            <a:r>
              <a:rPr kumimoji="1" lang="en-US" altLang="zh-CN" dirty="0">
                <a:latin typeface="Times New Roman" panose="02020503050405090304" pitchFamily="18" charset="0"/>
                <a:ea typeface="黑体" panose="02010609060101010101" pitchFamily="49" charset="-122"/>
              </a:rPr>
              <a:t>y</a:t>
            </a:r>
            <a:r>
              <a:rPr kumimoji="1" lang="zh-CN" altLang="en-US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。</a:t>
            </a:r>
            <a:endParaRPr kumimoji="1" lang="zh-CN" altLang="en-US" sz="2400" dirty="0">
              <a:latin typeface="Times New Roman" panose="02020503050405090304" pitchFamily="18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</a:pPr>
            <a:endParaRPr kumimoji="1" lang="zh-CN" altLang="en-US" sz="2400" dirty="0">
              <a:latin typeface="Times New Roman" panose="02020503050405090304" pitchFamily="18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</a:pPr>
            <a:r>
              <a:rPr kumimoji="1" lang="zh-CN" altLang="en-US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⑧ 输出两数中的大数 </a:t>
            </a:r>
            <a:r>
              <a:rPr kumimoji="1" lang="zh-CN" altLang="en-US" dirty="0">
                <a:latin typeface="Times New Roman" panose="02020503050405090304" pitchFamily="18" charset="0"/>
                <a:ea typeface="黑体" panose="02010609060101010101" pitchFamily="49" charset="-122"/>
              </a:rPr>
              <a:t>*</a:t>
            </a:r>
            <a:r>
              <a:rPr kumimoji="1" lang="en-US" altLang="zh-CN" dirty="0">
                <a:latin typeface="Times New Roman" panose="02020503050405090304" pitchFamily="18" charset="0"/>
                <a:ea typeface="黑体" panose="02010609060101010101" pitchFamily="49" charset="-122"/>
              </a:rPr>
              <a:t>s</a:t>
            </a:r>
            <a:r>
              <a:rPr kumimoji="1" lang="zh-CN" altLang="en-US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。</a:t>
            </a:r>
            <a:endParaRPr kumimoji="1" lang="zh-CN" altLang="en-US" sz="2400" dirty="0">
              <a:latin typeface="Times New Roman" panose="02020503050405090304" pitchFamily="18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</a:pPr>
            <a:endParaRPr kumimoji="1" lang="zh-CN" altLang="en-US" sz="2400" dirty="0">
              <a:latin typeface="Times New Roman" panose="02020503050405090304" pitchFamily="18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</a:pPr>
            <a:r>
              <a:rPr kumimoji="1" lang="zh-CN" altLang="en-US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下面是整个程序的示意图</a:t>
            </a:r>
            <a:endParaRPr kumimoji="1" lang="zh-CN" altLang="en-US" sz="2400" dirty="0">
              <a:latin typeface="Times New Roman" panose="02020503050405090304" pitchFamily="18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2"/>
          <p:cNvSpPr txBox="1">
            <a:spLocks noChangeArrowheads="1"/>
          </p:cNvSpPr>
          <p:nvPr/>
        </p:nvSpPr>
        <p:spPr bwMode="auto">
          <a:xfrm>
            <a:off x="3421063" y="2012950"/>
            <a:ext cx="1223962" cy="469900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503050405090304" pitchFamily="18" charset="0"/>
                <a:ea typeface="黑体" panose="02010609060101010101" pitchFamily="49" charset="-122"/>
              </a:rPr>
              <a:t>3.1416</a:t>
            </a:r>
            <a:endParaRPr kumimoji="1" lang="en-US" altLang="zh-CN" sz="2400">
              <a:latin typeface="Times New Roman" panose="02020503050405090304" pitchFamily="18" charset="0"/>
              <a:ea typeface="黑体" panose="02010609060101010101" pitchFamily="49" charset="-122"/>
            </a:endParaRPr>
          </a:p>
        </p:txBody>
      </p:sp>
      <p:sp>
        <p:nvSpPr>
          <p:cNvPr id="13315" name="Text Box 3"/>
          <p:cNvSpPr txBox="1">
            <a:spLocks noChangeArrowheads="1"/>
          </p:cNvSpPr>
          <p:nvPr/>
        </p:nvSpPr>
        <p:spPr bwMode="auto">
          <a:xfrm>
            <a:off x="6589713" y="2012950"/>
            <a:ext cx="1223962" cy="469900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503050405090304" pitchFamily="18" charset="0"/>
                <a:ea typeface="黑体" panose="02010609060101010101" pitchFamily="49" charset="-122"/>
              </a:rPr>
              <a:t>2.7182</a:t>
            </a:r>
            <a:endParaRPr kumimoji="1" lang="en-US" altLang="zh-CN" sz="2400">
              <a:latin typeface="Times New Roman" panose="02020503050405090304" pitchFamily="18" charset="0"/>
              <a:ea typeface="黑体" panose="02010609060101010101" pitchFamily="49" charset="-122"/>
            </a:endParaRPr>
          </a:p>
        </p:txBody>
      </p:sp>
      <p:sp>
        <p:nvSpPr>
          <p:cNvPr id="572420" name="Text Box 4"/>
          <p:cNvSpPr txBox="1">
            <a:spLocks noChangeArrowheads="1"/>
          </p:cNvSpPr>
          <p:nvPr/>
        </p:nvSpPr>
        <p:spPr bwMode="auto">
          <a:xfrm>
            <a:off x="3455988" y="3141663"/>
            <a:ext cx="1223962" cy="469900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503050405090304" pitchFamily="18" charset="0"/>
                <a:ea typeface="黑体" panose="02010609060101010101" pitchFamily="49" charset="-122"/>
              </a:rPr>
              <a:t>&amp;x</a:t>
            </a:r>
            <a:endParaRPr kumimoji="1" lang="en-US" altLang="zh-CN" sz="2400">
              <a:latin typeface="Times New Roman" panose="02020503050405090304" pitchFamily="18" charset="0"/>
              <a:ea typeface="黑体" panose="02010609060101010101" pitchFamily="49" charset="-122"/>
            </a:endParaRPr>
          </a:p>
        </p:txBody>
      </p:sp>
      <p:sp>
        <p:nvSpPr>
          <p:cNvPr id="572421" name="Text Box 5"/>
          <p:cNvSpPr txBox="1">
            <a:spLocks noChangeArrowheads="1"/>
          </p:cNvSpPr>
          <p:nvPr/>
        </p:nvSpPr>
        <p:spPr bwMode="auto">
          <a:xfrm>
            <a:off x="6589713" y="3087688"/>
            <a:ext cx="1223962" cy="469900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503050405090304" pitchFamily="18" charset="0"/>
                <a:ea typeface="黑体" panose="02010609060101010101" pitchFamily="49" charset="-122"/>
              </a:rPr>
              <a:t>&amp;y</a:t>
            </a:r>
            <a:endParaRPr kumimoji="1" lang="en-US" altLang="zh-CN" sz="2400">
              <a:latin typeface="Times New Roman" panose="02020503050405090304" pitchFamily="18" charset="0"/>
              <a:ea typeface="黑体" panose="02010609060101010101" pitchFamily="49" charset="-122"/>
            </a:endParaRPr>
          </a:p>
        </p:txBody>
      </p:sp>
      <p:sp>
        <p:nvSpPr>
          <p:cNvPr id="13318" name="Text Box 6"/>
          <p:cNvSpPr txBox="1">
            <a:spLocks noChangeArrowheads="1"/>
          </p:cNvSpPr>
          <p:nvPr/>
        </p:nvSpPr>
        <p:spPr bwMode="auto">
          <a:xfrm>
            <a:off x="2843213" y="1543050"/>
            <a:ext cx="12239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503050405090304" pitchFamily="18" charset="0"/>
                <a:ea typeface="黑体" panose="02010609060101010101" pitchFamily="49" charset="-122"/>
              </a:rPr>
              <a:t>x</a:t>
            </a:r>
            <a:endParaRPr kumimoji="1" lang="en-US" altLang="zh-CN" sz="2400">
              <a:latin typeface="Times New Roman" panose="02020503050405090304" pitchFamily="18" charset="0"/>
              <a:ea typeface="黑体" panose="02010609060101010101" pitchFamily="49" charset="-122"/>
            </a:endParaRPr>
          </a:p>
        </p:txBody>
      </p:sp>
      <p:sp>
        <p:nvSpPr>
          <p:cNvPr id="13319" name="Text Box 7"/>
          <p:cNvSpPr txBox="1">
            <a:spLocks noChangeArrowheads="1"/>
          </p:cNvSpPr>
          <p:nvPr/>
        </p:nvSpPr>
        <p:spPr bwMode="auto">
          <a:xfrm>
            <a:off x="5903913" y="1628775"/>
            <a:ext cx="12239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503050405090304" pitchFamily="18" charset="0"/>
                <a:ea typeface="黑体" panose="02010609060101010101" pitchFamily="49" charset="-122"/>
              </a:rPr>
              <a:t>y</a:t>
            </a:r>
            <a:endParaRPr kumimoji="1" lang="en-US" altLang="zh-CN" sz="2400">
              <a:latin typeface="Times New Roman" panose="02020503050405090304" pitchFamily="18" charset="0"/>
              <a:ea typeface="黑体" panose="02010609060101010101" pitchFamily="49" charset="-122"/>
            </a:endParaRPr>
          </a:p>
        </p:txBody>
      </p:sp>
      <p:sp>
        <p:nvSpPr>
          <p:cNvPr id="572424" name="Text Box 8"/>
          <p:cNvSpPr txBox="1">
            <a:spLocks noChangeArrowheads="1"/>
          </p:cNvSpPr>
          <p:nvPr/>
        </p:nvSpPr>
        <p:spPr bwMode="auto">
          <a:xfrm>
            <a:off x="5724525" y="3068638"/>
            <a:ext cx="12239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503050405090304" pitchFamily="18" charset="0"/>
                <a:ea typeface="黑体" panose="02010609060101010101" pitchFamily="49" charset="-122"/>
              </a:rPr>
              <a:t>q</a:t>
            </a:r>
            <a:endParaRPr kumimoji="1" lang="en-US" altLang="zh-CN" sz="2400">
              <a:latin typeface="Times New Roman" panose="02020503050405090304" pitchFamily="18" charset="0"/>
              <a:ea typeface="黑体" panose="02010609060101010101" pitchFamily="49" charset="-122"/>
            </a:endParaRPr>
          </a:p>
        </p:txBody>
      </p:sp>
      <p:sp>
        <p:nvSpPr>
          <p:cNvPr id="572425" name="Text Box 9"/>
          <p:cNvSpPr txBox="1">
            <a:spLocks noChangeArrowheads="1"/>
          </p:cNvSpPr>
          <p:nvPr/>
        </p:nvSpPr>
        <p:spPr bwMode="auto">
          <a:xfrm>
            <a:off x="6156325" y="3548063"/>
            <a:ext cx="12239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503050405090304" pitchFamily="18" charset="0"/>
                <a:ea typeface="黑体" panose="02010609060101010101" pitchFamily="49" charset="-122"/>
              </a:rPr>
              <a:t>*p&lt;=*q</a:t>
            </a:r>
            <a:endParaRPr kumimoji="1" lang="en-US" altLang="zh-CN" sz="2400">
              <a:latin typeface="Times New Roman" panose="02020503050405090304" pitchFamily="18" charset="0"/>
              <a:ea typeface="黑体" panose="02010609060101010101" pitchFamily="49" charset="-122"/>
            </a:endParaRPr>
          </a:p>
        </p:txBody>
      </p:sp>
      <p:sp>
        <p:nvSpPr>
          <p:cNvPr id="13322" name="Text Box 10"/>
          <p:cNvSpPr txBox="1">
            <a:spLocks noChangeArrowheads="1"/>
          </p:cNvSpPr>
          <p:nvPr/>
        </p:nvSpPr>
        <p:spPr bwMode="auto">
          <a:xfrm>
            <a:off x="6191250" y="2373313"/>
            <a:ext cx="12239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503050405090304" pitchFamily="18" charset="0"/>
                <a:ea typeface="黑体" panose="02010609060101010101" pitchFamily="49" charset="-122"/>
              </a:rPr>
              <a:t>&amp;y</a:t>
            </a:r>
            <a:endParaRPr kumimoji="1" lang="en-US" altLang="zh-CN" sz="2400">
              <a:latin typeface="Times New Roman" panose="02020503050405090304" pitchFamily="18" charset="0"/>
              <a:ea typeface="黑体" panose="02010609060101010101" pitchFamily="49" charset="-122"/>
            </a:endParaRPr>
          </a:p>
        </p:txBody>
      </p:sp>
      <p:sp>
        <p:nvSpPr>
          <p:cNvPr id="13323" name="Text Box 11"/>
          <p:cNvSpPr txBox="1">
            <a:spLocks noChangeArrowheads="1"/>
          </p:cNvSpPr>
          <p:nvPr/>
        </p:nvSpPr>
        <p:spPr bwMode="auto">
          <a:xfrm>
            <a:off x="3313113" y="260350"/>
            <a:ext cx="25193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键 盘 输 入</a:t>
            </a:r>
            <a:endParaRPr kumimoji="1" lang="zh-CN" altLang="en-US" sz="2800">
              <a:latin typeface="Times New Roman" panose="02020503050405090304" pitchFamily="18" charset="0"/>
              <a:ea typeface="黑体" panose="02010609060101010101" pitchFamily="49" charset="-122"/>
            </a:endParaRPr>
          </a:p>
        </p:txBody>
      </p:sp>
      <p:sp>
        <p:nvSpPr>
          <p:cNvPr id="13324" name="Text Box 12"/>
          <p:cNvSpPr txBox="1">
            <a:spLocks noChangeArrowheads="1"/>
          </p:cNvSpPr>
          <p:nvPr/>
        </p:nvSpPr>
        <p:spPr bwMode="auto">
          <a:xfrm>
            <a:off x="3421063" y="981075"/>
            <a:ext cx="12239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503050405090304" pitchFamily="18" charset="0"/>
                <a:ea typeface="黑体" panose="02010609060101010101" pitchFamily="49" charset="-122"/>
              </a:rPr>
              <a:t>3.1416</a:t>
            </a:r>
            <a:endParaRPr kumimoji="1" lang="en-US" altLang="zh-CN" sz="2400">
              <a:latin typeface="Times New Roman" panose="02020503050405090304" pitchFamily="18" charset="0"/>
              <a:ea typeface="黑体" panose="02010609060101010101" pitchFamily="49" charset="-122"/>
            </a:endParaRPr>
          </a:p>
        </p:txBody>
      </p:sp>
      <p:sp>
        <p:nvSpPr>
          <p:cNvPr id="13325" name="Text Box 13"/>
          <p:cNvSpPr txBox="1">
            <a:spLocks noChangeArrowheads="1"/>
          </p:cNvSpPr>
          <p:nvPr/>
        </p:nvSpPr>
        <p:spPr bwMode="auto">
          <a:xfrm>
            <a:off x="6445250" y="981075"/>
            <a:ext cx="12239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503050405090304" pitchFamily="18" charset="0"/>
                <a:ea typeface="黑体" panose="02010609060101010101" pitchFamily="49" charset="-122"/>
              </a:rPr>
              <a:t>2.7182</a:t>
            </a:r>
            <a:endParaRPr kumimoji="1" lang="en-US" altLang="zh-CN" sz="2400">
              <a:latin typeface="Times New Roman" panose="02020503050405090304" pitchFamily="18" charset="0"/>
              <a:ea typeface="黑体" panose="02010609060101010101" pitchFamily="49" charset="-122"/>
            </a:endParaRPr>
          </a:p>
        </p:txBody>
      </p:sp>
      <p:sp>
        <p:nvSpPr>
          <p:cNvPr id="13326" name="Line 14"/>
          <p:cNvSpPr>
            <a:spLocks noChangeShapeType="1"/>
          </p:cNvSpPr>
          <p:nvPr/>
        </p:nvSpPr>
        <p:spPr bwMode="auto">
          <a:xfrm flipH="1">
            <a:off x="4067175" y="1438275"/>
            <a:ext cx="1588" cy="695325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3327" name="Line 15"/>
          <p:cNvSpPr>
            <a:spLocks noChangeShapeType="1"/>
          </p:cNvSpPr>
          <p:nvPr/>
        </p:nvSpPr>
        <p:spPr bwMode="auto">
          <a:xfrm>
            <a:off x="7165975" y="1438275"/>
            <a:ext cx="0" cy="695325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grpSp>
        <p:nvGrpSpPr>
          <p:cNvPr id="572432" name="Group 16"/>
          <p:cNvGrpSpPr/>
          <p:nvPr/>
        </p:nvGrpSpPr>
        <p:grpSpPr bwMode="auto">
          <a:xfrm>
            <a:off x="2330450" y="2228850"/>
            <a:ext cx="2530475" cy="2279650"/>
            <a:chOff x="787" y="1404"/>
            <a:chExt cx="1594" cy="1436"/>
          </a:xfrm>
        </p:grpSpPr>
        <p:sp>
          <p:nvSpPr>
            <p:cNvPr id="13361" name="Line 17"/>
            <p:cNvSpPr>
              <a:spLocks noChangeShapeType="1"/>
            </p:cNvSpPr>
            <p:nvPr/>
          </p:nvSpPr>
          <p:spPr bwMode="auto">
            <a:xfrm>
              <a:off x="793" y="2840"/>
              <a:ext cx="1588" cy="0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rou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3362" name="Line 18"/>
            <p:cNvSpPr>
              <a:spLocks noChangeShapeType="1"/>
            </p:cNvSpPr>
            <p:nvPr/>
          </p:nvSpPr>
          <p:spPr bwMode="auto">
            <a:xfrm>
              <a:off x="793" y="1404"/>
              <a:ext cx="658" cy="0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3363" name="Line 19"/>
            <p:cNvSpPr>
              <a:spLocks noChangeShapeType="1"/>
            </p:cNvSpPr>
            <p:nvPr/>
          </p:nvSpPr>
          <p:spPr bwMode="auto">
            <a:xfrm>
              <a:off x="787" y="1404"/>
              <a:ext cx="0" cy="1436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</p:grpSp>
      <p:sp>
        <p:nvSpPr>
          <p:cNvPr id="572436" name="Text Box 20"/>
          <p:cNvSpPr txBox="1">
            <a:spLocks noChangeArrowheads="1"/>
          </p:cNvSpPr>
          <p:nvPr/>
        </p:nvSpPr>
        <p:spPr bwMode="auto">
          <a:xfrm>
            <a:off x="4573588" y="4254500"/>
            <a:ext cx="1655762" cy="469900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kumimoji="1" lang="en-US" altLang="en-US" sz="2400">
              <a:latin typeface="Times New Roman" panose="02020503050405090304" pitchFamily="18" charset="0"/>
              <a:ea typeface="黑体" panose="02010609060101010101" pitchFamily="49" charset="-122"/>
            </a:endParaRPr>
          </a:p>
        </p:txBody>
      </p:sp>
      <p:sp>
        <p:nvSpPr>
          <p:cNvPr id="13330" name="Text Box 21"/>
          <p:cNvSpPr txBox="1">
            <a:spLocks noChangeArrowheads="1"/>
          </p:cNvSpPr>
          <p:nvPr/>
        </p:nvSpPr>
        <p:spPr bwMode="auto">
          <a:xfrm>
            <a:off x="3060700" y="2373313"/>
            <a:ext cx="12239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503050405090304" pitchFamily="18" charset="0"/>
                <a:ea typeface="黑体" panose="02010609060101010101" pitchFamily="49" charset="-122"/>
              </a:rPr>
              <a:t>&amp;x</a:t>
            </a:r>
            <a:endParaRPr kumimoji="1" lang="en-US" altLang="zh-CN" sz="2400">
              <a:latin typeface="Times New Roman" panose="02020503050405090304" pitchFamily="18" charset="0"/>
              <a:ea typeface="黑体" panose="02010609060101010101" pitchFamily="49" charset="-122"/>
            </a:endParaRPr>
          </a:p>
        </p:txBody>
      </p:sp>
      <p:sp>
        <p:nvSpPr>
          <p:cNvPr id="572438" name="Text Box 22"/>
          <p:cNvSpPr txBox="1">
            <a:spLocks noChangeArrowheads="1"/>
          </p:cNvSpPr>
          <p:nvPr/>
        </p:nvSpPr>
        <p:spPr bwMode="auto">
          <a:xfrm>
            <a:off x="2628900" y="3043238"/>
            <a:ext cx="12239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503050405090304" pitchFamily="18" charset="0"/>
                <a:ea typeface="黑体" panose="02010609060101010101" pitchFamily="49" charset="-122"/>
              </a:rPr>
              <a:t>p</a:t>
            </a:r>
            <a:endParaRPr kumimoji="1" lang="en-US" altLang="zh-CN" sz="2400">
              <a:latin typeface="Times New Roman" panose="02020503050405090304" pitchFamily="18" charset="0"/>
              <a:ea typeface="黑体" panose="02010609060101010101" pitchFamily="49" charset="-122"/>
            </a:endParaRPr>
          </a:p>
        </p:txBody>
      </p:sp>
      <p:sp>
        <p:nvSpPr>
          <p:cNvPr id="572439" name="Text Box 23"/>
          <p:cNvSpPr txBox="1">
            <a:spLocks noChangeArrowheads="1"/>
          </p:cNvSpPr>
          <p:nvPr/>
        </p:nvSpPr>
        <p:spPr bwMode="auto">
          <a:xfrm>
            <a:off x="3636963" y="3548063"/>
            <a:ext cx="12239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503050405090304" pitchFamily="18" charset="0"/>
                <a:ea typeface="黑体" panose="02010609060101010101" pitchFamily="49" charset="-122"/>
              </a:rPr>
              <a:t>*p&gt;*q</a:t>
            </a:r>
            <a:endParaRPr kumimoji="1" lang="en-US" altLang="zh-CN" sz="2400">
              <a:latin typeface="Times New Roman" panose="02020503050405090304" pitchFamily="18" charset="0"/>
              <a:ea typeface="黑体" panose="02010609060101010101" pitchFamily="49" charset="-122"/>
            </a:endParaRPr>
          </a:p>
        </p:txBody>
      </p:sp>
      <p:sp>
        <p:nvSpPr>
          <p:cNvPr id="572440" name="Line 24"/>
          <p:cNvSpPr>
            <a:spLocks noChangeShapeType="1"/>
          </p:cNvSpPr>
          <p:nvPr/>
        </p:nvSpPr>
        <p:spPr bwMode="auto">
          <a:xfrm flipV="1">
            <a:off x="7165975" y="2473325"/>
            <a:ext cx="0" cy="704850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572441" name="Line 25"/>
          <p:cNvSpPr>
            <a:spLocks noChangeShapeType="1"/>
          </p:cNvSpPr>
          <p:nvPr/>
        </p:nvSpPr>
        <p:spPr bwMode="auto">
          <a:xfrm flipV="1">
            <a:off x="4070350" y="2508250"/>
            <a:ext cx="0" cy="704850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572442" name="Text Box 26"/>
          <p:cNvSpPr txBox="1">
            <a:spLocks noChangeArrowheads="1"/>
          </p:cNvSpPr>
          <p:nvPr/>
        </p:nvSpPr>
        <p:spPr bwMode="auto">
          <a:xfrm>
            <a:off x="3671888" y="4051300"/>
            <a:ext cx="12239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503050405090304" pitchFamily="18" charset="0"/>
                <a:ea typeface="黑体" panose="02010609060101010101" pitchFamily="49" charset="-122"/>
              </a:rPr>
              <a:t>r</a:t>
            </a:r>
            <a:endParaRPr kumimoji="1" lang="en-US" altLang="zh-CN" sz="2400">
              <a:latin typeface="Times New Roman" panose="02020503050405090304" pitchFamily="18" charset="0"/>
              <a:ea typeface="黑体" panose="02010609060101010101" pitchFamily="49" charset="-122"/>
            </a:endParaRPr>
          </a:p>
        </p:txBody>
      </p:sp>
      <p:sp>
        <p:nvSpPr>
          <p:cNvPr id="572443" name="Text Box 27"/>
          <p:cNvSpPr txBox="1">
            <a:spLocks noChangeArrowheads="1"/>
          </p:cNvSpPr>
          <p:nvPr/>
        </p:nvSpPr>
        <p:spPr bwMode="auto">
          <a:xfrm>
            <a:off x="2413000" y="3908425"/>
            <a:ext cx="15843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503050405090304" pitchFamily="18" charset="0"/>
                <a:ea typeface="黑体" panose="02010609060101010101" pitchFamily="49" charset="-122"/>
              </a:rPr>
              <a:t>*p=3.1416</a:t>
            </a:r>
            <a:endParaRPr kumimoji="1" lang="en-US" altLang="zh-CN" sz="2400">
              <a:latin typeface="Times New Roman" panose="02020503050405090304" pitchFamily="18" charset="0"/>
              <a:ea typeface="黑体" panose="02010609060101010101" pitchFamily="49" charset="-122"/>
            </a:endParaRPr>
          </a:p>
        </p:txBody>
      </p:sp>
      <p:sp>
        <p:nvSpPr>
          <p:cNvPr id="572444" name="Freeform 28"/>
          <p:cNvSpPr/>
          <p:nvPr/>
        </p:nvSpPr>
        <p:spPr bwMode="auto">
          <a:xfrm>
            <a:off x="4500563" y="3284538"/>
            <a:ext cx="720725" cy="1150937"/>
          </a:xfrm>
          <a:custGeom>
            <a:avLst/>
            <a:gdLst>
              <a:gd name="T0" fmla="*/ 0 w 681"/>
              <a:gd name="T1" fmla="*/ 0 h 680"/>
              <a:gd name="T2" fmla="*/ 2147483646 w 681"/>
              <a:gd name="T3" fmla="*/ 2147483646 h 680"/>
              <a:gd name="T4" fmla="*/ 2147483646 w 681"/>
              <a:gd name="T5" fmla="*/ 2147483646 h 68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681" h="680">
                <a:moveTo>
                  <a:pt x="0" y="0"/>
                </a:moveTo>
                <a:cubicBezTo>
                  <a:pt x="170" y="79"/>
                  <a:pt x="341" y="159"/>
                  <a:pt x="454" y="272"/>
                </a:cubicBezTo>
                <a:cubicBezTo>
                  <a:pt x="567" y="385"/>
                  <a:pt x="624" y="532"/>
                  <a:pt x="681" y="680"/>
                </a:cubicBezTo>
              </a:path>
            </a:pathLst>
          </a:custGeom>
          <a:noFill/>
          <a:ln w="25400" cap="sq" cmpd="sng">
            <a:solidFill>
              <a:schemeClr val="tx1"/>
            </a:solidFill>
            <a:prstDash val="solid"/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195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572445" name="Freeform 29"/>
          <p:cNvSpPr/>
          <p:nvPr/>
        </p:nvSpPr>
        <p:spPr bwMode="auto">
          <a:xfrm rot="247456" flipH="1">
            <a:off x="5935663" y="3284538"/>
            <a:ext cx="719137" cy="1222375"/>
          </a:xfrm>
          <a:custGeom>
            <a:avLst/>
            <a:gdLst>
              <a:gd name="T0" fmla="*/ 0 w 681"/>
              <a:gd name="T1" fmla="*/ 0 h 680"/>
              <a:gd name="T2" fmla="*/ 2147483646 w 681"/>
              <a:gd name="T3" fmla="*/ 2147483646 h 680"/>
              <a:gd name="T4" fmla="*/ 2147483646 w 681"/>
              <a:gd name="T5" fmla="*/ 2147483646 h 68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681" h="680">
                <a:moveTo>
                  <a:pt x="0" y="0"/>
                </a:moveTo>
                <a:cubicBezTo>
                  <a:pt x="170" y="79"/>
                  <a:pt x="341" y="159"/>
                  <a:pt x="454" y="272"/>
                </a:cubicBezTo>
                <a:cubicBezTo>
                  <a:pt x="567" y="385"/>
                  <a:pt x="624" y="532"/>
                  <a:pt x="681" y="680"/>
                </a:cubicBezTo>
              </a:path>
            </a:pathLst>
          </a:custGeom>
          <a:noFill/>
          <a:ln w="25400" cap="flat" cmpd="sng">
            <a:solidFill>
              <a:schemeClr val="tx1"/>
            </a:solidFill>
            <a:prstDash val="dash"/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195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572446" name="Text Box 30"/>
          <p:cNvSpPr txBox="1">
            <a:spLocks noChangeArrowheads="1"/>
          </p:cNvSpPr>
          <p:nvPr/>
        </p:nvSpPr>
        <p:spPr bwMode="auto">
          <a:xfrm>
            <a:off x="4860925" y="5335588"/>
            <a:ext cx="1223963" cy="469900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kumimoji="1" lang="en-US" altLang="en-US" sz="2400">
              <a:latin typeface="Times New Roman" panose="02020503050405090304" pitchFamily="18" charset="0"/>
              <a:ea typeface="黑体" panose="02010609060101010101" pitchFamily="49" charset="-122"/>
            </a:endParaRPr>
          </a:p>
        </p:txBody>
      </p:sp>
      <p:sp>
        <p:nvSpPr>
          <p:cNvPr id="572447" name="Line 31"/>
          <p:cNvSpPr>
            <a:spLocks noChangeShapeType="1"/>
          </p:cNvSpPr>
          <p:nvPr/>
        </p:nvSpPr>
        <p:spPr bwMode="auto">
          <a:xfrm>
            <a:off x="5437188" y="4652963"/>
            <a:ext cx="0" cy="863600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572448" name="Text Box 32"/>
          <p:cNvSpPr txBox="1">
            <a:spLocks noChangeArrowheads="1"/>
          </p:cNvSpPr>
          <p:nvPr/>
        </p:nvSpPr>
        <p:spPr bwMode="auto">
          <a:xfrm>
            <a:off x="4357688" y="4868863"/>
            <a:ext cx="574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503050405090304" pitchFamily="18" charset="0"/>
                <a:ea typeface="黑体" panose="02010609060101010101" pitchFamily="49" charset="-122"/>
              </a:rPr>
              <a:t>s</a:t>
            </a:r>
            <a:endParaRPr kumimoji="1" lang="en-US" altLang="zh-CN" sz="2400">
              <a:latin typeface="Times New Roman" panose="02020503050405090304" pitchFamily="18" charset="0"/>
              <a:ea typeface="黑体" panose="02010609060101010101" pitchFamily="49" charset="-122"/>
            </a:endParaRPr>
          </a:p>
        </p:txBody>
      </p:sp>
      <p:grpSp>
        <p:nvGrpSpPr>
          <p:cNvPr id="572449" name="Group 33"/>
          <p:cNvGrpSpPr/>
          <p:nvPr/>
        </p:nvGrpSpPr>
        <p:grpSpPr bwMode="auto">
          <a:xfrm>
            <a:off x="6084888" y="2228850"/>
            <a:ext cx="2447925" cy="2279650"/>
            <a:chOff x="3152" y="1404"/>
            <a:chExt cx="1542" cy="1436"/>
          </a:xfrm>
        </p:grpSpPr>
        <p:sp>
          <p:nvSpPr>
            <p:cNvPr id="13358" name="Line 34"/>
            <p:cNvSpPr>
              <a:spLocks noChangeShapeType="1"/>
            </p:cNvSpPr>
            <p:nvPr/>
          </p:nvSpPr>
          <p:spPr bwMode="auto">
            <a:xfrm>
              <a:off x="3152" y="2840"/>
              <a:ext cx="154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3359" name="Line 35"/>
            <p:cNvSpPr>
              <a:spLocks noChangeShapeType="1"/>
            </p:cNvSpPr>
            <p:nvPr/>
          </p:nvSpPr>
          <p:spPr bwMode="auto">
            <a:xfrm flipV="1">
              <a:off x="4694" y="1404"/>
              <a:ext cx="0" cy="14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3360" name="Line 36"/>
            <p:cNvSpPr>
              <a:spLocks noChangeShapeType="1"/>
            </p:cNvSpPr>
            <p:nvPr/>
          </p:nvSpPr>
          <p:spPr bwMode="auto">
            <a:xfrm flipH="1">
              <a:off x="4241" y="1404"/>
              <a:ext cx="45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</p:grpSp>
      <p:sp>
        <p:nvSpPr>
          <p:cNvPr id="13343" name="AutoShape 37"/>
          <p:cNvSpPr/>
          <p:nvPr/>
        </p:nvSpPr>
        <p:spPr bwMode="auto">
          <a:xfrm>
            <a:off x="1619250" y="1114425"/>
            <a:ext cx="360363" cy="1019175"/>
          </a:xfrm>
          <a:prstGeom prst="leftBrace">
            <a:avLst>
              <a:gd name="adj1" fmla="val 23568"/>
              <a:gd name="adj2" fmla="val 50000"/>
            </a:avLst>
          </a:prstGeom>
          <a:noFill/>
          <a:ln w="25400" cap="sq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3344" name="Text Box 38"/>
          <p:cNvSpPr txBox="1">
            <a:spLocks noChangeArrowheads="1"/>
          </p:cNvSpPr>
          <p:nvPr/>
        </p:nvSpPr>
        <p:spPr bwMode="auto">
          <a:xfrm>
            <a:off x="395288" y="1314450"/>
            <a:ext cx="12239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 sz="2400">
                <a:latin typeface="Times New Roman" panose="02020503050405090304" pitchFamily="18" charset="0"/>
                <a:ea typeface="黑体" panose="02010609060101010101" pitchFamily="49" charset="-122"/>
              </a:rPr>
              <a:t>主函数</a:t>
            </a:r>
            <a:endParaRPr kumimoji="1" lang="zh-CN" altLang="en-US" sz="2400">
              <a:latin typeface="Times New Roman" panose="02020503050405090304" pitchFamily="18" charset="0"/>
              <a:ea typeface="黑体" panose="02010609060101010101" pitchFamily="49" charset="-122"/>
            </a:endParaRPr>
          </a:p>
        </p:txBody>
      </p:sp>
      <p:sp>
        <p:nvSpPr>
          <p:cNvPr id="572455" name="AutoShape 39"/>
          <p:cNvSpPr/>
          <p:nvPr/>
        </p:nvSpPr>
        <p:spPr bwMode="auto">
          <a:xfrm>
            <a:off x="1619250" y="2228850"/>
            <a:ext cx="360363" cy="2136775"/>
          </a:xfrm>
          <a:prstGeom prst="leftBrace">
            <a:avLst>
              <a:gd name="adj1" fmla="val 49413"/>
              <a:gd name="adj2" fmla="val 50000"/>
            </a:avLst>
          </a:prstGeom>
          <a:noFill/>
          <a:ln w="25400" cap="sq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572456" name="Text Box 40"/>
          <p:cNvSpPr txBox="1">
            <a:spLocks noChangeArrowheads="1"/>
          </p:cNvSpPr>
          <p:nvPr/>
        </p:nvSpPr>
        <p:spPr bwMode="auto">
          <a:xfrm>
            <a:off x="395288" y="2984500"/>
            <a:ext cx="12239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 sz="2400">
                <a:latin typeface="Times New Roman" panose="02020503050405090304" pitchFamily="18" charset="0"/>
                <a:ea typeface="黑体" panose="02010609060101010101" pitchFamily="49" charset="-122"/>
              </a:rPr>
              <a:t>子函数</a:t>
            </a:r>
            <a:endParaRPr kumimoji="1" lang="zh-CN" altLang="en-US" sz="2400">
              <a:latin typeface="Times New Roman" panose="02020503050405090304" pitchFamily="18" charset="0"/>
              <a:ea typeface="黑体" panose="02010609060101010101" pitchFamily="49" charset="-122"/>
            </a:endParaRPr>
          </a:p>
        </p:txBody>
      </p:sp>
      <p:sp>
        <p:nvSpPr>
          <p:cNvPr id="572457" name="AutoShape 41"/>
          <p:cNvSpPr/>
          <p:nvPr/>
        </p:nvSpPr>
        <p:spPr bwMode="auto">
          <a:xfrm>
            <a:off x="1619250" y="5084763"/>
            <a:ext cx="360363" cy="1081087"/>
          </a:xfrm>
          <a:prstGeom prst="leftBrace">
            <a:avLst>
              <a:gd name="adj1" fmla="val 25000"/>
              <a:gd name="adj2" fmla="val 50000"/>
            </a:avLst>
          </a:prstGeom>
          <a:noFill/>
          <a:ln w="25400" cap="sq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572458" name="Text Box 42"/>
          <p:cNvSpPr txBox="1">
            <a:spLocks noChangeArrowheads="1"/>
          </p:cNvSpPr>
          <p:nvPr/>
        </p:nvSpPr>
        <p:spPr bwMode="auto">
          <a:xfrm>
            <a:off x="395288" y="5360988"/>
            <a:ext cx="12239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 sz="2400">
                <a:latin typeface="Times New Roman" panose="02020503050405090304" pitchFamily="18" charset="0"/>
                <a:ea typeface="黑体" panose="02010609060101010101" pitchFamily="49" charset="-122"/>
              </a:rPr>
              <a:t>主函数</a:t>
            </a:r>
            <a:endParaRPr kumimoji="1" lang="zh-CN" altLang="en-US" sz="2400">
              <a:latin typeface="Times New Roman" panose="02020503050405090304" pitchFamily="18" charset="0"/>
              <a:ea typeface="黑体" panose="02010609060101010101" pitchFamily="49" charset="-122"/>
            </a:endParaRPr>
          </a:p>
        </p:txBody>
      </p:sp>
      <p:sp>
        <p:nvSpPr>
          <p:cNvPr id="572459" name="AutoShape 43"/>
          <p:cNvSpPr/>
          <p:nvPr/>
        </p:nvSpPr>
        <p:spPr bwMode="auto">
          <a:xfrm>
            <a:off x="6910388" y="4783138"/>
            <a:ext cx="144462" cy="733425"/>
          </a:xfrm>
          <a:prstGeom prst="leftBrace">
            <a:avLst>
              <a:gd name="adj1" fmla="val 42308"/>
              <a:gd name="adj2" fmla="val 50000"/>
            </a:avLst>
          </a:prstGeom>
          <a:noFill/>
          <a:ln w="25400" cap="sq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572460" name="Text Box 44"/>
          <p:cNvSpPr txBox="1">
            <a:spLocks noChangeArrowheads="1"/>
          </p:cNvSpPr>
          <p:nvPr/>
        </p:nvSpPr>
        <p:spPr bwMode="auto">
          <a:xfrm>
            <a:off x="6227763" y="4929188"/>
            <a:ext cx="971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503050405090304" pitchFamily="18" charset="0"/>
                <a:ea typeface="黑体" panose="02010609060101010101" pitchFamily="49" charset="-122"/>
              </a:rPr>
              <a:t>r=</a:t>
            </a:r>
            <a:endParaRPr kumimoji="1" lang="en-US" altLang="zh-CN" sz="2400">
              <a:latin typeface="Times New Roman" panose="02020503050405090304" pitchFamily="18" charset="0"/>
              <a:ea typeface="黑体" panose="02010609060101010101" pitchFamily="49" charset="-122"/>
            </a:endParaRPr>
          </a:p>
        </p:txBody>
      </p:sp>
      <p:sp>
        <p:nvSpPr>
          <p:cNvPr id="572461" name="Text Box 45"/>
          <p:cNvSpPr txBox="1">
            <a:spLocks noChangeArrowheads="1"/>
          </p:cNvSpPr>
          <p:nvPr/>
        </p:nvSpPr>
        <p:spPr bwMode="auto">
          <a:xfrm>
            <a:off x="7089775" y="4627563"/>
            <a:ext cx="17287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503050405090304" pitchFamily="18" charset="0"/>
                <a:ea typeface="黑体" panose="02010609060101010101" pitchFamily="49" charset="-122"/>
              </a:rPr>
              <a:t>p </a:t>
            </a:r>
            <a:r>
              <a:rPr kumimoji="1" lang="zh-CN" altLang="en-US" sz="2400">
                <a:latin typeface="Times New Roman" panose="02020503050405090304" pitchFamily="18" charset="0"/>
                <a:ea typeface="黑体" panose="02010609060101010101" pitchFamily="49" charset="-122"/>
              </a:rPr>
              <a:t>当 *</a:t>
            </a:r>
            <a:r>
              <a:rPr kumimoji="1" lang="en-US" altLang="zh-CN" sz="2400">
                <a:latin typeface="Times New Roman" panose="02020503050405090304" pitchFamily="18" charset="0"/>
                <a:ea typeface="黑体" panose="02010609060101010101" pitchFamily="49" charset="-122"/>
              </a:rPr>
              <a:t>p&gt;*q</a:t>
            </a:r>
            <a:endParaRPr kumimoji="1" lang="en-US" altLang="zh-CN" sz="2400">
              <a:latin typeface="Times New Roman" panose="02020503050405090304" pitchFamily="18" charset="0"/>
              <a:ea typeface="黑体" panose="02010609060101010101" pitchFamily="49" charset="-122"/>
            </a:endParaRPr>
          </a:p>
        </p:txBody>
      </p:sp>
      <p:sp>
        <p:nvSpPr>
          <p:cNvPr id="572462" name="Text Box 46"/>
          <p:cNvSpPr txBox="1">
            <a:spLocks noChangeArrowheads="1"/>
          </p:cNvSpPr>
          <p:nvPr/>
        </p:nvSpPr>
        <p:spPr bwMode="auto">
          <a:xfrm>
            <a:off x="7019925" y="5084763"/>
            <a:ext cx="2016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503050405090304" pitchFamily="18" charset="0"/>
                <a:ea typeface="黑体" panose="02010609060101010101" pitchFamily="49" charset="-122"/>
              </a:rPr>
              <a:t>q </a:t>
            </a:r>
            <a:r>
              <a:rPr kumimoji="1" lang="zh-CN" altLang="en-US" sz="2400">
                <a:latin typeface="Times New Roman" panose="02020503050405090304" pitchFamily="18" charset="0"/>
                <a:ea typeface="黑体" panose="02010609060101010101" pitchFamily="49" charset="-122"/>
              </a:rPr>
              <a:t>当 *</a:t>
            </a:r>
            <a:r>
              <a:rPr kumimoji="1" lang="en-US" altLang="zh-CN" sz="2400">
                <a:latin typeface="Times New Roman" panose="02020503050405090304" pitchFamily="18" charset="0"/>
                <a:ea typeface="黑体" panose="02010609060101010101" pitchFamily="49" charset="-122"/>
              </a:rPr>
              <a:t>p&lt;=*q</a:t>
            </a:r>
            <a:endParaRPr kumimoji="1" lang="en-US" altLang="zh-CN" sz="2400">
              <a:latin typeface="Times New Roman" panose="02020503050405090304" pitchFamily="18" charset="0"/>
              <a:ea typeface="黑体" panose="02010609060101010101" pitchFamily="49" charset="-122"/>
            </a:endParaRPr>
          </a:p>
        </p:txBody>
      </p:sp>
      <p:sp>
        <p:nvSpPr>
          <p:cNvPr id="572463" name="AutoShape 47"/>
          <p:cNvSpPr/>
          <p:nvPr/>
        </p:nvSpPr>
        <p:spPr bwMode="auto">
          <a:xfrm>
            <a:off x="6224588" y="5935663"/>
            <a:ext cx="144462" cy="733425"/>
          </a:xfrm>
          <a:prstGeom prst="leftBrace">
            <a:avLst>
              <a:gd name="adj1" fmla="val 42308"/>
              <a:gd name="adj2" fmla="val 50000"/>
            </a:avLst>
          </a:prstGeom>
          <a:noFill/>
          <a:ln w="25400" cap="sq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572464" name="Text Box 48"/>
          <p:cNvSpPr txBox="1">
            <a:spLocks noChangeArrowheads="1"/>
          </p:cNvSpPr>
          <p:nvPr/>
        </p:nvSpPr>
        <p:spPr bwMode="auto">
          <a:xfrm>
            <a:off x="4787900" y="6043613"/>
            <a:ext cx="14366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 sz="2400">
                <a:latin typeface="Times New Roman" panose="02020503050405090304" pitchFamily="18" charset="0"/>
                <a:ea typeface="黑体" panose="02010609060101010101" pitchFamily="49" charset="-122"/>
              </a:rPr>
              <a:t>输出 *</a:t>
            </a:r>
            <a:r>
              <a:rPr kumimoji="1" lang="en-US" altLang="zh-CN" sz="2400">
                <a:latin typeface="Times New Roman" panose="02020503050405090304" pitchFamily="18" charset="0"/>
                <a:ea typeface="黑体" panose="02010609060101010101" pitchFamily="49" charset="-122"/>
              </a:rPr>
              <a:t>s =</a:t>
            </a:r>
            <a:endParaRPr kumimoji="1" lang="en-US" altLang="zh-CN" sz="2400">
              <a:latin typeface="Times New Roman" panose="02020503050405090304" pitchFamily="18" charset="0"/>
              <a:ea typeface="黑体" panose="02010609060101010101" pitchFamily="49" charset="-122"/>
            </a:endParaRPr>
          </a:p>
        </p:txBody>
      </p:sp>
      <p:sp>
        <p:nvSpPr>
          <p:cNvPr id="572465" name="Text Box 49"/>
          <p:cNvSpPr txBox="1">
            <a:spLocks noChangeArrowheads="1"/>
          </p:cNvSpPr>
          <p:nvPr/>
        </p:nvSpPr>
        <p:spPr bwMode="auto">
          <a:xfrm>
            <a:off x="6262688" y="5827713"/>
            <a:ext cx="1946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503050405090304" pitchFamily="18" charset="0"/>
                <a:ea typeface="黑体" panose="02010609060101010101" pitchFamily="49" charset="-122"/>
              </a:rPr>
              <a:t>*p </a:t>
            </a:r>
            <a:r>
              <a:rPr kumimoji="1" lang="zh-CN" altLang="en-US" sz="2400">
                <a:latin typeface="Times New Roman" panose="02020503050405090304" pitchFamily="18" charset="0"/>
                <a:ea typeface="黑体" panose="02010609060101010101" pitchFamily="49" charset="-122"/>
              </a:rPr>
              <a:t>当 *</a:t>
            </a:r>
            <a:r>
              <a:rPr kumimoji="1" lang="en-US" altLang="zh-CN" sz="2400">
                <a:latin typeface="Times New Roman" panose="02020503050405090304" pitchFamily="18" charset="0"/>
                <a:ea typeface="黑体" panose="02010609060101010101" pitchFamily="49" charset="-122"/>
              </a:rPr>
              <a:t>p&gt;*q</a:t>
            </a:r>
            <a:endParaRPr kumimoji="1" lang="en-US" altLang="zh-CN" sz="2400">
              <a:latin typeface="Times New Roman" panose="02020503050405090304" pitchFamily="18" charset="0"/>
              <a:ea typeface="黑体" panose="02010609060101010101" pitchFamily="49" charset="-122"/>
            </a:endParaRPr>
          </a:p>
        </p:txBody>
      </p:sp>
      <p:sp>
        <p:nvSpPr>
          <p:cNvPr id="572466" name="Text Box 50"/>
          <p:cNvSpPr txBox="1">
            <a:spLocks noChangeArrowheads="1"/>
          </p:cNvSpPr>
          <p:nvPr/>
        </p:nvSpPr>
        <p:spPr bwMode="auto">
          <a:xfrm>
            <a:off x="6334125" y="6284913"/>
            <a:ext cx="2016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503050405090304" pitchFamily="18" charset="0"/>
                <a:ea typeface="黑体" panose="02010609060101010101" pitchFamily="49" charset="-122"/>
              </a:rPr>
              <a:t>*q </a:t>
            </a:r>
            <a:r>
              <a:rPr kumimoji="1" lang="zh-CN" altLang="en-US" sz="2400">
                <a:latin typeface="Times New Roman" panose="02020503050405090304" pitchFamily="18" charset="0"/>
                <a:ea typeface="黑体" panose="02010609060101010101" pitchFamily="49" charset="-122"/>
              </a:rPr>
              <a:t>当 *</a:t>
            </a:r>
            <a:r>
              <a:rPr kumimoji="1" lang="en-US" altLang="zh-CN" sz="2400">
                <a:latin typeface="Times New Roman" panose="02020503050405090304" pitchFamily="18" charset="0"/>
                <a:ea typeface="黑体" panose="02010609060101010101" pitchFamily="49" charset="-122"/>
              </a:rPr>
              <a:t>p&lt;=*q</a:t>
            </a:r>
            <a:endParaRPr kumimoji="1" lang="en-US" altLang="zh-CN" sz="2400">
              <a:latin typeface="Times New Roman" panose="02020503050405090304" pitchFamily="18" charset="0"/>
              <a:ea typeface="黑体" panose="02010609060101010101" pitchFamily="49" charset="-122"/>
            </a:endParaRPr>
          </a:p>
        </p:txBody>
      </p:sp>
      <p:sp>
        <p:nvSpPr>
          <p:cNvPr id="572467" name="Text Box 51"/>
          <p:cNvSpPr txBox="1">
            <a:spLocks noChangeArrowheads="1"/>
          </p:cNvSpPr>
          <p:nvPr/>
        </p:nvSpPr>
        <p:spPr bwMode="auto">
          <a:xfrm>
            <a:off x="6910388" y="3908425"/>
            <a:ext cx="16224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503050405090304" pitchFamily="18" charset="0"/>
                <a:ea typeface="黑体" panose="02010609060101010101" pitchFamily="49" charset="-122"/>
              </a:rPr>
              <a:t>*q=2.7182</a:t>
            </a:r>
            <a:endParaRPr kumimoji="1" lang="en-US" altLang="zh-CN" sz="2400">
              <a:latin typeface="Times New Roman" panose="02020503050405090304" pitchFamily="18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0"/>
                            </p:stCondLst>
                            <p:childTnLst>
                              <p:par>
                                <p:cTn id="34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50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00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000"/>
                            </p:stCondLst>
                            <p:childTnLst>
                              <p:par>
                                <p:cTn id="53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2420" grpId="0" animBg="1"/>
      <p:bldP spid="572421" grpId="0" animBg="1"/>
      <p:bldP spid="572424" grpId="0"/>
      <p:bldP spid="572425" grpId="0"/>
      <p:bldP spid="572436" grpId="0" animBg="1"/>
      <p:bldP spid="572438" grpId="0"/>
      <p:bldP spid="572439" grpId="0"/>
      <p:bldP spid="572442" grpId="0"/>
      <p:bldP spid="572443" grpId="0"/>
      <p:bldP spid="572446" grpId="0" animBg="1"/>
      <p:bldP spid="572448" grpId="0"/>
      <p:bldP spid="572455" grpId="0" animBg="1"/>
      <p:bldP spid="572456" grpId="0"/>
      <p:bldP spid="572457" grpId="0" animBg="1"/>
      <p:bldP spid="572458" grpId="0"/>
      <p:bldP spid="572459" grpId="0" animBg="1"/>
      <p:bldP spid="572460" grpId="0"/>
      <p:bldP spid="572461" grpId="0"/>
      <p:bldP spid="572462" grpId="0"/>
      <p:bldP spid="572463" grpId="0" animBg="1"/>
      <p:bldP spid="572464" grpId="0"/>
      <p:bldP spid="572465" grpId="0"/>
      <p:bldP spid="572466" grpId="0"/>
      <p:bldP spid="572467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指向函数的指针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432000" y="1260000"/>
            <a:ext cx="8280000" cy="5040000"/>
          </a:xfrm>
        </p:spPr>
        <p:txBody>
          <a:bodyPr>
            <a:normAutofit/>
          </a:bodyPr>
          <a:lstStyle/>
          <a:p>
            <a:r>
              <a:rPr lang="zh-CN" altLang="en-US" sz="2400" b="1" kern="0" dirty="0">
                <a:solidFill>
                  <a:srgbClr val="FF0000"/>
                </a:solidFill>
                <a:latin typeface="等线"/>
                <a:ea typeface="等线"/>
              </a:rPr>
              <a:t>函数名</a:t>
            </a:r>
            <a:r>
              <a:rPr lang="zh-CN" altLang="en-US" sz="2400" b="1" kern="0" dirty="0">
                <a:solidFill>
                  <a:prstClr val="black"/>
                </a:solidFill>
                <a:latin typeface="等线"/>
                <a:ea typeface="等线"/>
              </a:rPr>
              <a:t>就是函数的</a:t>
            </a:r>
            <a:r>
              <a:rPr lang="zh-CN" altLang="en-US" sz="2400" b="1" kern="0" dirty="0">
                <a:solidFill>
                  <a:srgbClr val="FF0000"/>
                </a:solidFill>
                <a:latin typeface="等线"/>
                <a:ea typeface="等线"/>
              </a:rPr>
              <a:t>指针</a:t>
            </a:r>
            <a:r>
              <a:rPr lang="zh-CN" altLang="en-US" sz="2400" b="1" kern="0" dirty="0">
                <a:solidFill>
                  <a:prstClr val="black"/>
                </a:solidFill>
                <a:latin typeface="等线"/>
                <a:ea typeface="等线"/>
              </a:rPr>
              <a:t>，它代表函数的起始地址</a:t>
            </a:r>
            <a:endParaRPr kumimoji="1" lang="en-US" altLang="zh-CN" sz="2400" dirty="0">
              <a:latin typeface="Times New Roman" panose="02020503050405090304" pitchFamily="18" charset="0"/>
              <a:ea typeface="黑体" panose="02010609060101010101" pitchFamily="49" charset="-122"/>
            </a:endParaRPr>
          </a:p>
          <a:p>
            <a:pPr lvl="1"/>
            <a:r>
              <a:rPr kumimoji="1" lang="zh-CN" altLang="en-US" sz="2000" dirty="0">
                <a:latin typeface="Times New Roman" panose="02020503050405090304" pitchFamily="18" charset="0"/>
                <a:ea typeface="黑体" panose="02010609060101010101" pitchFamily="49" charset="-122"/>
              </a:rPr>
              <a:t>如果在程序中定义了一个函数，在编译时会把函数的源代码转换为可执行代码并分配一段存储空间。这段内存空间有一个起始地址，也称为函数的入口地址。每次调用函数时都从该地址入口开始执行此段函数代码。</a:t>
            </a:r>
            <a:endParaRPr kumimoji="1" lang="zh-CN" altLang="en-US" sz="2000" dirty="0">
              <a:latin typeface="Times New Roman" panose="02020503050405090304" pitchFamily="18" charset="0"/>
              <a:ea typeface="黑体" panose="02010609060101010101" pitchFamily="49" charset="-122"/>
            </a:endParaRPr>
          </a:p>
          <a:p>
            <a:pPr lvl="1"/>
            <a:r>
              <a:rPr kumimoji="1" lang="zh-CN" altLang="en-US" sz="2000" dirty="0">
                <a:latin typeface="Times New Roman" panose="02020503050405090304" pitchFamily="18" charset="0"/>
                <a:ea typeface="黑体" panose="02010609060101010101" pitchFamily="49" charset="-122"/>
              </a:rPr>
              <a:t>可以定义一个指向函数的指针变量，用来存放某一函数的起始地址，这意味着此指针变量指向该函数，如</a:t>
            </a:r>
            <a:endParaRPr kumimoji="1" lang="en-US" altLang="zh-CN" sz="2000" dirty="0">
              <a:latin typeface="Times New Roman" panose="02020503050405090304" pitchFamily="18" charset="0"/>
              <a:ea typeface="黑体" panose="02010609060101010101" pitchFamily="49" charset="-122"/>
            </a:endParaRPr>
          </a:p>
          <a:p>
            <a:endParaRPr kumimoji="1" lang="en-US" altLang="zh-CN" sz="2400" dirty="0">
              <a:latin typeface="Times New Roman" panose="02020503050405090304" pitchFamily="18" charset="0"/>
              <a:ea typeface="黑体" panose="02010609060101010101" pitchFamily="49" charset="-122"/>
            </a:endParaRPr>
          </a:p>
          <a:p>
            <a:pPr lvl="1"/>
            <a:r>
              <a:rPr kumimoji="1" lang="en-US" altLang="zh-CN" sz="2000" dirty="0">
                <a:latin typeface="Times New Roman" panose="02020503050405090304" pitchFamily="18" charset="0"/>
                <a:ea typeface="黑体" panose="02010609060101010101" pitchFamily="49" charset="-122"/>
              </a:rPr>
              <a:t>p</a:t>
            </a:r>
            <a:r>
              <a:rPr kumimoji="1" lang="zh-CN" altLang="en-US" sz="2000" dirty="0">
                <a:latin typeface="Times New Roman" panose="02020503050405090304" pitchFamily="18" charset="0"/>
                <a:ea typeface="黑体" panose="02010609060101010101" pitchFamily="49" charset="-122"/>
              </a:rPr>
              <a:t>是一个指向函数的指针变量，它可以指向函数类型为整型且有两个整型参数的函数。此时，指针变量</a:t>
            </a:r>
            <a:r>
              <a:rPr kumimoji="1" lang="en-US" altLang="zh-CN" sz="2000" dirty="0">
                <a:latin typeface="Times New Roman" panose="02020503050405090304" pitchFamily="18" charset="0"/>
                <a:ea typeface="黑体" panose="02010609060101010101" pitchFamily="49" charset="-122"/>
              </a:rPr>
              <a:t>p</a:t>
            </a:r>
            <a:r>
              <a:rPr kumimoji="1" lang="zh-CN" altLang="en-US" sz="2000" dirty="0">
                <a:latin typeface="Times New Roman" panose="02020503050405090304" pitchFamily="18" charset="0"/>
                <a:ea typeface="黑体" panose="02010609060101010101" pitchFamily="49" charset="-122"/>
              </a:rPr>
              <a:t>的类型用</a:t>
            </a:r>
            <a:r>
              <a:rPr kumimoji="1" lang="en-US" altLang="zh-CN" sz="2000" dirty="0">
                <a:latin typeface="Times New Roman" panose="02020503050405090304" pitchFamily="18" charset="0"/>
                <a:ea typeface="黑体" panose="02010609060101010101" pitchFamily="49" charset="-122"/>
              </a:rPr>
              <a:t>int (*)(</a:t>
            </a:r>
            <a:r>
              <a:rPr kumimoji="1" lang="en-US" altLang="zh-CN" sz="2000" dirty="0" err="1">
                <a:latin typeface="Times New Roman" panose="02020503050405090304" pitchFamily="18" charset="0"/>
                <a:ea typeface="黑体" panose="02010609060101010101" pitchFamily="49" charset="-122"/>
              </a:rPr>
              <a:t>int,int</a:t>
            </a:r>
            <a:r>
              <a:rPr kumimoji="1" lang="en-US" altLang="zh-CN" sz="2000" dirty="0">
                <a:latin typeface="Times New Roman" panose="02020503050405090304" pitchFamily="18" charset="0"/>
                <a:ea typeface="黑体" panose="02010609060101010101" pitchFamily="49" charset="-122"/>
              </a:rPr>
              <a:t>)</a:t>
            </a:r>
            <a:r>
              <a:rPr kumimoji="1" lang="zh-CN" altLang="en-US" sz="2000" dirty="0">
                <a:latin typeface="Times New Roman" panose="02020503050405090304" pitchFamily="18" charset="0"/>
                <a:ea typeface="黑体" panose="02010609060101010101" pitchFamily="49" charset="-122"/>
              </a:rPr>
              <a:t>表示</a:t>
            </a:r>
            <a:endParaRPr kumimoji="1" lang="en-US" altLang="zh-CN" sz="2000" dirty="0">
              <a:latin typeface="Times New Roman" panose="02020503050405090304" pitchFamily="18" charset="0"/>
              <a:ea typeface="黑体" panose="02010609060101010101" pitchFamily="49" charset="-122"/>
            </a:endParaRPr>
          </a:p>
        </p:txBody>
      </p:sp>
      <p:sp>
        <p:nvSpPr>
          <p:cNvPr id="4" name="圆角矩形 4"/>
          <p:cNvSpPr/>
          <p:nvPr/>
        </p:nvSpPr>
        <p:spPr>
          <a:xfrm>
            <a:off x="3112109" y="3633288"/>
            <a:ext cx="2729396" cy="435466"/>
          </a:xfrm>
          <a:prstGeom prst="roundRect">
            <a:avLst>
              <a:gd name="adj" fmla="val 10543"/>
            </a:avLst>
          </a:prstGeom>
          <a:solidFill>
            <a:sysClr val="window" lastClr="FFFFFF"/>
          </a:solidFill>
          <a:ln w="12700" cap="flat" cmpd="sng" algn="ctr">
            <a:solidFill>
              <a:srgbClr val="E84C22"/>
            </a:solidFill>
            <a:prstDash val="solid"/>
            <a:miter lim="800000"/>
          </a:ln>
          <a:effectLst/>
        </p:spPr>
        <p:txBody>
          <a:bodyPr numCol="1" spcCol="360000" rtlCol="0" anchor="t"/>
          <a:lstStyle/>
          <a:p>
            <a:pPr marL="0" marR="0" lvl="0" indent="0" algn="ctr" defTabSz="36068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int (*p)(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int,int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);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214174" y="5179925"/>
            <a:ext cx="8715652" cy="1008112"/>
            <a:chOff x="8582294" y="4416419"/>
            <a:chExt cx="10188378" cy="1152128"/>
          </a:xfrm>
        </p:grpSpPr>
        <p:sp>
          <p:nvSpPr>
            <p:cNvPr id="8" name="MH_Other_1"/>
            <p:cNvSpPr/>
            <p:nvPr>
              <p:custDataLst>
                <p:tags r:id="rId1"/>
              </p:custDataLst>
            </p:nvPr>
          </p:nvSpPr>
          <p:spPr>
            <a:xfrm>
              <a:off x="8582294" y="4416419"/>
              <a:ext cx="774700" cy="522287"/>
            </a:xfrm>
            <a:custGeom>
              <a:avLst/>
              <a:gdLst>
                <a:gd name="connsiteX0" fmla="*/ 0 w 2429934"/>
                <a:gd name="connsiteY0" fmla="*/ 360367 h 372534"/>
                <a:gd name="connsiteX1" fmla="*/ 2429934 w 2429934"/>
                <a:gd name="connsiteY1" fmla="*/ 360367 h 372534"/>
                <a:gd name="connsiteX2" fmla="*/ 2429934 w 2429934"/>
                <a:gd name="connsiteY2" fmla="*/ 372534 h 372534"/>
                <a:gd name="connsiteX3" fmla="*/ 0 w 2429934"/>
                <a:gd name="connsiteY3" fmla="*/ 372534 h 372534"/>
                <a:gd name="connsiteX4" fmla="*/ 0 w 2429934"/>
                <a:gd name="connsiteY4" fmla="*/ 30167 h 372534"/>
                <a:gd name="connsiteX5" fmla="*/ 2429934 w 2429934"/>
                <a:gd name="connsiteY5" fmla="*/ 30167 h 372534"/>
                <a:gd name="connsiteX6" fmla="*/ 2429934 w 2429934"/>
                <a:gd name="connsiteY6" fmla="*/ 342367 h 372534"/>
                <a:gd name="connsiteX7" fmla="*/ 0 w 2429934"/>
                <a:gd name="connsiteY7" fmla="*/ 342367 h 372534"/>
                <a:gd name="connsiteX8" fmla="*/ 0 w 2429934"/>
                <a:gd name="connsiteY8" fmla="*/ 0 h 372534"/>
                <a:gd name="connsiteX9" fmla="*/ 2429934 w 2429934"/>
                <a:gd name="connsiteY9" fmla="*/ 0 h 372534"/>
                <a:gd name="connsiteX10" fmla="*/ 2429934 w 2429934"/>
                <a:gd name="connsiteY10" fmla="*/ 12167 h 372534"/>
                <a:gd name="connsiteX11" fmla="*/ 0 w 2429934"/>
                <a:gd name="connsiteY11" fmla="*/ 12167 h 372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29934" h="372534">
                  <a:moveTo>
                    <a:pt x="0" y="360367"/>
                  </a:moveTo>
                  <a:lnTo>
                    <a:pt x="2429934" y="360367"/>
                  </a:lnTo>
                  <a:lnTo>
                    <a:pt x="2429934" y="372534"/>
                  </a:lnTo>
                  <a:lnTo>
                    <a:pt x="0" y="372534"/>
                  </a:lnTo>
                  <a:close/>
                  <a:moveTo>
                    <a:pt x="0" y="30167"/>
                  </a:moveTo>
                  <a:lnTo>
                    <a:pt x="2429934" y="30167"/>
                  </a:lnTo>
                  <a:lnTo>
                    <a:pt x="2429934" y="342367"/>
                  </a:lnTo>
                  <a:lnTo>
                    <a:pt x="0" y="342367"/>
                  </a:lnTo>
                  <a:close/>
                  <a:moveTo>
                    <a:pt x="0" y="0"/>
                  </a:moveTo>
                  <a:lnTo>
                    <a:pt x="2429934" y="0"/>
                  </a:lnTo>
                  <a:lnTo>
                    <a:pt x="2429934" y="12167"/>
                  </a:lnTo>
                  <a:lnTo>
                    <a:pt x="0" y="12167"/>
                  </a:lnTo>
                  <a:close/>
                </a:path>
              </a:pathLst>
            </a:custGeom>
            <a:solidFill>
              <a:srgbClr val="FF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0" rIns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FEFFFF"/>
                  </a:solidFill>
                  <a:effectLst/>
                  <a:uLnTx/>
                  <a:uFillTx/>
                  <a:latin typeface="等线"/>
                  <a:ea typeface="等线"/>
                  <a:cs typeface="+mn-cs"/>
                </a:rPr>
                <a:t>注意</a:t>
              </a:r>
              <a:endPara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等线"/>
                <a:ea typeface="等线"/>
                <a:cs typeface="+mn-cs"/>
              </a:endParaRPr>
            </a:p>
          </p:txBody>
        </p:sp>
        <p:sp>
          <p:nvSpPr>
            <p:cNvPr id="9" name="MH_SubTitle_1"/>
            <p:cNvSpPr/>
            <p:nvPr>
              <p:custDataLst>
                <p:tags r:id="rId2"/>
              </p:custDataLst>
            </p:nvPr>
          </p:nvSpPr>
          <p:spPr>
            <a:xfrm>
              <a:off x="9371544" y="4448143"/>
              <a:ext cx="9399128" cy="1088629"/>
            </a:xfrm>
            <a:prstGeom prst="rect">
              <a:avLst/>
            </a:prstGeom>
            <a:solidFill>
              <a:srgbClr val="FEFFFF"/>
            </a:solidFill>
            <a:ln w="9525" cap="flat" cmpd="sng" algn="ctr">
              <a:solidFill>
                <a:srgbClr val="B2B2B2"/>
              </a:solidFill>
              <a:prstDash val="solid"/>
              <a:miter lim="800000"/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txBody>
            <a:bodyPr lIns="72000" tIns="72000" rIns="72000" bIns="72000" anchor="t">
              <a:noAutofit/>
            </a:bodyPr>
            <a:lstStyle/>
            <a:p>
              <a:pPr marL="0" marR="0" lvl="0" indent="0" algn="just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等线"/>
                  <a:cs typeface="+mn-cs"/>
                </a:rPr>
                <a:t>在“*</a:t>
              </a: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等线"/>
                  <a:cs typeface="+mn-cs"/>
                </a:rPr>
                <a:t>p”</a:t>
              </a:r>
              <a:r>
                <a: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/>
                  <a:ea typeface="等线"/>
                  <a:cs typeface="+mn-cs"/>
                </a:rPr>
                <a:t>两侧有括号，表明</a:t>
              </a:r>
              <a:r>
                <a:rPr lang="zh-CN" altLang="en-US" sz="1600" kern="0" dirty="0">
                  <a:solidFill>
                    <a:prstClr val="black"/>
                  </a:solidFill>
                  <a:latin typeface="等线"/>
                  <a:ea typeface="等线"/>
                </a:rPr>
                <a:t>是一个指针。后面的</a:t>
              </a:r>
              <a:r>
                <a:rPr lang="en-US" altLang="zh-CN" sz="1600" kern="0" dirty="0">
                  <a:solidFill>
                    <a:prstClr val="black"/>
                  </a:solidFill>
                  <a:latin typeface="等线"/>
                  <a:ea typeface="等线"/>
                </a:rPr>
                <a:t>(</a:t>
              </a:r>
              <a:r>
                <a:rPr lang="en-US" altLang="zh-CN" sz="1600" kern="0" dirty="0" err="1">
                  <a:solidFill>
                    <a:prstClr val="black"/>
                  </a:solidFill>
                  <a:latin typeface="等线"/>
                  <a:ea typeface="等线"/>
                </a:rPr>
                <a:t>int</a:t>
              </a:r>
              <a:r>
                <a:rPr lang="en-US" altLang="zh-CN" sz="1600" kern="0" dirty="0">
                  <a:solidFill>
                    <a:prstClr val="black"/>
                  </a:solidFill>
                  <a:latin typeface="等线"/>
                  <a:ea typeface="等线"/>
                </a:rPr>
                <a:t>, </a:t>
              </a:r>
              <a:r>
                <a:rPr lang="en-US" altLang="zh-CN" sz="1600" kern="0" dirty="0" err="1">
                  <a:solidFill>
                    <a:prstClr val="black"/>
                  </a:solidFill>
                  <a:latin typeface="等线"/>
                  <a:ea typeface="等线"/>
                </a:rPr>
                <a:t>int</a:t>
              </a:r>
              <a:r>
                <a:rPr lang="en-US" altLang="zh-CN" sz="1600" kern="0" dirty="0">
                  <a:solidFill>
                    <a:prstClr val="black"/>
                  </a:solidFill>
                  <a:latin typeface="等线"/>
                  <a:ea typeface="等线"/>
                </a:rPr>
                <a:t>)</a:t>
              </a:r>
              <a:r>
                <a:rPr lang="zh-CN" altLang="en-US" sz="1600" kern="0" dirty="0">
                  <a:solidFill>
                    <a:prstClr val="black"/>
                  </a:solidFill>
                  <a:latin typeface="等线"/>
                  <a:ea typeface="等线"/>
                </a:rPr>
                <a:t>表明这是一个接收两个</a:t>
              </a:r>
              <a:r>
                <a:rPr lang="en-US" altLang="zh-CN" sz="1600" kern="0" dirty="0" err="1">
                  <a:solidFill>
                    <a:prstClr val="black"/>
                  </a:solidFill>
                  <a:latin typeface="等线"/>
                  <a:ea typeface="等线"/>
                </a:rPr>
                <a:t>int</a:t>
              </a:r>
              <a:r>
                <a:rPr lang="zh-CN" altLang="en-US" sz="1600" kern="0" dirty="0">
                  <a:solidFill>
                    <a:prstClr val="black"/>
                  </a:solidFill>
                  <a:latin typeface="等线"/>
                  <a:ea typeface="等线"/>
                </a:rPr>
                <a:t>型参数的函数，最前面的</a:t>
              </a:r>
              <a:r>
                <a:rPr lang="en-US" altLang="zh-CN" sz="1600" kern="0" dirty="0" err="1">
                  <a:solidFill>
                    <a:prstClr val="black"/>
                  </a:solidFill>
                  <a:latin typeface="等线"/>
                  <a:ea typeface="等线"/>
                </a:rPr>
                <a:t>int</a:t>
              </a:r>
              <a:r>
                <a:rPr lang="zh-CN" altLang="en-US" sz="1600" kern="0" dirty="0">
                  <a:solidFill>
                    <a:prstClr val="black"/>
                  </a:solidFill>
                  <a:latin typeface="等线"/>
                  <a:ea typeface="等线"/>
                </a:rPr>
                <a:t>表明返回值是</a:t>
              </a:r>
              <a:r>
                <a:rPr lang="en-US" altLang="zh-CN" sz="1600" kern="0" dirty="0" err="1">
                  <a:solidFill>
                    <a:prstClr val="black"/>
                  </a:solidFill>
                  <a:latin typeface="等线"/>
                  <a:ea typeface="等线"/>
                </a:rPr>
                <a:t>int</a:t>
              </a:r>
              <a:r>
                <a:rPr lang="zh-CN" altLang="en-US" sz="1600" kern="0" dirty="0">
                  <a:solidFill>
                    <a:prstClr val="black"/>
                  </a:solidFill>
                  <a:latin typeface="等线"/>
                  <a:ea typeface="等线"/>
                </a:rPr>
                <a:t>。</a:t>
              </a:r>
              <a:r>
                <a:rPr lang="zh-CN" altLang="en-US" sz="1600" kern="0" dirty="0">
                  <a:solidFill>
                    <a:srgbClr val="FF0000"/>
                  </a:solidFill>
                  <a:latin typeface="等线"/>
                  <a:ea typeface="等线"/>
                </a:rPr>
                <a:t>指向函数的指针（函数指针）的本质是一个指针，其指向一个函数。</a:t>
              </a:r>
              <a:endParaRPr lang="zh-CN" altLang="en-US" sz="1600" kern="0" dirty="0">
                <a:solidFill>
                  <a:srgbClr val="FF0000"/>
                </a:solidFill>
                <a:latin typeface="等线"/>
                <a:ea typeface="等线"/>
              </a:endParaRPr>
            </a:p>
          </p:txBody>
        </p:sp>
        <p:sp>
          <p:nvSpPr>
            <p:cNvPr id="10" name="MH_Other_2"/>
            <p:cNvSpPr/>
            <p:nvPr>
              <p:custDataLst>
                <p:tags r:id="rId3"/>
              </p:custDataLst>
            </p:nvPr>
          </p:nvSpPr>
          <p:spPr>
            <a:xfrm rot="16200000">
              <a:off x="18469047" y="5266922"/>
              <a:ext cx="301625" cy="301625"/>
            </a:xfrm>
            <a:prstGeom prst="rtTriangle">
              <a:avLst/>
            </a:prstGeom>
            <a:solidFill>
              <a:srgbClr val="B2B2B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定义和使用指向函数的指针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521388" y="1366503"/>
            <a:ext cx="4267199" cy="400693"/>
          </a:xfrm>
          <a:prstGeom prst="rect">
            <a:avLst/>
          </a:prstGeom>
          <a:solidFill>
            <a:srgbClr val="E84C22"/>
          </a:solidFill>
          <a:ln w="12700" cap="flat" cmpd="sng" algn="ctr">
            <a:solidFill>
              <a:srgbClr val="E84C22">
                <a:shade val="50000"/>
              </a:srgbClr>
            </a:solidFill>
            <a:prstDash val="solid"/>
            <a:miter lim="800000"/>
          </a:ln>
          <a:effectLst/>
        </p:spPr>
        <p:txBody>
          <a:bodyPr lIns="180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类型名 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(*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指针变量名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)(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函数参数表列</a:t>
            </a: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)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</p:txBody>
      </p:sp>
      <p:sp>
        <p:nvSpPr>
          <p:cNvPr id="5" name="MH_Desc_1"/>
          <p:cNvSpPr/>
          <p:nvPr>
            <p:custDataLst>
              <p:tags r:id="rId1"/>
            </p:custDataLst>
          </p:nvPr>
        </p:nvSpPr>
        <p:spPr>
          <a:xfrm>
            <a:off x="432000" y="2200904"/>
            <a:ext cx="8280000" cy="3764890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-1" fmla="*/ 0 w 2520280"/>
              <a:gd name="connsiteY0-2" fmla="*/ 1584176 h 1872208"/>
              <a:gd name="connsiteX1-3" fmla="*/ 2520280 w 2520280"/>
              <a:gd name="connsiteY1-4" fmla="*/ 1584176 h 1872208"/>
              <a:gd name="connsiteX2-5" fmla="*/ 2520280 w 2520280"/>
              <a:gd name="connsiteY2-6" fmla="*/ 1872208 h 1872208"/>
              <a:gd name="connsiteX3-7" fmla="*/ 0 w 2520280"/>
              <a:gd name="connsiteY3-8" fmla="*/ 1872208 h 1872208"/>
              <a:gd name="connsiteX4-9" fmla="*/ 0 w 2520280"/>
              <a:gd name="connsiteY4-10" fmla="*/ 1584176 h 1872208"/>
              <a:gd name="connsiteX5-11" fmla="*/ 0 w 2520280"/>
              <a:gd name="connsiteY5-12" fmla="*/ 0 h 1872208"/>
              <a:gd name="connsiteX6-13" fmla="*/ 2520280 w 2520280"/>
              <a:gd name="connsiteY6-14" fmla="*/ 0 h 1872208"/>
              <a:gd name="connsiteX7-15" fmla="*/ 0 w 2520280"/>
              <a:gd name="connsiteY7-16" fmla="*/ 0 h 1872208"/>
              <a:gd name="connsiteX0-17" fmla="*/ 0 w 2520280"/>
              <a:gd name="connsiteY0-18" fmla="*/ 1872208 h 1872208"/>
              <a:gd name="connsiteX1-19" fmla="*/ 2520280 w 2520280"/>
              <a:gd name="connsiteY1-20" fmla="*/ 1584176 h 1872208"/>
              <a:gd name="connsiteX2-21" fmla="*/ 2520280 w 2520280"/>
              <a:gd name="connsiteY2-22" fmla="*/ 1872208 h 1872208"/>
              <a:gd name="connsiteX3-23" fmla="*/ 0 w 2520280"/>
              <a:gd name="connsiteY3-24" fmla="*/ 1872208 h 1872208"/>
              <a:gd name="connsiteX4-25" fmla="*/ 0 w 2520280"/>
              <a:gd name="connsiteY4-26" fmla="*/ 0 h 1872208"/>
              <a:gd name="connsiteX5-27" fmla="*/ 2520280 w 2520280"/>
              <a:gd name="connsiteY5-28" fmla="*/ 0 h 1872208"/>
              <a:gd name="connsiteX6-29" fmla="*/ 0 w 2520280"/>
              <a:gd name="connsiteY6-30" fmla="*/ 0 h 1872208"/>
              <a:gd name="connsiteX0-31" fmla="*/ 0 w 2520280"/>
              <a:gd name="connsiteY0-32" fmla="*/ 1872208 h 1872208"/>
              <a:gd name="connsiteX1-33" fmla="*/ 2520280 w 2520280"/>
              <a:gd name="connsiteY1-34" fmla="*/ 1872208 h 1872208"/>
              <a:gd name="connsiteX2-35" fmla="*/ 0 w 2520280"/>
              <a:gd name="connsiteY2-36" fmla="*/ 1872208 h 1872208"/>
              <a:gd name="connsiteX3-37" fmla="*/ 0 w 2520280"/>
              <a:gd name="connsiteY3-38" fmla="*/ 0 h 1872208"/>
              <a:gd name="connsiteX4-39" fmla="*/ 2520280 w 2520280"/>
              <a:gd name="connsiteY4-40" fmla="*/ 0 h 1872208"/>
              <a:gd name="connsiteX5-41" fmla="*/ 0 w 2520280"/>
              <a:gd name="connsiteY5-42" fmla="*/ 0 h 18722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2520280" y="0"/>
                </a:lnTo>
                <a:lnTo>
                  <a:pt x="0" y="0"/>
                </a:lnTo>
                <a:close/>
              </a:path>
            </a:pathLst>
          </a:custGeom>
          <a:noFill/>
          <a:ln w="25400" cap="sq" cmpd="sng" algn="ctr">
            <a:solidFill>
              <a:srgbClr val="E84C22"/>
            </a:solidFill>
            <a:prstDash val="solid"/>
            <a:bevel/>
          </a:ln>
          <a:effectLst/>
        </p:spPr>
        <p:txBody>
          <a:bodyPr lIns="72000" tIns="72000" rIns="72000" bIns="72000" anchor="t">
            <a:noAutofit/>
          </a:bodyPr>
          <a:lstStyle/>
          <a:p>
            <a:pPr marL="0" marR="0" lvl="0" indent="0" algn="just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(1) 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定义指向函数的指针变量，并不意味着这个指针变量可以指向任何函数，它只能指向在定义时指定的类型的函数。</a:t>
            </a:r>
            <a:r>
              <a:rPr lang="en-US" altLang="zh-CN" kern="0" dirty="0">
                <a:solidFill>
                  <a:srgbClr val="FF0000"/>
                </a:solidFill>
                <a:latin typeface="等线"/>
                <a:ea typeface="等线"/>
              </a:rPr>
              <a:t>【</a:t>
            </a:r>
            <a:r>
              <a:rPr lang="zh-CN" altLang="en-US" kern="0" dirty="0">
                <a:solidFill>
                  <a:srgbClr val="FF0000"/>
                </a:solidFill>
                <a:latin typeface="等线"/>
                <a:ea typeface="等线"/>
              </a:rPr>
              <a:t>类型兼容</a:t>
            </a:r>
            <a:r>
              <a:rPr lang="en-US" altLang="zh-CN" kern="0" dirty="0">
                <a:solidFill>
                  <a:srgbClr val="FF0000"/>
                </a:solidFill>
                <a:latin typeface="等线"/>
                <a:ea typeface="等线"/>
              </a:rPr>
              <a:t>】</a:t>
            </a: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等线"/>
              <a:ea typeface="等线"/>
            </a:endParaRPr>
          </a:p>
          <a:p>
            <a:pPr marL="0" marR="0" lvl="0" indent="0" algn="just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(2)  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如果要用指针调用函数，必须先使指针变量指向该函数。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【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使用前要赋值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】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0" indent="0" algn="just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(3) 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在给函数指针变量赋值时，只须给出函数名而不必给出参数。</a:t>
            </a: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0" indent="0" algn="just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(4) 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用函数指针变量调用函数时，只须将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(*p)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代替函数名即可（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p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为指针变量名），在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(*p)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之后的括号中根据需要写上实参。</a:t>
            </a: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0" indent="0" algn="just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(5) 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对指向函数的指针变量不能进行算术运算，如</a:t>
            </a:r>
            <a:r>
              <a:rPr kumimoji="0" lang="en-US" altLang="zh-CN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p+n,p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++,p--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等运算是无意义的。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0" indent="0" algn="just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(6) 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用函数名调用函数，只能调用所指定的一个函数，而通过指针变量调用函数比较灵活，可以根据不同情况先后调用不同的函数。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5322509" y="1366503"/>
            <a:ext cx="1882059" cy="417444"/>
          </a:xfrm>
          <a:prstGeom prst="roundRect">
            <a:avLst>
              <a:gd name="adj" fmla="val 13754"/>
            </a:avLst>
          </a:prstGeom>
          <a:solidFill>
            <a:sysClr val="window" lastClr="FFFFFF"/>
          </a:solidFill>
          <a:ln w="12700" cap="flat" cmpd="sng" algn="ctr">
            <a:solidFill>
              <a:srgbClr val="E84C22"/>
            </a:solidFill>
            <a:prstDash val="solid"/>
            <a:miter lim="800000"/>
          </a:ln>
          <a:effectLst/>
        </p:spPr>
        <p:txBody>
          <a:bodyPr lIns="180000" rtlCol="0" anchor="t"/>
          <a:lstStyle/>
          <a:p>
            <a:pPr marL="0" marR="0" lvl="0" indent="0" defTabSz="363855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int (*p)(int,int);</a:t>
            </a:r>
            <a:endParaRPr kumimoji="0" lang="en-US" altLang="zh-CN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13-14</a:t>
            </a:r>
            <a:r>
              <a:rPr lang="zh-CN" altLang="en-US" dirty="0"/>
              <a:t>：指向函数的指针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32000" y="1260000"/>
            <a:ext cx="8280000" cy="1021561"/>
          </a:xfrm>
        </p:spPr>
        <p:txBody>
          <a:bodyPr>
            <a:normAutofit/>
          </a:bodyPr>
          <a:lstStyle/>
          <a:p>
            <a:r>
              <a:rPr lang="zh-CN" altLang="en-US" sz="2000" dirty="0"/>
              <a:t>输入两个整数，根据用户选择输出两者之间的小数或者大数。选</a:t>
            </a:r>
            <a:r>
              <a:rPr lang="en-US" altLang="zh-CN" sz="2000" dirty="0"/>
              <a:t>1</a:t>
            </a:r>
            <a:r>
              <a:rPr lang="zh-CN" altLang="en-US" sz="2000" dirty="0"/>
              <a:t>时，调用</a:t>
            </a:r>
            <a:r>
              <a:rPr lang="en-US" altLang="zh-CN" sz="2000" dirty="0"/>
              <a:t>max</a:t>
            </a:r>
            <a:r>
              <a:rPr lang="zh-CN" altLang="en-US" sz="2000" dirty="0"/>
              <a:t>函数输出二者中的大者，选</a:t>
            </a:r>
            <a:r>
              <a:rPr lang="en-US" altLang="zh-CN" sz="2000" dirty="0"/>
              <a:t>2</a:t>
            </a:r>
            <a:r>
              <a:rPr lang="zh-CN" altLang="en-US" sz="2000" dirty="0"/>
              <a:t>时，调用</a:t>
            </a:r>
            <a:r>
              <a:rPr lang="en-US" altLang="zh-CN" sz="2000" dirty="0"/>
              <a:t>min</a:t>
            </a:r>
            <a:r>
              <a:rPr lang="zh-CN" altLang="en-US" sz="2000" dirty="0"/>
              <a:t>函数输出二者中的小数</a:t>
            </a:r>
            <a:endParaRPr lang="en-US" altLang="zh-CN" sz="2000" dirty="0"/>
          </a:p>
          <a:p>
            <a:endParaRPr lang="en-US" sz="2000" dirty="0"/>
          </a:p>
        </p:txBody>
      </p:sp>
      <p:sp>
        <p:nvSpPr>
          <p:cNvPr id="4" name="矩形 3"/>
          <p:cNvSpPr/>
          <p:nvPr/>
        </p:nvSpPr>
        <p:spPr>
          <a:xfrm>
            <a:off x="741285" y="2455682"/>
            <a:ext cx="3156012" cy="378565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&lt;iostream&gt;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预编译命令</a:t>
            </a:r>
            <a:endParaRPr lang="zh-CN" alt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std;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Max(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x,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y)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(x &gt; y)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x;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y;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Min(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x,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y)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(x &lt; y)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x;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y;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042345" y="2455682"/>
            <a:ext cx="4572000" cy="34163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main()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 // 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主函数</a:t>
            </a:r>
            <a:endParaRPr lang="zh-CN" alt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(*p)(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 // 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定义指向函数的指针变量</a:t>
            </a:r>
            <a:endParaRPr lang="zh-CN" alt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a, b, c, n;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"%</a:t>
            </a:r>
            <a:r>
              <a:rPr lang="en-US" sz="1200" dirty="0" err="1">
                <a:solidFill>
                  <a:srgbClr val="A31515"/>
                </a:solidFill>
                <a:latin typeface="Consolas" panose="020B0609020204030204" pitchFamily="49" charset="0"/>
              </a:rPr>
              <a:t>d%d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 &amp;a, &amp;b);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"please choose 1 or 2:"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"%d"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 &amp;n);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 // 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输入</a:t>
            </a:r>
            <a:r>
              <a:rPr lang="en-US" altLang="zh-CN" sz="1200" dirty="0">
                <a:solidFill>
                  <a:srgbClr val="008000"/>
                </a:solidFill>
                <a:latin typeface="Consolas" panose="020B0609020204030204" pitchFamily="49" charset="0"/>
              </a:rPr>
              <a:t>1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戓</a:t>
            </a:r>
            <a:r>
              <a:rPr lang="en-US" altLang="zh-CN" sz="1200" dirty="0">
                <a:solidFill>
                  <a:srgbClr val="008000"/>
                </a:solidFill>
                <a:latin typeface="Consolas" panose="020B0609020204030204" pitchFamily="49" charset="0"/>
              </a:rPr>
              <a:t>2</a:t>
            </a:r>
            <a:endParaRPr lang="zh-CN" alt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zh-CN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zh-CN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(n ==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p = Max;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 // 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如输入</a:t>
            </a:r>
            <a:r>
              <a:rPr lang="en-US" altLang="zh-CN" sz="1200" dirty="0">
                <a:solidFill>
                  <a:srgbClr val="008000"/>
                </a:solidFill>
                <a:latin typeface="Consolas" panose="020B0609020204030204" pitchFamily="49" charset="0"/>
              </a:rPr>
              <a:t>1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，使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p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指向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max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函数</a:t>
            </a:r>
            <a:endParaRPr lang="zh-CN" alt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(n ==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p = Min;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 // 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如输入</a:t>
            </a:r>
            <a:r>
              <a:rPr lang="en-US" altLang="zh-CN" sz="1200" dirty="0">
                <a:solidFill>
                  <a:srgbClr val="008000"/>
                </a:solidFill>
                <a:latin typeface="Consolas" panose="020B0609020204030204" pitchFamily="49" charset="0"/>
              </a:rPr>
              <a:t>2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，使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p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指向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min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函数</a:t>
            </a:r>
            <a:endParaRPr lang="zh-CN" alt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zh-CN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zh-CN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c = (*p)(a, b);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 // 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调用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p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指向的函数</a:t>
            </a:r>
            <a:endParaRPr lang="zh-CN" alt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"a=%</a:t>
            </a:r>
            <a:r>
              <a:rPr lang="en-US" sz="1200" dirty="0" err="1">
                <a:solidFill>
                  <a:srgbClr val="A31515"/>
                </a:solidFill>
                <a:latin typeface="Consolas" panose="020B0609020204030204" pitchFamily="49" charset="0"/>
              </a:rPr>
              <a:t>d,b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=%d\n"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 a, b);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"%s=%d\n"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 (n==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)?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 err="1">
                <a:solidFill>
                  <a:srgbClr val="A31515"/>
                </a:solidFill>
                <a:latin typeface="Consolas" panose="020B0609020204030204" pitchFamily="49" charset="0"/>
              </a:rPr>
              <a:t>max"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sz="1200" dirty="0" err="1">
                <a:solidFill>
                  <a:srgbClr val="A31515"/>
                </a:solidFill>
                <a:latin typeface="Consolas" panose="020B0609020204030204" pitchFamily="49" charset="0"/>
              </a:rPr>
              <a:t>"min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 c);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200" dirty="0"/>
          </a:p>
        </p:txBody>
      </p:sp>
      <p:sp>
        <p:nvSpPr>
          <p:cNvPr id="6" name="矩形 5"/>
          <p:cNvSpPr/>
          <p:nvPr/>
        </p:nvSpPr>
        <p:spPr>
          <a:xfrm>
            <a:off x="4344187" y="5872002"/>
            <a:ext cx="1893950" cy="95410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/>
              <a:t>3 4</a:t>
            </a:r>
            <a:endParaRPr lang="en-US" sz="1400" dirty="0"/>
          </a:p>
          <a:p>
            <a:r>
              <a:rPr lang="en-US" sz="1400" dirty="0"/>
              <a:t>please choose 1 or 2:1</a:t>
            </a:r>
            <a:endParaRPr lang="en-US" sz="1400" dirty="0"/>
          </a:p>
          <a:p>
            <a:r>
              <a:rPr lang="en-US" sz="1400" dirty="0"/>
              <a:t>a=3,b=4</a:t>
            </a:r>
            <a:endParaRPr lang="en-US" sz="1400" dirty="0"/>
          </a:p>
          <a:p>
            <a:r>
              <a:rPr lang="en-US" sz="1400" dirty="0"/>
              <a:t>max=4</a:t>
            </a:r>
            <a:endParaRPr lang="en-US" sz="1400" dirty="0"/>
          </a:p>
        </p:txBody>
      </p:sp>
      <p:sp>
        <p:nvSpPr>
          <p:cNvPr id="7" name="矩形 6"/>
          <p:cNvSpPr/>
          <p:nvPr/>
        </p:nvSpPr>
        <p:spPr>
          <a:xfrm>
            <a:off x="6539979" y="5872001"/>
            <a:ext cx="1893949" cy="95410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/>
              <a:t>32 95</a:t>
            </a:r>
            <a:endParaRPr lang="en-US" sz="1400" dirty="0"/>
          </a:p>
          <a:p>
            <a:r>
              <a:rPr lang="en-US" sz="1400" dirty="0"/>
              <a:t>please choose 1 or 2:2</a:t>
            </a:r>
            <a:endParaRPr lang="en-US" sz="1400" dirty="0"/>
          </a:p>
          <a:p>
            <a:r>
              <a:rPr lang="en-US" sz="1400" dirty="0"/>
              <a:t>a=32,b=95</a:t>
            </a:r>
            <a:endParaRPr lang="en-US" sz="1400" dirty="0"/>
          </a:p>
          <a:p>
            <a:r>
              <a:rPr lang="en-US" sz="1400" dirty="0"/>
              <a:t>min=32</a:t>
            </a:r>
            <a:endParaRPr lang="en-US" sz="14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8280000" cy="473522"/>
          </a:xfrm>
        </p:spPr>
        <p:txBody>
          <a:bodyPr>
            <a:normAutofit fontScale="90000"/>
          </a:bodyPr>
          <a:lstStyle/>
          <a:p>
            <a:r>
              <a:rPr lang="zh-CN" altLang="en-US" sz="3200" dirty="0"/>
              <a:t>例</a:t>
            </a:r>
            <a:r>
              <a:rPr lang="en-US" altLang="zh-CN" sz="3200" dirty="0"/>
              <a:t>13-14b</a:t>
            </a:r>
            <a:r>
              <a:rPr lang="zh-CN" altLang="en-US" sz="3200" dirty="0"/>
              <a:t>：函数指针作为函数参数</a:t>
            </a:r>
            <a:endParaRPr lang="en-US" sz="3200" dirty="0"/>
          </a:p>
        </p:txBody>
      </p:sp>
      <p:sp>
        <p:nvSpPr>
          <p:cNvPr id="4" name="矩形 3"/>
          <p:cNvSpPr/>
          <p:nvPr/>
        </p:nvSpPr>
        <p:spPr>
          <a:xfrm>
            <a:off x="261712" y="1124977"/>
            <a:ext cx="3724183" cy="452431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&lt;iostream&gt;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预编译命令</a:t>
            </a:r>
            <a:endParaRPr lang="zh-CN" alt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std;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Max(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x,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y)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(x &gt; y)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x;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y;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Min(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x,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y)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(x &lt; y)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x;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y;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fun(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x,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y, </a:t>
            </a:r>
            <a:r>
              <a:rPr lang="en-US" sz="1200" dirty="0">
                <a:solidFill>
                  <a:srgbClr val="FF0000"/>
                </a:solidFill>
                <a:latin typeface="Consolas" panose="020B0609020204030204" pitchFamily="49" charset="0"/>
              </a:rPr>
              <a:t>int (*p)(int, int)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res;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res = (*p)(x, y);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res;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336563" y="1124977"/>
            <a:ext cx="4572000" cy="304698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main()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 // 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主函数</a:t>
            </a:r>
            <a:endParaRPr lang="zh-CN" alt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en-US" altLang="zh-CN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a, b, res, n;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"%</a:t>
            </a:r>
            <a:r>
              <a:rPr lang="en-US" sz="1200" dirty="0" err="1">
                <a:solidFill>
                  <a:srgbClr val="A31515"/>
                </a:solidFill>
                <a:latin typeface="Consolas" panose="020B0609020204030204" pitchFamily="49" charset="0"/>
              </a:rPr>
              <a:t>d%d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 &amp;a, &amp;b);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"please choose 1 or 2:"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"%d"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 &amp;n);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 // 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输入</a:t>
            </a:r>
            <a:r>
              <a:rPr lang="en-US" altLang="zh-CN" sz="1200" dirty="0">
                <a:solidFill>
                  <a:srgbClr val="008000"/>
                </a:solidFill>
                <a:latin typeface="Consolas" panose="020B0609020204030204" pitchFamily="49" charset="0"/>
              </a:rPr>
              <a:t>1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戓</a:t>
            </a:r>
            <a:r>
              <a:rPr lang="en-US" altLang="zh-CN" sz="1200" dirty="0">
                <a:solidFill>
                  <a:srgbClr val="008000"/>
                </a:solidFill>
                <a:latin typeface="Consolas" panose="020B0609020204030204" pitchFamily="49" charset="0"/>
              </a:rPr>
              <a:t>2</a:t>
            </a:r>
            <a:endParaRPr lang="zh-CN" alt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zh-CN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zh-CN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(n ==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res = fun(a, b, Max);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 // 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如输入</a:t>
            </a:r>
            <a:r>
              <a:rPr lang="en-US" altLang="zh-CN" sz="1200" dirty="0">
                <a:solidFill>
                  <a:srgbClr val="008000"/>
                </a:solidFill>
                <a:latin typeface="Consolas" panose="020B0609020204030204" pitchFamily="49" charset="0"/>
              </a:rPr>
              <a:t>1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，传参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Max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(n ==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res = fun(a, b, Min);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 // 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如输入</a:t>
            </a:r>
            <a:r>
              <a:rPr lang="en-US" altLang="zh-CN" sz="1200" dirty="0">
                <a:solidFill>
                  <a:srgbClr val="008000"/>
                </a:solidFill>
                <a:latin typeface="Consolas" panose="020B0609020204030204" pitchFamily="49" charset="0"/>
              </a:rPr>
              <a:t>2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，传参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Min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"a=%</a:t>
            </a:r>
            <a:r>
              <a:rPr lang="en-US" sz="1200" dirty="0" err="1">
                <a:solidFill>
                  <a:srgbClr val="A31515"/>
                </a:solidFill>
                <a:latin typeface="Consolas" panose="020B0609020204030204" pitchFamily="49" charset="0"/>
              </a:rPr>
              <a:t>d,b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=%d\n"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 a, b);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"%s=%d\n"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 (n==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)?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 err="1">
                <a:solidFill>
                  <a:srgbClr val="A31515"/>
                </a:solidFill>
                <a:latin typeface="Consolas" panose="020B0609020204030204" pitchFamily="49" charset="0"/>
              </a:rPr>
              <a:t>max"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sz="1200" dirty="0" err="1">
                <a:solidFill>
                  <a:srgbClr val="A31515"/>
                </a:solidFill>
                <a:latin typeface="Consolas" panose="020B0609020204030204" pitchFamily="49" charset="0"/>
              </a:rPr>
              <a:t>"min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 res);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572000" y="4391420"/>
            <a:ext cx="1893950" cy="95410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/>
              <a:t>3 4</a:t>
            </a:r>
            <a:endParaRPr lang="en-US" sz="1400" dirty="0"/>
          </a:p>
          <a:p>
            <a:r>
              <a:rPr lang="en-US" sz="1400" dirty="0"/>
              <a:t>please choose 1 or 2:1</a:t>
            </a:r>
            <a:endParaRPr lang="en-US" sz="1400" dirty="0"/>
          </a:p>
          <a:p>
            <a:r>
              <a:rPr lang="en-US" sz="1400" dirty="0"/>
              <a:t>a=3,b=4</a:t>
            </a:r>
            <a:endParaRPr lang="en-US" sz="1400" dirty="0"/>
          </a:p>
          <a:p>
            <a:r>
              <a:rPr lang="en-US" sz="1400" dirty="0"/>
              <a:t>max=4</a:t>
            </a:r>
            <a:endParaRPr lang="en-US" sz="1400" dirty="0"/>
          </a:p>
        </p:txBody>
      </p:sp>
      <p:sp>
        <p:nvSpPr>
          <p:cNvPr id="7" name="矩形 6"/>
          <p:cNvSpPr/>
          <p:nvPr/>
        </p:nvSpPr>
        <p:spPr>
          <a:xfrm>
            <a:off x="6754043" y="4391420"/>
            <a:ext cx="1893949" cy="95410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/>
              <a:t>32 95</a:t>
            </a:r>
            <a:endParaRPr lang="en-US" sz="1400" dirty="0"/>
          </a:p>
          <a:p>
            <a:r>
              <a:rPr lang="en-US" sz="1400" dirty="0"/>
              <a:t>please choose 1 or 2:2</a:t>
            </a:r>
            <a:endParaRPr lang="en-US" sz="1400" dirty="0"/>
          </a:p>
          <a:p>
            <a:r>
              <a:rPr lang="en-US" sz="1400" dirty="0"/>
              <a:t>a=32,b=95</a:t>
            </a:r>
            <a:endParaRPr lang="en-US" sz="1400" dirty="0"/>
          </a:p>
          <a:p>
            <a:r>
              <a:rPr lang="en-US" sz="1400" dirty="0"/>
              <a:t>min=32</a:t>
            </a:r>
            <a:endParaRPr lang="en-US" sz="1400" dirty="0"/>
          </a:p>
        </p:txBody>
      </p:sp>
      <p:sp>
        <p:nvSpPr>
          <p:cNvPr id="8" name="矩形 7"/>
          <p:cNvSpPr/>
          <p:nvPr/>
        </p:nvSpPr>
        <p:spPr>
          <a:xfrm>
            <a:off x="261712" y="5733023"/>
            <a:ext cx="872692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kern="0" dirty="0">
                <a:solidFill>
                  <a:prstClr val="black"/>
                </a:solidFill>
                <a:latin typeface="等线"/>
                <a:ea typeface="等线"/>
              </a:rPr>
              <a:t>原理简述</a:t>
            </a:r>
            <a:r>
              <a:rPr lang="en-US" altLang="zh-CN" sz="1600" kern="0" dirty="0">
                <a:solidFill>
                  <a:prstClr val="black"/>
                </a:solidFill>
                <a:latin typeface="等线"/>
                <a:ea typeface="等线"/>
              </a:rPr>
              <a:t>: fun</a:t>
            </a:r>
            <a:r>
              <a:rPr lang="zh-CN" altLang="en-US" sz="1600" kern="0" dirty="0">
                <a:solidFill>
                  <a:prstClr val="black"/>
                </a:solidFill>
                <a:latin typeface="等线"/>
                <a:ea typeface="等线"/>
              </a:rPr>
              <a:t>函数有</a:t>
            </a:r>
            <a:r>
              <a:rPr lang="en-US" altLang="zh-CN" sz="1600" kern="0" dirty="0">
                <a:solidFill>
                  <a:prstClr val="black"/>
                </a:solidFill>
                <a:latin typeface="等线"/>
                <a:ea typeface="等线"/>
              </a:rPr>
              <a:t>1</a:t>
            </a:r>
            <a:r>
              <a:rPr lang="zh-CN" altLang="en-US" sz="1600" kern="0" dirty="0">
                <a:solidFill>
                  <a:prstClr val="black"/>
                </a:solidFill>
                <a:latin typeface="等线"/>
                <a:ea typeface="等线"/>
              </a:rPr>
              <a:t>个函数指针类型的形参</a:t>
            </a:r>
            <a:r>
              <a:rPr lang="en-US" altLang="zh-CN" sz="1600" kern="0" dirty="0">
                <a:solidFill>
                  <a:prstClr val="black"/>
                </a:solidFill>
                <a:latin typeface="等线"/>
                <a:ea typeface="等线"/>
              </a:rPr>
              <a:t>p</a:t>
            </a:r>
            <a:r>
              <a:rPr lang="zh-CN" altLang="en-US" sz="1600" kern="0" dirty="0">
                <a:solidFill>
                  <a:prstClr val="black"/>
                </a:solidFill>
                <a:latin typeface="等线"/>
                <a:ea typeface="等线"/>
              </a:rPr>
              <a:t>。调用函数</a:t>
            </a:r>
            <a:r>
              <a:rPr lang="en-US" altLang="zh-CN" sz="1600" kern="0" dirty="0">
                <a:solidFill>
                  <a:prstClr val="black"/>
                </a:solidFill>
                <a:latin typeface="等线"/>
                <a:ea typeface="等线"/>
              </a:rPr>
              <a:t>fun</a:t>
            </a:r>
            <a:r>
              <a:rPr lang="zh-CN" altLang="en-US" sz="1600" kern="0" dirty="0">
                <a:solidFill>
                  <a:prstClr val="black"/>
                </a:solidFill>
                <a:latin typeface="等线"/>
                <a:ea typeface="等线"/>
              </a:rPr>
              <a:t>时，实参为函数名</a:t>
            </a:r>
            <a:r>
              <a:rPr lang="en-US" altLang="zh-CN" sz="1600" kern="0" dirty="0">
                <a:solidFill>
                  <a:prstClr val="black"/>
                </a:solidFill>
                <a:latin typeface="等线"/>
                <a:ea typeface="等线"/>
              </a:rPr>
              <a:t>Max</a:t>
            </a:r>
            <a:r>
              <a:rPr lang="zh-CN" altLang="en-US" sz="1600" kern="0" dirty="0">
                <a:solidFill>
                  <a:prstClr val="black"/>
                </a:solidFill>
                <a:latin typeface="等线"/>
                <a:ea typeface="等线"/>
              </a:rPr>
              <a:t>或者</a:t>
            </a:r>
            <a:r>
              <a:rPr lang="en-US" altLang="zh-CN" sz="1600" kern="0" dirty="0">
                <a:solidFill>
                  <a:prstClr val="black"/>
                </a:solidFill>
                <a:latin typeface="等线"/>
                <a:ea typeface="等线"/>
              </a:rPr>
              <a:t>Min</a:t>
            </a:r>
            <a:r>
              <a:rPr lang="zh-CN" altLang="en-US" sz="1600" kern="0" dirty="0">
                <a:solidFill>
                  <a:prstClr val="black"/>
                </a:solidFill>
                <a:latin typeface="等线"/>
                <a:ea typeface="等线"/>
              </a:rPr>
              <a:t>，给形参传递的是函数</a:t>
            </a:r>
            <a:r>
              <a:rPr lang="en-US" altLang="zh-CN" sz="1600" kern="0" dirty="0">
                <a:solidFill>
                  <a:prstClr val="black"/>
                </a:solidFill>
                <a:latin typeface="等线"/>
                <a:ea typeface="等线"/>
              </a:rPr>
              <a:t>Max</a:t>
            </a:r>
            <a:r>
              <a:rPr lang="zh-CN" altLang="en-US" sz="1600" kern="0" dirty="0">
                <a:solidFill>
                  <a:prstClr val="black"/>
                </a:solidFill>
                <a:latin typeface="等线"/>
                <a:ea typeface="等线"/>
              </a:rPr>
              <a:t>或</a:t>
            </a:r>
            <a:r>
              <a:rPr lang="en-US" altLang="zh-CN" sz="1600" kern="0" dirty="0">
                <a:solidFill>
                  <a:prstClr val="black"/>
                </a:solidFill>
                <a:latin typeface="等线"/>
                <a:ea typeface="等线"/>
              </a:rPr>
              <a:t>Min</a:t>
            </a:r>
            <a:r>
              <a:rPr lang="zh-CN" altLang="en-US" sz="1600" kern="0" dirty="0">
                <a:solidFill>
                  <a:prstClr val="black"/>
                </a:solidFill>
                <a:latin typeface="等线"/>
                <a:ea typeface="等线"/>
              </a:rPr>
              <a:t>的入口地址。这样在函数</a:t>
            </a:r>
            <a:r>
              <a:rPr lang="en-US" altLang="zh-CN" sz="1600" kern="0" dirty="0">
                <a:solidFill>
                  <a:prstClr val="black"/>
                </a:solidFill>
                <a:latin typeface="等线"/>
                <a:ea typeface="等线"/>
              </a:rPr>
              <a:t>fun</a:t>
            </a:r>
            <a:r>
              <a:rPr lang="zh-CN" altLang="en-US" sz="1600" kern="0" dirty="0">
                <a:solidFill>
                  <a:prstClr val="black"/>
                </a:solidFill>
                <a:latin typeface="等线"/>
                <a:ea typeface="等线"/>
              </a:rPr>
              <a:t>中就可以调用</a:t>
            </a:r>
            <a:r>
              <a:rPr lang="en-US" altLang="zh-CN" sz="1600" kern="0" dirty="0">
                <a:solidFill>
                  <a:prstClr val="black"/>
                </a:solidFill>
                <a:latin typeface="等线"/>
                <a:ea typeface="等线"/>
              </a:rPr>
              <a:t>Max</a:t>
            </a:r>
            <a:r>
              <a:rPr lang="zh-CN" altLang="en-US" sz="1600" kern="0" dirty="0">
                <a:solidFill>
                  <a:prstClr val="black"/>
                </a:solidFill>
                <a:latin typeface="等线"/>
                <a:ea typeface="等线"/>
              </a:rPr>
              <a:t>或者</a:t>
            </a:r>
            <a:r>
              <a:rPr lang="en-US" altLang="zh-CN" sz="1600" kern="0" dirty="0">
                <a:solidFill>
                  <a:prstClr val="black"/>
                </a:solidFill>
                <a:latin typeface="等线"/>
                <a:ea typeface="等线"/>
              </a:rPr>
              <a:t>Min</a:t>
            </a:r>
            <a:r>
              <a:rPr lang="zh-CN" altLang="en-US" sz="1600" kern="0" dirty="0">
                <a:solidFill>
                  <a:prstClr val="black"/>
                </a:solidFill>
                <a:latin typeface="等线"/>
                <a:ea typeface="等线"/>
              </a:rPr>
              <a:t>函数了。函数指针参数又被称为</a:t>
            </a:r>
            <a:r>
              <a:rPr lang="zh-CN" altLang="en-US" sz="1600" kern="0" dirty="0">
                <a:solidFill>
                  <a:srgbClr val="FF0000"/>
                </a:solidFill>
                <a:latin typeface="等线"/>
                <a:ea typeface="等线"/>
              </a:rPr>
              <a:t>回调函数（</a:t>
            </a:r>
            <a:r>
              <a:rPr lang="en-US" altLang="zh-CN" sz="1600" kern="0" dirty="0">
                <a:solidFill>
                  <a:srgbClr val="FF0000"/>
                </a:solidFill>
                <a:latin typeface="等线"/>
                <a:ea typeface="等线"/>
              </a:rPr>
              <a:t>callback function</a:t>
            </a:r>
            <a:r>
              <a:rPr lang="zh-CN" altLang="en-US" sz="1600" kern="0" dirty="0">
                <a:solidFill>
                  <a:srgbClr val="FF0000"/>
                </a:solidFill>
                <a:latin typeface="等线"/>
                <a:ea typeface="等线"/>
              </a:rPr>
              <a:t>）</a:t>
            </a:r>
            <a:r>
              <a:rPr lang="zh-CN" altLang="en-US" sz="1600" kern="0" dirty="0">
                <a:latin typeface="等线"/>
                <a:ea typeface="等线"/>
              </a:rPr>
              <a:t>。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19291" y="1659284"/>
            <a:ext cx="3249533" cy="504753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// </a:t>
            </a:r>
            <a:r>
              <a:rPr lang="zh-CN" alt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定义全局变量，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m</a:t>
            </a:r>
            <a:r>
              <a:rPr lang="zh-CN" alt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记选菜个数</a:t>
            </a:r>
            <a:endParaRPr lang="zh-CN" alt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m=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       </a:t>
            </a:r>
            <a:endParaRPr lang="en-US" sz="14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sum = 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   // sum</a:t>
            </a:r>
            <a:r>
              <a:rPr lang="zh-CN" alt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记总钱数</a:t>
            </a:r>
            <a:endParaRPr lang="zh-CN" alt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food1()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zh-CN" alt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鱼香肉丝：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</a:rPr>
              <a:t>4</a:t>
            </a:r>
            <a:r>
              <a:rPr lang="zh-CN" alt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元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</a:rPr>
              <a:t>\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n"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sum = sum + 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4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 m=m+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food2()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zh-CN" alt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白菜豆腐：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</a:rPr>
              <a:t>1</a:t>
            </a:r>
            <a:r>
              <a:rPr lang="zh-CN" alt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元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</a:rPr>
              <a:t>\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n"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sum = sum + 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 m=m+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food3()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{ 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zh-CN" alt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红烧鱼块：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</a:rPr>
              <a:t>2</a:t>
            </a:r>
            <a:r>
              <a:rPr lang="zh-CN" alt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元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</a:rPr>
              <a:t>\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n"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sum = sum + 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 m=m+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food4()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{ 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zh-CN" alt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黄瓜鸡蛋汤：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</a:rPr>
              <a:t>1</a:t>
            </a:r>
            <a:r>
              <a:rPr lang="zh-CN" alt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元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</a:rPr>
              <a:t>\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n"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sum = sum + 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 m=m+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861786" y="178071"/>
            <a:ext cx="5226250" cy="655564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main()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                                    </a:t>
            </a:r>
            <a:endParaRPr lang="zh-CN" alt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choice = 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                  </a:t>
            </a:r>
            <a:endParaRPr lang="zh-CN" alt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4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 (*p[])() = {food1, food2, food3, food4};</a:t>
            </a:r>
            <a:endParaRPr lang="en-US" sz="1400" dirty="0">
              <a:solidFill>
                <a:srgbClr val="000000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  =====</a:t>
            </a:r>
            <a:r>
              <a:rPr lang="zh-CN" alt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菜单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</a:rPr>
              <a:t>=====\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n"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     </a:t>
            </a:r>
            <a:endParaRPr lang="zh-CN" alt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&lt;&lt; 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zh-CN" alt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序号    名称    单价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</a:rPr>
              <a:t>\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n"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&lt;&lt; 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 1   </a:t>
            </a:r>
            <a:r>
              <a:rPr lang="zh-CN" alt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鱼香肉丝   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</a:rPr>
              <a:t>4</a:t>
            </a:r>
            <a:r>
              <a:rPr lang="zh-CN" alt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元 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</a:rPr>
              <a:t>\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n"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&lt;&lt; 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 2   </a:t>
            </a:r>
            <a:r>
              <a:rPr lang="zh-CN" alt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白菜豆腐   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</a:rPr>
              <a:t>1</a:t>
            </a:r>
            <a:r>
              <a:rPr lang="zh-CN" alt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元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</a:rPr>
              <a:t>\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n"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&lt;&lt; 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 3   </a:t>
            </a:r>
            <a:r>
              <a:rPr lang="zh-CN" alt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红烧鱼块   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</a:rPr>
              <a:t>2</a:t>
            </a:r>
            <a:r>
              <a:rPr lang="zh-CN" alt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元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</a:rPr>
              <a:t>\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n"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&lt;&lt; 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 4   </a:t>
            </a:r>
            <a:r>
              <a:rPr lang="zh-CN" alt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黄瓜鸡蛋汤 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</a:rPr>
              <a:t>1</a:t>
            </a:r>
            <a:r>
              <a:rPr lang="zh-CN" alt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元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</a:rPr>
              <a:t>\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n"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&lt;&lt; 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 0   </a:t>
            </a:r>
            <a:r>
              <a:rPr lang="zh-CN" alt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选毕退出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</a:rPr>
              <a:t>\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n"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&lt;&lt; 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  ==============\n"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&lt;&lt; 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zh-CN" alt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请你选菜（只敲入菜号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</a:rPr>
              <a:t>1</a:t>
            </a:r>
            <a:r>
              <a:rPr lang="zh-CN" alt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、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</a:rPr>
              <a:t>2</a:t>
            </a:r>
            <a:r>
              <a:rPr lang="zh-CN" alt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、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</a:rPr>
              <a:t>3</a:t>
            </a:r>
            <a:r>
              <a:rPr lang="zh-CN" alt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、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</a:rPr>
              <a:t>4</a:t>
            </a:r>
            <a:r>
              <a:rPr lang="zh-CN" alt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，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endParaRPr lang="zh-CN" alt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&lt;&lt; 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zh-CN" alt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如不再选了请敲入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</a:rPr>
              <a:t>0</a:t>
            </a:r>
            <a:r>
              <a:rPr lang="zh-CN" alt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）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</a:rPr>
              <a:t>\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n\n"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 do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{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                             </a:t>
            </a:r>
            <a:endParaRPr lang="zh-CN" alt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cin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&gt;&gt; choice;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switch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(choice)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             </a:t>
            </a:r>
            <a:endParaRPr lang="zh-CN" alt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case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: p[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]();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break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case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: p[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]();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break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case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: p[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]();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break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case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4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: p[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]();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break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case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: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break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default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: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zh-CN" alt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你敲错键了。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</a:rPr>
              <a:t>\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n"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}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}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(choice != 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            </a:t>
            </a:r>
            <a:endParaRPr lang="zh-CN" alt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"\n</a:t>
            </a:r>
            <a:r>
              <a:rPr lang="zh-CN" alt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你买了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m&lt;&lt;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zh-CN" alt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个菜，共用了：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		&lt;&lt; 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sum &lt;&lt; 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zh-CN" alt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元</a:t>
            </a:r>
            <a:r>
              <a:rPr lang="en-US" altLang="zh-CN" sz="1400" dirty="0">
                <a:solidFill>
                  <a:srgbClr val="A31515"/>
                </a:solidFill>
                <a:latin typeface="Consolas" panose="020B0609020204030204" pitchFamily="49" charset="0"/>
              </a:rPr>
              <a:t>\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n"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319291" y="151179"/>
            <a:ext cx="3003658" cy="686586"/>
          </a:xfrm>
        </p:spPr>
        <p:txBody>
          <a:bodyPr>
            <a:normAutofit fontScale="90000"/>
          </a:bodyPr>
          <a:lstStyle/>
          <a:p>
            <a:r>
              <a:rPr lang="zh-CN" altLang="en-US" sz="1800" dirty="0"/>
              <a:t>指向函数的指针</a:t>
            </a:r>
            <a:br>
              <a:rPr lang="en-US" altLang="zh-CN" sz="1800" dirty="0"/>
            </a:br>
            <a:r>
              <a:rPr lang="zh-CN" altLang="en-US" sz="1800" dirty="0"/>
              <a:t>例</a:t>
            </a:r>
            <a:r>
              <a:rPr lang="en-US" altLang="zh-CN" sz="1800" dirty="0"/>
              <a:t>13-15</a:t>
            </a:r>
            <a:r>
              <a:rPr lang="zh-CN" altLang="en-US" sz="1800" dirty="0"/>
              <a:t>：</a:t>
            </a:r>
            <a:r>
              <a:rPr kumimoji="1" lang="zh-CN" altLang="en-US" sz="1800" dirty="0">
                <a:latin typeface="Times New Roman" panose="02020503050405090304" pitchFamily="18" charset="0"/>
                <a:ea typeface="黑体" panose="02010609060101010101" pitchFamily="49" charset="-122"/>
              </a:rPr>
              <a:t>买菜计价的程序</a:t>
            </a:r>
            <a:br>
              <a:rPr kumimoji="1" lang="en-US" altLang="zh-CN" sz="1600" dirty="0">
                <a:latin typeface="Times New Roman" panose="02020503050405090304" pitchFamily="18" charset="0"/>
                <a:ea typeface="黑体" panose="02010609060101010101" pitchFamily="49" charset="-122"/>
              </a:rPr>
            </a:br>
            <a:endParaRPr lang="en-US" sz="1600" dirty="0"/>
          </a:p>
        </p:txBody>
      </p:sp>
      <p:sp>
        <p:nvSpPr>
          <p:cNvPr id="5" name="矩形 4"/>
          <p:cNvSpPr/>
          <p:nvPr/>
        </p:nvSpPr>
        <p:spPr>
          <a:xfrm>
            <a:off x="319291" y="648360"/>
            <a:ext cx="368453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1400" dirty="0">
                <a:solidFill>
                  <a:srgbClr val="C00000"/>
                </a:solidFill>
                <a:latin typeface="Times New Roman" panose="02020503050405090304" pitchFamily="18" charset="0"/>
                <a:ea typeface="黑体" panose="02010609060101010101" pitchFamily="49" charset="-122"/>
              </a:rPr>
              <a:t>王小二帮学生食堂编了一个买菜计价的程序，该程序可以显示菜单，让学生敲入菜号来选择买什么菜，之后程序会报出你买了多少个菜，用了多少钱</a:t>
            </a:r>
            <a:endParaRPr lang="en-US" sz="1400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typedef</a:t>
            </a:r>
            <a:r>
              <a:rPr lang="zh-CN" altLang="en-US" dirty="0"/>
              <a:t>关键字</a:t>
            </a:r>
            <a:r>
              <a:rPr lang="en-US" altLang="zh-CN" dirty="0"/>
              <a:t>*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5000"/>
              </a:lnSpc>
              <a:spcBef>
                <a:spcPct val="0"/>
              </a:spcBef>
            </a:pPr>
            <a:r>
              <a:rPr kumimoji="1" lang="en-US" altLang="zh-CN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pitchFamily="49" charset="-122"/>
              </a:rPr>
              <a:t>typedef void (*</a:t>
            </a:r>
            <a:r>
              <a:rPr kumimoji="1" lang="en-US" altLang="zh-CN" dirty="0" err="1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pitchFamily="49" charset="-122"/>
              </a:rPr>
              <a:t>MenuFood</a:t>
            </a:r>
            <a:r>
              <a:rPr kumimoji="1" lang="en-US" altLang="zh-CN" dirty="0">
                <a:solidFill>
                  <a:srgbClr val="FF0000"/>
                </a:solidFill>
                <a:latin typeface="Times New Roman" panose="02020503050405090304" pitchFamily="18" charset="0"/>
                <a:ea typeface="黑体" panose="02010609060101010101" pitchFamily="49" charset="-122"/>
              </a:rPr>
              <a:t>) ( ); </a:t>
            </a:r>
            <a:r>
              <a:rPr kumimoji="1" lang="zh-CN" altLang="en-US" dirty="0">
                <a:latin typeface="Times New Roman" panose="02020503050405090304" pitchFamily="18" charset="0"/>
                <a:ea typeface="黑体" panose="02010609060101010101" pitchFamily="49" charset="-122"/>
              </a:rPr>
              <a:t>	</a:t>
            </a:r>
            <a:endParaRPr lang="en-US" dirty="0"/>
          </a:p>
        </p:txBody>
      </p:sp>
      <p:sp>
        <p:nvSpPr>
          <p:cNvPr id="6" name="矩形 5"/>
          <p:cNvSpPr/>
          <p:nvPr/>
        </p:nvSpPr>
        <p:spPr>
          <a:xfrm>
            <a:off x="1133042" y="2356789"/>
            <a:ext cx="7106515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main()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                                    // </a:t>
            </a:r>
            <a:r>
              <a:rPr lang="zh-CN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主函数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choice = 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                  // </a:t>
            </a:r>
            <a:r>
              <a:rPr lang="zh-CN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定义整型变量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 (*p[])() = {food1, food2, food3, food4};</a:t>
            </a:r>
            <a:endParaRPr lang="en-US" dirty="0">
              <a:solidFill>
                <a:srgbClr val="000000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  =====</a:t>
            </a:r>
            <a:r>
              <a:rPr lang="zh-CN" altLang="en-US" dirty="0">
                <a:solidFill>
                  <a:srgbClr val="A31515"/>
                </a:solidFill>
                <a:latin typeface="Consolas" panose="020B0609020204030204" pitchFamily="49" charset="0"/>
              </a:rPr>
              <a:t>菜单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=====\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n"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     // </a:t>
            </a:r>
            <a:r>
              <a:rPr lang="zh-CN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显示一个菜单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&lt;&lt; 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zh-CN" altLang="en-US" dirty="0">
                <a:solidFill>
                  <a:srgbClr val="A31515"/>
                </a:solidFill>
                <a:latin typeface="Consolas" panose="020B0609020204030204" pitchFamily="49" charset="0"/>
              </a:rPr>
              <a:t>序号    名称    单价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\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n"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&lt;&lt; 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 1   </a:t>
            </a:r>
            <a:r>
              <a:rPr lang="zh-CN" altLang="en-US" dirty="0">
                <a:solidFill>
                  <a:srgbClr val="A31515"/>
                </a:solidFill>
                <a:latin typeface="Consolas" panose="020B0609020204030204" pitchFamily="49" charset="0"/>
              </a:rPr>
              <a:t>鱼香肉丝   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4</a:t>
            </a:r>
            <a:r>
              <a:rPr lang="zh-CN" altLang="en-US" dirty="0">
                <a:solidFill>
                  <a:srgbClr val="A31515"/>
                </a:solidFill>
                <a:latin typeface="Consolas" panose="020B0609020204030204" pitchFamily="49" charset="0"/>
              </a:rPr>
              <a:t>元 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\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n"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&lt;&lt; 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 2   </a:t>
            </a:r>
            <a:r>
              <a:rPr lang="zh-CN" altLang="en-US" dirty="0">
                <a:solidFill>
                  <a:srgbClr val="A31515"/>
                </a:solidFill>
                <a:latin typeface="Consolas" panose="020B0609020204030204" pitchFamily="49" charset="0"/>
              </a:rPr>
              <a:t>白菜豆腐   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1</a:t>
            </a:r>
            <a:r>
              <a:rPr lang="zh-CN" altLang="en-US" dirty="0">
                <a:solidFill>
                  <a:srgbClr val="A31515"/>
                </a:solidFill>
                <a:latin typeface="Consolas" panose="020B0609020204030204" pitchFamily="49" charset="0"/>
              </a:rPr>
              <a:t>元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\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n"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&lt;&lt; 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 3   </a:t>
            </a:r>
            <a:r>
              <a:rPr lang="zh-CN" altLang="en-US" dirty="0">
                <a:solidFill>
                  <a:srgbClr val="A31515"/>
                </a:solidFill>
                <a:latin typeface="Consolas" panose="020B0609020204030204" pitchFamily="49" charset="0"/>
              </a:rPr>
              <a:t>红烧鱼块   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2</a:t>
            </a:r>
            <a:r>
              <a:rPr lang="zh-CN" altLang="en-US" dirty="0">
                <a:solidFill>
                  <a:srgbClr val="A31515"/>
                </a:solidFill>
                <a:latin typeface="Consolas" panose="020B0609020204030204" pitchFamily="49" charset="0"/>
              </a:rPr>
              <a:t>元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\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n"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&lt;&lt; 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 4   </a:t>
            </a:r>
            <a:r>
              <a:rPr lang="zh-CN" altLang="en-US" dirty="0">
                <a:solidFill>
                  <a:srgbClr val="A31515"/>
                </a:solidFill>
                <a:latin typeface="Consolas" panose="020B0609020204030204" pitchFamily="49" charset="0"/>
              </a:rPr>
              <a:t>黄瓜鸡蛋汤 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1</a:t>
            </a:r>
            <a:r>
              <a:rPr lang="zh-CN" altLang="en-US" dirty="0">
                <a:solidFill>
                  <a:srgbClr val="A31515"/>
                </a:solidFill>
                <a:latin typeface="Consolas" panose="020B0609020204030204" pitchFamily="49" charset="0"/>
              </a:rPr>
              <a:t>元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\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n"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&lt;&lt; 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 0   </a:t>
            </a:r>
            <a:r>
              <a:rPr lang="zh-CN" altLang="en-US" dirty="0">
                <a:solidFill>
                  <a:srgbClr val="A31515"/>
                </a:solidFill>
                <a:latin typeface="Consolas" panose="020B0609020204030204" pitchFamily="49" charset="0"/>
              </a:rPr>
              <a:t>选毕退出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\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n"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&lt;&lt; 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  ==============\n"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&lt;&lt; 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zh-CN" altLang="en-US" dirty="0">
                <a:solidFill>
                  <a:srgbClr val="A31515"/>
                </a:solidFill>
                <a:latin typeface="Consolas" panose="020B0609020204030204" pitchFamily="49" charset="0"/>
              </a:rPr>
              <a:t>请你选菜（只敲入菜号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1</a:t>
            </a:r>
            <a:r>
              <a:rPr lang="zh-CN" altLang="en-US" dirty="0">
                <a:solidFill>
                  <a:srgbClr val="A31515"/>
                </a:solidFill>
                <a:latin typeface="Consolas" panose="020B0609020204030204" pitchFamily="49" charset="0"/>
              </a:rPr>
              <a:t>、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2</a:t>
            </a:r>
            <a:r>
              <a:rPr lang="zh-CN" altLang="en-US" dirty="0">
                <a:solidFill>
                  <a:srgbClr val="A31515"/>
                </a:solidFill>
                <a:latin typeface="Consolas" panose="020B0609020204030204" pitchFamily="49" charset="0"/>
              </a:rPr>
              <a:t>、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3</a:t>
            </a:r>
            <a:r>
              <a:rPr lang="zh-CN" altLang="en-US" dirty="0">
                <a:solidFill>
                  <a:srgbClr val="A31515"/>
                </a:solidFill>
                <a:latin typeface="Consolas" panose="020B0609020204030204" pitchFamily="49" charset="0"/>
              </a:rPr>
              <a:t>、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4</a:t>
            </a:r>
            <a:r>
              <a:rPr lang="zh-CN" altLang="en-US" dirty="0">
                <a:solidFill>
                  <a:srgbClr val="A31515"/>
                </a:solidFill>
                <a:latin typeface="Consolas" panose="020B0609020204030204" pitchFamily="49" charset="0"/>
              </a:rPr>
              <a:t>，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&lt;&lt; 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zh-CN" altLang="en-US" dirty="0">
                <a:solidFill>
                  <a:srgbClr val="A31515"/>
                </a:solidFill>
                <a:latin typeface="Consolas" panose="020B0609020204030204" pitchFamily="49" charset="0"/>
              </a:rPr>
              <a:t>如不再选了请敲入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0</a:t>
            </a:r>
            <a:r>
              <a:rPr lang="zh-CN" altLang="en-US" dirty="0">
                <a:solidFill>
                  <a:srgbClr val="A31515"/>
                </a:solidFill>
                <a:latin typeface="Consolas" panose="020B0609020204030204" pitchFamily="49" charset="0"/>
              </a:rPr>
              <a:t>）</a:t>
            </a:r>
            <a:r>
              <a:rPr lang="en-US" altLang="zh-CN" dirty="0">
                <a:solidFill>
                  <a:srgbClr val="A31515"/>
                </a:solidFill>
                <a:latin typeface="Consolas" panose="020B0609020204030204" pitchFamily="49" charset="0"/>
              </a:rPr>
              <a:t>\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n\n"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325546" y="1331447"/>
            <a:ext cx="6990347" cy="3277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5000"/>
              </a:lnSpc>
              <a:spcBef>
                <a:spcPct val="0"/>
              </a:spcBef>
            </a:pPr>
            <a:r>
              <a:rPr kumimoji="1" lang="zh-CN" altLang="en-US" dirty="0">
                <a:latin typeface="Times New Roman" panose="02020503050405090304" pitchFamily="18" charset="0"/>
                <a:ea typeface="黑体" panose="02010609060101010101" pitchFamily="49" charset="-122"/>
              </a:rPr>
              <a:t>			</a:t>
            </a:r>
            <a:endParaRPr kumimoji="1" lang="en-US" altLang="zh-CN" dirty="0">
              <a:latin typeface="Times New Roman" panose="02020503050405090304" pitchFamily="18" charset="0"/>
              <a:ea typeface="黑体" panose="02010609060101010101" pitchFamily="49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606216" y="3207796"/>
            <a:ext cx="5931568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8000"/>
                </a:solidFill>
                <a:latin typeface="Consolas" panose="020B0609020204030204" pitchFamily="49" charset="0"/>
              </a:rPr>
              <a:t>MenuFood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 p[] = {food1, food2, food3, food4}; 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892068" y="1683387"/>
            <a:ext cx="6029893" cy="3277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5000"/>
              </a:lnSpc>
              <a:spcBef>
                <a:spcPct val="0"/>
              </a:spcBef>
            </a:pPr>
            <a:r>
              <a:rPr kumimoji="1" lang="en-US" altLang="zh-CN" dirty="0">
                <a:latin typeface="Times New Roman" panose="02020503050405090304" pitchFamily="18" charset="0"/>
                <a:ea typeface="黑体" panose="02010609060101010101" pitchFamily="49" charset="-122"/>
              </a:rPr>
              <a:t>// </a:t>
            </a:r>
            <a:r>
              <a:rPr kumimoji="1" lang="zh-CN" altLang="en-US" dirty="0">
                <a:latin typeface="Times New Roman" panose="02020503050405090304" pitchFamily="18" charset="0"/>
                <a:ea typeface="黑体" panose="02010609060101010101" pitchFamily="49" charset="-122"/>
              </a:rPr>
              <a:t>定义一个指向函数的指针类型，名为</a:t>
            </a:r>
            <a:r>
              <a:rPr kumimoji="1" lang="en-US" altLang="zh-CN" dirty="0" err="1">
                <a:latin typeface="Times New Roman" panose="02020503050405090304" pitchFamily="18" charset="0"/>
                <a:ea typeface="黑体" panose="02010609060101010101" pitchFamily="49" charset="-122"/>
              </a:rPr>
              <a:t>MenuFood</a:t>
            </a:r>
            <a:endParaRPr kumimoji="1" lang="en-US" altLang="zh-CN" dirty="0">
              <a:latin typeface="Times New Roman" panose="02020503050405090304" pitchFamily="18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程序说明</a:t>
            </a:r>
            <a:r>
              <a:rPr lang="en-US" altLang="zh-CN" dirty="0"/>
              <a:t>(1)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子函数</a:t>
            </a:r>
            <a:endParaRPr lang="en-US" altLang="zh-CN" dirty="0"/>
          </a:p>
          <a:p>
            <a:pPr lvl="1"/>
            <a:r>
              <a:rPr kumimoji="1" lang="en-US" altLang="zh-CN" dirty="0">
                <a:latin typeface="Times New Roman" panose="02020503050405090304" pitchFamily="18" charset="0"/>
                <a:ea typeface="黑体" panose="02010609060101010101" pitchFamily="49" charset="-122"/>
              </a:rPr>
              <a:t>void food1();</a:t>
            </a:r>
            <a:endParaRPr kumimoji="1" lang="en-US" altLang="zh-CN" dirty="0">
              <a:latin typeface="Times New Roman" panose="02020503050405090304" pitchFamily="18" charset="0"/>
              <a:ea typeface="黑体" panose="02010609060101010101" pitchFamily="49" charset="-122"/>
            </a:endParaRPr>
          </a:p>
          <a:p>
            <a:pPr lvl="1"/>
            <a:r>
              <a:rPr kumimoji="1" lang="en-US" altLang="zh-CN" dirty="0">
                <a:latin typeface="Times New Roman" panose="02020503050405090304" pitchFamily="18" charset="0"/>
                <a:ea typeface="黑体" panose="02010609060101010101" pitchFamily="49" charset="-122"/>
              </a:rPr>
              <a:t>void food2();</a:t>
            </a:r>
            <a:endParaRPr kumimoji="1" lang="en-US" altLang="zh-CN" dirty="0">
              <a:latin typeface="Times New Roman" panose="02020503050405090304" pitchFamily="18" charset="0"/>
              <a:ea typeface="黑体" panose="02010609060101010101" pitchFamily="49" charset="-122"/>
            </a:endParaRPr>
          </a:p>
          <a:p>
            <a:pPr lvl="1"/>
            <a:r>
              <a:rPr kumimoji="1" lang="en-US" altLang="zh-CN" dirty="0">
                <a:latin typeface="Times New Roman" panose="02020503050405090304" pitchFamily="18" charset="0"/>
                <a:ea typeface="黑体" panose="02010609060101010101" pitchFamily="49" charset="-122"/>
              </a:rPr>
              <a:t>void food3();</a:t>
            </a:r>
            <a:endParaRPr kumimoji="1" lang="en-US" altLang="zh-CN" dirty="0">
              <a:latin typeface="Times New Roman" panose="02020503050405090304" pitchFamily="18" charset="0"/>
              <a:ea typeface="黑体" panose="02010609060101010101" pitchFamily="49" charset="-122"/>
            </a:endParaRPr>
          </a:p>
          <a:p>
            <a:pPr lvl="1"/>
            <a:r>
              <a:rPr kumimoji="1" lang="en-US" altLang="zh-CN" dirty="0">
                <a:latin typeface="Times New Roman" panose="02020503050405090304" pitchFamily="18" charset="0"/>
                <a:ea typeface="黑体" panose="02010609060101010101" pitchFamily="49" charset="-122"/>
              </a:rPr>
              <a:t>void food4();</a:t>
            </a:r>
            <a:endParaRPr lang="en-US" dirty="0"/>
          </a:p>
          <a:p>
            <a:r>
              <a:rPr lang="zh-CN" altLang="en-US" dirty="0"/>
              <a:t>主函数</a:t>
            </a:r>
            <a:endParaRPr lang="en-US" altLang="zh-CN" dirty="0"/>
          </a:p>
          <a:p>
            <a:pPr lvl="1"/>
            <a:r>
              <a:rPr lang="en-US" dirty="0"/>
              <a:t>void (*p[])() = {food1, food2, food3, food4};</a:t>
            </a:r>
            <a:endParaRPr lang="en-US" dirty="0"/>
          </a:p>
          <a:p>
            <a:pPr lvl="2"/>
            <a:r>
              <a:rPr kumimoji="1" lang="zh-CN" altLang="en-US" dirty="0">
                <a:latin typeface="Times New Roman" panose="02020503050405090304" pitchFamily="18" charset="0"/>
                <a:ea typeface="黑体" panose="02010609060101010101" pitchFamily="49" charset="-122"/>
              </a:rPr>
              <a:t>定义一个指向函数的指针数组 </a:t>
            </a:r>
            <a:r>
              <a:rPr kumimoji="1" lang="en-US" altLang="zh-CN" dirty="0">
                <a:latin typeface="Times New Roman" panose="02020503050405090304" pitchFamily="18" charset="0"/>
                <a:ea typeface="黑体" panose="02010609060101010101" pitchFamily="49" charset="-122"/>
              </a:rPr>
              <a:t>p[ ]</a:t>
            </a:r>
            <a:r>
              <a:rPr kumimoji="1" lang="zh-CN" altLang="en-US" dirty="0">
                <a:latin typeface="Times New Roman" panose="02020503050405090304" pitchFamily="18" charset="0"/>
                <a:ea typeface="黑体" panose="02010609060101010101" pitchFamily="49" charset="-122"/>
              </a:rPr>
              <a:t>并初始化</a:t>
            </a:r>
            <a:endParaRPr kumimoji="1" lang="en-US" altLang="zh-CN" dirty="0">
              <a:latin typeface="Times New Roman" panose="02020503050405090304" pitchFamily="18" charset="0"/>
              <a:ea typeface="黑体" panose="02010609060101010101" pitchFamily="49" charset="-122"/>
            </a:endParaRPr>
          </a:p>
          <a:p>
            <a:pPr lvl="2"/>
            <a:r>
              <a:rPr lang="zh-CN" altLang="en-US" dirty="0"/>
              <a:t>相当于</a:t>
            </a:r>
            <a:r>
              <a:rPr lang="en-US" altLang="zh-CN" dirty="0"/>
              <a:t>p[0] = food1, p[1] = food2</a:t>
            </a:r>
            <a:r>
              <a:rPr lang="zh-CN" altLang="en-US" dirty="0"/>
              <a:t>，</a:t>
            </a:r>
            <a:r>
              <a:rPr lang="en-US" altLang="zh-CN" dirty="0"/>
              <a:t>……</a:t>
            </a:r>
            <a:endParaRPr lang="en-US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2"/>
          <p:cNvSpPr txBox="1">
            <a:spLocks noChangeArrowheads="1"/>
          </p:cNvSpPr>
          <p:nvPr/>
        </p:nvSpPr>
        <p:spPr bwMode="auto">
          <a:xfrm>
            <a:off x="3266409" y="3156452"/>
            <a:ext cx="1835150" cy="469900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503050405090304" pitchFamily="18" charset="0"/>
                <a:ea typeface="黑体" panose="02010609060101010101" pitchFamily="49" charset="-122"/>
              </a:rPr>
              <a:t>food1()</a:t>
            </a:r>
            <a:endParaRPr kumimoji="1" lang="en-US" altLang="zh-CN" sz="2400">
              <a:latin typeface="Times New Roman" panose="02020503050405090304" pitchFamily="18" charset="0"/>
              <a:ea typeface="黑体" panose="02010609060101010101" pitchFamily="49" charset="-122"/>
            </a:endParaRPr>
          </a:p>
        </p:txBody>
      </p:sp>
      <p:sp>
        <p:nvSpPr>
          <p:cNvPr id="22531" name="Line 3"/>
          <p:cNvSpPr>
            <a:spLocks noChangeShapeType="1"/>
          </p:cNvSpPr>
          <p:nvPr/>
        </p:nvSpPr>
        <p:spPr bwMode="auto">
          <a:xfrm>
            <a:off x="4812634" y="3443790"/>
            <a:ext cx="2232025" cy="0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2532" name="Text Box 4"/>
          <p:cNvSpPr txBox="1">
            <a:spLocks noChangeArrowheads="1"/>
          </p:cNvSpPr>
          <p:nvPr/>
        </p:nvSpPr>
        <p:spPr bwMode="auto">
          <a:xfrm>
            <a:off x="6938297" y="2699252"/>
            <a:ext cx="12239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503050405090304" pitchFamily="18" charset="0"/>
                <a:ea typeface="黑体" panose="02010609060101010101" pitchFamily="49" charset="-122"/>
              </a:rPr>
              <a:t>food1()</a:t>
            </a:r>
            <a:endParaRPr kumimoji="1" lang="en-US" altLang="zh-CN" sz="2400">
              <a:latin typeface="Times New Roman" panose="02020503050405090304" pitchFamily="18" charset="0"/>
              <a:ea typeface="黑体" panose="02010609060101010101" pitchFamily="49" charset="-122"/>
            </a:endParaRPr>
          </a:p>
        </p:txBody>
      </p:sp>
      <p:sp>
        <p:nvSpPr>
          <p:cNvPr id="22533" name="Text Box 5"/>
          <p:cNvSpPr txBox="1">
            <a:spLocks noChangeArrowheads="1"/>
          </p:cNvSpPr>
          <p:nvPr/>
        </p:nvSpPr>
        <p:spPr bwMode="auto">
          <a:xfrm>
            <a:off x="7046247" y="3156452"/>
            <a:ext cx="1835150" cy="469900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kumimoji="1" lang="en-US" altLang="en-US" sz="2400">
              <a:latin typeface="Times New Roman" panose="02020503050405090304" pitchFamily="18" charset="0"/>
              <a:ea typeface="黑体" panose="02010609060101010101" pitchFamily="49" charset="-122"/>
            </a:endParaRPr>
          </a:p>
        </p:txBody>
      </p:sp>
      <p:sp>
        <p:nvSpPr>
          <p:cNvPr id="22534" name="Text Box 6"/>
          <p:cNvSpPr txBox="1">
            <a:spLocks noChangeArrowheads="1"/>
          </p:cNvSpPr>
          <p:nvPr/>
        </p:nvSpPr>
        <p:spPr bwMode="auto">
          <a:xfrm>
            <a:off x="2977484" y="2699252"/>
            <a:ext cx="12239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503050405090304" pitchFamily="18" charset="0"/>
                <a:ea typeface="黑体" panose="02010609060101010101" pitchFamily="49" charset="-122"/>
              </a:rPr>
              <a:t>p[0]()</a:t>
            </a:r>
            <a:endParaRPr kumimoji="1" lang="en-US" altLang="zh-CN" sz="2400">
              <a:latin typeface="Times New Roman" panose="02020503050405090304" pitchFamily="18" charset="0"/>
              <a:ea typeface="黑体" panose="02010609060101010101" pitchFamily="49" charset="-122"/>
            </a:endParaRPr>
          </a:p>
        </p:txBody>
      </p:sp>
      <p:sp>
        <p:nvSpPr>
          <p:cNvPr id="22535" name="Text Box 7"/>
          <p:cNvSpPr txBox="1">
            <a:spLocks noChangeArrowheads="1"/>
          </p:cNvSpPr>
          <p:nvPr/>
        </p:nvSpPr>
        <p:spPr bwMode="auto">
          <a:xfrm>
            <a:off x="5425409" y="2927852"/>
            <a:ext cx="12239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503050405090304" pitchFamily="18" charset="0"/>
                <a:ea typeface="黑体" panose="02010609060101010101" pitchFamily="49" charset="-122"/>
              </a:rPr>
              <a:t>p[0]()</a:t>
            </a:r>
            <a:endParaRPr kumimoji="1" lang="en-US" altLang="zh-CN" sz="2400">
              <a:latin typeface="Times New Roman" panose="02020503050405090304" pitchFamily="18" charset="0"/>
              <a:ea typeface="黑体" panose="02010609060101010101" pitchFamily="49" charset="-122"/>
            </a:endParaRPr>
          </a:p>
        </p:txBody>
      </p:sp>
      <p:sp>
        <p:nvSpPr>
          <p:cNvPr id="22536" name="Text Box 8"/>
          <p:cNvSpPr txBox="1">
            <a:spLocks noChangeArrowheads="1"/>
          </p:cNvSpPr>
          <p:nvPr/>
        </p:nvSpPr>
        <p:spPr bwMode="auto">
          <a:xfrm>
            <a:off x="3266409" y="4126415"/>
            <a:ext cx="1835150" cy="469900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503050405090304" pitchFamily="18" charset="0"/>
                <a:ea typeface="黑体" panose="02010609060101010101" pitchFamily="49" charset="-122"/>
              </a:rPr>
              <a:t>food2()</a:t>
            </a:r>
            <a:endParaRPr kumimoji="1" lang="en-US" altLang="zh-CN" sz="2400">
              <a:latin typeface="Times New Roman" panose="02020503050405090304" pitchFamily="18" charset="0"/>
              <a:ea typeface="黑体" panose="02010609060101010101" pitchFamily="49" charset="-122"/>
            </a:endParaRPr>
          </a:p>
        </p:txBody>
      </p:sp>
      <p:sp>
        <p:nvSpPr>
          <p:cNvPr id="22537" name="Line 9"/>
          <p:cNvSpPr>
            <a:spLocks noChangeShapeType="1"/>
          </p:cNvSpPr>
          <p:nvPr/>
        </p:nvSpPr>
        <p:spPr bwMode="auto">
          <a:xfrm>
            <a:off x="4812634" y="4380415"/>
            <a:ext cx="2232025" cy="0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2538" name="Text Box 10"/>
          <p:cNvSpPr txBox="1">
            <a:spLocks noChangeArrowheads="1"/>
          </p:cNvSpPr>
          <p:nvPr/>
        </p:nvSpPr>
        <p:spPr bwMode="auto">
          <a:xfrm>
            <a:off x="6938297" y="3669215"/>
            <a:ext cx="12239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503050405090304" pitchFamily="18" charset="0"/>
                <a:ea typeface="黑体" panose="02010609060101010101" pitchFamily="49" charset="-122"/>
              </a:rPr>
              <a:t>food2()</a:t>
            </a:r>
            <a:endParaRPr kumimoji="1" lang="en-US" altLang="zh-CN" sz="2400">
              <a:latin typeface="Times New Roman" panose="02020503050405090304" pitchFamily="18" charset="0"/>
              <a:ea typeface="黑体" panose="02010609060101010101" pitchFamily="49" charset="-122"/>
            </a:endParaRPr>
          </a:p>
        </p:txBody>
      </p:sp>
      <p:sp>
        <p:nvSpPr>
          <p:cNvPr id="22539" name="Text Box 11"/>
          <p:cNvSpPr txBox="1">
            <a:spLocks noChangeArrowheads="1"/>
          </p:cNvSpPr>
          <p:nvPr/>
        </p:nvSpPr>
        <p:spPr bwMode="auto">
          <a:xfrm>
            <a:off x="7046247" y="4126415"/>
            <a:ext cx="1835150" cy="469900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kumimoji="1" lang="en-US" altLang="en-US" sz="2400">
              <a:latin typeface="Times New Roman" panose="02020503050405090304" pitchFamily="18" charset="0"/>
              <a:ea typeface="黑体" panose="02010609060101010101" pitchFamily="49" charset="-122"/>
            </a:endParaRPr>
          </a:p>
        </p:txBody>
      </p:sp>
      <p:sp>
        <p:nvSpPr>
          <p:cNvPr id="22540" name="Text Box 12"/>
          <p:cNvSpPr txBox="1">
            <a:spLocks noChangeArrowheads="1"/>
          </p:cNvSpPr>
          <p:nvPr/>
        </p:nvSpPr>
        <p:spPr bwMode="auto">
          <a:xfrm>
            <a:off x="2977484" y="3669215"/>
            <a:ext cx="12239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p[1]()</a:t>
            </a:r>
            <a:endParaRPr kumimoji="1" lang="en-US" altLang="zh-CN" sz="2400" dirty="0">
              <a:latin typeface="Times New Roman" panose="02020503050405090304" pitchFamily="18" charset="0"/>
              <a:ea typeface="黑体" panose="02010609060101010101" pitchFamily="49" charset="-122"/>
            </a:endParaRPr>
          </a:p>
        </p:txBody>
      </p:sp>
      <p:sp>
        <p:nvSpPr>
          <p:cNvPr id="22541" name="Text Box 13"/>
          <p:cNvSpPr txBox="1">
            <a:spLocks noChangeArrowheads="1"/>
          </p:cNvSpPr>
          <p:nvPr/>
        </p:nvSpPr>
        <p:spPr bwMode="auto">
          <a:xfrm>
            <a:off x="5425409" y="3897815"/>
            <a:ext cx="12239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503050405090304" pitchFamily="18" charset="0"/>
                <a:ea typeface="黑体" panose="02010609060101010101" pitchFamily="49" charset="-122"/>
              </a:rPr>
              <a:t>p[1]()</a:t>
            </a:r>
            <a:endParaRPr kumimoji="1" lang="en-US" altLang="zh-CN" sz="2400">
              <a:latin typeface="Times New Roman" panose="02020503050405090304" pitchFamily="18" charset="0"/>
              <a:ea typeface="黑体" panose="02010609060101010101" pitchFamily="49" charset="-122"/>
            </a:endParaRPr>
          </a:p>
        </p:txBody>
      </p:sp>
      <p:sp>
        <p:nvSpPr>
          <p:cNvPr id="22542" name="Text Box 14"/>
          <p:cNvSpPr txBox="1">
            <a:spLocks noChangeArrowheads="1"/>
          </p:cNvSpPr>
          <p:nvPr/>
        </p:nvSpPr>
        <p:spPr bwMode="auto">
          <a:xfrm>
            <a:off x="3267997" y="5137652"/>
            <a:ext cx="1835150" cy="469900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503050405090304" pitchFamily="18" charset="0"/>
                <a:ea typeface="黑体" panose="02010609060101010101" pitchFamily="49" charset="-122"/>
              </a:rPr>
              <a:t>food3()</a:t>
            </a:r>
            <a:endParaRPr kumimoji="1" lang="en-US" altLang="zh-CN" sz="2400">
              <a:latin typeface="Times New Roman" panose="02020503050405090304" pitchFamily="18" charset="0"/>
              <a:ea typeface="黑体" panose="02010609060101010101" pitchFamily="49" charset="-122"/>
            </a:endParaRPr>
          </a:p>
        </p:txBody>
      </p:sp>
      <p:sp>
        <p:nvSpPr>
          <p:cNvPr id="22543" name="Line 15"/>
          <p:cNvSpPr>
            <a:spLocks noChangeShapeType="1"/>
          </p:cNvSpPr>
          <p:nvPr/>
        </p:nvSpPr>
        <p:spPr bwMode="auto">
          <a:xfrm>
            <a:off x="4814222" y="5424990"/>
            <a:ext cx="2232025" cy="0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2544" name="Text Box 16"/>
          <p:cNvSpPr txBox="1">
            <a:spLocks noChangeArrowheads="1"/>
          </p:cNvSpPr>
          <p:nvPr/>
        </p:nvSpPr>
        <p:spPr bwMode="auto">
          <a:xfrm>
            <a:off x="6939884" y="4680452"/>
            <a:ext cx="12239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503050405090304" pitchFamily="18" charset="0"/>
                <a:ea typeface="黑体" panose="02010609060101010101" pitchFamily="49" charset="-122"/>
              </a:rPr>
              <a:t>food3()</a:t>
            </a:r>
            <a:endParaRPr kumimoji="1" lang="en-US" altLang="zh-CN" sz="2400">
              <a:latin typeface="Times New Roman" panose="02020503050405090304" pitchFamily="18" charset="0"/>
              <a:ea typeface="黑体" panose="02010609060101010101" pitchFamily="49" charset="-122"/>
            </a:endParaRPr>
          </a:p>
        </p:txBody>
      </p:sp>
      <p:sp>
        <p:nvSpPr>
          <p:cNvPr id="22545" name="Text Box 17"/>
          <p:cNvSpPr txBox="1">
            <a:spLocks noChangeArrowheads="1"/>
          </p:cNvSpPr>
          <p:nvPr/>
        </p:nvSpPr>
        <p:spPr bwMode="auto">
          <a:xfrm>
            <a:off x="7047834" y="5137652"/>
            <a:ext cx="1835150" cy="469900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kumimoji="1" lang="en-US" altLang="en-US" sz="2400">
              <a:latin typeface="Times New Roman" panose="02020503050405090304" pitchFamily="18" charset="0"/>
              <a:ea typeface="黑体" panose="02010609060101010101" pitchFamily="49" charset="-122"/>
            </a:endParaRPr>
          </a:p>
        </p:txBody>
      </p:sp>
      <p:sp>
        <p:nvSpPr>
          <p:cNvPr id="22546" name="Text Box 18"/>
          <p:cNvSpPr txBox="1">
            <a:spLocks noChangeArrowheads="1"/>
          </p:cNvSpPr>
          <p:nvPr/>
        </p:nvSpPr>
        <p:spPr bwMode="auto">
          <a:xfrm>
            <a:off x="2979072" y="4680452"/>
            <a:ext cx="12239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503050405090304" pitchFamily="18" charset="0"/>
                <a:ea typeface="黑体" panose="02010609060101010101" pitchFamily="49" charset="-122"/>
              </a:rPr>
              <a:t>p[2]()</a:t>
            </a:r>
            <a:endParaRPr kumimoji="1" lang="en-US" altLang="zh-CN" sz="2400">
              <a:latin typeface="Times New Roman" panose="02020503050405090304" pitchFamily="18" charset="0"/>
              <a:ea typeface="黑体" panose="02010609060101010101" pitchFamily="49" charset="-122"/>
            </a:endParaRPr>
          </a:p>
        </p:txBody>
      </p:sp>
      <p:sp>
        <p:nvSpPr>
          <p:cNvPr id="22547" name="Text Box 19"/>
          <p:cNvSpPr txBox="1">
            <a:spLocks noChangeArrowheads="1"/>
          </p:cNvSpPr>
          <p:nvPr/>
        </p:nvSpPr>
        <p:spPr bwMode="auto">
          <a:xfrm>
            <a:off x="5426997" y="4909052"/>
            <a:ext cx="12239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503050405090304" pitchFamily="18" charset="0"/>
                <a:ea typeface="黑体" panose="02010609060101010101" pitchFamily="49" charset="-122"/>
              </a:rPr>
              <a:t>p[2]()</a:t>
            </a:r>
            <a:endParaRPr kumimoji="1" lang="en-US" altLang="zh-CN" sz="2400">
              <a:latin typeface="Times New Roman" panose="02020503050405090304" pitchFamily="18" charset="0"/>
              <a:ea typeface="黑体" panose="02010609060101010101" pitchFamily="49" charset="-122"/>
            </a:endParaRPr>
          </a:p>
        </p:txBody>
      </p:sp>
      <p:sp>
        <p:nvSpPr>
          <p:cNvPr id="22548" name="Text Box 20"/>
          <p:cNvSpPr txBox="1">
            <a:spLocks noChangeArrowheads="1"/>
          </p:cNvSpPr>
          <p:nvPr/>
        </p:nvSpPr>
        <p:spPr bwMode="auto">
          <a:xfrm>
            <a:off x="3267997" y="6107615"/>
            <a:ext cx="1835150" cy="469900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503050405090304" pitchFamily="18" charset="0"/>
                <a:ea typeface="黑体" panose="02010609060101010101" pitchFamily="49" charset="-122"/>
              </a:rPr>
              <a:t>food4()</a:t>
            </a:r>
            <a:endParaRPr kumimoji="1" lang="en-US" altLang="zh-CN" sz="2400">
              <a:latin typeface="Times New Roman" panose="02020503050405090304" pitchFamily="18" charset="0"/>
              <a:ea typeface="黑体" panose="02010609060101010101" pitchFamily="49" charset="-122"/>
            </a:endParaRPr>
          </a:p>
        </p:txBody>
      </p:sp>
      <p:sp>
        <p:nvSpPr>
          <p:cNvPr id="22549" name="Line 21"/>
          <p:cNvSpPr>
            <a:spLocks noChangeShapeType="1"/>
          </p:cNvSpPr>
          <p:nvPr/>
        </p:nvSpPr>
        <p:spPr bwMode="auto">
          <a:xfrm>
            <a:off x="4814222" y="6394952"/>
            <a:ext cx="2232025" cy="0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2550" name="Text Box 22"/>
          <p:cNvSpPr txBox="1">
            <a:spLocks noChangeArrowheads="1"/>
          </p:cNvSpPr>
          <p:nvPr/>
        </p:nvSpPr>
        <p:spPr bwMode="auto">
          <a:xfrm>
            <a:off x="6939884" y="5650415"/>
            <a:ext cx="12239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503050405090304" pitchFamily="18" charset="0"/>
                <a:ea typeface="黑体" panose="02010609060101010101" pitchFamily="49" charset="-122"/>
              </a:rPr>
              <a:t>food4()</a:t>
            </a:r>
            <a:endParaRPr kumimoji="1" lang="en-US" altLang="zh-CN" sz="2400">
              <a:latin typeface="Times New Roman" panose="02020503050405090304" pitchFamily="18" charset="0"/>
              <a:ea typeface="黑体" panose="02010609060101010101" pitchFamily="49" charset="-122"/>
            </a:endParaRPr>
          </a:p>
        </p:txBody>
      </p:sp>
      <p:sp>
        <p:nvSpPr>
          <p:cNvPr id="22551" name="Text Box 23"/>
          <p:cNvSpPr txBox="1">
            <a:spLocks noChangeArrowheads="1"/>
          </p:cNvSpPr>
          <p:nvPr/>
        </p:nvSpPr>
        <p:spPr bwMode="auto">
          <a:xfrm>
            <a:off x="7047834" y="6107615"/>
            <a:ext cx="1835150" cy="469900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kumimoji="1" lang="en-US" altLang="en-US" sz="2400">
              <a:latin typeface="Times New Roman" panose="02020503050405090304" pitchFamily="18" charset="0"/>
              <a:ea typeface="黑体" panose="02010609060101010101" pitchFamily="49" charset="-122"/>
            </a:endParaRPr>
          </a:p>
        </p:txBody>
      </p:sp>
      <p:sp>
        <p:nvSpPr>
          <p:cNvPr id="22552" name="Text Box 24"/>
          <p:cNvSpPr txBox="1">
            <a:spLocks noChangeArrowheads="1"/>
          </p:cNvSpPr>
          <p:nvPr/>
        </p:nvSpPr>
        <p:spPr bwMode="auto">
          <a:xfrm>
            <a:off x="2979072" y="5650415"/>
            <a:ext cx="12239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503050405090304" pitchFamily="18" charset="0"/>
                <a:ea typeface="黑体" panose="02010609060101010101" pitchFamily="49" charset="-122"/>
              </a:rPr>
              <a:t>p[3]()</a:t>
            </a:r>
            <a:endParaRPr kumimoji="1" lang="en-US" altLang="zh-CN" sz="2400">
              <a:latin typeface="Times New Roman" panose="02020503050405090304" pitchFamily="18" charset="0"/>
              <a:ea typeface="黑体" panose="02010609060101010101" pitchFamily="49" charset="-122"/>
            </a:endParaRPr>
          </a:p>
        </p:txBody>
      </p:sp>
      <p:sp>
        <p:nvSpPr>
          <p:cNvPr id="22553" name="Text Box 25"/>
          <p:cNvSpPr txBox="1">
            <a:spLocks noChangeArrowheads="1"/>
          </p:cNvSpPr>
          <p:nvPr/>
        </p:nvSpPr>
        <p:spPr bwMode="auto">
          <a:xfrm>
            <a:off x="5426997" y="5879015"/>
            <a:ext cx="12239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503050405090304" pitchFamily="18" charset="0"/>
                <a:ea typeface="黑体" panose="02010609060101010101" pitchFamily="49" charset="-122"/>
              </a:rPr>
              <a:t>p[3]()</a:t>
            </a:r>
            <a:endParaRPr kumimoji="1" lang="en-US" altLang="zh-CN" sz="2400">
              <a:latin typeface="Times New Roman" panose="02020503050405090304" pitchFamily="18" charset="0"/>
              <a:ea typeface="黑体" panose="02010609060101010101" pitchFamily="49" charset="-122"/>
            </a:endParaRPr>
          </a:p>
        </p:txBody>
      </p:sp>
      <p:sp>
        <p:nvSpPr>
          <p:cNvPr id="22554" name="Text Box 26"/>
          <p:cNvSpPr txBox="1">
            <a:spLocks noChangeArrowheads="1"/>
          </p:cNvSpPr>
          <p:nvPr/>
        </p:nvSpPr>
        <p:spPr bwMode="auto">
          <a:xfrm>
            <a:off x="1753522" y="4535990"/>
            <a:ext cx="12239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503050405090304" pitchFamily="18" charset="0"/>
                <a:ea typeface="黑体" panose="02010609060101010101" pitchFamily="49" charset="-122"/>
              </a:rPr>
              <a:t>p[]()</a:t>
            </a:r>
            <a:endParaRPr kumimoji="1" lang="en-US" altLang="zh-CN" sz="2400">
              <a:latin typeface="Times New Roman" panose="02020503050405090304" pitchFamily="18" charset="0"/>
              <a:ea typeface="黑体" panose="02010609060101010101" pitchFamily="49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程序说明（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在定义函数指针数组 </a:t>
            </a:r>
            <a:r>
              <a:rPr kumimoji="1" lang="en-US" altLang="zh-CN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p[ ]</a:t>
            </a:r>
            <a:r>
              <a:rPr kumimoji="1" lang="zh-CN" altLang="en-US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时，经初始化将</a:t>
            </a:r>
            <a:r>
              <a:rPr kumimoji="1" lang="en-US" altLang="zh-CN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4</a:t>
            </a:r>
            <a:r>
              <a:rPr kumimoji="1" lang="zh-CN" altLang="en-US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个函数名赋给 </a:t>
            </a:r>
            <a:r>
              <a:rPr kumimoji="1" lang="en-US" altLang="zh-CN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p[0], p[1], p[2], p[3]</a:t>
            </a:r>
            <a:r>
              <a:rPr kumimoji="1" lang="zh-CN" altLang="en-US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，相当于将</a:t>
            </a:r>
            <a:r>
              <a:rPr kumimoji="1" lang="en-US" altLang="zh-CN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4</a:t>
            </a:r>
            <a:r>
              <a:rPr kumimoji="1" lang="zh-CN" altLang="en-US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个入口地址放入指针变量中，让</a:t>
            </a:r>
            <a:r>
              <a:rPr kumimoji="1" lang="en-US" altLang="zh-CN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4</a:t>
            </a:r>
            <a:r>
              <a:rPr kumimoji="1" lang="zh-CN" altLang="en-US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个指针分别指向了</a:t>
            </a:r>
            <a:r>
              <a:rPr kumimoji="1" lang="en-US" altLang="zh-CN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4</a:t>
            </a:r>
            <a:r>
              <a:rPr kumimoji="1" lang="zh-CN" altLang="en-US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个入口地址。</a:t>
            </a:r>
            <a:endParaRPr lang="en-US" sz="2400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826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/>
              <a:t>4. </a:t>
            </a:r>
            <a:r>
              <a:rPr lang="zh-CN" altLang="en-US" dirty="0"/>
              <a:t>指针与结构</a:t>
            </a:r>
            <a:endParaRPr lang="zh-CN" altLang="en-US" dirty="0"/>
          </a:p>
        </p:txBody>
      </p:sp>
      <p:sp>
        <p:nvSpPr>
          <p:cNvPr id="589827" name="Rectangle 3"/>
          <p:cNvSpPr>
            <a:spLocks noGrp="1" noChangeArrowheads="1"/>
          </p:cNvSpPr>
          <p:nvPr>
            <p:ph idx="1"/>
          </p:nvPr>
        </p:nvSpPr>
        <p:spPr>
          <a:xfrm>
            <a:off x="432000" y="1187999"/>
            <a:ext cx="8280000" cy="4788257"/>
          </a:xfrm>
        </p:spPr>
        <p:txBody>
          <a:bodyPr/>
          <a:lstStyle/>
          <a:p>
            <a:pPr>
              <a:defRPr/>
            </a:pPr>
            <a:r>
              <a:rPr lang="zh-CN" altLang="en-US" sz="2800" dirty="0"/>
              <a:t>结构这种数据也是要存储到内存单元中的，它也有地址</a:t>
            </a:r>
            <a:endParaRPr lang="zh-CN" altLang="en-US" sz="2800" dirty="0"/>
          </a:p>
          <a:p>
            <a:pPr>
              <a:defRPr/>
            </a:pPr>
            <a:endParaRPr lang="en-US" altLang="zh-CN" sz="2800" dirty="0"/>
          </a:p>
          <a:p>
            <a:pPr>
              <a:defRPr/>
            </a:pPr>
            <a:r>
              <a:rPr lang="zh-CN" altLang="en-US" sz="2800" dirty="0"/>
              <a:t>可以用取地址操作符</a:t>
            </a:r>
            <a:r>
              <a:rPr lang="en-US" altLang="zh-CN" sz="2800" dirty="0"/>
              <a:t>&amp;</a:t>
            </a:r>
            <a:r>
              <a:rPr lang="zh-CN" altLang="en-US" sz="2800" dirty="0"/>
              <a:t>得到结构体变量的地址</a:t>
            </a:r>
            <a:endParaRPr lang="zh-CN" altLang="en-US" sz="2800" dirty="0"/>
          </a:p>
          <a:p>
            <a:pPr lvl="1">
              <a:defRPr/>
            </a:pPr>
            <a:r>
              <a:rPr lang="zh-CN" altLang="en-US" dirty="0"/>
              <a:t>结构体变量的地址是其第一个成员的地址</a:t>
            </a:r>
            <a:endParaRPr lang="zh-CN" altLang="en-US" dirty="0"/>
          </a:p>
          <a:p>
            <a:pPr eaLnBrk="1" hangingPunct="1">
              <a:defRPr/>
            </a:pPr>
            <a:endParaRPr lang="en-US" altLang="zh-CN" dirty="0"/>
          </a:p>
          <a:p>
            <a:pPr eaLnBrk="1" hangingPunct="1">
              <a:defRPr/>
            </a:pPr>
            <a:r>
              <a:rPr lang="en-US" altLang="zh-CN" dirty="0">
                <a:sym typeface="Wingdings" panose="05000000000000000000" pitchFamily="2" charset="2"/>
              </a:rPr>
              <a:t></a:t>
            </a:r>
            <a:r>
              <a:rPr lang="zh-CN" altLang="en-US" dirty="0">
                <a:sym typeface="Wingdings" panose="05000000000000000000" pitchFamily="2" charset="2"/>
              </a:rPr>
              <a:t>操作符</a:t>
            </a:r>
            <a:endParaRPr lang="zh-CN" altLang="en-US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ext Box 2"/>
          <p:cNvSpPr txBox="1">
            <a:spLocks noChangeArrowheads="1"/>
          </p:cNvSpPr>
          <p:nvPr/>
        </p:nvSpPr>
        <p:spPr bwMode="auto">
          <a:xfrm>
            <a:off x="337654" y="163512"/>
            <a:ext cx="7880863" cy="6530975"/>
          </a:xfrm>
          <a:prstGeom prst="rect">
            <a:avLst/>
          </a:prstGeom>
          <a:noFill/>
          <a:ln w="12700" cap="sq">
            <a:solidFill>
              <a:srgbClr val="FFC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int main()		// </a:t>
            </a:r>
            <a:r>
              <a:rPr kumimoji="1" lang="zh-CN" altLang="en-US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主函数</a:t>
            </a:r>
            <a:endParaRPr kumimoji="1" lang="zh-CN" altLang="en-US" sz="2400" dirty="0">
              <a:latin typeface="Times New Roman" panose="02020503050405090304" pitchFamily="18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{</a:t>
            </a:r>
            <a:endParaRPr kumimoji="1" lang="en-US" altLang="zh-CN" sz="2400" dirty="0">
              <a:latin typeface="Times New Roman" panose="02020503050405090304" pitchFamily="18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	student my;	// </a:t>
            </a:r>
            <a:r>
              <a:rPr kumimoji="1" lang="zh-CN" altLang="en-US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定义</a:t>
            </a:r>
            <a:r>
              <a:rPr kumimoji="1" lang="en-US" altLang="zh-CN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my</a:t>
            </a:r>
            <a:r>
              <a:rPr kumimoji="1" lang="zh-CN" altLang="en-US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为</a:t>
            </a:r>
            <a:r>
              <a:rPr kumimoji="1" lang="en-US" altLang="zh-CN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student</a:t>
            </a:r>
            <a:r>
              <a:rPr kumimoji="1" lang="zh-CN" altLang="en-US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结构</a:t>
            </a:r>
            <a:endParaRPr kumimoji="1" lang="zh-CN" altLang="en-US" sz="2400" dirty="0">
              <a:latin typeface="Times New Roman" panose="02020503050405090304" pitchFamily="18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	</a:t>
            </a:r>
            <a:r>
              <a:rPr kumimoji="1" lang="en-US" altLang="zh-CN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student *point;	// </a:t>
            </a:r>
            <a:r>
              <a:rPr kumimoji="1" lang="zh-CN" altLang="en-US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定义</a:t>
            </a:r>
            <a:r>
              <a:rPr kumimoji="1" lang="en-US" altLang="zh-CN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point</a:t>
            </a:r>
            <a:r>
              <a:rPr kumimoji="1" lang="zh-CN" altLang="en-US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为指向</a:t>
            </a:r>
            <a:r>
              <a:rPr kumimoji="1" lang="en-US" altLang="zh-CN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student</a:t>
            </a:r>
            <a:r>
              <a:rPr kumimoji="1" lang="zh-CN" altLang="en-US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结构的指针</a:t>
            </a:r>
            <a:endParaRPr kumimoji="1" lang="zh-CN" altLang="en-US" sz="2400" dirty="0">
              <a:latin typeface="Times New Roman" panose="02020503050405090304" pitchFamily="18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	</a:t>
            </a:r>
            <a:r>
              <a:rPr kumimoji="1" lang="en-US" altLang="zh-CN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point = &amp;my;	// </a:t>
            </a:r>
            <a:r>
              <a:rPr kumimoji="1" lang="zh-CN" altLang="en-US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将指针</a:t>
            </a:r>
            <a:r>
              <a:rPr kumimoji="1" lang="en-US" altLang="zh-CN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point </a:t>
            </a:r>
            <a:r>
              <a:rPr kumimoji="1" lang="zh-CN" altLang="en-US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指向结构</a:t>
            </a:r>
            <a:r>
              <a:rPr kumimoji="1" lang="en-US" altLang="zh-CN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my</a:t>
            </a:r>
            <a:endParaRPr kumimoji="1" lang="en-US" altLang="zh-CN" sz="2400" dirty="0">
              <a:latin typeface="Times New Roman" panose="02020503050405090304" pitchFamily="18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	</a:t>
            </a:r>
            <a:endParaRPr kumimoji="1" lang="en-US" altLang="zh-CN" sz="2400" dirty="0">
              <a:latin typeface="Times New Roman" panose="02020503050405090304" pitchFamily="18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	// </a:t>
            </a:r>
            <a:r>
              <a:rPr kumimoji="1" lang="zh-CN" altLang="en-US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这是一个赋值函数，它可以将字符串</a:t>
            </a:r>
            <a:endParaRPr kumimoji="1" lang="zh-CN" altLang="en-US" sz="2400" dirty="0">
              <a:latin typeface="Times New Roman" panose="02020503050405090304" pitchFamily="18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	</a:t>
            </a:r>
            <a:r>
              <a:rPr kumimoji="1" lang="en-US" altLang="zh-CN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// </a:t>
            </a:r>
            <a:r>
              <a:rPr kumimoji="1" lang="zh-CN" altLang="en-US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复制到指针所指向的</a:t>
            </a:r>
            <a:r>
              <a:rPr kumimoji="1" lang="en-US" altLang="zh-CN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name</a:t>
            </a:r>
            <a:r>
              <a:rPr kumimoji="1" lang="zh-CN" altLang="en-US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成员中</a:t>
            </a:r>
            <a:endParaRPr kumimoji="1" lang="zh-CN" altLang="en-US" sz="2400" dirty="0">
              <a:latin typeface="Times New Roman" panose="02020503050405090304" pitchFamily="18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	</a:t>
            </a:r>
            <a:r>
              <a:rPr kumimoji="1" lang="en-US" altLang="zh-CN" sz="2400" dirty="0" err="1">
                <a:latin typeface="Times New Roman" panose="02020503050405090304" pitchFamily="18" charset="0"/>
                <a:ea typeface="黑体" panose="02010609060101010101" pitchFamily="49" charset="-122"/>
              </a:rPr>
              <a:t>strcpy</a:t>
            </a:r>
            <a:r>
              <a:rPr kumimoji="1" lang="en-US" altLang="zh-CN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( point-&gt;</a:t>
            </a:r>
            <a:r>
              <a:rPr kumimoji="1" lang="en-US" altLang="zh-CN" sz="2400" dirty="0" err="1">
                <a:latin typeface="Times New Roman" panose="02020503050405090304" pitchFamily="18" charset="0"/>
                <a:ea typeface="黑体" panose="02010609060101010101" pitchFamily="49" charset="-122"/>
              </a:rPr>
              <a:t>name,"Wang</a:t>
            </a:r>
            <a:r>
              <a:rPr kumimoji="1" lang="en-US" altLang="zh-CN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 </a:t>
            </a:r>
            <a:r>
              <a:rPr kumimoji="1" lang="en-US" altLang="zh-CN" sz="2400" dirty="0" err="1">
                <a:latin typeface="Times New Roman" panose="02020503050405090304" pitchFamily="18" charset="0"/>
                <a:ea typeface="黑体" panose="02010609060101010101" pitchFamily="49" charset="-122"/>
              </a:rPr>
              <a:t>Xiaorong</a:t>
            </a:r>
            <a:r>
              <a:rPr kumimoji="1" lang="en-US" altLang="zh-CN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");</a:t>
            </a:r>
            <a:endParaRPr kumimoji="1" lang="en-US" altLang="zh-CN" sz="2400" dirty="0">
              <a:latin typeface="Times New Roman" panose="02020503050405090304" pitchFamily="18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en-US" altLang="zh-CN" sz="2400" dirty="0">
              <a:latin typeface="Times New Roman" panose="02020503050405090304" pitchFamily="18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	point-&gt;sex = 'F';	// </a:t>
            </a:r>
            <a:r>
              <a:rPr kumimoji="1" lang="zh-CN" altLang="en-US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输入学生数据</a:t>
            </a:r>
            <a:endParaRPr kumimoji="1" lang="zh-CN" altLang="en-US" sz="2400" dirty="0">
              <a:latin typeface="Times New Roman" panose="02020503050405090304" pitchFamily="18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	</a:t>
            </a:r>
            <a:r>
              <a:rPr kumimoji="1" lang="en-US" altLang="zh-CN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point-&gt;birthday = 19840923;</a:t>
            </a:r>
            <a:endParaRPr kumimoji="1" lang="en-US" altLang="zh-CN" sz="2400" dirty="0">
              <a:latin typeface="Times New Roman" panose="02020503050405090304" pitchFamily="18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	point-&gt;height = 1.62f;</a:t>
            </a:r>
            <a:endParaRPr kumimoji="1" lang="en-US" altLang="zh-CN" sz="2400" dirty="0">
              <a:latin typeface="Times New Roman" panose="02020503050405090304" pitchFamily="18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	point-&gt;weight = 51.5f;</a:t>
            </a:r>
            <a:endParaRPr kumimoji="1" lang="en-US" altLang="zh-CN" sz="2400" dirty="0">
              <a:latin typeface="Times New Roman" panose="02020503050405090304" pitchFamily="18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en-US" altLang="zh-CN" sz="2400" dirty="0">
              <a:latin typeface="Times New Roman" panose="02020503050405090304" pitchFamily="18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	</a:t>
            </a:r>
            <a:r>
              <a:rPr kumimoji="1" lang="en-US" altLang="zh-CN" sz="2400" dirty="0" err="1">
                <a:latin typeface="Times New Roman" panose="02020503050405090304" pitchFamily="18" charset="0"/>
                <a:ea typeface="黑体" panose="02010609060101010101" pitchFamily="49" charset="-122"/>
              </a:rPr>
              <a:t>printf</a:t>
            </a:r>
            <a:r>
              <a:rPr kumimoji="1" lang="en-US" altLang="zh-CN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(“%s\n”, my.name);	// </a:t>
            </a:r>
            <a:r>
              <a:rPr kumimoji="1" lang="zh-CN" altLang="en-US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输出该学生数据</a:t>
            </a:r>
            <a:endParaRPr kumimoji="1" lang="zh-CN" altLang="en-US" sz="2400" dirty="0">
              <a:latin typeface="Times New Roman" panose="02020503050405090304" pitchFamily="18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	</a:t>
            </a:r>
            <a:r>
              <a:rPr kumimoji="1" lang="en-US" altLang="zh-CN" sz="2400" dirty="0" err="1">
                <a:latin typeface="Times New Roman" panose="02020503050405090304" pitchFamily="18" charset="0"/>
                <a:ea typeface="黑体" panose="02010609060101010101" pitchFamily="49" charset="-122"/>
              </a:rPr>
              <a:t>printf</a:t>
            </a:r>
            <a:r>
              <a:rPr kumimoji="1" lang="en-US" altLang="zh-CN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(“%c\n”, </a:t>
            </a:r>
            <a:r>
              <a:rPr kumimoji="1" lang="en-US" altLang="zh-CN" sz="2400" dirty="0" err="1">
                <a:latin typeface="Times New Roman" panose="02020503050405090304" pitchFamily="18" charset="0"/>
                <a:ea typeface="黑体" panose="02010609060101010101" pitchFamily="49" charset="-122"/>
              </a:rPr>
              <a:t>my.sex</a:t>
            </a:r>
            <a:r>
              <a:rPr kumimoji="1" lang="en-US" altLang="zh-CN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);</a:t>
            </a:r>
            <a:endParaRPr kumimoji="1" lang="en-US" altLang="zh-CN" sz="2400" dirty="0">
              <a:latin typeface="Times New Roman" panose="02020503050405090304" pitchFamily="18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	</a:t>
            </a:r>
            <a:r>
              <a:rPr kumimoji="1" lang="en-US" altLang="zh-CN" sz="2400" dirty="0" err="1">
                <a:latin typeface="Times New Roman" panose="02020503050405090304" pitchFamily="18" charset="0"/>
                <a:ea typeface="黑体" panose="02010609060101010101" pitchFamily="49" charset="-122"/>
              </a:rPr>
              <a:t>printf</a:t>
            </a:r>
            <a:r>
              <a:rPr kumimoji="1" lang="en-US" altLang="zh-CN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(“%d\n”, </a:t>
            </a:r>
            <a:r>
              <a:rPr kumimoji="1" lang="en-US" altLang="zh-CN" sz="2400" dirty="0" err="1">
                <a:latin typeface="Times New Roman" panose="02020503050405090304" pitchFamily="18" charset="0"/>
                <a:ea typeface="黑体" panose="02010609060101010101" pitchFamily="49" charset="-122"/>
              </a:rPr>
              <a:t>my.birthday</a:t>
            </a:r>
            <a:r>
              <a:rPr kumimoji="1" lang="en-US" altLang="zh-CN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);</a:t>
            </a:r>
            <a:endParaRPr kumimoji="1" lang="en-US" altLang="zh-CN" sz="2400" dirty="0">
              <a:latin typeface="Times New Roman" panose="02020503050405090304" pitchFamily="18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	</a:t>
            </a:r>
            <a:r>
              <a:rPr kumimoji="1" lang="en-US" altLang="zh-CN" sz="2400" dirty="0" err="1">
                <a:latin typeface="Times New Roman" panose="02020503050405090304" pitchFamily="18" charset="0"/>
                <a:ea typeface="黑体" panose="02010609060101010101" pitchFamily="49" charset="-122"/>
              </a:rPr>
              <a:t>printf</a:t>
            </a:r>
            <a:r>
              <a:rPr kumimoji="1" lang="en-US" altLang="zh-CN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(“%f\n”, </a:t>
            </a:r>
            <a:r>
              <a:rPr kumimoji="1" lang="en-US" altLang="zh-CN" sz="2400" dirty="0" err="1">
                <a:latin typeface="Times New Roman" panose="02020503050405090304" pitchFamily="18" charset="0"/>
                <a:ea typeface="黑体" panose="02010609060101010101" pitchFamily="49" charset="-122"/>
              </a:rPr>
              <a:t>my.height</a:t>
            </a:r>
            <a:r>
              <a:rPr kumimoji="1" lang="en-US" altLang="zh-CN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);</a:t>
            </a:r>
            <a:endParaRPr kumimoji="1" lang="en-US" altLang="zh-CN" sz="2400" dirty="0">
              <a:latin typeface="Times New Roman" panose="02020503050405090304" pitchFamily="18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	</a:t>
            </a:r>
            <a:r>
              <a:rPr kumimoji="1" lang="en-US" altLang="zh-CN" sz="2400" dirty="0" err="1">
                <a:latin typeface="Times New Roman" panose="02020503050405090304" pitchFamily="18" charset="0"/>
                <a:ea typeface="黑体" panose="02010609060101010101" pitchFamily="49" charset="-122"/>
              </a:rPr>
              <a:t>printf</a:t>
            </a:r>
            <a:r>
              <a:rPr kumimoji="1" lang="en-US" altLang="zh-CN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(“%f\n”, </a:t>
            </a:r>
            <a:r>
              <a:rPr kumimoji="1" lang="en-US" altLang="zh-CN" sz="2400" dirty="0" err="1">
                <a:latin typeface="Times New Roman" panose="02020503050405090304" pitchFamily="18" charset="0"/>
                <a:ea typeface="黑体" panose="02010609060101010101" pitchFamily="49" charset="-122"/>
              </a:rPr>
              <a:t>my.weight</a:t>
            </a:r>
            <a:r>
              <a:rPr kumimoji="1" lang="en-US" altLang="zh-CN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);</a:t>
            </a:r>
            <a:endParaRPr kumimoji="1" lang="en-US" altLang="zh-CN" sz="2400" dirty="0">
              <a:latin typeface="Times New Roman" panose="02020503050405090304" pitchFamily="18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	return 0;</a:t>
            </a:r>
            <a:endParaRPr kumimoji="1" lang="en-US" altLang="zh-CN" sz="2400" dirty="0">
              <a:latin typeface="Times New Roman" panose="02020503050405090304" pitchFamily="18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}</a:t>
            </a:r>
            <a:endParaRPr kumimoji="1" lang="en-US" altLang="zh-CN" sz="2400" dirty="0">
              <a:latin typeface="Times New Roman" panose="02020503050405090304" pitchFamily="18" charset="0"/>
              <a:ea typeface="黑体" panose="02010609060101010101" pitchFamily="49" charset="-122"/>
            </a:endParaRPr>
          </a:p>
        </p:txBody>
      </p:sp>
      <p:sp>
        <p:nvSpPr>
          <p:cNvPr id="534531" name="Oval 3"/>
          <p:cNvSpPr>
            <a:spLocks noChangeArrowheads="1"/>
          </p:cNvSpPr>
          <p:nvPr/>
        </p:nvSpPr>
        <p:spPr bwMode="auto">
          <a:xfrm>
            <a:off x="1476722" y="2956917"/>
            <a:ext cx="376571" cy="1264019"/>
          </a:xfrm>
          <a:prstGeom prst="ellipse">
            <a:avLst/>
          </a:prstGeom>
          <a:noFill/>
          <a:ln w="57150">
            <a:solidFill>
              <a:schemeClr val="hlink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6477591" y="2362302"/>
            <a:ext cx="2379374" cy="175432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 cap="sq">
            <a:solidFill>
              <a:schemeClr val="accent2">
                <a:lumMod val="60000"/>
                <a:lumOff val="40000"/>
              </a:schemeClr>
            </a:solidFill>
            <a:miter lim="800000"/>
          </a:ln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200" dirty="0">
                <a:latin typeface="Times New Roman" panose="02020503050405090304" pitchFamily="18" charset="0"/>
                <a:ea typeface="黑体" panose="02010609060101010101" pitchFamily="49" charset="-122"/>
              </a:rPr>
              <a:t>#include &lt;</a:t>
            </a:r>
            <a:r>
              <a:rPr kumimoji="1" lang="en-US" altLang="zh-CN" sz="1200" dirty="0" err="1">
                <a:latin typeface="Times New Roman" panose="02020503050405090304" pitchFamily="18" charset="0"/>
                <a:ea typeface="黑体" panose="02010609060101010101" pitchFamily="49" charset="-122"/>
              </a:rPr>
              <a:t>stdio.h</a:t>
            </a:r>
            <a:r>
              <a:rPr kumimoji="1" lang="en-US" altLang="zh-CN" sz="1200" dirty="0">
                <a:latin typeface="Times New Roman" panose="02020503050405090304" pitchFamily="18" charset="0"/>
                <a:ea typeface="黑体" panose="02010609060101010101" pitchFamily="49" charset="-122"/>
              </a:rPr>
              <a:t>&gt;</a:t>
            </a:r>
            <a:endParaRPr kumimoji="1" lang="zh-CN" altLang="en-US" sz="1200" dirty="0">
              <a:latin typeface="Times New Roman" panose="02020503050405090304" pitchFamily="18" charset="0"/>
              <a:ea typeface="黑体" panose="02010609060101010101" pitchFamily="49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200" dirty="0">
                <a:latin typeface="Times New Roman" panose="02020503050405090304" pitchFamily="18" charset="0"/>
                <a:ea typeface="黑体" panose="02010609060101010101" pitchFamily="49" charset="-122"/>
              </a:rPr>
              <a:t>#include &lt;</a:t>
            </a:r>
            <a:r>
              <a:rPr kumimoji="1" lang="en-US" altLang="zh-CN" sz="1200" dirty="0" err="1">
                <a:latin typeface="Times New Roman" panose="02020503050405090304" pitchFamily="18" charset="0"/>
                <a:ea typeface="黑体" panose="02010609060101010101" pitchFamily="49" charset="-122"/>
              </a:rPr>
              <a:t>string.h</a:t>
            </a:r>
            <a:r>
              <a:rPr kumimoji="1" lang="en-US" altLang="zh-CN" sz="1200" dirty="0">
                <a:latin typeface="Times New Roman" panose="02020503050405090304" pitchFamily="18" charset="0"/>
                <a:ea typeface="黑体" panose="02010609060101010101" pitchFamily="49" charset="-122"/>
              </a:rPr>
              <a:t>&gt;</a:t>
            </a:r>
            <a:endParaRPr kumimoji="1" lang="zh-CN" altLang="en-US" sz="1200" dirty="0">
              <a:latin typeface="Times New Roman" panose="02020503050405090304" pitchFamily="18" charset="0"/>
              <a:ea typeface="黑体" panose="02010609060101010101" pitchFamily="49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200" dirty="0">
                <a:latin typeface="Times New Roman" panose="02020503050405090304" pitchFamily="18" charset="0"/>
                <a:ea typeface="黑体" panose="02010609060101010101" pitchFamily="49" charset="-122"/>
              </a:rPr>
              <a:t>struct student	 {</a:t>
            </a:r>
            <a:endParaRPr kumimoji="1" lang="en-US" altLang="zh-CN" sz="1200" dirty="0">
              <a:latin typeface="Times New Roman" panose="02020503050405090304" pitchFamily="18" charset="0"/>
              <a:ea typeface="黑体" panose="02010609060101010101" pitchFamily="49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200" dirty="0">
                <a:latin typeface="Times New Roman" panose="02020503050405090304" pitchFamily="18" charset="0"/>
                <a:ea typeface="黑体" panose="02010609060101010101" pitchFamily="49" charset="-122"/>
              </a:rPr>
              <a:t>	char name[20];</a:t>
            </a:r>
            <a:endParaRPr kumimoji="1" lang="en-US" altLang="zh-CN" sz="1200" dirty="0">
              <a:latin typeface="Times New Roman" panose="02020503050405090304" pitchFamily="18" charset="0"/>
              <a:ea typeface="黑体" panose="02010609060101010101" pitchFamily="49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200" dirty="0">
                <a:latin typeface="Times New Roman" panose="02020503050405090304" pitchFamily="18" charset="0"/>
                <a:ea typeface="黑体" panose="02010609060101010101" pitchFamily="49" charset="-122"/>
              </a:rPr>
              <a:t>	char sex;</a:t>
            </a:r>
            <a:endParaRPr kumimoji="1" lang="en-US" altLang="zh-CN" sz="1200" dirty="0">
              <a:latin typeface="Times New Roman" panose="02020503050405090304" pitchFamily="18" charset="0"/>
              <a:ea typeface="黑体" panose="02010609060101010101" pitchFamily="49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200" dirty="0">
                <a:latin typeface="Times New Roman" panose="02020503050405090304" pitchFamily="18" charset="0"/>
                <a:ea typeface="黑体" panose="02010609060101010101" pitchFamily="49" charset="-122"/>
              </a:rPr>
              <a:t>	unsigned long birthday;</a:t>
            </a:r>
            <a:endParaRPr kumimoji="1" lang="en-US" altLang="zh-CN" sz="1200" dirty="0">
              <a:latin typeface="Times New Roman" panose="02020503050405090304" pitchFamily="18" charset="0"/>
              <a:ea typeface="黑体" panose="02010609060101010101" pitchFamily="49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200" dirty="0">
                <a:latin typeface="Times New Roman" panose="02020503050405090304" pitchFamily="18" charset="0"/>
                <a:ea typeface="黑体" panose="02010609060101010101" pitchFamily="49" charset="-122"/>
              </a:rPr>
              <a:t>	float height;</a:t>
            </a:r>
            <a:endParaRPr kumimoji="1" lang="en-US" altLang="zh-CN" sz="1200" dirty="0">
              <a:latin typeface="Times New Roman" panose="02020503050405090304" pitchFamily="18" charset="0"/>
              <a:ea typeface="黑体" panose="02010609060101010101" pitchFamily="49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200" dirty="0">
                <a:latin typeface="Times New Roman" panose="02020503050405090304" pitchFamily="18" charset="0"/>
                <a:ea typeface="黑体" panose="02010609060101010101" pitchFamily="49" charset="-122"/>
              </a:rPr>
              <a:t>	float weight;</a:t>
            </a:r>
            <a:endParaRPr kumimoji="1" lang="en-US" altLang="zh-CN" sz="1200" dirty="0">
              <a:latin typeface="Times New Roman" panose="02020503050405090304" pitchFamily="18" charset="0"/>
              <a:ea typeface="黑体" panose="02010609060101010101" pitchFamily="49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200" dirty="0">
                <a:latin typeface="Times New Roman" panose="02020503050405090304" pitchFamily="18" charset="0"/>
                <a:ea typeface="黑体" panose="02010609060101010101" pitchFamily="49" charset="-122"/>
              </a:rPr>
              <a:t>};</a:t>
            </a:r>
            <a:endParaRPr kumimoji="1" lang="en-US" altLang="zh-CN" sz="1200" dirty="0">
              <a:latin typeface="Times New Roman" panose="02020503050405090304" pitchFamily="18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34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4531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 Box 2"/>
          <p:cNvSpPr txBox="1">
            <a:spLocks noChangeArrowheads="1"/>
          </p:cNvSpPr>
          <p:nvPr/>
        </p:nvSpPr>
        <p:spPr bwMode="auto">
          <a:xfrm>
            <a:off x="595728" y="259661"/>
            <a:ext cx="7724274" cy="2496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说明：</a:t>
            </a:r>
            <a:endParaRPr kumimoji="1" lang="zh-CN" altLang="en-US" sz="2400" dirty="0">
              <a:latin typeface="Times New Roman" panose="02020503050405090304" pitchFamily="18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1</a:t>
            </a:r>
            <a:r>
              <a:rPr kumimoji="1" lang="zh-CN" altLang="en-US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、语句 </a:t>
            </a:r>
            <a:r>
              <a:rPr kumimoji="1" lang="en-US" altLang="zh-CN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student *point </a:t>
            </a:r>
            <a:r>
              <a:rPr kumimoji="1" lang="zh-CN" altLang="en-US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是定义一个指向结构 </a:t>
            </a:r>
            <a:r>
              <a:rPr kumimoji="1" lang="en-US" altLang="zh-CN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student </a:t>
            </a:r>
            <a:r>
              <a:rPr kumimoji="1" lang="zh-CN" altLang="en-US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的指针 </a:t>
            </a:r>
            <a:r>
              <a:rPr kumimoji="1" lang="en-US" altLang="zh-CN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point</a:t>
            </a:r>
            <a:r>
              <a:rPr kumimoji="1" lang="zh-CN" altLang="en-US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。</a:t>
            </a:r>
            <a:endParaRPr kumimoji="1" lang="zh-CN" altLang="en-US" sz="2400" dirty="0">
              <a:latin typeface="Times New Roman" panose="02020503050405090304" pitchFamily="18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2</a:t>
            </a:r>
            <a:r>
              <a:rPr kumimoji="1" lang="zh-CN" altLang="en-US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、语句 </a:t>
            </a:r>
            <a:r>
              <a:rPr kumimoji="1" lang="en-US" altLang="zh-CN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point = &amp;my </a:t>
            </a:r>
            <a:r>
              <a:rPr kumimoji="1" lang="zh-CN" altLang="en-US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是说将名为 </a:t>
            </a:r>
            <a:r>
              <a:rPr kumimoji="1" lang="en-US" altLang="zh-CN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my </a:t>
            </a:r>
            <a:r>
              <a:rPr kumimoji="1" lang="zh-CN" altLang="en-US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的结构（这个结构也是 </a:t>
            </a:r>
            <a:r>
              <a:rPr kumimoji="1" lang="en-US" altLang="zh-CN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student </a:t>
            </a:r>
            <a:r>
              <a:rPr kumimoji="1" lang="zh-CN" altLang="en-US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结构）的地址赋给指针 </a:t>
            </a:r>
            <a:r>
              <a:rPr kumimoji="1" lang="en-US" altLang="zh-CN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point</a:t>
            </a:r>
            <a:r>
              <a:rPr kumimoji="1" lang="zh-CN" altLang="en-US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。这个 </a:t>
            </a:r>
            <a:r>
              <a:rPr kumimoji="1" lang="en-US" altLang="zh-CN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point </a:t>
            </a:r>
            <a:r>
              <a:rPr kumimoji="1" lang="zh-CN" altLang="en-US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指向 </a:t>
            </a:r>
            <a:r>
              <a:rPr kumimoji="1" lang="en-US" altLang="zh-CN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my </a:t>
            </a:r>
            <a:r>
              <a:rPr kumimoji="1" lang="zh-CN" altLang="en-US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结构第一个成员（</a:t>
            </a:r>
            <a:r>
              <a:rPr kumimoji="1" lang="en-US" altLang="zh-CN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name </a:t>
            </a:r>
            <a:r>
              <a:rPr kumimoji="1" lang="zh-CN" altLang="en-US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成员）的地址。</a:t>
            </a:r>
            <a:endParaRPr kumimoji="1" lang="zh-CN" altLang="en-US" sz="2400" dirty="0">
              <a:latin typeface="Times New Roman" panose="0202050305040509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535555" name="Group 3"/>
          <p:cNvGraphicFramePr>
            <a:graphicFrameLocks noGrp="1"/>
          </p:cNvGraphicFramePr>
          <p:nvPr/>
        </p:nvGraphicFramePr>
        <p:xfrm>
          <a:off x="4351252" y="3612891"/>
          <a:ext cx="2519363" cy="2590800"/>
        </p:xfrm>
        <a:graphic>
          <a:graphicData uri="http://schemas.openxmlformats.org/drawingml/2006/table">
            <a:tbl>
              <a:tblPr/>
              <a:tblGrid>
                <a:gridCol w="2519363"/>
              </a:tblGrid>
              <a:tr h="328613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黑体" panose="02010609060101010101" pitchFamily="49" charset="-122"/>
                        </a:rPr>
                        <a:t>name </a:t>
                      </a: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黑体" panose="02010609060101010101" pitchFamily="49" charset="-122"/>
                        </a:rPr>
                        <a:t>成员</a:t>
                      </a: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4963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黑体" panose="02010609060101010101" pitchFamily="49" charset="-122"/>
                        </a:rPr>
                        <a:t>sex </a:t>
                      </a: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黑体" panose="02010609060101010101" pitchFamily="49" charset="-122"/>
                        </a:rPr>
                        <a:t>成员</a:t>
                      </a: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4963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黑体" panose="02010609060101010101" pitchFamily="49" charset="-122"/>
                        </a:rPr>
                        <a:t>birthday </a:t>
                      </a: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黑体" panose="02010609060101010101" pitchFamily="49" charset="-122"/>
                        </a:rPr>
                        <a:t>成员</a:t>
                      </a: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4963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黑体" panose="02010609060101010101" pitchFamily="49" charset="-122"/>
                        </a:rPr>
                        <a:t>height </a:t>
                      </a: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黑体" panose="02010609060101010101" pitchFamily="49" charset="-122"/>
                        </a:rPr>
                        <a:t>成员</a:t>
                      </a: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4963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黑体" panose="02010609060101010101" pitchFamily="49" charset="-122"/>
                        </a:rPr>
                        <a:t>weight </a:t>
                      </a: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黑体" panose="02010609060101010101" pitchFamily="49" charset="-122"/>
                        </a:rPr>
                        <a:t>成员</a:t>
                      </a: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2785" name="Text Box 17"/>
          <p:cNvSpPr txBox="1">
            <a:spLocks noChangeArrowheads="1"/>
          </p:cNvSpPr>
          <p:nvPr/>
        </p:nvSpPr>
        <p:spPr bwMode="auto">
          <a:xfrm>
            <a:off x="3559090" y="3136641"/>
            <a:ext cx="3960812" cy="3208337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结构体变量 </a:t>
            </a:r>
            <a:r>
              <a:rPr kumimoji="1" lang="en-US" altLang="zh-CN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my</a:t>
            </a:r>
            <a:endParaRPr kumimoji="1" lang="en-US" altLang="zh-CN" sz="2400" dirty="0">
              <a:latin typeface="Times New Roman" panose="02020503050405090304" pitchFamily="18" charset="0"/>
              <a:ea typeface="黑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kumimoji="1" lang="en-US" altLang="zh-CN" sz="2400" dirty="0">
              <a:latin typeface="Times New Roman" panose="02020503050405090304" pitchFamily="18" charset="0"/>
              <a:ea typeface="黑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kumimoji="1" lang="en-US" altLang="zh-CN" sz="2400" dirty="0">
              <a:latin typeface="Times New Roman" panose="02020503050405090304" pitchFamily="18" charset="0"/>
              <a:ea typeface="黑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kumimoji="1" lang="en-US" altLang="zh-CN" sz="2400" dirty="0">
              <a:latin typeface="Times New Roman" panose="02020503050405090304" pitchFamily="18" charset="0"/>
              <a:ea typeface="黑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kumimoji="1" lang="en-US" altLang="zh-CN" sz="2400" dirty="0">
              <a:latin typeface="Times New Roman" panose="02020503050405090304" pitchFamily="18" charset="0"/>
              <a:ea typeface="黑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kumimoji="1" lang="en-US" altLang="zh-CN" sz="2400" dirty="0">
              <a:latin typeface="Times New Roman" panose="02020503050405090304" pitchFamily="18" charset="0"/>
              <a:ea typeface="黑体" panose="02010609060101010101" pitchFamily="49" charset="-122"/>
            </a:endParaRPr>
          </a:p>
        </p:txBody>
      </p:sp>
      <p:sp>
        <p:nvSpPr>
          <p:cNvPr id="32786" name="Text Box 18"/>
          <p:cNvSpPr txBox="1">
            <a:spLocks noChangeArrowheads="1"/>
          </p:cNvSpPr>
          <p:nvPr/>
        </p:nvSpPr>
        <p:spPr bwMode="auto">
          <a:xfrm>
            <a:off x="1111165" y="4146291"/>
            <a:ext cx="1511300" cy="469900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503050405090304" pitchFamily="18" charset="0"/>
                <a:ea typeface="黑体" panose="02010609060101010101" pitchFamily="49" charset="-122"/>
              </a:rPr>
              <a:t>&amp;my</a:t>
            </a:r>
            <a:endParaRPr kumimoji="1" lang="en-US" altLang="zh-CN" sz="2400">
              <a:latin typeface="Times New Roman" panose="02020503050405090304" pitchFamily="18" charset="0"/>
              <a:ea typeface="黑体" panose="02010609060101010101" pitchFamily="49" charset="-122"/>
            </a:endParaRPr>
          </a:p>
        </p:txBody>
      </p:sp>
      <p:sp>
        <p:nvSpPr>
          <p:cNvPr id="32787" name="Text Box 19"/>
          <p:cNvSpPr txBox="1">
            <a:spLocks noChangeArrowheads="1"/>
          </p:cNvSpPr>
          <p:nvPr/>
        </p:nvSpPr>
        <p:spPr bwMode="auto">
          <a:xfrm>
            <a:off x="1255627" y="3673216"/>
            <a:ext cx="15113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latin typeface="Times New Roman" panose="02020503050405090304" pitchFamily="18" charset="0"/>
                <a:ea typeface="黑体" panose="02010609060101010101" pitchFamily="49" charset="-122"/>
              </a:rPr>
              <a:t>pointer</a:t>
            </a:r>
            <a:endParaRPr kumimoji="1" lang="en-US" altLang="zh-CN" sz="2400" dirty="0">
              <a:latin typeface="Times New Roman" panose="02020503050405090304" pitchFamily="18" charset="0"/>
              <a:ea typeface="黑体" panose="02010609060101010101" pitchFamily="49" charset="-122"/>
            </a:endParaRPr>
          </a:p>
        </p:txBody>
      </p:sp>
      <p:sp>
        <p:nvSpPr>
          <p:cNvPr id="32788" name="Line 20"/>
          <p:cNvSpPr>
            <a:spLocks noChangeShapeType="1"/>
          </p:cNvSpPr>
          <p:nvPr/>
        </p:nvSpPr>
        <p:spPr bwMode="auto">
          <a:xfrm flipV="1">
            <a:off x="2408152" y="3897053"/>
            <a:ext cx="1943100" cy="503238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effectLst/>
                <a:sym typeface="Wingdings" panose="05000000000000000000" pitchFamily="2" charset="2"/>
              </a:rPr>
              <a:t></a:t>
            </a:r>
            <a:r>
              <a:rPr lang="zh-CN" altLang="en-US" dirty="0"/>
              <a:t>操作符</a:t>
            </a:r>
            <a:endParaRPr 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指向结构的指针就可以通过箭头操作符 </a:t>
            </a:r>
            <a:r>
              <a:rPr kumimoji="1" lang="en-US" altLang="zh-CN" dirty="0">
                <a:solidFill>
                  <a:schemeClr val="hlink"/>
                </a:solidFill>
                <a:latin typeface="Times New Roman" panose="02020503050405090304" pitchFamily="18" charset="0"/>
                <a:ea typeface="黑体" panose="02010609060101010101" pitchFamily="49" charset="-122"/>
              </a:rPr>
              <a:t>-&gt; </a:t>
            </a:r>
            <a:r>
              <a:rPr lang="zh-CN" altLang="en-US" dirty="0"/>
              <a:t>来访问结构的成员。例如：</a:t>
            </a:r>
            <a:endParaRPr lang="en-US" altLang="zh-CN" dirty="0"/>
          </a:p>
          <a:p>
            <a:pPr lvl="1"/>
            <a:r>
              <a:rPr lang="en-US" dirty="0"/>
              <a:t>point-&gt;birthday = 19840923;</a:t>
            </a:r>
            <a:endParaRPr lang="en-US" dirty="0"/>
          </a:p>
          <a:p>
            <a:pPr lvl="1"/>
            <a:r>
              <a:rPr lang="en-US" dirty="0"/>
              <a:t>point-&gt;sex=‘F’;</a:t>
            </a:r>
            <a:endParaRPr lang="en-US" dirty="0"/>
          </a:p>
          <a:p>
            <a:pPr lvl="1"/>
            <a:r>
              <a:rPr lang="en-US" dirty="0"/>
              <a:t>point-&gt;height=1.62f;</a:t>
            </a:r>
            <a:endParaRPr lang="en-US" dirty="0"/>
          </a:p>
          <a:p>
            <a:pPr lvl="1"/>
            <a:r>
              <a:rPr lang="en-US" dirty="0"/>
              <a:t>point-&gt;weight=51.5f;</a:t>
            </a:r>
            <a:endParaRPr lang="en-US" dirty="0"/>
          </a:p>
          <a:p>
            <a:r>
              <a:rPr kumimoji="1" lang="zh-CN" altLang="en-US" dirty="0">
                <a:latin typeface="Times New Roman" panose="02020503050405090304" pitchFamily="18" charset="0"/>
                <a:ea typeface="黑体" panose="02010609060101010101" pitchFamily="49" charset="-122"/>
              </a:rPr>
              <a:t>点操作符和箭头操作符可以互换使用。以下三种访问结构成员的写法是等价的</a:t>
            </a:r>
            <a:endParaRPr kumimoji="1" lang="en-US" altLang="zh-CN" dirty="0">
              <a:latin typeface="Times New Roman" panose="02020503050405090304" pitchFamily="18" charset="0"/>
              <a:ea typeface="黑体" panose="02010609060101010101" pitchFamily="49" charset="-122"/>
            </a:endParaRPr>
          </a:p>
          <a:p>
            <a:pPr lvl="1"/>
            <a:r>
              <a:rPr lang="en-US" altLang="zh-CN" dirty="0"/>
              <a:t>point-&gt;name </a:t>
            </a:r>
            <a:endParaRPr lang="en-US" altLang="zh-CN" dirty="0"/>
          </a:p>
          <a:p>
            <a:pPr lvl="1"/>
            <a:r>
              <a:rPr lang="en-US" altLang="zh-CN" dirty="0"/>
              <a:t>(*point).name</a:t>
            </a:r>
            <a:endParaRPr lang="en-US" altLang="zh-CN" dirty="0"/>
          </a:p>
          <a:p>
            <a:pPr lvl="1"/>
            <a:r>
              <a:rPr lang="en-US" altLang="zh-CN" dirty="0"/>
              <a:t>my.name</a:t>
            </a:r>
            <a:endParaRPr lang="en-US" altLang="zh-CN" dirty="0"/>
          </a:p>
          <a:p>
            <a:endParaRPr lang="en-US" altLang="zh-CN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指针与结构数组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结构也可以构成数组，即数组元素是结构，当然要求这一类数组的全部元素都应该是同一类结构。</a:t>
            </a:r>
            <a:endParaRPr lang="zh-CN" altLang="en-US" dirty="0"/>
          </a:p>
          <a:p>
            <a:pPr>
              <a:defRPr/>
            </a:pPr>
            <a:r>
              <a:rPr lang="zh-CN" altLang="en-US" dirty="0"/>
              <a:t>下例中有同宿舍的四名同学的数据，构成一个有四个元素的结构数组。</a:t>
            </a:r>
            <a:endParaRPr lang="zh-CN" altLang="en-US" dirty="0"/>
          </a:p>
          <a:p>
            <a:endParaRPr lang="en-US" dirty="0"/>
          </a:p>
        </p:txBody>
      </p:sp>
      <p:sp>
        <p:nvSpPr>
          <p:cNvPr id="4" name="矩形 3"/>
          <p:cNvSpPr/>
          <p:nvPr/>
        </p:nvSpPr>
        <p:spPr>
          <a:xfrm>
            <a:off x="690956" y="3546021"/>
            <a:ext cx="3453064" cy="2505238"/>
          </a:xfrm>
          <a:prstGeom prst="rect">
            <a:avLst/>
          </a:prstGeom>
          <a:ln>
            <a:solidFill>
              <a:srgbClr val="0000FF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ct val="0"/>
              </a:spcBef>
            </a:pPr>
            <a:r>
              <a:rPr kumimoji="1" lang="en-US" altLang="zh-CN" dirty="0">
                <a:latin typeface="Arial Narrow" panose="020B0606020202030204" pitchFamily="34" charset="0"/>
                <a:ea typeface="黑体" panose="02010609060101010101" pitchFamily="49" charset="-122"/>
              </a:rPr>
              <a:t>// </a:t>
            </a:r>
            <a:r>
              <a:rPr kumimoji="1" lang="en-US" altLang="en-US" dirty="0" err="1">
                <a:latin typeface="Arial Narrow" panose="020B0606020202030204" pitchFamily="34" charset="0"/>
                <a:ea typeface="黑体" panose="02010609060101010101" pitchFamily="49" charset="-122"/>
              </a:rPr>
              <a:t>定义结构</a:t>
            </a:r>
            <a:r>
              <a:rPr kumimoji="1" lang="en-US" altLang="zh-CN" dirty="0" err="1">
                <a:latin typeface="Arial Narrow" panose="020B0606020202030204" pitchFamily="34" charset="0"/>
                <a:ea typeface="黑体" panose="02010609060101010101" pitchFamily="49" charset="-122"/>
              </a:rPr>
              <a:t>student</a:t>
            </a:r>
            <a:endParaRPr kumimoji="1" lang="en-US" altLang="zh-CN" dirty="0">
              <a:latin typeface="Arial Narrow" panose="020B0606020202030204" pitchFamily="34" charset="0"/>
              <a:ea typeface="黑体" panose="02010609060101010101" pitchFamily="49" charset="-122"/>
            </a:endParaRPr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kumimoji="1" lang="en-US" altLang="zh-CN" dirty="0">
                <a:latin typeface="Arial Narrow" panose="020B0606020202030204" pitchFamily="34" charset="0"/>
                <a:ea typeface="黑体" panose="02010609060101010101" pitchFamily="49" charset="-122"/>
              </a:rPr>
              <a:t>struct student {</a:t>
            </a:r>
            <a:endParaRPr kumimoji="1" lang="en-US" altLang="zh-CN" dirty="0">
              <a:latin typeface="Arial Narrow" panose="020B0606020202030204" pitchFamily="34" charset="0"/>
              <a:ea typeface="黑体" panose="02010609060101010101" pitchFamily="49" charset="-122"/>
            </a:endParaRPr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kumimoji="1" lang="en-US" altLang="zh-CN" dirty="0">
                <a:latin typeface="Arial Narrow" panose="020B0606020202030204" pitchFamily="34" charset="0"/>
                <a:ea typeface="黑体" panose="02010609060101010101" pitchFamily="49" charset="-122"/>
              </a:rPr>
              <a:t>	char name[20];</a:t>
            </a:r>
            <a:endParaRPr kumimoji="1" lang="en-US" altLang="zh-CN" dirty="0">
              <a:latin typeface="Arial Narrow" panose="020B0606020202030204" pitchFamily="34" charset="0"/>
              <a:ea typeface="黑体" panose="02010609060101010101" pitchFamily="49" charset="-122"/>
            </a:endParaRPr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kumimoji="1" lang="en-US" altLang="zh-CN" dirty="0">
                <a:latin typeface="Arial Narrow" panose="020B0606020202030204" pitchFamily="34" charset="0"/>
                <a:ea typeface="黑体" panose="02010609060101010101" pitchFamily="49" charset="-122"/>
              </a:rPr>
              <a:t>	char sex;</a:t>
            </a:r>
            <a:endParaRPr kumimoji="1" lang="en-US" altLang="zh-CN" dirty="0">
              <a:latin typeface="Arial Narrow" panose="020B0606020202030204" pitchFamily="34" charset="0"/>
              <a:ea typeface="黑体" panose="02010609060101010101" pitchFamily="49" charset="-122"/>
            </a:endParaRPr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kumimoji="1" lang="en-US" altLang="zh-CN" dirty="0">
                <a:latin typeface="Arial Narrow" panose="020B0606020202030204" pitchFamily="34" charset="0"/>
                <a:ea typeface="黑体" panose="02010609060101010101" pitchFamily="49" charset="-122"/>
              </a:rPr>
              <a:t>	unsigned long birthday;</a:t>
            </a:r>
            <a:endParaRPr kumimoji="1" lang="en-US" altLang="zh-CN" dirty="0">
              <a:latin typeface="Arial Narrow" panose="020B0606020202030204" pitchFamily="34" charset="0"/>
              <a:ea typeface="黑体" panose="02010609060101010101" pitchFamily="49" charset="-122"/>
            </a:endParaRPr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kumimoji="1" lang="en-US" altLang="zh-CN" dirty="0">
                <a:latin typeface="Arial Narrow" panose="020B0606020202030204" pitchFamily="34" charset="0"/>
                <a:ea typeface="黑体" panose="02010609060101010101" pitchFamily="49" charset="-122"/>
              </a:rPr>
              <a:t>	float height;</a:t>
            </a:r>
            <a:endParaRPr kumimoji="1" lang="en-US" altLang="zh-CN" dirty="0">
              <a:latin typeface="Arial Narrow" panose="020B0606020202030204" pitchFamily="34" charset="0"/>
              <a:ea typeface="黑体" panose="02010609060101010101" pitchFamily="49" charset="-122"/>
            </a:endParaRPr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kumimoji="1" lang="en-US" altLang="zh-CN" dirty="0">
                <a:latin typeface="Arial Narrow" panose="020B0606020202030204" pitchFamily="34" charset="0"/>
                <a:ea typeface="黑体" panose="02010609060101010101" pitchFamily="49" charset="-122"/>
              </a:rPr>
              <a:t>	float weight;</a:t>
            </a:r>
            <a:endParaRPr kumimoji="1" lang="en-US" altLang="zh-CN" dirty="0">
              <a:latin typeface="Arial Narrow" panose="020B0606020202030204" pitchFamily="34" charset="0"/>
              <a:ea typeface="黑体" panose="02010609060101010101" pitchFamily="49" charset="-122"/>
            </a:endParaRPr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kumimoji="1" lang="en-US" altLang="zh-CN" dirty="0">
                <a:latin typeface="Arial Narrow" panose="020B0606020202030204" pitchFamily="34" charset="0"/>
                <a:ea typeface="黑体" panose="02010609060101010101" pitchFamily="49" charset="-122"/>
              </a:rPr>
              <a:t>};</a:t>
            </a:r>
            <a:endParaRPr kumimoji="1" lang="en-US" altLang="zh-CN" dirty="0">
              <a:latin typeface="Arial Narrow" panose="020B0606020202030204" pitchFamily="34" charset="0"/>
              <a:ea typeface="黑体" panose="02010609060101010101" pitchFamily="49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402976" y="3780000"/>
            <a:ext cx="4130174" cy="2031325"/>
          </a:xfrm>
          <a:prstGeom prst="rect">
            <a:avLst/>
          </a:prstGeom>
          <a:ln>
            <a:solidFill>
              <a:srgbClr val="0000FF"/>
            </a:solidFill>
          </a:ln>
        </p:spPr>
        <p:txBody>
          <a:bodyPr wrap="square">
            <a:spAutoFit/>
          </a:bodyPr>
          <a:lstStyle/>
          <a:p>
            <a:pPr>
              <a:buNone/>
              <a:defRPr/>
            </a:pPr>
            <a:r>
              <a:rPr lang="en-US" altLang="zh-CN" dirty="0">
                <a:latin typeface="Arial Narrow" panose="020B0606020202030204" pitchFamily="34" charset="0"/>
              </a:rPr>
              <a:t>// </a:t>
            </a:r>
            <a:r>
              <a:rPr lang="zh-CN" altLang="en-US" dirty="0">
                <a:latin typeface="Arial Narrow" panose="020B0606020202030204" pitchFamily="34" charset="0"/>
              </a:rPr>
              <a:t>定义</a:t>
            </a:r>
            <a:r>
              <a:rPr lang="en-US" altLang="zh-CN" dirty="0">
                <a:latin typeface="Arial Narrow" panose="020B0606020202030204" pitchFamily="34" charset="0"/>
              </a:rPr>
              <a:t>student</a:t>
            </a:r>
            <a:r>
              <a:rPr lang="zh-CN" altLang="en-US" dirty="0">
                <a:latin typeface="Arial Narrow" panose="020B0606020202030204" pitchFamily="34" charset="0"/>
              </a:rPr>
              <a:t>结构数组，并初始化</a:t>
            </a:r>
            <a:endParaRPr lang="zh-CN" altLang="en-US" dirty="0">
              <a:latin typeface="Arial Narrow" panose="020B0606020202030204" pitchFamily="34" charset="0"/>
            </a:endParaRPr>
          </a:p>
          <a:p>
            <a:pPr>
              <a:buNone/>
              <a:defRPr/>
            </a:pPr>
            <a:r>
              <a:rPr lang="en-US" altLang="zh-CN" dirty="0">
                <a:latin typeface="Arial Narrow" panose="020B0606020202030204" pitchFamily="34" charset="0"/>
              </a:rPr>
              <a:t>student Room[4]={</a:t>
            </a:r>
            <a:endParaRPr lang="en-US" altLang="zh-CN" dirty="0">
              <a:latin typeface="Arial Narrow" panose="020B0606020202030204" pitchFamily="34" charset="0"/>
            </a:endParaRPr>
          </a:p>
          <a:p>
            <a:pPr>
              <a:buNone/>
              <a:defRPr/>
            </a:pPr>
            <a:r>
              <a:rPr lang="en-US" altLang="zh-CN" dirty="0">
                <a:latin typeface="Arial Narrow" panose="020B0606020202030204" pitchFamily="34" charset="0"/>
              </a:rPr>
              <a:t>    { "</a:t>
            </a:r>
            <a:r>
              <a:rPr lang="en-US" altLang="zh-CN" dirty="0" err="1">
                <a:latin typeface="Arial Narrow" panose="020B0606020202030204" pitchFamily="34" charset="0"/>
              </a:rPr>
              <a:t>Lixin</a:t>
            </a:r>
            <a:r>
              <a:rPr lang="en-US" altLang="zh-CN" dirty="0">
                <a:latin typeface="Arial Narrow" panose="020B0606020202030204" pitchFamily="34" charset="0"/>
              </a:rPr>
              <a:t>", 'M</a:t>
            </a:r>
            <a:r>
              <a:rPr lang="en-US" altLang="en-US" dirty="0">
                <a:latin typeface="Arial Narrow" panose="020B0606020202030204" pitchFamily="34" charset="0"/>
              </a:rPr>
              <a:t>‘</a:t>
            </a:r>
            <a:r>
              <a:rPr lang="en-US" altLang="zh-CN" dirty="0">
                <a:latin typeface="Arial Narrow" panose="020B0606020202030204" pitchFamily="34" charset="0"/>
              </a:rPr>
              <a:t> ,  19840318 , 1.82f , 65.0f      },</a:t>
            </a:r>
            <a:endParaRPr lang="en-US" altLang="zh-CN" dirty="0">
              <a:latin typeface="Arial Narrow" panose="020B0606020202030204" pitchFamily="34" charset="0"/>
            </a:endParaRPr>
          </a:p>
          <a:p>
            <a:pPr>
              <a:buNone/>
              <a:defRPr/>
            </a:pPr>
            <a:r>
              <a:rPr lang="en-US" altLang="zh-CN" dirty="0">
                <a:latin typeface="Arial Narrow" panose="020B0606020202030204" pitchFamily="34" charset="0"/>
              </a:rPr>
              <a:t>    { "</a:t>
            </a:r>
            <a:r>
              <a:rPr lang="en-US" altLang="zh-CN" dirty="0" err="1">
                <a:latin typeface="Arial Narrow" panose="020B0606020202030204" pitchFamily="34" charset="0"/>
              </a:rPr>
              <a:t>Zhangmen</a:t>
            </a:r>
            <a:r>
              <a:rPr lang="en-US" altLang="zh-CN" dirty="0">
                <a:latin typeface="Arial Narrow" panose="020B0606020202030204" pitchFamily="34" charset="0"/>
              </a:rPr>
              <a:t>",'M', 19840918, 1.75f , 58.0f },      </a:t>
            </a:r>
            <a:endParaRPr lang="en-US" altLang="zh-CN" dirty="0">
              <a:latin typeface="Arial Narrow" panose="020B0606020202030204" pitchFamily="34" charset="0"/>
            </a:endParaRPr>
          </a:p>
          <a:p>
            <a:pPr>
              <a:buNone/>
              <a:defRPr/>
            </a:pPr>
            <a:r>
              <a:rPr lang="en-US" altLang="zh-CN" dirty="0">
                <a:latin typeface="Arial Narrow" panose="020B0606020202030204" pitchFamily="34" charset="0"/>
              </a:rPr>
              <a:t>    { "</a:t>
            </a:r>
            <a:r>
              <a:rPr lang="en-US" altLang="zh-CN" dirty="0" err="1">
                <a:latin typeface="Arial Narrow" panose="020B0606020202030204" pitchFamily="34" charset="0"/>
              </a:rPr>
              <a:t>Helei</a:t>
            </a:r>
            <a:r>
              <a:rPr lang="en-US" altLang="zh-CN" dirty="0">
                <a:latin typeface="Arial Narrow" panose="020B0606020202030204" pitchFamily="34" charset="0"/>
              </a:rPr>
              <a:t>",  'M',  19841209 , 1.83f , 67.1f       },</a:t>
            </a:r>
            <a:endParaRPr lang="en-US" altLang="zh-CN" dirty="0">
              <a:latin typeface="Arial Narrow" panose="020B0606020202030204" pitchFamily="34" charset="0"/>
            </a:endParaRPr>
          </a:p>
          <a:p>
            <a:pPr>
              <a:buNone/>
              <a:defRPr/>
            </a:pPr>
            <a:r>
              <a:rPr lang="en-US" altLang="zh-CN" dirty="0">
                <a:latin typeface="Arial Narrow" panose="020B0606020202030204" pitchFamily="34" charset="0"/>
              </a:rPr>
              <a:t>    {"</a:t>
            </a:r>
            <a:r>
              <a:rPr lang="en-US" altLang="zh-CN" dirty="0" err="1">
                <a:latin typeface="Arial Narrow" panose="020B0606020202030204" pitchFamily="34" charset="0"/>
              </a:rPr>
              <a:t>Geyujian</a:t>
            </a:r>
            <a:r>
              <a:rPr lang="en-US" altLang="zh-CN" dirty="0">
                <a:latin typeface="Arial Narrow" panose="020B0606020202030204" pitchFamily="34" charset="0"/>
              </a:rPr>
              <a:t>", 'M', 19840101 , 1.70f , 59.0f    }</a:t>
            </a:r>
            <a:endParaRPr lang="en-US" altLang="zh-CN" dirty="0">
              <a:latin typeface="Arial Narrow" panose="020B0606020202030204" pitchFamily="34" charset="0"/>
            </a:endParaRPr>
          </a:p>
          <a:p>
            <a:pPr>
              <a:buNone/>
              <a:defRPr/>
            </a:pPr>
            <a:r>
              <a:rPr lang="en-US" altLang="zh-CN" dirty="0">
                <a:latin typeface="Arial Narrow" panose="020B0606020202030204" pitchFamily="34" charset="0"/>
              </a:rPr>
              <a:t>};</a:t>
            </a:r>
            <a:endParaRPr lang="en-US" altLang="zh-CN" dirty="0">
              <a:latin typeface="Arial Narrow" panose="020B0606020202030204" pitchFamily="34" charset="0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ext Box 2"/>
          <p:cNvSpPr txBox="1">
            <a:spLocks noChangeArrowheads="1"/>
          </p:cNvSpPr>
          <p:nvPr/>
        </p:nvSpPr>
        <p:spPr bwMode="auto">
          <a:xfrm>
            <a:off x="585250" y="484204"/>
            <a:ext cx="7973499" cy="4745915"/>
          </a:xfrm>
          <a:prstGeom prst="rect">
            <a:avLst/>
          </a:prstGeom>
          <a:noFill/>
          <a:ln w="12700" cap="sq">
            <a:solidFill>
              <a:srgbClr val="FF66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400" dirty="0" err="1">
                <a:latin typeface="Times New Roman" panose="02020503050405090304" pitchFamily="18" charset="0"/>
                <a:ea typeface="黑体" panose="02010609060101010101" pitchFamily="49" charset="-122"/>
              </a:rPr>
              <a:t>int</a:t>
            </a:r>
            <a:r>
              <a:rPr kumimoji="1" lang="en-US" altLang="zh-CN" sz="1400" dirty="0">
                <a:latin typeface="Times New Roman" panose="02020503050405090304" pitchFamily="18" charset="0"/>
                <a:ea typeface="黑体" panose="02010609060101010101" pitchFamily="49" charset="-122"/>
              </a:rPr>
              <a:t> main()		// </a:t>
            </a:r>
            <a:r>
              <a:rPr kumimoji="1" lang="en-US" altLang="en-US" sz="1400" dirty="0" err="1">
                <a:latin typeface="Times New Roman" panose="02020503050405090304" pitchFamily="18" charset="0"/>
                <a:ea typeface="黑体" panose="02010609060101010101" pitchFamily="49" charset="-122"/>
              </a:rPr>
              <a:t>主函数</a:t>
            </a:r>
            <a:endParaRPr kumimoji="1" lang="en-US" altLang="zh-CN" sz="1400" dirty="0">
              <a:latin typeface="Times New Roman" panose="02020503050405090304" pitchFamily="18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400" dirty="0">
                <a:latin typeface="Times New Roman" panose="02020503050405090304" pitchFamily="18" charset="0"/>
                <a:ea typeface="黑体" panose="02010609060101010101" pitchFamily="49" charset="-122"/>
              </a:rPr>
              <a:t>{</a:t>
            </a:r>
            <a:endParaRPr kumimoji="1" lang="en-US" altLang="zh-CN" sz="1400" dirty="0">
              <a:latin typeface="Times New Roman" panose="02020503050405090304" pitchFamily="18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400" dirty="0">
                <a:latin typeface="Times New Roman" panose="02020503050405090304" pitchFamily="18" charset="0"/>
                <a:ea typeface="黑体" panose="02010609060101010101" pitchFamily="49" charset="-122"/>
              </a:rPr>
              <a:t>	student q;		// </a:t>
            </a:r>
            <a:r>
              <a:rPr kumimoji="1" lang="en-US" altLang="en-US" sz="1400" dirty="0" err="1">
                <a:latin typeface="Times New Roman" panose="02020503050405090304" pitchFamily="18" charset="0"/>
                <a:ea typeface="黑体" panose="02010609060101010101" pitchFamily="49" charset="-122"/>
              </a:rPr>
              <a:t>定义</a:t>
            </a:r>
            <a:r>
              <a:rPr kumimoji="1" lang="zh-CN" altLang="en-US" sz="1400" dirty="0">
                <a:latin typeface="Times New Roman" panose="02020503050405090304" pitchFamily="18" charset="0"/>
                <a:ea typeface="黑体" panose="02010609060101010101" pitchFamily="49" charset="-122"/>
              </a:rPr>
              <a:t> </a:t>
            </a:r>
            <a:r>
              <a:rPr kumimoji="1" lang="en-US" altLang="zh-CN" sz="1400" dirty="0">
                <a:latin typeface="Times New Roman" panose="02020503050405090304" pitchFamily="18" charset="0"/>
                <a:ea typeface="黑体" panose="02010609060101010101" pitchFamily="49" charset="-122"/>
              </a:rPr>
              <a:t>q </a:t>
            </a:r>
            <a:r>
              <a:rPr kumimoji="1" lang="en-US" altLang="en-US" sz="1400" dirty="0" err="1">
                <a:latin typeface="Times New Roman" panose="02020503050405090304" pitchFamily="18" charset="0"/>
                <a:ea typeface="黑体" panose="02010609060101010101" pitchFamily="49" charset="-122"/>
              </a:rPr>
              <a:t>为</a:t>
            </a:r>
            <a:r>
              <a:rPr kumimoji="1" lang="en-US" altLang="zh-CN" sz="1400" dirty="0" err="1">
                <a:latin typeface="Times New Roman" panose="02020503050405090304" pitchFamily="18" charset="0"/>
                <a:ea typeface="黑体" panose="02010609060101010101" pitchFamily="49" charset="-122"/>
              </a:rPr>
              <a:t>student</a:t>
            </a:r>
            <a:r>
              <a:rPr kumimoji="1" lang="en-US" altLang="en-US" sz="1400" dirty="0" err="1">
                <a:latin typeface="Times New Roman" panose="02020503050405090304" pitchFamily="18" charset="0"/>
                <a:ea typeface="黑体" panose="02010609060101010101" pitchFamily="49" charset="-122"/>
              </a:rPr>
              <a:t>结构</a:t>
            </a:r>
            <a:endParaRPr kumimoji="1" lang="en-US" altLang="zh-CN" sz="1400" dirty="0">
              <a:latin typeface="Times New Roman" panose="02020503050405090304" pitchFamily="18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zh-CN" altLang="en-US" sz="1400" dirty="0">
              <a:latin typeface="Times New Roman" panose="02020503050405090304" pitchFamily="18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400" dirty="0">
                <a:latin typeface="Times New Roman" panose="02020503050405090304" pitchFamily="18" charset="0"/>
                <a:ea typeface="黑体" panose="02010609060101010101" pitchFamily="49" charset="-122"/>
              </a:rPr>
              <a:t>	// </a:t>
            </a:r>
            <a:r>
              <a:rPr kumimoji="1" lang="en-US" altLang="en-US" sz="1400" dirty="0" err="1">
                <a:latin typeface="Times New Roman" panose="02020503050405090304" pitchFamily="18" charset="0"/>
                <a:ea typeface="黑体" panose="02010609060101010101" pitchFamily="49" charset="-122"/>
              </a:rPr>
              <a:t>以下是按年龄大小对四位同学进行排序</a:t>
            </a:r>
            <a:endParaRPr kumimoji="1" lang="en-US" altLang="zh-CN" sz="1400" dirty="0">
              <a:latin typeface="Times New Roman" panose="02020503050405090304" pitchFamily="18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400" dirty="0">
                <a:latin typeface="Times New Roman" panose="02020503050405090304" pitchFamily="18" charset="0"/>
                <a:ea typeface="黑体" panose="02010609060101010101" pitchFamily="49" charset="-122"/>
              </a:rPr>
              <a:t>	</a:t>
            </a:r>
            <a:r>
              <a:rPr kumimoji="1" lang="en-US" altLang="zh-CN" sz="1400" dirty="0" err="1">
                <a:latin typeface="Times New Roman" panose="02020503050405090304" pitchFamily="18" charset="0"/>
                <a:ea typeface="黑体" panose="02010609060101010101" pitchFamily="49" charset="-122"/>
              </a:rPr>
              <a:t>int</a:t>
            </a:r>
            <a:r>
              <a:rPr kumimoji="1" lang="en-US" altLang="zh-CN" sz="1400" dirty="0">
                <a:latin typeface="Times New Roman" panose="02020503050405090304" pitchFamily="18" charset="0"/>
                <a:ea typeface="黑体" panose="02010609060101010101" pitchFamily="49" charset="-122"/>
              </a:rPr>
              <a:t> </a:t>
            </a:r>
            <a:r>
              <a:rPr kumimoji="1" lang="en-US" altLang="zh-CN" sz="1400" dirty="0" err="1">
                <a:latin typeface="Times New Roman" panose="02020503050405090304" pitchFamily="18" charset="0"/>
                <a:ea typeface="黑体" panose="02010609060101010101" pitchFamily="49" charset="-122"/>
              </a:rPr>
              <a:t>i</a:t>
            </a:r>
            <a:r>
              <a:rPr kumimoji="1" lang="en-US" altLang="zh-CN" sz="1400" dirty="0">
                <a:latin typeface="Times New Roman" panose="02020503050405090304" pitchFamily="18" charset="0"/>
                <a:ea typeface="黑体" panose="02010609060101010101" pitchFamily="49" charset="-122"/>
              </a:rPr>
              <a:t> = 0;	</a:t>
            </a:r>
            <a:r>
              <a:rPr kumimoji="1" lang="en-US" altLang="zh-CN" sz="1400" dirty="0" err="1">
                <a:latin typeface="Times New Roman" panose="02020503050405090304" pitchFamily="18" charset="0"/>
                <a:ea typeface="黑体" panose="02010609060101010101" pitchFamily="49" charset="-122"/>
              </a:rPr>
              <a:t>int</a:t>
            </a:r>
            <a:r>
              <a:rPr kumimoji="1" lang="en-US" altLang="zh-CN" sz="1400" dirty="0">
                <a:latin typeface="Times New Roman" panose="02020503050405090304" pitchFamily="18" charset="0"/>
                <a:ea typeface="黑体" panose="02010609060101010101" pitchFamily="49" charset="-122"/>
              </a:rPr>
              <a:t> j = 0;</a:t>
            </a:r>
            <a:endParaRPr kumimoji="1" lang="en-US" altLang="zh-CN" sz="1400" dirty="0">
              <a:latin typeface="Times New Roman" panose="02020503050405090304" pitchFamily="18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400" dirty="0">
                <a:latin typeface="Times New Roman" panose="02020503050405090304" pitchFamily="18" charset="0"/>
                <a:ea typeface="黑体" panose="02010609060101010101" pitchFamily="49" charset="-122"/>
              </a:rPr>
              <a:t>	for (j=0; j&lt;3; </a:t>
            </a:r>
            <a:r>
              <a:rPr kumimoji="1" lang="en-US" altLang="zh-CN" sz="1400" dirty="0" err="1">
                <a:latin typeface="Times New Roman" panose="02020503050405090304" pitchFamily="18" charset="0"/>
                <a:ea typeface="黑体" panose="02010609060101010101" pitchFamily="49" charset="-122"/>
              </a:rPr>
              <a:t>j++</a:t>
            </a:r>
            <a:r>
              <a:rPr kumimoji="1" lang="en-US" altLang="zh-CN" sz="1400" dirty="0">
                <a:latin typeface="Times New Roman" panose="02020503050405090304" pitchFamily="18" charset="0"/>
                <a:ea typeface="黑体" panose="02010609060101010101" pitchFamily="49" charset="-122"/>
              </a:rPr>
              <a:t>)</a:t>
            </a:r>
            <a:endParaRPr kumimoji="1" lang="en-US" altLang="zh-CN" sz="1400" dirty="0">
              <a:latin typeface="Times New Roman" panose="02020503050405090304" pitchFamily="18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400" dirty="0">
                <a:latin typeface="Times New Roman" panose="02020503050405090304" pitchFamily="18" charset="0"/>
                <a:ea typeface="黑体" panose="02010609060101010101" pitchFamily="49" charset="-122"/>
              </a:rPr>
              <a:t>	{// for j</a:t>
            </a:r>
            <a:endParaRPr kumimoji="1" lang="en-US" altLang="zh-CN" sz="1400" dirty="0">
              <a:latin typeface="Times New Roman" panose="02020503050405090304" pitchFamily="18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400" dirty="0">
                <a:latin typeface="Times New Roman" panose="02020503050405090304" pitchFamily="18" charset="0"/>
                <a:ea typeface="黑体" panose="02010609060101010101" pitchFamily="49" charset="-122"/>
              </a:rPr>
              <a:t>		for (</a:t>
            </a:r>
            <a:r>
              <a:rPr kumimoji="1" lang="en-US" altLang="zh-CN" sz="1400" dirty="0" err="1">
                <a:latin typeface="Times New Roman" panose="02020503050405090304" pitchFamily="18" charset="0"/>
                <a:ea typeface="黑体" panose="02010609060101010101" pitchFamily="49" charset="-122"/>
              </a:rPr>
              <a:t>i</a:t>
            </a:r>
            <a:r>
              <a:rPr kumimoji="1" lang="en-US" altLang="zh-CN" sz="1400" dirty="0">
                <a:latin typeface="Times New Roman" panose="02020503050405090304" pitchFamily="18" charset="0"/>
                <a:ea typeface="黑体" panose="02010609060101010101" pitchFamily="49" charset="-122"/>
              </a:rPr>
              <a:t>=0; </a:t>
            </a:r>
            <a:r>
              <a:rPr kumimoji="1" lang="en-US" altLang="zh-CN" sz="1400" dirty="0" err="1">
                <a:latin typeface="Times New Roman" panose="02020503050405090304" pitchFamily="18" charset="0"/>
                <a:ea typeface="黑体" panose="02010609060101010101" pitchFamily="49" charset="-122"/>
              </a:rPr>
              <a:t>i</a:t>
            </a:r>
            <a:r>
              <a:rPr kumimoji="1" lang="en-US" altLang="zh-CN" sz="1400" dirty="0">
                <a:latin typeface="Times New Roman" panose="02020503050405090304" pitchFamily="18" charset="0"/>
                <a:ea typeface="黑体" panose="02010609060101010101" pitchFamily="49" charset="-122"/>
              </a:rPr>
              <a:t>&lt;3-j; </a:t>
            </a:r>
            <a:r>
              <a:rPr kumimoji="1" lang="en-US" altLang="zh-CN" sz="1400" dirty="0" err="1">
                <a:latin typeface="Times New Roman" panose="02020503050405090304" pitchFamily="18" charset="0"/>
                <a:ea typeface="黑体" panose="02010609060101010101" pitchFamily="49" charset="-122"/>
              </a:rPr>
              <a:t>i</a:t>
            </a:r>
            <a:r>
              <a:rPr kumimoji="1" lang="en-US" altLang="zh-CN" sz="1400" dirty="0">
                <a:latin typeface="Times New Roman" panose="02020503050405090304" pitchFamily="18" charset="0"/>
                <a:ea typeface="黑体" panose="02010609060101010101" pitchFamily="49" charset="-122"/>
              </a:rPr>
              <a:t>++)</a:t>
            </a:r>
            <a:endParaRPr kumimoji="1" lang="en-US" altLang="zh-CN" sz="1400" dirty="0">
              <a:latin typeface="Times New Roman" panose="02020503050405090304" pitchFamily="18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400" dirty="0">
                <a:latin typeface="Times New Roman" panose="02020503050405090304" pitchFamily="18" charset="0"/>
                <a:ea typeface="黑体" panose="02010609060101010101" pitchFamily="49" charset="-122"/>
              </a:rPr>
              <a:t>		{// for </a:t>
            </a:r>
            <a:r>
              <a:rPr kumimoji="1" lang="en-US" altLang="zh-CN" sz="1400" dirty="0" err="1">
                <a:latin typeface="Times New Roman" panose="02020503050405090304" pitchFamily="18" charset="0"/>
                <a:ea typeface="黑体" panose="02010609060101010101" pitchFamily="49" charset="-122"/>
              </a:rPr>
              <a:t>i</a:t>
            </a:r>
            <a:endParaRPr kumimoji="1" lang="en-US" altLang="zh-CN" sz="1400" dirty="0">
              <a:latin typeface="Times New Roman" panose="02020503050405090304" pitchFamily="18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400" dirty="0">
                <a:latin typeface="Times New Roman" panose="02020503050405090304" pitchFamily="18" charset="0"/>
                <a:ea typeface="黑体" panose="02010609060101010101" pitchFamily="49" charset="-122"/>
              </a:rPr>
              <a:t>		   if ( Room[</a:t>
            </a:r>
            <a:r>
              <a:rPr kumimoji="1" lang="en-US" altLang="zh-CN" sz="1400" dirty="0" err="1">
                <a:latin typeface="Times New Roman" panose="02020503050405090304" pitchFamily="18" charset="0"/>
                <a:ea typeface="黑体" panose="02010609060101010101" pitchFamily="49" charset="-122"/>
              </a:rPr>
              <a:t>i</a:t>
            </a:r>
            <a:r>
              <a:rPr kumimoji="1" lang="en-US" altLang="zh-CN" sz="1400" dirty="0">
                <a:latin typeface="Times New Roman" panose="02020503050405090304" pitchFamily="18" charset="0"/>
                <a:ea typeface="黑体" panose="02010609060101010101" pitchFamily="49" charset="-122"/>
              </a:rPr>
              <a:t>].birthday &gt; Room[i+1].birthday )</a:t>
            </a:r>
            <a:endParaRPr kumimoji="1" lang="en-US" altLang="zh-CN" sz="1400" dirty="0">
              <a:latin typeface="Times New Roman" panose="02020503050405090304" pitchFamily="18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400" dirty="0">
                <a:latin typeface="Times New Roman" panose="02020503050405090304" pitchFamily="18" charset="0"/>
                <a:ea typeface="黑体" panose="02010609060101010101" pitchFamily="49" charset="-122"/>
              </a:rPr>
              <a:t>	        {       q = Room[</a:t>
            </a:r>
            <a:r>
              <a:rPr kumimoji="1" lang="en-US" altLang="zh-CN" sz="1400" dirty="0" err="1">
                <a:latin typeface="Times New Roman" panose="02020503050405090304" pitchFamily="18" charset="0"/>
                <a:ea typeface="黑体" panose="02010609060101010101" pitchFamily="49" charset="-122"/>
              </a:rPr>
              <a:t>i</a:t>
            </a:r>
            <a:r>
              <a:rPr kumimoji="1" lang="en-US" altLang="zh-CN" sz="1400" dirty="0">
                <a:latin typeface="Times New Roman" panose="02020503050405090304" pitchFamily="18" charset="0"/>
                <a:ea typeface="黑体" panose="02010609060101010101" pitchFamily="49" charset="-122"/>
              </a:rPr>
              <a:t>];</a:t>
            </a:r>
            <a:endParaRPr kumimoji="1" lang="en-US" altLang="zh-CN" sz="1400" dirty="0">
              <a:latin typeface="Times New Roman" panose="02020503050405090304" pitchFamily="18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400" dirty="0">
                <a:latin typeface="Times New Roman" panose="02020503050405090304" pitchFamily="18" charset="0"/>
                <a:ea typeface="黑体" panose="02010609060101010101" pitchFamily="49" charset="-122"/>
              </a:rPr>
              <a:t>				Room[</a:t>
            </a:r>
            <a:r>
              <a:rPr kumimoji="1" lang="en-US" altLang="zh-CN" sz="1400" dirty="0" err="1">
                <a:latin typeface="Times New Roman" panose="02020503050405090304" pitchFamily="18" charset="0"/>
                <a:ea typeface="黑体" panose="02010609060101010101" pitchFamily="49" charset="-122"/>
              </a:rPr>
              <a:t>i</a:t>
            </a:r>
            <a:r>
              <a:rPr kumimoji="1" lang="en-US" altLang="zh-CN" sz="1400" dirty="0">
                <a:latin typeface="Times New Roman" panose="02020503050405090304" pitchFamily="18" charset="0"/>
                <a:ea typeface="黑体" panose="02010609060101010101" pitchFamily="49" charset="-122"/>
              </a:rPr>
              <a:t>] = Room[i+1];</a:t>
            </a:r>
            <a:endParaRPr kumimoji="1" lang="en-US" altLang="zh-CN" sz="1400" dirty="0">
              <a:latin typeface="Times New Roman" panose="02020503050405090304" pitchFamily="18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400" dirty="0">
                <a:latin typeface="Times New Roman" panose="02020503050405090304" pitchFamily="18" charset="0"/>
                <a:ea typeface="黑体" panose="02010609060101010101" pitchFamily="49" charset="-122"/>
              </a:rPr>
              <a:t>				Room[i+1] = q;</a:t>
            </a:r>
            <a:endParaRPr kumimoji="1" lang="en-US" altLang="zh-CN" sz="1400" dirty="0">
              <a:latin typeface="Times New Roman" panose="02020503050405090304" pitchFamily="18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400" dirty="0">
                <a:latin typeface="Times New Roman" panose="02020503050405090304" pitchFamily="18" charset="0"/>
                <a:ea typeface="黑体" panose="02010609060101010101" pitchFamily="49" charset="-122"/>
              </a:rPr>
              <a:t>		    }// if</a:t>
            </a:r>
            <a:endParaRPr kumimoji="1" lang="en-US" altLang="zh-CN" sz="1400" dirty="0">
              <a:latin typeface="Times New Roman" panose="02020503050405090304" pitchFamily="18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400" dirty="0">
                <a:latin typeface="Times New Roman" panose="02020503050405090304" pitchFamily="18" charset="0"/>
                <a:ea typeface="黑体" panose="02010609060101010101" pitchFamily="49" charset="-122"/>
              </a:rPr>
              <a:t>		}// for </a:t>
            </a:r>
            <a:r>
              <a:rPr kumimoji="1" lang="en-US" altLang="zh-CN" sz="1400" dirty="0" err="1">
                <a:latin typeface="Times New Roman" panose="02020503050405090304" pitchFamily="18" charset="0"/>
                <a:ea typeface="黑体" panose="02010609060101010101" pitchFamily="49" charset="-122"/>
              </a:rPr>
              <a:t>i</a:t>
            </a:r>
            <a:endParaRPr kumimoji="1" lang="en-US" altLang="zh-CN" sz="1400" dirty="0">
              <a:latin typeface="Times New Roman" panose="02020503050405090304" pitchFamily="18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1400" dirty="0">
                <a:latin typeface="Times New Roman" panose="02020503050405090304" pitchFamily="18" charset="0"/>
                <a:ea typeface="黑体" panose="02010609060101010101" pitchFamily="49" charset="-122"/>
              </a:rPr>
              <a:t>	}// for j</a:t>
            </a:r>
            <a:endParaRPr kumimoji="1" lang="en-US" altLang="zh-CN" sz="1400" dirty="0">
              <a:latin typeface="Times New Roman" panose="02020503050405090304" pitchFamily="18" charset="0"/>
              <a:ea typeface="黑体" panose="02010609060101010101" pitchFamily="49" charset="-122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ClrTx/>
              <a:buSzTx/>
              <a:buNone/>
            </a:pPr>
            <a:r>
              <a:rPr kumimoji="1" lang="en-US" altLang="zh-CN" sz="1400" dirty="0">
                <a:latin typeface="Times New Roman" panose="02020503050405090304" pitchFamily="18" charset="0"/>
                <a:ea typeface="黑体" panose="02010609060101010101" pitchFamily="49" charset="-122"/>
              </a:rPr>
              <a:t>	for (</a:t>
            </a:r>
            <a:r>
              <a:rPr kumimoji="1" lang="en-US" altLang="zh-CN" sz="1400" dirty="0" err="1">
                <a:latin typeface="Times New Roman" panose="02020503050405090304" pitchFamily="18" charset="0"/>
                <a:ea typeface="黑体" panose="02010609060101010101" pitchFamily="49" charset="-122"/>
              </a:rPr>
              <a:t>i</a:t>
            </a:r>
            <a:r>
              <a:rPr kumimoji="1" lang="en-US" altLang="zh-CN" sz="1400" dirty="0">
                <a:latin typeface="Times New Roman" panose="02020503050405090304" pitchFamily="18" charset="0"/>
                <a:ea typeface="黑体" panose="02010609060101010101" pitchFamily="49" charset="-122"/>
              </a:rPr>
              <a:t>=0; </a:t>
            </a:r>
            <a:r>
              <a:rPr kumimoji="1" lang="en-US" altLang="zh-CN" sz="1400" dirty="0" err="1">
                <a:latin typeface="Times New Roman" panose="02020503050405090304" pitchFamily="18" charset="0"/>
                <a:ea typeface="黑体" panose="02010609060101010101" pitchFamily="49" charset="-122"/>
              </a:rPr>
              <a:t>i</a:t>
            </a:r>
            <a:r>
              <a:rPr kumimoji="1" lang="en-US" altLang="zh-CN" sz="1400" dirty="0">
                <a:latin typeface="Times New Roman" panose="02020503050405090304" pitchFamily="18" charset="0"/>
                <a:ea typeface="黑体" panose="02010609060101010101" pitchFamily="49" charset="-122"/>
              </a:rPr>
              <a:t>&lt;4; </a:t>
            </a:r>
            <a:r>
              <a:rPr kumimoji="1" lang="en-US" altLang="zh-CN" sz="1400" dirty="0" err="1">
                <a:latin typeface="Times New Roman" panose="02020503050405090304" pitchFamily="18" charset="0"/>
                <a:ea typeface="黑体" panose="02010609060101010101" pitchFamily="49" charset="-122"/>
              </a:rPr>
              <a:t>i</a:t>
            </a:r>
            <a:r>
              <a:rPr kumimoji="1" lang="en-US" altLang="zh-CN" sz="1400" dirty="0">
                <a:latin typeface="Times New Roman" panose="02020503050405090304" pitchFamily="18" charset="0"/>
                <a:ea typeface="黑体" panose="02010609060101010101" pitchFamily="49" charset="-122"/>
              </a:rPr>
              <a:t>++)</a:t>
            </a:r>
            <a:endParaRPr kumimoji="1" lang="en-US" altLang="zh-CN" sz="1400" dirty="0">
              <a:latin typeface="Times New Roman" panose="02020503050405090304" pitchFamily="18" charset="0"/>
              <a:ea typeface="黑体" panose="02010609060101010101" pitchFamily="49" charset="-122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ClrTx/>
              <a:buSzTx/>
              <a:buNone/>
            </a:pPr>
            <a:r>
              <a:rPr kumimoji="1" lang="en-US" altLang="zh-CN" sz="1400" dirty="0">
                <a:latin typeface="Times New Roman" panose="02020503050405090304" pitchFamily="18" charset="0"/>
                <a:ea typeface="黑体" panose="02010609060101010101" pitchFamily="49" charset="-122"/>
              </a:rPr>
              <a:t>	{</a:t>
            </a:r>
            <a:endParaRPr kumimoji="1" lang="en-US" altLang="zh-CN" sz="1400" dirty="0">
              <a:latin typeface="Times New Roman" panose="02020503050405090304" pitchFamily="18" charset="0"/>
              <a:ea typeface="黑体" panose="02010609060101010101" pitchFamily="49" charset="-122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ClrTx/>
              <a:buSzTx/>
              <a:buNone/>
            </a:pPr>
            <a:r>
              <a:rPr kumimoji="1" lang="en-US" altLang="zh-CN" sz="1400" dirty="0">
                <a:latin typeface="Times New Roman" panose="02020503050405090304" pitchFamily="18" charset="0"/>
                <a:ea typeface="黑体" panose="02010609060101010101" pitchFamily="49" charset="-122"/>
              </a:rPr>
              <a:t>		</a:t>
            </a:r>
            <a:r>
              <a:rPr kumimoji="1" lang="en-US" altLang="zh-CN" sz="1400" dirty="0" err="1">
                <a:latin typeface="Times New Roman" panose="02020503050405090304" pitchFamily="18" charset="0"/>
                <a:ea typeface="黑体" panose="02010609060101010101" pitchFamily="49" charset="-122"/>
              </a:rPr>
              <a:t>printf</a:t>
            </a:r>
            <a:r>
              <a:rPr kumimoji="1" lang="en-US" altLang="zh-CN" sz="1400" dirty="0">
                <a:latin typeface="Times New Roman" panose="02020503050405090304" pitchFamily="18" charset="0"/>
                <a:ea typeface="黑体" panose="02010609060101010101" pitchFamily="49" charset="-122"/>
              </a:rPr>
              <a:t>(“%s\n”, Room[</a:t>
            </a:r>
            <a:r>
              <a:rPr kumimoji="1" lang="en-US" altLang="zh-CN" sz="1400" dirty="0" err="1">
                <a:latin typeface="Times New Roman" panose="02020503050405090304" pitchFamily="18" charset="0"/>
                <a:ea typeface="黑体" panose="02010609060101010101" pitchFamily="49" charset="-122"/>
              </a:rPr>
              <a:t>i</a:t>
            </a:r>
            <a:r>
              <a:rPr kumimoji="1" lang="en-US" altLang="zh-CN" sz="1400" dirty="0">
                <a:latin typeface="Times New Roman" panose="02020503050405090304" pitchFamily="18" charset="0"/>
                <a:ea typeface="黑体" panose="02010609060101010101" pitchFamily="49" charset="-122"/>
              </a:rPr>
              <a:t>].name); </a:t>
            </a:r>
            <a:endParaRPr kumimoji="1" lang="en-US" altLang="zh-CN" sz="1400" dirty="0">
              <a:latin typeface="Times New Roman" panose="02020503050405090304" pitchFamily="18" charset="0"/>
              <a:ea typeface="黑体" panose="02010609060101010101" pitchFamily="49" charset="-122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ClrTx/>
              <a:buSzTx/>
              <a:buNone/>
            </a:pPr>
            <a:r>
              <a:rPr kumimoji="1" lang="en-US" altLang="zh-CN" sz="1400" dirty="0">
                <a:latin typeface="Times New Roman" panose="02020503050405090304" pitchFamily="18" charset="0"/>
                <a:ea typeface="黑体" panose="02010609060101010101" pitchFamily="49" charset="-122"/>
              </a:rPr>
              <a:t>		</a:t>
            </a:r>
            <a:r>
              <a:rPr kumimoji="1" lang="en-US" altLang="zh-CN" sz="1400" dirty="0" err="1">
                <a:latin typeface="Times New Roman" panose="02020503050405090304" pitchFamily="18" charset="0"/>
                <a:ea typeface="黑体" panose="02010609060101010101" pitchFamily="49" charset="-122"/>
              </a:rPr>
              <a:t>printf</a:t>
            </a:r>
            <a:r>
              <a:rPr kumimoji="1" lang="en-US" altLang="zh-CN" sz="1400" dirty="0">
                <a:latin typeface="Times New Roman" panose="02020503050405090304" pitchFamily="18" charset="0"/>
                <a:ea typeface="黑体" panose="02010609060101010101" pitchFamily="49" charset="-122"/>
              </a:rPr>
              <a:t>(“%c\n”, Room[</a:t>
            </a:r>
            <a:r>
              <a:rPr kumimoji="1" lang="en-US" altLang="zh-CN" sz="1400" dirty="0" err="1">
                <a:latin typeface="Times New Roman" panose="02020503050405090304" pitchFamily="18" charset="0"/>
                <a:ea typeface="黑体" panose="02010609060101010101" pitchFamily="49" charset="-122"/>
              </a:rPr>
              <a:t>i</a:t>
            </a:r>
            <a:r>
              <a:rPr kumimoji="1" lang="en-US" altLang="zh-CN" sz="1400" dirty="0">
                <a:latin typeface="Times New Roman" panose="02020503050405090304" pitchFamily="18" charset="0"/>
                <a:ea typeface="黑体" panose="02010609060101010101" pitchFamily="49" charset="-122"/>
              </a:rPr>
              <a:t>].sex);</a:t>
            </a:r>
            <a:endParaRPr kumimoji="1" lang="en-US" altLang="zh-CN" sz="1400" dirty="0">
              <a:latin typeface="Times New Roman" panose="02020503050405090304" pitchFamily="18" charset="0"/>
              <a:ea typeface="黑体" panose="02010609060101010101" pitchFamily="49" charset="-122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ClrTx/>
              <a:buSzTx/>
              <a:buNone/>
            </a:pPr>
            <a:r>
              <a:rPr kumimoji="1" lang="en-US" altLang="zh-CN" sz="1400" dirty="0">
                <a:latin typeface="Times New Roman" panose="02020503050405090304" pitchFamily="18" charset="0"/>
                <a:ea typeface="黑体" panose="02010609060101010101" pitchFamily="49" charset="-122"/>
              </a:rPr>
              <a:t>		</a:t>
            </a:r>
            <a:r>
              <a:rPr kumimoji="1" lang="en-US" altLang="zh-CN" sz="1400" dirty="0" err="1">
                <a:latin typeface="Times New Roman" panose="02020503050405090304" pitchFamily="18" charset="0"/>
                <a:ea typeface="黑体" panose="02010609060101010101" pitchFamily="49" charset="-122"/>
              </a:rPr>
              <a:t>printf</a:t>
            </a:r>
            <a:r>
              <a:rPr kumimoji="1" lang="en-US" altLang="zh-CN" sz="1400" dirty="0">
                <a:latin typeface="Times New Roman" panose="02020503050405090304" pitchFamily="18" charset="0"/>
                <a:ea typeface="黑体" panose="02010609060101010101" pitchFamily="49" charset="-122"/>
              </a:rPr>
              <a:t>(“%d\n”, Room[</a:t>
            </a:r>
            <a:r>
              <a:rPr kumimoji="1" lang="en-US" altLang="zh-CN" sz="1400" dirty="0" err="1">
                <a:latin typeface="Times New Roman" panose="02020503050405090304" pitchFamily="18" charset="0"/>
                <a:ea typeface="黑体" panose="02010609060101010101" pitchFamily="49" charset="-122"/>
              </a:rPr>
              <a:t>i</a:t>
            </a:r>
            <a:r>
              <a:rPr kumimoji="1" lang="en-US" altLang="zh-CN" sz="1400" dirty="0">
                <a:latin typeface="Times New Roman" panose="02020503050405090304" pitchFamily="18" charset="0"/>
                <a:ea typeface="黑体" panose="02010609060101010101" pitchFamily="49" charset="-122"/>
              </a:rPr>
              <a:t>].birthday); 		         	</a:t>
            </a:r>
            <a:endParaRPr kumimoji="1" lang="en-US" altLang="zh-CN" sz="1400" dirty="0">
              <a:latin typeface="Times New Roman" panose="02020503050405090304" pitchFamily="18" charset="0"/>
              <a:ea typeface="黑体" panose="02010609060101010101" pitchFamily="49" charset="-122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ClrTx/>
              <a:buSzTx/>
              <a:buNone/>
            </a:pPr>
            <a:r>
              <a:rPr kumimoji="1" lang="en-US" altLang="zh-CN" sz="1400" dirty="0">
                <a:latin typeface="Times New Roman" panose="02020503050405090304" pitchFamily="18" charset="0"/>
                <a:ea typeface="黑体" panose="02010609060101010101" pitchFamily="49" charset="-122"/>
              </a:rPr>
              <a:t>		</a:t>
            </a:r>
            <a:r>
              <a:rPr kumimoji="1" lang="en-US" altLang="zh-CN" sz="1400" dirty="0" err="1">
                <a:latin typeface="Times New Roman" panose="02020503050405090304" pitchFamily="18" charset="0"/>
                <a:ea typeface="黑体" panose="02010609060101010101" pitchFamily="49" charset="-122"/>
              </a:rPr>
              <a:t>printf</a:t>
            </a:r>
            <a:r>
              <a:rPr kumimoji="1" lang="en-US" altLang="zh-CN" sz="1400" dirty="0">
                <a:latin typeface="Times New Roman" panose="02020503050405090304" pitchFamily="18" charset="0"/>
                <a:ea typeface="黑体" panose="02010609060101010101" pitchFamily="49" charset="-122"/>
              </a:rPr>
              <a:t>(“%f\n”, Room[</a:t>
            </a:r>
            <a:r>
              <a:rPr kumimoji="1" lang="en-US" altLang="zh-CN" sz="1400" dirty="0" err="1">
                <a:latin typeface="Times New Roman" panose="02020503050405090304" pitchFamily="18" charset="0"/>
                <a:ea typeface="黑体" panose="02010609060101010101" pitchFamily="49" charset="-122"/>
              </a:rPr>
              <a:t>i</a:t>
            </a:r>
            <a:r>
              <a:rPr kumimoji="1" lang="en-US" altLang="zh-CN" sz="1400" dirty="0">
                <a:latin typeface="Times New Roman" panose="02020503050405090304" pitchFamily="18" charset="0"/>
                <a:ea typeface="黑体" panose="02010609060101010101" pitchFamily="49" charset="-122"/>
              </a:rPr>
              <a:t>].height);</a:t>
            </a:r>
            <a:endParaRPr kumimoji="1" lang="en-US" altLang="zh-CN" sz="1400" dirty="0">
              <a:latin typeface="Times New Roman" panose="02020503050405090304" pitchFamily="18" charset="0"/>
              <a:ea typeface="黑体" panose="02010609060101010101" pitchFamily="49" charset="-122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ClrTx/>
              <a:buSzTx/>
              <a:buNone/>
            </a:pPr>
            <a:r>
              <a:rPr kumimoji="1" lang="en-US" altLang="zh-CN" sz="1400" dirty="0">
                <a:latin typeface="Times New Roman" panose="02020503050405090304" pitchFamily="18" charset="0"/>
                <a:ea typeface="黑体" panose="02010609060101010101" pitchFamily="49" charset="-122"/>
              </a:rPr>
              <a:t>		</a:t>
            </a:r>
            <a:r>
              <a:rPr kumimoji="1" lang="en-US" altLang="zh-CN" sz="1400" dirty="0" err="1">
                <a:latin typeface="Times New Roman" panose="02020503050405090304" pitchFamily="18" charset="0"/>
                <a:ea typeface="黑体" panose="02010609060101010101" pitchFamily="49" charset="-122"/>
              </a:rPr>
              <a:t>printf</a:t>
            </a:r>
            <a:r>
              <a:rPr kumimoji="1" lang="en-US" altLang="zh-CN" sz="1400" dirty="0">
                <a:latin typeface="Times New Roman" panose="02020503050405090304" pitchFamily="18" charset="0"/>
                <a:ea typeface="黑体" panose="02010609060101010101" pitchFamily="49" charset="-122"/>
              </a:rPr>
              <a:t>(“%f\n”, Room[</a:t>
            </a:r>
            <a:r>
              <a:rPr kumimoji="1" lang="en-US" altLang="zh-CN" sz="1400" dirty="0" err="1">
                <a:latin typeface="Times New Roman" panose="02020503050405090304" pitchFamily="18" charset="0"/>
                <a:ea typeface="黑体" panose="02010609060101010101" pitchFamily="49" charset="-122"/>
              </a:rPr>
              <a:t>i</a:t>
            </a:r>
            <a:r>
              <a:rPr kumimoji="1" lang="en-US" altLang="zh-CN" sz="1400" dirty="0">
                <a:latin typeface="Times New Roman" panose="02020503050405090304" pitchFamily="18" charset="0"/>
                <a:ea typeface="黑体" panose="02010609060101010101" pitchFamily="49" charset="-122"/>
              </a:rPr>
              <a:t>].weight);</a:t>
            </a:r>
            <a:endParaRPr kumimoji="1" lang="en-US" altLang="zh-CN" sz="1400" dirty="0">
              <a:latin typeface="Times New Roman" panose="02020503050405090304" pitchFamily="18" charset="0"/>
              <a:ea typeface="黑体" panose="02010609060101010101" pitchFamily="49" charset="-122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ClrTx/>
              <a:buSzTx/>
              <a:buNone/>
            </a:pPr>
            <a:r>
              <a:rPr kumimoji="1" lang="en-US" altLang="zh-CN" sz="1400" dirty="0">
                <a:latin typeface="Times New Roman" panose="02020503050405090304" pitchFamily="18" charset="0"/>
                <a:ea typeface="黑体" panose="02010609060101010101" pitchFamily="49" charset="-122"/>
              </a:rPr>
              <a:t>	} </a:t>
            </a:r>
            <a:endParaRPr kumimoji="1" lang="en-US" altLang="zh-CN" sz="1400" dirty="0">
              <a:latin typeface="Times New Roman" panose="02020503050405090304" pitchFamily="18" charset="0"/>
              <a:ea typeface="黑体" panose="02010609060101010101" pitchFamily="49" charset="-122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ClrTx/>
              <a:buSzTx/>
              <a:buNone/>
            </a:pPr>
            <a:r>
              <a:rPr kumimoji="1" lang="en-US" altLang="zh-CN" sz="1400" dirty="0">
                <a:latin typeface="Times New Roman" panose="02020503050405090304" pitchFamily="18" charset="0"/>
                <a:ea typeface="黑体" panose="02010609060101010101" pitchFamily="49" charset="-122"/>
              </a:rPr>
              <a:t>	return 0;</a:t>
            </a:r>
            <a:endParaRPr kumimoji="1" lang="en-US" altLang="zh-CN" sz="1400" dirty="0">
              <a:latin typeface="Times New Roman" panose="02020503050405090304" pitchFamily="18" charset="0"/>
              <a:ea typeface="黑体" panose="02010609060101010101" pitchFamily="49" charset="-122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ClrTx/>
              <a:buSzTx/>
              <a:buNone/>
            </a:pPr>
            <a:r>
              <a:rPr kumimoji="1" lang="en-US" altLang="zh-CN" sz="1400" dirty="0">
                <a:latin typeface="Times New Roman" panose="02020503050405090304" pitchFamily="18" charset="0"/>
                <a:ea typeface="黑体" panose="02010609060101010101" pitchFamily="49" charset="-122"/>
              </a:rPr>
              <a:t>}</a:t>
            </a:r>
            <a:endParaRPr kumimoji="1" lang="en-US" altLang="zh-CN" sz="1400" dirty="0">
              <a:latin typeface="Times New Roman" panose="02020503050405090304" pitchFamily="18" charset="0"/>
              <a:ea typeface="黑体" panose="02010609060101010101" pitchFamily="49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85250" y="5484809"/>
            <a:ext cx="772298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dirty="0"/>
              <a:t>上述程序可完成冒泡排序。在排序过程中数组中的元素是结构。按生日大小排序时，学生的</a:t>
            </a:r>
            <a:r>
              <a:rPr kumimoji="1" lang="en-US" altLang="zh-CN" dirty="0"/>
              <a:t>5</a:t>
            </a:r>
            <a:r>
              <a:rPr kumimoji="1" lang="zh-CN" altLang="en-US" dirty="0"/>
              <a:t>个数据作为一个整体（结构）来调整在数组中的位置。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431013" y="610136"/>
            <a:ext cx="7676147" cy="62478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</a:pP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//</a:t>
            </a:r>
            <a:r>
              <a:rPr lang="zh-CN" alt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例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</a:rPr>
              <a:t>13-16</a:t>
            </a:r>
            <a:endParaRPr lang="en-US" sz="14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>
              <a:lnSpc>
                <a:spcPts val="1600"/>
              </a:lnSpc>
            </a:pP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main()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6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600"/>
              </a:lnSpc>
            </a:pP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    // </a:t>
            </a:r>
            <a:r>
              <a:rPr lang="zh-CN" alt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定义指向 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student </a:t>
            </a:r>
            <a:r>
              <a:rPr lang="zh-CN" alt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结构的指针数组，指向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Room</a:t>
            </a:r>
            <a:r>
              <a:rPr lang="zh-CN" alt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数组元素</a:t>
            </a:r>
            <a:endParaRPr lang="zh-CN" alt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600"/>
              </a:lnSpc>
            </a:pP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student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 *p[4]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= {&amp;Room[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], &amp;Room[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], &amp;Room[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], &amp;Room[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]};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6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student *q;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 // </a:t>
            </a:r>
            <a:r>
              <a:rPr lang="zh-CN" alt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定义一个指向 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student </a:t>
            </a:r>
            <a:r>
              <a:rPr lang="zh-CN" alt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结构的指针，用作中间变量</a:t>
            </a:r>
            <a:endParaRPr lang="zh-CN" alt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600"/>
              </a:lnSpc>
            </a:pPr>
            <a:b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 j = 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6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(j = 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 j &lt; 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j++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6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{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 // for j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6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&lt;= 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- j;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++)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6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{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 // for </a:t>
            </a:r>
            <a:r>
              <a:rPr lang="en-US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i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6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(p[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]-&gt;height &lt; p[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+ 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]-&gt;height)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6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{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6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    q = p[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6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    p[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 = p[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+ 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6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    p[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+ 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 = q;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6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}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6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}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6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}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6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&lt; 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4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++)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 // </a:t>
            </a:r>
            <a:r>
              <a:rPr lang="zh-CN" alt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输出排序结果</a:t>
            </a:r>
            <a:endParaRPr lang="zh-CN" alt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600"/>
              </a:lnSpc>
            </a:pP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6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"%s\n"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 p[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]-&gt;name);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6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"%c\n"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 p[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]-&gt;sex);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6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"%d\n"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 p[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]-&gt;birthday);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6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"%f\n"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 p[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]-&gt;height);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6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"%f\n"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 p[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]-&gt;weight);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6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}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6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6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311962" y="0"/>
            <a:ext cx="8280000" cy="683692"/>
          </a:xfrm>
        </p:spPr>
        <p:txBody>
          <a:bodyPr>
            <a:normAutofit/>
          </a:bodyPr>
          <a:lstStyle/>
          <a:p>
            <a:r>
              <a:rPr kumimoji="1" lang="zh-CN" altLang="en-US" sz="2800" dirty="0">
                <a:latin typeface="Times New Roman" panose="02020503050405090304" pitchFamily="18" charset="0"/>
                <a:ea typeface="黑体" panose="02010609060101010101" pitchFamily="49" charset="-122"/>
              </a:rPr>
              <a:t>用结构指针数组来完成排序任务</a:t>
            </a:r>
            <a:endParaRPr lang="en-US" sz="28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Ctr="0" compatLnSpc="1"/>
          <a:lstStyle/>
          <a:p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使用指针数组处理结构 </a:t>
            </a: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(1)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  <a:ea typeface="华文中宋" panose="02010600040101010101" pitchFamily="2" charset="-122"/>
            </a:endParaRPr>
          </a:p>
        </p:txBody>
      </p:sp>
      <p:sp>
        <p:nvSpPr>
          <p:cNvPr id="5939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如何使用指针数组完成排序？</a:t>
            </a:r>
            <a:endParaRPr lang="en-US" altLang="zh-CN" dirty="0"/>
          </a:p>
          <a:p>
            <a:pPr lvl="1"/>
            <a:r>
              <a:rPr lang="zh-CN" altLang="en-US" sz="2400" dirty="0"/>
              <a:t>如何声明指向结构的指针数组</a:t>
            </a:r>
            <a:endParaRPr lang="en-US" altLang="zh-CN" sz="2400" dirty="0"/>
          </a:p>
          <a:p>
            <a:pPr lvl="1"/>
            <a:endParaRPr lang="en-US" altLang="en-US" sz="2400" dirty="0">
              <a:ea typeface="华文中宋" panose="02010600040101010101" pitchFamily="2" charset="-122"/>
            </a:endParaRPr>
          </a:p>
          <a:p>
            <a:pPr lvl="1"/>
            <a:endParaRPr lang="en-US" altLang="en-US" sz="2400" dirty="0">
              <a:ea typeface="华文中宋" panose="02010600040101010101" pitchFamily="2" charset="-122"/>
            </a:endParaRPr>
          </a:p>
          <a:p>
            <a:pPr lvl="1"/>
            <a:r>
              <a:rPr lang="zh-CN" altLang="en-US" sz="2400" dirty="0"/>
              <a:t>如何使用指针完成排序</a:t>
            </a:r>
            <a:endParaRPr lang="en-US" altLang="en-US" sz="2400" dirty="0">
              <a:ea typeface="华文中宋" panose="02010600040101010101" pitchFamily="2" charset="-122"/>
            </a:endParaRPr>
          </a:p>
        </p:txBody>
      </p:sp>
      <p:sp>
        <p:nvSpPr>
          <p:cNvPr id="59397" name="Rectangle 5"/>
          <p:cNvSpPr>
            <a:spLocks noChangeArrowheads="1"/>
          </p:cNvSpPr>
          <p:nvPr/>
        </p:nvSpPr>
        <p:spPr bwMode="auto">
          <a:xfrm>
            <a:off x="1473835" y="2165988"/>
            <a:ext cx="633571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rgbClr val="770028"/>
                </a:solidFill>
                <a:latin typeface="CourierNewPSMT" panose="02070409020205090404"/>
              </a:rPr>
              <a:t>struct</a:t>
            </a:r>
            <a:r>
              <a:rPr lang="zh-CN" altLang="en-US" sz="2000" dirty="0">
                <a:solidFill>
                  <a:srgbClr val="770028"/>
                </a:solidFill>
                <a:latin typeface="CourierNewPSMT" panose="02070409020205090404"/>
              </a:rPr>
              <a:t> </a:t>
            </a:r>
            <a:r>
              <a:rPr lang="en-US" altLang="zh-CN" sz="2000" dirty="0">
                <a:solidFill>
                  <a:srgbClr val="770028"/>
                </a:solidFill>
                <a:latin typeface="CourierNewPSMT" panose="02070409020205090404"/>
              </a:rPr>
              <a:t>student *p[4]={&amp;Room[0],</a:t>
            </a:r>
            <a:r>
              <a:rPr lang="zh-CN" altLang="en-US" sz="2000" dirty="0">
                <a:solidFill>
                  <a:srgbClr val="770028"/>
                </a:solidFill>
                <a:latin typeface="CourierNewPSMT" panose="02070409020205090404"/>
              </a:rPr>
              <a:t> </a:t>
            </a:r>
            <a:r>
              <a:rPr lang="en-US" altLang="zh-CN" sz="2000" dirty="0">
                <a:solidFill>
                  <a:srgbClr val="770028"/>
                </a:solidFill>
                <a:latin typeface="CourierNewPSMT" panose="02070409020205090404"/>
              </a:rPr>
              <a:t>&amp;Room[1], </a:t>
            </a:r>
            <a:r>
              <a:rPr lang="zh-CN" altLang="en-US" sz="2000" dirty="0">
                <a:solidFill>
                  <a:srgbClr val="770028"/>
                </a:solidFill>
                <a:latin typeface="CourierNewPSMT" panose="02070409020205090404"/>
              </a:rPr>
              <a:t>   </a:t>
            </a:r>
            <a:endParaRPr lang="en-US" altLang="zh-CN" sz="2000" dirty="0">
              <a:solidFill>
                <a:srgbClr val="770028"/>
              </a:solidFill>
              <a:latin typeface="CourierNewPSMT" panose="02070409020205090404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rgbClr val="770028"/>
                </a:solidFill>
                <a:latin typeface="CourierNewPSMT" panose="02070409020205090404"/>
              </a:rPr>
              <a:t>               </a:t>
            </a:r>
            <a:r>
              <a:rPr lang="en-US" altLang="zh-CN" sz="2000" dirty="0">
                <a:solidFill>
                  <a:srgbClr val="770028"/>
                </a:solidFill>
                <a:latin typeface="CourierNewPSMT" panose="02070409020205090404"/>
              </a:rPr>
              <a:t>&amp;Room[2], &amp;Room[3] };</a:t>
            </a:r>
            <a:endParaRPr lang="en-US" altLang="en-US" sz="2000" dirty="0">
              <a:solidFill>
                <a:srgbClr val="770028"/>
              </a:solidFill>
              <a:latin typeface="CourierNewPSMT" panose="02070409020205090404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406102" y="3780000"/>
            <a:ext cx="6810375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n-US" altLang="zh-CN" sz="2000" dirty="0">
                <a:solidFill>
                  <a:srgbClr val="770028"/>
                </a:solidFill>
                <a:latin typeface="CourierNewPSMT" panose="02070409020205090404"/>
              </a:rPr>
              <a:t>for (int</a:t>
            </a:r>
            <a:r>
              <a:rPr lang="zh-CN" altLang="en-US" sz="2000" dirty="0">
                <a:solidFill>
                  <a:srgbClr val="770028"/>
                </a:solidFill>
                <a:latin typeface="CourierNewPSMT" panose="02070409020205090404"/>
              </a:rPr>
              <a:t> </a:t>
            </a:r>
            <a:r>
              <a:rPr lang="en-US" altLang="zh-CN" sz="2000" dirty="0" err="1">
                <a:solidFill>
                  <a:srgbClr val="770028"/>
                </a:solidFill>
                <a:latin typeface="CourierNewPSMT" panose="02070409020205090404"/>
              </a:rPr>
              <a:t>i</a:t>
            </a:r>
            <a:r>
              <a:rPr lang="en-US" altLang="zh-CN" sz="2000" dirty="0">
                <a:solidFill>
                  <a:srgbClr val="770028"/>
                </a:solidFill>
                <a:latin typeface="CourierNewPSMT" panose="02070409020205090404"/>
              </a:rPr>
              <a:t>=0; </a:t>
            </a:r>
            <a:r>
              <a:rPr lang="en-US" altLang="zh-CN" sz="2000" dirty="0" err="1">
                <a:solidFill>
                  <a:srgbClr val="770028"/>
                </a:solidFill>
                <a:latin typeface="CourierNewPSMT" panose="02070409020205090404"/>
              </a:rPr>
              <a:t>i</a:t>
            </a:r>
            <a:r>
              <a:rPr lang="en-US" altLang="zh-CN" sz="2000" dirty="0">
                <a:solidFill>
                  <a:srgbClr val="770028"/>
                </a:solidFill>
                <a:latin typeface="CourierNewPSMT" panose="02070409020205090404"/>
              </a:rPr>
              <a:t>&lt;3;</a:t>
            </a:r>
            <a:r>
              <a:rPr lang="zh-CN" altLang="en-US" sz="2000" dirty="0">
                <a:solidFill>
                  <a:srgbClr val="770028"/>
                </a:solidFill>
                <a:latin typeface="CourierNewPSMT" panose="02070409020205090404"/>
              </a:rPr>
              <a:t> </a:t>
            </a:r>
            <a:r>
              <a:rPr lang="en-US" altLang="zh-CN" sz="2000" dirty="0" err="1">
                <a:solidFill>
                  <a:srgbClr val="770028"/>
                </a:solidFill>
                <a:latin typeface="CourierNewPSMT" panose="02070409020205090404"/>
              </a:rPr>
              <a:t>i</a:t>
            </a:r>
            <a:r>
              <a:rPr lang="en-US" altLang="zh-CN" sz="2000" dirty="0">
                <a:solidFill>
                  <a:srgbClr val="770028"/>
                </a:solidFill>
                <a:latin typeface="CourierNewPSMT" panose="02070409020205090404"/>
              </a:rPr>
              <a:t>++)</a:t>
            </a:r>
            <a:r>
              <a:rPr lang="zh-CN" altLang="en-US" sz="2000" dirty="0">
                <a:solidFill>
                  <a:srgbClr val="770028"/>
                </a:solidFill>
                <a:latin typeface="CourierNewPSMT" panose="02070409020205090404"/>
              </a:rPr>
              <a:t> </a:t>
            </a:r>
            <a:r>
              <a:rPr lang="en-US" altLang="zh-CN" sz="2000" dirty="0">
                <a:solidFill>
                  <a:srgbClr val="770028"/>
                </a:solidFill>
                <a:latin typeface="CourierNewPSMT" panose="02070409020205090404"/>
              </a:rPr>
              <a:t>{</a:t>
            </a:r>
            <a:endParaRPr lang="en-US" altLang="zh-CN" sz="2000" dirty="0">
              <a:solidFill>
                <a:srgbClr val="770028"/>
              </a:solidFill>
              <a:latin typeface="CourierNewPSMT" panose="02070409020205090404"/>
            </a:endParaRPr>
          </a:p>
          <a:p>
            <a:pPr eaLnBrk="1" hangingPunct="1">
              <a:lnSpc>
                <a:spcPct val="80000"/>
              </a:lnSpc>
            </a:pPr>
            <a:r>
              <a:rPr lang="zh-CN" altLang="en-US" sz="2000" dirty="0">
                <a:solidFill>
                  <a:srgbClr val="770028"/>
                </a:solidFill>
                <a:latin typeface="CourierNewPSMT" panose="02070409020205090404"/>
              </a:rPr>
              <a:t>  </a:t>
            </a:r>
            <a:r>
              <a:rPr lang="en-US" altLang="zh-CN" sz="2000" dirty="0">
                <a:solidFill>
                  <a:srgbClr val="770028"/>
                </a:solidFill>
                <a:latin typeface="CourierNewPSMT" panose="02070409020205090404"/>
              </a:rPr>
              <a:t>for (int</a:t>
            </a:r>
            <a:r>
              <a:rPr lang="zh-CN" altLang="en-US" sz="2000" dirty="0">
                <a:solidFill>
                  <a:srgbClr val="770028"/>
                </a:solidFill>
                <a:latin typeface="CourierNewPSMT" panose="02070409020205090404"/>
              </a:rPr>
              <a:t> </a:t>
            </a:r>
            <a:r>
              <a:rPr lang="en-US" altLang="zh-CN" sz="2000" dirty="0">
                <a:solidFill>
                  <a:srgbClr val="770028"/>
                </a:solidFill>
                <a:latin typeface="CourierNewPSMT" panose="02070409020205090404"/>
              </a:rPr>
              <a:t>j=0; j&lt;=3-i;</a:t>
            </a:r>
            <a:r>
              <a:rPr lang="zh-CN" altLang="en-US" sz="2000" dirty="0">
                <a:solidFill>
                  <a:srgbClr val="770028"/>
                </a:solidFill>
                <a:latin typeface="CourierNewPSMT" panose="02070409020205090404"/>
              </a:rPr>
              <a:t> </a:t>
            </a:r>
            <a:r>
              <a:rPr lang="en-US" altLang="zh-CN" sz="2000" dirty="0" err="1">
                <a:solidFill>
                  <a:srgbClr val="770028"/>
                </a:solidFill>
                <a:latin typeface="CourierNewPSMT" panose="02070409020205090404"/>
              </a:rPr>
              <a:t>j++</a:t>
            </a:r>
            <a:r>
              <a:rPr lang="en-US" altLang="zh-CN" sz="2000" dirty="0">
                <a:solidFill>
                  <a:srgbClr val="770028"/>
                </a:solidFill>
                <a:latin typeface="CourierNewPSMT" panose="02070409020205090404"/>
              </a:rPr>
              <a:t>)</a:t>
            </a:r>
            <a:r>
              <a:rPr lang="zh-CN" altLang="en-US" sz="2000" dirty="0">
                <a:solidFill>
                  <a:srgbClr val="770028"/>
                </a:solidFill>
                <a:latin typeface="CourierNewPSMT" panose="02070409020205090404"/>
              </a:rPr>
              <a:t> </a:t>
            </a:r>
            <a:r>
              <a:rPr lang="en-US" altLang="zh-CN" sz="2000" dirty="0">
                <a:solidFill>
                  <a:srgbClr val="770028"/>
                </a:solidFill>
                <a:latin typeface="CourierNewPSMT" panose="02070409020205090404"/>
              </a:rPr>
              <a:t>{</a:t>
            </a:r>
            <a:endParaRPr lang="en-US" altLang="zh-CN" sz="2000" dirty="0">
              <a:solidFill>
                <a:srgbClr val="770028"/>
              </a:solidFill>
              <a:latin typeface="CourierNewPSMT" panose="02070409020205090404"/>
            </a:endParaRPr>
          </a:p>
          <a:p>
            <a:pPr eaLnBrk="1" hangingPunct="1">
              <a:lnSpc>
                <a:spcPct val="80000"/>
              </a:lnSpc>
            </a:pPr>
            <a:r>
              <a:rPr lang="zh-CN" altLang="en-US" sz="2000" dirty="0">
                <a:solidFill>
                  <a:srgbClr val="770028"/>
                </a:solidFill>
                <a:latin typeface="CourierNewPSMT" panose="02070409020205090404"/>
              </a:rPr>
              <a:t>    </a:t>
            </a:r>
            <a:r>
              <a:rPr lang="en-US" altLang="zh-CN" sz="2000" dirty="0">
                <a:solidFill>
                  <a:srgbClr val="770028"/>
                </a:solidFill>
                <a:latin typeface="CourierNewPSMT" panose="02070409020205090404"/>
              </a:rPr>
              <a:t>if (p[j]-&gt;height &lt;  p[j+1]-&gt;height)</a:t>
            </a:r>
            <a:r>
              <a:rPr lang="zh-CN" altLang="en-US" sz="2000" dirty="0">
                <a:solidFill>
                  <a:srgbClr val="770028"/>
                </a:solidFill>
                <a:latin typeface="CourierNewPSMT" panose="02070409020205090404"/>
              </a:rPr>
              <a:t> </a:t>
            </a:r>
            <a:r>
              <a:rPr lang="en-US" altLang="zh-CN" sz="2000" dirty="0">
                <a:solidFill>
                  <a:srgbClr val="770028"/>
                </a:solidFill>
                <a:latin typeface="CourierNewPSMT" panose="02070409020205090404"/>
              </a:rPr>
              <a:t>{</a:t>
            </a:r>
            <a:endParaRPr lang="en-US" altLang="zh-CN" sz="2000" dirty="0">
              <a:solidFill>
                <a:srgbClr val="770028"/>
              </a:solidFill>
              <a:latin typeface="CourierNewPSMT" panose="02070409020205090404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zh-CN" sz="2000" dirty="0">
                <a:solidFill>
                  <a:srgbClr val="770028"/>
                </a:solidFill>
                <a:latin typeface="CourierNewPSMT" panose="02070409020205090404"/>
              </a:rPr>
              <a:t>	struct</a:t>
            </a:r>
            <a:r>
              <a:rPr lang="zh-CN" altLang="en-US" sz="2000" dirty="0">
                <a:solidFill>
                  <a:srgbClr val="770028"/>
                </a:solidFill>
                <a:latin typeface="CourierNewPSMT" panose="02070409020205090404"/>
              </a:rPr>
              <a:t> </a:t>
            </a:r>
            <a:r>
              <a:rPr lang="en-US" altLang="zh-CN" sz="2000" dirty="0">
                <a:solidFill>
                  <a:srgbClr val="770028"/>
                </a:solidFill>
                <a:latin typeface="CourierNewPSMT" panose="02070409020205090404"/>
              </a:rPr>
              <a:t>student</a:t>
            </a:r>
            <a:r>
              <a:rPr lang="zh-CN" altLang="en-US" sz="2000" dirty="0">
                <a:solidFill>
                  <a:srgbClr val="770028"/>
                </a:solidFill>
                <a:latin typeface="CourierNewPSMT" panose="02070409020205090404"/>
              </a:rPr>
              <a:t> *</a:t>
            </a:r>
            <a:r>
              <a:rPr lang="en-US" altLang="zh-CN" sz="2000" dirty="0">
                <a:solidFill>
                  <a:srgbClr val="770028"/>
                </a:solidFill>
                <a:latin typeface="CourierNewPSMT" panose="02070409020205090404"/>
              </a:rPr>
              <a:t>q</a:t>
            </a:r>
            <a:r>
              <a:rPr lang="zh-CN" altLang="en-US" sz="2000" dirty="0">
                <a:solidFill>
                  <a:srgbClr val="770028"/>
                </a:solidFill>
                <a:latin typeface="CourierNewPSMT" panose="02070409020205090404"/>
              </a:rPr>
              <a:t> </a:t>
            </a:r>
            <a:r>
              <a:rPr lang="en-US" altLang="zh-CN" sz="2000" dirty="0">
                <a:solidFill>
                  <a:srgbClr val="770028"/>
                </a:solidFill>
                <a:latin typeface="CourierNewPSMT" panose="02070409020205090404"/>
              </a:rPr>
              <a:t>=</a:t>
            </a:r>
            <a:r>
              <a:rPr lang="zh-CN" altLang="en-US" sz="2000" dirty="0">
                <a:solidFill>
                  <a:srgbClr val="770028"/>
                </a:solidFill>
                <a:latin typeface="CourierNewPSMT" panose="02070409020205090404"/>
              </a:rPr>
              <a:t> </a:t>
            </a:r>
            <a:r>
              <a:rPr lang="en-US" altLang="zh-CN" sz="2000" dirty="0">
                <a:solidFill>
                  <a:srgbClr val="770028"/>
                </a:solidFill>
                <a:latin typeface="CourierNewPSMT" panose="02070409020205090404"/>
              </a:rPr>
              <a:t>p[j]; </a:t>
            </a:r>
            <a:endParaRPr lang="en-US" altLang="zh-CN" sz="2000" dirty="0">
              <a:solidFill>
                <a:srgbClr val="770028"/>
              </a:solidFill>
              <a:latin typeface="CourierNewPSMT" panose="02070409020205090404"/>
            </a:endParaRPr>
          </a:p>
          <a:p>
            <a:pPr eaLnBrk="1" hangingPunct="1">
              <a:lnSpc>
                <a:spcPct val="80000"/>
              </a:lnSpc>
            </a:pPr>
            <a:r>
              <a:rPr lang="zh-CN" altLang="en-US" sz="2000" dirty="0">
                <a:solidFill>
                  <a:srgbClr val="770028"/>
                </a:solidFill>
                <a:latin typeface="CourierNewPSMT" panose="02070409020205090404"/>
              </a:rPr>
              <a:t>      </a:t>
            </a:r>
            <a:r>
              <a:rPr lang="en-US" altLang="zh-CN" sz="2000" dirty="0">
                <a:solidFill>
                  <a:srgbClr val="770028"/>
                </a:solidFill>
                <a:latin typeface="CourierNewPSMT" panose="02070409020205090404"/>
              </a:rPr>
              <a:t>p[j]</a:t>
            </a:r>
            <a:r>
              <a:rPr lang="zh-CN" altLang="en-US" sz="2000" dirty="0">
                <a:solidFill>
                  <a:srgbClr val="770028"/>
                </a:solidFill>
                <a:latin typeface="CourierNewPSMT" panose="02070409020205090404"/>
              </a:rPr>
              <a:t> </a:t>
            </a:r>
            <a:r>
              <a:rPr lang="en-US" altLang="zh-CN" sz="2000" dirty="0">
                <a:solidFill>
                  <a:srgbClr val="770028"/>
                </a:solidFill>
                <a:latin typeface="CourierNewPSMT" panose="02070409020205090404"/>
              </a:rPr>
              <a:t>=</a:t>
            </a:r>
            <a:r>
              <a:rPr lang="zh-CN" altLang="en-US" sz="2000" dirty="0">
                <a:solidFill>
                  <a:srgbClr val="770028"/>
                </a:solidFill>
                <a:latin typeface="CourierNewPSMT" panose="02070409020205090404"/>
              </a:rPr>
              <a:t> </a:t>
            </a:r>
            <a:r>
              <a:rPr lang="en-US" altLang="zh-CN" sz="2000" dirty="0">
                <a:solidFill>
                  <a:srgbClr val="770028"/>
                </a:solidFill>
                <a:latin typeface="CourierNewPSMT" panose="02070409020205090404"/>
              </a:rPr>
              <a:t>p[j+1]; </a:t>
            </a:r>
            <a:endParaRPr lang="en-US" altLang="zh-CN" sz="2000" dirty="0">
              <a:solidFill>
                <a:srgbClr val="770028"/>
              </a:solidFill>
              <a:latin typeface="CourierNewPSMT" panose="02070409020205090404"/>
            </a:endParaRPr>
          </a:p>
          <a:p>
            <a:pPr eaLnBrk="1" hangingPunct="1">
              <a:lnSpc>
                <a:spcPct val="80000"/>
              </a:lnSpc>
            </a:pPr>
            <a:r>
              <a:rPr lang="zh-CN" altLang="en-US" sz="2000" dirty="0">
                <a:solidFill>
                  <a:srgbClr val="770028"/>
                </a:solidFill>
                <a:latin typeface="CourierNewPSMT" panose="02070409020205090404"/>
              </a:rPr>
              <a:t>      </a:t>
            </a:r>
            <a:r>
              <a:rPr lang="en-US" altLang="zh-CN" sz="2000" dirty="0">
                <a:solidFill>
                  <a:srgbClr val="770028"/>
                </a:solidFill>
                <a:latin typeface="CourierNewPSMT" panose="02070409020205090404"/>
              </a:rPr>
              <a:t>p[j+1]</a:t>
            </a:r>
            <a:r>
              <a:rPr lang="zh-CN" altLang="en-US" sz="2000" dirty="0">
                <a:solidFill>
                  <a:srgbClr val="770028"/>
                </a:solidFill>
                <a:latin typeface="CourierNewPSMT" panose="02070409020205090404"/>
              </a:rPr>
              <a:t> </a:t>
            </a:r>
            <a:r>
              <a:rPr lang="en-US" altLang="zh-CN" sz="2000" dirty="0">
                <a:solidFill>
                  <a:srgbClr val="770028"/>
                </a:solidFill>
                <a:latin typeface="CourierNewPSMT" panose="02070409020205090404"/>
              </a:rPr>
              <a:t>=</a:t>
            </a:r>
            <a:r>
              <a:rPr lang="zh-CN" altLang="en-US" sz="2000" dirty="0">
                <a:solidFill>
                  <a:srgbClr val="770028"/>
                </a:solidFill>
                <a:latin typeface="CourierNewPSMT" panose="02070409020205090404"/>
              </a:rPr>
              <a:t> </a:t>
            </a:r>
            <a:r>
              <a:rPr lang="en-US" altLang="zh-CN" sz="2000" dirty="0">
                <a:solidFill>
                  <a:srgbClr val="770028"/>
                </a:solidFill>
                <a:latin typeface="CourierNewPSMT" panose="02070409020205090404"/>
              </a:rPr>
              <a:t>q;</a:t>
            </a:r>
            <a:endParaRPr lang="en-US" altLang="zh-CN" sz="2000" dirty="0">
              <a:solidFill>
                <a:srgbClr val="770028"/>
              </a:solidFill>
              <a:latin typeface="CourierNewPSMT" panose="02070409020205090404"/>
            </a:endParaRPr>
          </a:p>
          <a:p>
            <a:pPr eaLnBrk="1" hangingPunct="1">
              <a:lnSpc>
                <a:spcPct val="80000"/>
              </a:lnSpc>
            </a:pPr>
            <a:r>
              <a:rPr lang="zh-CN" altLang="en-US" sz="2000" dirty="0">
                <a:solidFill>
                  <a:srgbClr val="770028"/>
                </a:solidFill>
                <a:latin typeface="CourierNewPSMT" panose="02070409020205090404"/>
              </a:rPr>
              <a:t>    </a:t>
            </a:r>
            <a:r>
              <a:rPr lang="en-US" altLang="zh-CN" sz="2000" dirty="0">
                <a:solidFill>
                  <a:srgbClr val="770028"/>
                </a:solidFill>
                <a:latin typeface="CourierNewPSMT" panose="02070409020205090404"/>
              </a:rPr>
              <a:t>}</a:t>
            </a:r>
            <a:endParaRPr lang="en-US" altLang="zh-CN" sz="2000" dirty="0">
              <a:solidFill>
                <a:srgbClr val="770028"/>
              </a:solidFill>
              <a:latin typeface="CourierNewPSMT" panose="02070409020205090404"/>
            </a:endParaRPr>
          </a:p>
          <a:p>
            <a:pPr eaLnBrk="1" hangingPunct="1">
              <a:lnSpc>
                <a:spcPct val="80000"/>
              </a:lnSpc>
            </a:pPr>
            <a:r>
              <a:rPr lang="zh-CN" altLang="en-US" sz="2000" dirty="0">
                <a:solidFill>
                  <a:srgbClr val="770028"/>
                </a:solidFill>
                <a:latin typeface="CourierNewPSMT" panose="02070409020205090404"/>
              </a:rPr>
              <a:t>  </a:t>
            </a:r>
            <a:r>
              <a:rPr lang="en-US" altLang="zh-CN" sz="2000" dirty="0">
                <a:solidFill>
                  <a:srgbClr val="770028"/>
                </a:solidFill>
                <a:latin typeface="CourierNewPSMT" panose="02070409020205090404"/>
              </a:rPr>
              <a:t>}</a:t>
            </a:r>
            <a:endParaRPr lang="en-US" altLang="zh-CN" sz="2000" dirty="0">
              <a:solidFill>
                <a:srgbClr val="770028"/>
              </a:solidFill>
              <a:latin typeface="CourierNewPSMT" panose="02070409020205090404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zh-CN" sz="2000" dirty="0">
                <a:solidFill>
                  <a:srgbClr val="770028"/>
                </a:solidFill>
                <a:latin typeface="CourierNewPSMT" panose="02070409020205090404"/>
              </a:rPr>
              <a:t>}</a:t>
            </a:r>
            <a:endParaRPr lang="en-US" altLang="en-US" sz="2000" dirty="0">
              <a:solidFill>
                <a:srgbClr val="770028"/>
              </a:solidFill>
              <a:latin typeface="CourierNewPSMT" panose="020704090202050904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Ctr="0" compatLnSpc="1"/>
          <a:lstStyle/>
          <a:p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使用指针数组处理结构 </a:t>
            </a: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(2)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  <a:ea typeface="华文中宋" panose="02010600040101010101" pitchFamily="2" charset="-122"/>
            </a:endParaRPr>
          </a:p>
        </p:txBody>
      </p:sp>
      <p:sp>
        <p:nvSpPr>
          <p:cNvPr id="6041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800" dirty="0"/>
              <a:t>p[ ]</a:t>
            </a:r>
            <a:r>
              <a:rPr lang="zh-CN" altLang="en-US" sz="2800" dirty="0"/>
              <a:t>是指向 </a:t>
            </a:r>
            <a:r>
              <a:rPr lang="en-US" altLang="zh-CN" sz="2800" dirty="0"/>
              <a:t>student </a:t>
            </a:r>
            <a:r>
              <a:rPr lang="zh-CN" altLang="en-US" sz="2800" dirty="0"/>
              <a:t>结构的</a:t>
            </a:r>
            <a:r>
              <a:rPr lang="zh-CN" altLang="en-US" sz="2800" dirty="0">
                <a:solidFill>
                  <a:srgbClr val="0000CC"/>
                </a:solidFill>
              </a:rPr>
              <a:t>指针数组</a:t>
            </a:r>
            <a:r>
              <a:rPr lang="zh-CN" altLang="en-US" sz="2800" dirty="0"/>
              <a:t>，经初始化赋入的是 </a:t>
            </a:r>
            <a:r>
              <a:rPr lang="en-US" altLang="zh-CN" sz="2800" dirty="0"/>
              <a:t>room </a:t>
            </a:r>
            <a:r>
              <a:rPr lang="zh-CN" altLang="en-US" sz="2800" dirty="0"/>
              <a:t>数组中元素所在的地址</a:t>
            </a:r>
            <a:endParaRPr lang="en-US" altLang="en-US" sz="2800" dirty="0">
              <a:ea typeface="华文中宋" panose="02010600040101010101" pitchFamily="2" charset="-122"/>
            </a:endParaRPr>
          </a:p>
        </p:txBody>
      </p:sp>
      <p:grpSp>
        <p:nvGrpSpPr>
          <p:cNvPr id="60421" name="Group 4"/>
          <p:cNvGrpSpPr/>
          <p:nvPr/>
        </p:nvGrpSpPr>
        <p:grpSpPr bwMode="auto">
          <a:xfrm>
            <a:off x="1906588" y="3217863"/>
            <a:ext cx="1512887" cy="1762125"/>
            <a:chOff x="929" y="1207"/>
            <a:chExt cx="953" cy="1316"/>
          </a:xfrm>
        </p:grpSpPr>
        <p:sp>
          <p:nvSpPr>
            <p:cNvPr id="38" name="Rectangle 5"/>
            <p:cNvSpPr>
              <a:spLocks noChangeArrowheads="1"/>
            </p:cNvSpPr>
            <p:nvPr/>
          </p:nvSpPr>
          <p:spPr bwMode="auto">
            <a:xfrm>
              <a:off x="929" y="1207"/>
              <a:ext cx="953" cy="1316"/>
            </a:xfrm>
            <a:prstGeom prst="rect">
              <a:avLst/>
            </a:prstGeom>
            <a:noFill/>
            <a:ln w="25400" cap="sq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70195"/>
                    </a:srgb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en-US">
                <a:latin typeface="Garamond" panose="02020404030301010803" pitchFamily="18" charset="0"/>
                <a:ea typeface="宋体" charset="0"/>
                <a:cs typeface="宋体" charset="0"/>
              </a:endParaRPr>
            </a:p>
          </p:txBody>
        </p:sp>
        <p:sp>
          <p:nvSpPr>
            <p:cNvPr id="39" name="Text Box 6"/>
            <p:cNvSpPr txBox="1">
              <a:spLocks noChangeArrowheads="1"/>
            </p:cNvSpPr>
            <p:nvPr/>
          </p:nvSpPr>
          <p:spPr bwMode="auto">
            <a:xfrm>
              <a:off x="1156" y="1328"/>
              <a:ext cx="590" cy="3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70195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charset="0"/>
                  <a:cs typeface="宋体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charset="0"/>
                </a:defRPr>
              </a:lvl9pPr>
            </a:lstStyle>
            <a:p>
              <a:pPr eaLnBrk="1" hangingPunct="1">
                <a:defRPr/>
              </a:pPr>
              <a:r>
                <a:rPr kumimoji="1" lang="en-US" altLang="zh-CN" sz="2400" dirty="0">
                  <a:latin typeface="Times New Roman" panose="02020503050405090304" pitchFamily="18" charset="0"/>
                  <a:ea typeface="黑体" charset="0"/>
                  <a:cs typeface="黑体" charset="0"/>
                </a:rPr>
                <a:t>p[0]</a:t>
              </a:r>
              <a:endParaRPr kumimoji="1" lang="en-US" altLang="zh-CN" sz="2400" dirty="0">
                <a:latin typeface="Times New Roman" panose="02020503050405090304" pitchFamily="18" charset="0"/>
                <a:ea typeface="黑体" charset="0"/>
                <a:cs typeface="黑体" charset="0"/>
              </a:endParaRPr>
            </a:p>
          </p:txBody>
        </p:sp>
        <p:sp>
          <p:nvSpPr>
            <p:cNvPr id="40" name="Text Box 7"/>
            <p:cNvSpPr txBox="1">
              <a:spLocks noChangeArrowheads="1"/>
            </p:cNvSpPr>
            <p:nvPr/>
          </p:nvSpPr>
          <p:spPr bwMode="auto">
            <a:xfrm>
              <a:off x="1156" y="1585"/>
              <a:ext cx="590" cy="3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70195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charset="0"/>
                  <a:cs typeface="宋体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charset="0"/>
                </a:defRPr>
              </a:lvl9pPr>
            </a:lstStyle>
            <a:p>
              <a:pPr eaLnBrk="1" hangingPunct="1">
                <a:defRPr/>
              </a:pPr>
              <a:r>
                <a:rPr kumimoji="1" lang="en-US" altLang="zh-CN" sz="2400" dirty="0">
                  <a:latin typeface="Times New Roman" panose="02020503050405090304" pitchFamily="18" charset="0"/>
                  <a:ea typeface="黑体" charset="0"/>
                  <a:cs typeface="黑体" charset="0"/>
                </a:rPr>
                <a:t>p[1]</a:t>
              </a:r>
              <a:endParaRPr kumimoji="1" lang="en-US" altLang="zh-CN" sz="2400" dirty="0">
                <a:latin typeface="Times New Roman" panose="02020503050405090304" pitchFamily="18" charset="0"/>
                <a:ea typeface="黑体" charset="0"/>
                <a:cs typeface="黑体" charset="0"/>
              </a:endParaRPr>
            </a:p>
          </p:txBody>
        </p:sp>
        <p:sp>
          <p:nvSpPr>
            <p:cNvPr id="41" name="Text Box 8"/>
            <p:cNvSpPr txBox="1">
              <a:spLocks noChangeArrowheads="1"/>
            </p:cNvSpPr>
            <p:nvPr/>
          </p:nvSpPr>
          <p:spPr bwMode="auto">
            <a:xfrm>
              <a:off x="1156" y="1874"/>
              <a:ext cx="590" cy="3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70195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charset="0"/>
                  <a:cs typeface="宋体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charset="0"/>
                </a:defRPr>
              </a:lvl9pPr>
            </a:lstStyle>
            <a:p>
              <a:pPr eaLnBrk="1" hangingPunct="1">
                <a:defRPr/>
              </a:pPr>
              <a:r>
                <a:rPr kumimoji="1" lang="en-US" altLang="zh-CN" sz="2400" dirty="0">
                  <a:latin typeface="Times New Roman" panose="02020503050405090304" pitchFamily="18" charset="0"/>
                  <a:ea typeface="黑体" charset="0"/>
                  <a:cs typeface="黑体" charset="0"/>
                </a:rPr>
                <a:t>p[2]</a:t>
              </a:r>
              <a:endParaRPr kumimoji="1" lang="en-US" altLang="zh-CN" sz="2400" dirty="0">
                <a:latin typeface="Times New Roman" panose="02020503050405090304" pitchFamily="18" charset="0"/>
                <a:ea typeface="黑体" charset="0"/>
                <a:cs typeface="黑体" charset="0"/>
              </a:endParaRPr>
            </a:p>
          </p:txBody>
        </p:sp>
        <p:sp>
          <p:nvSpPr>
            <p:cNvPr id="42" name="Text Box 9"/>
            <p:cNvSpPr txBox="1">
              <a:spLocks noChangeArrowheads="1"/>
            </p:cNvSpPr>
            <p:nvPr/>
          </p:nvSpPr>
          <p:spPr bwMode="auto">
            <a:xfrm>
              <a:off x="1156" y="2163"/>
              <a:ext cx="590" cy="3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70195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charset="0"/>
                  <a:cs typeface="宋体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Garamond" panose="02020404030301010803" pitchFamily="18" charset="0"/>
                  <a:ea typeface="宋体" charset="0"/>
                </a:defRPr>
              </a:lvl9pPr>
            </a:lstStyle>
            <a:p>
              <a:pPr eaLnBrk="1" hangingPunct="1">
                <a:defRPr/>
              </a:pPr>
              <a:r>
                <a:rPr kumimoji="1" lang="en-US" altLang="zh-CN" sz="2400" dirty="0">
                  <a:latin typeface="Times New Roman" panose="02020503050405090304" pitchFamily="18" charset="0"/>
                  <a:ea typeface="黑体" charset="0"/>
                  <a:cs typeface="黑体" charset="0"/>
                </a:rPr>
                <a:t>p[3]</a:t>
              </a:r>
              <a:endParaRPr kumimoji="1" lang="en-US" altLang="zh-CN" sz="2400" dirty="0">
                <a:latin typeface="Times New Roman" panose="02020503050405090304" pitchFamily="18" charset="0"/>
                <a:ea typeface="黑体" charset="0"/>
                <a:cs typeface="黑体" charset="0"/>
              </a:endParaRPr>
            </a:p>
          </p:txBody>
        </p:sp>
      </p:grpSp>
      <p:grpSp>
        <p:nvGrpSpPr>
          <p:cNvPr id="60422" name="Group 15"/>
          <p:cNvGrpSpPr/>
          <p:nvPr/>
        </p:nvGrpSpPr>
        <p:grpSpPr bwMode="auto">
          <a:xfrm>
            <a:off x="2987675" y="3141663"/>
            <a:ext cx="2520950" cy="441325"/>
            <a:chOff x="1610" y="1150"/>
            <a:chExt cx="1588" cy="330"/>
          </a:xfrm>
        </p:grpSpPr>
        <p:sp>
          <p:nvSpPr>
            <p:cNvPr id="31" name="Line 16"/>
            <p:cNvSpPr>
              <a:spLocks noChangeShapeType="1"/>
            </p:cNvSpPr>
            <p:nvPr/>
          </p:nvSpPr>
          <p:spPr bwMode="auto">
            <a:xfrm>
              <a:off x="1610" y="1480"/>
              <a:ext cx="544" cy="0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endParaRPr lang="zh-CN" altLang="en-US">
                <a:latin typeface="Garamond" panose="02020404030301010803" pitchFamily="18" charset="0"/>
                <a:ea typeface="宋体" charset="0"/>
                <a:cs typeface="宋体" charset="0"/>
              </a:endParaRPr>
            </a:p>
          </p:txBody>
        </p:sp>
        <p:sp>
          <p:nvSpPr>
            <p:cNvPr id="32" name="Line 17"/>
            <p:cNvSpPr>
              <a:spLocks noChangeShapeType="1"/>
            </p:cNvSpPr>
            <p:nvPr/>
          </p:nvSpPr>
          <p:spPr bwMode="auto">
            <a:xfrm flipH="1" flipV="1">
              <a:off x="2153" y="1158"/>
              <a:ext cx="1" cy="322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endParaRPr lang="zh-CN" altLang="en-US">
                <a:latin typeface="Garamond" panose="02020404030301010803" pitchFamily="18" charset="0"/>
                <a:ea typeface="宋体" charset="0"/>
                <a:cs typeface="宋体" charset="0"/>
              </a:endParaRPr>
            </a:p>
          </p:txBody>
        </p:sp>
        <p:sp>
          <p:nvSpPr>
            <p:cNvPr id="33" name="Line 18"/>
            <p:cNvSpPr>
              <a:spLocks noChangeShapeType="1"/>
            </p:cNvSpPr>
            <p:nvPr/>
          </p:nvSpPr>
          <p:spPr bwMode="auto">
            <a:xfrm>
              <a:off x="2154" y="1150"/>
              <a:ext cx="1044" cy="0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endParaRPr lang="zh-CN" altLang="en-US">
                <a:latin typeface="Garamond" panose="02020404030301010803" pitchFamily="18" charset="0"/>
                <a:ea typeface="宋体" charset="0"/>
                <a:cs typeface="宋体" charset="0"/>
              </a:endParaRPr>
            </a:p>
          </p:txBody>
        </p:sp>
      </p:grpSp>
      <p:grpSp>
        <p:nvGrpSpPr>
          <p:cNvPr id="60423" name="Group 19"/>
          <p:cNvGrpSpPr/>
          <p:nvPr/>
        </p:nvGrpSpPr>
        <p:grpSpPr bwMode="auto">
          <a:xfrm>
            <a:off x="2987675" y="1601788"/>
            <a:ext cx="2520950" cy="2332037"/>
            <a:chOff x="1882" y="1480"/>
            <a:chExt cx="1588" cy="2330544"/>
          </a:xfrm>
        </p:grpSpPr>
        <p:sp>
          <p:nvSpPr>
            <p:cNvPr id="28" name="Line 20"/>
            <p:cNvSpPr>
              <a:spLocks noChangeShapeType="1"/>
            </p:cNvSpPr>
            <p:nvPr/>
          </p:nvSpPr>
          <p:spPr bwMode="auto">
            <a:xfrm>
              <a:off x="1882" y="2332024"/>
              <a:ext cx="862" cy="0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endParaRPr lang="zh-CN" altLang="en-US">
                <a:latin typeface="Garamond" panose="02020404030301010803" pitchFamily="18" charset="0"/>
                <a:ea typeface="宋体" charset="0"/>
                <a:cs typeface="宋体" charset="0"/>
              </a:endParaRPr>
            </a:p>
          </p:txBody>
        </p:sp>
        <p:sp>
          <p:nvSpPr>
            <p:cNvPr id="29" name="Line 21"/>
            <p:cNvSpPr>
              <a:spLocks noChangeShapeType="1"/>
            </p:cNvSpPr>
            <p:nvPr/>
          </p:nvSpPr>
          <p:spPr bwMode="auto">
            <a:xfrm flipH="1" flipV="1">
              <a:off x="2472" y="1480"/>
              <a:ext cx="2" cy="0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endParaRPr lang="zh-CN" altLang="en-US">
                <a:latin typeface="Garamond" panose="02020404030301010803" pitchFamily="18" charset="0"/>
                <a:ea typeface="宋体" charset="0"/>
                <a:cs typeface="宋体" charset="0"/>
              </a:endParaRPr>
            </a:p>
          </p:txBody>
        </p:sp>
        <p:sp>
          <p:nvSpPr>
            <p:cNvPr id="30" name="Line 22"/>
            <p:cNvSpPr>
              <a:spLocks noChangeShapeType="1"/>
            </p:cNvSpPr>
            <p:nvPr/>
          </p:nvSpPr>
          <p:spPr bwMode="auto">
            <a:xfrm>
              <a:off x="2744" y="2332024"/>
              <a:ext cx="726" cy="0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endParaRPr lang="zh-CN" altLang="en-US">
                <a:latin typeface="Garamond" panose="02020404030301010803" pitchFamily="18" charset="0"/>
                <a:ea typeface="宋体" charset="0"/>
                <a:cs typeface="宋体" charset="0"/>
              </a:endParaRPr>
            </a:p>
          </p:txBody>
        </p:sp>
      </p:grpSp>
      <p:grpSp>
        <p:nvGrpSpPr>
          <p:cNvPr id="60424" name="Group 46"/>
          <p:cNvGrpSpPr/>
          <p:nvPr/>
        </p:nvGrpSpPr>
        <p:grpSpPr bwMode="auto">
          <a:xfrm>
            <a:off x="2987675" y="4724400"/>
            <a:ext cx="2520950" cy="936625"/>
            <a:chOff x="2555875" y="4725144"/>
            <a:chExt cx="2520950" cy="935932"/>
          </a:xfrm>
        </p:grpSpPr>
        <p:sp>
          <p:nvSpPr>
            <p:cNvPr id="25" name="Line 24"/>
            <p:cNvSpPr>
              <a:spLocks noChangeShapeType="1"/>
            </p:cNvSpPr>
            <p:nvPr/>
          </p:nvSpPr>
          <p:spPr bwMode="auto">
            <a:xfrm>
              <a:off x="2555875" y="4725144"/>
              <a:ext cx="863600" cy="0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endParaRPr lang="zh-CN" altLang="en-US">
                <a:latin typeface="Garamond" panose="02020404030301010803" pitchFamily="18" charset="0"/>
                <a:ea typeface="宋体" charset="0"/>
                <a:cs typeface="宋体" charset="0"/>
              </a:endParaRPr>
            </a:p>
          </p:txBody>
        </p:sp>
        <p:sp>
          <p:nvSpPr>
            <p:cNvPr id="27" name="Line 26"/>
            <p:cNvSpPr>
              <a:spLocks noChangeShapeType="1"/>
            </p:cNvSpPr>
            <p:nvPr/>
          </p:nvSpPr>
          <p:spPr bwMode="auto">
            <a:xfrm>
              <a:off x="3419475" y="5661076"/>
              <a:ext cx="1657350" cy="0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endParaRPr lang="zh-CN" altLang="en-US">
                <a:latin typeface="Garamond" panose="02020404030301010803" pitchFamily="18" charset="0"/>
                <a:ea typeface="宋体" charset="0"/>
                <a:cs typeface="宋体" charset="0"/>
              </a:endParaRPr>
            </a:p>
          </p:txBody>
        </p:sp>
      </p:grpSp>
      <p:grpSp>
        <p:nvGrpSpPr>
          <p:cNvPr id="60425" name="Group 27"/>
          <p:cNvGrpSpPr/>
          <p:nvPr/>
        </p:nvGrpSpPr>
        <p:grpSpPr bwMode="auto">
          <a:xfrm>
            <a:off x="2987675" y="4311650"/>
            <a:ext cx="2520950" cy="485775"/>
            <a:chOff x="1610" y="2024"/>
            <a:chExt cx="1588" cy="362"/>
          </a:xfrm>
        </p:grpSpPr>
        <p:sp>
          <p:nvSpPr>
            <p:cNvPr id="22" name="Line 28"/>
            <p:cNvSpPr>
              <a:spLocks noChangeShapeType="1"/>
            </p:cNvSpPr>
            <p:nvPr/>
          </p:nvSpPr>
          <p:spPr bwMode="auto">
            <a:xfrm>
              <a:off x="1610" y="2024"/>
              <a:ext cx="862" cy="0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head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endParaRPr lang="zh-CN" altLang="en-US">
                <a:latin typeface="Garamond" panose="02020404030301010803" pitchFamily="18" charset="0"/>
                <a:ea typeface="宋体" charset="0"/>
                <a:cs typeface="宋体" charset="0"/>
              </a:endParaRPr>
            </a:p>
          </p:txBody>
        </p:sp>
        <p:sp>
          <p:nvSpPr>
            <p:cNvPr id="23" name="Line 29"/>
            <p:cNvSpPr>
              <a:spLocks noChangeShapeType="1"/>
            </p:cNvSpPr>
            <p:nvPr/>
          </p:nvSpPr>
          <p:spPr bwMode="auto">
            <a:xfrm flipH="1" flipV="1">
              <a:off x="2474" y="2026"/>
              <a:ext cx="0" cy="360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endParaRPr lang="zh-CN" altLang="en-US">
                <a:latin typeface="Garamond" panose="02020404030301010803" pitchFamily="18" charset="0"/>
                <a:ea typeface="宋体" charset="0"/>
                <a:cs typeface="宋体" charset="0"/>
              </a:endParaRPr>
            </a:p>
          </p:txBody>
        </p:sp>
        <p:sp>
          <p:nvSpPr>
            <p:cNvPr id="24" name="Line 30"/>
            <p:cNvSpPr>
              <a:spLocks noChangeShapeType="1"/>
            </p:cNvSpPr>
            <p:nvPr/>
          </p:nvSpPr>
          <p:spPr bwMode="auto">
            <a:xfrm>
              <a:off x="2472" y="2386"/>
              <a:ext cx="726" cy="0"/>
            </a:xfrm>
            <a:prstGeom prst="line">
              <a:avLst/>
            </a:prstGeom>
            <a:noFill/>
            <a:ln w="25400" cap="sq">
              <a:solidFill>
                <a:schemeClr val="tx2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endParaRPr lang="zh-CN" altLang="en-US">
                <a:latin typeface="Garamond" panose="02020404030301010803" pitchFamily="18" charset="0"/>
                <a:ea typeface="宋体" charset="0"/>
                <a:cs typeface="宋体" charset="0"/>
              </a:endParaRPr>
            </a:p>
          </p:txBody>
        </p:sp>
      </p:grpSp>
      <p:sp>
        <p:nvSpPr>
          <p:cNvPr id="13" name="Text Box 31"/>
          <p:cNvSpPr txBox="1">
            <a:spLocks noChangeArrowheads="1"/>
          </p:cNvSpPr>
          <p:nvPr/>
        </p:nvSpPr>
        <p:spPr bwMode="auto">
          <a:xfrm>
            <a:off x="3852863" y="2636838"/>
            <a:ext cx="16557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charset="0"/>
              </a:defRPr>
            </a:lvl9pPr>
          </a:lstStyle>
          <a:p>
            <a:pPr eaLnBrk="1" hangingPunct="1">
              <a:defRPr/>
            </a:pPr>
            <a:r>
              <a:rPr kumimoji="1" lang="en-US" altLang="zh-CN" sz="2400">
                <a:latin typeface="Times New Roman" panose="02020503050405090304" pitchFamily="18" charset="0"/>
                <a:ea typeface="黑体" charset="0"/>
                <a:cs typeface="黑体" charset="0"/>
              </a:rPr>
              <a:t>&amp;Room[0]</a:t>
            </a:r>
            <a:endParaRPr kumimoji="1" lang="en-US" altLang="zh-CN" sz="2400">
              <a:latin typeface="Times New Roman" panose="02020503050405090304" pitchFamily="18" charset="0"/>
              <a:ea typeface="黑体" charset="0"/>
              <a:cs typeface="黑体" charset="0"/>
            </a:endParaRPr>
          </a:p>
        </p:txBody>
      </p:sp>
      <p:sp>
        <p:nvSpPr>
          <p:cNvPr id="14" name="Text Box 32"/>
          <p:cNvSpPr txBox="1">
            <a:spLocks noChangeArrowheads="1"/>
          </p:cNvSpPr>
          <p:nvPr/>
        </p:nvSpPr>
        <p:spPr bwMode="auto">
          <a:xfrm>
            <a:off x="3852863" y="3476625"/>
            <a:ext cx="16557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charset="0"/>
              </a:defRPr>
            </a:lvl9pPr>
          </a:lstStyle>
          <a:p>
            <a:pPr eaLnBrk="1" hangingPunct="1">
              <a:defRPr/>
            </a:pPr>
            <a:r>
              <a:rPr kumimoji="1" lang="en-US" altLang="zh-CN" sz="2400" dirty="0">
                <a:latin typeface="Times New Roman" panose="02020503050405090304" pitchFamily="18" charset="0"/>
                <a:ea typeface="黑体" charset="0"/>
                <a:cs typeface="黑体" charset="0"/>
              </a:rPr>
              <a:t>&amp;Room[1]</a:t>
            </a:r>
            <a:endParaRPr kumimoji="1" lang="en-US" altLang="zh-CN" sz="2400" dirty="0">
              <a:latin typeface="Times New Roman" panose="02020503050405090304" pitchFamily="18" charset="0"/>
              <a:ea typeface="黑体" charset="0"/>
              <a:cs typeface="黑体" charset="0"/>
            </a:endParaRPr>
          </a:p>
        </p:txBody>
      </p:sp>
      <p:sp>
        <p:nvSpPr>
          <p:cNvPr id="15" name="Text Box 33"/>
          <p:cNvSpPr txBox="1">
            <a:spLocks noChangeArrowheads="1"/>
          </p:cNvSpPr>
          <p:nvPr/>
        </p:nvSpPr>
        <p:spPr bwMode="auto">
          <a:xfrm>
            <a:off x="3852863" y="4797425"/>
            <a:ext cx="16557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charset="0"/>
              </a:defRPr>
            </a:lvl9pPr>
          </a:lstStyle>
          <a:p>
            <a:pPr eaLnBrk="1" hangingPunct="1">
              <a:defRPr/>
            </a:pPr>
            <a:r>
              <a:rPr kumimoji="1" lang="en-US" altLang="zh-CN" sz="2400">
                <a:latin typeface="Times New Roman" panose="02020503050405090304" pitchFamily="18" charset="0"/>
                <a:ea typeface="黑体" charset="0"/>
                <a:cs typeface="黑体" charset="0"/>
              </a:rPr>
              <a:t>&amp;Room[2]</a:t>
            </a:r>
            <a:endParaRPr kumimoji="1" lang="en-US" altLang="zh-CN" sz="2400">
              <a:latin typeface="Times New Roman" panose="02020503050405090304" pitchFamily="18" charset="0"/>
              <a:ea typeface="黑体" charset="0"/>
              <a:cs typeface="黑体" charset="0"/>
            </a:endParaRPr>
          </a:p>
        </p:txBody>
      </p:sp>
      <p:sp>
        <p:nvSpPr>
          <p:cNvPr id="16" name="Text Box 34"/>
          <p:cNvSpPr txBox="1">
            <a:spLocks noChangeArrowheads="1"/>
          </p:cNvSpPr>
          <p:nvPr/>
        </p:nvSpPr>
        <p:spPr bwMode="auto">
          <a:xfrm>
            <a:off x="3852863" y="5708650"/>
            <a:ext cx="16557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charset="0"/>
              </a:defRPr>
            </a:lvl9pPr>
          </a:lstStyle>
          <a:p>
            <a:pPr eaLnBrk="1" hangingPunct="1">
              <a:defRPr/>
            </a:pPr>
            <a:r>
              <a:rPr kumimoji="1" lang="en-US" altLang="zh-CN" sz="2400">
                <a:latin typeface="Times New Roman" panose="02020503050405090304" pitchFamily="18" charset="0"/>
                <a:ea typeface="黑体" charset="0"/>
                <a:cs typeface="黑体" charset="0"/>
              </a:rPr>
              <a:t>&amp;Room[3]</a:t>
            </a:r>
            <a:endParaRPr kumimoji="1" lang="en-US" altLang="zh-CN" sz="2400">
              <a:latin typeface="Times New Roman" panose="02020503050405090304" pitchFamily="18" charset="0"/>
              <a:ea typeface="黑体" charset="0"/>
              <a:cs typeface="黑体" charset="0"/>
            </a:endParaRPr>
          </a:p>
        </p:txBody>
      </p:sp>
      <p:grpSp>
        <p:nvGrpSpPr>
          <p:cNvPr id="60430" name="Group 45"/>
          <p:cNvGrpSpPr/>
          <p:nvPr/>
        </p:nvGrpSpPr>
        <p:grpSpPr bwMode="auto">
          <a:xfrm>
            <a:off x="5508625" y="2671763"/>
            <a:ext cx="2519363" cy="3417887"/>
            <a:chOff x="5076824" y="2671471"/>
            <a:chExt cx="2519512" cy="3418651"/>
          </a:xfrm>
        </p:grpSpPr>
        <p:grpSp>
          <p:nvGrpSpPr>
            <p:cNvPr id="60435" name="Group 10"/>
            <p:cNvGrpSpPr/>
            <p:nvPr/>
          </p:nvGrpSpPr>
          <p:grpSpPr bwMode="auto">
            <a:xfrm>
              <a:off x="5076825" y="2671471"/>
              <a:ext cx="2519511" cy="3418651"/>
              <a:chOff x="3198" y="270"/>
              <a:chExt cx="953" cy="3748"/>
            </a:xfrm>
          </p:grpSpPr>
          <p:sp>
            <p:nvSpPr>
              <p:cNvPr id="34" name="Rectangle 11"/>
              <p:cNvSpPr>
                <a:spLocks noChangeArrowheads="1"/>
              </p:cNvSpPr>
              <p:nvPr/>
            </p:nvSpPr>
            <p:spPr bwMode="auto">
              <a:xfrm>
                <a:off x="3198" y="270"/>
                <a:ext cx="953" cy="937"/>
              </a:xfrm>
              <a:prstGeom prst="rect">
                <a:avLst/>
              </a:prstGeom>
              <a:noFill/>
              <a:ln w="25400" cap="sq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>
                        <a:alpha val="70195"/>
                      </a:srgbClr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>
                  <a:defRPr/>
                </a:pPr>
                <a:endParaRPr lang="en-US">
                  <a:latin typeface="Garamond" panose="02020404030301010803" pitchFamily="18" charset="0"/>
                  <a:ea typeface="宋体" charset="0"/>
                  <a:cs typeface="宋体" charset="0"/>
                </a:endParaRPr>
              </a:p>
            </p:txBody>
          </p:sp>
          <p:sp>
            <p:nvSpPr>
              <p:cNvPr id="35" name="Rectangle 12"/>
              <p:cNvSpPr>
                <a:spLocks noChangeArrowheads="1"/>
              </p:cNvSpPr>
              <p:nvPr/>
            </p:nvSpPr>
            <p:spPr bwMode="auto">
              <a:xfrm>
                <a:off x="3198" y="1207"/>
                <a:ext cx="953" cy="937"/>
              </a:xfrm>
              <a:prstGeom prst="rect">
                <a:avLst/>
              </a:prstGeom>
              <a:noFill/>
              <a:ln w="25400" cap="sq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>
                        <a:alpha val="70195"/>
                      </a:srgbClr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>
                  <a:defRPr/>
                </a:pPr>
                <a:endParaRPr lang="en-US">
                  <a:latin typeface="Garamond" panose="02020404030301010803" pitchFamily="18" charset="0"/>
                  <a:ea typeface="宋体" charset="0"/>
                  <a:cs typeface="宋体" charset="0"/>
                </a:endParaRPr>
              </a:p>
            </p:txBody>
          </p:sp>
          <p:sp>
            <p:nvSpPr>
              <p:cNvPr id="36" name="Rectangle 13"/>
              <p:cNvSpPr>
                <a:spLocks noChangeArrowheads="1"/>
              </p:cNvSpPr>
              <p:nvPr/>
            </p:nvSpPr>
            <p:spPr bwMode="auto">
              <a:xfrm>
                <a:off x="3198" y="2145"/>
                <a:ext cx="953" cy="937"/>
              </a:xfrm>
              <a:prstGeom prst="rect">
                <a:avLst/>
              </a:prstGeom>
              <a:noFill/>
              <a:ln w="25400" cap="sq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>
                        <a:alpha val="70195"/>
                      </a:srgbClr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>
                  <a:defRPr/>
                </a:pPr>
                <a:endParaRPr lang="en-US">
                  <a:latin typeface="Garamond" panose="02020404030301010803" pitchFamily="18" charset="0"/>
                  <a:ea typeface="宋体" charset="0"/>
                  <a:cs typeface="宋体" charset="0"/>
                </a:endParaRPr>
              </a:p>
            </p:txBody>
          </p:sp>
          <p:sp>
            <p:nvSpPr>
              <p:cNvPr id="37" name="Rectangle 14"/>
              <p:cNvSpPr>
                <a:spLocks noChangeArrowheads="1"/>
              </p:cNvSpPr>
              <p:nvPr/>
            </p:nvSpPr>
            <p:spPr bwMode="auto">
              <a:xfrm>
                <a:off x="3198" y="3081"/>
                <a:ext cx="953" cy="935"/>
              </a:xfrm>
              <a:prstGeom prst="rect">
                <a:avLst/>
              </a:prstGeom>
              <a:noFill/>
              <a:ln w="25400" cap="sq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>
                        <a:alpha val="70195"/>
                      </a:srgbClr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>
                  <a:defRPr/>
                </a:pPr>
                <a:endParaRPr lang="en-US">
                  <a:latin typeface="Garamond" panose="02020404030301010803" pitchFamily="18" charset="0"/>
                  <a:ea typeface="宋体" charset="0"/>
                  <a:cs typeface="宋体" charset="0"/>
                </a:endParaRPr>
              </a:p>
            </p:txBody>
          </p:sp>
        </p:grpSp>
        <p:sp>
          <p:nvSpPr>
            <p:cNvPr id="17" name="Text Box 35"/>
            <p:cNvSpPr txBox="1">
              <a:spLocks noChangeArrowheads="1"/>
            </p:cNvSpPr>
            <p:nvPr/>
          </p:nvSpPr>
          <p:spPr bwMode="auto">
            <a:xfrm>
              <a:off x="5076824" y="2781032"/>
              <a:ext cx="2087686" cy="4620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70195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9pPr>
            </a:lstStyle>
            <a:p>
              <a:r>
                <a:rPr kumimoji="1" lang="en-US" altLang="zh-CN" sz="2400" b="1">
                  <a:latin typeface="Times New Roman" panose="02020503050405090304" pitchFamily="18" charset="0"/>
                  <a:ea typeface="黑体" panose="02010609060101010101" pitchFamily="49" charset="-122"/>
                </a:rPr>
                <a:t>Room[0]</a:t>
              </a:r>
              <a:r>
                <a:rPr kumimoji="1" lang="zh-CN" altLang="en-US" sz="2400" b="1">
                  <a:latin typeface="Times New Roman" panose="02020503050405090304" pitchFamily="18" charset="0"/>
                  <a:ea typeface="黑体" panose="02010609060101010101" pitchFamily="49" charset="-122"/>
                </a:rPr>
                <a:t> 结构</a:t>
              </a:r>
              <a:endParaRPr kumimoji="1" lang="zh-CN" altLang="en-US" sz="2400" b="1">
                <a:latin typeface="Times New Roman" panose="0202050305040509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18" name="Text Box 36"/>
            <p:cNvSpPr txBox="1">
              <a:spLocks noChangeArrowheads="1"/>
            </p:cNvSpPr>
            <p:nvPr/>
          </p:nvSpPr>
          <p:spPr bwMode="auto">
            <a:xfrm>
              <a:off x="5076824" y="3716279"/>
              <a:ext cx="2087686" cy="4620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70195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9pPr>
            </a:lstStyle>
            <a:p>
              <a:r>
                <a:rPr kumimoji="1" lang="en-US" altLang="zh-CN" sz="2400" b="1" dirty="0">
                  <a:latin typeface="Times New Roman" panose="02020503050405090304" pitchFamily="18" charset="0"/>
                  <a:ea typeface="黑体" panose="02010609060101010101" pitchFamily="49" charset="-122"/>
                </a:rPr>
                <a:t>Room[1]</a:t>
              </a:r>
              <a:r>
                <a:rPr kumimoji="1" lang="zh-CN" altLang="en-US" sz="2400" b="1" dirty="0">
                  <a:latin typeface="Times New Roman" panose="02020503050405090304" pitchFamily="18" charset="0"/>
                  <a:ea typeface="黑体" panose="02010609060101010101" pitchFamily="49" charset="-122"/>
                </a:rPr>
                <a:t> 结构</a:t>
              </a:r>
              <a:endParaRPr kumimoji="1" lang="zh-CN" altLang="en-US" sz="2400" b="1" dirty="0">
                <a:latin typeface="Times New Roman" panose="0202050305040509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19" name="Text Box 37"/>
            <p:cNvSpPr txBox="1">
              <a:spLocks noChangeArrowheads="1"/>
            </p:cNvSpPr>
            <p:nvPr/>
          </p:nvSpPr>
          <p:spPr bwMode="auto">
            <a:xfrm>
              <a:off x="5076824" y="4559430"/>
              <a:ext cx="2087686" cy="4604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70195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9pPr>
            </a:lstStyle>
            <a:p>
              <a:r>
                <a:rPr kumimoji="1" lang="en-US" altLang="zh-CN" sz="2400" b="1">
                  <a:latin typeface="Times New Roman" panose="02020503050405090304" pitchFamily="18" charset="0"/>
                  <a:ea typeface="黑体" panose="02010609060101010101" pitchFamily="49" charset="-122"/>
                </a:rPr>
                <a:t>Room[2]</a:t>
              </a:r>
              <a:r>
                <a:rPr kumimoji="1" lang="zh-CN" altLang="en-US" sz="2400" b="1">
                  <a:latin typeface="Times New Roman" panose="02020503050405090304" pitchFamily="18" charset="0"/>
                  <a:ea typeface="黑体" panose="02010609060101010101" pitchFamily="49" charset="-122"/>
                </a:rPr>
                <a:t> 结构</a:t>
              </a:r>
              <a:endParaRPr kumimoji="1" lang="zh-CN" altLang="en-US" sz="2400" b="1">
                <a:latin typeface="Times New Roman" panose="0202050305040509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20" name="Text Box 38"/>
            <p:cNvSpPr txBox="1">
              <a:spLocks noChangeArrowheads="1"/>
            </p:cNvSpPr>
            <p:nvPr/>
          </p:nvSpPr>
          <p:spPr bwMode="auto">
            <a:xfrm>
              <a:off x="5076824" y="5415284"/>
              <a:ext cx="2087686" cy="4620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70195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9pPr>
            </a:lstStyle>
            <a:p>
              <a:r>
                <a:rPr kumimoji="1" lang="en-US" altLang="zh-CN" sz="2400" b="1">
                  <a:latin typeface="Times New Roman" panose="02020503050405090304" pitchFamily="18" charset="0"/>
                  <a:ea typeface="黑体" panose="02010609060101010101" pitchFamily="49" charset="-122"/>
                </a:rPr>
                <a:t>Room[3]</a:t>
              </a:r>
              <a:r>
                <a:rPr kumimoji="1" lang="zh-CN" altLang="en-US" sz="2400" b="1">
                  <a:latin typeface="Times New Roman" panose="02020503050405090304" pitchFamily="18" charset="0"/>
                  <a:ea typeface="黑体" panose="02010609060101010101" pitchFamily="49" charset="-122"/>
                </a:rPr>
                <a:t> 结构</a:t>
              </a:r>
              <a:endParaRPr kumimoji="1" lang="zh-CN" altLang="en-US" sz="2400" b="1">
                <a:latin typeface="Times New Roman" panose="02020503050405090304" pitchFamily="18" charset="0"/>
                <a:ea typeface="黑体" panose="02010609060101010101" pitchFamily="49" charset="-122"/>
              </a:endParaRPr>
            </a:p>
          </p:txBody>
        </p:sp>
      </p:grpSp>
      <p:sp>
        <p:nvSpPr>
          <p:cNvPr id="43" name="Line 40"/>
          <p:cNvSpPr>
            <a:spLocks noChangeShapeType="1"/>
          </p:cNvSpPr>
          <p:nvPr/>
        </p:nvSpPr>
        <p:spPr bwMode="auto">
          <a:xfrm>
            <a:off x="1906588" y="3765550"/>
            <a:ext cx="1512887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Garamond" panose="02020404030301010803" pitchFamily="18" charset="0"/>
              <a:ea typeface="宋体" charset="0"/>
              <a:cs typeface="宋体" charset="0"/>
            </a:endParaRPr>
          </a:p>
        </p:txBody>
      </p:sp>
      <p:sp>
        <p:nvSpPr>
          <p:cNvPr id="44" name="Line 41"/>
          <p:cNvSpPr>
            <a:spLocks noChangeShapeType="1"/>
          </p:cNvSpPr>
          <p:nvPr/>
        </p:nvSpPr>
        <p:spPr bwMode="auto">
          <a:xfrm>
            <a:off x="1906588" y="4110038"/>
            <a:ext cx="1512887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Garamond" panose="02020404030301010803" pitchFamily="18" charset="0"/>
              <a:ea typeface="宋体" charset="0"/>
              <a:cs typeface="宋体" charset="0"/>
            </a:endParaRPr>
          </a:p>
        </p:txBody>
      </p:sp>
      <p:sp>
        <p:nvSpPr>
          <p:cNvPr id="45" name="Line 42"/>
          <p:cNvSpPr>
            <a:spLocks noChangeShapeType="1"/>
          </p:cNvSpPr>
          <p:nvPr/>
        </p:nvSpPr>
        <p:spPr bwMode="auto">
          <a:xfrm>
            <a:off x="1906588" y="4486275"/>
            <a:ext cx="1512887" cy="11113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Garamond" panose="02020404030301010803" pitchFamily="18" charset="0"/>
              <a:ea typeface="宋体" charset="0"/>
              <a:cs typeface="宋体" charset="0"/>
            </a:endParaRPr>
          </a:p>
        </p:txBody>
      </p:sp>
      <p:sp>
        <p:nvSpPr>
          <p:cNvPr id="48" name="Line 29"/>
          <p:cNvSpPr>
            <a:spLocks noChangeShapeType="1"/>
          </p:cNvSpPr>
          <p:nvPr/>
        </p:nvSpPr>
        <p:spPr bwMode="auto">
          <a:xfrm flipH="1" flipV="1">
            <a:off x="3849688" y="4719638"/>
            <a:ext cx="1587" cy="941387"/>
          </a:xfrm>
          <a:prstGeom prst="line">
            <a:avLst/>
          </a:prstGeom>
          <a:noFill/>
          <a:ln w="25400" cap="sq">
            <a:solidFill>
              <a:schemeClr val="tx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endParaRPr lang="zh-CN" altLang="en-US">
              <a:latin typeface="Garamond" panose="02020404030301010803" pitchFamily="18" charset="0"/>
              <a:ea typeface="宋体" charset="0"/>
              <a:cs typeface="宋体" charset="0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Ctr="0" compatLnSpc="1"/>
          <a:lstStyle/>
          <a:p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使用指针数组处理结构 </a:t>
            </a: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(3)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  <a:ea typeface="华文中宋" panose="02010600040101010101" pitchFamily="2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800" dirty="0">
                <a:solidFill>
                  <a:srgbClr val="0000CC"/>
                </a:solidFill>
              </a:rPr>
              <a:t>p[j]-&gt;height</a:t>
            </a:r>
            <a:r>
              <a:rPr lang="zh-CN" altLang="en-US" sz="2800" dirty="0"/>
              <a:t>：</a:t>
            </a:r>
            <a:r>
              <a:rPr lang="en-US" altLang="zh-CN" sz="2800" dirty="0"/>
              <a:t>p[j] </a:t>
            </a:r>
            <a:r>
              <a:rPr lang="zh-CN" altLang="en-US" sz="2800" dirty="0"/>
              <a:t>的指针通过箭头操作符来访问 </a:t>
            </a:r>
            <a:r>
              <a:rPr lang="en-US" altLang="zh-CN" sz="2800" dirty="0"/>
              <a:t>my </a:t>
            </a:r>
            <a:r>
              <a:rPr lang="zh-CN" altLang="en-US" sz="2800" dirty="0"/>
              <a:t>结构成员 </a:t>
            </a:r>
            <a:r>
              <a:rPr lang="en-US" altLang="zh-CN" sz="2800" dirty="0"/>
              <a:t>height</a:t>
            </a:r>
            <a:r>
              <a:rPr lang="zh-CN" altLang="en-US" sz="2800" dirty="0"/>
              <a:t>。</a:t>
            </a:r>
            <a:endParaRPr lang="en-US" altLang="zh-CN" sz="2800" dirty="0"/>
          </a:p>
          <a:p>
            <a:r>
              <a:rPr lang="en-US" altLang="zh-CN" sz="2800" dirty="0"/>
              <a:t>if (p[j]-&gt;height &lt; p[j+1]-&gt;height) </a:t>
            </a:r>
            <a:r>
              <a:rPr lang="zh-CN" altLang="en-US" sz="2800" dirty="0"/>
              <a:t>：如果 </a:t>
            </a:r>
            <a:r>
              <a:rPr lang="en-US" altLang="zh-CN" sz="2800" dirty="0"/>
              <a:t>Room[j] </a:t>
            </a:r>
            <a:r>
              <a:rPr lang="zh-CN" altLang="en-US" sz="2800" dirty="0"/>
              <a:t>中的 </a:t>
            </a:r>
            <a:r>
              <a:rPr lang="en-US" altLang="zh-CN" sz="2800" dirty="0"/>
              <a:t>height </a:t>
            </a:r>
            <a:r>
              <a:rPr lang="zh-CN" altLang="en-US" sz="2800" dirty="0"/>
              <a:t>成员比 </a:t>
            </a:r>
            <a:r>
              <a:rPr lang="en-US" altLang="zh-CN" sz="2800" dirty="0"/>
              <a:t>Room[j+1] </a:t>
            </a:r>
            <a:r>
              <a:rPr lang="zh-CN" altLang="en-US" sz="2800" dirty="0"/>
              <a:t>中的 </a:t>
            </a:r>
            <a:r>
              <a:rPr lang="en-US" altLang="zh-CN" sz="2800" dirty="0"/>
              <a:t>height </a:t>
            </a:r>
            <a:r>
              <a:rPr lang="zh-CN" altLang="en-US" sz="2800" dirty="0"/>
              <a:t>成员小，就去做下面的语句组：</a:t>
            </a:r>
            <a:endParaRPr lang="en-US" altLang="zh-CN" sz="2800" dirty="0"/>
          </a:p>
          <a:p>
            <a:pPr lvl="1"/>
            <a:r>
              <a:rPr lang="zh-CN" altLang="en-US" sz="2400" dirty="0"/>
              <a:t>变换指针的指向，让 </a:t>
            </a:r>
            <a:r>
              <a:rPr lang="en-US" altLang="zh-CN" sz="2400" dirty="0"/>
              <a:t>p[j] </a:t>
            </a:r>
            <a:r>
              <a:rPr lang="zh-CN" altLang="en-US" sz="2400" dirty="0"/>
              <a:t>改去指向 </a:t>
            </a:r>
            <a:r>
              <a:rPr lang="en-US" altLang="zh-CN" sz="2400" dirty="0"/>
              <a:t>Room[j+1]</a:t>
            </a:r>
            <a:r>
              <a:rPr lang="zh-CN" altLang="en-US" sz="2400" dirty="0"/>
              <a:t>，让 </a:t>
            </a:r>
            <a:r>
              <a:rPr lang="en-US" altLang="zh-CN" sz="2400" dirty="0"/>
              <a:t>p[j+1] </a:t>
            </a:r>
            <a:r>
              <a:rPr lang="zh-CN" altLang="en-US" sz="2400" dirty="0"/>
              <a:t>指向 </a:t>
            </a:r>
            <a:r>
              <a:rPr lang="en-US" altLang="zh-CN" sz="2400" dirty="0"/>
              <a:t>Room[j]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 lvl="1"/>
            <a:r>
              <a:rPr lang="zh-CN" altLang="en-US" sz="2400" dirty="0"/>
              <a:t>当着结构成员很多时，直接让结构变量相互交换并不是好办法，而现在的做法只需将指针的指向交换一下，极为省力</a:t>
            </a:r>
            <a:endParaRPr lang="en-US" altLang="en-US" sz="2400" dirty="0"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83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Ctr="0" compatLnSpc="1"/>
          <a:lstStyle/>
          <a:p>
            <a:pPr eaLnBrk="1" hangingPunct="1"/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void 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指针类型</a:t>
            </a:r>
            <a:endParaRPr lang="zh-CN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30722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zh-CN" altLang="en-US" sz="2400" dirty="0"/>
              <a:t>定义</a:t>
            </a:r>
            <a:r>
              <a:rPr lang="en-US" altLang="zh-CN" sz="2400" dirty="0"/>
              <a:t>void</a:t>
            </a:r>
            <a:r>
              <a:rPr lang="zh-CN" altLang="en-US" sz="2400" dirty="0"/>
              <a:t>类型指针，不需要指定它是指向哪种数据类型，实际上它</a:t>
            </a:r>
            <a:r>
              <a:rPr lang="zh-CN" altLang="en-US" sz="2400" dirty="0">
                <a:solidFill>
                  <a:srgbClr val="C00000"/>
                </a:solidFill>
              </a:rPr>
              <a:t>可以指向任何数据类型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 lvl="1" eaLnBrk="1" hangingPunct="1"/>
            <a:r>
              <a:rPr lang="en-US" altLang="zh-CN" sz="2000" dirty="0"/>
              <a:t>void</a:t>
            </a:r>
            <a:r>
              <a:rPr lang="zh-CN" altLang="en-US" sz="2000" dirty="0"/>
              <a:t>指针可以指向任意类型的数据，即可用任意数据类型的指针对</a:t>
            </a:r>
            <a:r>
              <a:rPr lang="en-US" altLang="zh-CN" sz="2000" dirty="0"/>
              <a:t>void</a:t>
            </a:r>
            <a:r>
              <a:rPr lang="zh-CN" altLang="en-US" sz="2000" dirty="0"/>
              <a:t>指针赋值</a:t>
            </a:r>
            <a:endParaRPr lang="en-US" altLang="zh-CN" sz="2000" dirty="0"/>
          </a:p>
          <a:p>
            <a:pPr lvl="2" eaLnBrk="1" hangingPunct="1"/>
            <a:r>
              <a:rPr lang="zh-CN" altLang="en-US" sz="1800" dirty="0"/>
              <a:t>反之要强制转换</a:t>
            </a:r>
            <a:endParaRPr lang="en-US" altLang="zh-CN" sz="1800" dirty="0"/>
          </a:p>
          <a:p>
            <a:pPr lvl="2" eaLnBrk="1" hangingPunct="1"/>
            <a:endParaRPr lang="en-US" altLang="zh-CN" sz="1800" dirty="0"/>
          </a:p>
          <a:p>
            <a:pPr lvl="2" eaLnBrk="1" hangingPunct="1"/>
            <a:endParaRPr lang="en-US" altLang="zh-CN" sz="1800" dirty="0"/>
          </a:p>
          <a:p>
            <a:pPr lvl="2" eaLnBrk="1" hangingPunct="1"/>
            <a:endParaRPr lang="zh-CN" altLang="en-US" sz="1800" dirty="0"/>
          </a:p>
          <a:p>
            <a:pPr eaLnBrk="1" hangingPunct="1"/>
            <a:r>
              <a:rPr lang="en-US" altLang="zh-CN" sz="2400" dirty="0"/>
              <a:t>void</a:t>
            </a:r>
            <a:r>
              <a:rPr lang="zh-CN" altLang="en-US" sz="2400" dirty="0"/>
              <a:t>指针不能使用间接访问运算符</a:t>
            </a:r>
            <a:endParaRPr lang="en-US" altLang="zh-CN" sz="2400" dirty="0"/>
          </a:p>
          <a:p>
            <a:pPr eaLnBrk="1" hangingPunct="1"/>
            <a:r>
              <a:rPr lang="en-US" altLang="zh-CN" sz="2400" dirty="0"/>
              <a:t>void</a:t>
            </a:r>
            <a:r>
              <a:rPr lang="zh-CN" altLang="en-US" sz="2400" dirty="0"/>
              <a:t>指针的算术运算</a:t>
            </a:r>
            <a:endParaRPr lang="en-US" altLang="zh-CN" sz="2400" dirty="0"/>
          </a:p>
          <a:p>
            <a:pPr lvl="1" eaLnBrk="1" hangingPunct="1"/>
            <a:r>
              <a:rPr lang="en-US" altLang="zh-CN" sz="2000" dirty="0"/>
              <a:t>ANSI C </a:t>
            </a:r>
            <a:r>
              <a:rPr lang="zh-CN" altLang="en-US" sz="2000" dirty="0"/>
              <a:t>标准规定</a:t>
            </a:r>
            <a:r>
              <a:rPr lang="en-US" altLang="zh-CN" sz="2000" dirty="0"/>
              <a:t>void </a:t>
            </a:r>
            <a:r>
              <a:rPr lang="zh-CN" altLang="en-US" sz="2000" dirty="0"/>
              <a:t>指针进行算术操作是不合法的</a:t>
            </a:r>
            <a:endParaRPr lang="en-US" altLang="zh-CN" sz="2000" dirty="0"/>
          </a:p>
          <a:p>
            <a:pPr lvl="2" eaLnBrk="1" hangingPunct="1"/>
            <a:r>
              <a:rPr lang="zh-CN" altLang="en-US" dirty="0"/>
              <a:t>进行算法操作的指针必须确定知道其指向数据类型大小</a:t>
            </a:r>
            <a:endParaRPr lang="en-US" altLang="zh-CN" sz="1600" dirty="0"/>
          </a:p>
          <a:p>
            <a:pPr lvl="1" eaLnBrk="1" hangingPunct="1"/>
            <a:r>
              <a:rPr lang="en-US" altLang="zh-CN" sz="2000" dirty="0"/>
              <a:t>GNU </a:t>
            </a:r>
            <a:r>
              <a:rPr lang="zh-CN" altLang="en-US" sz="2000" dirty="0"/>
              <a:t>则认为“</a:t>
            </a:r>
            <a:r>
              <a:rPr lang="en-US" altLang="zh-CN" sz="2000" dirty="0"/>
              <a:t>void*”</a:t>
            </a:r>
            <a:r>
              <a:rPr lang="zh-CN" altLang="en-US" sz="2000" dirty="0"/>
              <a:t>的算法操作与“</a:t>
            </a:r>
            <a:r>
              <a:rPr lang="en-US" altLang="zh-CN" sz="2000" dirty="0"/>
              <a:t>char*”</a:t>
            </a:r>
            <a:r>
              <a:rPr lang="zh-CN" altLang="en-US" sz="2000" dirty="0"/>
              <a:t>一致</a:t>
            </a:r>
            <a:endParaRPr lang="en-US" altLang="zh-CN" sz="2000" dirty="0"/>
          </a:p>
          <a:p>
            <a:pPr lvl="1" eaLnBrk="1" hangingPunct="1"/>
            <a:endParaRPr lang="en-US" altLang="zh-CN" sz="2000" dirty="0"/>
          </a:p>
        </p:txBody>
      </p:sp>
      <p:sp>
        <p:nvSpPr>
          <p:cNvPr id="2" name="矩形 1"/>
          <p:cNvSpPr/>
          <p:nvPr/>
        </p:nvSpPr>
        <p:spPr>
          <a:xfrm>
            <a:off x="3453241" y="2630905"/>
            <a:ext cx="478355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微软雅黑" charset="-122"/>
                <a:ea typeface="微软雅黑" charset="-122"/>
              </a:rPr>
              <a:t>int * pint;</a:t>
            </a:r>
            <a:br>
              <a:rPr lang="en-US" dirty="0">
                <a:solidFill>
                  <a:srgbClr val="0000FF"/>
                </a:solidFill>
                <a:latin typeface="微软雅黑" charset="-122"/>
                <a:ea typeface="微软雅黑" charset="-122"/>
              </a:rPr>
            </a:br>
            <a:r>
              <a:rPr lang="en-US" dirty="0">
                <a:solidFill>
                  <a:srgbClr val="0000FF"/>
                </a:solidFill>
                <a:latin typeface="微软雅黑" charset="-122"/>
                <a:ea typeface="微软雅黑" charset="-122"/>
              </a:rPr>
              <a:t>void *</a:t>
            </a:r>
            <a:r>
              <a:rPr lang="en-US" dirty="0" err="1">
                <a:solidFill>
                  <a:srgbClr val="0000FF"/>
                </a:solidFill>
                <a:latin typeface="微软雅黑" charset="-122"/>
                <a:ea typeface="微软雅黑" charset="-122"/>
              </a:rPr>
              <a:t>pvoid</a:t>
            </a:r>
            <a:r>
              <a:rPr lang="en-US" dirty="0">
                <a:solidFill>
                  <a:srgbClr val="0000FF"/>
                </a:solidFill>
                <a:latin typeface="微软雅黑" charset="-122"/>
                <a:ea typeface="微软雅黑" charset="-122"/>
              </a:rPr>
              <a:t>;</a:t>
            </a:r>
            <a:br>
              <a:rPr lang="en-US" dirty="0">
                <a:solidFill>
                  <a:srgbClr val="0000FF"/>
                </a:solidFill>
                <a:latin typeface="微软雅黑" charset="-122"/>
                <a:ea typeface="微软雅黑" charset="-122"/>
              </a:rPr>
            </a:br>
            <a:r>
              <a:rPr lang="en-US" dirty="0" err="1">
                <a:solidFill>
                  <a:srgbClr val="0000FF"/>
                </a:solidFill>
                <a:latin typeface="微软雅黑" charset="-122"/>
                <a:ea typeface="微软雅黑" charset="-122"/>
              </a:rPr>
              <a:t>pvoid</a:t>
            </a:r>
            <a:r>
              <a:rPr lang="en-US" dirty="0">
                <a:solidFill>
                  <a:srgbClr val="0000FF"/>
                </a:solidFill>
                <a:latin typeface="微软雅黑" charset="-122"/>
                <a:ea typeface="微软雅黑" charset="-122"/>
              </a:rPr>
              <a:t> = pint; /* </a:t>
            </a:r>
            <a:r>
              <a:rPr lang="zh-CN" altLang="en-US" dirty="0">
                <a:solidFill>
                  <a:srgbClr val="0000FF"/>
                </a:solidFill>
                <a:latin typeface="微软雅黑" charset="-122"/>
                <a:ea typeface="微软雅黑" charset="-122"/>
              </a:rPr>
              <a:t>不过不能 </a:t>
            </a:r>
            <a:r>
              <a:rPr lang="en-US" dirty="0">
                <a:solidFill>
                  <a:srgbClr val="0000FF"/>
                </a:solidFill>
                <a:latin typeface="微软雅黑" charset="-122"/>
                <a:ea typeface="微软雅黑" charset="-122"/>
              </a:rPr>
              <a:t>pint= </a:t>
            </a:r>
            <a:r>
              <a:rPr lang="en-US" dirty="0" err="1">
                <a:solidFill>
                  <a:srgbClr val="0000FF"/>
                </a:solidFill>
                <a:latin typeface="微软雅黑" charset="-122"/>
                <a:ea typeface="微软雅黑" charset="-122"/>
              </a:rPr>
              <a:t>pvoid</a:t>
            </a:r>
            <a:r>
              <a:rPr lang="en-US" dirty="0">
                <a:solidFill>
                  <a:srgbClr val="0000FF"/>
                </a:solidFill>
                <a:latin typeface="微软雅黑" charset="-122"/>
                <a:ea typeface="微软雅黑" charset="-122"/>
              </a:rPr>
              <a:t>; */</a:t>
            </a:r>
            <a:endParaRPr lang="en-US" dirty="0">
              <a:solidFill>
                <a:srgbClr val="0000FF"/>
              </a:solidFill>
              <a:latin typeface="微软雅黑" charset="-122"/>
              <a:ea typeface="微软雅黑" charset="-122"/>
            </a:endParaRPr>
          </a:p>
          <a:p>
            <a:r>
              <a:rPr lang="en-US" altLang="zh-CN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pint</a:t>
            </a:r>
            <a:r>
              <a:rPr lang="zh-CN" altLang="en-US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= (int *)</a:t>
            </a:r>
            <a:r>
              <a:rPr lang="en-US" altLang="zh-CN" dirty="0" err="1">
                <a:solidFill>
                  <a:srgbClr val="FF0000"/>
                </a:solidFill>
                <a:latin typeface="微软雅黑" charset="-122"/>
                <a:ea typeface="微软雅黑" charset="-122"/>
              </a:rPr>
              <a:t>pvoid</a:t>
            </a:r>
            <a:r>
              <a:rPr lang="en-US" altLang="zh-CN" dirty="0">
                <a:solidFill>
                  <a:srgbClr val="FF0000"/>
                </a:solidFill>
                <a:latin typeface="微软雅黑" charset="-122"/>
                <a:ea typeface="微软雅黑" charset="-122"/>
              </a:rPr>
              <a:t>;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void</a:t>
            </a:r>
            <a:r>
              <a:rPr lang="zh-CN" altLang="en-US" dirty="0"/>
              <a:t>指针的用处</a:t>
            </a:r>
            <a:endParaRPr lang="en-US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如果函数的参数可以是任意类型指针，应该将其参数声明为 </a:t>
            </a:r>
            <a:r>
              <a:rPr lang="en-US" altLang="zh-CN" dirty="0"/>
              <a:t>void*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1B0FB1"/>
                </a:solidFill>
              </a:rPr>
              <a:t>这样函数就可以接受任意数据类型的指针作为参数如库函数：</a:t>
            </a:r>
            <a:endParaRPr lang="en-US" altLang="zh-CN" dirty="0">
              <a:solidFill>
                <a:srgbClr val="1B0FB1"/>
              </a:solidFill>
            </a:endParaRPr>
          </a:p>
          <a:p>
            <a:pPr lvl="1"/>
            <a:r>
              <a:rPr lang="en-US" dirty="0">
                <a:solidFill>
                  <a:srgbClr val="1B0FB1"/>
                </a:solidFill>
              </a:rPr>
              <a:t>void * </a:t>
            </a:r>
            <a:r>
              <a:rPr lang="en-US" dirty="0" err="1">
                <a:solidFill>
                  <a:srgbClr val="1B0FB1"/>
                </a:solidFill>
              </a:rPr>
              <a:t>memcpy</a:t>
            </a:r>
            <a:r>
              <a:rPr lang="en-US" dirty="0">
                <a:solidFill>
                  <a:srgbClr val="1B0FB1"/>
                </a:solidFill>
              </a:rPr>
              <a:t>( void *</a:t>
            </a:r>
            <a:r>
              <a:rPr lang="en-US" dirty="0" err="1">
                <a:solidFill>
                  <a:srgbClr val="1B0FB1"/>
                </a:solidFill>
              </a:rPr>
              <a:t>dest</a:t>
            </a:r>
            <a:r>
              <a:rPr lang="en-US" dirty="0">
                <a:solidFill>
                  <a:srgbClr val="1B0FB1"/>
                </a:solidFill>
              </a:rPr>
              <a:t>, const void *</a:t>
            </a:r>
            <a:r>
              <a:rPr lang="en-US" dirty="0" err="1">
                <a:solidFill>
                  <a:srgbClr val="1B0FB1"/>
                </a:solidFill>
              </a:rPr>
              <a:t>src</a:t>
            </a:r>
            <a:r>
              <a:rPr lang="en-US" dirty="0">
                <a:solidFill>
                  <a:srgbClr val="1B0FB1"/>
                </a:solidFill>
              </a:rPr>
              <a:t>, </a:t>
            </a:r>
            <a:r>
              <a:rPr lang="en-US" dirty="0" err="1">
                <a:solidFill>
                  <a:srgbClr val="1B0FB1"/>
                </a:solidFill>
              </a:rPr>
              <a:t>size_t</a:t>
            </a:r>
            <a:r>
              <a:rPr lang="en-US" dirty="0">
                <a:solidFill>
                  <a:srgbClr val="1B0FB1"/>
                </a:solidFill>
              </a:rPr>
              <a:t> </a:t>
            </a:r>
            <a:r>
              <a:rPr lang="en-US" dirty="0" err="1">
                <a:solidFill>
                  <a:srgbClr val="1B0FB1"/>
                </a:solidFill>
              </a:rPr>
              <a:t>len</a:t>
            </a:r>
            <a:r>
              <a:rPr lang="en-US" dirty="0">
                <a:solidFill>
                  <a:srgbClr val="1B0FB1"/>
                </a:solidFill>
              </a:rPr>
              <a:t> );</a:t>
            </a:r>
            <a:endParaRPr lang="en-US" dirty="0">
              <a:solidFill>
                <a:srgbClr val="1B0FB1"/>
              </a:solidFill>
            </a:endParaRPr>
          </a:p>
          <a:p>
            <a:pPr lvl="1"/>
            <a:r>
              <a:rPr lang="en-US" dirty="0">
                <a:solidFill>
                  <a:srgbClr val="1B0FB1"/>
                </a:solidFill>
              </a:rPr>
              <a:t>void * </a:t>
            </a:r>
            <a:r>
              <a:rPr lang="en-US" dirty="0" err="1">
                <a:solidFill>
                  <a:srgbClr val="1B0FB1"/>
                </a:solidFill>
              </a:rPr>
              <a:t>memset</a:t>
            </a:r>
            <a:r>
              <a:rPr lang="en-US" dirty="0">
                <a:solidFill>
                  <a:srgbClr val="1B0FB1"/>
                </a:solidFill>
              </a:rPr>
              <a:t>( void * buffer, int c, </a:t>
            </a:r>
            <a:r>
              <a:rPr lang="en-US" dirty="0" err="1">
                <a:solidFill>
                  <a:srgbClr val="1B0FB1"/>
                </a:solidFill>
              </a:rPr>
              <a:t>size_t</a:t>
            </a:r>
            <a:r>
              <a:rPr lang="en-US" dirty="0">
                <a:solidFill>
                  <a:srgbClr val="1B0FB1"/>
                </a:solidFill>
              </a:rPr>
              <a:t> num);</a:t>
            </a:r>
            <a:endParaRPr lang="en-US" dirty="0">
              <a:solidFill>
                <a:srgbClr val="1B0FB1"/>
              </a:solidFill>
            </a:endParaRPr>
          </a:p>
          <a:p>
            <a:pPr lvl="2"/>
            <a:r>
              <a:rPr lang="en-US" altLang="zh-CN" dirty="0">
                <a:solidFill>
                  <a:schemeClr val="tx1"/>
                </a:solidFill>
              </a:rPr>
              <a:t>#include &lt;</a:t>
            </a:r>
            <a:r>
              <a:rPr lang="en-US" altLang="zh-CN" dirty="0" err="1">
                <a:solidFill>
                  <a:schemeClr val="tx1"/>
                </a:solidFill>
              </a:rPr>
              <a:t>string.h</a:t>
            </a:r>
            <a:r>
              <a:rPr lang="en-US" altLang="zh-CN" dirty="0">
                <a:solidFill>
                  <a:schemeClr val="tx1"/>
                </a:solidFill>
              </a:rPr>
              <a:t>&gt;</a:t>
            </a:r>
            <a:endParaRPr lang="en-US" altLang="zh-CN" dirty="0">
              <a:solidFill>
                <a:schemeClr val="tx1"/>
              </a:solidFill>
            </a:endParaRPr>
          </a:p>
          <a:p>
            <a:pPr lvl="1"/>
            <a:endParaRPr lang="en-US" altLang="zh-CN" dirty="0">
              <a:solidFill>
                <a:schemeClr val="tx1"/>
              </a:solidFill>
            </a:endParaRPr>
          </a:p>
          <a:p>
            <a:pPr lvl="1"/>
            <a:r>
              <a:rPr lang="zh-CN" altLang="en-US" dirty="0">
                <a:solidFill>
                  <a:schemeClr val="tx1"/>
                </a:solidFill>
              </a:rPr>
              <a:t>任何类型的指针都可以传入 </a:t>
            </a:r>
            <a:r>
              <a:rPr lang="en-US" altLang="zh-CN" dirty="0" err="1">
                <a:solidFill>
                  <a:schemeClr val="tx1"/>
                </a:solidFill>
              </a:rPr>
              <a:t>memcpy</a:t>
            </a:r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zh-CN" altLang="en-US" dirty="0">
                <a:solidFill>
                  <a:schemeClr val="tx1"/>
                </a:solidFill>
              </a:rPr>
              <a:t>函数和 </a:t>
            </a:r>
            <a:r>
              <a:rPr lang="en-US" altLang="zh-CN" dirty="0" err="1">
                <a:solidFill>
                  <a:schemeClr val="tx1"/>
                </a:solidFill>
              </a:rPr>
              <a:t>memset</a:t>
            </a:r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zh-CN" altLang="en-US" dirty="0">
                <a:solidFill>
                  <a:schemeClr val="tx1"/>
                </a:solidFill>
              </a:rPr>
              <a:t>函数中，体现了内存操作函数的意义：操作的对象仅仅是一片内存，而不关心这片内存是什么类型。</a:t>
            </a: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参考实现</a:t>
            </a:r>
            <a:endParaRPr lang="en-US" dirty="0"/>
          </a:p>
        </p:txBody>
      </p:sp>
      <p:sp>
        <p:nvSpPr>
          <p:cNvPr id="6" name="矩形 5"/>
          <p:cNvSpPr/>
          <p:nvPr/>
        </p:nvSpPr>
        <p:spPr>
          <a:xfrm>
            <a:off x="852592" y="1184609"/>
            <a:ext cx="6972302" cy="2616101"/>
          </a:xfrm>
          <a:prstGeom prst="rect">
            <a:avLst/>
          </a:prstGeom>
          <a:solidFill>
            <a:schemeClr val="bg2">
              <a:lumMod val="75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void*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myM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emset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void*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dst,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val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size_t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count)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* ret =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dst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(count--)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{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*(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*)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dst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= (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val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dst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= (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*)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dst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+ 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 //</a:t>
            </a:r>
            <a:r>
              <a:rPr lang="zh-CN" alt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移动一个字节</a:t>
            </a:r>
            <a:endParaRPr lang="zh-CN" alt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altLang="zh-CN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ret;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990582" y="3260067"/>
            <a:ext cx="6800726" cy="3385542"/>
          </a:xfrm>
          <a:prstGeom prst="rect">
            <a:avLst/>
          </a:prstGeom>
          <a:solidFill>
            <a:schemeClr val="bg2">
              <a:lumMod val="75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dirty="0"/>
              <a:t>void</a:t>
            </a:r>
            <a:r>
              <a:rPr lang="zh-CN" altLang="en-US" dirty="0"/>
              <a:t>*</a:t>
            </a:r>
            <a:r>
              <a:rPr lang="en-US" dirty="0"/>
              <a:t> </a:t>
            </a:r>
            <a:r>
              <a:rPr lang="en-US" dirty="0" err="1"/>
              <a:t>myMemCpy</a:t>
            </a:r>
            <a:r>
              <a:rPr lang="en-US" dirty="0"/>
              <a:t>(void *</a:t>
            </a:r>
            <a:r>
              <a:rPr lang="en-US" dirty="0" err="1"/>
              <a:t>dest</a:t>
            </a:r>
            <a:r>
              <a:rPr lang="en-US" dirty="0"/>
              <a:t>, void *</a:t>
            </a:r>
            <a:r>
              <a:rPr lang="en-US" dirty="0" err="1"/>
              <a:t>src</a:t>
            </a:r>
            <a:r>
              <a:rPr lang="en-US" dirty="0"/>
              <a:t>, </a:t>
            </a:r>
            <a:r>
              <a:rPr lang="en-US" dirty="0" err="1"/>
              <a:t>size_t</a:t>
            </a:r>
            <a:r>
              <a:rPr lang="en-US" dirty="0"/>
              <a:t> n) </a:t>
            </a:r>
            <a:endParaRPr lang="en-US" dirty="0"/>
          </a:p>
          <a:p>
            <a:r>
              <a:rPr lang="en-US" dirty="0"/>
              <a:t>{ </a:t>
            </a:r>
            <a:endParaRPr lang="en-US" dirty="0"/>
          </a:p>
          <a:p>
            <a:r>
              <a:rPr lang="en-US" dirty="0"/>
              <a:t>   // Typecast </a:t>
            </a:r>
            <a:r>
              <a:rPr lang="en-US" dirty="0" err="1"/>
              <a:t>src</a:t>
            </a:r>
            <a:r>
              <a:rPr lang="en-US" dirty="0"/>
              <a:t> and </a:t>
            </a:r>
            <a:r>
              <a:rPr lang="en-US" dirty="0" err="1"/>
              <a:t>dest</a:t>
            </a:r>
            <a:r>
              <a:rPr lang="en-US" dirty="0"/>
              <a:t> addresses to (char *) </a:t>
            </a:r>
            <a:endParaRPr lang="en-US" dirty="0"/>
          </a:p>
          <a:p>
            <a:r>
              <a:rPr lang="en-US" dirty="0"/>
              <a:t>   char *</a:t>
            </a:r>
            <a:r>
              <a:rPr lang="en-US" dirty="0" err="1"/>
              <a:t>csrc</a:t>
            </a:r>
            <a:r>
              <a:rPr lang="en-US" dirty="0"/>
              <a:t> = (char *)</a:t>
            </a:r>
            <a:r>
              <a:rPr lang="en-US" dirty="0" err="1"/>
              <a:t>src</a:t>
            </a:r>
            <a:r>
              <a:rPr lang="en-US" dirty="0"/>
              <a:t>; </a:t>
            </a:r>
            <a:endParaRPr lang="en-US" dirty="0"/>
          </a:p>
          <a:p>
            <a:r>
              <a:rPr lang="en-US" dirty="0"/>
              <a:t>   char *</a:t>
            </a:r>
            <a:r>
              <a:rPr lang="en-US" dirty="0" err="1"/>
              <a:t>cdest</a:t>
            </a:r>
            <a:r>
              <a:rPr lang="en-US" dirty="0"/>
              <a:t> = (char *)</a:t>
            </a:r>
            <a:r>
              <a:rPr lang="en-US" dirty="0" err="1"/>
              <a:t>dest</a:t>
            </a:r>
            <a:r>
              <a:rPr lang="en-US" dirty="0"/>
              <a:t>; </a:t>
            </a:r>
            <a:endParaRPr lang="en-US" dirty="0"/>
          </a:p>
          <a:p>
            <a:r>
              <a:rPr lang="en-US" dirty="0"/>
              <a:t>  </a:t>
            </a:r>
            <a:endParaRPr lang="en-US" dirty="0"/>
          </a:p>
          <a:p>
            <a:r>
              <a:rPr lang="en-US" dirty="0"/>
              <a:t>   // Copy contents of </a:t>
            </a:r>
            <a:r>
              <a:rPr lang="en-US" dirty="0" err="1"/>
              <a:t>src</a:t>
            </a:r>
            <a:r>
              <a:rPr lang="en-US" dirty="0"/>
              <a:t>[] to </a:t>
            </a:r>
            <a:r>
              <a:rPr lang="en-US" dirty="0" err="1"/>
              <a:t>dest</a:t>
            </a:r>
            <a:r>
              <a:rPr lang="en-US" dirty="0"/>
              <a:t>[] </a:t>
            </a:r>
            <a:endParaRPr lang="en-US" dirty="0"/>
          </a:p>
          <a:p>
            <a:r>
              <a:rPr lang="en-US" dirty="0"/>
              <a:t>   for (int </a:t>
            </a:r>
            <a:r>
              <a:rPr lang="en-US" dirty="0" err="1"/>
              <a:t>i</a:t>
            </a:r>
            <a:r>
              <a:rPr lang="en-US" dirty="0"/>
              <a:t>=0; </a:t>
            </a:r>
            <a:r>
              <a:rPr lang="en-US" dirty="0" err="1"/>
              <a:t>i</a:t>
            </a:r>
            <a:r>
              <a:rPr lang="en-US" dirty="0"/>
              <a:t>&lt;n; </a:t>
            </a:r>
            <a:r>
              <a:rPr lang="en-US" dirty="0" err="1"/>
              <a:t>i</a:t>
            </a:r>
            <a:r>
              <a:rPr lang="en-US" dirty="0"/>
              <a:t>++) </a:t>
            </a:r>
            <a:endParaRPr lang="en-US" dirty="0"/>
          </a:p>
          <a:p>
            <a:r>
              <a:rPr lang="en-US" dirty="0"/>
              <a:t>       </a:t>
            </a:r>
            <a:r>
              <a:rPr lang="en-US" dirty="0" err="1"/>
              <a:t>cdest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 = </a:t>
            </a:r>
            <a:r>
              <a:rPr lang="en-US" dirty="0" err="1"/>
              <a:t>csrc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]; </a:t>
            </a:r>
            <a:endParaRPr lang="en-US" dirty="0"/>
          </a:p>
          <a:p>
            <a:r>
              <a:rPr lang="en-US" dirty="0"/>
              <a:t>   return </a:t>
            </a:r>
            <a:r>
              <a:rPr lang="en-US" dirty="0" err="1"/>
              <a:t>dest</a:t>
            </a:r>
            <a:r>
              <a:rPr lang="en-US" dirty="0"/>
              <a:t>;</a:t>
            </a:r>
            <a:endParaRPr lang="en-US" dirty="0"/>
          </a:p>
          <a:p>
            <a:r>
              <a:rPr lang="en-US" dirty="0"/>
              <a:t>} </a:t>
            </a:r>
            <a:endParaRPr lang="en-US" dirty="0"/>
          </a:p>
          <a:p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1" grpId="0" animBg="1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void</a:t>
            </a:r>
            <a:r>
              <a:rPr lang="zh-CN" altLang="en-US" dirty="0"/>
              <a:t>指针的应用</a:t>
            </a:r>
            <a:endParaRPr lang="en-US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3600" dirty="0"/>
              <a:t>void</a:t>
            </a:r>
            <a:r>
              <a:rPr lang="zh-CN" altLang="en-US" sz="3600" dirty="0"/>
              <a:t>类型指针一般用在动态内容分配中。</a:t>
            </a:r>
            <a:endParaRPr lang="zh-CN" altLang="en-US" sz="36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		</a:t>
            </a:r>
            <a:r>
              <a:rPr lang="en-US" altLang="zh-CN" dirty="0"/>
              <a:t>void *p1;</a:t>
            </a:r>
            <a:endParaRPr lang="en-US" altLang="zh-CN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		char *p2;</a:t>
            </a:r>
            <a:endParaRPr lang="en-US" altLang="zh-CN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		</a:t>
            </a:r>
            <a:r>
              <a:rPr lang="en-US" altLang="zh-CN" dirty="0">
                <a:solidFill>
                  <a:srgbClr val="FF0000"/>
                </a:solidFill>
              </a:rPr>
              <a:t>p1 = malloc( </a:t>
            </a:r>
            <a:r>
              <a:rPr lang="en-US" altLang="zh-CN" dirty="0" err="1">
                <a:solidFill>
                  <a:srgbClr val="FF0000"/>
                </a:solidFill>
              </a:rPr>
              <a:t>sizeof</a:t>
            </a:r>
            <a:r>
              <a:rPr lang="en-US" altLang="zh-CN" dirty="0">
                <a:solidFill>
                  <a:srgbClr val="FF0000"/>
                </a:solidFill>
              </a:rPr>
              <a:t>( char ) * 1000 );</a:t>
            </a:r>
            <a:endParaRPr lang="en-US" altLang="zh-CN" dirty="0">
              <a:solidFill>
                <a:srgbClr val="FF0000"/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		p2 = ( char * ) p1;</a:t>
            </a:r>
            <a:endParaRPr lang="en-US" altLang="zh-CN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        </a:t>
            </a:r>
            <a:r>
              <a:rPr lang="en-US" altLang="zh-CN" dirty="0"/>
              <a:t>	free</a:t>
            </a:r>
            <a:r>
              <a:rPr lang="zh-CN" altLang="en-US" dirty="0"/>
              <a:t> </a:t>
            </a:r>
            <a:r>
              <a:rPr lang="en-US" altLang="zh-CN" dirty="0"/>
              <a:t>(p1);</a:t>
            </a:r>
            <a:endParaRPr lang="en-US" dirty="0"/>
          </a:p>
        </p:txBody>
      </p:sp>
      <p:sp>
        <p:nvSpPr>
          <p:cNvPr id="6" name="Line Callout 1 3"/>
          <p:cNvSpPr/>
          <p:nvPr/>
        </p:nvSpPr>
        <p:spPr>
          <a:xfrm>
            <a:off x="4000914" y="4687957"/>
            <a:ext cx="1982636" cy="638646"/>
          </a:xfrm>
          <a:prstGeom prst="borderCallout1">
            <a:avLst>
              <a:gd name="adj1" fmla="val 8481"/>
              <a:gd name="adj2" fmla="val 6909"/>
              <a:gd name="adj3" fmla="val -111704"/>
              <a:gd name="adj4" fmla="val -42529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algn="ctr"/>
            <a:r>
              <a:rPr lang="zh-CN" altLang="en-US" dirty="0">
                <a:solidFill>
                  <a:srgbClr val="FFFFFF"/>
                </a:solidFill>
                <a:latin typeface="Gill Sans MT" panose="020B0502020104020203" pitchFamily="34" charset="0"/>
                <a:ea typeface="华文中宋" panose="02010600040101010101" pitchFamily="2" charset="-122"/>
              </a:rPr>
              <a:t>后面会详细介绍</a:t>
            </a:r>
            <a:endParaRPr lang="en-US" altLang="zh-CN" dirty="0">
              <a:solidFill>
                <a:srgbClr val="FFFFFF"/>
              </a:solidFill>
              <a:latin typeface="Gill Sans MT" panose="020B0502020104020203" pitchFamily="34" charset="0"/>
              <a:ea typeface="华文中宋" panose="02010600040101010101" pitchFamily="2" charset="-122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关于</a:t>
            </a:r>
            <a:r>
              <a:rPr lang="en-US" altLang="zh-CN" dirty="0"/>
              <a:t>void</a:t>
            </a:r>
            <a:endParaRPr lang="zh-CN" altLang="en-US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CN" dirty="0"/>
              <a:t>void</a:t>
            </a:r>
            <a:endParaRPr lang="en-US" altLang="zh-CN" dirty="0"/>
          </a:p>
          <a:p>
            <a:pPr lvl="1"/>
            <a:r>
              <a:rPr lang="en-US" altLang="zh-CN" dirty="0"/>
              <a:t>void</a:t>
            </a:r>
            <a:r>
              <a:rPr lang="zh-CN" altLang="en-US" dirty="0"/>
              <a:t>用在函数定义当中可以表示函数没有返回值，或者没有形式参数</a:t>
            </a:r>
            <a:endParaRPr lang="en-US" altLang="zh-CN" dirty="0"/>
          </a:p>
          <a:p>
            <a:pPr lvl="1"/>
            <a:r>
              <a:rPr lang="en-US" altLang="zh-CN" dirty="0"/>
              <a:t>void</a:t>
            </a:r>
            <a:r>
              <a:rPr lang="zh-CN" altLang="en-US" dirty="0"/>
              <a:t>不能用于定义变量，因为它无法指定要分配的内存空间大小</a:t>
            </a:r>
            <a:endParaRPr lang="en-US" altLang="zh-CN" dirty="0"/>
          </a:p>
          <a:p>
            <a:r>
              <a:rPr lang="en-US" altLang="zh-CN" dirty="0"/>
              <a:t>void*</a:t>
            </a:r>
            <a:endParaRPr lang="en-US" altLang="zh-CN" dirty="0"/>
          </a:p>
          <a:p>
            <a:pPr lvl="1"/>
            <a:r>
              <a:rPr lang="en-US" altLang="zh-CN" dirty="0"/>
              <a:t>void*</a:t>
            </a:r>
            <a:r>
              <a:rPr lang="zh-CN" altLang="en-US" dirty="0"/>
              <a:t>表示一个有效的指针，可是数据的类型尚未确定</a:t>
            </a:r>
            <a:endParaRPr lang="en-US" altLang="zh-CN" dirty="0"/>
          </a:p>
          <a:p>
            <a:pPr lvl="1"/>
            <a:r>
              <a:rPr lang="en-US" altLang="zh-CN" dirty="0"/>
              <a:t>void*</a:t>
            </a:r>
            <a:r>
              <a:rPr lang="zh-CN" altLang="en-US" dirty="0"/>
              <a:t>可以定义变量，占用</a:t>
            </a:r>
            <a:r>
              <a:rPr lang="en-US" altLang="zh-CN" dirty="0"/>
              <a:t>4</a:t>
            </a:r>
            <a:r>
              <a:rPr lang="zh-CN" altLang="en-US" dirty="0"/>
              <a:t>个字节（</a:t>
            </a:r>
            <a:r>
              <a:rPr lang="en-US" altLang="zh-CN" dirty="0"/>
              <a:t>32</a:t>
            </a:r>
            <a:r>
              <a:rPr lang="zh-CN" altLang="en-US" dirty="0"/>
              <a:t>位平台）或</a:t>
            </a:r>
            <a:r>
              <a:rPr lang="en-US" altLang="zh-CN" dirty="0"/>
              <a:t>8</a:t>
            </a:r>
            <a:r>
              <a:rPr lang="zh-CN" altLang="en-US" dirty="0"/>
              <a:t>个字节（</a:t>
            </a:r>
            <a:r>
              <a:rPr lang="en-US" altLang="zh-CN" dirty="0"/>
              <a:t>64</a:t>
            </a:r>
            <a:r>
              <a:rPr lang="zh-CN" altLang="en-US" dirty="0"/>
              <a:t>位平台）</a:t>
            </a:r>
            <a:endParaRPr lang="en-US" altLang="zh-CN" dirty="0"/>
          </a:p>
          <a:p>
            <a:pPr lvl="1"/>
            <a:r>
              <a:rPr lang="en-US" altLang="zh-CN" dirty="0"/>
              <a:t>void*</a:t>
            </a:r>
            <a:r>
              <a:rPr lang="zh-CN" altLang="en-US" dirty="0"/>
              <a:t>类型的指针变量在后续的使用过程一般要强制类型转化</a:t>
            </a:r>
            <a:endParaRPr lang="zh-CN" altLang="en-US" dirty="0"/>
          </a:p>
          <a:p>
            <a:r>
              <a:rPr lang="en-US" altLang="zh-CN" dirty="0"/>
              <a:t>NULL</a:t>
            </a:r>
            <a:endParaRPr lang="en-US" altLang="zh-CN" dirty="0"/>
          </a:p>
          <a:p>
            <a:pPr lvl="1"/>
            <a:r>
              <a:rPr lang="en-US" altLang="zh-CN" dirty="0"/>
              <a:t>NULL</a:t>
            </a:r>
            <a:r>
              <a:rPr lang="zh-CN" altLang="en-US" dirty="0"/>
              <a:t>是强制类型转换为</a:t>
            </a:r>
            <a:r>
              <a:rPr lang="en-US" altLang="zh-CN" dirty="0"/>
              <a:t>void</a:t>
            </a:r>
            <a:r>
              <a:rPr lang="zh-CN" altLang="en-US" dirty="0"/>
              <a:t>指针的整数常量</a:t>
            </a:r>
            <a:r>
              <a:rPr lang="en-US" altLang="zh-CN" dirty="0"/>
              <a:t>0</a:t>
            </a:r>
            <a:r>
              <a:rPr lang="zh-CN" altLang="en-US" dirty="0"/>
              <a:t>：</a:t>
            </a:r>
            <a:r>
              <a:rPr lang="en-US" altLang="zh-CN" dirty="0"/>
              <a:t>#define NULL ((void *)0)</a:t>
            </a:r>
            <a:endParaRPr lang="en-US" altLang="zh-CN" dirty="0"/>
          </a:p>
          <a:p>
            <a:pPr lvl="1"/>
            <a:r>
              <a:rPr lang="zh-CN" altLang="en-US" dirty="0"/>
              <a:t>给指针变量赋值</a:t>
            </a:r>
            <a:r>
              <a:rPr lang="en-US" altLang="zh-CN" dirty="0"/>
              <a:t>NULL</a:t>
            </a:r>
            <a:r>
              <a:rPr lang="zh-CN" altLang="en-US" dirty="0"/>
              <a:t>，意味着这个指针不指向任何东西</a:t>
            </a:r>
            <a:endParaRPr lang="en-US" altLang="zh-CN" dirty="0"/>
          </a:p>
          <a:p>
            <a:pPr lvl="1"/>
            <a:r>
              <a:rPr lang="zh-CN" altLang="en-US" dirty="0"/>
              <a:t>通常用</a:t>
            </a:r>
            <a:r>
              <a:rPr lang="en-US" altLang="zh-CN" dirty="0"/>
              <a:t>NULL</a:t>
            </a:r>
            <a:r>
              <a:rPr lang="zh-CN" altLang="en-US" dirty="0"/>
              <a:t>初始化指针变量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圆角矩形 3"/>
          <p:cNvSpPr/>
          <p:nvPr/>
        </p:nvSpPr>
        <p:spPr>
          <a:xfrm>
            <a:off x="2848733" y="4557726"/>
            <a:ext cx="1882059" cy="400693"/>
          </a:xfrm>
          <a:prstGeom prst="roundRect">
            <a:avLst>
              <a:gd name="adj" fmla="val 13754"/>
            </a:avLst>
          </a:prstGeom>
          <a:solidFill>
            <a:sysClr val="window" lastClr="FFFFFF"/>
          </a:solidFill>
          <a:ln w="12700" cap="flat" cmpd="sng" algn="ctr">
            <a:solidFill>
              <a:srgbClr val="E84C22"/>
            </a:solidFill>
            <a:prstDash val="solid"/>
            <a:miter lim="800000"/>
          </a:ln>
          <a:effectLst/>
        </p:spPr>
        <p:txBody>
          <a:bodyPr lIns="180000" rtlCol="0" anchor="t"/>
          <a:lstStyle/>
          <a:p>
            <a:pPr marL="0" marR="0" lvl="0" indent="0" defTabSz="363855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int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 *p = NULL;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1907704" y="1115692"/>
            <a:ext cx="1882059" cy="400693"/>
          </a:xfrm>
          <a:prstGeom prst="roundRect">
            <a:avLst>
              <a:gd name="adj" fmla="val 13754"/>
            </a:avLst>
          </a:prstGeom>
          <a:solidFill>
            <a:sysClr val="window" lastClr="FFFFFF"/>
          </a:solidFill>
          <a:ln w="12700" cap="flat" cmpd="sng" algn="ctr">
            <a:solidFill>
              <a:srgbClr val="E84C22"/>
            </a:solidFill>
            <a:prstDash val="solid"/>
            <a:miter lim="800000"/>
          </a:ln>
          <a:effectLst/>
        </p:spPr>
        <p:txBody>
          <a:bodyPr lIns="180000" rtlCol="0" anchor="t"/>
          <a:lstStyle/>
          <a:p>
            <a:pPr marL="0" marR="0" lvl="0" indent="0" defTabSz="363855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void</a:t>
            </a:r>
            <a:r>
              <a:rPr kumimoji="0" lang="en-US" altLang="zh-CN" sz="16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 f(void);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2015716" y="2815452"/>
            <a:ext cx="4392488" cy="400693"/>
          </a:xfrm>
          <a:prstGeom prst="roundRect">
            <a:avLst>
              <a:gd name="adj" fmla="val 13754"/>
            </a:avLst>
          </a:prstGeom>
          <a:solidFill>
            <a:sysClr val="window" lastClr="FFFFFF"/>
          </a:solidFill>
          <a:ln w="12700" cap="flat" cmpd="sng" algn="ctr">
            <a:solidFill>
              <a:srgbClr val="E84C22"/>
            </a:solidFill>
            <a:prstDash val="solid"/>
            <a:miter lim="800000"/>
          </a:ln>
          <a:effectLst/>
        </p:spPr>
        <p:txBody>
          <a:bodyPr lIns="180000" rtlCol="0" anchor="t"/>
          <a:lstStyle/>
          <a:p>
            <a:pPr defTabSz="363855">
              <a:lnSpc>
                <a:spcPct val="120000"/>
              </a:lnSpc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void *p </a:t>
            </a:r>
            <a:r>
              <a:rPr lang="en-US" altLang="zh-CN" sz="1600" kern="0" dirty="0">
                <a:solidFill>
                  <a:prstClr val="black"/>
                </a:solidFill>
                <a:latin typeface="等线"/>
                <a:ea typeface="等线"/>
              </a:rPr>
              <a:t>= (void *)("</a:t>
            </a:r>
            <a:r>
              <a:rPr lang="en-US" altLang="zh-CN" sz="1600" kern="0" dirty="0" err="1">
                <a:solidFill>
                  <a:prstClr val="black"/>
                </a:solidFill>
                <a:latin typeface="等线"/>
                <a:ea typeface="等线"/>
              </a:rPr>
              <a:t>abc</a:t>
            </a:r>
            <a:r>
              <a:rPr lang="en-US" altLang="zh-CN" sz="1600" kern="0" dirty="0">
                <a:solidFill>
                  <a:prstClr val="black"/>
                </a:solidFill>
                <a:latin typeface="等线"/>
                <a:ea typeface="等线"/>
              </a:rPr>
              <a:t>"); void *</a:t>
            </a:r>
            <a:r>
              <a:rPr lang="en-US" altLang="zh-CN" sz="1600" kern="0" dirty="0" err="1">
                <a:solidFill>
                  <a:prstClr val="black"/>
                </a:solidFill>
                <a:latin typeface="等线"/>
                <a:ea typeface="等线"/>
              </a:rPr>
              <a:t>str</a:t>
            </a:r>
            <a:r>
              <a:rPr lang="en-US" altLang="zh-CN" sz="1600" kern="0" dirty="0">
                <a:solidFill>
                  <a:prstClr val="black"/>
                </a:solidFill>
                <a:latin typeface="等线"/>
                <a:ea typeface="等线"/>
              </a:rPr>
              <a:t> = (void *)(p);    </a:t>
            </a:r>
            <a:endParaRPr lang="en-US" altLang="zh-CN" sz="1600" kern="0" dirty="0">
              <a:solidFill>
                <a:prstClr val="black"/>
              </a:solidFill>
              <a:latin typeface="等线"/>
              <a:ea typeface="等线"/>
            </a:endParaRPr>
          </a:p>
          <a:p>
            <a:pPr lvl="0" defTabSz="363855">
              <a:lnSpc>
                <a:spcPct val="120000"/>
              </a:lnSpc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   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200" dirty="0">
                <a:solidFill>
                  <a:srgbClr val="C00000"/>
                </a:solidFill>
              </a:rPr>
              <a:t>指向函数的指针</a:t>
            </a:r>
            <a:r>
              <a:rPr lang="zh-CN" altLang="en-US" sz="3200" dirty="0"/>
              <a:t>作为</a:t>
            </a:r>
            <a:r>
              <a:rPr lang="zh-CN" altLang="en-US" sz="3200" dirty="0">
                <a:solidFill>
                  <a:srgbClr val="0000FF"/>
                </a:solidFill>
              </a:rPr>
              <a:t>函数参数</a:t>
            </a:r>
            <a:r>
              <a:rPr lang="zh-CN" altLang="en-US" sz="3200" dirty="0"/>
              <a:t>举例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2000" y="1115692"/>
            <a:ext cx="8280000" cy="5166000"/>
          </a:xfrm>
        </p:spPr>
        <p:txBody>
          <a:bodyPr>
            <a:normAutofit fontScale="92500" lnSpcReduction="10000"/>
          </a:bodyPr>
          <a:lstStyle/>
          <a:p>
            <a:r>
              <a:rPr lang="en-US" sz="2800" dirty="0" err="1"/>
              <a:t>qsort</a:t>
            </a:r>
            <a:r>
              <a:rPr lang="zh-CN" altLang="en-US" sz="2800" dirty="0"/>
              <a:t>函数</a:t>
            </a:r>
            <a:endParaRPr lang="zh-CN" altLang="en-US" sz="2800" dirty="0"/>
          </a:p>
          <a:p>
            <a:r>
              <a:rPr lang="en-US" dirty="0">
                <a:solidFill>
                  <a:srgbClr val="C00000"/>
                </a:solidFill>
              </a:rPr>
              <a:t>void </a:t>
            </a:r>
            <a:r>
              <a:rPr lang="en-US" dirty="0" err="1">
                <a:solidFill>
                  <a:srgbClr val="C00000"/>
                </a:solidFill>
              </a:rPr>
              <a:t>qsort</a:t>
            </a:r>
            <a:r>
              <a:rPr lang="en-US" dirty="0">
                <a:solidFill>
                  <a:srgbClr val="C00000"/>
                </a:solidFill>
              </a:rPr>
              <a:t>(</a:t>
            </a:r>
            <a:r>
              <a:rPr lang="en-US" dirty="0">
                <a:solidFill>
                  <a:srgbClr val="00B050"/>
                </a:solidFill>
              </a:rPr>
              <a:t>void*</a:t>
            </a:r>
            <a:r>
              <a:rPr lang="en-US" dirty="0">
                <a:solidFill>
                  <a:srgbClr val="C00000"/>
                </a:solidFill>
              </a:rPr>
              <a:t> base, </a:t>
            </a:r>
            <a:r>
              <a:rPr lang="en-US" dirty="0" err="1">
                <a:solidFill>
                  <a:srgbClr val="C00000"/>
                </a:solidFill>
              </a:rPr>
              <a:t>size_t</a:t>
            </a:r>
            <a:r>
              <a:rPr lang="en-US" dirty="0">
                <a:solidFill>
                  <a:srgbClr val="C00000"/>
                </a:solidFill>
              </a:rPr>
              <a:t> n, </a:t>
            </a:r>
            <a:r>
              <a:rPr lang="en-US" dirty="0" err="1">
                <a:solidFill>
                  <a:srgbClr val="C00000"/>
                </a:solidFill>
              </a:rPr>
              <a:t>size_t</a:t>
            </a:r>
            <a:r>
              <a:rPr lang="en-US" dirty="0">
                <a:solidFill>
                  <a:srgbClr val="C00000"/>
                </a:solidFill>
              </a:rPr>
              <a:t> size, int (*</a:t>
            </a:r>
            <a:r>
              <a:rPr lang="en-US" dirty="0" err="1">
                <a:solidFill>
                  <a:srgbClr val="C00000"/>
                </a:solidFill>
              </a:rPr>
              <a:t>cmp</a:t>
            </a:r>
            <a:r>
              <a:rPr lang="en-US" dirty="0">
                <a:solidFill>
                  <a:srgbClr val="C00000"/>
                </a:solidFill>
              </a:rPr>
              <a:t>)(</a:t>
            </a:r>
            <a:r>
              <a:rPr lang="en-US" dirty="0">
                <a:solidFill>
                  <a:srgbClr val="00B050"/>
                </a:solidFill>
              </a:rPr>
              <a:t>const void*</a:t>
            </a:r>
            <a:r>
              <a:rPr lang="en-US" dirty="0">
                <a:solidFill>
                  <a:srgbClr val="C00000"/>
                </a:solidFill>
              </a:rPr>
              <a:t>, </a:t>
            </a:r>
            <a:r>
              <a:rPr lang="en-US" dirty="0">
                <a:solidFill>
                  <a:srgbClr val="00B050"/>
                </a:solidFill>
              </a:rPr>
              <a:t>const void*</a:t>
            </a:r>
            <a:r>
              <a:rPr lang="en-US" dirty="0">
                <a:solidFill>
                  <a:srgbClr val="C00000"/>
                </a:solidFill>
              </a:rPr>
              <a:t>))</a:t>
            </a:r>
            <a:endParaRPr lang="en-US" dirty="0">
              <a:solidFill>
                <a:srgbClr val="C00000"/>
              </a:solidFill>
            </a:endParaRPr>
          </a:p>
          <a:p>
            <a:pPr lvl="1"/>
            <a:r>
              <a:rPr lang="en-US" sz="2400" dirty="0"/>
              <a:t>base </a:t>
            </a:r>
            <a:r>
              <a:rPr lang="zh-CN" altLang="en-US" sz="2400" dirty="0"/>
              <a:t>为要排序的数组</a:t>
            </a:r>
            <a:endParaRPr lang="zh-CN" altLang="en-US" sz="2400" dirty="0"/>
          </a:p>
          <a:p>
            <a:pPr lvl="1"/>
            <a:r>
              <a:rPr lang="en-US" sz="2400" dirty="0"/>
              <a:t>n</a:t>
            </a:r>
            <a:r>
              <a:rPr lang="zh-CN" altLang="en-US" sz="2400" dirty="0"/>
              <a:t>为要排序数组的长度</a:t>
            </a:r>
            <a:endParaRPr lang="zh-CN" altLang="en-US" sz="2400" dirty="0"/>
          </a:p>
          <a:p>
            <a:pPr lvl="1"/>
            <a:r>
              <a:rPr lang="en-US" sz="2400" dirty="0"/>
              <a:t>size</a:t>
            </a:r>
            <a:r>
              <a:rPr lang="zh-CN" altLang="en-US" sz="2400" dirty="0"/>
              <a:t>为数组元素的大小（以字节为单位） </a:t>
            </a:r>
            <a:endParaRPr lang="zh-CN" altLang="en-US" sz="2400" dirty="0"/>
          </a:p>
          <a:p>
            <a:pPr lvl="1"/>
            <a:r>
              <a:rPr lang="en-US" sz="2400" dirty="0" err="1"/>
              <a:t>cmp</a:t>
            </a:r>
            <a:r>
              <a:rPr lang="zh-CN" altLang="en-US" sz="2400" dirty="0"/>
              <a:t>为判断大小函数的指针</a:t>
            </a:r>
            <a:endParaRPr lang="en-US" altLang="zh-CN" sz="2400" dirty="0"/>
          </a:p>
          <a:p>
            <a:pPr lvl="2"/>
            <a:r>
              <a:rPr lang="en-US" dirty="0">
                <a:solidFill>
                  <a:srgbClr val="C00000"/>
                </a:solidFill>
              </a:rPr>
              <a:t>int compare(</a:t>
            </a:r>
            <a:r>
              <a:rPr lang="en-US" dirty="0">
                <a:solidFill>
                  <a:srgbClr val="00B050"/>
                </a:solidFill>
              </a:rPr>
              <a:t>const void* </a:t>
            </a:r>
            <a:r>
              <a:rPr lang="en-US" altLang="zh-CN" dirty="0">
                <a:solidFill>
                  <a:srgbClr val="00B050"/>
                </a:solidFill>
              </a:rPr>
              <a:t>p1</a:t>
            </a:r>
            <a:r>
              <a:rPr lang="en-US" dirty="0">
                <a:solidFill>
                  <a:srgbClr val="C00000"/>
                </a:solidFill>
              </a:rPr>
              <a:t>, </a:t>
            </a:r>
            <a:r>
              <a:rPr lang="en-US" dirty="0">
                <a:solidFill>
                  <a:srgbClr val="00B050"/>
                </a:solidFill>
              </a:rPr>
              <a:t>const void* p2</a:t>
            </a:r>
            <a:r>
              <a:rPr lang="en-US" dirty="0">
                <a:solidFill>
                  <a:srgbClr val="C00000"/>
                </a:solidFill>
              </a:rPr>
              <a:t>)</a:t>
            </a:r>
            <a:endParaRPr lang="zh-CN" altLang="en-US" dirty="0"/>
          </a:p>
          <a:p>
            <a:pPr lvl="2"/>
            <a:r>
              <a:rPr lang="zh-CN" altLang="en-US" sz="2000" dirty="0"/>
              <a:t>这个函数需要自己定义</a:t>
            </a:r>
            <a:endParaRPr lang="en-US" altLang="zh-CN" sz="2000" dirty="0"/>
          </a:p>
          <a:p>
            <a:pPr lvl="2"/>
            <a:r>
              <a:rPr lang="zh-CN" altLang="en-US" dirty="0"/>
              <a:t>如果返回值小于</a:t>
            </a:r>
            <a:r>
              <a:rPr lang="en-US" altLang="zh-CN" dirty="0"/>
              <a:t>0</a:t>
            </a:r>
            <a:r>
              <a:rPr lang="zh-CN" altLang="en-US" dirty="0"/>
              <a:t>（</a:t>
            </a:r>
            <a:r>
              <a:rPr lang="en-US" altLang="zh-CN" dirty="0"/>
              <a:t>&lt; 0</a:t>
            </a:r>
            <a:r>
              <a:rPr lang="zh-CN" altLang="en-US" dirty="0"/>
              <a:t>），那么</a:t>
            </a:r>
            <a:r>
              <a:rPr lang="en-US" altLang="zh-CN" dirty="0"/>
              <a:t>p1</a:t>
            </a:r>
            <a:r>
              <a:rPr lang="zh-CN" altLang="en-US" dirty="0"/>
              <a:t>所指向元素会被排在</a:t>
            </a:r>
            <a:r>
              <a:rPr lang="en-US" altLang="zh-CN" dirty="0"/>
              <a:t>p2</a:t>
            </a:r>
            <a:r>
              <a:rPr lang="zh-CN" altLang="en-US" dirty="0"/>
              <a:t>所指向元素的前面；</a:t>
            </a:r>
            <a:endParaRPr lang="zh-CN" altLang="en-US" dirty="0"/>
          </a:p>
          <a:p>
            <a:pPr lvl="2"/>
            <a:r>
              <a:rPr lang="zh-CN" altLang="en-US" dirty="0"/>
              <a:t>如果</a:t>
            </a:r>
            <a:r>
              <a:rPr lang="en-US" altLang="zh-CN" dirty="0" err="1"/>
              <a:t>compar</a:t>
            </a:r>
            <a:r>
              <a:rPr lang="zh-CN" altLang="en-US" dirty="0"/>
              <a:t>返回值等于</a:t>
            </a:r>
            <a:r>
              <a:rPr lang="en-US" altLang="zh-CN" dirty="0"/>
              <a:t>0</a:t>
            </a:r>
            <a:r>
              <a:rPr lang="zh-CN" altLang="en-US" dirty="0"/>
              <a:t>（</a:t>
            </a:r>
            <a:r>
              <a:rPr lang="en-US" altLang="zh-CN" dirty="0"/>
              <a:t>= 0</a:t>
            </a:r>
            <a:r>
              <a:rPr lang="zh-CN" altLang="en-US" dirty="0"/>
              <a:t>），那么</a:t>
            </a:r>
            <a:r>
              <a:rPr lang="en-US" altLang="zh-CN" dirty="0"/>
              <a:t>p1</a:t>
            </a:r>
            <a:r>
              <a:rPr lang="zh-CN" altLang="en-US" dirty="0"/>
              <a:t>所指向元素与</a:t>
            </a:r>
            <a:r>
              <a:rPr lang="en-US" altLang="zh-CN" dirty="0"/>
              <a:t>p2</a:t>
            </a:r>
            <a:r>
              <a:rPr lang="zh-CN" altLang="en-US" dirty="0"/>
              <a:t>所指向元素的顺序不确定；</a:t>
            </a:r>
            <a:endParaRPr lang="zh-CN" altLang="en-US" dirty="0"/>
          </a:p>
          <a:p>
            <a:pPr lvl="2"/>
            <a:r>
              <a:rPr lang="zh-CN" altLang="en-US" dirty="0"/>
              <a:t>如果</a:t>
            </a:r>
            <a:r>
              <a:rPr lang="en-US" altLang="zh-CN" dirty="0" err="1"/>
              <a:t>compar</a:t>
            </a:r>
            <a:r>
              <a:rPr lang="zh-CN" altLang="en-US" dirty="0"/>
              <a:t>返回值大于</a:t>
            </a:r>
            <a:r>
              <a:rPr lang="en-US" altLang="zh-CN" dirty="0"/>
              <a:t>0</a:t>
            </a:r>
            <a:r>
              <a:rPr lang="zh-CN" altLang="en-US" dirty="0"/>
              <a:t>（</a:t>
            </a:r>
            <a:r>
              <a:rPr lang="en-US" altLang="zh-CN" dirty="0"/>
              <a:t>&gt; 0</a:t>
            </a:r>
            <a:r>
              <a:rPr lang="zh-CN" altLang="en-US" dirty="0"/>
              <a:t>），那么</a:t>
            </a:r>
            <a:r>
              <a:rPr lang="en-US" altLang="zh-CN" dirty="0"/>
              <a:t>p1</a:t>
            </a:r>
            <a:r>
              <a:rPr lang="zh-CN" altLang="en-US" dirty="0"/>
              <a:t>所指向元素会被排在</a:t>
            </a:r>
            <a:r>
              <a:rPr lang="en-US" altLang="zh-CN" dirty="0"/>
              <a:t>p2</a:t>
            </a:r>
            <a:r>
              <a:rPr lang="zh-CN" altLang="en-US" dirty="0"/>
              <a:t>所指向元素的后面</a:t>
            </a:r>
            <a:endParaRPr lang="en-US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3224" y="233108"/>
            <a:ext cx="8280000" cy="683692"/>
          </a:xfrm>
        </p:spPr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13-17</a:t>
            </a:r>
            <a:endParaRPr lang="en-US" dirty="0"/>
          </a:p>
        </p:txBody>
      </p:sp>
      <p:sp>
        <p:nvSpPr>
          <p:cNvPr id="3" name="矩形 2"/>
          <p:cNvSpPr/>
          <p:nvPr/>
        </p:nvSpPr>
        <p:spPr>
          <a:xfrm>
            <a:off x="343224" y="1115692"/>
            <a:ext cx="8948691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en-US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stdio.h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en-US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time.h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en-US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stdlib.h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compare(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a,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b);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main()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ary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20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],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 err="1">
                <a:solidFill>
                  <a:srgbClr val="C00000"/>
                </a:solidFill>
                <a:latin typeface="Consolas" panose="020B0609020204030204" pitchFamily="49" charset="0"/>
              </a:rPr>
              <a:t>srand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</a:rPr>
              <a:t>((unsigned)time(NULL)); 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zh-CN" alt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随机产生</a:t>
            </a:r>
            <a:r>
              <a:rPr lang="en-US" altLang="zh-CN" sz="1600" dirty="0">
                <a:solidFill>
                  <a:srgbClr val="008000"/>
                </a:solidFill>
                <a:latin typeface="Consolas" panose="020B0609020204030204" pitchFamily="49" charset="0"/>
              </a:rPr>
              <a:t>20</a:t>
            </a:r>
            <a:r>
              <a:rPr lang="zh-CN" alt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个数</a:t>
            </a:r>
            <a:endParaRPr lang="zh-CN" alt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20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++)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ary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rand();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20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++)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 // </a:t>
            </a:r>
            <a:r>
              <a:rPr lang="zh-CN" alt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输出</a:t>
            </a:r>
            <a:r>
              <a:rPr lang="en-US" altLang="zh-CN" sz="1600" dirty="0">
                <a:solidFill>
                  <a:srgbClr val="008000"/>
                </a:solidFill>
                <a:latin typeface="Consolas" panose="020B0609020204030204" pitchFamily="49" charset="0"/>
              </a:rPr>
              <a:t>20</a:t>
            </a:r>
            <a:r>
              <a:rPr lang="zh-CN" alt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个数</a:t>
            </a:r>
            <a:endParaRPr lang="zh-CN" alt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"%d 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ary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]);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"\n"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 err="1">
                <a:solidFill>
                  <a:srgbClr val="C00000"/>
                </a:solidFill>
                <a:latin typeface="Consolas" panose="020B0609020204030204" pitchFamily="49" charset="0"/>
              </a:rPr>
              <a:t>qsort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</a:rPr>
              <a:t>((void *)</a:t>
            </a:r>
            <a:r>
              <a:rPr lang="en-US" sz="1600" dirty="0" err="1">
                <a:solidFill>
                  <a:srgbClr val="C00000"/>
                </a:solidFill>
                <a:latin typeface="Consolas" panose="020B0609020204030204" pitchFamily="49" charset="0"/>
              </a:rPr>
              <a:t>ary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</a:rPr>
              <a:t>, 20, </a:t>
            </a:r>
            <a:r>
              <a:rPr lang="en-US" sz="1600" dirty="0" err="1">
                <a:solidFill>
                  <a:srgbClr val="C00000"/>
                </a:solidFill>
                <a:latin typeface="Consolas" panose="020B0609020204030204" pitchFamily="49" charset="0"/>
              </a:rPr>
              <a:t>sizeof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</a:rPr>
              <a:t>(int), compare); 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zh-CN" alt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排序</a:t>
            </a:r>
            <a:endParaRPr lang="zh-CN" alt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20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++)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                      // </a:t>
            </a:r>
            <a:r>
              <a:rPr lang="zh-CN" alt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输出排序后的</a:t>
            </a:r>
            <a:r>
              <a:rPr lang="en-US" altLang="zh-CN" sz="1600" dirty="0">
                <a:solidFill>
                  <a:srgbClr val="008000"/>
                </a:solidFill>
                <a:latin typeface="Consolas" panose="020B0609020204030204" pitchFamily="49" charset="0"/>
              </a:rPr>
              <a:t>20</a:t>
            </a:r>
            <a:r>
              <a:rPr lang="zh-CN" alt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个数     </a:t>
            </a:r>
            <a:endParaRPr lang="zh-CN" alt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"%d 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ary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]);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"\n"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2"/>
          <p:cNvSpPr txBox="1">
            <a:spLocks noChangeArrowheads="1"/>
          </p:cNvSpPr>
          <p:nvPr/>
        </p:nvSpPr>
        <p:spPr bwMode="auto">
          <a:xfrm>
            <a:off x="818232" y="1462064"/>
            <a:ext cx="7196639" cy="3684278"/>
          </a:xfrm>
          <a:prstGeom prst="rect">
            <a:avLst/>
          </a:prstGeom>
          <a:noFill/>
          <a:ln w="12700" cap="sq">
            <a:solidFill>
              <a:srgbClr val="0000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en-US" altLang="zh-CN" sz="1000" dirty="0"/>
          </a:p>
          <a:p>
            <a:pPr eaLnBrk="1" hangingPunct="1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/>
              <a:t>int compare(const void *a, const void *b)</a:t>
            </a:r>
            <a:endParaRPr kumimoji="1" lang="en-US" altLang="zh-CN" sz="2400" dirty="0"/>
          </a:p>
          <a:p>
            <a:pPr eaLnBrk="1" hangingPunct="1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/>
              <a:t>{</a:t>
            </a:r>
            <a:endParaRPr kumimoji="1" lang="en-US" altLang="zh-CN" sz="2400" dirty="0"/>
          </a:p>
          <a:p>
            <a:pPr eaLnBrk="1" hangingPunct="1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en-US" altLang="zh-CN" sz="2400" dirty="0"/>
          </a:p>
          <a:p>
            <a:pPr eaLnBrk="1" hangingPunct="1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/>
              <a:t>	if ( *(int*)a &gt; *(int*)b )</a:t>
            </a:r>
            <a:endParaRPr kumimoji="1" lang="en-US" altLang="zh-CN" sz="2400" dirty="0"/>
          </a:p>
          <a:p>
            <a:pPr eaLnBrk="1" hangingPunct="1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/>
              <a:t>		return 1;</a:t>
            </a:r>
            <a:endParaRPr kumimoji="1" lang="en-US" altLang="zh-CN" sz="2400" dirty="0"/>
          </a:p>
          <a:p>
            <a:pPr eaLnBrk="1" hangingPunct="1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/>
              <a:t>	else </a:t>
            </a:r>
            <a:endParaRPr kumimoji="1" lang="en-US" altLang="zh-CN" sz="2400" dirty="0"/>
          </a:p>
          <a:p>
            <a:pPr eaLnBrk="1" hangingPunct="1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/>
              <a:t>		if ( *(int*)a == *(int*)b )</a:t>
            </a:r>
            <a:endParaRPr kumimoji="1" lang="en-US" altLang="zh-CN" sz="2400" dirty="0"/>
          </a:p>
          <a:p>
            <a:pPr eaLnBrk="1" hangingPunct="1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/>
              <a:t>			return 0;</a:t>
            </a:r>
            <a:endParaRPr kumimoji="1" lang="en-US" altLang="zh-CN" sz="2400" dirty="0"/>
          </a:p>
          <a:p>
            <a:pPr eaLnBrk="1" hangingPunct="1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/>
              <a:t>		else</a:t>
            </a:r>
            <a:endParaRPr kumimoji="1" lang="en-US" altLang="zh-CN" sz="2400" dirty="0"/>
          </a:p>
          <a:p>
            <a:pPr eaLnBrk="1" hangingPunct="1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/>
              <a:t>			return -1;</a:t>
            </a:r>
            <a:endParaRPr kumimoji="1" lang="en-US" altLang="zh-CN" sz="2400" dirty="0"/>
          </a:p>
          <a:p>
            <a:pPr eaLnBrk="1" hangingPunct="1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/>
              <a:t>}</a:t>
            </a:r>
            <a:endParaRPr kumimoji="1" lang="en-US" altLang="zh-CN" sz="2400" dirty="0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整数比较</a:t>
            </a:r>
            <a:endParaRPr lang="en-US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 Box 2"/>
          <p:cNvSpPr txBox="1">
            <a:spLocks noChangeArrowheads="1"/>
          </p:cNvSpPr>
          <p:nvPr/>
        </p:nvSpPr>
        <p:spPr bwMode="auto">
          <a:xfrm>
            <a:off x="881271" y="1937068"/>
            <a:ext cx="7381458" cy="2611677"/>
          </a:xfrm>
          <a:prstGeom prst="rect">
            <a:avLst/>
          </a:prstGeom>
          <a:noFill/>
          <a:ln w="12700" cap="sq">
            <a:solidFill>
              <a:srgbClr val="0000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/>
              <a:t>int compare(const void *a, const void *b)</a:t>
            </a:r>
            <a:endParaRPr kumimoji="1" lang="en-US" altLang="zh-CN" sz="2400" dirty="0"/>
          </a:p>
          <a:p>
            <a:pPr eaLnBrk="1" hangingPunct="1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/>
              <a:t>{</a:t>
            </a:r>
            <a:endParaRPr kumimoji="1" lang="en-US" altLang="zh-CN" sz="2400" dirty="0"/>
          </a:p>
          <a:p>
            <a:pPr eaLnBrk="1" hangingPunct="1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/>
              <a:t>	char *p, *q;</a:t>
            </a:r>
            <a:endParaRPr kumimoji="1" lang="en-US" altLang="zh-CN" sz="2400" dirty="0"/>
          </a:p>
          <a:p>
            <a:pPr eaLnBrk="1" hangingPunct="1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/>
              <a:t>	p = (char *)a;</a:t>
            </a:r>
            <a:endParaRPr kumimoji="1" lang="en-US" altLang="zh-CN" sz="2400" dirty="0"/>
          </a:p>
          <a:p>
            <a:pPr eaLnBrk="1" hangingPunct="1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/>
              <a:t>	q = (char *)b;</a:t>
            </a:r>
            <a:endParaRPr kumimoji="1" lang="en-US" altLang="zh-CN" sz="2400" dirty="0"/>
          </a:p>
          <a:p>
            <a:pPr eaLnBrk="1" hangingPunct="1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en-US" altLang="zh-CN" sz="2400" dirty="0"/>
          </a:p>
          <a:p>
            <a:pPr eaLnBrk="1" hangingPunct="1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/>
              <a:t>	return </a:t>
            </a:r>
            <a:r>
              <a:rPr kumimoji="1" lang="en-US" altLang="zh-CN" sz="2400" dirty="0" err="1"/>
              <a:t>strcmp</a:t>
            </a:r>
            <a:r>
              <a:rPr kumimoji="1" lang="en-US" altLang="zh-CN" sz="2400" dirty="0"/>
              <a:t>(p, q);	</a:t>
            </a:r>
            <a:endParaRPr kumimoji="1" lang="en-US" altLang="zh-CN" sz="2400" dirty="0"/>
          </a:p>
          <a:p>
            <a:pPr eaLnBrk="1" hangingPunct="1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dirty="0"/>
              <a:t>}</a:t>
            </a:r>
            <a:endParaRPr kumimoji="1" lang="en-US" altLang="zh-CN" sz="2400" dirty="0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字符串比较</a:t>
            </a:r>
            <a:endParaRPr lang="en-US"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6. </a:t>
            </a:r>
            <a:r>
              <a:rPr lang="zh-CN" altLang="en-US" dirty="0"/>
              <a:t>动态内存分配与释放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动态内存是相对静态内存而言的</a:t>
            </a:r>
            <a:endParaRPr lang="en-US" altLang="zh-CN" dirty="0"/>
          </a:p>
          <a:p>
            <a:pPr lvl="1"/>
            <a:r>
              <a:rPr lang="zh-CN" altLang="en-US" dirty="0"/>
              <a:t>所谓动态和静态就是指内存的分配方式。</a:t>
            </a:r>
            <a:endParaRPr lang="en-US" altLang="zh-CN" dirty="0"/>
          </a:p>
          <a:p>
            <a:pPr lvl="1"/>
            <a:r>
              <a:rPr lang="zh-CN" altLang="en-US" dirty="0"/>
              <a:t>动态内存是指在</a:t>
            </a:r>
            <a:r>
              <a:rPr lang="zh-CN" altLang="en-US" dirty="0">
                <a:solidFill>
                  <a:srgbClr val="FF0000"/>
                </a:solidFill>
              </a:rPr>
              <a:t>堆</a:t>
            </a:r>
            <a:r>
              <a:rPr lang="en-US" altLang="zh-CN" dirty="0">
                <a:solidFill>
                  <a:srgbClr val="FF0000"/>
                </a:solidFill>
              </a:rPr>
              <a:t>(heap)</a:t>
            </a:r>
            <a:r>
              <a:rPr lang="zh-CN" altLang="en-US" dirty="0"/>
              <a:t>上分配的内存，而静态内存是指在</a:t>
            </a:r>
            <a:r>
              <a:rPr lang="zh-CN" altLang="en-US" dirty="0">
                <a:solidFill>
                  <a:srgbClr val="FF0000"/>
                </a:solidFill>
              </a:rPr>
              <a:t>栈</a:t>
            </a:r>
            <a:r>
              <a:rPr lang="zh-CN" altLang="en-US" dirty="0"/>
              <a:t>上分配的内存。</a:t>
            </a:r>
            <a:endParaRPr lang="en-US" altLang="zh-CN" dirty="0"/>
          </a:p>
          <a:p>
            <a:r>
              <a:rPr lang="zh-CN" altLang="en-US" dirty="0"/>
              <a:t>动态内存分配相比，传统数组主要有以下缺点：</a:t>
            </a:r>
            <a:endParaRPr lang="en-US" altLang="zh-CN" dirty="0"/>
          </a:p>
          <a:p>
            <a:pPr lvl="1"/>
            <a:r>
              <a:rPr lang="zh-CN" altLang="en-US" dirty="0"/>
              <a:t>数组的长度必须事先指定，而且只能是常量</a:t>
            </a:r>
            <a:endParaRPr lang="en-US" altLang="zh-CN" dirty="0"/>
          </a:p>
          <a:p>
            <a:pPr lvl="1"/>
            <a:r>
              <a:rPr lang="zh-CN" altLang="en-US" dirty="0"/>
              <a:t>长度不能在函数运行的过程当中动态地扩充和缩小</a:t>
            </a:r>
            <a:endParaRPr lang="en-US" altLang="zh-CN" dirty="0"/>
          </a:p>
          <a:p>
            <a:pPr lvl="1"/>
            <a:r>
              <a:rPr lang="zh-CN" altLang="en-US" dirty="0"/>
              <a:t>数组所占内存空间程序员无法手动编程释放，只能在函数运行结束后由系统自动释放</a:t>
            </a:r>
            <a:endParaRPr lang="en-US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H_Desc_1"/>
          <p:cNvSpPr/>
          <p:nvPr>
            <p:custDataLst>
              <p:tags r:id="rId1"/>
            </p:custDataLst>
          </p:nvPr>
        </p:nvSpPr>
        <p:spPr>
          <a:xfrm>
            <a:off x="187512" y="2004987"/>
            <a:ext cx="8643395" cy="4421013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-1" fmla="*/ 0 w 2520280"/>
              <a:gd name="connsiteY0-2" fmla="*/ 1584176 h 1872208"/>
              <a:gd name="connsiteX1-3" fmla="*/ 2520280 w 2520280"/>
              <a:gd name="connsiteY1-4" fmla="*/ 1584176 h 1872208"/>
              <a:gd name="connsiteX2-5" fmla="*/ 2520280 w 2520280"/>
              <a:gd name="connsiteY2-6" fmla="*/ 1872208 h 1872208"/>
              <a:gd name="connsiteX3-7" fmla="*/ 0 w 2520280"/>
              <a:gd name="connsiteY3-8" fmla="*/ 1872208 h 1872208"/>
              <a:gd name="connsiteX4-9" fmla="*/ 0 w 2520280"/>
              <a:gd name="connsiteY4-10" fmla="*/ 1584176 h 1872208"/>
              <a:gd name="connsiteX5-11" fmla="*/ 0 w 2520280"/>
              <a:gd name="connsiteY5-12" fmla="*/ 0 h 1872208"/>
              <a:gd name="connsiteX6-13" fmla="*/ 2520280 w 2520280"/>
              <a:gd name="connsiteY6-14" fmla="*/ 0 h 1872208"/>
              <a:gd name="connsiteX7-15" fmla="*/ 0 w 2520280"/>
              <a:gd name="connsiteY7-16" fmla="*/ 0 h 1872208"/>
              <a:gd name="connsiteX0-17" fmla="*/ 0 w 2520280"/>
              <a:gd name="connsiteY0-18" fmla="*/ 1872208 h 1872208"/>
              <a:gd name="connsiteX1-19" fmla="*/ 2520280 w 2520280"/>
              <a:gd name="connsiteY1-20" fmla="*/ 1584176 h 1872208"/>
              <a:gd name="connsiteX2-21" fmla="*/ 2520280 w 2520280"/>
              <a:gd name="connsiteY2-22" fmla="*/ 1872208 h 1872208"/>
              <a:gd name="connsiteX3-23" fmla="*/ 0 w 2520280"/>
              <a:gd name="connsiteY3-24" fmla="*/ 1872208 h 1872208"/>
              <a:gd name="connsiteX4-25" fmla="*/ 0 w 2520280"/>
              <a:gd name="connsiteY4-26" fmla="*/ 0 h 1872208"/>
              <a:gd name="connsiteX5-27" fmla="*/ 2520280 w 2520280"/>
              <a:gd name="connsiteY5-28" fmla="*/ 0 h 1872208"/>
              <a:gd name="connsiteX6-29" fmla="*/ 0 w 2520280"/>
              <a:gd name="connsiteY6-30" fmla="*/ 0 h 1872208"/>
              <a:gd name="connsiteX0-31" fmla="*/ 0 w 2520280"/>
              <a:gd name="connsiteY0-32" fmla="*/ 1872208 h 1872208"/>
              <a:gd name="connsiteX1-33" fmla="*/ 2520280 w 2520280"/>
              <a:gd name="connsiteY1-34" fmla="*/ 1872208 h 1872208"/>
              <a:gd name="connsiteX2-35" fmla="*/ 0 w 2520280"/>
              <a:gd name="connsiteY2-36" fmla="*/ 1872208 h 1872208"/>
              <a:gd name="connsiteX3-37" fmla="*/ 0 w 2520280"/>
              <a:gd name="connsiteY3-38" fmla="*/ 0 h 1872208"/>
              <a:gd name="connsiteX4-39" fmla="*/ 2520280 w 2520280"/>
              <a:gd name="connsiteY4-40" fmla="*/ 0 h 1872208"/>
              <a:gd name="connsiteX5-41" fmla="*/ 0 w 2520280"/>
              <a:gd name="connsiteY5-42" fmla="*/ 0 h 18722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2520280" y="0"/>
                </a:lnTo>
                <a:lnTo>
                  <a:pt x="0" y="0"/>
                </a:lnTo>
                <a:close/>
              </a:path>
            </a:pathLst>
          </a:custGeom>
          <a:noFill/>
          <a:ln w="25400" cap="sq" cmpd="sng" algn="ctr">
            <a:solidFill>
              <a:srgbClr val="E84C22"/>
            </a:solidFill>
            <a:prstDash val="solid"/>
            <a:bevel/>
          </a:ln>
          <a:effectLst/>
        </p:spPr>
        <p:txBody>
          <a:bodyPr lIns="72000" tIns="72000" rIns="72000" bIns="72000" anchor="t">
            <a:noAutofit/>
          </a:bodyPr>
          <a:lstStyle/>
          <a:p>
            <a:pPr marL="0" marR="0" lvl="0" indent="0" algn="just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函数原型为</a:t>
            </a: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0" indent="0" algn="just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作用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是在内存的动态存储区中分配一个长度为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size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（以字节为单位）的连续空间。形参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size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的类型定为无符号整型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(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不允许为负数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)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。此函数的值（即“返回值”）是所分配区域的第一个字节的地址，或者说，此函数是一个指针型函数，返回的指针指向该分配域的第一个字节。</a:t>
            </a: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0" indent="0" algn="just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0" indent="0" algn="just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指针的基类型为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void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，即不指向任何类型的数据，只提供一个纯地址。如果此函数未能成功地执行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(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例如内存空间不足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)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，则返回空指针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(NULL)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。</a:t>
            </a: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algn="just">
              <a:lnSpc>
                <a:spcPct val="150000"/>
              </a:lnSpc>
              <a:spcAft>
                <a:spcPts val="600"/>
              </a:spcAft>
              <a:defRPr/>
            </a:pPr>
            <a:r>
              <a:rPr lang="zh-CN" altLang="en-US" sz="1400" dirty="0"/>
              <a:t>注意：返回值类型是</a:t>
            </a:r>
            <a:r>
              <a:rPr lang="en-US" altLang="zh-CN" sz="1400" dirty="0"/>
              <a:t>void *</a:t>
            </a:r>
            <a:r>
              <a:rPr lang="zh-CN" altLang="en-US" sz="1400" dirty="0"/>
              <a:t>，</a:t>
            </a:r>
            <a:r>
              <a:rPr lang="en-US" altLang="zh-CN" sz="1400" dirty="0"/>
              <a:t>void </a:t>
            </a:r>
            <a:r>
              <a:rPr lang="zh-CN" altLang="en-US" sz="1400" dirty="0"/>
              <a:t>并不是说没有返回值或者返回空指针，而是</a:t>
            </a:r>
            <a:r>
              <a:rPr lang="zh-CN" altLang="en-US" sz="1400" dirty="0">
                <a:solidFill>
                  <a:srgbClr val="FF0000"/>
                </a:solidFill>
              </a:rPr>
              <a:t>返回的指针类型未知</a:t>
            </a:r>
            <a:r>
              <a:rPr lang="zh-CN" altLang="en-US" sz="1400" dirty="0"/>
              <a:t>。在使用 </a:t>
            </a:r>
            <a:r>
              <a:rPr lang="en-US" altLang="zh-CN" sz="1400" dirty="0"/>
              <a:t>malloc() </a:t>
            </a:r>
            <a:r>
              <a:rPr lang="zh-CN" altLang="en-US" sz="1400" dirty="0"/>
              <a:t>时通常需要进行强制类型转换，将 </a:t>
            </a:r>
            <a:r>
              <a:rPr lang="en-US" altLang="zh-CN" sz="1400" dirty="0"/>
              <a:t>void </a:t>
            </a:r>
            <a:r>
              <a:rPr lang="zh-CN" altLang="en-US" sz="1400" dirty="0"/>
              <a:t>指针转换为希望的类型。</a:t>
            </a:r>
            <a:endParaRPr lang="en-US" altLang="zh-CN" sz="1400" dirty="0"/>
          </a:p>
          <a:p>
            <a:pPr marL="0" marR="0" lvl="0" indent="0" algn="just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动态分配内存</a:t>
            </a:r>
            <a:r>
              <a:rPr lang="en-US" altLang="zh-CN" dirty="0"/>
              <a:t>malloc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1464512" y="2086649"/>
            <a:ext cx="3691787" cy="483366"/>
          </a:xfrm>
          <a:prstGeom prst="rect">
            <a:avLst/>
          </a:prstGeom>
          <a:solidFill>
            <a:srgbClr val="E84C22"/>
          </a:solidFill>
          <a:ln w="12700" cap="flat" cmpd="sng" algn="ctr">
            <a:solidFill>
              <a:srgbClr val="E84C22">
                <a:shade val="50000"/>
              </a:srgbClr>
            </a:solidFill>
            <a:prstDash val="solid"/>
            <a:miter lim="800000"/>
          </a:ln>
          <a:effectLst/>
        </p:spPr>
        <p:txBody>
          <a:bodyPr lIns="180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void *malloc(unsigned int size);</a:t>
            </a: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313093" y="4297661"/>
            <a:ext cx="7229011" cy="400693"/>
          </a:xfrm>
          <a:prstGeom prst="roundRect">
            <a:avLst>
              <a:gd name="adj" fmla="val 13754"/>
            </a:avLst>
          </a:prstGeom>
          <a:solidFill>
            <a:sysClr val="window" lastClr="FFFFFF"/>
          </a:solidFill>
          <a:ln w="12700" cap="flat" cmpd="sng" algn="ctr">
            <a:solidFill>
              <a:srgbClr val="E84C22"/>
            </a:solidFill>
            <a:prstDash val="solid"/>
            <a:miter lim="800000"/>
          </a:ln>
          <a:effectLst/>
        </p:spPr>
        <p:txBody>
          <a:bodyPr lIns="180000" rtlCol="0" anchor="t"/>
          <a:lstStyle/>
          <a:p>
            <a:pPr marL="0" marR="0" lvl="0" indent="0" defTabSz="363855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malloc(100);		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//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开辟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100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字节的临时分配域，函数值为其第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1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个字节的地址 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79512" y="1370338"/>
            <a:ext cx="6096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400" dirty="0">
                <a:solidFill>
                  <a:prstClr val="black"/>
                </a:solidFill>
                <a:latin typeface="等线"/>
                <a:ea typeface="等线"/>
              </a:rPr>
              <a:t>用</a:t>
            </a:r>
            <a:r>
              <a:rPr lang="en-US" altLang="zh-CN" sz="2400" dirty="0">
                <a:solidFill>
                  <a:prstClr val="black"/>
                </a:solidFill>
                <a:latin typeface="等线"/>
                <a:ea typeface="等线"/>
              </a:rPr>
              <a:t>malloc</a:t>
            </a:r>
            <a:r>
              <a:rPr lang="zh-CN" altLang="en-US" sz="2400" dirty="0">
                <a:solidFill>
                  <a:prstClr val="black"/>
                </a:solidFill>
                <a:latin typeface="等线"/>
                <a:ea typeface="等线"/>
              </a:rPr>
              <a:t>函数开辟动态存储区</a:t>
            </a:r>
            <a:endParaRPr lang="zh-CN" altLang="en-US" sz="2400" dirty="0">
              <a:solidFill>
                <a:prstClr val="black"/>
              </a:solidFill>
              <a:latin typeface="等线"/>
              <a:ea typeface="等线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350144" y="1468229"/>
            <a:ext cx="28608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头文件：</a:t>
            </a:r>
            <a:r>
              <a:rPr lang="en-US" altLang="zh-CN" dirty="0"/>
              <a:t>#include &lt;</a:t>
            </a:r>
            <a:r>
              <a:rPr lang="en-US" altLang="zh-CN" dirty="0" err="1"/>
              <a:t>stdlib.h</a:t>
            </a:r>
            <a:r>
              <a:rPr lang="en-US" altLang="zh-CN" dirty="0"/>
              <a:t>&gt;</a:t>
            </a:r>
            <a:endParaRPr lang="en-US" altLang="zh-CN"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动态分配内存</a:t>
            </a:r>
            <a:r>
              <a:rPr lang="en-US" altLang="zh-CN" dirty="0" err="1"/>
              <a:t>calloc</a:t>
            </a:r>
            <a:endParaRPr lang="zh-CN" altLang="en-US" dirty="0"/>
          </a:p>
        </p:txBody>
      </p:sp>
      <p:sp>
        <p:nvSpPr>
          <p:cNvPr id="8" name="圆角矩形 7"/>
          <p:cNvSpPr/>
          <p:nvPr/>
        </p:nvSpPr>
        <p:spPr>
          <a:xfrm>
            <a:off x="105069" y="5237200"/>
            <a:ext cx="8101653" cy="400693"/>
          </a:xfrm>
          <a:prstGeom prst="roundRect">
            <a:avLst>
              <a:gd name="adj" fmla="val 13754"/>
            </a:avLst>
          </a:prstGeom>
          <a:solidFill>
            <a:sysClr val="window" lastClr="FFFFFF"/>
          </a:solidFill>
          <a:ln w="12700" cap="flat" cmpd="sng" algn="ctr">
            <a:solidFill>
              <a:srgbClr val="E84C22"/>
            </a:solidFill>
            <a:prstDash val="solid"/>
            <a:miter lim="800000"/>
          </a:ln>
          <a:effectLst/>
        </p:spPr>
        <p:txBody>
          <a:bodyPr lIns="180000" rtlCol="0" anchor="t"/>
          <a:lstStyle/>
          <a:p>
            <a:pPr marL="0" marR="0" lvl="0" indent="0" defTabSz="363855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p=</a:t>
            </a:r>
            <a:r>
              <a:rPr kumimoji="0" lang="en-US" altLang="zh-CN" sz="16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calloc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(50,4);		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//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开辟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50×4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个字节的临时分配域，把首地址赋给指针变量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p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5496" y="1514354"/>
            <a:ext cx="6096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zh-CN" altLang="en-US" sz="2400">
              <a:solidFill>
                <a:prstClr val="black"/>
              </a:solidFill>
              <a:latin typeface="等线"/>
              <a:ea typeface="等线"/>
            </a:endParaRPr>
          </a:p>
          <a:p>
            <a:r>
              <a:rPr lang="zh-CN" altLang="en-US" sz="2400">
                <a:solidFill>
                  <a:prstClr val="black"/>
                </a:solidFill>
                <a:latin typeface="等线"/>
                <a:ea typeface="等线"/>
              </a:rPr>
              <a:t>用</a:t>
            </a:r>
            <a:r>
              <a:rPr lang="en-US" altLang="zh-CN" sz="2400">
                <a:solidFill>
                  <a:prstClr val="black"/>
                </a:solidFill>
                <a:latin typeface="等线"/>
                <a:ea typeface="等线"/>
              </a:rPr>
              <a:t>calloc</a:t>
            </a:r>
            <a:r>
              <a:rPr lang="zh-CN" altLang="en-US" sz="2400">
                <a:solidFill>
                  <a:prstClr val="black"/>
                </a:solidFill>
                <a:latin typeface="等线"/>
                <a:ea typeface="等线"/>
              </a:rPr>
              <a:t>函数开辟动态存储区</a:t>
            </a:r>
            <a:endParaRPr lang="zh-CN" altLang="en-US" sz="2400">
              <a:solidFill>
                <a:prstClr val="black"/>
              </a:solidFill>
              <a:latin typeface="等线"/>
              <a:ea typeface="等线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384504" y="2345351"/>
            <a:ext cx="4746992" cy="483366"/>
          </a:xfrm>
          <a:prstGeom prst="rect">
            <a:avLst/>
          </a:prstGeom>
          <a:solidFill>
            <a:srgbClr val="E84C22"/>
          </a:solidFill>
          <a:ln w="12700" cap="flat" cmpd="sng" algn="ctr">
            <a:solidFill>
              <a:srgbClr val="E84C22">
                <a:shade val="50000"/>
              </a:srgbClr>
            </a:solidFill>
            <a:prstDash val="solid"/>
            <a:miter lim="800000"/>
          </a:ln>
          <a:effectLst/>
        </p:spPr>
        <p:txBody>
          <a:bodyPr lIns="180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void *calloc(unsigned n, unsigned size);</a:t>
            </a: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</p:txBody>
      </p:sp>
      <p:sp>
        <p:nvSpPr>
          <p:cNvPr id="11" name="MH_Desc_1"/>
          <p:cNvSpPr/>
          <p:nvPr>
            <p:custDataLst>
              <p:tags r:id="rId1"/>
            </p:custDataLst>
          </p:nvPr>
        </p:nvSpPr>
        <p:spPr>
          <a:xfrm>
            <a:off x="105069" y="2334115"/>
            <a:ext cx="8787411" cy="3831189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-1" fmla="*/ 0 w 2520280"/>
              <a:gd name="connsiteY0-2" fmla="*/ 1584176 h 1872208"/>
              <a:gd name="connsiteX1-3" fmla="*/ 2520280 w 2520280"/>
              <a:gd name="connsiteY1-4" fmla="*/ 1584176 h 1872208"/>
              <a:gd name="connsiteX2-5" fmla="*/ 2520280 w 2520280"/>
              <a:gd name="connsiteY2-6" fmla="*/ 1872208 h 1872208"/>
              <a:gd name="connsiteX3-7" fmla="*/ 0 w 2520280"/>
              <a:gd name="connsiteY3-8" fmla="*/ 1872208 h 1872208"/>
              <a:gd name="connsiteX4-9" fmla="*/ 0 w 2520280"/>
              <a:gd name="connsiteY4-10" fmla="*/ 1584176 h 1872208"/>
              <a:gd name="connsiteX5-11" fmla="*/ 0 w 2520280"/>
              <a:gd name="connsiteY5-12" fmla="*/ 0 h 1872208"/>
              <a:gd name="connsiteX6-13" fmla="*/ 2520280 w 2520280"/>
              <a:gd name="connsiteY6-14" fmla="*/ 0 h 1872208"/>
              <a:gd name="connsiteX7-15" fmla="*/ 0 w 2520280"/>
              <a:gd name="connsiteY7-16" fmla="*/ 0 h 1872208"/>
              <a:gd name="connsiteX0-17" fmla="*/ 0 w 2520280"/>
              <a:gd name="connsiteY0-18" fmla="*/ 1872208 h 1872208"/>
              <a:gd name="connsiteX1-19" fmla="*/ 2520280 w 2520280"/>
              <a:gd name="connsiteY1-20" fmla="*/ 1584176 h 1872208"/>
              <a:gd name="connsiteX2-21" fmla="*/ 2520280 w 2520280"/>
              <a:gd name="connsiteY2-22" fmla="*/ 1872208 h 1872208"/>
              <a:gd name="connsiteX3-23" fmla="*/ 0 w 2520280"/>
              <a:gd name="connsiteY3-24" fmla="*/ 1872208 h 1872208"/>
              <a:gd name="connsiteX4-25" fmla="*/ 0 w 2520280"/>
              <a:gd name="connsiteY4-26" fmla="*/ 0 h 1872208"/>
              <a:gd name="connsiteX5-27" fmla="*/ 2520280 w 2520280"/>
              <a:gd name="connsiteY5-28" fmla="*/ 0 h 1872208"/>
              <a:gd name="connsiteX6-29" fmla="*/ 0 w 2520280"/>
              <a:gd name="connsiteY6-30" fmla="*/ 0 h 1872208"/>
              <a:gd name="connsiteX0-31" fmla="*/ 0 w 2520280"/>
              <a:gd name="connsiteY0-32" fmla="*/ 1872208 h 1872208"/>
              <a:gd name="connsiteX1-33" fmla="*/ 2520280 w 2520280"/>
              <a:gd name="connsiteY1-34" fmla="*/ 1872208 h 1872208"/>
              <a:gd name="connsiteX2-35" fmla="*/ 0 w 2520280"/>
              <a:gd name="connsiteY2-36" fmla="*/ 1872208 h 1872208"/>
              <a:gd name="connsiteX3-37" fmla="*/ 0 w 2520280"/>
              <a:gd name="connsiteY3-38" fmla="*/ 0 h 1872208"/>
              <a:gd name="connsiteX4-39" fmla="*/ 2520280 w 2520280"/>
              <a:gd name="connsiteY4-40" fmla="*/ 0 h 1872208"/>
              <a:gd name="connsiteX5-41" fmla="*/ 0 w 2520280"/>
              <a:gd name="connsiteY5-42" fmla="*/ 0 h 18722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2520280" y="0"/>
                </a:lnTo>
                <a:lnTo>
                  <a:pt x="0" y="0"/>
                </a:lnTo>
                <a:close/>
              </a:path>
            </a:pathLst>
          </a:custGeom>
          <a:noFill/>
          <a:ln w="25400" cap="sq" cmpd="sng" algn="ctr">
            <a:solidFill>
              <a:srgbClr val="E84C22"/>
            </a:solidFill>
            <a:prstDash val="solid"/>
            <a:bevel/>
          </a:ln>
          <a:effectLst/>
        </p:spPr>
        <p:txBody>
          <a:bodyPr lIns="72000" tIns="72000" rIns="72000" bIns="72000" anchor="t">
            <a:noAutofit/>
          </a:bodyPr>
          <a:lstStyle/>
          <a:p>
            <a:pPr marL="0" marR="0" lvl="0" indent="0" algn="just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函数原型为</a:t>
            </a: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0" indent="0" algn="just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作用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是在内存的动态存储区中分配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n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个长度为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size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的连续空间，这个空间一般比较大，足以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保存一个数组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。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0" indent="0" algn="just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用</a:t>
            </a:r>
            <a:r>
              <a:rPr kumimoji="0" lang="en-US" altLang="zh-CN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calloc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函数可以为一维数组开辟动态存储空间，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n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为数组元素个数，每个元素长度为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size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。这就是动态数组。函数返回指向所分配域的第一个字节的指针；如果分配不成功，返回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NULL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。</a:t>
            </a: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动态分配内存</a:t>
            </a:r>
            <a:r>
              <a:rPr lang="en-US" altLang="zh-CN" dirty="0" err="1"/>
              <a:t>realloc</a:t>
            </a:r>
            <a:endParaRPr lang="zh-CN" altLang="en-US" dirty="0"/>
          </a:p>
        </p:txBody>
      </p:sp>
      <p:sp>
        <p:nvSpPr>
          <p:cNvPr id="8" name="圆角矩形 7"/>
          <p:cNvSpPr/>
          <p:nvPr/>
        </p:nvSpPr>
        <p:spPr>
          <a:xfrm>
            <a:off x="138847" y="4403380"/>
            <a:ext cx="8101653" cy="400693"/>
          </a:xfrm>
          <a:prstGeom prst="roundRect">
            <a:avLst>
              <a:gd name="adj" fmla="val 13754"/>
            </a:avLst>
          </a:prstGeom>
          <a:solidFill>
            <a:sysClr val="window" lastClr="FFFFFF"/>
          </a:solidFill>
          <a:ln w="12700" cap="flat" cmpd="sng" algn="ctr">
            <a:solidFill>
              <a:srgbClr val="E84C22"/>
            </a:solidFill>
            <a:prstDash val="solid"/>
            <a:miter lim="800000"/>
          </a:ln>
          <a:effectLst/>
        </p:spPr>
        <p:txBody>
          <a:bodyPr lIns="180000" rtlCol="0" anchor="t"/>
          <a:lstStyle/>
          <a:p>
            <a:pPr marL="0" marR="0" lvl="0" indent="0" defTabSz="363855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realloc(p,50);	</a:t>
            </a:r>
            <a:r>
              <a:rPr kumimoji="0" lang="en-US" altLang="zh-CN" sz="1600" b="0" i="0" u="none" strike="noStrike" kern="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//</a:t>
            </a:r>
            <a:r>
              <a: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将</a:t>
            </a:r>
            <a:r>
              <a:rPr kumimoji="0" lang="en-US" altLang="zh-CN" sz="1600" b="0" i="0" u="none" strike="noStrike" kern="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p</a:t>
            </a:r>
            <a:r>
              <a: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所指向的已分配的动态空间改为</a:t>
            </a:r>
            <a:r>
              <a:rPr kumimoji="0" lang="en-US" altLang="zh-CN" sz="1600" b="0" i="0" u="none" strike="noStrike" kern="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50</a:t>
            </a:r>
            <a:r>
              <a: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字节</a:t>
            </a:r>
            <a:endParaRPr kumimoji="0" lang="zh-CN" altLang="en-US" sz="1600" b="0" i="0" u="none" strike="noStrike" kern="0" cap="none" spc="0" normalizeH="0" baseline="0" noProof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5496" y="980728"/>
            <a:ext cx="6096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zh-CN" altLang="en-US" sz="2400" dirty="0">
              <a:solidFill>
                <a:prstClr val="black"/>
              </a:solidFill>
              <a:latin typeface="等线"/>
              <a:ea typeface="等线"/>
            </a:endParaRPr>
          </a:p>
          <a:p>
            <a:r>
              <a:rPr lang="zh-CN" altLang="en-US" sz="2400" dirty="0">
                <a:solidFill>
                  <a:prstClr val="black"/>
                </a:solidFill>
                <a:latin typeface="等线"/>
                <a:ea typeface="等线"/>
              </a:rPr>
              <a:t>用</a:t>
            </a:r>
            <a:r>
              <a:rPr lang="en-US" altLang="zh-CN" sz="2400" dirty="0" err="1">
                <a:solidFill>
                  <a:prstClr val="black"/>
                </a:solidFill>
                <a:latin typeface="等线"/>
                <a:ea typeface="等线"/>
              </a:rPr>
              <a:t>realloc</a:t>
            </a:r>
            <a:r>
              <a:rPr lang="zh-CN" altLang="en-US" sz="2400" dirty="0">
                <a:solidFill>
                  <a:prstClr val="black"/>
                </a:solidFill>
                <a:latin typeface="等线"/>
                <a:ea typeface="等线"/>
              </a:rPr>
              <a:t>函数重新分配动态存储区</a:t>
            </a:r>
            <a:endParaRPr lang="zh-CN" altLang="en-US" sz="2400" dirty="0">
              <a:solidFill>
                <a:prstClr val="black"/>
              </a:solidFill>
              <a:latin typeface="等线"/>
              <a:ea typeface="等线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379857" y="1848216"/>
            <a:ext cx="4746992" cy="483366"/>
          </a:xfrm>
          <a:prstGeom prst="rect">
            <a:avLst/>
          </a:prstGeom>
          <a:solidFill>
            <a:srgbClr val="E84C22"/>
          </a:solidFill>
          <a:ln w="12700" cap="flat" cmpd="sng" algn="ctr">
            <a:solidFill>
              <a:srgbClr val="E84C22">
                <a:shade val="50000"/>
              </a:srgbClr>
            </a:solidFill>
            <a:prstDash val="solid"/>
            <a:miter lim="800000"/>
          </a:ln>
          <a:effectLst/>
        </p:spPr>
        <p:txBody>
          <a:bodyPr lIns="180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void *realloc(void *p,unsigned int size);</a:t>
            </a: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</p:txBody>
      </p:sp>
      <p:sp>
        <p:nvSpPr>
          <p:cNvPr id="11" name="MH_Desc_1"/>
          <p:cNvSpPr/>
          <p:nvPr>
            <p:custDataLst>
              <p:tags r:id="rId1"/>
            </p:custDataLst>
          </p:nvPr>
        </p:nvSpPr>
        <p:spPr>
          <a:xfrm>
            <a:off x="100422" y="1836980"/>
            <a:ext cx="8787411" cy="4904388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-1" fmla="*/ 0 w 2520280"/>
              <a:gd name="connsiteY0-2" fmla="*/ 1584176 h 1872208"/>
              <a:gd name="connsiteX1-3" fmla="*/ 2520280 w 2520280"/>
              <a:gd name="connsiteY1-4" fmla="*/ 1584176 h 1872208"/>
              <a:gd name="connsiteX2-5" fmla="*/ 2520280 w 2520280"/>
              <a:gd name="connsiteY2-6" fmla="*/ 1872208 h 1872208"/>
              <a:gd name="connsiteX3-7" fmla="*/ 0 w 2520280"/>
              <a:gd name="connsiteY3-8" fmla="*/ 1872208 h 1872208"/>
              <a:gd name="connsiteX4-9" fmla="*/ 0 w 2520280"/>
              <a:gd name="connsiteY4-10" fmla="*/ 1584176 h 1872208"/>
              <a:gd name="connsiteX5-11" fmla="*/ 0 w 2520280"/>
              <a:gd name="connsiteY5-12" fmla="*/ 0 h 1872208"/>
              <a:gd name="connsiteX6-13" fmla="*/ 2520280 w 2520280"/>
              <a:gd name="connsiteY6-14" fmla="*/ 0 h 1872208"/>
              <a:gd name="connsiteX7-15" fmla="*/ 0 w 2520280"/>
              <a:gd name="connsiteY7-16" fmla="*/ 0 h 1872208"/>
              <a:gd name="connsiteX0-17" fmla="*/ 0 w 2520280"/>
              <a:gd name="connsiteY0-18" fmla="*/ 1872208 h 1872208"/>
              <a:gd name="connsiteX1-19" fmla="*/ 2520280 w 2520280"/>
              <a:gd name="connsiteY1-20" fmla="*/ 1584176 h 1872208"/>
              <a:gd name="connsiteX2-21" fmla="*/ 2520280 w 2520280"/>
              <a:gd name="connsiteY2-22" fmla="*/ 1872208 h 1872208"/>
              <a:gd name="connsiteX3-23" fmla="*/ 0 w 2520280"/>
              <a:gd name="connsiteY3-24" fmla="*/ 1872208 h 1872208"/>
              <a:gd name="connsiteX4-25" fmla="*/ 0 w 2520280"/>
              <a:gd name="connsiteY4-26" fmla="*/ 0 h 1872208"/>
              <a:gd name="connsiteX5-27" fmla="*/ 2520280 w 2520280"/>
              <a:gd name="connsiteY5-28" fmla="*/ 0 h 1872208"/>
              <a:gd name="connsiteX6-29" fmla="*/ 0 w 2520280"/>
              <a:gd name="connsiteY6-30" fmla="*/ 0 h 1872208"/>
              <a:gd name="connsiteX0-31" fmla="*/ 0 w 2520280"/>
              <a:gd name="connsiteY0-32" fmla="*/ 1872208 h 1872208"/>
              <a:gd name="connsiteX1-33" fmla="*/ 2520280 w 2520280"/>
              <a:gd name="connsiteY1-34" fmla="*/ 1872208 h 1872208"/>
              <a:gd name="connsiteX2-35" fmla="*/ 0 w 2520280"/>
              <a:gd name="connsiteY2-36" fmla="*/ 1872208 h 1872208"/>
              <a:gd name="connsiteX3-37" fmla="*/ 0 w 2520280"/>
              <a:gd name="connsiteY3-38" fmla="*/ 0 h 1872208"/>
              <a:gd name="connsiteX4-39" fmla="*/ 2520280 w 2520280"/>
              <a:gd name="connsiteY4-40" fmla="*/ 0 h 1872208"/>
              <a:gd name="connsiteX5-41" fmla="*/ 0 w 2520280"/>
              <a:gd name="connsiteY5-42" fmla="*/ 0 h 18722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2520280" y="0"/>
                </a:lnTo>
                <a:lnTo>
                  <a:pt x="0" y="0"/>
                </a:lnTo>
                <a:close/>
              </a:path>
            </a:pathLst>
          </a:custGeom>
          <a:noFill/>
          <a:ln w="25400" cap="sq" cmpd="sng" algn="ctr">
            <a:solidFill>
              <a:srgbClr val="E84C22"/>
            </a:solidFill>
            <a:prstDash val="solid"/>
            <a:bevel/>
          </a:ln>
          <a:effectLst/>
        </p:spPr>
        <p:txBody>
          <a:bodyPr lIns="72000" tIns="72000" rIns="72000" bIns="72000" anchor="t">
            <a:noAutofit/>
          </a:bodyPr>
          <a:lstStyle/>
          <a:p>
            <a:pPr marL="0" marR="0" lvl="0" indent="0" algn="just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函数原型为</a:t>
            </a: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0" indent="0" algn="just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如果已经通过</a:t>
            </a:r>
            <a:r>
              <a:rPr kumimoji="0" lang="en-US" altLang="zh-CN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malloc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函数或</a:t>
            </a:r>
            <a:r>
              <a:rPr kumimoji="0" lang="en-US" altLang="zh-CN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calloc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函数获得了动态空间，想改变其大小，可以用</a:t>
            </a:r>
            <a:r>
              <a:rPr kumimoji="0" lang="en-US" altLang="zh-CN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realloc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函数重新分配。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0" indent="0" algn="just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用</a:t>
            </a:r>
            <a:r>
              <a:rPr kumimoji="0" lang="en-US" altLang="zh-CN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realloc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函数将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p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所指向的动态空间的大小改变为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size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。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p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的值不变。如果重分配不成功，返回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NULL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。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46874" y="5013176"/>
            <a:ext cx="8357574" cy="16668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zh-CN" altLang="en-US" sz="1500" dirty="0">
                <a:solidFill>
                  <a:srgbClr val="FF0000"/>
                </a:solidFill>
              </a:rPr>
              <a:t>注意：</a:t>
            </a:r>
            <a:endParaRPr lang="en-US" altLang="zh-CN" sz="1500" dirty="0">
              <a:solidFill>
                <a:srgbClr val="FF0000"/>
              </a:solidFill>
            </a:endParaRPr>
          </a:p>
          <a:p>
            <a:pPr marL="285750" indent="-285750">
              <a:lnSpc>
                <a:spcPct val="125000"/>
              </a:lnSpc>
              <a:spcBef>
                <a:spcPts val="600"/>
              </a:spcBef>
              <a:buFont typeface="Arial" panose="020B0604020202090204" pitchFamily="34" charset="0"/>
              <a:buChar char="•"/>
            </a:pPr>
            <a:r>
              <a:rPr lang="zh-CN" altLang="en-US" sz="1500" dirty="0">
                <a:solidFill>
                  <a:srgbClr val="FF0000"/>
                </a:solidFill>
              </a:rPr>
              <a:t>无论是扩大或缩小，原有内存的中内容将保持不变。对于缩小，则被缩小的那一部分的内容会丢失，其余内容保持不变。</a:t>
            </a:r>
            <a:endParaRPr lang="en-US" altLang="zh-CN" sz="1500" dirty="0">
              <a:solidFill>
                <a:srgbClr val="FF0000"/>
              </a:solidFill>
            </a:endParaRPr>
          </a:p>
          <a:p>
            <a:pPr marL="285750" indent="-285750">
              <a:lnSpc>
                <a:spcPct val="125000"/>
              </a:lnSpc>
              <a:spcBef>
                <a:spcPts val="600"/>
              </a:spcBef>
              <a:buFont typeface="Arial" panose="020B0604020202090204" pitchFamily="34" charset="0"/>
              <a:buChar char="•"/>
            </a:pPr>
            <a:r>
              <a:rPr lang="en-US" altLang="zh-CN" sz="1500" dirty="0" err="1">
                <a:solidFill>
                  <a:srgbClr val="FF0000"/>
                </a:solidFill>
              </a:rPr>
              <a:t>realloc</a:t>
            </a:r>
            <a:r>
              <a:rPr lang="zh-CN" altLang="en-US" sz="1500" dirty="0">
                <a:solidFill>
                  <a:srgbClr val="FF0000"/>
                </a:solidFill>
              </a:rPr>
              <a:t>并不保证调整后的内存空间和原来的内存空间保持同一内存地址。相反，</a:t>
            </a:r>
            <a:r>
              <a:rPr lang="en-US" altLang="zh-CN" sz="1500" dirty="0" err="1">
                <a:solidFill>
                  <a:srgbClr val="FF0000"/>
                </a:solidFill>
              </a:rPr>
              <a:t>realloc</a:t>
            </a:r>
            <a:r>
              <a:rPr lang="zh-CN" altLang="en-US" sz="1500" dirty="0">
                <a:solidFill>
                  <a:srgbClr val="FF0000"/>
                </a:solidFill>
              </a:rPr>
              <a:t>返回的指针很可能指向一个新的地址</a:t>
            </a:r>
            <a:endParaRPr lang="zh-CN" altLang="en-US" sz="15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动态分配内存释放</a:t>
            </a:r>
            <a:endParaRPr lang="zh-CN" altLang="en-US" dirty="0"/>
          </a:p>
        </p:txBody>
      </p:sp>
      <p:sp>
        <p:nvSpPr>
          <p:cNvPr id="8" name="圆角矩形 7"/>
          <p:cNvSpPr/>
          <p:nvPr/>
        </p:nvSpPr>
        <p:spPr>
          <a:xfrm>
            <a:off x="273868" y="3808492"/>
            <a:ext cx="8101653" cy="400693"/>
          </a:xfrm>
          <a:prstGeom prst="roundRect">
            <a:avLst>
              <a:gd name="adj" fmla="val 13754"/>
            </a:avLst>
          </a:prstGeom>
          <a:solidFill>
            <a:sysClr val="window" lastClr="FFFFFF"/>
          </a:solidFill>
          <a:ln w="12700" cap="flat" cmpd="sng" algn="ctr">
            <a:solidFill>
              <a:srgbClr val="E84C22"/>
            </a:solidFill>
            <a:prstDash val="solid"/>
            <a:miter lim="800000"/>
          </a:ln>
          <a:effectLst/>
        </p:spPr>
        <p:txBody>
          <a:bodyPr lIns="180000" rtlCol="0" anchor="t"/>
          <a:lstStyle/>
          <a:p>
            <a:pPr marL="0" marR="0" lvl="0" indent="0" algn="just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free(p); 	</a:t>
            </a:r>
            <a:r>
              <a:rPr kumimoji="0" lang="en-US" altLang="zh-CN" sz="1600" b="0" i="0" u="none" strike="noStrike" kern="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//</a:t>
            </a:r>
            <a:r>
              <a: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释放指针变量</a:t>
            </a:r>
            <a:r>
              <a:rPr kumimoji="0" lang="en-US" altLang="zh-CN" sz="1600" b="0" i="0" u="none" strike="noStrike" kern="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p</a:t>
            </a:r>
            <a:r>
              <a: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所指向的已分配的动态空间</a:t>
            </a:r>
            <a:endParaRPr kumimoji="0" lang="zh-CN" altLang="en-US" sz="1600" b="0" i="0" u="none" strike="noStrike" kern="0" cap="none" spc="0" normalizeH="0" baseline="0" noProof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77077" y="1481297"/>
            <a:ext cx="6096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zh-CN" altLang="en-US" sz="2400" dirty="0">
              <a:solidFill>
                <a:prstClr val="black"/>
              </a:solidFill>
              <a:latin typeface="等线"/>
              <a:ea typeface="等线"/>
            </a:endParaRPr>
          </a:p>
          <a:p>
            <a:r>
              <a:rPr lang="zh-CN" altLang="en-US" sz="2400" dirty="0">
                <a:solidFill>
                  <a:prstClr val="black"/>
                </a:solidFill>
                <a:latin typeface="等线"/>
                <a:ea typeface="等线"/>
              </a:rPr>
              <a:t>用</a:t>
            </a:r>
            <a:r>
              <a:rPr lang="en-US" altLang="zh-CN" sz="2400" dirty="0">
                <a:solidFill>
                  <a:prstClr val="black"/>
                </a:solidFill>
                <a:latin typeface="等线"/>
                <a:ea typeface="等线"/>
              </a:rPr>
              <a:t>free</a:t>
            </a:r>
            <a:r>
              <a:rPr lang="zh-CN" altLang="en-US" sz="2400" dirty="0">
                <a:solidFill>
                  <a:prstClr val="black"/>
                </a:solidFill>
                <a:latin typeface="等线"/>
                <a:ea typeface="等线"/>
              </a:rPr>
              <a:t>函数释放动态存储区</a:t>
            </a:r>
            <a:endParaRPr lang="zh-CN" altLang="en-US" sz="2400" dirty="0">
              <a:solidFill>
                <a:prstClr val="black"/>
              </a:solidFill>
              <a:latin typeface="等线"/>
              <a:ea typeface="等线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456512" y="2323529"/>
            <a:ext cx="2278915" cy="483366"/>
          </a:xfrm>
          <a:prstGeom prst="rect">
            <a:avLst/>
          </a:prstGeom>
          <a:solidFill>
            <a:srgbClr val="E84C22"/>
          </a:solidFill>
          <a:ln w="12700" cap="flat" cmpd="sng" algn="ctr">
            <a:solidFill>
              <a:srgbClr val="E84C22">
                <a:shade val="50000"/>
              </a:srgbClr>
            </a:solidFill>
            <a:prstDash val="solid"/>
            <a:miter lim="800000"/>
          </a:ln>
          <a:effectLst/>
        </p:spPr>
        <p:txBody>
          <a:bodyPr lIns="180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void free(void *p);</a:t>
            </a:r>
            <a:endParaRPr kumimoji="0" lang="zh-CN" altLang="en-US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</p:txBody>
      </p:sp>
      <p:sp>
        <p:nvSpPr>
          <p:cNvPr id="11" name="MH_Desc_1"/>
          <p:cNvSpPr/>
          <p:nvPr>
            <p:custDataLst>
              <p:tags r:id="rId1"/>
            </p:custDataLst>
          </p:nvPr>
        </p:nvSpPr>
        <p:spPr>
          <a:xfrm>
            <a:off x="177077" y="2312294"/>
            <a:ext cx="8355363" cy="2556866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-1" fmla="*/ 0 w 2520280"/>
              <a:gd name="connsiteY0-2" fmla="*/ 1584176 h 1872208"/>
              <a:gd name="connsiteX1-3" fmla="*/ 2520280 w 2520280"/>
              <a:gd name="connsiteY1-4" fmla="*/ 1584176 h 1872208"/>
              <a:gd name="connsiteX2-5" fmla="*/ 2520280 w 2520280"/>
              <a:gd name="connsiteY2-6" fmla="*/ 1872208 h 1872208"/>
              <a:gd name="connsiteX3-7" fmla="*/ 0 w 2520280"/>
              <a:gd name="connsiteY3-8" fmla="*/ 1872208 h 1872208"/>
              <a:gd name="connsiteX4-9" fmla="*/ 0 w 2520280"/>
              <a:gd name="connsiteY4-10" fmla="*/ 1584176 h 1872208"/>
              <a:gd name="connsiteX5-11" fmla="*/ 0 w 2520280"/>
              <a:gd name="connsiteY5-12" fmla="*/ 0 h 1872208"/>
              <a:gd name="connsiteX6-13" fmla="*/ 2520280 w 2520280"/>
              <a:gd name="connsiteY6-14" fmla="*/ 0 h 1872208"/>
              <a:gd name="connsiteX7-15" fmla="*/ 0 w 2520280"/>
              <a:gd name="connsiteY7-16" fmla="*/ 0 h 1872208"/>
              <a:gd name="connsiteX0-17" fmla="*/ 0 w 2520280"/>
              <a:gd name="connsiteY0-18" fmla="*/ 1872208 h 1872208"/>
              <a:gd name="connsiteX1-19" fmla="*/ 2520280 w 2520280"/>
              <a:gd name="connsiteY1-20" fmla="*/ 1584176 h 1872208"/>
              <a:gd name="connsiteX2-21" fmla="*/ 2520280 w 2520280"/>
              <a:gd name="connsiteY2-22" fmla="*/ 1872208 h 1872208"/>
              <a:gd name="connsiteX3-23" fmla="*/ 0 w 2520280"/>
              <a:gd name="connsiteY3-24" fmla="*/ 1872208 h 1872208"/>
              <a:gd name="connsiteX4-25" fmla="*/ 0 w 2520280"/>
              <a:gd name="connsiteY4-26" fmla="*/ 0 h 1872208"/>
              <a:gd name="connsiteX5-27" fmla="*/ 2520280 w 2520280"/>
              <a:gd name="connsiteY5-28" fmla="*/ 0 h 1872208"/>
              <a:gd name="connsiteX6-29" fmla="*/ 0 w 2520280"/>
              <a:gd name="connsiteY6-30" fmla="*/ 0 h 1872208"/>
              <a:gd name="connsiteX0-31" fmla="*/ 0 w 2520280"/>
              <a:gd name="connsiteY0-32" fmla="*/ 1872208 h 1872208"/>
              <a:gd name="connsiteX1-33" fmla="*/ 2520280 w 2520280"/>
              <a:gd name="connsiteY1-34" fmla="*/ 1872208 h 1872208"/>
              <a:gd name="connsiteX2-35" fmla="*/ 0 w 2520280"/>
              <a:gd name="connsiteY2-36" fmla="*/ 1872208 h 1872208"/>
              <a:gd name="connsiteX3-37" fmla="*/ 0 w 2520280"/>
              <a:gd name="connsiteY3-38" fmla="*/ 0 h 1872208"/>
              <a:gd name="connsiteX4-39" fmla="*/ 2520280 w 2520280"/>
              <a:gd name="connsiteY4-40" fmla="*/ 0 h 1872208"/>
              <a:gd name="connsiteX5-41" fmla="*/ 0 w 2520280"/>
              <a:gd name="connsiteY5-42" fmla="*/ 0 h 18722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2520280" y="0"/>
                </a:lnTo>
                <a:lnTo>
                  <a:pt x="0" y="0"/>
                </a:lnTo>
                <a:close/>
              </a:path>
            </a:pathLst>
          </a:custGeom>
          <a:noFill/>
          <a:ln w="25400" cap="sq" cmpd="sng" algn="ctr">
            <a:solidFill>
              <a:srgbClr val="E84C22"/>
            </a:solidFill>
            <a:prstDash val="solid"/>
            <a:bevel/>
          </a:ln>
          <a:effectLst/>
        </p:spPr>
        <p:txBody>
          <a:bodyPr lIns="72000" tIns="72000" rIns="72000" bIns="72000" anchor="t">
            <a:noAutofit/>
          </a:bodyPr>
          <a:lstStyle/>
          <a:p>
            <a:pPr marL="0" marR="0" lvl="0" indent="0" algn="just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函数原型为</a:t>
            </a: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0" indent="0" algn="just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作用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是释放指针变量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p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所指向的动态空间，使这部分空间能重新被其他变量使用。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p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应是最近一次调用</a:t>
            </a:r>
            <a:r>
              <a:rPr kumimoji="0" lang="en-US" altLang="zh-CN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calloc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或</a:t>
            </a:r>
            <a:r>
              <a:rPr kumimoji="0" lang="en-US" altLang="zh-CN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malloc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函数时得到的函数返回值。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 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0" indent="0" algn="just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0" indent="0" algn="just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free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函数无返回值。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malloc</a:t>
            </a:r>
            <a:r>
              <a:rPr lang="en-US" altLang="zh-CN" dirty="0"/>
              <a:t> </a:t>
            </a:r>
            <a:r>
              <a:rPr lang="en-US" altLang="zh-CN" dirty="0" err="1"/>
              <a:t>v.s</a:t>
            </a:r>
            <a:r>
              <a:rPr lang="en-US" altLang="zh-CN" dirty="0"/>
              <a:t>. </a:t>
            </a:r>
            <a:r>
              <a:rPr lang="en-US" altLang="zh-CN" dirty="0" err="1"/>
              <a:t>calloc</a:t>
            </a:r>
            <a:r>
              <a:rPr lang="en-US" altLang="zh-CN" dirty="0"/>
              <a:t> </a:t>
            </a:r>
            <a:r>
              <a:rPr lang="en-US" altLang="zh-CN" dirty="0" err="1"/>
              <a:t>v.s</a:t>
            </a:r>
            <a:r>
              <a:rPr lang="en-US" altLang="zh-CN" dirty="0"/>
              <a:t>. </a:t>
            </a:r>
            <a:r>
              <a:rPr lang="en-US" altLang="zh-CN" dirty="0" err="1"/>
              <a:t>realloc</a:t>
            </a:r>
            <a:endParaRPr lang="en-US" altLang="zh-CN" dirty="0"/>
          </a:p>
          <a:p>
            <a:pPr lvl="1"/>
            <a:r>
              <a:rPr lang="en-US" altLang="zh-CN" sz="2000" dirty="0" err="1"/>
              <a:t>malloc</a:t>
            </a:r>
            <a:r>
              <a:rPr lang="zh-CN" altLang="en-US" sz="2000" dirty="0"/>
              <a:t>不会初始化所分配的内存空间。由</a:t>
            </a:r>
            <a:r>
              <a:rPr lang="en-US" altLang="zh-CN" sz="2000" dirty="0" err="1"/>
              <a:t>malloc</a:t>
            </a:r>
            <a:r>
              <a:rPr lang="en-US" altLang="zh-CN" sz="2000" dirty="0"/>
              <a:t>()</a:t>
            </a:r>
            <a:r>
              <a:rPr lang="zh-CN" altLang="en-US" sz="2000" dirty="0"/>
              <a:t>函数分配的内存空间可能遗留有各种各样的数据。</a:t>
            </a:r>
            <a:endParaRPr lang="en-US" altLang="zh-CN" sz="2000" dirty="0"/>
          </a:p>
          <a:p>
            <a:pPr lvl="1"/>
            <a:r>
              <a:rPr lang="en-US" altLang="zh-CN" sz="2000" dirty="0" err="1"/>
              <a:t>calloc</a:t>
            </a:r>
            <a:r>
              <a:rPr lang="zh-CN" altLang="en-US" sz="2000" dirty="0"/>
              <a:t>会将所分配的内存空间中的每一位都初始化为零。</a:t>
            </a:r>
            <a:endParaRPr lang="en-US" altLang="zh-CN" sz="2000" dirty="0"/>
          </a:p>
          <a:p>
            <a:pPr lvl="1"/>
            <a:r>
              <a:rPr lang="en-US" altLang="zh-CN" sz="2000" dirty="0" err="1"/>
              <a:t>realloc</a:t>
            </a:r>
            <a:r>
              <a:rPr lang="zh-CN" altLang="en-US" sz="2000" dirty="0"/>
              <a:t>可以对给定的指针所指的空间进行扩大或者缩小。</a:t>
            </a:r>
            <a:r>
              <a:rPr lang="en-US" altLang="zh-CN" sz="2000" dirty="0" err="1"/>
              <a:t>realloc</a:t>
            </a:r>
            <a:r>
              <a:rPr lang="zh-CN" altLang="en-US" sz="2000" dirty="0"/>
              <a:t>函数所分配的空间也是未初始化的</a:t>
            </a:r>
            <a:endParaRPr lang="zh-CN" altLang="en-US" sz="20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动态分配内存</a:t>
            </a:r>
            <a:endParaRPr lang="zh-CN" altLang="en-US" dirty="0"/>
          </a:p>
        </p:txBody>
      </p:sp>
      <p:sp>
        <p:nvSpPr>
          <p:cNvPr id="5" name="圆角矩形 12"/>
          <p:cNvSpPr/>
          <p:nvPr/>
        </p:nvSpPr>
        <p:spPr>
          <a:xfrm>
            <a:off x="107504" y="3789041"/>
            <a:ext cx="9001001" cy="2952328"/>
          </a:xfrm>
          <a:prstGeom prst="roundRect">
            <a:avLst>
              <a:gd name="adj" fmla="val 1079"/>
            </a:avLst>
          </a:prstGeom>
          <a:solidFill>
            <a:sysClr val="window" lastClr="FFFFFF"/>
          </a:solidFill>
          <a:ln w="12700" cap="flat" cmpd="sng" algn="ctr">
            <a:solidFill>
              <a:srgbClr val="E84C22"/>
            </a:solidFill>
            <a:prstDash val="solid"/>
            <a:miter lim="800000"/>
          </a:ln>
          <a:effectLst/>
        </p:spPr>
        <p:txBody>
          <a:bodyPr numCol="2" spcCol="360000" rtlCol="0" anchor="t"/>
          <a:lstStyle/>
          <a:p>
            <a:pPr marL="228600" indent="-228600" defTabSz="363855">
              <a:lnSpc>
                <a:spcPct val="120000"/>
              </a:lnSpc>
              <a:buFont typeface="+mj-lt"/>
              <a:buAutoNum type="arabicPeriod"/>
              <a:defRPr/>
            </a:pPr>
            <a:r>
              <a:rPr lang="en-US" altLang="zh-CN" sz="1000" kern="0" dirty="0">
                <a:solidFill>
                  <a:prstClr val="black"/>
                </a:solidFill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#include &lt;</a:t>
            </a:r>
            <a:r>
              <a:rPr lang="en-US" altLang="zh-CN" sz="1000" kern="0" dirty="0" err="1">
                <a:solidFill>
                  <a:prstClr val="black"/>
                </a:solidFill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stdlib.h</a:t>
            </a:r>
            <a:r>
              <a:rPr lang="en-US" altLang="zh-CN" sz="1000" kern="0" dirty="0">
                <a:solidFill>
                  <a:prstClr val="black"/>
                </a:solidFill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&gt;</a:t>
            </a:r>
            <a:endParaRPr lang="en-US" altLang="zh-CN" sz="1000" kern="0" dirty="0">
              <a:solidFill>
                <a:prstClr val="black"/>
              </a:solidFill>
              <a:latin typeface="Courier New" panose="02070409020205090404" pitchFamily="49" charset="0"/>
              <a:ea typeface="等线"/>
              <a:cs typeface="Courier New" panose="02070409020205090404" pitchFamily="49" charset="0"/>
            </a:endParaRPr>
          </a:p>
          <a:p>
            <a:pPr marL="228600" indent="-228600" defTabSz="363855">
              <a:lnSpc>
                <a:spcPct val="120000"/>
              </a:lnSpc>
              <a:buFont typeface="+mj-lt"/>
              <a:buAutoNum type="arabicPeriod"/>
              <a:defRPr/>
            </a:pPr>
            <a:r>
              <a:rPr lang="en-US" altLang="zh-CN" sz="1000" kern="0" dirty="0">
                <a:solidFill>
                  <a:prstClr val="black"/>
                </a:solidFill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#include &lt;</a:t>
            </a:r>
            <a:r>
              <a:rPr lang="en-US" altLang="zh-CN" sz="1000" kern="0" dirty="0" err="1">
                <a:solidFill>
                  <a:prstClr val="black"/>
                </a:solidFill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stdio.h</a:t>
            </a:r>
            <a:r>
              <a:rPr lang="en-US" altLang="zh-CN" sz="1000" kern="0" dirty="0">
                <a:solidFill>
                  <a:prstClr val="black"/>
                </a:solidFill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&gt;</a:t>
            </a:r>
            <a:endParaRPr lang="en-US" altLang="zh-CN" sz="1000" kern="0" dirty="0">
              <a:solidFill>
                <a:prstClr val="black"/>
              </a:solidFill>
              <a:latin typeface="Courier New" panose="02070409020205090404" pitchFamily="49" charset="0"/>
              <a:ea typeface="等线"/>
              <a:cs typeface="Courier New" panose="02070409020205090404" pitchFamily="49" charset="0"/>
            </a:endParaRPr>
          </a:p>
          <a:p>
            <a:pPr marL="228600" indent="-228600" defTabSz="363855">
              <a:lnSpc>
                <a:spcPct val="120000"/>
              </a:lnSpc>
              <a:buFont typeface="+mj-lt"/>
              <a:buAutoNum type="arabicPeriod"/>
              <a:defRPr/>
            </a:pPr>
            <a:r>
              <a:rPr lang="en-US" altLang="zh-CN" sz="1000" kern="0" dirty="0">
                <a:solidFill>
                  <a:prstClr val="black"/>
                </a:solidFill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#include &lt;</a:t>
            </a:r>
            <a:r>
              <a:rPr lang="en-US" altLang="zh-CN" sz="1000" kern="0" dirty="0" err="1">
                <a:solidFill>
                  <a:prstClr val="black"/>
                </a:solidFill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memory.h</a:t>
            </a:r>
            <a:r>
              <a:rPr lang="en-US" altLang="zh-CN" sz="1000" kern="0" dirty="0">
                <a:solidFill>
                  <a:prstClr val="black"/>
                </a:solidFill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&gt;</a:t>
            </a:r>
            <a:endParaRPr lang="en-US" altLang="zh-CN" sz="1000" kern="0" dirty="0">
              <a:solidFill>
                <a:prstClr val="black"/>
              </a:solidFill>
              <a:latin typeface="Courier New" panose="02070409020205090404" pitchFamily="49" charset="0"/>
              <a:ea typeface="等线"/>
              <a:cs typeface="Courier New" panose="02070409020205090404" pitchFamily="49" charset="0"/>
            </a:endParaRPr>
          </a:p>
          <a:p>
            <a:pPr marL="228600" indent="-228600" defTabSz="363855">
              <a:lnSpc>
                <a:spcPct val="120000"/>
              </a:lnSpc>
              <a:buFont typeface="+mj-lt"/>
              <a:buAutoNum type="arabicPeriod"/>
              <a:defRPr/>
            </a:pPr>
            <a:endParaRPr lang="en-US" altLang="zh-CN" sz="1000" kern="0" dirty="0">
              <a:solidFill>
                <a:prstClr val="black"/>
              </a:solidFill>
              <a:latin typeface="Courier New" panose="02070409020205090404" pitchFamily="49" charset="0"/>
              <a:ea typeface="等线"/>
              <a:cs typeface="Courier New" panose="02070409020205090404" pitchFamily="49" charset="0"/>
            </a:endParaRPr>
          </a:p>
          <a:p>
            <a:pPr marL="228600" indent="-228600" defTabSz="363855">
              <a:lnSpc>
                <a:spcPct val="120000"/>
              </a:lnSpc>
              <a:buFont typeface="+mj-lt"/>
              <a:buAutoNum type="arabicPeriod"/>
              <a:defRPr/>
            </a:pPr>
            <a:r>
              <a:rPr lang="en-US" altLang="zh-CN" sz="1000" kern="0" dirty="0">
                <a:solidFill>
                  <a:prstClr val="black"/>
                </a:solidFill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int main() {</a:t>
            </a:r>
            <a:endParaRPr lang="en-US" altLang="zh-CN" sz="1000" kern="0" dirty="0">
              <a:solidFill>
                <a:prstClr val="black"/>
              </a:solidFill>
              <a:latin typeface="Courier New" panose="02070409020205090404" pitchFamily="49" charset="0"/>
              <a:ea typeface="等线"/>
              <a:cs typeface="Courier New" panose="02070409020205090404" pitchFamily="49" charset="0"/>
            </a:endParaRPr>
          </a:p>
          <a:p>
            <a:pPr marL="228600" indent="-228600" defTabSz="363855">
              <a:lnSpc>
                <a:spcPct val="120000"/>
              </a:lnSpc>
              <a:buFont typeface="+mj-lt"/>
              <a:buAutoNum type="arabicPeriod"/>
              <a:defRPr/>
            </a:pPr>
            <a:r>
              <a:rPr lang="en-US" altLang="zh-CN" sz="1000" kern="0" dirty="0">
                <a:solidFill>
                  <a:prstClr val="black"/>
                </a:solidFill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  int *x = (int *) malloc(4 * 3);</a:t>
            </a:r>
            <a:endParaRPr lang="en-US" altLang="zh-CN" sz="1000" kern="0" dirty="0">
              <a:solidFill>
                <a:prstClr val="black"/>
              </a:solidFill>
              <a:latin typeface="Courier New" panose="02070409020205090404" pitchFamily="49" charset="0"/>
              <a:ea typeface="等线"/>
              <a:cs typeface="Courier New" panose="02070409020205090404" pitchFamily="49" charset="0"/>
            </a:endParaRPr>
          </a:p>
          <a:p>
            <a:pPr marL="228600" indent="-228600" defTabSz="363855">
              <a:lnSpc>
                <a:spcPct val="120000"/>
              </a:lnSpc>
              <a:buFont typeface="+mj-lt"/>
              <a:buAutoNum type="arabicPeriod"/>
              <a:defRPr/>
            </a:pPr>
            <a:r>
              <a:rPr lang="en-US" altLang="zh-CN" sz="1000" kern="0" dirty="0">
                <a:solidFill>
                  <a:prstClr val="black"/>
                </a:solidFill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  int *y = (int *) </a:t>
            </a:r>
            <a:r>
              <a:rPr lang="en-US" altLang="zh-CN" sz="1000" kern="0" dirty="0" err="1">
                <a:solidFill>
                  <a:prstClr val="black"/>
                </a:solidFill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calloc</a:t>
            </a:r>
            <a:r>
              <a:rPr lang="en-US" altLang="zh-CN" sz="1000" kern="0" dirty="0">
                <a:solidFill>
                  <a:prstClr val="black"/>
                </a:solidFill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(3, 4);</a:t>
            </a:r>
            <a:endParaRPr lang="en-US" altLang="zh-CN" sz="1000" kern="0" dirty="0">
              <a:solidFill>
                <a:prstClr val="black"/>
              </a:solidFill>
              <a:latin typeface="Courier New" panose="02070409020205090404" pitchFamily="49" charset="0"/>
              <a:ea typeface="等线"/>
              <a:cs typeface="Courier New" panose="02070409020205090404" pitchFamily="49" charset="0"/>
            </a:endParaRPr>
          </a:p>
          <a:p>
            <a:pPr marL="228600" indent="-228600" defTabSz="363855">
              <a:lnSpc>
                <a:spcPct val="120000"/>
              </a:lnSpc>
              <a:buFont typeface="+mj-lt"/>
              <a:buAutoNum type="arabicPeriod"/>
              <a:defRPr/>
            </a:pPr>
            <a:r>
              <a:rPr lang="en-US" altLang="zh-CN" sz="1000" kern="0" dirty="0">
                <a:solidFill>
                  <a:prstClr val="black"/>
                </a:solidFill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  int </a:t>
            </a:r>
            <a:r>
              <a:rPr lang="en-US" altLang="zh-CN" sz="1000" kern="0" dirty="0" err="1">
                <a:solidFill>
                  <a:prstClr val="black"/>
                </a:solidFill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i</a:t>
            </a:r>
            <a:r>
              <a:rPr lang="en-US" altLang="zh-CN" sz="1000" kern="0" dirty="0">
                <a:solidFill>
                  <a:prstClr val="black"/>
                </a:solidFill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;</a:t>
            </a:r>
            <a:endParaRPr lang="en-US" altLang="zh-CN" sz="1000" kern="0" dirty="0">
              <a:solidFill>
                <a:prstClr val="black"/>
              </a:solidFill>
              <a:latin typeface="Courier New" panose="02070409020205090404" pitchFamily="49" charset="0"/>
              <a:ea typeface="等线"/>
              <a:cs typeface="Courier New" panose="02070409020205090404" pitchFamily="49" charset="0"/>
            </a:endParaRPr>
          </a:p>
          <a:p>
            <a:pPr marL="228600" indent="-228600" defTabSz="363855">
              <a:lnSpc>
                <a:spcPct val="120000"/>
              </a:lnSpc>
              <a:buFont typeface="+mj-lt"/>
              <a:buAutoNum type="arabicPeriod"/>
              <a:defRPr/>
            </a:pPr>
            <a:endParaRPr lang="en-US" altLang="zh-CN" sz="1000" kern="0" dirty="0">
              <a:solidFill>
                <a:prstClr val="black"/>
              </a:solidFill>
              <a:latin typeface="Courier New" panose="02070409020205090404" pitchFamily="49" charset="0"/>
              <a:ea typeface="等线"/>
              <a:cs typeface="Courier New" panose="02070409020205090404" pitchFamily="49" charset="0"/>
            </a:endParaRPr>
          </a:p>
          <a:p>
            <a:pPr marL="228600" indent="-228600" defTabSz="363855">
              <a:lnSpc>
                <a:spcPct val="120000"/>
              </a:lnSpc>
              <a:buFont typeface="+mj-lt"/>
              <a:buAutoNum type="arabicPeriod"/>
              <a:defRPr/>
            </a:pPr>
            <a:r>
              <a:rPr lang="en-US" altLang="zh-CN" sz="1000" kern="0" dirty="0">
                <a:solidFill>
                  <a:prstClr val="black"/>
                </a:solidFill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  </a:t>
            </a:r>
            <a:r>
              <a:rPr lang="en-US" altLang="zh-CN" sz="1000" kern="0" dirty="0" err="1">
                <a:solidFill>
                  <a:prstClr val="black"/>
                </a:solidFill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printf</a:t>
            </a:r>
            <a:r>
              <a:rPr lang="en-US" altLang="zh-CN" sz="1000" kern="0" dirty="0">
                <a:solidFill>
                  <a:prstClr val="black"/>
                </a:solidFill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("x: ");</a:t>
            </a:r>
            <a:endParaRPr lang="en-US" altLang="zh-CN" sz="1000" kern="0" dirty="0">
              <a:solidFill>
                <a:prstClr val="black"/>
              </a:solidFill>
              <a:latin typeface="Courier New" panose="02070409020205090404" pitchFamily="49" charset="0"/>
              <a:ea typeface="等线"/>
              <a:cs typeface="Courier New" panose="02070409020205090404" pitchFamily="49" charset="0"/>
            </a:endParaRPr>
          </a:p>
          <a:p>
            <a:pPr marL="228600" indent="-228600" defTabSz="363855">
              <a:lnSpc>
                <a:spcPct val="120000"/>
              </a:lnSpc>
              <a:buFont typeface="+mj-lt"/>
              <a:buAutoNum type="arabicPeriod"/>
              <a:defRPr/>
            </a:pPr>
            <a:r>
              <a:rPr lang="en-US" altLang="zh-CN" sz="1000" kern="0" dirty="0">
                <a:solidFill>
                  <a:prstClr val="black"/>
                </a:solidFill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  for (</a:t>
            </a:r>
            <a:r>
              <a:rPr lang="en-US" altLang="zh-CN" sz="1000" kern="0" dirty="0" err="1">
                <a:solidFill>
                  <a:prstClr val="black"/>
                </a:solidFill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i</a:t>
            </a:r>
            <a:r>
              <a:rPr lang="en-US" altLang="zh-CN" sz="1000" kern="0" dirty="0">
                <a:solidFill>
                  <a:prstClr val="black"/>
                </a:solidFill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 = 0; </a:t>
            </a:r>
            <a:r>
              <a:rPr lang="en-US" altLang="zh-CN" sz="1000" kern="0" dirty="0" err="1">
                <a:solidFill>
                  <a:prstClr val="black"/>
                </a:solidFill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i</a:t>
            </a:r>
            <a:r>
              <a:rPr lang="en-US" altLang="zh-CN" sz="1000" kern="0" dirty="0">
                <a:solidFill>
                  <a:prstClr val="black"/>
                </a:solidFill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 &lt; 3; </a:t>
            </a:r>
            <a:r>
              <a:rPr lang="en-US" altLang="zh-CN" sz="1000" kern="0" dirty="0" err="1">
                <a:solidFill>
                  <a:prstClr val="black"/>
                </a:solidFill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i</a:t>
            </a:r>
            <a:r>
              <a:rPr lang="en-US" altLang="zh-CN" sz="1000" kern="0" dirty="0">
                <a:solidFill>
                  <a:prstClr val="black"/>
                </a:solidFill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++) </a:t>
            </a:r>
            <a:r>
              <a:rPr lang="en-US" altLang="zh-CN" sz="1000" kern="0" dirty="0" err="1">
                <a:solidFill>
                  <a:prstClr val="black"/>
                </a:solidFill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printf</a:t>
            </a:r>
            <a:r>
              <a:rPr lang="en-US" altLang="zh-CN" sz="1000" kern="0" dirty="0">
                <a:solidFill>
                  <a:prstClr val="black"/>
                </a:solidFill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("%d ", *(x + </a:t>
            </a:r>
            <a:r>
              <a:rPr lang="en-US" altLang="zh-CN" sz="1000" kern="0" dirty="0" err="1">
                <a:solidFill>
                  <a:prstClr val="black"/>
                </a:solidFill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i</a:t>
            </a:r>
            <a:r>
              <a:rPr lang="en-US" altLang="zh-CN" sz="1000" kern="0" dirty="0">
                <a:solidFill>
                  <a:prstClr val="black"/>
                </a:solidFill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));</a:t>
            </a:r>
            <a:endParaRPr lang="en-US" altLang="zh-CN" sz="1000" kern="0" dirty="0">
              <a:solidFill>
                <a:prstClr val="black"/>
              </a:solidFill>
              <a:latin typeface="Courier New" panose="02070409020205090404" pitchFamily="49" charset="0"/>
              <a:ea typeface="等线"/>
              <a:cs typeface="Courier New" panose="02070409020205090404" pitchFamily="49" charset="0"/>
            </a:endParaRPr>
          </a:p>
          <a:p>
            <a:pPr marL="228600" indent="-228600" defTabSz="363855">
              <a:lnSpc>
                <a:spcPct val="120000"/>
              </a:lnSpc>
              <a:buFont typeface="+mj-lt"/>
              <a:buAutoNum type="arabicPeriod"/>
              <a:defRPr/>
            </a:pPr>
            <a:r>
              <a:rPr lang="en-US" altLang="zh-CN" sz="1000" kern="0" dirty="0">
                <a:solidFill>
                  <a:prstClr val="black"/>
                </a:solidFill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  </a:t>
            </a:r>
            <a:r>
              <a:rPr lang="en-US" altLang="zh-CN" sz="1000" kern="0" dirty="0" err="1">
                <a:solidFill>
                  <a:prstClr val="black"/>
                </a:solidFill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printf</a:t>
            </a:r>
            <a:r>
              <a:rPr lang="en-US" altLang="zh-CN" sz="1000" kern="0" dirty="0">
                <a:solidFill>
                  <a:prstClr val="black"/>
                </a:solidFill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("\n");</a:t>
            </a:r>
            <a:endParaRPr lang="en-US" altLang="zh-CN" sz="1000" kern="0" dirty="0">
              <a:solidFill>
                <a:prstClr val="black"/>
              </a:solidFill>
              <a:latin typeface="Courier New" panose="02070409020205090404" pitchFamily="49" charset="0"/>
              <a:ea typeface="等线"/>
              <a:cs typeface="Courier New" panose="02070409020205090404" pitchFamily="49" charset="0"/>
            </a:endParaRPr>
          </a:p>
          <a:p>
            <a:pPr marL="228600" indent="-228600" defTabSz="363855">
              <a:lnSpc>
                <a:spcPct val="120000"/>
              </a:lnSpc>
              <a:buFont typeface="+mj-lt"/>
              <a:buAutoNum type="arabicPeriod"/>
              <a:defRPr/>
            </a:pPr>
            <a:endParaRPr lang="en-US" altLang="zh-CN" sz="1000" kern="0" dirty="0">
              <a:solidFill>
                <a:prstClr val="black"/>
              </a:solidFill>
              <a:latin typeface="Courier New" panose="02070409020205090404" pitchFamily="49" charset="0"/>
              <a:ea typeface="等线"/>
              <a:cs typeface="Courier New" panose="02070409020205090404" pitchFamily="49" charset="0"/>
            </a:endParaRPr>
          </a:p>
          <a:p>
            <a:pPr marL="228600" indent="-228600" defTabSz="363855">
              <a:lnSpc>
                <a:spcPct val="120000"/>
              </a:lnSpc>
              <a:buFont typeface="+mj-lt"/>
              <a:buAutoNum type="arabicPeriod"/>
              <a:defRPr/>
            </a:pPr>
            <a:r>
              <a:rPr lang="en-US" altLang="zh-CN" sz="1000" kern="0" dirty="0">
                <a:solidFill>
                  <a:prstClr val="black"/>
                </a:solidFill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  </a:t>
            </a:r>
            <a:r>
              <a:rPr lang="en-US" altLang="zh-CN" sz="1000" kern="0" dirty="0" err="1">
                <a:solidFill>
                  <a:prstClr val="black"/>
                </a:solidFill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printf</a:t>
            </a:r>
            <a:r>
              <a:rPr lang="en-US" altLang="zh-CN" sz="1000" kern="0" dirty="0">
                <a:solidFill>
                  <a:prstClr val="black"/>
                </a:solidFill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("y: ");</a:t>
            </a:r>
            <a:endParaRPr lang="en-US" altLang="zh-CN" sz="1000" kern="0" dirty="0">
              <a:solidFill>
                <a:prstClr val="black"/>
              </a:solidFill>
              <a:latin typeface="Courier New" panose="02070409020205090404" pitchFamily="49" charset="0"/>
              <a:ea typeface="等线"/>
              <a:cs typeface="Courier New" panose="02070409020205090404" pitchFamily="49" charset="0"/>
            </a:endParaRPr>
          </a:p>
          <a:p>
            <a:pPr marL="228600" indent="-228600" defTabSz="363855">
              <a:lnSpc>
                <a:spcPct val="120000"/>
              </a:lnSpc>
              <a:buFont typeface="+mj-lt"/>
              <a:buAutoNum type="arabicPeriod"/>
              <a:defRPr/>
            </a:pPr>
            <a:r>
              <a:rPr lang="en-US" altLang="zh-CN" sz="1000" kern="0" dirty="0">
                <a:solidFill>
                  <a:prstClr val="black"/>
                </a:solidFill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  for (</a:t>
            </a:r>
            <a:r>
              <a:rPr lang="en-US" altLang="zh-CN" sz="1000" kern="0" dirty="0" err="1">
                <a:solidFill>
                  <a:prstClr val="black"/>
                </a:solidFill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i</a:t>
            </a:r>
            <a:r>
              <a:rPr lang="en-US" altLang="zh-CN" sz="1000" kern="0" dirty="0">
                <a:solidFill>
                  <a:prstClr val="black"/>
                </a:solidFill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 = 0; </a:t>
            </a:r>
            <a:r>
              <a:rPr lang="en-US" altLang="zh-CN" sz="1000" kern="0" dirty="0" err="1">
                <a:solidFill>
                  <a:prstClr val="black"/>
                </a:solidFill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i</a:t>
            </a:r>
            <a:r>
              <a:rPr lang="en-US" altLang="zh-CN" sz="1000" kern="0" dirty="0">
                <a:solidFill>
                  <a:prstClr val="black"/>
                </a:solidFill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 &lt; 3; </a:t>
            </a:r>
            <a:r>
              <a:rPr lang="en-US" altLang="zh-CN" sz="1000" kern="0" dirty="0" err="1">
                <a:solidFill>
                  <a:prstClr val="black"/>
                </a:solidFill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i</a:t>
            </a:r>
            <a:r>
              <a:rPr lang="en-US" altLang="zh-CN" sz="1000" kern="0" dirty="0">
                <a:solidFill>
                  <a:prstClr val="black"/>
                </a:solidFill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++) </a:t>
            </a:r>
            <a:r>
              <a:rPr lang="en-US" altLang="zh-CN" sz="1000" kern="0" dirty="0" err="1">
                <a:solidFill>
                  <a:prstClr val="black"/>
                </a:solidFill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printf</a:t>
            </a:r>
            <a:r>
              <a:rPr lang="en-US" altLang="zh-CN" sz="1000" kern="0" dirty="0">
                <a:solidFill>
                  <a:prstClr val="black"/>
                </a:solidFill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("%d ", *(y + </a:t>
            </a:r>
            <a:r>
              <a:rPr lang="en-US" altLang="zh-CN" sz="1000" kern="0" dirty="0" err="1">
                <a:solidFill>
                  <a:prstClr val="black"/>
                </a:solidFill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i</a:t>
            </a:r>
            <a:r>
              <a:rPr lang="en-US" altLang="zh-CN" sz="1000" kern="0" dirty="0">
                <a:solidFill>
                  <a:prstClr val="black"/>
                </a:solidFill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));</a:t>
            </a:r>
            <a:endParaRPr lang="en-US" altLang="zh-CN" sz="1000" kern="0" dirty="0">
              <a:solidFill>
                <a:prstClr val="black"/>
              </a:solidFill>
              <a:latin typeface="Courier New" panose="02070409020205090404" pitchFamily="49" charset="0"/>
              <a:ea typeface="等线"/>
              <a:cs typeface="Courier New" panose="02070409020205090404" pitchFamily="49" charset="0"/>
            </a:endParaRPr>
          </a:p>
          <a:p>
            <a:pPr marL="228600" indent="-228600" defTabSz="363855">
              <a:lnSpc>
                <a:spcPct val="120000"/>
              </a:lnSpc>
              <a:buFont typeface="+mj-lt"/>
              <a:buAutoNum type="arabicPeriod"/>
              <a:defRPr/>
            </a:pPr>
            <a:r>
              <a:rPr lang="en-US" altLang="zh-CN" sz="1000" kern="0" dirty="0">
                <a:solidFill>
                  <a:prstClr val="black"/>
                </a:solidFill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  </a:t>
            </a:r>
            <a:r>
              <a:rPr lang="en-US" altLang="zh-CN" sz="1000" kern="0" dirty="0" err="1">
                <a:solidFill>
                  <a:prstClr val="black"/>
                </a:solidFill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printf</a:t>
            </a:r>
            <a:r>
              <a:rPr lang="en-US" altLang="zh-CN" sz="1000" kern="0" dirty="0">
                <a:solidFill>
                  <a:prstClr val="black"/>
                </a:solidFill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("\n");</a:t>
            </a:r>
            <a:endParaRPr lang="en-US" altLang="zh-CN" sz="1000" kern="0" dirty="0">
              <a:solidFill>
                <a:prstClr val="black"/>
              </a:solidFill>
              <a:latin typeface="Courier New" panose="02070409020205090404" pitchFamily="49" charset="0"/>
              <a:ea typeface="等线"/>
              <a:cs typeface="Courier New" panose="02070409020205090404" pitchFamily="49" charset="0"/>
            </a:endParaRPr>
          </a:p>
          <a:p>
            <a:pPr marL="228600" indent="-228600" defTabSz="363855">
              <a:lnSpc>
                <a:spcPct val="120000"/>
              </a:lnSpc>
              <a:buFont typeface="+mj-lt"/>
              <a:buAutoNum type="arabicPeriod"/>
              <a:defRPr/>
            </a:pPr>
            <a:r>
              <a:rPr lang="en-US" altLang="zh-CN" sz="1000" kern="0" dirty="0">
                <a:solidFill>
                  <a:prstClr val="black"/>
                </a:solidFill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  for (</a:t>
            </a:r>
            <a:r>
              <a:rPr lang="en-US" altLang="zh-CN" sz="1000" kern="0" dirty="0" err="1">
                <a:solidFill>
                  <a:prstClr val="black"/>
                </a:solidFill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i</a:t>
            </a:r>
            <a:r>
              <a:rPr lang="en-US" altLang="zh-CN" sz="1000" kern="0" dirty="0">
                <a:solidFill>
                  <a:prstClr val="black"/>
                </a:solidFill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 = 0; </a:t>
            </a:r>
            <a:r>
              <a:rPr lang="en-US" altLang="zh-CN" sz="1000" kern="0" dirty="0" err="1">
                <a:solidFill>
                  <a:prstClr val="black"/>
                </a:solidFill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i</a:t>
            </a:r>
            <a:r>
              <a:rPr lang="en-US" altLang="zh-CN" sz="1000" kern="0" dirty="0">
                <a:solidFill>
                  <a:prstClr val="black"/>
                </a:solidFill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 &lt; 3; </a:t>
            </a:r>
            <a:r>
              <a:rPr lang="en-US" altLang="zh-CN" sz="1000" kern="0" dirty="0" err="1">
                <a:solidFill>
                  <a:prstClr val="black"/>
                </a:solidFill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i</a:t>
            </a:r>
            <a:r>
              <a:rPr lang="en-US" altLang="zh-CN" sz="1000" kern="0" dirty="0">
                <a:solidFill>
                  <a:prstClr val="black"/>
                </a:solidFill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++) *(y + </a:t>
            </a:r>
            <a:r>
              <a:rPr lang="en-US" altLang="zh-CN" sz="1000" kern="0" dirty="0" err="1">
                <a:solidFill>
                  <a:prstClr val="black"/>
                </a:solidFill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i</a:t>
            </a:r>
            <a:r>
              <a:rPr lang="en-US" altLang="zh-CN" sz="1000" kern="0" dirty="0">
                <a:solidFill>
                  <a:prstClr val="black"/>
                </a:solidFill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) = </a:t>
            </a:r>
            <a:r>
              <a:rPr lang="en-US" altLang="zh-CN" sz="1000" kern="0" dirty="0" err="1">
                <a:solidFill>
                  <a:prstClr val="black"/>
                </a:solidFill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i</a:t>
            </a:r>
            <a:r>
              <a:rPr lang="en-US" altLang="zh-CN" sz="1000" kern="0" dirty="0">
                <a:solidFill>
                  <a:prstClr val="black"/>
                </a:solidFill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;</a:t>
            </a:r>
            <a:endParaRPr lang="en-US" altLang="zh-CN" sz="1000" kern="0" dirty="0">
              <a:solidFill>
                <a:prstClr val="black"/>
              </a:solidFill>
              <a:latin typeface="Courier New" panose="02070409020205090404" pitchFamily="49" charset="0"/>
              <a:ea typeface="等线"/>
              <a:cs typeface="Courier New" panose="02070409020205090404" pitchFamily="49" charset="0"/>
            </a:endParaRPr>
          </a:p>
          <a:p>
            <a:pPr marL="228600" indent="-228600" defTabSz="363855">
              <a:lnSpc>
                <a:spcPct val="120000"/>
              </a:lnSpc>
              <a:buFont typeface="+mj-lt"/>
              <a:buAutoNum type="arabicPeriod"/>
              <a:defRPr/>
            </a:pPr>
            <a:endParaRPr lang="en-US" altLang="zh-CN" sz="1000" kern="0" dirty="0">
              <a:solidFill>
                <a:prstClr val="black"/>
              </a:solidFill>
              <a:latin typeface="Courier New" panose="02070409020205090404" pitchFamily="49" charset="0"/>
              <a:ea typeface="等线"/>
              <a:cs typeface="Courier New" panose="02070409020205090404" pitchFamily="49" charset="0"/>
            </a:endParaRPr>
          </a:p>
          <a:p>
            <a:pPr marL="228600" indent="-228600" defTabSz="363855">
              <a:lnSpc>
                <a:spcPct val="120000"/>
              </a:lnSpc>
              <a:buFont typeface="+mj-lt"/>
              <a:buAutoNum type="arabicPeriod"/>
              <a:defRPr/>
            </a:pPr>
            <a:r>
              <a:rPr lang="en-US" altLang="zh-CN" sz="1000" kern="0" dirty="0">
                <a:solidFill>
                  <a:prstClr val="black"/>
                </a:solidFill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  y = (int *) </a:t>
            </a:r>
            <a:r>
              <a:rPr lang="en-US" altLang="zh-CN" sz="1000" kern="0" dirty="0" err="1">
                <a:solidFill>
                  <a:prstClr val="black"/>
                </a:solidFill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realloc</a:t>
            </a:r>
            <a:r>
              <a:rPr lang="en-US" altLang="zh-CN" sz="1000" kern="0" dirty="0">
                <a:solidFill>
                  <a:prstClr val="black"/>
                </a:solidFill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(y, 4 * 5);</a:t>
            </a:r>
            <a:endParaRPr lang="en-US" altLang="zh-CN" sz="1000" kern="0" dirty="0">
              <a:solidFill>
                <a:prstClr val="black"/>
              </a:solidFill>
              <a:latin typeface="Courier New" panose="02070409020205090404" pitchFamily="49" charset="0"/>
              <a:ea typeface="等线"/>
              <a:cs typeface="Courier New" panose="02070409020205090404" pitchFamily="49" charset="0"/>
            </a:endParaRPr>
          </a:p>
          <a:p>
            <a:pPr marL="228600" indent="-228600" defTabSz="363855">
              <a:lnSpc>
                <a:spcPct val="120000"/>
              </a:lnSpc>
              <a:buFont typeface="+mj-lt"/>
              <a:buAutoNum type="arabicPeriod"/>
              <a:defRPr/>
            </a:pPr>
            <a:r>
              <a:rPr lang="en-US" altLang="zh-CN" sz="1000" kern="0" dirty="0">
                <a:solidFill>
                  <a:prstClr val="black"/>
                </a:solidFill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  </a:t>
            </a:r>
            <a:r>
              <a:rPr lang="en-US" altLang="zh-CN" sz="1000" kern="0" dirty="0" err="1">
                <a:solidFill>
                  <a:prstClr val="black"/>
                </a:solidFill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printf</a:t>
            </a:r>
            <a:r>
              <a:rPr lang="en-US" altLang="zh-CN" sz="1000" kern="0" dirty="0">
                <a:solidFill>
                  <a:prstClr val="black"/>
                </a:solidFill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("new y: ");</a:t>
            </a:r>
            <a:endParaRPr lang="en-US" altLang="zh-CN" sz="1000" kern="0" dirty="0">
              <a:solidFill>
                <a:prstClr val="black"/>
              </a:solidFill>
              <a:latin typeface="Courier New" panose="02070409020205090404" pitchFamily="49" charset="0"/>
              <a:ea typeface="等线"/>
              <a:cs typeface="Courier New" panose="02070409020205090404" pitchFamily="49" charset="0"/>
            </a:endParaRPr>
          </a:p>
          <a:p>
            <a:pPr marL="228600" indent="-228600" defTabSz="363855">
              <a:lnSpc>
                <a:spcPct val="120000"/>
              </a:lnSpc>
              <a:buFont typeface="+mj-lt"/>
              <a:buAutoNum type="arabicPeriod"/>
              <a:defRPr/>
            </a:pPr>
            <a:r>
              <a:rPr lang="en-US" altLang="zh-CN" sz="1000" kern="0" dirty="0">
                <a:solidFill>
                  <a:prstClr val="black"/>
                </a:solidFill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  for (</a:t>
            </a:r>
            <a:r>
              <a:rPr lang="en-US" altLang="zh-CN" sz="1000" kern="0" dirty="0" err="1">
                <a:solidFill>
                  <a:prstClr val="black"/>
                </a:solidFill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i</a:t>
            </a:r>
            <a:r>
              <a:rPr lang="en-US" altLang="zh-CN" sz="1000" kern="0" dirty="0">
                <a:solidFill>
                  <a:prstClr val="black"/>
                </a:solidFill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 = 0; </a:t>
            </a:r>
            <a:r>
              <a:rPr lang="en-US" altLang="zh-CN" sz="1000" kern="0" dirty="0" err="1">
                <a:solidFill>
                  <a:prstClr val="black"/>
                </a:solidFill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i</a:t>
            </a:r>
            <a:r>
              <a:rPr lang="en-US" altLang="zh-CN" sz="1000" kern="0" dirty="0">
                <a:solidFill>
                  <a:prstClr val="black"/>
                </a:solidFill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 &lt; 5; </a:t>
            </a:r>
            <a:r>
              <a:rPr lang="en-US" altLang="zh-CN" sz="1000" kern="0" dirty="0" err="1">
                <a:solidFill>
                  <a:prstClr val="black"/>
                </a:solidFill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i</a:t>
            </a:r>
            <a:r>
              <a:rPr lang="en-US" altLang="zh-CN" sz="1000" kern="0" dirty="0">
                <a:solidFill>
                  <a:prstClr val="black"/>
                </a:solidFill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++) </a:t>
            </a:r>
            <a:r>
              <a:rPr lang="en-US" altLang="zh-CN" sz="1000" kern="0" dirty="0" err="1">
                <a:solidFill>
                  <a:prstClr val="black"/>
                </a:solidFill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printf</a:t>
            </a:r>
            <a:r>
              <a:rPr lang="en-US" altLang="zh-CN" sz="1000" kern="0" dirty="0">
                <a:solidFill>
                  <a:prstClr val="black"/>
                </a:solidFill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("%d ", *(y + </a:t>
            </a:r>
            <a:r>
              <a:rPr lang="en-US" altLang="zh-CN" sz="1000" kern="0" dirty="0" err="1">
                <a:solidFill>
                  <a:prstClr val="black"/>
                </a:solidFill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i</a:t>
            </a:r>
            <a:r>
              <a:rPr lang="en-US" altLang="zh-CN" sz="1000" kern="0" dirty="0">
                <a:solidFill>
                  <a:prstClr val="black"/>
                </a:solidFill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));</a:t>
            </a:r>
            <a:endParaRPr lang="en-US" altLang="zh-CN" sz="1000" kern="0" dirty="0">
              <a:solidFill>
                <a:prstClr val="black"/>
              </a:solidFill>
              <a:latin typeface="Courier New" panose="02070409020205090404" pitchFamily="49" charset="0"/>
              <a:ea typeface="等线"/>
              <a:cs typeface="Courier New" panose="02070409020205090404" pitchFamily="49" charset="0"/>
            </a:endParaRPr>
          </a:p>
          <a:p>
            <a:pPr marL="228600" indent="-228600" defTabSz="363855">
              <a:lnSpc>
                <a:spcPct val="120000"/>
              </a:lnSpc>
              <a:buFont typeface="+mj-lt"/>
              <a:buAutoNum type="arabicPeriod"/>
              <a:defRPr/>
            </a:pPr>
            <a:r>
              <a:rPr lang="en-US" altLang="zh-CN" sz="1000" kern="0" dirty="0">
                <a:solidFill>
                  <a:prstClr val="black"/>
                </a:solidFill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  </a:t>
            </a:r>
            <a:r>
              <a:rPr lang="en-US" altLang="zh-CN" sz="1000" kern="0" dirty="0" err="1">
                <a:solidFill>
                  <a:prstClr val="black"/>
                </a:solidFill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printf</a:t>
            </a:r>
            <a:r>
              <a:rPr lang="en-US" altLang="zh-CN" sz="1000" kern="0" dirty="0">
                <a:solidFill>
                  <a:prstClr val="black"/>
                </a:solidFill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("\n");</a:t>
            </a:r>
            <a:endParaRPr lang="en-US" altLang="zh-CN" sz="1000" kern="0" dirty="0">
              <a:solidFill>
                <a:prstClr val="black"/>
              </a:solidFill>
              <a:latin typeface="Courier New" panose="02070409020205090404" pitchFamily="49" charset="0"/>
              <a:ea typeface="等线"/>
              <a:cs typeface="Courier New" panose="02070409020205090404" pitchFamily="49" charset="0"/>
            </a:endParaRPr>
          </a:p>
          <a:p>
            <a:pPr marL="228600" indent="-228600" defTabSz="363855">
              <a:lnSpc>
                <a:spcPct val="120000"/>
              </a:lnSpc>
              <a:buFont typeface="+mj-lt"/>
              <a:buAutoNum type="arabicPeriod"/>
              <a:defRPr/>
            </a:pPr>
            <a:r>
              <a:rPr lang="en-US" altLang="zh-CN" sz="1000" kern="0" dirty="0">
                <a:solidFill>
                  <a:prstClr val="black"/>
                </a:solidFill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  free(x);</a:t>
            </a:r>
            <a:endParaRPr lang="en-US" altLang="zh-CN" sz="1000" kern="0" dirty="0">
              <a:solidFill>
                <a:prstClr val="black"/>
              </a:solidFill>
              <a:latin typeface="Courier New" panose="02070409020205090404" pitchFamily="49" charset="0"/>
              <a:ea typeface="等线"/>
              <a:cs typeface="Courier New" panose="02070409020205090404" pitchFamily="49" charset="0"/>
            </a:endParaRPr>
          </a:p>
          <a:p>
            <a:pPr marL="228600" indent="-228600" defTabSz="363855">
              <a:lnSpc>
                <a:spcPct val="120000"/>
              </a:lnSpc>
              <a:buFont typeface="+mj-lt"/>
              <a:buAutoNum type="arabicPeriod"/>
              <a:defRPr/>
            </a:pPr>
            <a:r>
              <a:rPr lang="en-US" altLang="zh-CN" sz="1000" kern="0" dirty="0">
                <a:solidFill>
                  <a:prstClr val="black"/>
                </a:solidFill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  free(y);</a:t>
            </a:r>
            <a:endParaRPr lang="en-US" altLang="zh-CN" sz="1000" kern="0" dirty="0">
              <a:solidFill>
                <a:prstClr val="black"/>
              </a:solidFill>
              <a:latin typeface="Courier New" panose="02070409020205090404" pitchFamily="49" charset="0"/>
              <a:ea typeface="等线"/>
              <a:cs typeface="Courier New" panose="02070409020205090404" pitchFamily="49" charset="0"/>
            </a:endParaRPr>
          </a:p>
          <a:p>
            <a:pPr marL="228600" indent="-228600" defTabSz="363855">
              <a:lnSpc>
                <a:spcPct val="120000"/>
              </a:lnSpc>
              <a:buFont typeface="+mj-lt"/>
              <a:buAutoNum type="arabicPeriod"/>
              <a:defRPr/>
            </a:pPr>
            <a:r>
              <a:rPr lang="en-US" altLang="zh-CN" sz="1000" kern="0" dirty="0">
                <a:solidFill>
                  <a:prstClr val="black"/>
                </a:solidFill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  return 0;</a:t>
            </a:r>
            <a:endParaRPr lang="en-US" altLang="zh-CN" sz="1000" kern="0" dirty="0">
              <a:solidFill>
                <a:prstClr val="black"/>
              </a:solidFill>
              <a:latin typeface="Courier New" panose="02070409020205090404" pitchFamily="49" charset="0"/>
              <a:ea typeface="等线"/>
              <a:cs typeface="Courier New" panose="02070409020205090404" pitchFamily="49" charset="0"/>
            </a:endParaRPr>
          </a:p>
          <a:p>
            <a:pPr marL="228600" indent="-228600" defTabSz="363855">
              <a:lnSpc>
                <a:spcPct val="120000"/>
              </a:lnSpc>
              <a:buFont typeface="+mj-lt"/>
              <a:buAutoNum type="arabicPeriod"/>
              <a:defRPr/>
            </a:pPr>
            <a:r>
              <a:rPr lang="en-US" altLang="zh-CN" sz="1000" kern="0" dirty="0">
                <a:solidFill>
                  <a:prstClr val="black"/>
                </a:solidFill>
                <a:latin typeface="Courier New" panose="02070409020205090404" pitchFamily="49" charset="0"/>
                <a:ea typeface="等线"/>
                <a:cs typeface="Courier New" panose="02070409020205090404" pitchFamily="49" charset="0"/>
              </a:rPr>
              <a:t>}</a:t>
            </a:r>
            <a:endParaRPr lang="en-US" altLang="zh-CN" sz="1000" kern="0" dirty="0">
              <a:solidFill>
                <a:prstClr val="black"/>
              </a:solidFill>
              <a:latin typeface="Courier New" panose="02070409020205090404" pitchFamily="49" charset="0"/>
              <a:ea typeface="等线"/>
              <a:cs typeface="Courier New" panose="02070409020205090404" pitchFamily="49" charset="0"/>
            </a:endParaRPr>
          </a:p>
          <a:p>
            <a:pPr marL="228600" indent="-228600" defTabSz="363855">
              <a:lnSpc>
                <a:spcPct val="120000"/>
              </a:lnSpc>
              <a:buFont typeface="+mj-lt"/>
              <a:buAutoNum type="arabicPeriod"/>
              <a:defRPr/>
            </a:pPr>
            <a:endParaRPr lang="zh-CN" altLang="en-US" sz="1000" kern="0" dirty="0">
              <a:solidFill>
                <a:prstClr val="black"/>
              </a:solidFill>
              <a:latin typeface="Courier New" panose="02070409020205090404" pitchFamily="49" charset="0"/>
              <a:ea typeface="等线"/>
              <a:cs typeface="Courier New" panose="02070409020205090404" pitchFamily="49" charset="0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4481260" y="3788848"/>
            <a:ext cx="0" cy="2952000"/>
          </a:xfrm>
          <a:prstGeom prst="line">
            <a:avLst/>
          </a:prstGeom>
          <a:noFill/>
          <a:ln w="6350" cap="flat" cmpd="sng" algn="ctr">
            <a:solidFill>
              <a:srgbClr val="E84C22"/>
            </a:solidFill>
            <a:prstDash val="solid"/>
            <a:miter lim="800000"/>
          </a:ln>
          <a:effectLst/>
        </p:spPr>
      </p:cxnSp>
      <p:grpSp>
        <p:nvGrpSpPr>
          <p:cNvPr id="7" name="组合 6"/>
          <p:cNvGrpSpPr/>
          <p:nvPr/>
        </p:nvGrpSpPr>
        <p:grpSpPr>
          <a:xfrm>
            <a:off x="4318512" y="3985012"/>
            <a:ext cx="325496" cy="164068"/>
            <a:chOff x="5926033" y="1926699"/>
            <a:chExt cx="325496" cy="260107"/>
          </a:xfrm>
        </p:grpSpPr>
        <p:sp>
          <p:nvSpPr>
            <p:cNvPr id="8" name="MH_Other_2"/>
            <p:cNvSpPr/>
            <p:nvPr>
              <p:custDataLst>
                <p:tags r:id="rId1"/>
              </p:custDataLst>
            </p:nvPr>
          </p:nvSpPr>
          <p:spPr>
            <a:xfrm>
              <a:off x="6179612" y="1926699"/>
              <a:ext cx="71917" cy="80727"/>
            </a:xfrm>
            <a:prstGeom prst="ellipse">
              <a:avLst/>
            </a:prstGeom>
            <a:gradFill flip="none" rotWithShape="1">
              <a:gsLst>
                <a:gs pos="51000">
                  <a:srgbClr val="525252"/>
                </a:gs>
                <a:gs pos="20000">
                  <a:srgbClr val="808080"/>
                </a:gs>
                <a:gs pos="86000">
                  <a:srgbClr val="A5A5A5"/>
                </a:gs>
              </a:gsLst>
              <a:path path="circle">
                <a:fillToRect l="100000" t="100000"/>
              </a:path>
              <a:tileRect r="-100000" b="-100000"/>
            </a:gradFill>
            <a:ln w="12700" cap="flat" cmpd="sng" algn="ctr">
              <a:solidFill>
                <a:srgbClr val="A9A9A9"/>
              </a:solidFill>
              <a:prstDash val="solid"/>
              <a:miter lim="800000"/>
            </a:ln>
            <a:effectLst/>
          </p:spPr>
          <p:txBody>
            <a:bodyPr lIns="68580" tIns="34290" rIns="68580" bIns="3429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endParaRPr>
            </a:p>
          </p:txBody>
        </p:sp>
        <p:sp>
          <p:nvSpPr>
            <p:cNvPr id="9" name="MH_Other_3"/>
            <p:cNvSpPr/>
            <p:nvPr>
              <p:custDataLst>
                <p:tags r:id="rId2"/>
              </p:custDataLst>
            </p:nvPr>
          </p:nvSpPr>
          <p:spPr>
            <a:xfrm>
              <a:off x="5926033" y="1930700"/>
              <a:ext cx="71917" cy="80727"/>
            </a:xfrm>
            <a:prstGeom prst="ellipse">
              <a:avLst/>
            </a:prstGeom>
            <a:gradFill flip="none" rotWithShape="1">
              <a:gsLst>
                <a:gs pos="51000">
                  <a:srgbClr val="525252"/>
                </a:gs>
                <a:gs pos="20000">
                  <a:srgbClr val="808080"/>
                </a:gs>
                <a:gs pos="86000">
                  <a:srgbClr val="A5A5A5"/>
                </a:gs>
              </a:gsLst>
              <a:path path="circle">
                <a:fillToRect l="100000" t="100000"/>
              </a:path>
              <a:tileRect r="-100000" b="-100000"/>
            </a:gradFill>
            <a:ln w="12700" cap="flat" cmpd="sng" algn="ctr">
              <a:solidFill>
                <a:srgbClr val="A9A9A9"/>
              </a:solidFill>
              <a:prstDash val="solid"/>
              <a:miter lim="800000"/>
            </a:ln>
            <a:effectLst/>
          </p:spPr>
          <p:txBody>
            <a:bodyPr lIns="68580" tIns="34290" rIns="68580" bIns="3429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endParaRPr>
            </a:p>
          </p:txBody>
        </p:sp>
        <p:sp>
          <p:nvSpPr>
            <p:cNvPr id="10" name="MH_Other_4"/>
            <p:cNvSpPr/>
            <p:nvPr>
              <p:custDataLst>
                <p:tags r:id="rId3"/>
              </p:custDataLst>
            </p:nvPr>
          </p:nvSpPr>
          <p:spPr>
            <a:xfrm>
              <a:off x="5961064" y="1940616"/>
              <a:ext cx="269875" cy="53975"/>
            </a:xfrm>
            <a:prstGeom prst="rect">
              <a:avLst/>
            </a:prstGeom>
            <a:gradFill flip="none" rotWithShape="1">
              <a:gsLst>
                <a:gs pos="57000">
                  <a:srgbClr val="D2D2D2"/>
                </a:gs>
                <a:gs pos="9000">
                  <a:srgbClr val="808080"/>
                </a:gs>
                <a:gs pos="98000">
                  <a:srgbClr val="AEAEAE"/>
                </a:gs>
              </a:gsLst>
              <a:lin ang="54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68580" tIns="34290" rIns="68580" bIns="3429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endParaRPr>
            </a:p>
          </p:txBody>
        </p:sp>
        <p:sp>
          <p:nvSpPr>
            <p:cNvPr id="11" name="MH_Other_5"/>
            <p:cNvSpPr/>
            <p:nvPr>
              <p:custDataLst>
                <p:tags r:id="rId4"/>
              </p:custDataLst>
            </p:nvPr>
          </p:nvSpPr>
          <p:spPr>
            <a:xfrm>
              <a:off x="6179612" y="2102078"/>
              <a:ext cx="71917" cy="80727"/>
            </a:xfrm>
            <a:prstGeom prst="ellipse">
              <a:avLst/>
            </a:prstGeom>
            <a:gradFill flip="none" rotWithShape="1">
              <a:gsLst>
                <a:gs pos="51000">
                  <a:srgbClr val="525252"/>
                </a:gs>
                <a:gs pos="20000">
                  <a:srgbClr val="808080"/>
                </a:gs>
                <a:gs pos="86000">
                  <a:srgbClr val="A5A5A5"/>
                </a:gs>
              </a:gsLst>
              <a:path path="circle">
                <a:fillToRect l="100000" t="100000"/>
              </a:path>
              <a:tileRect r="-100000" b="-100000"/>
            </a:gradFill>
            <a:ln w="12700" cap="flat" cmpd="sng" algn="ctr">
              <a:solidFill>
                <a:srgbClr val="A9A9A9"/>
              </a:solidFill>
              <a:prstDash val="solid"/>
              <a:miter lim="800000"/>
            </a:ln>
            <a:effectLst/>
          </p:spPr>
          <p:txBody>
            <a:bodyPr lIns="68580" tIns="34290" rIns="68580" bIns="3429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endParaRPr>
            </a:p>
          </p:txBody>
        </p:sp>
        <p:sp>
          <p:nvSpPr>
            <p:cNvPr id="12" name="MH_Other_6"/>
            <p:cNvSpPr/>
            <p:nvPr>
              <p:custDataLst>
                <p:tags r:id="rId5"/>
              </p:custDataLst>
            </p:nvPr>
          </p:nvSpPr>
          <p:spPr>
            <a:xfrm>
              <a:off x="5926033" y="2106079"/>
              <a:ext cx="71917" cy="80727"/>
            </a:xfrm>
            <a:prstGeom prst="ellipse">
              <a:avLst/>
            </a:prstGeom>
            <a:gradFill flip="none" rotWithShape="1">
              <a:gsLst>
                <a:gs pos="51000">
                  <a:srgbClr val="525252"/>
                </a:gs>
                <a:gs pos="20000">
                  <a:srgbClr val="808080"/>
                </a:gs>
                <a:gs pos="86000">
                  <a:srgbClr val="A5A5A5"/>
                </a:gs>
              </a:gsLst>
              <a:path path="circle">
                <a:fillToRect l="100000" t="100000"/>
              </a:path>
              <a:tileRect r="-100000" b="-100000"/>
            </a:gradFill>
            <a:ln w="12700" cap="flat" cmpd="sng" algn="ctr">
              <a:solidFill>
                <a:srgbClr val="A9A9A9"/>
              </a:solidFill>
              <a:prstDash val="solid"/>
              <a:miter lim="800000"/>
            </a:ln>
            <a:effectLst/>
          </p:spPr>
          <p:txBody>
            <a:bodyPr lIns="68580" tIns="34290" rIns="68580" bIns="3429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endParaRPr>
            </a:p>
          </p:txBody>
        </p:sp>
        <p:sp>
          <p:nvSpPr>
            <p:cNvPr id="13" name="MH_Other_7"/>
            <p:cNvSpPr/>
            <p:nvPr>
              <p:custDataLst>
                <p:tags r:id="rId6"/>
              </p:custDataLst>
            </p:nvPr>
          </p:nvSpPr>
          <p:spPr>
            <a:xfrm>
              <a:off x="5961064" y="2115241"/>
              <a:ext cx="269875" cy="53975"/>
            </a:xfrm>
            <a:prstGeom prst="rect">
              <a:avLst/>
            </a:prstGeom>
            <a:gradFill flip="none" rotWithShape="1">
              <a:gsLst>
                <a:gs pos="57000">
                  <a:srgbClr val="D2D2D2"/>
                </a:gs>
                <a:gs pos="9000">
                  <a:srgbClr val="808080"/>
                </a:gs>
                <a:gs pos="98000">
                  <a:srgbClr val="AEAEAE"/>
                </a:gs>
              </a:gsLst>
              <a:lin ang="54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68580" tIns="34290" rIns="68580" bIns="3429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4318512" y="6361276"/>
            <a:ext cx="325496" cy="164067"/>
            <a:chOff x="5926033" y="5434781"/>
            <a:chExt cx="325496" cy="260106"/>
          </a:xfrm>
        </p:grpSpPr>
        <p:sp>
          <p:nvSpPr>
            <p:cNvPr id="15" name="MH_Other_8"/>
            <p:cNvSpPr/>
            <p:nvPr>
              <p:custDataLst>
                <p:tags r:id="rId7"/>
              </p:custDataLst>
            </p:nvPr>
          </p:nvSpPr>
          <p:spPr>
            <a:xfrm>
              <a:off x="6179612" y="5434781"/>
              <a:ext cx="71917" cy="80727"/>
            </a:xfrm>
            <a:prstGeom prst="ellipse">
              <a:avLst/>
            </a:prstGeom>
            <a:gradFill flip="none" rotWithShape="1">
              <a:gsLst>
                <a:gs pos="51000">
                  <a:srgbClr val="525252"/>
                </a:gs>
                <a:gs pos="20000">
                  <a:srgbClr val="808080"/>
                </a:gs>
                <a:gs pos="86000">
                  <a:srgbClr val="A5A5A5"/>
                </a:gs>
              </a:gsLst>
              <a:path path="circle">
                <a:fillToRect l="100000" t="100000"/>
              </a:path>
              <a:tileRect r="-100000" b="-100000"/>
            </a:gradFill>
            <a:ln w="12700" cap="flat" cmpd="sng" algn="ctr">
              <a:solidFill>
                <a:srgbClr val="A9A9A9"/>
              </a:solidFill>
              <a:prstDash val="solid"/>
              <a:miter lim="800000"/>
            </a:ln>
            <a:effectLst/>
          </p:spPr>
          <p:txBody>
            <a:bodyPr lIns="68580" tIns="34290" rIns="68580" bIns="3429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endParaRPr>
            </a:p>
          </p:txBody>
        </p:sp>
        <p:sp>
          <p:nvSpPr>
            <p:cNvPr id="16" name="MH_Other_9"/>
            <p:cNvSpPr/>
            <p:nvPr>
              <p:custDataLst>
                <p:tags r:id="rId8"/>
              </p:custDataLst>
            </p:nvPr>
          </p:nvSpPr>
          <p:spPr>
            <a:xfrm>
              <a:off x="5926033" y="5438782"/>
              <a:ext cx="71917" cy="80727"/>
            </a:xfrm>
            <a:prstGeom prst="ellipse">
              <a:avLst/>
            </a:prstGeom>
            <a:gradFill flip="none" rotWithShape="1">
              <a:gsLst>
                <a:gs pos="51000">
                  <a:srgbClr val="525252"/>
                </a:gs>
                <a:gs pos="20000">
                  <a:srgbClr val="808080"/>
                </a:gs>
                <a:gs pos="86000">
                  <a:srgbClr val="A5A5A5"/>
                </a:gs>
              </a:gsLst>
              <a:path path="circle">
                <a:fillToRect l="100000" t="100000"/>
              </a:path>
              <a:tileRect r="-100000" b="-100000"/>
            </a:gradFill>
            <a:ln w="12700" cap="flat" cmpd="sng" algn="ctr">
              <a:solidFill>
                <a:srgbClr val="A9A9A9"/>
              </a:solidFill>
              <a:prstDash val="solid"/>
              <a:miter lim="800000"/>
            </a:ln>
            <a:effectLst/>
          </p:spPr>
          <p:txBody>
            <a:bodyPr lIns="68580" tIns="34290" rIns="68580" bIns="3429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endParaRPr>
            </a:p>
          </p:txBody>
        </p:sp>
        <p:sp>
          <p:nvSpPr>
            <p:cNvPr id="17" name="MH_Other_10"/>
            <p:cNvSpPr/>
            <p:nvPr>
              <p:custDataLst>
                <p:tags r:id="rId9"/>
              </p:custDataLst>
            </p:nvPr>
          </p:nvSpPr>
          <p:spPr>
            <a:xfrm>
              <a:off x="5961064" y="5448509"/>
              <a:ext cx="269875" cy="53975"/>
            </a:xfrm>
            <a:prstGeom prst="rect">
              <a:avLst/>
            </a:prstGeom>
            <a:gradFill flip="none" rotWithShape="1">
              <a:gsLst>
                <a:gs pos="57000">
                  <a:srgbClr val="D2D2D2"/>
                </a:gs>
                <a:gs pos="9000">
                  <a:srgbClr val="808080"/>
                </a:gs>
                <a:gs pos="98000">
                  <a:srgbClr val="AEAEAE"/>
                </a:gs>
              </a:gsLst>
              <a:lin ang="54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68580" tIns="34290" rIns="68580" bIns="3429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endParaRPr>
            </a:p>
          </p:txBody>
        </p:sp>
        <p:sp>
          <p:nvSpPr>
            <p:cNvPr id="18" name="MH_Other_11"/>
            <p:cNvSpPr/>
            <p:nvPr>
              <p:custDataLst>
                <p:tags r:id="rId10"/>
              </p:custDataLst>
            </p:nvPr>
          </p:nvSpPr>
          <p:spPr>
            <a:xfrm>
              <a:off x="6179612" y="5610159"/>
              <a:ext cx="71917" cy="80727"/>
            </a:xfrm>
            <a:prstGeom prst="ellipse">
              <a:avLst/>
            </a:prstGeom>
            <a:gradFill flip="none" rotWithShape="1">
              <a:gsLst>
                <a:gs pos="51000">
                  <a:srgbClr val="525252"/>
                </a:gs>
                <a:gs pos="20000">
                  <a:srgbClr val="808080"/>
                </a:gs>
                <a:gs pos="86000">
                  <a:srgbClr val="A5A5A5"/>
                </a:gs>
              </a:gsLst>
              <a:path path="circle">
                <a:fillToRect l="100000" t="100000"/>
              </a:path>
              <a:tileRect r="-100000" b="-100000"/>
            </a:gradFill>
            <a:ln w="12700" cap="flat" cmpd="sng" algn="ctr">
              <a:solidFill>
                <a:srgbClr val="A9A9A9"/>
              </a:solidFill>
              <a:prstDash val="solid"/>
              <a:miter lim="800000"/>
            </a:ln>
            <a:effectLst/>
          </p:spPr>
          <p:txBody>
            <a:bodyPr lIns="68580" tIns="34290" rIns="68580" bIns="3429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endParaRPr>
            </a:p>
          </p:txBody>
        </p:sp>
        <p:sp>
          <p:nvSpPr>
            <p:cNvPr id="19" name="MH_Other_12"/>
            <p:cNvSpPr/>
            <p:nvPr>
              <p:custDataLst>
                <p:tags r:id="rId11"/>
              </p:custDataLst>
            </p:nvPr>
          </p:nvSpPr>
          <p:spPr>
            <a:xfrm>
              <a:off x="5926033" y="5614160"/>
              <a:ext cx="71917" cy="80727"/>
            </a:xfrm>
            <a:prstGeom prst="ellipse">
              <a:avLst/>
            </a:prstGeom>
            <a:gradFill flip="none" rotWithShape="1">
              <a:gsLst>
                <a:gs pos="51000">
                  <a:srgbClr val="525252"/>
                </a:gs>
                <a:gs pos="20000">
                  <a:srgbClr val="808080"/>
                </a:gs>
                <a:gs pos="86000">
                  <a:srgbClr val="A5A5A5"/>
                </a:gs>
              </a:gsLst>
              <a:path path="circle">
                <a:fillToRect l="100000" t="100000"/>
              </a:path>
              <a:tileRect r="-100000" b="-100000"/>
            </a:gradFill>
            <a:ln w="12700" cap="flat" cmpd="sng" algn="ctr">
              <a:solidFill>
                <a:srgbClr val="A9A9A9"/>
              </a:solidFill>
              <a:prstDash val="solid"/>
              <a:miter lim="800000"/>
            </a:ln>
            <a:effectLst/>
          </p:spPr>
          <p:txBody>
            <a:bodyPr lIns="68580" tIns="34290" rIns="68580" bIns="3429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endParaRPr>
            </a:p>
          </p:txBody>
        </p:sp>
        <p:sp>
          <p:nvSpPr>
            <p:cNvPr id="20" name="MH_Other_13"/>
            <p:cNvSpPr/>
            <p:nvPr>
              <p:custDataLst>
                <p:tags r:id="rId12"/>
              </p:custDataLst>
            </p:nvPr>
          </p:nvSpPr>
          <p:spPr>
            <a:xfrm>
              <a:off x="5961064" y="5623134"/>
              <a:ext cx="269875" cy="53975"/>
            </a:xfrm>
            <a:prstGeom prst="rect">
              <a:avLst/>
            </a:prstGeom>
            <a:gradFill flip="none" rotWithShape="1">
              <a:gsLst>
                <a:gs pos="57000">
                  <a:srgbClr val="D2D2D2"/>
                </a:gs>
                <a:gs pos="9000">
                  <a:srgbClr val="808080"/>
                </a:gs>
                <a:gs pos="98000">
                  <a:srgbClr val="AEAEAE"/>
                </a:gs>
              </a:gsLst>
              <a:lin ang="54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68580" tIns="34290" rIns="68580" bIns="3429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/>
                <a:cs typeface="+mn-cs"/>
              </a:endParaRPr>
            </a:p>
          </p:txBody>
        </p:sp>
      </p:grpSp>
      <p:sp>
        <p:nvSpPr>
          <p:cNvPr id="4" name="矩形 3"/>
          <p:cNvSpPr/>
          <p:nvPr/>
        </p:nvSpPr>
        <p:spPr>
          <a:xfrm>
            <a:off x="6263118" y="5817518"/>
            <a:ext cx="2576597" cy="861774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>
            <a:spAutoFit/>
          </a:bodyPr>
          <a:lstStyle/>
          <a:p>
            <a:r>
              <a:rPr lang="en-US" sz="1600" dirty="0"/>
              <a:t>x: 10050208 0 10027344 </a:t>
            </a:r>
            <a:endParaRPr lang="en-US" sz="1600" dirty="0"/>
          </a:p>
          <a:p>
            <a:r>
              <a:rPr lang="en-US" sz="1600" dirty="0"/>
              <a:t>y: 0 0 0</a:t>
            </a:r>
            <a:endParaRPr lang="en-US" sz="1600" dirty="0"/>
          </a:p>
          <a:p>
            <a:r>
              <a:rPr lang="en-US" sz="1600" dirty="0"/>
              <a:t>new y: 0 1 2 0 0</a:t>
            </a:r>
            <a:endParaRPr lang="en-US" sz="1600" dirty="0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sz="1800" dirty="0"/>
              <a:t>例</a:t>
            </a:r>
            <a:r>
              <a:rPr lang="en-US" altLang="zh-CN" sz="1800" dirty="0"/>
              <a:t>13-19: </a:t>
            </a:r>
            <a:r>
              <a:rPr lang="zh-CN" altLang="en-US" sz="1800" b="0" dirty="0"/>
              <a:t>动态建立学生结构体数组，输入</a:t>
            </a:r>
            <a:r>
              <a:rPr lang="en-US" altLang="zh-CN" sz="1800" b="0" dirty="0"/>
              <a:t>2</a:t>
            </a:r>
            <a:r>
              <a:rPr lang="zh-CN" altLang="en-US" sz="1800" b="0" dirty="0"/>
              <a:t>个学生的信息，另外用一个函数来检查学生性别，输出男生的信息。程序结束前，释放动态分配的数组内存空间</a:t>
            </a:r>
            <a:endParaRPr lang="zh-CN" altLang="en-US" sz="1800" b="0" dirty="0"/>
          </a:p>
        </p:txBody>
      </p:sp>
      <p:sp>
        <p:nvSpPr>
          <p:cNvPr id="4" name="矩形 3"/>
          <p:cNvSpPr/>
          <p:nvPr/>
        </p:nvSpPr>
        <p:spPr>
          <a:xfrm>
            <a:off x="173736" y="1536174"/>
            <a:ext cx="4562856" cy="378565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#include &lt;iostream&gt;</a:t>
            </a:r>
            <a:endParaRPr lang="en-US" sz="12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using namespace std;</a:t>
            </a:r>
            <a:endParaRPr lang="en-US" sz="12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typedef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sno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       // 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学号为整型</a:t>
            </a:r>
            <a:endParaRPr lang="zh-CN" alt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name[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20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 // 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姓名为字符串</a:t>
            </a:r>
            <a:endParaRPr lang="zh-CN" alt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sex;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      // 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性别为字符型 </a:t>
            </a:r>
            <a:r>
              <a:rPr lang="en-US" altLang="zh-CN" sz="1200" dirty="0">
                <a:solidFill>
                  <a:srgbClr val="008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F: 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女生，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M: 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男生</a:t>
            </a:r>
            <a:r>
              <a:rPr lang="en-US" altLang="zh-CN" sz="1200" dirty="0">
                <a:solidFill>
                  <a:srgbClr val="008000"/>
                </a:solidFill>
                <a:latin typeface="Consolas" panose="020B0609020204030204" pitchFamily="49" charset="0"/>
              </a:rPr>
              <a:t>)</a:t>
            </a:r>
            <a:endParaRPr lang="zh-CN" alt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short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age;</a:t>
            </a: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     // </a:t>
            </a:r>
            <a:r>
              <a:rPr lang="zh-CN" alt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年龄为短整型</a:t>
            </a:r>
            <a:endParaRPr lang="zh-CN" alt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Student;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check(Student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stu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stu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-&gt;sex ==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'M'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 err="1">
                <a:solidFill>
                  <a:srgbClr val="A31515"/>
                </a:solidFill>
                <a:latin typeface="Consolas" panose="020B0609020204030204" pitchFamily="49" charset="0"/>
              </a:rPr>
              <a:t>sno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: %d name: %s sex: %c age: %d\n"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stu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sno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stu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-&gt;name,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stu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-&gt;sex,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stu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-&gt;age);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065776" y="1536174"/>
            <a:ext cx="3646224" cy="387798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main()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Student *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stu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 (Student *)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calloc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sizeof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(Student));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Student **p = &amp;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stu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"%d %s %c %d"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&amp;(*p)[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].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sno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 (*p)[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].name,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&amp;(*p)[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].sex, &amp;(*p)[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].age);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"%d %s %c %d"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&amp;(*p)[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].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sno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 (*p)[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].name,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&amp;(*p)[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].sex, &amp;(*p)[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].age);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check(&amp;(*p)[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]);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check((*p) +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free(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stu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267832" y="4074850"/>
            <a:ext cx="1864311" cy="479395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97741" y="1196752"/>
            <a:ext cx="4104456" cy="517064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#include &lt;</a:t>
            </a:r>
            <a:r>
              <a:rPr lang="en-US" dirty="0" err="1"/>
              <a:t>stdlib.h</a:t>
            </a:r>
            <a:r>
              <a:rPr lang="en-US" dirty="0"/>
              <a:t>&gt;</a:t>
            </a:r>
            <a:endParaRPr lang="en-US" dirty="0"/>
          </a:p>
          <a:p>
            <a:r>
              <a:rPr lang="en-US" dirty="0"/>
              <a:t>#include &lt;</a:t>
            </a:r>
            <a:r>
              <a:rPr lang="en-US" dirty="0" err="1"/>
              <a:t>stdio.h</a:t>
            </a:r>
            <a:r>
              <a:rPr lang="en-US" dirty="0"/>
              <a:t>&gt;</a:t>
            </a:r>
            <a:endParaRPr lang="en-US" dirty="0"/>
          </a:p>
          <a:p>
            <a:br>
              <a:rPr lang="en-US" dirty="0"/>
            </a:br>
            <a:r>
              <a:rPr lang="en-US" dirty="0" err="1"/>
              <a:t>int</a:t>
            </a:r>
            <a:r>
              <a:rPr lang="en-US" dirty="0"/>
              <a:t> </a:t>
            </a:r>
            <a:r>
              <a:rPr lang="en-US" dirty="0" err="1"/>
              <a:t>func</a:t>
            </a:r>
            <a:r>
              <a:rPr lang="en-US" dirty="0"/>
              <a:t>(</a:t>
            </a:r>
            <a:r>
              <a:rPr lang="en-US" dirty="0" err="1"/>
              <a:t>int</a:t>
            </a:r>
            <a:r>
              <a:rPr lang="en-US" dirty="0"/>
              <a:t> **array, </a:t>
            </a:r>
            <a:r>
              <a:rPr lang="en-US" dirty="0" err="1"/>
              <a:t>int</a:t>
            </a:r>
            <a:r>
              <a:rPr lang="en-US" dirty="0"/>
              <a:t> n, </a:t>
            </a:r>
            <a:r>
              <a:rPr lang="en-US" dirty="0" err="1"/>
              <a:t>int</a:t>
            </a:r>
            <a:r>
              <a:rPr lang="en-US" dirty="0"/>
              <a:t> m)</a:t>
            </a:r>
            <a:endParaRPr lang="en-US" dirty="0"/>
          </a:p>
          <a:p>
            <a:r>
              <a:rPr lang="en-US" dirty="0"/>
              <a:t>{</a:t>
            </a:r>
            <a:endParaRPr lang="en-US" dirty="0"/>
          </a:p>
          <a:p>
            <a:r>
              <a:rPr lang="en-US" dirty="0"/>
              <a:t>    </a:t>
            </a:r>
            <a:r>
              <a:rPr lang="en-US" dirty="0" err="1"/>
              <a:t>int</a:t>
            </a:r>
            <a:r>
              <a:rPr lang="en-US" dirty="0"/>
              <a:t> </a:t>
            </a:r>
            <a:r>
              <a:rPr lang="en-US" dirty="0" err="1"/>
              <a:t>i</a:t>
            </a:r>
            <a:r>
              <a:rPr lang="en-US" dirty="0"/>
              <a:t>, j;</a:t>
            </a:r>
            <a:endParaRPr lang="en-US" dirty="0"/>
          </a:p>
          <a:p>
            <a:r>
              <a:rPr lang="en-US" dirty="0"/>
              <a:t>    for (</a:t>
            </a:r>
            <a:r>
              <a:rPr lang="en-US" dirty="0" err="1"/>
              <a:t>i</a:t>
            </a:r>
            <a:r>
              <a:rPr lang="en-US" dirty="0"/>
              <a:t> = 0; </a:t>
            </a:r>
            <a:r>
              <a:rPr lang="en-US" dirty="0" err="1"/>
              <a:t>i</a:t>
            </a:r>
            <a:r>
              <a:rPr lang="en-US" dirty="0"/>
              <a:t> &lt; n; </a:t>
            </a:r>
            <a:r>
              <a:rPr lang="en-US" dirty="0" err="1"/>
              <a:t>i</a:t>
            </a:r>
            <a:r>
              <a:rPr lang="en-US" dirty="0"/>
              <a:t> ++)</a:t>
            </a:r>
            <a:endParaRPr lang="en-US" dirty="0"/>
          </a:p>
          <a:p>
            <a:r>
              <a:rPr lang="en-US" dirty="0"/>
              <a:t>    {</a:t>
            </a:r>
            <a:endParaRPr lang="en-US" dirty="0"/>
          </a:p>
          <a:p>
            <a:r>
              <a:rPr lang="en-US" dirty="0"/>
              <a:t>        for (j = 0; j &lt; m; j ++)</a:t>
            </a:r>
            <a:endParaRPr lang="en-US" dirty="0"/>
          </a:p>
          <a:p>
            <a:r>
              <a:rPr lang="en-US" dirty="0"/>
              <a:t>        {</a:t>
            </a:r>
            <a:endParaRPr lang="en-US" dirty="0"/>
          </a:p>
          <a:p>
            <a:r>
              <a:rPr lang="en-US" dirty="0"/>
              <a:t>            </a:t>
            </a:r>
            <a:r>
              <a:rPr lang="en-US" dirty="0" err="1"/>
              <a:t>printf</a:t>
            </a:r>
            <a:r>
              <a:rPr lang="en-US" dirty="0"/>
              <a:t>("%d ", array[</a:t>
            </a:r>
            <a:r>
              <a:rPr lang="en-US" dirty="0" err="1"/>
              <a:t>i</a:t>
            </a:r>
            <a:r>
              <a:rPr lang="en-US" dirty="0"/>
              <a:t>][j]);</a:t>
            </a:r>
            <a:endParaRPr lang="en-US" dirty="0"/>
          </a:p>
          <a:p>
            <a:r>
              <a:rPr lang="en-US" dirty="0"/>
              <a:t>        }</a:t>
            </a:r>
            <a:endParaRPr lang="en-US" dirty="0"/>
          </a:p>
          <a:p>
            <a:r>
              <a:rPr lang="en-US" dirty="0"/>
              <a:t>        </a:t>
            </a:r>
            <a:r>
              <a:rPr lang="en-US" dirty="0" err="1"/>
              <a:t>printf</a:t>
            </a:r>
            <a:r>
              <a:rPr lang="en-US" dirty="0"/>
              <a:t>("\n");</a:t>
            </a:r>
            <a:endParaRPr lang="en-US" dirty="0"/>
          </a:p>
          <a:p>
            <a:r>
              <a:rPr lang="en-US" dirty="0"/>
              <a:t>    }</a:t>
            </a:r>
            <a:endParaRPr lang="en-US" dirty="0"/>
          </a:p>
          <a:p>
            <a:br>
              <a:rPr lang="en-US" dirty="0"/>
            </a:br>
            <a:r>
              <a:rPr lang="en-US" dirty="0"/>
              <a:t>    return 0;</a:t>
            </a:r>
            <a:endParaRPr lang="en-US" dirty="0"/>
          </a:p>
          <a:p>
            <a:r>
              <a:rPr lang="en-US" dirty="0"/>
              <a:t>}</a:t>
            </a:r>
            <a:endParaRPr lang="en-US" dirty="0"/>
          </a:p>
          <a:p>
            <a:br>
              <a:rPr lang="en-US" sz="1200" dirty="0"/>
            </a:br>
            <a:endParaRPr lang="en-US" sz="1200" dirty="0"/>
          </a:p>
        </p:txBody>
      </p:sp>
      <p:sp>
        <p:nvSpPr>
          <p:cNvPr id="5" name="Rectangle 4"/>
          <p:cNvSpPr/>
          <p:nvPr/>
        </p:nvSpPr>
        <p:spPr>
          <a:xfrm>
            <a:off x="4560560" y="1212140"/>
            <a:ext cx="4304389" cy="513986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dirty="0" err="1"/>
              <a:t>int</a:t>
            </a:r>
            <a:r>
              <a:rPr lang="en-US" sz="1600" dirty="0"/>
              <a:t> main() </a:t>
            </a:r>
            <a:endParaRPr lang="en-US" sz="1600" dirty="0"/>
          </a:p>
          <a:p>
            <a:r>
              <a:rPr lang="en-US" sz="1600" dirty="0"/>
              <a:t>{</a:t>
            </a:r>
            <a:endParaRPr lang="en-US" sz="1600" dirty="0"/>
          </a:p>
          <a:p>
            <a:r>
              <a:rPr lang="en-US" sz="1600" dirty="0"/>
              <a:t>    </a:t>
            </a:r>
            <a:r>
              <a:rPr lang="en-US" sz="1600" dirty="0" err="1"/>
              <a:t>int</a:t>
            </a:r>
            <a:r>
              <a:rPr lang="en-US" sz="1600" dirty="0"/>
              <a:t> n, m, </a:t>
            </a:r>
            <a:r>
              <a:rPr lang="en-US" sz="1600" dirty="0" err="1"/>
              <a:t>i</a:t>
            </a:r>
            <a:r>
              <a:rPr lang="en-US" sz="1600" dirty="0"/>
              <a:t>, j;</a:t>
            </a:r>
            <a:endParaRPr lang="en-US" sz="1600" dirty="0"/>
          </a:p>
          <a:p>
            <a:r>
              <a:rPr lang="en-US" sz="1600" dirty="0"/>
              <a:t>    </a:t>
            </a:r>
            <a:r>
              <a:rPr lang="en-US" sz="1600" dirty="0" err="1"/>
              <a:t>int</a:t>
            </a:r>
            <a:r>
              <a:rPr lang="en-US" sz="1600" dirty="0"/>
              <a:t> **array;</a:t>
            </a:r>
            <a:endParaRPr lang="en-US" sz="1600" dirty="0"/>
          </a:p>
          <a:p>
            <a:r>
              <a:rPr lang="en-US" sz="1600" dirty="0"/>
              <a:t>    </a:t>
            </a:r>
            <a:r>
              <a:rPr lang="en-US" sz="1600" dirty="0" err="1"/>
              <a:t>scanf</a:t>
            </a:r>
            <a:r>
              <a:rPr lang="en-US" sz="1600" dirty="0"/>
              <a:t>("%</a:t>
            </a:r>
            <a:r>
              <a:rPr lang="en-US" sz="1600" dirty="0" err="1"/>
              <a:t>d%d</a:t>
            </a:r>
            <a:r>
              <a:rPr lang="en-US" sz="1600" dirty="0"/>
              <a:t>", &amp;n, &amp;m);</a:t>
            </a:r>
            <a:endParaRPr lang="en-US" sz="1600" dirty="0"/>
          </a:p>
          <a:p>
            <a:r>
              <a:rPr lang="en-US" sz="1600" dirty="0"/>
              <a:t>    array = (</a:t>
            </a:r>
            <a:r>
              <a:rPr lang="en-US" sz="1600" dirty="0" err="1"/>
              <a:t>int</a:t>
            </a:r>
            <a:r>
              <a:rPr lang="en-US" sz="1600" dirty="0"/>
              <a:t> **) </a:t>
            </a:r>
            <a:r>
              <a:rPr lang="en-US" sz="1600" dirty="0" err="1"/>
              <a:t>malloc</a:t>
            </a:r>
            <a:r>
              <a:rPr lang="en-US" sz="1600" dirty="0"/>
              <a:t>(m * </a:t>
            </a:r>
            <a:r>
              <a:rPr lang="en-US" sz="1600" dirty="0" err="1"/>
              <a:t>sizeof</a:t>
            </a:r>
            <a:r>
              <a:rPr lang="en-US" sz="1600" dirty="0"/>
              <a:t>(</a:t>
            </a:r>
            <a:r>
              <a:rPr lang="en-US" sz="1600" dirty="0" err="1"/>
              <a:t>int</a:t>
            </a:r>
            <a:r>
              <a:rPr lang="en-US" sz="1600" dirty="0"/>
              <a:t> *));</a:t>
            </a:r>
            <a:endParaRPr lang="en-US" sz="1600" dirty="0"/>
          </a:p>
          <a:p>
            <a:r>
              <a:rPr lang="en-US" sz="1600" dirty="0"/>
              <a:t>    for(</a:t>
            </a:r>
            <a:r>
              <a:rPr lang="en-US" sz="1600" dirty="0" err="1"/>
              <a:t>i</a:t>
            </a:r>
            <a:r>
              <a:rPr lang="en-US" sz="1600" dirty="0"/>
              <a:t> = 0; </a:t>
            </a:r>
            <a:r>
              <a:rPr lang="en-US" sz="1600" dirty="0" err="1"/>
              <a:t>i</a:t>
            </a:r>
            <a:r>
              <a:rPr lang="en-US" sz="1600" dirty="0"/>
              <a:t> &lt; m; </a:t>
            </a:r>
            <a:r>
              <a:rPr lang="en-US" sz="1600" dirty="0" err="1"/>
              <a:t>i</a:t>
            </a:r>
            <a:r>
              <a:rPr lang="en-US" sz="1600" dirty="0"/>
              <a:t> ++)</a:t>
            </a:r>
            <a:endParaRPr lang="en-US" sz="1600" dirty="0"/>
          </a:p>
          <a:p>
            <a:r>
              <a:rPr lang="en-US" sz="1600" dirty="0"/>
              <a:t>        array[</a:t>
            </a:r>
            <a:r>
              <a:rPr lang="en-US" sz="1600" dirty="0" err="1"/>
              <a:t>i</a:t>
            </a:r>
            <a:r>
              <a:rPr lang="en-US" sz="1600" dirty="0"/>
              <a:t>] = (</a:t>
            </a:r>
            <a:r>
              <a:rPr lang="en-US" sz="1600" dirty="0" err="1"/>
              <a:t>int</a:t>
            </a:r>
            <a:r>
              <a:rPr lang="en-US" sz="1600" dirty="0"/>
              <a:t> *) </a:t>
            </a:r>
            <a:r>
              <a:rPr lang="en-US" sz="1600" dirty="0" err="1"/>
              <a:t>malloc</a:t>
            </a:r>
            <a:r>
              <a:rPr lang="en-US" sz="1600" dirty="0"/>
              <a:t>(n * </a:t>
            </a:r>
            <a:r>
              <a:rPr lang="en-US" sz="1600" dirty="0" err="1"/>
              <a:t>sizeof</a:t>
            </a:r>
            <a:r>
              <a:rPr lang="en-US" sz="1600" dirty="0"/>
              <a:t>(</a:t>
            </a:r>
            <a:r>
              <a:rPr lang="en-US" sz="1600" dirty="0" err="1"/>
              <a:t>int</a:t>
            </a:r>
            <a:r>
              <a:rPr lang="en-US" sz="1600" dirty="0"/>
              <a:t>));</a:t>
            </a:r>
            <a:endParaRPr lang="en-US" sz="1600" dirty="0"/>
          </a:p>
          <a:p>
            <a:br>
              <a:rPr lang="en-US" sz="1600" dirty="0"/>
            </a:br>
            <a:r>
              <a:rPr lang="en-US" sz="1600" dirty="0"/>
              <a:t>    for (</a:t>
            </a:r>
            <a:r>
              <a:rPr lang="en-US" sz="1600" dirty="0" err="1"/>
              <a:t>i</a:t>
            </a:r>
            <a:r>
              <a:rPr lang="en-US" sz="1600" dirty="0"/>
              <a:t> = 0; </a:t>
            </a:r>
            <a:r>
              <a:rPr lang="en-US" sz="1600" dirty="0" err="1"/>
              <a:t>i</a:t>
            </a:r>
            <a:r>
              <a:rPr lang="en-US" sz="1600" dirty="0"/>
              <a:t> &lt; n; </a:t>
            </a:r>
            <a:r>
              <a:rPr lang="en-US" sz="1600" dirty="0" err="1"/>
              <a:t>i</a:t>
            </a:r>
            <a:r>
              <a:rPr lang="en-US" sz="1600" dirty="0"/>
              <a:t> ++)</a:t>
            </a:r>
            <a:endParaRPr lang="en-US" sz="1600" dirty="0"/>
          </a:p>
          <a:p>
            <a:r>
              <a:rPr lang="en-US" sz="1600" dirty="0"/>
              <a:t>    {</a:t>
            </a:r>
            <a:endParaRPr lang="en-US" sz="1600" dirty="0"/>
          </a:p>
          <a:p>
            <a:r>
              <a:rPr lang="en-US" sz="1600" dirty="0"/>
              <a:t>        for (j = 0; j &lt; m; j ++)</a:t>
            </a:r>
            <a:endParaRPr lang="en-US" sz="1600" dirty="0"/>
          </a:p>
          <a:p>
            <a:r>
              <a:rPr lang="en-US" sz="1600" dirty="0"/>
              <a:t>            </a:t>
            </a:r>
            <a:r>
              <a:rPr lang="en-US" sz="1600" dirty="0" err="1"/>
              <a:t>scanf</a:t>
            </a:r>
            <a:r>
              <a:rPr lang="en-US" sz="1600" dirty="0"/>
              <a:t>("%d", &amp;array[</a:t>
            </a:r>
            <a:r>
              <a:rPr lang="en-US" sz="1600" dirty="0" err="1"/>
              <a:t>i</a:t>
            </a:r>
            <a:r>
              <a:rPr lang="en-US" sz="1600" dirty="0"/>
              <a:t>][j]);</a:t>
            </a:r>
            <a:endParaRPr lang="en-US" sz="1600" dirty="0"/>
          </a:p>
          <a:p>
            <a:r>
              <a:rPr lang="en-US" sz="1600" dirty="0"/>
              <a:t>    }</a:t>
            </a:r>
            <a:endParaRPr lang="en-US" sz="1600" dirty="0"/>
          </a:p>
          <a:p>
            <a:br>
              <a:rPr lang="en-US" sz="1600" dirty="0"/>
            </a:br>
            <a:r>
              <a:rPr lang="en-US" sz="1600" dirty="0"/>
              <a:t>    </a:t>
            </a:r>
            <a:r>
              <a:rPr lang="en-US" sz="1600" dirty="0" err="1"/>
              <a:t>func</a:t>
            </a:r>
            <a:r>
              <a:rPr lang="en-US" sz="1600" dirty="0"/>
              <a:t>(array, n, m);</a:t>
            </a:r>
            <a:endParaRPr lang="en-US" sz="1600" dirty="0"/>
          </a:p>
          <a:p>
            <a:r>
              <a:rPr lang="en-US" sz="1600" dirty="0"/>
              <a:t>    // free here;</a:t>
            </a:r>
            <a:br>
              <a:rPr lang="en-US" sz="1600" dirty="0"/>
            </a:br>
            <a:r>
              <a:rPr lang="en-US" sz="1600" dirty="0"/>
              <a:t>    return 0;</a:t>
            </a:r>
            <a:endParaRPr lang="en-US" sz="1600" dirty="0"/>
          </a:p>
          <a:p>
            <a:br>
              <a:rPr lang="en-US" sz="1600" dirty="0"/>
            </a:br>
            <a:r>
              <a:rPr lang="en-US" sz="1600" dirty="0"/>
              <a:t>}</a:t>
            </a:r>
            <a:endParaRPr lang="en-US" sz="1600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动态内存分配举例</a:t>
            </a:r>
            <a:endParaRPr lang="en-US" dirty="0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动态分配内存</a:t>
            </a:r>
            <a:r>
              <a:rPr lang="en-US" altLang="zh-CN" dirty="0"/>
              <a:t>——C++</a:t>
            </a:r>
            <a:r>
              <a:rPr lang="zh-CN" altLang="en-US" dirty="0"/>
              <a:t>语言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new </a:t>
            </a:r>
            <a:r>
              <a:rPr lang="zh-CN" altLang="en-US" sz="2000" dirty="0"/>
              <a:t>和 </a:t>
            </a:r>
            <a:r>
              <a:rPr lang="en-US" sz="2000" dirty="0"/>
              <a:t>delete </a:t>
            </a:r>
            <a:r>
              <a:rPr lang="zh-CN" altLang="en-US" sz="2000" dirty="0"/>
              <a:t>运算符</a:t>
            </a:r>
            <a:endParaRPr lang="en-US" altLang="zh-CN" sz="2000" dirty="0"/>
          </a:p>
          <a:p>
            <a:r>
              <a:rPr lang="zh-CN" altLang="en-US" sz="2000" dirty="0"/>
              <a:t>例如：</a:t>
            </a:r>
            <a:endParaRPr lang="en-US" altLang="zh-CN" sz="2000" dirty="0"/>
          </a:p>
          <a:p>
            <a:pPr lvl="1"/>
            <a:r>
              <a:rPr lang="en-US" altLang="zh-CN" sz="1800" dirty="0" err="1"/>
              <a:t>int</a:t>
            </a:r>
            <a:r>
              <a:rPr lang="en-US" altLang="zh-CN" sz="1800" dirty="0"/>
              <a:t> </a:t>
            </a:r>
            <a:r>
              <a:rPr lang="en-US" sz="1800" dirty="0"/>
              <a:t>*</a:t>
            </a:r>
            <a:r>
              <a:rPr lang="en-US" sz="1800" dirty="0" err="1"/>
              <a:t>pvalue</a:t>
            </a:r>
            <a:r>
              <a:rPr lang="en-US" sz="1800" dirty="0"/>
              <a:t> = NULL, </a:t>
            </a:r>
            <a:r>
              <a:rPr lang="zh-CN" altLang="en-US" sz="1800" dirty="0"/>
              <a:t>*</a:t>
            </a:r>
            <a:r>
              <a:rPr lang="en-US" sz="1800" dirty="0" err="1"/>
              <a:t>pAry</a:t>
            </a:r>
            <a:r>
              <a:rPr lang="en-US" sz="1800" dirty="0"/>
              <a:t>; // </a:t>
            </a:r>
            <a:r>
              <a:rPr lang="zh-CN" altLang="en-US" sz="1800" dirty="0"/>
              <a:t>初始化为 </a:t>
            </a:r>
            <a:r>
              <a:rPr lang="en-US" sz="1800" dirty="0"/>
              <a:t>null </a:t>
            </a:r>
            <a:r>
              <a:rPr lang="zh-CN" altLang="en-US" sz="1800" dirty="0"/>
              <a:t>的指针</a:t>
            </a:r>
            <a:endParaRPr lang="en-US" altLang="zh-CN" sz="1800" dirty="0"/>
          </a:p>
          <a:p>
            <a:pPr lvl="1"/>
            <a:r>
              <a:rPr lang="en-US" sz="1800" dirty="0" err="1"/>
              <a:t>pvalue</a:t>
            </a:r>
            <a:r>
              <a:rPr lang="en-US" sz="1800" dirty="0"/>
              <a:t> = new </a:t>
            </a:r>
            <a:r>
              <a:rPr lang="en-US" altLang="zh-CN" sz="1800" dirty="0" err="1"/>
              <a:t>int</a:t>
            </a:r>
            <a:r>
              <a:rPr lang="en-US" sz="1800" dirty="0"/>
              <a:t>; // </a:t>
            </a:r>
            <a:r>
              <a:rPr lang="zh-CN" altLang="en-US" sz="1800" dirty="0"/>
              <a:t>为变量请求内存</a:t>
            </a:r>
            <a:endParaRPr lang="en-US" altLang="zh-CN" sz="1800" dirty="0"/>
          </a:p>
          <a:p>
            <a:pPr lvl="1"/>
            <a:r>
              <a:rPr lang="en-US" altLang="zh-CN" sz="1800" dirty="0" err="1"/>
              <a:t>pAry</a:t>
            </a:r>
            <a:r>
              <a:rPr lang="en-US" altLang="zh-CN" sz="1800" dirty="0"/>
              <a:t> = new 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[10]; // </a:t>
            </a:r>
            <a:r>
              <a:rPr lang="zh-CN" altLang="en-US" sz="1800" dirty="0"/>
              <a:t>为数组的动态内存分配</a:t>
            </a:r>
            <a:endParaRPr lang="en-US" sz="1800" dirty="0"/>
          </a:p>
          <a:p>
            <a:r>
              <a:rPr lang="zh-CN" altLang="en-US" sz="2000" dirty="0"/>
              <a:t>二维数组的动态分配</a:t>
            </a:r>
            <a:endParaRPr lang="en-US" altLang="zh-CN" sz="2000" dirty="0"/>
          </a:p>
          <a:p>
            <a:endParaRPr lang="en-US" altLang="zh-CN" sz="2000" dirty="0"/>
          </a:p>
          <a:p>
            <a:pPr lvl="1"/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3603896" y="3284724"/>
            <a:ext cx="5184576" cy="353943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dirty="0" err="1"/>
              <a:t>int</a:t>
            </a:r>
            <a:r>
              <a:rPr lang="en-US" sz="1600" dirty="0"/>
              <a:t> **array</a:t>
            </a:r>
            <a:endParaRPr lang="en-US" sz="1600" dirty="0"/>
          </a:p>
          <a:p>
            <a:r>
              <a:rPr lang="en-US" sz="1600" dirty="0"/>
              <a:t>// </a:t>
            </a:r>
            <a:r>
              <a:rPr lang="zh-CN" altLang="en-US" sz="1600" dirty="0"/>
              <a:t>数组第一维长度为 </a:t>
            </a:r>
            <a:r>
              <a:rPr lang="en-US" sz="1600" dirty="0"/>
              <a:t>m， </a:t>
            </a:r>
            <a:r>
              <a:rPr lang="zh-CN" altLang="en-US" sz="1600" dirty="0"/>
              <a:t>第二维长度为 </a:t>
            </a:r>
            <a:r>
              <a:rPr lang="en-US" sz="1600" dirty="0"/>
              <a:t>n</a:t>
            </a:r>
            <a:endParaRPr lang="en-US" sz="1600" dirty="0"/>
          </a:p>
          <a:p>
            <a:r>
              <a:rPr lang="en-US" sz="1600" dirty="0"/>
              <a:t>// </a:t>
            </a:r>
            <a:r>
              <a:rPr lang="zh-CN" altLang="en-US" sz="1600" dirty="0"/>
              <a:t>动态分配空间</a:t>
            </a:r>
            <a:endParaRPr lang="zh-CN" altLang="en-US" sz="1600" dirty="0"/>
          </a:p>
          <a:p>
            <a:r>
              <a:rPr lang="en-US" sz="1600" dirty="0"/>
              <a:t>array = new </a:t>
            </a:r>
            <a:r>
              <a:rPr lang="en-US" sz="1600" dirty="0" err="1"/>
              <a:t>int</a:t>
            </a:r>
            <a:r>
              <a:rPr lang="en-US" sz="1600" dirty="0"/>
              <a:t> *[m];</a:t>
            </a:r>
            <a:endParaRPr lang="en-US" sz="1600" dirty="0"/>
          </a:p>
          <a:p>
            <a:r>
              <a:rPr lang="en-US" sz="1600" dirty="0"/>
              <a:t>for( </a:t>
            </a:r>
            <a:r>
              <a:rPr lang="en-US" sz="1600" dirty="0" err="1"/>
              <a:t>int</a:t>
            </a:r>
            <a:r>
              <a:rPr lang="en-US" sz="1600" dirty="0"/>
              <a:t> </a:t>
            </a:r>
            <a:r>
              <a:rPr lang="en-US" sz="1600" dirty="0" err="1"/>
              <a:t>i</a:t>
            </a:r>
            <a:r>
              <a:rPr lang="en-US" sz="1600" dirty="0"/>
              <a:t>=0; </a:t>
            </a:r>
            <a:r>
              <a:rPr lang="en-US" sz="1600" dirty="0" err="1"/>
              <a:t>i</a:t>
            </a:r>
            <a:r>
              <a:rPr lang="en-US" sz="1600" dirty="0"/>
              <a:t>&lt;m; </a:t>
            </a:r>
            <a:r>
              <a:rPr lang="en-US" sz="1600" dirty="0" err="1"/>
              <a:t>i</a:t>
            </a:r>
            <a:r>
              <a:rPr lang="en-US" sz="1600" dirty="0"/>
              <a:t>++ )</a:t>
            </a:r>
            <a:endParaRPr lang="en-US" sz="1600" dirty="0"/>
          </a:p>
          <a:p>
            <a:r>
              <a:rPr lang="en-US" sz="1600" dirty="0"/>
              <a:t>{</a:t>
            </a:r>
            <a:endParaRPr lang="en-US" sz="1600" dirty="0"/>
          </a:p>
          <a:p>
            <a:r>
              <a:rPr lang="en-US" sz="1600" dirty="0"/>
              <a:t>    array[</a:t>
            </a:r>
            <a:r>
              <a:rPr lang="en-US" sz="1600" dirty="0" err="1"/>
              <a:t>i</a:t>
            </a:r>
            <a:r>
              <a:rPr lang="en-US" sz="1600" dirty="0"/>
              <a:t>] = new </a:t>
            </a:r>
            <a:r>
              <a:rPr lang="en-US" sz="1600" dirty="0" err="1"/>
              <a:t>int</a:t>
            </a:r>
            <a:r>
              <a:rPr lang="en-US" sz="1600" dirty="0"/>
              <a:t> [n]  ;</a:t>
            </a:r>
            <a:endParaRPr lang="en-US" sz="1600" dirty="0"/>
          </a:p>
          <a:p>
            <a:r>
              <a:rPr lang="en-US" sz="1600" dirty="0"/>
              <a:t>}</a:t>
            </a:r>
            <a:endParaRPr lang="en-US" sz="1600" dirty="0"/>
          </a:p>
          <a:p>
            <a:r>
              <a:rPr lang="en-US" sz="1600" dirty="0"/>
              <a:t>//</a:t>
            </a:r>
            <a:r>
              <a:rPr lang="zh-CN" altLang="en-US" sz="1600" dirty="0"/>
              <a:t>释放</a:t>
            </a:r>
            <a:endParaRPr lang="zh-CN" altLang="en-US" sz="1600" dirty="0"/>
          </a:p>
          <a:p>
            <a:r>
              <a:rPr lang="en-US" sz="1600" dirty="0"/>
              <a:t>for( </a:t>
            </a:r>
            <a:r>
              <a:rPr lang="en-US" sz="1600" dirty="0" err="1"/>
              <a:t>int</a:t>
            </a:r>
            <a:r>
              <a:rPr lang="en-US" sz="1600" dirty="0"/>
              <a:t> </a:t>
            </a:r>
            <a:r>
              <a:rPr lang="en-US" sz="1600" dirty="0" err="1"/>
              <a:t>i</a:t>
            </a:r>
            <a:r>
              <a:rPr lang="en-US" sz="1600" dirty="0"/>
              <a:t>=0; </a:t>
            </a:r>
            <a:r>
              <a:rPr lang="en-US" sz="1600" dirty="0" err="1"/>
              <a:t>i</a:t>
            </a:r>
            <a:r>
              <a:rPr lang="en-US" sz="1600" dirty="0"/>
              <a:t>&lt;m; </a:t>
            </a:r>
            <a:r>
              <a:rPr lang="en-US" sz="1600" dirty="0" err="1"/>
              <a:t>i</a:t>
            </a:r>
            <a:r>
              <a:rPr lang="en-US" sz="1600" dirty="0"/>
              <a:t>++ )</a:t>
            </a:r>
            <a:endParaRPr lang="en-US" sz="1600" dirty="0"/>
          </a:p>
          <a:p>
            <a:r>
              <a:rPr lang="en-US" sz="1600" dirty="0"/>
              <a:t>{</a:t>
            </a:r>
            <a:endParaRPr lang="en-US" sz="1600" dirty="0"/>
          </a:p>
          <a:p>
            <a:r>
              <a:rPr lang="en-US" sz="1600" dirty="0"/>
              <a:t>    delete [] </a:t>
            </a:r>
            <a:r>
              <a:rPr lang="en-US" sz="1600" dirty="0" err="1"/>
              <a:t>arrary</a:t>
            </a:r>
            <a:r>
              <a:rPr lang="en-US" sz="1600" dirty="0"/>
              <a:t>[</a:t>
            </a:r>
            <a:r>
              <a:rPr lang="en-US" sz="1600" dirty="0" err="1"/>
              <a:t>i</a:t>
            </a:r>
            <a:r>
              <a:rPr lang="en-US" sz="1600" dirty="0"/>
              <a:t>];</a:t>
            </a:r>
            <a:endParaRPr lang="en-US" sz="1600" dirty="0"/>
          </a:p>
          <a:p>
            <a:r>
              <a:rPr lang="en-US" sz="1600" dirty="0"/>
              <a:t>}</a:t>
            </a:r>
            <a:endParaRPr lang="en-US" sz="1600" dirty="0"/>
          </a:p>
          <a:p>
            <a:r>
              <a:rPr lang="en-US" sz="1600" dirty="0"/>
              <a:t>delete [] array;</a:t>
            </a:r>
            <a:endParaRPr lang="en-US" sz="1600" dirty="0"/>
          </a:p>
        </p:txBody>
      </p:sp>
      <p:sp>
        <p:nvSpPr>
          <p:cNvPr id="4" name="文本框 3"/>
          <p:cNvSpPr txBox="1"/>
          <p:nvPr/>
        </p:nvSpPr>
        <p:spPr>
          <a:xfrm>
            <a:off x="328930" y="3994785"/>
            <a:ext cx="38169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delete</a:t>
            </a:r>
            <a:r>
              <a:rPr lang="zh-CN" altLang="en-US"/>
              <a:t>对数组时加</a:t>
            </a:r>
            <a:r>
              <a:rPr lang="en-US" altLang="zh-CN"/>
              <a:t>[]，</a:t>
            </a:r>
            <a:endParaRPr lang="en-US" altLang="zh-CN"/>
          </a:p>
          <a:p>
            <a:r>
              <a:rPr lang="zh-CN" altLang="en-US"/>
              <a:t>不是数组</a:t>
            </a:r>
            <a:r>
              <a:rPr lang="zh-CN" altLang="en-US"/>
              <a:t>不用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</a:t>
            </a:r>
            <a:r>
              <a:rPr lang="en-US" dirty="0"/>
              <a:t>onst</a:t>
            </a:r>
            <a:r>
              <a:rPr lang="zh-CN" altLang="en-US" dirty="0"/>
              <a:t>与指针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pointer to </a:t>
            </a:r>
            <a:r>
              <a:rPr lang="en-US" b="1" dirty="0" err="1"/>
              <a:t>const</a:t>
            </a:r>
            <a:endParaRPr lang="en-US" b="1" dirty="0"/>
          </a:p>
          <a:p>
            <a:pPr lvl="1"/>
            <a:r>
              <a:rPr lang="zh-CN" altLang="en-US" b="1" dirty="0"/>
              <a:t>指针本身可以被改变</a:t>
            </a:r>
            <a:endParaRPr lang="en-US" altLang="zh-CN" b="1" dirty="0"/>
          </a:p>
          <a:p>
            <a:pPr lvl="1"/>
            <a:r>
              <a:rPr lang="zh-CN" altLang="en-US" b="1" dirty="0"/>
              <a:t>指针指向的值不能通过该指针改变</a:t>
            </a:r>
            <a:r>
              <a:rPr lang="en-US" altLang="zh-CN" b="1" dirty="0"/>
              <a:t>,</a:t>
            </a:r>
            <a:r>
              <a:rPr lang="zh-CN" altLang="en-US" b="1" dirty="0"/>
              <a:t>但可以通过其他方式改变</a:t>
            </a:r>
            <a:endParaRPr lang="en-US" b="1" dirty="0"/>
          </a:p>
          <a:p>
            <a:pPr lvl="1"/>
            <a:r>
              <a:rPr lang="zh-CN" altLang="en-US" b="1" dirty="0"/>
              <a:t>例如：</a:t>
            </a:r>
            <a:r>
              <a:rPr lang="en-US" b="1" dirty="0" err="1"/>
              <a:t>const</a:t>
            </a:r>
            <a:r>
              <a:rPr lang="en-US" b="1" dirty="0"/>
              <a:t> char* </a:t>
            </a:r>
            <a:r>
              <a:rPr lang="zh-CN" altLang="en-US" b="1" dirty="0"/>
              <a:t>、</a:t>
            </a:r>
            <a:r>
              <a:rPr lang="en-US" b="1" dirty="0"/>
              <a:t>char </a:t>
            </a:r>
            <a:r>
              <a:rPr lang="en-US" b="1" dirty="0" err="1"/>
              <a:t>const</a:t>
            </a:r>
            <a:r>
              <a:rPr lang="en-US" b="1" dirty="0"/>
              <a:t>*</a:t>
            </a:r>
            <a:endParaRPr lang="en-US" b="1" dirty="0"/>
          </a:p>
          <a:p>
            <a:r>
              <a:rPr lang="en-US" b="1" dirty="0" err="1"/>
              <a:t>const</a:t>
            </a:r>
            <a:r>
              <a:rPr lang="en-US" b="1" dirty="0"/>
              <a:t> pointer</a:t>
            </a:r>
            <a:endParaRPr lang="en-US" b="1" dirty="0"/>
          </a:p>
          <a:p>
            <a:pPr lvl="1"/>
            <a:r>
              <a:rPr lang="zh-CN" altLang="en-US" b="1" dirty="0"/>
              <a:t>指针本身不能被改变，不能赋值</a:t>
            </a:r>
            <a:endParaRPr lang="en-US" altLang="zh-CN" b="1" dirty="0"/>
          </a:p>
          <a:p>
            <a:pPr lvl="1"/>
            <a:r>
              <a:rPr lang="en-US" dirty="0"/>
              <a:t>int * const </a:t>
            </a:r>
            <a:r>
              <a:rPr lang="en-US" dirty="0" err="1"/>
              <a:t>ptr</a:t>
            </a:r>
            <a:r>
              <a:rPr lang="en-US" dirty="0"/>
              <a:t> = &amp;value1;</a:t>
            </a:r>
            <a:endParaRPr lang="en-US" dirty="0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762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>
                <a:cs typeface="+mj-cs"/>
              </a:rPr>
              <a:t>main</a:t>
            </a:r>
            <a:r>
              <a:rPr lang="zh-CN" altLang="en-US" dirty="0">
                <a:cs typeface="+mj-cs"/>
              </a:rPr>
              <a:t>函数的形参</a:t>
            </a:r>
            <a:endParaRPr lang="zh-CN" altLang="en-US" dirty="0">
              <a:cs typeface="+mj-cs"/>
            </a:endParaRPr>
          </a:p>
        </p:txBody>
      </p:sp>
      <p:sp>
        <p:nvSpPr>
          <p:cNvPr id="6297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3600" b="0" dirty="0"/>
              <a:t>	</a:t>
            </a:r>
            <a:r>
              <a:rPr lang="en-US" altLang="zh-CN" sz="3600" b="0" dirty="0" err="1"/>
              <a:t>int</a:t>
            </a:r>
            <a:r>
              <a:rPr lang="en-US" altLang="zh-CN" sz="3600" b="0" dirty="0"/>
              <a:t> main( </a:t>
            </a:r>
            <a:r>
              <a:rPr lang="en-US" altLang="zh-CN" sz="3600" b="0" dirty="0" err="1"/>
              <a:t>int</a:t>
            </a:r>
            <a:r>
              <a:rPr lang="en-US" altLang="zh-CN" sz="3600" b="0" dirty="0"/>
              <a:t> </a:t>
            </a:r>
            <a:r>
              <a:rPr lang="en-US" altLang="zh-CN" sz="3600" b="0" dirty="0" err="1"/>
              <a:t>argc</a:t>
            </a:r>
            <a:r>
              <a:rPr lang="en-US" altLang="zh-CN" sz="3600" b="0" dirty="0"/>
              <a:t>, char *</a:t>
            </a:r>
            <a:r>
              <a:rPr lang="en-US" altLang="zh-CN" sz="3600" b="0" dirty="0" err="1"/>
              <a:t>argv</a:t>
            </a:r>
            <a:r>
              <a:rPr lang="en-US" altLang="zh-CN" sz="3600" b="0" dirty="0"/>
              <a:t>[ ] )</a:t>
            </a:r>
            <a:endParaRPr lang="en-US" altLang="zh-CN" sz="3600" b="0" dirty="0"/>
          </a:p>
          <a:p>
            <a:pPr eaLnBrk="1" hangingPunct="1">
              <a:defRPr/>
            </a:pPr>
            <a:r>
              <a:rPr lang="zh-CN" altLang="en-US" sz="2800" dirty="0"/>
              <a:t>其中：</a:t>
            </a:r>
            <a:endParaRPr lang="zh-CN" altLang="en-US" sz="2800" dirty="0"/>
          </a:p>
          <a:p>
            <a:pPr lvl="1" eaLnBrk="1" hangingPunct="1">
              <a:defRPr/>
            </a:pPr>
            <a:r>
              <a:rPr lang="en-US" altLang="zh-CN" sz="2400" dirty="0" err="1"/>
              <a:t>argc</a:t>
            </a:r>
            <a:r>
              <a:rPr lang="zh-CN" altLang="en-US" sz="2400" dirty="0"/>
              <a:t>：表示调用</a:t>
            </a:r>
            <a:r>
              <a:rPr lang="en-US" altLang="zh-CN" sz="2400" dirty="0"/>
              <a:t>main</a:t>
            </a:r>
            <a:r>
              <a:rPr lang="zh-CN" altLang="en-US" sz="2400" dirty="0"/>
              <a:t>时的参数个数；</a:t>
            </a:r>
            <a:endParaRPr lang="zh-CN" altLang="en-US" sz="2400" dirty="0"/>
          </a:p>
          <a:p>
            <a:pPr lvl="1" eaLnBrk="1" hangingPunct="1">
              <a:defRPr/>
            </a:pPr>
            <a:r>
              <a:rPr lang="en-US" altLang="zh-CN" sz="2400" dirty="0" err="1"/>
              <a:t>argv</a:t>
            </a:r>
            <a:r>
              <a:rPr lang="zh-CN" altLang="en-US" sz="2400" dirty="0"/>
              <a:t>：是一个指向字符数组的指针数组变量；</a:t>
            </a:r>
            <a:endParaRPr lang="zh-CN" altLang="en-US" sz="2400" dirty="0"/>
          </a:p>
          <a:p>
            <a:pPr lvl="1" eaLnBrk="1" hangingPunct="1">
              <a:defRPr/>
            </a:pPr>
            <a:r>
              <a:rPr lang="en-US" altLang="zh-CN" sz="2400" dirty="0"/>
              <a:t>main</a:t>
            </a:r>
            <a:r>
              <a:rPr lang="zh-CN" altLang="en-US" sz="2400" dirty="0"/>
              <a:t>形参名习惯用</a:t>
            </a:r>
            <a:r>
              <a:rPr lang="en-US" altLang="zh-CN" sz="2400" dirty="0" err="1"/>
              <a:t>argv</a:t>
            </a:r>
            <a:r>
              <a:rPr lang="zh-CN" altLang="en-US" sz="2400" dirty="0"/>
              <a:t>和</a:t>
            </a:r>
            <a:r>
              <a:rPr lang="en-US" altLang="zh-CN" sz="2400" dirty="0" err="1"/>
              <a:t>argc</a:t>
            </a:r>
            <a:r>
              <a:rPr lang="zh-CN" altLang="en-US" sz="2400" dirty="0"/>
              <a:t>，实际上可以取任意合法的函数形参名。</a:t>
            </a:r>
            <a:endParaRPr lang="zh-CN" altLang="en-US" sz="2400" dirty="0"/>
          </a:p>
        </p:txBody>
      </p:sp>
    </p:spTree>
  </p:cSld>
  <p:clrMapOvr>
    <a:masterClrMapping/>
  </p:clrMapOvr>
  <p:transition/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786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/>
              <a:t>main</a:t>
            </a:r>
            <a:r>
              <a:rPr lang="zh-CN" altLang="en-US" dirty="0"/>
              <a:t>函数的形参</a:t>
            </a:r>
            <a:endParaRPr lang="zh-CN" altLang="en-US" dirty="0"/>
          </a:p>
        </p:txBody>
      </p:sp>
      <p:sp>
        <p:nvSpPr>
          <p:cNvPr id="63078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zh-CN" sz="2800" dirty="0"/>
              <a:t>main</a:t>
            </a:r>
            <a:r>
              <a:rPr lang="zh-CN" altLang="en-US" sz="2800" dirty="0"/>
              <a:t>函数的调用形式：</a:t>
            </a:r>
            <a:endParaRPr lang="zh-CN" altLang="en-US" sz="2800" dirty="0"/>
          </a:p>
          <a:p>
            <a:pPr eaLnBrk="1" hangingPunct="1">
              <a:defRPr/>
            </a:pPr>
            <a:r>
              <a:rPr lang="zh-CN" altLang="en-US" sz="2800" dirty="0"/>
              <a:t>命令名  参数</a:t>
            </a:r>
            <a:r>
              <a:rPr lang="en-US" altLang="zh-CN" sz="2800" dirty="0"/>
              <a:t>1  </a:t>
            </a:r>
            <a:r>
              <a:rPr lang="zh-CN" altLang="en-US" sz="2800" dirty="0"/>
              <a:t>参数</a:t>
            </a:r>
            <a:r>
              <a:rPr lang="en-US" altLang="zh-CN" sz="2800" dirty="0"/>
              <a:t>2  </a:t>
            </a:r>
            <a:r>
              <a:rPr lang="en-US" altLang="zh-CN" sz="2800" dirty="0">
                <a:latin typeface="Arial" panose="020B0604020202090204" pitchFamily="34" charset="0"/>
              </a:rPr>
              <a:t>……</a:t>
            </a:r>
            <a:r>
              <a:rPr lang="en-US" altLang="zh-CN" sz="2800" dirty="0"/>
              <a:t>  </a:t>
            </a:r>
            <a:r>
              <a:rPr lang="zh-CN" altLang="en-US" sz="2800" dirty="0"/>
              <a:t>参数</a:t>
            </a:r>
            <a:r>
              <a:rPr lang="en-US" altLang="zh-CN" sz="2800" dirty="0"/>
              <a:t>n</a:t>
            </a:r>
            <a:endParaRPr lang="en-US" altLang="zh-CN" sz="2800" dirty="0"/>
          </a:p>
          <a:p>
            <a:pPr eaLnBrk="1" hangingPunct="1">
              <a:defRPr/>
            </a:pPr>
            <a:r>
              <a:rPr lang="zh-CN" altLang="en-US" sz="2800" dirty="0"/>
              <a:t>其中：</a:t>
            </a:r>
            <a:endParaRPr lang="zh-CN" altLang="en-US" sz="2800" dirty="0"/>
          </a:p>
          <a:p>
            <a:pPr lvl="1" eaLnBrk="1" hangingPunct="1">
              <a:defRPr/>
            </a:pPr>
            <a:r>
              <a:rPr lang="zh-CN" altLang="en-US" sz="2400" dirty="0"/>
              <a:t>命令名：经过编译、链接得到的可执行文件的文件名，一般是（</a:t>
            </a:r>
            <a:r>
              <a:rPr lang="en-US" altLang="zh-CN" sz="2400" dirty="0"/>
              <a:t>.EXE</a:t>
            </a:r>
            <a:r>
              <a:rPr lang="zh-CN" altLang="en-US" sz="2400" dirty="0"/>
              <a:t>或</a:t>
            </a:r>
            <a:r>
              <a:rPr lang="en-US" altLang="zh-CN" sz="2400" dirty="0"/>
              <a:t>.COM</a:t>
            </a:r>
            <a:r>
              <a:rPr lang="zh-CN" altLang="en-US" sz="2400" dirty="0"/>
              <a:t>）文件。</a:t>
            </a:r>
            <a:endParaRPr lang="zh-CN" altLang="en-US" sz="2400" dirty="0"/>
          </a:p>
          <a:p>
            <a:pPr lvl="1" eaLnBrk="1" hangingPunct="1">
              <a:defRPr/>
            </a:pPr>
            <a:r>
              <a:rPr lang="zh-CN" altLang="en-US" sz="2400" dirty="0"/>
              <a:t>参数</a:t>
            </a:r>
            <a:r>
              <a:rPr lang="en-US" altLang="zh-CN" sz="2400" dirty="0"/>
              <a:t>1</a:t>
            </a:r>
            <a:r>
              <a:rPr lang="en-US" altLang="zh-CN" sz="2400" dirty="0">
                <a:latin typeface="Arial" panose="020B0604020202090204" pitchFamily="34" charset="0"/>
              </a:rPr>
              <a:t>……</a:t>
            </a:r>
            <a:r>
              <a:rPr lang="zh-CN" altLang="en-US" sz="2400" dirty="0"/>
              <a:t>参数</a:t>
            </a:r>
            <a:r>
              <a:rPr lang="en-US" altLang="zh-CN" sz="2400" dirty="0"/>
              <a:t>n</a:t>
            </a:r>
            <a:r>
              <a:rPr lang="zh-CN" altLang="en-US" sz="2400" dirty="0"/>
              <a:t>：用空格分隔，它们是一些字符串。</a:t>
            </a:r>
            <a:endParaRPr lang="zh-CN" altLang="en-US" sz="2400" dirty="0"/>
          </a:p>
        </p:txBody>
      </p:sp>
    </p:spTree>
  </p:cSld>
  <p:clrMapOvr>
    <a:masterClrMapping/>
  </p:clrMapOvr>
  <p:transition/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810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268427" y="432000"/>
            <a:ext cx="8280000" cy="683692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600" dirty="0"/>
              <a:t>带参数的方式调用</a:t>
            </a:r>
            <a:r>
              <a:rPr lang="en-US" altLang="zh-CN" sz="3600" dirty="0"/>
              <a:t>C</a:t>
            </a:r>
            <a:r>
              <a:rPr lang="zh-CN" altLang="en-US" sz="3600" dirty="0"/>
              <a:t>程序</a:t>
            </a:r>
            <a:endParaRPr lang="zh-CN" altLang="en-US" sz="3600" dirty="0"/>
          </a:p>
        </p:txBody>
      </p:sp>
      <p:sp>
        <p:nvSpPr>
          <p:cNvPr id="631811" name="Rectangle 3"/>
          <p:cNvSpPr>
            <a:spLocks noGrp="1" noChangeArrowheads="1"/>
          </p:cNvSpPr>
          <p:nvPr>
            <p:ph idx="1"/>
          </p:nvPr>
        </p:nvSpPr>
        <p:spPr>
          <a:xfrm>
            <a:off x="268427" y="1371600"/>
            <a:ext cx="4433657" cy="4114800"/>
          </a:xfrm>
          <a:ln>
            <a:solidFill>
              <a:schemeClr val="tx1"/>
            </a:solidFill>
            <a:miter lim="800000"/>
          </a:ln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//</a:t>
            </a:r>
            <a:r>
              <a:rPr lang="zh-CN" alt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例</a:t>
            </a:r>
            <a:r>
              <a:rPr lang="en-US" altLang="zh-CN" sz="2000" dirty="0">
                <a:solidFill>
                  <a:srgbClr val="0000FF"/>
                </a:solidFill>
                <a:latin typeface="Consolas" panose="020B0609020204030204" pitchFamily="49" charset="0"/>
              </a:rPr>
              <a:t>13-20</a:t>
            </a:r>
            <a:endParaRPr lang="en-US" sz="20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en-US" sz="2000" dirty="0" err="1">
                <a:solidFill>
                  <a:srgbClr val="A31515"/>
                </a:solidFill>
                <a:latin typeface="Consolas" panose="020B0609020204030204" pitchFamily="49" charset="0"/>
              </a:rPr>
              <a:t>stdio.h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main(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argc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argv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[ ] )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argc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&gt; </a:t>
            </a:r>
            <a:r>
              <a:rPr lang="en-US" sz="20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)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   {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++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argv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 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"%s\n"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, *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argv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);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--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argc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charset="0"/>
              <a:buNone/>
              <a:defRPr/>
            </a:pPr>
            <a:endParaRPr lang="en-US" altLang="zh-CN" sz="2400" dirty="0"/>
          </a:p>
        </p:txBody>
      </p:sp>
      <p:sp>
        <p:nvSpPr>
          <p:cNvPr id="58372" name="Rectangle 4"/>
          <p:cNvSpPr>
            <a:spLocks noChangeArrowheads="1"/>
          </p:cNvSpPr>
          <p:nvPr/>
        </p:nvSpPr>
        <p:spPr bwMode="auto">
          <a:xfrm>
            <a:off x="4913173" y="1371600"/>
            <a:ext cx="3962400" cy="411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chemeClr val="bg2"/>
              </a:buClr>
              <a:buSzTx/>
              <a:buFont typeface="Monotype Sorts" charset="2"/>
              <a:buNone/>
            </a:pPr>
            <a:r>
              <a:rPr kumimoji="1" lang="zh-CN" altLang="en-US" sz="2400" b="0" dirty="0">
                <a:latin typeface="Times New Roman" panose="02020503050405090304" pitchFamily="18" charset="0"/>
              </a:rPr>
              <a:t>在命令行下调用可执行文件：</a:t>
            </a:r>
            <a:endParaRPr kumimoji="1" lang="zh-CN" altLang="en-US" sz="2400" b="0" dirty="0">
              <a:latin typeface="Times New Roman" panose="02020503050405090304" pitchFamily="18" charset="0"/>
            </a:endParaRPr>
          </a:p>
          <a:p>
            <a:pPr eaLnBrk="1" hangingPunct="1">
              <a:spcBef>
                <a:spcPct val="0"/>
              </a:spcBef>
              <a:buClr>
                <a:schemeClr val="bg2"/>
              </a:buClr>
              <a:buSzTx/>
              <a:buFont typeface="Monotype Sorts" charset="2"/>
              <a:buNone/>
            </a:pPr>
            <a:endParaRPr kumimoji="1" lang="zh-CN" altLang="en-US" sz="2400" b="0" dirty="0">
              <a:latin typeface="Times New Roman" panose="02020503050405090304" pitchFamily="18" charset="0"/>
            </a:endParaRPr>
          </a:p>
          <a:p>
            <a:pPr eaLnBrk="1" hangingPunct="1">
              <a:spcBef>
                <a:spcPct val="0"/>
              </a:spcBef>
              <a:buClr>
                <a:schemeClr val="bg2"/>
              </a:buClr>
              <a:buSzTx/>
              <a:buFont typeface="Monotype Sorts" charset="2"/>
              <a:buNone/>
            </a:pPr>
            <a:r>
              <a:rPr kumimoji="1" lang="en-US" altLang="zh-CN" sz="2400" dirty="0">
                <a:latin typeface="Times New Roman" panose="02020503050405090304" pitchFamily="18" charset="0"/>
              </a:rPr>
              <a:t>&gt;a.exe China Beijing</a:t>
            </a:r>
            <a:endParaRPr kumimoji="1" lang="en-US" altLang="zh-CN" sz="2400" dirty="0">
              <a:latin typeface="Times New Roman" panose="02020503050405090304" pitchFamily="18" charset="0"/>
            </a:endParaRPr>
          </a:p>
          <a:p>
            <a:pPr eaLnBrk="1" hangingPunct="1">
              <a:spcBef>
                <a:spcPct val="0"/>
              </a:spcBef>
              <a:buClr>
                <a:schemeClr val="bg2"/>
              </a:buClr>
              <a:buSzTx/>
              <a:buFont typeface="Monotype Sorts" charset="2"/>
              <a:buNone/>
            </a:pPr>
            <a:endParaRPr kumimoji="1" lang="en-US" altLang="zh-CN" sz="2400" dirty="0">
              <a:latin typeface="Times New Roman" panose="02020503050405090304" pitchFamily="18" charset="0"/>
            </a:endParaRPr>
          </a:p>
          <a:p>
            <a:pPr eaLnBrk="1" hangingPunct="1">
              <a:spcBef>
                <a:spcPct val="0"/>
              </a:spcBef>
              <a:buClr>
                <a:schemeClr val="bg2"/>
              </a:buClr>
              <a:buSzTx/>
              <a:buFont typeface="Monotype Sorts" charset="2"/>
              <a:buNone/>
            </a:pPr>
            <a:r>
              <a:rPr kumimoji="1" lang="zh-CN" altLang="en-US" sz="2400" b="0" dirty="0">
                <a:latin typeface="Times New Roman" panose="02020503050405090304" pitchFamily="18" charset="0"/>
              </a:rPr>
              <a:t>执行结果：</a:t>
            </a:r>
            <a:endParaRPr kumimoji="1" lang="zh-CN" altLang="en-US" sz="2400" b="0" dirty="0">
              <a:latin typeface="Times New Roman" panose="02020503050405090304" pitchFamily="18" charset="0"/>
            </a:endParaRPr>
          </a:p>
          <a:p>
            <a:pPr eaLnBrk="1" hangingPunct="1">
              <a:spcBef>
                <a:spcPct val="0"/>
              </a:spcBef>
              <a:buClr>
                <a:schemeClr val="bg2"/>
              </a:buClr>
              <a:buSzTx/>
              <a:buFont typeface="Monotype Sorts" charset="2"/>
              <a:buNone/>
            </a:pPr>
            <a:endParaRPr kumimoji="1" lang="zh-CN" altLang="en-US" sz="2400" b="0" dirty="0">
              <a:latin typeface="Times New Roman" panose="02020503050405090304" pitchFamily="18" charset="0"/>
            </a:endParaRPr>
          </a:p>
          <a:p>
            <a:pPr eaLnBrk="1" hangingPunct="1">
              <a:spcBef>
                <a:spcPct val="0"/>
              </a:spcBef>
              <a:buClr>
                <a:schemeClr val="bg2"/>
              </a:buClr>
              <a:buSzTx/>
              <a:buFont typeface="Monotype Sorts" charset="2"/>
              <a:buNone/>
            </a:pPr>
            <a:r>
              <a:rPr kumimoji="1" lang="en-US" altLang="zh-CN" sz="2400" b="0" dirty="0">
                <a:latin typeface="Times New Roman" panose="02020503050405090304" pitchFamily="18" charset="0"/>
              </a:rPr>
              <a:t>China</a:t>
            </a:r>
            <a:endParaRPr kumimoji="1" lang="en-US" altLang="zh-CN" sz="2400" b="0" dirty="0">
              <a:latin typeface="Times New Roman" panose="02020503050405090304" pitchFamily="18" charset="0"/>
            </a:endParaRPr>
          </a:p>
          <a:p>
            <a:pPr eaLnBrk="1" hangingPunct="1">
              <a:spcBef>
                <a:spcPct val="0"/>
              </a:spcBef>
              <a:buClr>
                <a:schemeClr val="bg2"/>
              </a:buClr>
              <a:buSzTx/>
              <a:buFont typeface="Monotype Sorts" charset="2"/>
              <a:buNone/>
            </a:pPr>
            <a:r>
              <a:rPr kumimoji="1" lang="en-US" altLang="zh-CN" sz="2400" b="0" dirty="0">
                <a:latin typeface="Times New Roman" panose="02020503050405090304" pitchFamily="18" charset="0"/>
              </a:rPr>
              <a:t>Beijing</a:t>
            </a:r>
            <a:endParaRPr kumimoji="1" lang="en-US" altLang="zh-CN" sz="2400" b="0" dirty="0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  <p:transition/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MH" val="20170804144137"/>
  <p:tag name="MH_LIBRARY" val="GRAPHIC"/>
  <p:tag name="MH_TYPE" val="Desc"/>
  <p:tag name="MH_ORDER" val="1"/>
</p:tagLst>
</file>

<file path=ppt/tags/tag2.xml><?xml version="1.0" encoding="utf-8"?>
<p:tagLst xmlns:p="http://schemas.openxmlformats.org/presentationml/2006/main">
  <p:tag name="MH" val="20170804144137"/>
  <p:tag name="MH_LIBRARY" val="GRAPHIC"/>
  <p:tag name="MH_TYPE" val="Desc"/>
  <p:tag name="MH_ORDER" val="1"/>
</p:tagLst>
</file>

<file path=ppt/tags/tag3.xml><?xml version="1.0" encoding="utf-8"?>
<p:tagLst xmlns:p="http://schemas.openxmlformats.org/presentationml/2006/main">
  <p:tag name="MH" val="20170804144137"/>
  <p:tag name="MH_LIBRARY" val="GRAPHIC"/>
  <p:tag name="MH_TYPE" val="Desc"/>
  <p:tag name="MH_ORDER" val="1"/>
</p:tagLst>
</file>

<file path=ppt/tags/tag4.xml><?xml version="1.0" encoding="utf-8"?>
<p:tagLst xmlns:p="http://schemas.openxmlformats.org/presentationml/2006/main">
  <p:tag name="MH" val="20170806120343"/>
  <p:tag name="MH_LIBRARY" val="GRAPHIC"/>
  <p:tag name="MH_TYPE" val="Other"/>
  <p:tag name="MH_ORDER" val="1"/>
</p:tagLst>
</file>

<file path=ppt/tags/tag5.xml><?xml version="1.0" encoding="utf-8"?>
<p:tagLst xmlns:p="http://schemas.openxmlformats.org/presentationml/2006/main">
  <p:tag name="MH" val="20170806120343"/>
  <p:tag name="MH_LIBRARY" val="GRAPHIC"/>
  <p:tag name="MH_TYPE" val="SubTitle"/>
  <p:tag name="MH_ORDER" val="1"/>
</p:tagLst>
</file>

<file path=ppt/tags/tag6.xml><?xml version="1.0" encoding="utf-8"?>
<p:tagLst xmlns:p="http://schemas.openxmlformats.org/presentationml/2006/main">
  <p:tag name="MH" val="20170806120343"/>
  <p:tag name="MH_LIBRARY" val="GRAPHIC"/>
  <p:tag name="MH_TYPE" val="Other"/>
  <p:tag name="MH_ORDER" val="2"/>
</p:tagLst>
</file>

<file path=ppt/tags/tag7.xml><?xml version="1.0" encoding="utf-8"?>
<p:tagLst xmlns:p="http://schemas.openxmlformats.org/presentationml/2006/main">
  <p:tag name="MH" val="20170804144137"/>
  <p:tag name="MH_LIBRARY" val="GRAPHIC"/>
  <p:tag name="MH_TYPE" val="Desc"/>
  <p:tag name="MH_ORDER" val="1"/>
</p:tagLst>
</file>

<file path=ppt/tags/tag8.xml><?xml version="1.0" encoding="utf-8"?>
<p:tagLst xmlns:p="http://schemas.openxmlformats.org/presentationml/2006/main">
  <p:tag name="MH" val="20170804144137"/>
  <p:tag name="MH_LIBRARY" val="GRAPHIC"/>
  <p:tag name="MH_TYPE" val="Desc"/>
  <p:tag name="MH_ORDER" val="1"/>
</p:tagLst>
</file>

<file path=ppt/tags/tag9.xml><?xml version="1.0" encoding="utf-8"?>
<p:tagLst xmlns:p="http://schemas.openxmlformats.org/presentationml/2006/main">
  <p:tag name="MH" val="20170804144137"/>
  <p:tag name="MH_LIBRARY" val="GRAPHIC"/>
  <p:tag name="MH_TYPE" val="Desc"/>
  <p:tag name="MH_ORDER" val="1"/>
</p:tagLst>
</file>

<file path=ppt/tags/tag10.xml><?xml version="1.0" encoding="utf-8"?>
<p:tagLst xmlns:p="http://schemas.openxmlformats.org/presentationml/2006/main">
  <p:tag name="MH" val="20170804144137"/>
  <p:tag name="MH_LIBRARY" val="GRAPHIC"/>
  <p:tag name="MH_TYPE" val="Desc"/>
  <p:tag name="MH_ORDER" val="1"/>
</p:tagLst>
</file>

<file path=ppt/tags/tag11.xml><?xml version="1.0" encoding="utf-8"?>
<p:tagLst xmlns:p="http://schemas.openxmlformats.org/presentationml/2006/main">
  <p:tag name="MH" val="20170804144137"/>
  <p:tag name="MH_LIBRARY" val="GRAPHIC"/>
  <p:tag name="MH_TYPE" val="Desc"/>
  <p:tag name="MH_ORDER" val="1"/>
</p:tagLst>
</file>

<file path=ppt/tags/tag12.xml><?xml version="1.0" encoding="utf-8"?>
<p:tagLst xmlns:p="http://schemas.openxmlformats.org/presentationml/2006/main">
  <p:tag name="MH" val="20170808105946"/>
  <p:tag name="MH_LIBRARY" val="GRAPHIC"/>
  <p:tag name="MH_TYPE" val="Other"/>
  <p:tag name="MH_ORDER" val="2"/>
</p:tagLst>
</file>

<file path=ppt/tags/tag13.xml><?xml version="1.0" encoding="utf-8"?>
<p:tagLst xmlns:p="http://schemas.openxmlformats.org/presentationml/2006/main">
  <p:tag name="MH" val="20170808105946"/>
  <p:tag name="MH_LIBRARY" val="GRAPHIC"/>
  <p:tag name="MH_TYPE" val="Other"/>
  <p:tag name="MH_ORDER" val="3"/>
</p:tagLst>
</file>

<file path=ppt/tags/tag14.xml><?xml version="1.0" encoding="utf-8"?>
<p:tagLst xmlns:p="http://schemas.openxmlformats.org/presentationml/2006/main">
  <p:tag name="MH" val="20170808105946"/>
  <p:tag name="MH_LIBRARY" val="GRAPHIC"/>
  <p:tag name="MH_TYPE" val="Other"/>
  <p:tag name="MH_ORDER" val="4"/>
</p:tagLst>
</file>

<file path=ppt/tags/tag15.xml><?xml version="1.0" encoding="utf-8"?>
<p:tagLst xmlns:p="http://schemas.openxmlformats.org/presentationml/2006/main">
  <p:tag name="MH" val="20170808105946"/>
  <p:tag name="MH_LIBRARY" val="GRAPHIC"/>
  <p:tag name="MH_TYPE" val="Other"/>
  <p:tag name="MH_ORDER" val="5"/>
</p:tagLst>
</file>

<file path=ppt/tags/tag16.xml><?xml version="1.0" encoding="utf-8"?>
<p:tagLst xmlns:p="http://schemas.openxmlformats.org/presentationml/2006/main">
  <p:tag name="MH" val="20170808105946"/>
  <p:tag name="MH_LIBRARY" val="GRAPHIC"/>
  <p:tag name="MH_TYPE" val="Other"/>
  <p:tag name="MH_ORDER" val="6"/>
</p:tagLst>
</file>

<file path=ppt/tags/tag17.xml><?xml version="1.0" encoding="utf-8"?>
<p:tagLst xmlns:p="http://schemas.openxmlformats.org/presentationml/2006/main">
  <p:tag name="MH" val="20170808105946"/>
  <p:tag name="MH_LIBRARY" val="GRAPHIC"/>
  <p:tag name="MH_TYPE" val="Other"/>
  <p:tag name="MH_ORDER" val="7"/>
</p:tagLst>
</file>

<file path=ppt/tags/tag18.xml><?xml version="1.0" encoding="utf-8"?>
<p:tagLst xmlns:p="http://schemas.openxmlformats.org/presentationml/2006/main">
  <p:tag name="MH" val="20170808105946"/>
  <p:tag name="MH_LIBRARY" val="GRAPHIC"/>
  <p:tag name="MH_TYPE" val="Other"/>
  <p:tag name="MH_ORDER" val="8"/>
</p:tagLst>
</file>

<file path=ppt/tags/tag19.xml><?xml version="1.0" encoding="utf-8"?>
<p:tagLst xmlns:p="http://schemas.openxmlformats.org/presentationml/2006/main">
  <p:tag name="MH" val="20170808105946"/>
  <p:tag name="MH_LIBRARY" val="GRAPHIC"/>
  <p:tag name="MH_TYPE" val="Other"/>
  <p:tag name="MH_ORDER" val="9"/>
</p:tagLst>
</file>

<file path=ppt/tags/tag20.xml><?xml version="1.0" encoding="utf-8"?>
<p:tagLst xmlns:p="http://schemas.openxmlformats.org/presentationml/2006/main">
  <p:tag name="MH" val="20170808105946"/>
  <p:tag name="MH_LIBRARY" val="GRAPHIC"/>
  <p:tag name="MH_TYPE" val="Other"/>
  <p:tag name="MH_ORDER" val="10"/>
</p:tagLst>
</file>

<file path=ppt/tags/tag21.xml><?xml version="1.0" encoding="utf-8"?>
<p:tagLst xmlns:p="http://schemas.openxmlformats.org/presentationml/2006/main">
  <p:tag name="MH" val="20170808105946"/>
  <p:tag name="MH_LIBRARY" val="GRAPHIC"/>
  <p:tag name="MH_TYPE" val="Other"/>
  <p:tag name="MH_ORDER" val="11"/>
</p:tagLst>
</file>

<file path=ppt/tags/tag22.xml><?xml version="1.0" encoding="utf-8"?>
<p:tagLst xmlns:p="http://schemas.openxmlformats.org/presentationml/2006/main">
  <p:tag name="MH" val="20170808105946"/>
  <p:tag name="MH_LIBRARY" val="GRAPHIC"/>
  <p:tag name="MH_TYPE" val="Other"/>
  <p:tag name="MH_ORDER" val="12"/>
</p:tagLst>
</file>

<file path=ppt/tags/tag23.xml><?xml version="1.0" encoding="utf-8"?>
<p:tagLst xmlns:p="http://schemas.openxmlformats.org/presentationml/2006/main">
  <p:tag name="MH" val="20170808105946"/>
  <p:tag name="MH_LIBRARY" val="GRAPHIC"/>
  <p:tag name="MH_TYPE" val="Other"/>
  <p:tag name="MH_ORDER" val="13"/>
</p:tagLst>
</file>

<file path=ppt/theme/theme1.xml><?xml version="1.0" encoding="utf-8"?>
<a:theme xmlns:a="http://schemas.openxmlformats.org/drawingml/2006/main" name="课程PPT模板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雅黑-Calibri">
      <a:majorFont>
        <a:latin typeface="Calibri"/>
        <a:ea typeface="微软雅黑"/>
        <a:cs typeface=""/>
      </a:majorFont>
      <a:minorFont>
        <a:latin typeface="Calibri Light"/>
        <a:ea typeface="微软雅黑 Light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35593</Words>
  <Application>WPS 演示</Application>
  <PresentationFormat>全屏显示(4:3)</PresentationFormat>
  <Paragraphs>2893</Paragraphs>
  <Slides>128</Slides>
  <Notes>14</Notes>
  <HiddenSlides>0</HiddenSlides>
  <MMClips>0</MMClips>
  <ScaleCrop>false</ScaleCrop>
  <HeadingPairs>
    <vt:vector size="8" baseType="variant">
      <vt:variant>
        <vt:lpstr>已用的字体</vt:lpstr>
      </vt:variant>
      <vt:variant>
        <vt:i4>43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128</vt:i4>
      </vt:variant>
    </vt:vector>
  </HeadingPairs>
  <TitlesOfParts>
    <vt:vector size="174" baseType="lpstr">
      <vt:lpstr>Arial</vt:lpstr>
      <vt:lpstr>宋体</vt:lpstr>
      <vt:lpstr>Wingdings</vt:lpstr>
      <vt:lpstr>Calibri</vt:lpstr>
      <vt:lpstr>Helvetica Neue</vt:lpstr>
      <vt:lpstr>楷体</vt:lpstr>
      <vt:lpstr>汉仪楷体KW</vt:lpstr>
      <vt:lpstr>Garamond</vt:lpstr>
      <vt:lpstr>苹方-简</vt:lpstr>
      <vt:lpstr>汉仪书宋二KW</vt:lpstr>
      <vt:lpstr>黑体</vt:lpstr>
      <vt:lpstr>汉仪中黑KW</vt:lpstr>
      <vt:lpstr>Times New Roman</vt:lpstr>
      <vt:lpstr>Verdana</vt:lpstr>
      <vt:lpstr>Calibri Light</vt:lpstr>
      <vt:lpstr>微软雅黑</vt:lpstr>
      <vt:lpstr>汉仪旗黑</vt:lpstr>
      <vt:lpstr>微软雅黑 Light</vt:lpstr>
      <vt:lpstr>微软雅黑</vt:lpstr>
      <vt:lpstr>宋体</vt:lpstr>
      <vt:lpstr>Arial Unicode MS</vt:lpstr>
      <vt:lpstr>等线</vt:lpstr>
      <vt:lpstr>汉仪中等线KW</vt:lpstr>
      <vt:lpstr>Consolas</vt:lpstr>
      <vt:lpstr>华文中宋</vt:lpstr>
      <vt:lpstr>CourierNewPSMT</vt:lpstr>
      <vt:lpstr>Wingdings 2</vt:lpstr>
      <vt:lpstr>Gill Sans MT</vt:lpstr>
      <vt:lpstr>等线</vt:lpstr>
      <vt:lpstr>Courier New</vt:lpstr>
      <vt:lpstr>Monaco</vt:lpstr>
      <vt:lpstr>Cambria Math</vt:lpstr>
      <vt:lpstr>Arial Narrow</vt:lpstr>
      <vt:lpstr>黑体</vt:lpstr>
      <vt:lpstr>Wingdings</vt:lpstr>
      <vt:lpstr>Monotype Sorts</vt:lpstr>
      <vt:lpstr>Kingsoft Math</vt:lpstr>
      <vt:lpstr>Thonburi</vt:lpstr>
      <vt:lpstr>CourierNewPSMT</vt:lpstr>
      <vt:lpstr>Monaco</vt:lpstr>
      <vt:lpstr>Monotype Sorts</vt:lpstr>
      <vt:lpstr>华文中宋</vt:lpstr>
      <vt:lpstr>楷体</vt:lpstr>
      <vt:lpstr>课程PPT模板</vt:lpstr>
      <vt:lpstr>Word.Picture.8</vt:lpstr>
      <vt:lpstr>Word.Picture.8</vt:lpstr>
      <vt:lpstr>11. 指针	</vt:lpstr>
      <vt:lpstr>内容</vt:lpstr>
      <vt:lpstr>1. 指针的概念</vt:lpstr>
      <vt:lpstr>指针的概念(续)</vt:lpstr>
      <vt:lpstr>PowerPoint 演示文稿</vt:lpstr>
      <vt:lpstr>指针变量的概念</vt:lpstr>
      <vt:lpstr>存储单元的地址和内容</vt:lpstr>
      <vt:lpstr>PowerPoint 演示文稿</vt:lpstr>
      <vt:lpstr>PowerPoint 演示文稿</vt:lpstr>
      <vt:lpstr>PowerPoint 演示文稿</vt:lpstr>
      <vt:lpstr>指针、指针变量</vt:lpstr>
      <vt:lpstr>指针变量的定义</vt:lpstr>
      <vt:lpstr>指针变量定义举例</vt:lpstr>
      <vt:lpstr>指针的初始化</vt:lpstr>
      <vt:lpstr>指针的赋值</vt:lpstr>
      <vt:lpstr>PowerPoint 演示文稿</vt:lpstr>
      <vt:lpstr>练习：</vt:lpstr>
      <vt:lpstr>例13-01：间接访问</vt:lpstr>
      <vt:lpstr>程序说明</vt:lpstr>
      <vt:lpstr>间接访问运算符 *</vt:lpstr>
      <vt:lpstr>指针的运算</vt:lpstr>
      <vt:lpstr>例13-02：指针运算</vt:lpstr>
      <vt:lpstr>C语言运算符概览</vt:lpstr>
      <vt:lpstr>运算符优先级和结合性</vt:lpstr>
      <vt:lpstr>2. 指针与数组</vt:lpstr>
      <vt:lpstr>指向数组元素的指针</vt:lpstr>
      <vt:lpstr>PowerPoint 演示文稿</vt:lpstr>
      <vt:lpstr>指针的运算</vt:lpstr>
      <vt:lpstr>指针与数组举例</vt:lpstr>
      <vt:lpstr>PowerPoint 演示文稿</vt:lpstr>
      <vt:lpstr>理解数组名</vt:lpstr>
      <vt:lpstr>PowerPoint 演示文稿</vt:lpstr>
      <vt:lpstr>用数组名作函数参数</vt:lpstr>
      <vt:lpstr>PowerPoint 演示文稿</vt:lpstr>
      <vt:lpstr>数组作为函数参数</vt:lpstr>
      <vt:lpstr>例13-05 ：将数组a中n个整数逆序存放</vt:lpstr>
      <vt:lpstr>例13-05参考代码</vt:lpstr>
      <vt:lpstr>访问数组元素</vt:lpstr>
      <vt:lpstr>数组元素访问方式</vt:lpstr>
      <vt:lpstr>指针与字符串</vt:lpstr>
      <vt:lpstr>字符数组的定义和初始化</vt:lpstr>
      <vt:lpstr>思考？</vt:lpstr>
      <vt:lpstr>PowerPoint 演示文稿</vt:lpstr>
      <vt:lpstr>对字符指针和字符数组的赋值</vt:lpstr>
      <vt:lpstr>字符数组的赋值</vt:lpstr>
      <vt:lpstr>字符串处理函数</vt:lpstr>
      <vt:lpstr>字符复制函数strcpy</vt:lpstr>
      <vt:lpstr>其他字符串处理库函数（课后了解）</vt:lpstr>
      <vt:lpstr>字符串的3种操作</vt:lpstr>
      <vt:lpstr>解题思路</vt:lpstr>
      <vt:lpstr>插入子串</vt:lpstr>
      <vt:lpstr>PowerPoint 演示文稿</vt:lpstr>
      <vt:lpstr>具体操作</vt:lpstr>
      <vt:lpstr>删除子串</vt:lpstr>
      <vt:lpstr>例：日期识别(yoj 231)</vt:lpstr>
      <vt:lpstr>分析问题</vt:lpstr>
      <vt:lpstr>参考代码：</vt:lpstr>
      <vt:lpstr>通过指针访问多维数组</vt:lpstr>
      <vt:lpstr>通过指针引用多维数组</vt:lpstr>
      <vt:lpstr>例13-06：输出二维数组的有关数据(地址和元素的值)</vt:lpstr>
      <vt:lpstr>通过指针访问多维数组</vt:lpstr>
      <vt:lpstr>指向数组的指针</vt:lpstr>
      <vt:lpstr>指向一维数组的指针</vt:lpstr>
      <vt:lpstr>指针数组</vt:lpstr>
      <vt:lpstr>指针数组的定义</vt:lpstr>
      <vt:lpstr>例13-10：若干字符串排序</vt:lpstr>
      <vt:lpstr>例13-10参考代码</vt:lpstr>
      <vt:lpstr>指针的指针</vt:lpstr>
      <vt:lpstr>指针的指针</vt:lpstr>
      <vt:lpstr>多重指针</vt:lpstr>
      <vt:lpstr>指针数组与多重指针</vt:lpstr>
      <vt:lpstr>指针数组与多重指针</vt:lpstr>
      <vt:lpstr>3. 指针与函数</vt:lpstr>
      <vt:lpstr>PowerPoint 演示文稿</vt:lpstr>
      <vt:lpstr>PowerPoint 演示文稿</vt:lpstr>
      <vt:lpstr>PowerPoint 演示文稿</vt:lpstr>
      <vt:lpstr>PowerPoint 演示文稿</vt:lpstr>
      <vt:lpstr>例13-12 参数传递方式的比较</vt:lpstr>
      <vt:lpstr>PowerPoint 演示文稿</vt:lpstr>
      <vt:lpstr>PowerPoint 演示文稿</vt:lpstr>
      <vt:lpstr>PowerPoint 演示文稿</vt:lpstr>
      <vt:lpstr>函数返回值为指针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指向函数的指针</vt:lpstr>
      <vt:lpstr>定义和使用指向函数的指针</vt:lpstr>
      <vt:lpstr>例13-14：指向函数的指针</vt:lpstr>
      <vt:lpstr>例13-14b：函数指针作为函数参数</vt:lpstr>
      <vt:lpstr>指向函数的指针 例13-15：买菜计价的程序 </vt:lpstr>
      <vt:lpstr>typedef关键字*</vt:lpstr>
      <vt:lpstr>程序说明(1)</vt:lpstr>
      <vt:lpstr>程序说明（2）</vt:lpstr>
      <vt:lpstr>4. 指针与结构</vt:lpstr>
      <vt:lpstr>PowerPoint 演示文稿</vt:lpstr>
      <vt:lpstr>PowerPoint 演示文稿</vt:lpstr>
      <vt:lpstr>操作符</vt:lpstr>
      <vt:lpstr>指针与结构数组</vt:lpstr>
      <vt:lpstr>PowerPoint 演示文稿</vt:lpstr>
      <vt:lpstr>用结构指针数组来完成排序任务</vt:lpstr>
      <vt:lpstr>使用指针数组处理结构 (1)</vt:lpstr>
      <vt:lpstr>使用指针数组处理结构 (2)</vt:lpstr>
      <vt:lpstr>使用指针数组处理结构 (3)</vt:lpstr>
      <vt:lpstr>void 指针类型</vt:lpstr>
      <vt:lpstr>void指针的用处</vt:lpstr>
      <vt:lpstr>参考实现</vt:lpstr>
      <vt:lpstr>void指针的应用</vt:lpstr>
      <vt:lpstr>关于void</vt:lpstr>
      <vt:lpstr>指向函数的指针作为函数参数举例</vt:lpstr>
      <vt:lpstr>例13-17</vt:lpstr>
      <vt:lpstr>整数比较</vt:lpstr>
      <vt:lpstr>字符串比较</vt:lpstr>
      <vt:lpstr>6. 动态内存分配与释放</vt:lpstr>
      <vt:lpstr>动态分配内存malloc</vt:lpstr>
      <vt:lpstr>动态分配内存calloc</vt:lpstr>
      <vt:lpstr>动态分配内存realloc</vt:lpstr>
      <vt:lpstr>动态分配内存释放</vt:lpstr>
      <vt:lpstr>动态分配内存</vt:lpstr>
      <vt:lpstr>例13-19: 动态建立学生结构体数组，输入2个学生的信息，另外用一个函数来检查学生性别，输出男生的信息。程序结束前，释放动态分配的数组内存空间</vt:lpstr>
      <vt:lpstr>动态内存分配举例</vt:lpstr>
      <vt:lpstr>动态分配内存——C++语言</vt:lpstr>
      <vt:lpstr>const与指针</vt:lpstr>
      <vt:lpstr>main函数的形参</vt:lpstr>
      <vt:lpstr>main函数的形参</vt:lpstr>
      <vt:lpstr>带参数的方式调用C程序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程序设计 I</dc:title>
  <dc:creator>sun hui</dc:creator>
  <cp:lastModifiedBy>Li₂O</cp:lastModifiedBy>
  <cp:revision>972</cp:revision>
  <dcterms:created xsi:type="dcterms:W3CDTF">2025-12-09T01:30:51Z</dcterms:created>
  <dcterms:modified xsi:type="dcterms:W3CDTF">2025-12-09T01:30:51Z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6D28B616F1629D685B412E69F3845EEE_42</vt:lpwstr>
  </property>
  <property fmtid="{D5CDD505-2E9C-101B-9397-08002B2CF9AE}" pid="3" name="KSOProductBuildVer">
    <vt:lpwstr>2052-12.1.23540.23540</vt:lpwstr>
  </property>
</Properties>
</file>