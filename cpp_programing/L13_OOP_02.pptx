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82"/>
  </p:notesMasterIdLst>
  <p:handoutMasterIdLst>
    <p:handoutMasterId r:id="rId83"/>
  </p:handoutMasterIdLst>
  <p:sldIdLst>
    <p:sldId id="1092" r:id="rId2"/>
    <p:sldId id="863" r:id="rId3"/>
    <p:sldId id="529" r:id="rId4"/>
    <p:sldId id="604" r:id="rId5"/>
    <p:sldId id="530" r:id="rId6"/>
    <p:sldId id="531" r:id="rId7"/>
    <p:sldId id="532" r:id="rId8"/>
    <p:sldId id="533" r:id="rId9"/>
    <p:sldId id="534" r:id="rId10"/>
    <p:sldId id="535" r:id="rId11"/>
    <p:sldId id="605" r:id="rId12"/>
    <p:sldId id="1093" r:id="rId13"/>
    <p:sldId id="536" r:id="rId14"/>
    <p:sldId id="537" r:id="rId15"/>
    <p:sldId id="538" r:id="rId16"/>
    <p:sldId id="539" r:id="rId17"/>
    <p:sldId id="540" r:id="rId18"/>
    <p:sldId id="1094" r:id="rId19"/>
    <p:sldId id="546" r:id="rId20"/>
    <p:sldId id="547" r:id="rId21"/>
    <p:sldId id="551" r:id="rId22"/>
    <p:sldId id="552" r:id="rId23"/>
    <p:sldId id="553" r:id="rId24"/>
    <p:sldId id="554" r:id="rId25"/>
    <p:sldId id="606" r:id="rId26"/>
    <p:sldId id="608" r:id="rId27"/>
    <p:sldId id="609" r:id="rId28"/>
    <p:sldId id="1095" r:id="rId29"/>
    <p:sldId id="258" r:id="rId30"/>
    <p:sldId id="259" r:id="rId31"/>
    <p:sldId id="260" r:id="rId32"/>
    <p:sldId id="261" r:id="rId33"/>
    <p:sldId id="262" r:id="rId34"/>
    <p:sldId id="263" r:id="rId35"/>
    <p:sldId id="286" r:id="rId36"/>
    <p:sldId id="287" r:id="rId37"/>
    <p:sldId id="288" r:id="rId38"/>
    <p:sldId id="289" r:id="rId39"/>
    <p:sldId id="298" r:id="rId40"/>
    <p:sldId id="264" r:id="rId41"/>
    <p:sldId id="266" r:id="rId42"/>
    <p:sldId id="267" r:id="rId43"/>
    <p:sldId id="268" r:id="rId44"/>
    <p:sldId id="296" r:id="rId45"/>
    <p:sldId id="1096" r:id="rId46"/>
    <p:sldId id="871" r:id="rId47"/>
    <p:sldId id="872" r:id="rId48"/>
    <p:sldId id="873" r:id="rId49"/>
    <p:sldId id="874" r:id="rId50"/>
    <p:sldId id="875" r:id="rId51"/>
    <p:sldId id="876" r:id="rId52"/>
    <p:sldId id="878" r:id="rId53"/>
    <p:sldId id="879" r:id="rId54"/>
    <p:sldId id="880" r:id="rId55"/>
    <p:sldId id="881" r:id="rId56"/>
    <p:sldId id="882" r:id="rId57"/>
    <p:sldId id="883" r:id="rId58"/>
    <p:sldId id="1097" r:id="rId59"/>
    <p:sldId id="1098" r:id="rId60"/>
    <p:sldId id="1099" r:id="rId61"/>
    <p:sldId id="1101" r:id="rId62"/>
    <p:sldId id="1102" r:id="rId63"/>
    <p:sldId id="612" r:id="rId64"/>
    <p:sldId id="1103" r:id="rId65"/>
    <p:sldId id="1104" r:id="rId66"/>
    <p:sldId id="541" r:id="rId67"/>
    <p:sldId id="1105" r:id="rId68"/>
    <p:sldId id="613" r:id="rId69"/>
    <p:sldId id="614" r:id="rId70"/>
    <p:sldId id="595" r:id="rId71"/>
    <p:sldId id="596" r:id="rId72"/>
    <p:sldId id="597" r:id="rId73"/>
    <p:sldId id="973" r:id="rId74"/>
    <p:sldId id="603" r:id="rId75"/>
    <p:sldId id="1106" r:id="rId76"/>
    <p:sldId id="544" r:id="rId77"/>
    <p:sldId id="545" r:id="rId78"/>
    <p:sldId id="1107" r:id="rId79"/>
    <p:sldId id="1108" r:id="rId80"/>
    <p:sldId id="616" r:id="rId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700E"/>
    <a:srgbClr val="0000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0" autoAdjust="0"/>
    <p:restoredTop sz="89883" autoAdjust="0"/>
  </p:normalViewPr>
  <p:slideViewPr>
    <p:cSldViewPr snapToGrid="0">
      <p:cViewPr varScale="1">
        <p:scale>
          <a:sx n="82" d="100"/>
          <a:sy n="82" d="100"/>
        </p:scale>
        <p:origin x="96" y="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32C656-B4F5-496D-8363-88252277A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DD45AE-3D94-4FB0-AA1E-B100A0A7EC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71C8D-3D58-472B-A2FE-61A2020D09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A5F050-4848-4F76-95CF-FC4B8004A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2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9188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我们依次来看各个作用域的限定情况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23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630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3556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1567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317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A80A2C8-E878-5E4A-9208-B431EFB7AA51}" type="slidenum">
              <a:rPr lang="en-US" altLang="zh-CN" sz="1300">
                <a:ea typeface="隶书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zh-CN" sz="1300"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1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 </a:t>
            </a:r>
            <a:r>
              <a:rPr kumimoji="1" lang="en-US" altLang="zh-CN" dirty="0" err="1"/>
              <a:t>hiding_class_names.cpp</a:t>
            </a:r>
            <a:endParaRPr kumimoji="1" lang="en-US" altLang="zh-CN" dirty="0"/>
          </a:p>
          <a:p>
            <a:r>
              <a:rPr kumimoji="1" lang="en-US" altLang="zh-CN" dirty="0"/>
              <a:t>// compile with: /</a:t>
            </a:r>
            <a:r>
              <a:rPr kumimoji="1" lang="en-US" altLang="zh-CN" dirty="0" err="1"/>
              <a:t>EHsc</a:t>
            </a:r>
            <a:endParaRPr kumimoji="1" lang="en-US" altLang="zh-CN" dirty="0"/>
          </a:p>
          <a:p>
            <a:r>
              <a:rPr kumimoji="1" lang="en-US" altLang="zh-CN" dirty="0"/>
              <a:t>#include &lt;iostream&gt;</a:t>
            </a:r>
          </a:p>
          <a:p>
            <a:r>
              <a:rPr kumimoji="1" lang="en-US" altLang="zh-CN" dirty="0"/>
              <a:t>using namespace </a:t>
            </a:r>
            <a:r>
              <a:rPr kumimoji="1" lang="en-US" altLang="zh-CN" dirty="0" err="1"/>
              <a:t>std</a:t>
            </a:r>
            <a:r>
              <a:rPr kumimoji="1" lang="en-US" altLang="zh-CN" dirty="0"/>
              <a:t>;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// Declare class Account at global scope.</a:t>
            </a:r>
          </a:p>
          <a:p>
            <a:r>
              <a:rPr kumimoji="1" lang="en-US" altLang="zh-CN" dirty="0"/>
              <a:t>class Account</a:t>
            </a:r>
          </a:p>
          <a:p>
            <a:r>
              <a:rPr kumimoji="1" lang="en-US" altLang="zh-CN" dirty="0"/>
              <a:t>{</a:t>
            </a:r>
          </a:p>
          <a:p>
            <a:r>
              <a:rPr kumimoji="1" lang="en-US" altLang="zh-CN" dirty="0"/>
              <a:t>public:</a:t>
            </a:r>
          </a:p>
          <a:p>
            <a:r>
              <a:rPr kumimoji="1" lang="en-US" altLang="zh-CN" dirty="0"/>
              <a:t>    Account( double </a:t>
            </a:r>
            <a:r>
              <a:rPr kumimoji="1" lang="en-US" altLang="zh-CN" dirty="0" err="1"/>
              <a:t>InitialBalance</a:t>
            </a:r>
            <a:r>
              <a:rPr kumimoji="1" lang="en-US" altLang="zh-CN" dirty="0"/>
              <a:t> )</a:t>
            </a:r>
          </a:p>
          <a:p>
            <a:r>
              <a:rPr kumimoji="1" lang="en-US" altLang="zh-CN" dirty="0"/>
              <a:t>        { balance = </a:t>
            </a:r>
            <a:r>
              <a:rPr kumimoji="1" lang="en-US" altLang="zh-CN" dirty="0" err="1"/>
              <a:t>InitialBalance</a:t>
            </a:r>
            <a:r>
              <a:rPr kumimoji="1" lang="en-US" altLang="zh-CN" dirty="0"/>
              <a:t>; }</a:t>
            </a:r>
          </a:p>
          <a:p>
            <a:r>
              <a:rPr kumimoji="1" lang="en-US" altLang="zh-CN" dirty="0"/>
              <a:t>    double </a:t>
            </a:r>
            <a:r>
              <a:rPr kumimoji="1" lang="en-US" altLang="zh-CN" dirty="0" err="1"/>
              <a:t>GetBalance</a:t>
            </a:r>
            <a:r>
              <a:rPr kumimoji="1" lang="en-US" altLang="zh-CN" dirty="0"/>
              <a:t>()</a:t>
            </a:r>
          </a:p>
          <a:p>
            <a:r>
              <a:rPr kumimoji="1" lang="en-US" altLang="zh-CN" dirty="0"/>
              <a:t>        { return balance; }</a:t>
            </a:r>
          </a:p>
          <a:p>
            <a:r>
              <a:rPr kumimoji="1" lang="en-US" altLang="zh-CN" dirty="0"/>
              <a:t>private:</a:t>
            </a:r>
          </a:p>
          <a:p>
            <a:r>
              <a:rPr kumimoji="1" lang="en-US" altLang="zh-CN" dirty="0"/>
              <a:t>    double balance;</a:t>
            </a:r>
          </a:p>
          <a:p>
            <a:r>
              <a:rPr kumimoji="1" lang="en-US" altLang="zh-CN" dirty="0"/>
              <a:t>};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double Account = 15.37;            // Hides class name Account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int</a:t>
            </a:r>
            <a:r>
              <a:rPr kumimoji="1" lang="en-US" altLang="zh-CN" dirty="0"/>
              <a:t> main()</a:t>
            </a:r>
          </a:p>
          <a:p>
            <a:r>
              <a:rPr kumimoji="1" lang="en-US" altLang="zh-CN" dirty="0"/>
              <a:t>{</a:t>
            </a:r>
          </a:p>
          <a:p>
            <a:r>
              <a:rPr kumimoji="1" lang="en-US" altLang="zh-CN" dirty="0"/>
              <a:t>    class Account Checking( Account ); // Qualifies Account as</a:t>
            </a:r>
          </a:p>
          <a:p>
            <a:r>
              <a:rPr kumimoji="1" lang="en-US" altLang="zh-CN" dirty="0"/>
              <a:t>                                       //  class name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    </a:t>
            </a:r>
            <a:r>
              <a:rPr kumimoji="1" lang="en-US" altLang="zh-CN" dirty="0" err="1"/>
              <a:t>cout</a:t>
            </a:r>
            <a:r>
              <a:rPr kumimoji="1" lang="en-US" altLang="zh-CN" dirty="0"/>
              <a:t> &lt;&lt; "Opening account with balance of: "</a:t>
            </a:r>
          </a:p>
          <a:p>
            <a:r>
              <a:rPr kumimoji="1" lang="en-US" altLang="zh-CN" dirty="0"/>
              <a:t>         &lt;&lt; </a:t>
            </a:r>
            <a:r>
              <a:rPr kumimoji="1" lang="en-US" altLang="zh-CN" dirty="0" err="1"/>
              <a:t>Checking.GetBalance</a:t>
            </a:r>
            <a:r>
              <a:rPr kumimoji="1" lang="en-US" altLang="zh-CN" dirty="0"/>
              <a:t>() &lt;&lt; "\n";</a:t>
            </a:r>
          </a:p>
          <a:p>
            <a:r>
              <a:rPr kumimoji="1" lang="en-US" altLang="zh-CN" dirty="0"/>
              <a:t>}</a:t>
            </a:r>
          </a:p>
          <a:p>
            <a:r>
              <a:rPr kumimoji="1" lang="en-US" altLang="zh-CN" dirty="0"/>
              <a:t>//Output: Opening account with balance of: 15.37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7041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#include &lt;iostream&gt;</a:t>
            </a:r>
          </a:p>
          <a:p>
            <a:r>
              <a:rPr lang="zh-CN" altLang="en-US" sz="1200" dirty="0"/>
              <a:t>using namespace std;</a:t>
            </a:r>
          </a:p>
          <a:p>
            <a:r>
              <a:rPr lang="zh-CN" altLang="en-US" sz="1200" dirty="0"/>
              <a:t>// 类Account声明，全局</a:t>
            </a:r>
          </a:p>
          <a:p>
            <a:r>
              <a:rPr lang="zh-CN" altLang="en-US" sz="1200" b="1" dirty="0">
                <a:solidFill>
                  <a:srgbClr val="0070C0"/>
                </a:solidFill>
              </a:rPr>
              <a:t>class Account</a:t>
            </a:r>
          </a:p>
          <a:p>
            <a:r>
              <a:rPr lang="zh-CN" altLang="en-US" sz="1200" dirty="0"/>
              <a:t>{</a:t>
            </a:r>
          </a:p>
          <a:p>
            <a:r>
              <a:rPr lang="zh-CN" altLang="en-US" sz="1200" dirty="0"/>
              <a:t>public:</a:t>
            </a:r>
          </a:p>
          <a:p>
            <a:r>
              <a:rPr lang="zh-CN" altLang="en-US" sz="1200" dirty="0"/>
              <a:t>    Account( double InitialBalance )</a:t>
            </a:r>
          </a:p>
          <a:p>
            <a:r>
              <a:rPr lang="zh-CN" altLang="en-US" sz="1200" dirty="0"/>
              <a:t>        { balance = InitialBalance; }</a:t>
            </a:r>
          </a:p>
          <a:p>
            <a:r>
              <a:rPr lang="zh-CN" altLang="en-US" sz="1200" dirty="0"/>
              <a:t>    double GetBalance()</a:t>
            </a:r>
          </a:p>
          <a:p>
            <a:r>
              <a:rPr lang="zh-CN" altLang="en-US" sz="1200" dirty="0"/>
              <a:t>        { return balance; }</a:t>
            </a:r>
          </a:p>
          <a:p>
            <a:r>
              <a:rPr lang="zh-CN" altLang="en-US" sz="1200" dirty="0"/>
              <a:t>private:</a:t>
            </a:r>
          </a:p>
          <a:p>
            <a:r>
              <a:rPr lang="zh-CN" altLang="en-US" sz="1200" dirty="0"/>
              <a:t>    double balance;</a:t>
            </a:r>
          </a:p>
          <a:p>
            <a:r>
              <a:rPr lang="zh-CN" altLang="en-US" sz="1200" dirty="0"/>
              <a:t>};</a:t>
            </a:r>
          </a:p>
          <a:p>
            <a:r>
              <a:rPr lang="zh-CN" altLang="en-US" sz="1200" b="1" dirty="0"/>
              <a:t>double</a:t>
            </a:r>
            <a:r>
              <a:rPr lang="zh-CN" altLang="en-US" sz="1200" b="1" dirty="0">
                <a:solidFill>
                  <a:srgbClr val="0070C0"/>
                </a:solidFill>
              </a:rPr>
              <a:t> </a:t>
            </a:r>
            <a:r>
              <a:rPr lang="zh-CN" altLang="en-US" sz="1200" b="1" dirty="0">
                <a:solidFill>
                  <a:srgbClr val="C00000"/>
                </a:solidFill>
              </a:rPr>
              <a:t>Account</a:t>
            </a:r>
            <a:r>
              <a:rPr lang="zh-CN" altLang="en-US" sz="1200" b="1" dirty="0">
                <a:solidFill>
                  <a:srgbClr val="0070C0"/>
                </a:solidFill>
              </a:rPr>
              <a:t> = 15.37;            </a:t>
            </a:r>
            <a:r>
              <a:rPr lang="zh-CN" altLang="en-US" sz="1200" dirty="0"/>
              <a:t>// 隐藏类名</a:t>
            </a:r>
            <a:r>
              <a:rPr lang="en-US" altLang="zh-CN" sz="1200" dirty="0"/>
              <a:t>Account</a:t>
            </a:r>
            <a:endParaRPr lang="zh-CN" altLang="en-US" sz="1200" dirty="0"/>
          </a:p>
          <a:p>
            <a:r>
              <a:rPr lang="zh-CN" altLang="en-US" sz="1200" dirty="0"/>
              <a:t>int main()</a:t>
            </a:r>
          </a:p>
          <a:p>
            <a:r>
              <a:rPr lang="zh-CN" altLang="en-US" sz="1200" dirty="0"/>
              <a:t>{</a:t>
            </a:r>
          </a:p>
          <a:p>
            <a:r>
              <a:rPr lang="zh-CN" altLang="en-US" sz="1200" dirty="0"/>
              <a:t>    </a:t>
            </a:r>
            <a:r>
              <a:rPr lang="zh-CN" altLang="en-US" sz="1200" b="1" dirty="0"/>
              <a:t>class Account Checking( </a:t>
            </a:r>
            <a:r>
              <a:rPr lang="zh-CN" altLang="en-US" sz="1200" b="1" dirty="0">
                <a:solidFill>
                  <a:srgbClr val="C00000"/>
                </a:solidFill>
              </a:rPr>
              <a:t>Account</a:t>
            </a:r>
            <a:r>
              <a:rPr lang="zh-CN" altLang="en-US" sz="1200" b="1" dirty="0"/>
              <a:t> ); //</a:t>
            </a:r>
          </a:p>
          <a:p>
            <a:r>
              <a:rPr lang="zh-CN" altLang="en-US" sz="1200" b="1" dirty="0"/>
              <a:t>                                                                 </a:t>
            </a:r>
          </a:p>
          <a:p>
            <a:endParaRPr lang="zh-CN" altLang="en-US" sz="1200" dirty="0"/>
          </a:p>
          <a:p>
            <a:r>
              <a:rPr lang="zh-CN" altLang="en-US" sz="1200" dirty="0"/>
              <a:t>    cout &lt;&lt; "Opening account with balance of: "</a:t>
            </a:r>
          </a:p>
          <a:p>
            <a:r>
              <a:rPr lang="zh-CN" altLang="en-US" sz="1200" dirty="0"/>
              <a:t>            &lt;&lt; Checking.GetBalance() &lt;&lt; "\n";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  return 0;</a:t>
            </a:r>
            <a:endParaRPr lang="zh-CN" altLang="en-US" sz="1200" dirty="0"/>
          </a:p>
          <a:p>
            <a:r>
              <a:rPr lang="zh-CN" altLang="en-US" sz="1200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6098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3274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2135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5172A81-6902-A844-98BA-EE8777401E89}" type="slidenum">
              <a:rPr lang="en-US" altLang="zh-CN" sz="1300">
                <a:ea typeface="隶书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zh-CN" sz="1300"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031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6837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22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6021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9294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Point {</a:t>
            </a:r>
          </a:p>
          <a:p>
            <a:r>
              <a:rPr lang="en-US" altLang="zh-CN" dirty="0"/>
              <a:t>public:	//</a:t>
            </a:r>
            <a:r>
              <a:rPr lang="zh-CN" altLang="en-US" dirty="0"/>
              <a:t>外部接口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Point(int x = 0, int y = 0):x(x), y(y) //</a:t>
            </a:r>
            <a:r>
              <a:rPr lang="zh-CN" altLang="en-US" dirty="0"/>
              <a:t>注意颜色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{//</a:t>
            </a:r>
            <a:r>
              <a:rPr lang="zh-CN" altLang="en-US" dirty="0"/>
              <a:t>在构造函数中对</a:t>
            </a:r>
            <a:r>
              <a:rPr lang="en-US" altLang="zh-CN" dirty="0"/>
              <a:t>count</a:t>
            </a:r>
            <a:r>
              <a:rPr lang="zh-CN" altLang="en-US" dirty="0"/>
              <a:t>累加，所有对象共同维护 </a:t>
            </a:r>
            <a:r>
              <a:rPr lang="en-US" altLang="zh-CN" dirty="0"/>
              <a:t>count</a:t>
            </a:r>
          </a:p>
          <a:p>
            <a:r>
              <a:rPr lang="en-US" altLang="zh-CN" dirty="0"/>
              <a:t>		count++;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Point(const Point &amp;p):x(</a:t>
            </a:r>
            <a:r>
              <a:rPr lang="en-US" altLang="zh-CN" dirty="0" err="1"/>
              <a:t>p.x</a:t>
            </a:r>
            <a:r>
              <a:rPr lang="en-US" altLang="zh-CN" dirty="0"/>
              <a:t>), y(</a:t>
            </a:r>
            <a:r>
              <a:rPr lang="en-US" altLang="zh-CN" dirty="0" err="1"/>
              <a:t>p.y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{//</a:t>
            </a:r>
            <a:r>
              <a:rPr lang="zh-CN" altLang="en-US" dirty="0"/>
              <a:t>复制构造函数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count++;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~Point() {</a:t>
            </a:r>
          </a:p>
          <a:p>
            <a:r>
              <a:rPr lang="en-US" altLang="zh-CN" dirty="0"/>
              <a:t>		count--;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</a:t>
            </a:r>
          </a:p>
          <a:p>
            <a:r>
              <a:rPr lang="en-US" altLang="zh-CN" dirty="0"/>
              <a:t>		return x;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 {</a:t>
            </a:r>
          </a:p>
          <a:p>
            <a:r>
              <a:rPr lang="en-US" altLang="zh-CN" dirty="0"/>
              <a:t>		return y;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static void </a:t>
            </a:r>
            <a:r>
              <a:rPr lang="en-US" altLang="zh-CN" dirty="0" err="1"/>
              <a:t>showCount</a:t>
            </a:r>
            <a:r>
              <a:rPr lang="en-US" altLang="zh-CN" dirty="0"/>
              <a:t>() {//</a:t>
            </a:r>
            <a:r>
              <a:rPr lang="zh-CN" altLang="en-US" dirty="0"/>
              <a:t>静态函数成员</a:t>
            </a:r>
          </a:p>
          <a:p>
            <a:r>
              <a:rPr lang="zh-CN" altLang="en-US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  Object count = " &lt;&lt; count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private: //</a:t>
            </a:r>
            <a:r>
              <a:rPr lang="zh-CN" altLang="en-US" dirty="0"/>
              <a:t>私有数据成员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int x, y;</a:t>
            </a:r>
          </a:p>
          <a:p>
            <a:r>
              <a:rPr lang="en-US" altLang="zh-CN" dirty="0"/>
              <a:t>	static int count;	//</a:t>
            </a:r>
            <a:r>
              <a:rPr lang="zh-CN" altLang="en-US" dirty="0"/>
              <a:t>静态数据成员声明，用于记录点的个数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int Point::count = 0;	//</a:t>
            </a:r>
            <a:r>
              <a:rPr lang="zh-CN" altLang="en-US" dirty="0"/>
              <a:t>静态数据成员定义和初始化，使用类名限定</a:t>
            </a:r>
          </a:p>
          <a:p>
            <a:endParaRPr lang="zh-CN" altLang="en-US" dirty="0"/>
          </a:p>
          <a:p>
            <a:r>
              <a:rPr lang="en-US" altLang="zh-CN" dirty="0"/>
              <a:t>int main() {</a:t>
            </a:r>
          </a:p>
          <a:p>
            <a:endParaRPr lang="en-US" altLang="zh-CN" dirty="0"/>
          </a:p>
          <a:p>
            <a:r>
              <a:rPr lang="en-US" altLang="zh-CN" dirty="0"/>
              <a:t>	//int Point::count = 0;	//</a:t>
            </a:r>
            <a:r>
              <a:rPr lang="zh-CN" altLang="en-US" dirty="0"/>
              <a:t>静态数据成员定义和初始化，使用类名限定</a:t>
            </a:r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a(4, 5);	//</a:t>
            </a:r>
            <a:r>
              <a:rPr lang="zh-CN" altLang="en-US" dirty="0"/>
              <a:t>定义对象</a:t>
            </a:r>
            <a:r>
              <a:rPr lang="en-US" altLang="zh-CN" dirty="0"/>
              <a:t>a</a:t>
            </a:r>
            <a:r>
              <a:rPr lang="zh-CN" altLang="en-US" dirty="0"/>
              <a:t>，其构造函数会使 </a:t>
            </a:r>
            <a:r>
              <a:rPr lang="en-US" altLang="zh-CN" dirty="0"/>
              <a:t>count </a:t>
            </a:r>
            <a:r>
              <a:rPr lang="zh-CN" altLang="en-US" dirty="0"/>
              <a:t>增 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A: " &lt;&lt; </a:t>
            </a:r>
            <a:r>
              <a:rPr lang="en-US" altLang="zh-CN" dirty="0" err="1"/>
              <a:t>a.getX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a.getY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Point::</a:t>
            </a:r>
            <a:r>
              <a:rPr lang="en-US" altLang="zh-CN" dirty="0" err="1"/>
              <a:t>showCount</a:t>
            </a:r>
            <a:r>
              <a:rPr lang="en-US" altLang="zh-CN" dirty="0"/>
              <a:t>();	//</a:t>
            </a:r>
            <a:r>
              <a:rPr lang="zh-CN" altLang="en-US" dirty="0"/>
              <a:t>输出对象个数</a:t>
            </a:r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b(a);	    //</a:t>
            </a:r>
            <a:r>
              <a:rPr lang="zh-CN" altLang="en-US" dirty="0"/>
              <a:t>定义对象</a:t>
            </a:r>
            <a:r>
              <a:rPr lang="en-US" altLang="zh-CN" dirty="0"/>
              <a:t>b</a:t>
            </a:r>
            <a:r>
              <a:rPr lang="zh-CN" altLang="en-US" dirty="0"/>
              <a:t>，其构造函数回使</a:t>
            </a:r>
            <a:r>
              <a:rPr lang="en-US" altLang="zh-CN" dirty="0"/>
              <a:t>count</a:t>
            </a:r>
            <a:r>
              <a:rPr lang="zh-CN" altLang="en-US" dirty="0"/>
              <a:t>增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B: " &lt;&lt; </a:t>
            </a:r>
            <a:r>
              <a:rPr lang="en-US" altLang="zh-CN" dirty="0" err="1"/>
              <a:t>b.getX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b.getY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Point::</a:t>
            </a:r>
            <a:r>
              <a:rPr lang="en-US" altLang="zh-CN" dirty="0" err="1"/>
              <a:t>showCount</a:t>
            </a:r>
            <a:r>
              <a:rPr lang="en-US" altLang="zh-CN" dirty="0"/>
              <a:t>();	//</a:t>
            </a:r>
            <a:r>
              <a:rPr lang="zh-CN" altLang="en-US" dirty="0"/>
              <a:t>输出对象个数</a:t>
            </a:r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1754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27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1792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0635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66415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  </a:t>
            </a:r>
            <a:r>
              <a:rPr kumimoji="1" lang="en-US" altLang="zh-CN" dirty="0" err="1"/>
              <a:t>const</a:t>
            </a:r>
            <a:r>
              <a:rPr kumimoji="1" lang="en-US" altLang="zh-CN" dirty="0"/>
              <a:t> a(3,4)</a:t>
            </a:r>
          </a:p>
          <a:p>
            <a:r>
              <a:rPr kumimoji="1" lang="en-US" altLang="zh-CN" dirty="0" err="1"/>
              <a:t>Const</a:t>
            </a:r>
            <a:r>
              <a:rPr kumimoji="1" lang="en-US" altLang="zh-CN" baseline="0" dirty="0"/>
              <a:t> A a(3,4)</a:t>
            </a:r>
          </a:p>
          <a:p>
            <a:r>
              <a:rPr kumimoji="1" lang="zh-CN" altLang="en-US" baseline="0" dirty="0"/>
              <a:t>是等价的。 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lang="en-US" altLang="zh-CN" dirty="0" err="1"/>
              <a:t>const</a:t>
            </a:r>
            <a:r>
              <a:rPr lang="en-US" altLang="zh-CN" dirty="0"/>
              <a:t> String *</a:t>
            </a:r>
            <a:r>
              <a:rPr lang="en-US" altLang="zh-CN" dirty="0" err="1"/>
              <a:t>ss</a:t>
            </a:r>
            <a:r>
              <a:rPr lang="en-US" altLang="zh-CN" dirty="0"/>
              <a:t> = @“</a:t>
            </a:r>
            <a:r>
              <a:rPr lang="zh-CN" altLang="en-US" dirty="0"/>
              <a:t>注意*</a:t>
            </a:r>
            <a:r>
              <a:rPr lang="en-US" altLang="zh-CN" dirty="0"/>
              <a:t>”;</a:t>
            </a:r>
            <a:r>
              <a:rPr lang="zh-CN" altLang="en-US" dirty="0"/>
              <a:t> </a:t>
            </a:r>
            <a:r>
              <a:rPr lang="en-US" altLang="zh-CN" dirty="0"/>
              <a:t>// "*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不能被修改， </a:t>
            </a:r>
            <a:r>
              <a:rPr lang="en-US" altLang="zh-CN" dirty="0"/>
              <a:t>"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能被修改 </a:t>
            </a:r>
            <a:endParaRPr lang="en-US" altLang="zh-CN" dirty="0"/>
          </a:p>
          <a:p>
            <a:r>
              <a:rPr lang="en-US" altLang="zh-CN" dirty="0"/>
              <a:t>String </a:t>
            </a:r>
            <a:r>
              <a:rPr lang="en-US" altLang="zh-CN" dirty="0" err="1"/>
              <a:t>const</a:t>
            </a:r>
            <a:r>
              <a:rPr lang="en-US" altLang="zh-CN" dirty="0"/>
              <a:t> *</a:t>
            </a:r>
            <a:r>
              <a:rPr lang="en-US" altLang="zh-CN" dirty="0" err="1"/>
              <a:t>ss</a:t>
            </a:r>
            <a:r>
              <a:rPr lang="en-US" altLang="zh-CN" dirty="0"/>
              <a:t> = @"</a:t>
            </a:r>
            <a:r>
              <a:rPr lang="zh-CN" altLang="en-US" dirty="0"/>
              <a:t>注意*</a:t>
            </a:r>
            <a:r>
              <a:rPr lang="en-US" altLang="zh-CN" dirty="0"/>
              <a:t>"; //"*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不能被修改， </a:t>
            </a:r>
            <a:r>
              <a:rPr lang="en-US" altLang="zh-CN" dirty="0"/>
              <a:t>"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能被修改 </a:t>
            </a:r>
            <a:endParaRPr lang="en-US" altLang="zh-CN" dirty="0"/>
          </a:p>
          <a:p>
            <a:r>
              <a:rPr lang="en-US" altLang="zh-CN" dirty="0"/>
              <a:t>String * 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ss</a:t>
            </a:r>
            <a:r>
              <a:rPr lang="en-US" altLang="zh-CN" dirty="0"/>
              <a:t>= @"</a:t>
            </a:r>
            <a:r>
              <a:rPr lang="zh-CN" altLang="en-US" dirty="0"/>
              <a:t>注意*</a:t>
            </a:r>
            <a:r>
              <a:rPr lang="en-US" altLang="zh-CN" dirty="0"/>
              <a:t>"; //"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不能被修改，</a:t>
            </a:r>
            <a:r>
              <a:rPr lang="en-US" altLang="zh-CN" dirty="0"/>
              <a:t>"*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能被修改 </a:t>
            </a:r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注意：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其实没什么区别</a:t>
            </a:r>
            <a:r>
              <a:rPr lang="en-US" altLang="zh-CN" dirty="0"/>
              <a:t>,</a:t>
            </a:r>
            <a:r>
              <a:rPr lang="en-US" altLang="zh-CN" dirty="0" err="1"/>
              <a:t>ss</a:t>
            </a:r>
            <a:r>
              <a:rPr lang="zh-CN" altLang="en-US" dirty="0"/>
              <a:t>为指针地址。*</a:t>
            </a:r>
            <a:r>
              <a:rPr lang="en-US" altLang="zh-CN" dirty="0" err="1"/>
              <a:t>ss</a:t>
            </a:r>
            <a:r>
              <a:rPr lang="zh-CN" altLang="en-US" dirty="0"/>
              <a:t>为指针所指对象。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112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N=10 </a:t>
            </a:r>
            <a:r>
              <a:rPr kumimoji="1" lang="zh-CN" altLang="en-US" dirty="0"/>
              <a:t>应为是对 常对象赋值，报错。 </a:t>
            </a:r>
            <a:endParaRPr kumimoji="1" lang="en-US" altLang="zh-CN" dirty="0"/>
          </a:p>
          <a:p>
            <a:r>
              <a:rPr kumimoji="1" lang="zh-CN" altLang="en-US" dirty="0"/>
              <a:t>同理 </a:t>
            </a:r>
            <a:r>
              <a:rPr kumimoji="1" lang="en-US" altLang="zh-CN" dirty="0"/>
              <a:t>a1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报错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60050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9858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D59F96F-CE56-2E47-ACA6-48B8F2B67CB7}" type="slidenum">
              <a:rPr lang="en-US" altLang="zh-CN" sz="1300">
                <a:ea typeface="隶书" charset="0"/>
              </a:rPr>
              <a:pPr eaLnBrk="1" hangingPunct="1">
                <a:spcBef>
                  <a:spcPct val="0"/>
                </a:spcBef>
              </a:pPr>
              <a:t>33</a:t>
            </a:fld>
            <a:endParaRPr lang="en-US" altLang="zh-CN" sz="1300"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96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D423CAB-FD75-B148-B148-751A53BD541B}" type="slidenum">
              <a:rPr lang="en-US" altLang="zh-CN" sz="1300">
                <a:ea typeface="隶书" charset="0"/>
              </a:rPr>
              <a:pPr eaLnBrk="1" hangingPunct="1">
                <a:spcBef>
                  <a:spcPct val="0"/>
                </a:spcBef>
              </a:pPr>
              <a:t>35</a:t>
            </a:fld>
            <a:endParaRPr lang="en-US" altLang="zh-CN" sz="1300"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8617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charset="0"/>
                <a:ea typeface="宋体" charset="-122"/>
              </a:rPr>
              <a:t>line</a:t>
            </a:r>
            <a:r>
              <a:rPr lang="zh-CN" altLang="en-US" dirty="0">
                <a:latin typeface="Times New Roman" charset="0"/>
                <a:ea typeface="宋体" charset="-122"/>
              </a:rPr>
              <a:t>的状态只是由两个端点决定。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Len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不会代表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line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的状态。 </a:t>
            </a:r>
            <a:endParaRPr lang="en-US" altLang="zh-CN" baseline="0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en-US" altLang="zh-CN" baseline="0" dirty="0">
                <a:latin typeface="Times New Roman" charset="0"/>
                <a:ea typeface="宋体" charset="-122"/>
              </a:rPr>
              <a:t>Len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只是数据成员，不代表状态。</a:t>
            </a:r>
            <a:endParaRPr lang="en-US" altLang="zh-CN" baseline="0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zh-CN" altLang="en-US" baseline="0" dirty="0">
                <a:latin typeface="Times New Roman" charset="0"/>
                <a:ea typeface="宋体" charset="-122"/>
              </a:rPr>
              <a:t>因此，可以定义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getLen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为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const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。</a:t>
            </a:r>
            <a:endParaRPr lang="en-US" altLang="zh-CN" baseline="0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zh-CN" altLang="en-US" baseline="0" dirty="0">
                <a:latin typeface="Times New Roman" charset="0"/>
                <a:ea typeface="宋体" charset="-122"/>
              </a:rPr>
              <a:t>而因为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getLen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()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 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const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 只能访问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const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的成员，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len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 不是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const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，定义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const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受限。</a:t>
            </a:r>
            <a:endParaRPr lang="en-US" altLang="zh-CN" baseline="0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zh-CN" altLang="en-US" baseline="0" dirty="0">
                <a:latin typeface="Times New Roman" charset="0"/>
                <a:ea typeface="宋体" charset="-122"/>
              </a:rPr>
              <a:t>如何解决？ </a:t>
            </a:r>
            <a:endParaRPr lang="zh-CN" altLang="en-US" dirty="0">
              <a:latin typeface="Times New Roman" charset="0"/>
              <a:ea typeface="宋体" charset="-122"/>
            </a:endParaRPr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6C00BB3-241F-7E48-A22B-9A7420A27655}" type="slidenum">
              <a:rPr lang="en-US" altLang="zh-CN" sz="1300">
                <a:ea typeface="隶书" charset="0"/>
              </a:rPr>
              <a:pPr eaLnBrk="1" hangingPunct="1">
                <a:spcBef>
                  <a:spcPct val="0"/>
                </a:spcBef>
              </a:pPr>
              <a:t>36</a:t>
            </a:fld>
            <a:endParaRPr lang="en-US" altLang="zh-CN" sz="1300"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243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98EEA68-CC15-F74C-8259-E55480646611}" type="slidenum">
              <a:rPr lang="en-US" altLang="zh-CN" sz="1300">
                <a:ea typeface="隶书" charset="0"/>
              </a:rPr>
              <a:pPr eaLnBrk="1" hangingPunct="1">
                <a:spcBef>
                  <a:spcPct val="0"/>
                </a:spcBef>
              </a:pPr>
              <a:t>37</a:t>
            </a:fld>
            <a:endParaRPr lang="en-US" altLang="zh-CN" sz="1300"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299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class Line {	//Line</a:t>
            </a:r>
            <a:r>
              <a:rPr lang="zh-CN" altLang="en-US" sz="1200" dirty="0">
                <a:latin typeface="宋体" charset="-122"/>
              </a:rPr>
              <a:t>类的定义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public:	//</a:t>
            </a:r>
            <a:r>
              <a:rPr lang="zh-CN" altLang="en-US" sz="1200" dirty="0">
                <a:latin typeface="宋体" charset="-122"/>
              </a:rPr>
              <a:t>外部接口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zh-CN" altLang="en-US" sz="1200" dirty="0">
                <a:latin typeface="宋体" charset="-122"/>
              </a:rPr>
              <a:t>	</a:t>
            </a:r>
            <a:r>
              <a:rPr lang="en-US" altLang="zh-CN" sz="1200" dirty="0">
                <a:latin typeface="宋体" charset="-122"/>
              </a:rPr>
              <a:t>Line(</a:t>
            </a:r>
            <a:r>
              <a:rPr lang="en-US" altLang="zh-CN" sz="1200" dirty="0" err="1">
                <a:latin typeface="宋体" charset="-122"/>
              </a:rPr>
              <a:t>const</a:t>
            </a:r>
            <a:r>
              <a:rPr lang="en-US" altLang="zh-CN" sz="1200" dirty="0">
                <a:latin typeface="宋体" charset="-122"/>
              </a:rPr>
              <a:t> Point &amp;p1, </a:t>
            </a:r>
            <a:r>
              <a:rPr lang="en-US" altLang="zh-CN" sz="1200" dirty="0" err="1">
                <a:latin typeface="宋体" charset="-122"/>
              </a:rPr>
              <a:t>const</a:t>
            </a:r>
            <a:r>
              <a:rPr lang="en-US" altLang="zh-CN" sz="1200" dirty="0">
                <a:latin typeface="宋体" charset="-122"/>
              </a:rPr>
              <a:t> Point &amp;p2)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      : p1(p1), p2(p2), </a:t>
            </a:r>
            <a:r>
              <a:rPr lang="en-US" altLang="zh-CN" sz="1200" dirty="0" err="1">
                <a:latin typeface="宋体" charset="-122"/>
              </a:rPr>
              <a:t>len</a:t>
            </a:r>
            <a:r>
              <a:rPr lang="en-US" altLang="zh-CN" sz="1200" dirty="0">
                <a:latin typeface="宋体" charset="-122"/>
              </a:rPr>
              <a:t>(-1) { }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double </a:t>
            </a:r>
            <a:r>
              <a:rPr lang="en-US" altLang="zh-CN" sz="1200" dirty="0" err="1">
                <a:latin typeface="宋体" charset="-122"/>
              </a:rPr>
              <a:t>getLen</a:t>
            </a:r>
            <a:r>
              <a:rPr lang="en-US" altLang="zh-CN" sz="1200" dirty="0">
                <a:latin typeface="宋体" charset="-122"/>
              </a:rPr>
              <a:t>()</a:t>
            </a:r>
            <a:r>
              <a:rPr lang="en-US" altLang="zh-CN" sz="1200" b="1" dirty="0">
                <a:latin typeface="宋体" charset="-122"/>
              </a:rPr>
              <a:t> </a:t>
            </a:r>
            <a:r>
              <a:rPr lang="en-US" altLang="zh-CN" sz="1200" b="1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1200" dirty="0">
                <a:solidFill>
                  <a:srgbClr val="FF0000"/>
                </a:solidFill>
                <a:latin typeface="宋体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private:	//</a:t>
            </a:r>
            <a:r>
              <a:rPr lang="zh-CN" altLang="en-US" sz="1200" dirty="0">
                <a:latin typeface="宋体" charset="-122"/>
              </a:rPr>
              <a:t>私有数据成员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zh-CN" altLang="en-US" sz="1200" dirty="0">
                <a:latin typeface="宋体" charset="-122"/>
              </a:rPr>
              <a:t>	</a:t>
            </a:r>
            <a:r>
              <a:rPr lang="en-US" altLang="zh-CN" sz="1200" dirty="0">
                <a:latin typeface="宋体" charset="-122"/>
              </a:rPr>
              <a:t>Point p1, p2;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</a:t>
            </a:r>
            <a:r>
              <a:rPr lang="en-US" altLang="zh-CN" sz="1200" b="1" dirty="0">
                <a:solidFill>
                  <a:srgbClr val="FF0000"/>
                </a:solidFill>
                <a:latin typeface="宋体" charset="-122"/>
              </a:rPr>
              <a:t>mutable</a:t>
            </a:r>
            <a:r>
              <a:rPr lang="en-US" altLang="zh-CN" sz="1200" dirty="0">
                <a:latin typeface="宋体" charset="-122"/>
              </a:rPr>
              <a:t> double </a:t>
            </a:r>
            <a:r>
              <a:rPr lang="en-US" altLang="zh-CN" sz="1200" b="1" dirty="0" err="1">
                <a:solidFill>
                  <a:schemeClr val="bg1"/>
                </a:solidFill>
                <a:highlight>
                  <a:srgbClr val="0000FF"/>
                </a:highlight>
                <a:latin typeface="宋体" charset="-122"/>
              </a:rPr>
              <a:t>len</a:t>
            </a:r>
            <a:r>
              <a:rPr lang="en-US" altLang="zh-CN" sz="1200" dirty="0">
                <a:latin typeface="宋体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};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double Line::</a:t>
            </a:r>
            <a:r>
              <a:rPr lang="en-US" altLang="zh-CN" sz="1200" dirty="0" err="1">
                <a:latin typeface="宋体" charset="-122"/>
              </a:rPr>
              <a:t>getLen</a:t>
            </a:r>
            <a:r>
              <a:rPr lang="en-US" altLang="zh-CN" sz="1200" dirty="0">
                <a:latin typeface="宋体" charset="-122"/>
              </a:rPr>
              <a:t>() </a:t>
            </a:r>
            <a:r>
              <a:rPr lang="en-US" altLang="zh-CN" sz="1200" b="1" dirty="0" err="1">
                <a:solidFill>
                  <a:srgbClr val="FF0000"/>
                </a:solidFill>
                <a:latin typeface="宋体" charset="-122"/>
              </a:rPr>
              <a:t>const</a:t>
            </a:r>
            <a:r>
              <a:rPr lang="en-US" altLang="zh-CN" sz="1200" dirty="0">
                <a:latin typeface="宋体" charset="-122"/>
              </a:rPr>
              <a:t> {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if (</a:t>
            </a:r>
            <a:r>
              <a:rPr lang="en-US" altLang="zh-CN" sz="1200" dirty="0" err="1">
                <a:latin typeface="宋体" charset="-122"/>
              </a:rPr>
              <a:t>len</a:t>
            </a:r>
            <a:r>
              <a:rPr lang="en-US" altLang="zh-CN" sz="1200" dirty="0">
                <a:latin typeface="宋体" charset="-122"/>
              </a:rPr>
              <a:t> &lt; 0) {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	double x = p1.getX() - p2.getX();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	double y = p1.getY() - p2.getY();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	</a:t>
            </a:r>
            <a:r>
              <a:rPr lang="en-US" altLang="zh-CN" sz="1200" dirty="0" err="1">
                <a:latin typeface="宋体" charset="-122"/>
              </a:rPr>
              <a:t>len</a:t>
            </a:r>
            <a:r>
              <a:rPr lang="en-US" altLang="zh-CN" sz="1200" dirty="0">
                <a:latin typeface="宋体" charset="-122"/>
              </a:rPr>
              <a:t> = </a:t>
            </a:r>
            <a:r>
              <a:rPr lang="en-US" altLang="zh-CN" sz="1200" dirty="0" err="1">
                <a:latin typeface="宋体" charset="-122"/>
              </a:rPr>
              <a:t>sqrt</a:t>
            </a:r>
            <a:r>
              <a:rPr lang="en-US" altLang="zh-CN" sz="1200" dirty="0">
                <a:latin typeface="宋体" charset="-122"/>
              </a:rPr>
              <a:t>(x * x + y * y);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	return </a:t>
            </a:r>
            <a:r>
              <a:rPr lang="en-US" altLang="zh-CN" sz="1200" dirty="0" err="1">
                <a:latin typeface="宋体" charset="-122"/>
              </a:rPr>
              <a:t>len</a:t>
            </a:r>
            <a:r>
              <a:rPr lang="en-US" altLang="zh-CN" sz="1200" dirty="0">
                <a:latin typeface="宋体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zh-CN" sz="1200" dirty="0">
                <a:latin typeface="宋体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6252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0978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05434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48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41691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#include &lt;string&gt;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#include &lt;iostream&gt;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using namespace std;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根据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value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的值输出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true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或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false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title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为提示文字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inline void test(string title, bool value) {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title &lt;&lt; " returns " ;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(value ? "true" : "false")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int main() {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string s1 = "DEF";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"s1 is " &lt;&lt; s1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string s2;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"Please enter s2: ";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cin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&gt;&gt; s2;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"length of s2: " &lt;&lt; s2.length()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比较运算符的测试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test("s1 &lt;= \"ABC\"", s1 &lt;= "ABC");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test("\"DEF\" &lt;= s1", "DEF" &lt;= s1);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连接运算符的测试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s2 += s1;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"s2 = s2 + s1: " &lt;&lt; s2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&lt;&lt; "length of s2: " &lt;&lt; s2.length()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return 0;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  <a:pPr>
                <a:defRPr/>
              </a:pPr>
              <a:t>51</a:t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37693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23512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>
            <a:extLst>
              <a:ext uri="{FF2B5EF4-FFF2-40B4-BE49-F238E27FC236}">
                <a16:creationId xmlns:a16="http://schemas.microsoft.com/office/drawing/2014/main" id="{AF5835FE-F81E-8A40-AB43-5B7E5DCF76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备注占位符 2">
            <a:extLst>
              <a:ext uri="{FF2B5EF4-FFF2-40B4-BE49-F238E27FC236}">
                <a16:creationId xmlns:a16="http://schemas.microsoft.com/office/drawing/2014/main" id="{4B119FE0-6160-DB4A-B63B-FB927EB0F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不能重载的运算符存在在的原因是： 如果这些运算符重载了，在编译逻辑上会造成混乱，因此保留了限制不允许重载。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改造原有的运算符，对新类型数据进行改造。 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82649310-1A1F-E94E-A606-21F51C9C14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A37AEC-08E0-3F4B-BFB2-20F4F461C572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>
            <a:extLst>
              <a:ext uri="{FF2B5EF4-FFF2-40B4-BE49-F238E27FC236}">
                <a16:creationId xmlns:a16="http://schemas.microsoft.com/office/drawing/2014/main" id="{9A004B9A-E7E7-8148-9E3B-3B1E9D1E8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备注占位符 2">
            <a:extLst>
              <a:ext uri="{FF2B5EF4-FFF2-40B4-BE49-F238E27FC236}">
                <a16:creationId xmlns:a16="http://schemas.microsoft.com/office/drawing/2014/main" id="{6940039C-8B1F-534F-9823-DAACEDF0C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类成员函数的参数个数少一个的原因，是其自身作为操作数，就不需要当做参数传入了。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而非成员函数，不存在这个问题，没有函数的归属，造成 参数个数 与 源操作数个数 相同。 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9699" name="灯片编号占位符 3">
            <a:extLst>
              <a:ext uri="{FF2B5EF4-FFF2-40B4-BE49-F238E27FC236}">
                <a16:creationId xmlns:a16="http://schemas.microsoft.com/office/drawing/2014/main" id="{84C05B98-E582-9646-AB2E-8DB4413106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CACDB2-A255-D24D-AF29-CFD22F206C42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 &lt;iostream&gt;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using namespace std;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Complex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复数类定义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外部接口</a:t>
            </a: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Complex(</a:t>
            </a:r>
            <a:r>
              <a:rPr kumimoji="1" lang="fr-FR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double r = 0.0, double i = 0.0):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real(r),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运算符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+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重载成员函数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operator 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Complex &amp;c2) const;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运算符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-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重载成员函数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operator -(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Complex &amp;c2) const;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display() const;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private: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double real;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实部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虚部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Complex::operator 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Complex &amp;c2) const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创建一个临时无名对象作为返回值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Complex(real + c2.real,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+ c2.imag);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Complex::operator -(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Complex &amp;c2) const 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Complex(real - c2.real,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- c2.imag);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Complex::display() const {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"(" &lt;&lt; real &lt;&lt; ", 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")"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main()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c1(5, 4), c2(2, 10), c3;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"c1 = "; c1.display();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"c2 = "; c2.display();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-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c2;//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使用重载运算符完成复数减法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"c3 = c1 - c2 = "; c3.display();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+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c2;//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使用重载运算符完成复数加法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"c3 = c1 + c2 = "; c3.display();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0;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1355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以 </a:t>
            </a:r>
            <a:r>
              <a:rPr kumimoji="1" lang="en-US" altLang="zh-CN" dirty="0"/>
              <a:t>++A</a:t>
            </a:r>
            <a:r>
              <a:rPr kumimoji="1" lang="zh-CN" altLang="en-US" dirty="0"/>
              <a:t>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7112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>
            <a:extLst>
              <a:ext uri="{FF2B5EF4-FFF2-40B4-BE49-F238E27FC236}">
                <a16:creationId xmlns:a16="http://schemas.microsoft.com/office/drawing/2014/main" id="{E921CEBB-B83A-9F45-9C7C-0D7ED6278E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>
            <a:extLst>
              <a:ext uri="{FF2B5EF4-FFF2-40B4-BE49-F238E27FC236}">
                <a16:creationId xmlns:a16="http://schemas.microsoft.com/office/drawing/2014/main" id="{313D80CF-3168-C849-8014-2A692B556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 dirty="0" err="1"/>
              <a:t>Int</a:t>
            </a:r>
            <a:r>
              <a:rPr lang="zh-CN" altLang="en-US" dirty="0"/>
              <a:t>没有具体的含义，只是用来区分前置 和 后置 运算符。  有</a:t>
            </a:r>
            <a:r>
              <a:rPr lang="en-US" altLang="zh-CN" dirty="0" err="1"/>
              <a:t>int</a:t>
            </a:r>
            <a:r>
              <a:rPr lang="zh-CN" altLang="en-US" dirty="0"/>
              <a:t> 为后置运算符； 无</a:t>
            </a:r>
            <a:r>
              <a:rPr lang="en-US" altLang="zh-CN" dirty="0" err="1"/>
              <a:t>int</a:t>
            </a:r>
            <a:r>
              <a:rPr lang="zh-CN" altLang="en-US" dirty="0"/>
              <a:t> 为前置运算符。</a:t>
            </a:r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1D9C515C-125F-9D48-A7BD-189198106E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CDD247-B1C0-8643-88F5-3327BCE4F75A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 &lt;iostream&gt;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using namespace std;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Clock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时钟类定义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外部接口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hour = 0, int minute = 0, int second = 0);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showTime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const;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Clock&amp; operator ++();  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前置单目运算符重载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 operator ++(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int);//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后置单目运算符重载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private: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hour, minute, second;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Clock::Clock(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hour, int minute, int second)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 (0 &lt;= hour &amp;&amp; hour &lt; 24 &amp;&amp; 0 &lt;= minute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&amp;&amp; minute &lt; 60 &amp;&amp; 0 &lt;= second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&amp;&amp; second &lt; 60)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this-&gt;hour = hour;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this-&gt;minute = minute;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this-&gt;second = second;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else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"Time error!"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void Clock::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showTime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const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显示时间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hour &lt;&lt; ":" &lt;&lt; minute &lt;&lt; ":" &lt;&lt; second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Clock&amp; Clock::operator ++() {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前置单目运算符重载函数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second++;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 (second &gt;= 60)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second -= 60;  minute++;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 (minute &gt;= 60)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minute -= 60; hour = (hour + 1) % 24;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*this;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后置单目运算符重载，注意形参表中的整型参数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 Clock::operator ++(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 old = *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this;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++(*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this);//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调用前置“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++”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运算符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old;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main()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Clock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(23, 59, 59);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"First time output: ";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myClock.showTime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"Show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++:    ";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++).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showTime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"Show ++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:    ";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(++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).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showTime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0;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5336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2024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Int</a:t>
            </a:r>
            <a:r>
              <a:rPr kumimoji="1" lang="zh-CN" altLang="en-US" dirty="0"/>
              <a:t> 就是返回类型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2372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赋值（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）、下标（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[]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）、调用（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()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）和成员访问箭头（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-&gt;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）运算符必须是成员（函数）。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对于赋值运算符来说，我们知道一个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c++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类，程序员如果没有为其定义了赋值操作符重载函数，编译器也会隐式的定义，这样倘若再定义全局赋值运算符重载函数，将会发生二义性。即使编译器允许这样的定义手法，在调用的时候也编译不过。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6288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形参加引用的目的： 这样可以避免在函数调用时对实参的一次拷贝，提高了效率。</a:t>
            </a:r>
          </a:p>
          <a:p>
            <a:br>
              <a:rPr lang="zh-CN" altLang="en-US" dirty="0"/>
            </a:b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#include&lt;iostream&gt;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#include&lt;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string.h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&gt;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String 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private: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char * str;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String () : str(NULL) { }  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初始化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为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NULL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char *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c_str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{ return str; 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char * operator = (const char * s);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~String() {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if(str) delete [] str; 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重载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，使得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obj = "hello"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能够成立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char * String::operator = (const char * s)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if(str) delete [] str;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if(s) { //s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才执行拷贝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(s)+1];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(str, s);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else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 = NULL;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str;  //Q: 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不要返回值可以不？ 局限是？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深拷贝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String &amp; String::operator = 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String &amp; s)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 ==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 return * this;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if(str) delete [] str;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if(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 {  //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才执行拷贝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 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)+1];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(str,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else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str= NULL;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*this;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main(){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String s;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 = "Good Luck,";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//String s2 = "hello!"; //&lt;&lt;&lt;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错误！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Q: why?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 = "Shenzhou8!";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0;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5214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String</a:t>
            </a:r>
            <a:r>
              <a:rPr kumimoji="1" lang="zh-CN" altLang="en-US" dirty="0"/>
              <a:t> 会耗费内存，新对象产生。 </a:t>
            </a:r>
            <a:endParaRPr kumimoji="1" lang="en-US" altLang="zh-CN" dirty="0"/>
          </a:p>
          <a:p>
            <a:r>
              <a:rPr kumimoji="1" lang="en-US" altLang="zh-CN" dirty="0"/>
              <a:t>String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直接返回内部产生的对象。 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sz="1200" dirty="0"/>
              <a:t>(</a:t>
            </a:r>
            <a:r>
              <a:rPr lang="en-US" altLang="zh-CN" sz="1200" dirty="0" err="1"/>
              <a:t>a.operator</a:t>
            </a:r>
            <a:r>
              <a:rPr lang="en-US" altLang="zh-CN" sz="1200" dirty="0"/>
              <a:t>=(b)).operator=(c);</a:t>
            </a:r>
            <a:endParaRPr kumimoji="1" lang="en-US" altLang="zh-CN" dirty="0"/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一般地，返回值是被赋值者的引用，即*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this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（如上面例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），原因是</a:t>
            </a: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①这样在函数返回时避免一次拷贝，提高了效率。</a:t>
            </a: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②更重要的，这样可以实现连续赋值，即类似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a=b=c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这样。如果不是返回引用而是返回值类型，那么，执行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a=b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时，调用赋值运算符重载函数，在函数返回时，由于返回的是值类型，所以要对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return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后边的“东西”进行一次拷贝，得到一个未命名的副本（有些资料上称之为“匿名对象”），然后将这个副本返回，而这个副本是右值，所以，执行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a=b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后，得到的是一个右值，再执行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=c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就会出错。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并且，（</a:t>
            </a:r>
            <a:r>
              <a:rPr kumimoji="1" lang="en-US" altLang="zh-CN" dirty="0"/>
              <a:t>a=b)=c;</a:t>
            </a:r>
            <a:r>
              <a:rPr kumimoji="1" lang="zh-CN" altLang="en-US" dirty="0"/>
              <a:t> 更改</a:t>
            </a:r>
            <a:r>
              <a:rPr kumimoji="1" lang="en-US" altLang="zh-CN" dirty="0"/>
              <a:t>a</a:t>
            </a:r>
            <a:r>
              <a:rPr kumimoji="1" lang="zh-CN" altLang="en-US" dirty="0"/>
              <a:t>的值是符合</a:t>
            </a:r>
            <a:r>
              <a:rPr kumimoji="1" lang="en-US" altLang="zh-CN" dirty="0"/>
              <a:t>String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逻辑的。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0382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>
            <a:extLst>
              <a:ext uri="{FF2B5EF4-FFF2-40B4-BE49-F238E27FC236}">
                <a16:creationId xmlns:a16="http://schemas.microsoft.com/office/drawing/2014/main" id="{C077BA13-A070-8242-A42E-6A294976ED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备注占位符 2">
            <a:extLst>
              <a:ext uri="{FF2B5EF4-FFF2-40B4-BE49-F238E27FC236}">
                <a16:creationId xmlns:a16="http://schemas.microsoft.com/office/drawing/2014/main" id="{056EDA2E-F869-5349-91FE-B8316FF44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注意位置顺序。 </a:t>
            </a:r>
            <a:r>
              <a:rPr lang="en-US" altLang="zh-CN"/>
              <a:t>C=</a:t>
            </a:r>
            <a:r>
              <a:rPr lang="zh-CN" altLang="en-US"/>
              <a:t> </a:t>
            </a:r>
            <a:r>
              <a:rPr lang="en-US" altLang="zh-CN"/>
              <a:t>c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50 </a:t>
            </a:r>
            <a:r>
              <a:rPr lang="zh-CN" altLang="en-US"/>
              <a:t>中 </a:t>
            </a:r>
            <a:r>
              <a:rPr lang="en-US" altLang="zh-CN"/>
              <a:t>+</a:t>
            </a:r>
            <a:r>
              <a:rPr lang="zh-CN" altLang="en-US"/>
              <a:t> 号只是用来表示 双目的操作符，不能调换位置 因为</a:t>
            </a:r>
            <a:r>
              <a:rPr lang="en-US" altLang="zh-CN"/>
              <a:t>+50</a:t>
            </a:r>
            <a:r>
              <a:rPr lang="zh-CN" altLang="en-US"/>
              <a:t>不是</a:t>
            </a:r>
            <a:r>
              <a:rPr lang="en-US" altLang="zh-CN"/>
              <a:t>Complex</a:t>
            </a:r>
            <a:r>
              <a:rPr lang="zh-CN" altLang="en-US"/>
              <a:t>的对象了。 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6323" name="灯片编号占位符 3">
            <a:extLst>
              <a:ext uri="{FF2B5EF4-FFF2-40B4-BE49-F238E27FC236}">
                <a16:creationId xmlns:a16="http://schemas.microsoft.com/office/drawing/2014/main" id="{82469127-B138-AB47-8BE0-A294109224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BC4678-9F1D-EB4B-A053-2851933CCB34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图像占位符 1">
            <a:extLst>
              <a:ext uri="{FF2B5EF4-FFF2-40B4-BE49-F238E27FC236}">
                <a16:creationId xmlns:a16="http://schemas.microsoft.com/office/drawing/2014/main" id="{9F4ABBB2-0332-7B42-B6C4-F60A935864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备注占位符 2">
            <a:extLst>
              <a:ext uri="{FF2B5EF4-FFF2-40B4-BE49-F238E27FC236}">
                <a16:creationId xmlns:a16="http://schemas.microsoft.com/office/drawing/2014/main" id="{31EDE01E-3650-C34A-B607-80B13EDB0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就是指的 重载函数</a:t>
            </a:r>
          </a:p>
        </p:txBody>
      </p:sp>
      <p:sp>
        <p:nvSpPr>
          <p:cNvPr id="58371" name="灯片编号占位符 3">
            <a:extLst>
              <a:ext uri="{FF2B5EF4-FFF2-40B4-BE49-F238E27FC236}">
                <a16:creationId xmlns:a16="http://schemas.microsoft.com/office/drawing/2014/main" id="{E9036673-116F-994F-AEA1-D4D42360EF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3FE324-0D08-F940-A331-E9D7935F4C4C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>
            <a:extLst>
              <a:ext uri="{FF2B5EF4-FFF2-40B4-BE49-F238E27FC236}">
                <a16:creationId xmlns:a16="http://schemas.microsoft.com/office/drawing/2014/main" id="{CF982C38-1EA2-964E-9779-04B8A81F4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备注占位符 2">
            <a:extLst>
              <a:ext uri="{FF2B5EF4-FFF2-40B4-BE49-F238E27FC236}">
                <a16:creationId xmlns:a16="http://schemas.microsoft.com/office/drawing/2014/main" id="{A016E7F9-5BB9-D147-A046-D63227AA8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/>
              <a:t>Oprd</a:t>
            </a:r>
            <a:r>
              <a:rPr lang="zh-CN" altLang="en-US"/>
              <a:t> </a:t>
            </a:r>
            <a:r>
              <a:rPr lang="en-US" altLang="zh-CN"/>
              <a:t>B</a:t>
            </a:r>
            <a:r>
              <a:rPr lang="zh-CN" altLang="en-US"/>
              <a:t> 后置非成员函数，在定义和实现时，其格式类似 </a:t>
            </a:r>
            <a:r>
              <a:rPr lang="en-US" altLang="zh-CN"/>
              <a:t>operator</a:t>
            </a:r>
            <a:r>
              <a:rPr lang="zh-CN" altLang="en-US"/>
              <a:t> </a:t>
            </a:r>
            <a:r>
              <a:rPr lang="en-US" altLang="zh-CN"/>
              <a:t>B(oprd,</a:t>
            </a:r>
            <a:r>
              <a:rPr lang="zh-CN" altLang="en-US"/>
              <a:t> </a:t>
            </a:r>
            <a:r>
              <a:rPr lang="en-US" altLang="zh-CN"/>
              <a:t>0)</a:t>
            </a:r>
            <a:r>
              <a:rPr lang="zh-CN" altLang="en-US"/>
              <a:t> </a:t>
            </a:r>
            <a:endParaRPr lang="en-US" altLang="zh-CN"/>
          </a:p>
          <a:p>
            <a:endParaRPr lang="en-US" altLang="zh-CN"/>
          </a:p>
        </p:txBody>
      </p:sp>
      <p:sp>
        <p:nvSpPr>
          <p:cNvPr id="76803" name="灯片编号占位符 3">
            <a:extLst>
              <a:ext uri="{FF2B5EF4-FFF2-40B4-BE49-F238E27FC236}">
                <a16:creationId xmlns:a16="http://schemas.microsoft.com/office/drawing/2014/main" id="{6A727D09-F3BF-F14D-9F51-C43A634205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6F05AC-32BA-934A-9769-FB87BB0051A9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将 </a:t>
            </a:r>
            <a:r>
              <a:rPr kumimoji="1" lang="en-US" altLang="zh-CN" dirty="0"/>
              <a:t>operator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&lt;&lt;</a:t>
            </a:r>
            <a:r>
              <a:rPr kumimoji="1" lang="zh-CN" altLang="en-US" dirty="0"/>
              <a:t> 当做一个函数名看待。</a:t>
            </a:r>
            <a:endParaRPr kumimoji="1" lang="en-US" altLang="zh-CN" dirty="0"/>
          </a:p>
          <a:p>
            <a:r>
              <a:rPr kumimoji="1" lang="zh-CN" altLang="en-US" dirty="0"/>
              <a:t>因为是 非成员函数，需要有  参数（常应用） 、 被作用者（左操作数）、 返回值 。 </a:t>
            </a:r>
            <a:endParaRPr kumimoji="1" lang="en-US" altLang="zh-CN" dirty="0"/>
          </a:p>
          <a:p>
            <a:r>
              <a:rPr kumimoji="1" lang="en-US" altLang="zh-CN" dirty="0" err="1"/>
              <a:t>Cout</a:t>
            </a:r>
            <a:r>
              <a:rPr kumimoji="1" lang="zh-CN" altLang="en-US" dirty="0"/>
              <a:t> 是被作用者，</a:t>
            </a:r>
            <a:r>
              <a:rPr kumimoji="1" lang="en-US" altLang="zh-CN" dirty="0"/>
              <a:t>a</a:t>
            </a:r>
            <a:r>
              <a:rPr kumimoji="1" lang="zh-CN" altLang="en-US" dirty="0"/>
              <a:t>是参数， 返回值是 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ostream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 &amp;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87517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幻灯片图像占位符 1">
            <a:extLst>
              <a:ext uri="{FF2B5EF4-FFF2-40B4-BE49-F238E27FC236}">
                <a16:creationId xmlns:a16="http://schemas.microsoft.com/office/drawing/2014/main" id="{FBA7D02B-D8DA-0F45-B4F4-14EF67AAD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备注占位符 2">
            <a:extLst>
              <a:ext uri="{FF2B5EF4-FFF2-40B4-BE49-F238E27FC236}">
                <a16:creationId xmlns:a16="http://schemas.microsoft.com/office/drawing/2014/main" id="{84FA4351-BFBF-A849-8D34-5E02C140F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/>
              <a:t>&lt;&lt;</a:t>
            </a:r>
            <a:r>
              <a:rPr lang="zh-CN" altLang="en-US"/>
              <a:t> 是限定好的操作符重载方法。 其他操作符的重载，根据功能也有类似形式。 </a:t>
            </a:r>
            <a:endParaRPr lang="en-US" altLang="zh-CN"/>
          </a:p>
          <a:p>
            <a:endParaRPr lang="zh-CN" altLang="en-US"/>
          </a:p>
        </p:txBody>
      </p:sp>
      <p:sp>
        <p:nvSpPr>
          <p:cNvPr id="77827" name="灯片编号占位符 3">
            <a:extLst>
              <a:ext uri="{FF2B5EF4-FFF2-40B4-BE49-F238E27FC236}">
                <a16:creationId xmlns:a16="http://schemas.microsoft.com/office/drawing/2014/main" id="{ECC4BCE2-228E-1C4C-8CC7-57AECE4DF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AF2650-1024-F545-B34A-7D1D2FBDC3C1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幻灯片图像占位符 1">
            <a:extLst>
              <a:ext uri="{FF2B5EF4-FFF2-40B4-BE49-F238E27FC236}">
                <a16:creationId xmlns:a16="http://schemas.microsoft.com/office/drawing/2014/main" id="{FBA7D02B-D8DA-0F45-B4F4-14EF67AAD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备注占位符 2">
            <a:extLst>
              <a:ext uri="{FF2B5EF4-FFF2-40B4-BE49-F238E27FC236}">
                <a16:creationId xmlns:a16="http://schemas.microsoft.com/office/drawing/2014/main" id="{84FA4351-BFBF-A849-8D34-5E02C140F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 dirty="0"/>
              <a:t>&lt;&lt;</a:t>
            </a:r>
            <a:r>
              <a:rPr lang="zh-CN" altLang="en-US" dirty="0"/>
              <a:t> 是限定好的操作符重载方法。 其他操作符的重载，根据功能也有类似形式。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#include &lt;iostream&gt;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using namespace std;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class Complex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复数类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public:</a:t>
            </a: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Complex(</a:t>
            </a:r>
            <a:r>
              <a:rPr kumimoji="1" lang="fr-FR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double r = 0.0, double i = 0.0) :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real(r),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构造函数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friend Complex operator +(const Complex &amp;c1, const Complex &amp;c2);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friend Complex operator -(const Complex &amp;c1, const Complex &amp;c2);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运算符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&lt;&lt;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重载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friend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ostream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&amp; operator &lt;&lt;(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ostream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&amp;out, const Complex &amp;c);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private: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double real;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实部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double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虚部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operator 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Complex &amp;c1, const Complex &amp;c2) 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Complex(c1.real + c2.real, c1.imag + c2.imag);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operator -(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Complex &amp;c1, const Complex &amp;c2) {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Complex(c1.real - c2.real, c1.imag - c2.imag);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//Q: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理解第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个参数的来源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? ...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ostream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&amp; operator &lt;&lt;(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ostream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&amp;out,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const Complex &amp;c) {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out &lt;&lt; "("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c.real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", 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c.imag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")";</a:t>
            </a: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out;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int main() {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Complex c1(5, 4), c2(2, 10), c3;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"c1 = " &lt;&lt; c1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&lt;&lt; "c2 = " &lt;&lt; c2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-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c2;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使用重载运算符完成复数减法</a:t>
            </a: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 &lt;&lt; "c3 = c1 - c2 = " &lt;&lt; c3 &lt;&lt; endl;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+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c2;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使用重载运算符完成复数加法</a:t>
            </a: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cout &lt;&lt; "c3 = c1 + c2 = " &lt;&lt; c3 &lt;&lt; endl;</a:t>
            </a: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return 0;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}</a:t>
            </a:r>
          </a:p>
          <a:p>
            <a:endParaRPr lang="zh-CN" altLang="en-US" dirty="0"/>
          </a:p>
        </p:txBody>
      </p:sp>
      <p:sp>
        <p:nvSpPr>
          <p:cNvPr id="77827" name="灯片编号占位符 3">
            <a:extLst>
              <a:ext uri="{FF2B5EF4-FFF2-40B4-BE49-F238E27FC236}">
                <a16:creationId xmlns:a16="http://schemas.microsoft.com/office/drawing/2014/main" id="{ECC4BCE2-228E-1C4C-8CC7-57AECE4DF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AF2650-1024-F545-B34A-7D1D2FBDC3C1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532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7F2607A3-F1BE-4A25-B299-97AFEB1FFB62}"/>
              </a:ext>
            </a:extLst>
          </p:cNvPr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9AF04BF-0727-495F-A094-608DA21B68DA}"/>
              </a:ext>
            </a:extLst>
          </p:cNvPr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4515F67-C18F-4CB9-B75C-1ECF0FA29872}"/>
              </a:ext>
            </a:extLst>
          </p:cNvPr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02941345-94C4-47EE-8B6E-05F86F564B00}"/>
              </a:ext>
            </a:extLst>
          </p:cNvPr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0980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39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30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8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834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700" indent="-342900">
              <a:buFont typeface="Wingdings" panose="05000000000000000000" pitchFamily="2" charset="2"/>
              <a:buChar char="§"/>
              <a:defRPr sz="2000"/>
            </a:lvl2pPr>
            <a:lvl3pPr marL="1198350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25AC039-18B0-48C6-B4D2-772F65E6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4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911216-E732-4C6D-8C7E-F389B9C2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617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711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6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09828-BCC3-4A72-91C7-FC94E006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48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4BB7B08C-476B-453C-A456-BBBEDE31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98FF996F-5749-4F72-B666-6C9FA04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3DB18C6B-DC8F-4DBC-B85E-ECCDDD73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A67072D-AB20-4646-AE33-0C01DB2B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069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985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E90AF-2658-46E7-816C-557C11F712CF}" type="slidenum">
              <a:rPr lang="en-US" altLang="x-none" smtClean="0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63212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AA6A542-8C54-4F92-A72C-C38D5E72B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DA53405B-1451-435D-9C97-F78756072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A609021-7A44-4C0B-B695-54D9A1F1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E2833-2796-4C43-B7CB-722647790A6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43381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8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802" r:id="rId11"/>
    <p:sldLayoutId id="2147483803" r:id="rId12"/>
    <p:sldLayoutId id="2147483804" r:id="rId13"/>
    <p:sldLayoutId id="2147483805" r:id="rId14"/>
    <p:sldLayoutId id="2147483806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7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4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DE7729-5D2F-46D3-930B-9C449DB6B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229" y="1556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13.</a:t>
            </a:r>
            <a:r>
              <a:rPr lang="zh-CN" altLang="en-US" sz="4800" dirty="0"/>
              <a:t> 面向对象程序设计</a:t>
            </a:r>
            <a:r>
              <a:rPr lang="en-US" altLang="zh-CN" sz="4800" dirty="0"/>
              <a:t>(2)		</a:t>
            </a:r>
            <a:endParaRPr lang="en-US" sz="48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B6E3E072-B471-44F2-A697-E24F42922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2337-1020-4524-86E4-EEB7C364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作用域与可见性</a:t>
            </a:r>
          </a:p>
          <a:p>
            <a:r>
              <a:rPr lang="zh-CN" altLang="en-US" dirty="0"/>
              <a:t>对象生存周期</a:t>
            </a:r>
          </a:p>
          <a:p>
            <a:r>
              <a:rPr lang="zh-CN" altLang="en-US" dirty="0"/>
              <a:t>类的静态成员</a:t>
            </a:r>
          </a:p>
          <a:p>
            <a:r>
              <a:rPr lang="zh-CN" altLang="en-US" dirty="0"/>
              <a:t>共享与保护</a:t>
            </a:r>
          </a:p>
          <a:p>
            <a:r>
              <a:rPr lang="en-US" altLang="zh-CN" dirty="0"/>
              <a:t>string </a:t>
            </a:r>
            <a:r>
              <a:rPr lang="zh-CN" altLang="en-US" dirty="0"/>
              <a:t>类（自学）</a:t>
            </a:r>
            <a:endParaRPr lang="en-US" altLang="zh-CN" dirty="0"/>
          </a:p>
          <a:p>
            <a:r>
              <a:rPr lang="zh-CN" altLang="en-US" dirty="0"/>
              <a:t>运算符重载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843-A20C-4AB5-AAD9-ADFBD68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19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457200" y="1742356"/>
            <a:ext cx="8229600" cy="45132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C00000"/>
                </a:solidFill>
                <a:latin typeface="Consolas" charset="0"/>
              </a:rPr>
              <a:t>作用域</a:t>
            </a:r>
            <a:r>
              <a:rPr lang="zh-CN" altLang="en-US" dirty="0">
                <a:latin typeface="Consolas" charset="0"/>
              </a:rPr>
              <a:t>是一个</a:t>
            </a:r>
            <a:r>
              <a:rPr lang="zh-CN" altLang="en-US" dirty="0">
                <a:highlight>
                  <a:srgbClr val="FFFF00"/>
                </a:highlight>
                <a:latin typeface="Consolas" charset="0"/>
              </a:rPr>
              <a:t>标识符</a:t>
            </a:r>
            <a:r>
              <a:rPr lang="zh-CN" altLang="en-US" dirty="0">
                <a:latin typeface="Consolas" charset="0"/>
              </a:rPr>
              <a:t>在程序正文中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有效</a:t>
            </a:r>
            <a:r>
              <a:rPr lang="zh-CN" altLang="en-US" dirty="0">
                <a:latin typeface="Consolas" charset="0"/>
              </a:rPr>
              <a:t>的区域。</a:t>
            </a:r>
            <a:endParaRPr lang="en-US" altLang="zh-CN" dirty="0">
              <a:latin typeface="Consolas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函数原型</a:t>
            </a:r>
            <a:r>
              <a:rPr lang="zh-CN" altLang="en-US" dirty="0">
                <a:latin typeface="Consolas" charset="0"/>
              </a:rPr>
              <a:t>作用域</a:t>
            </a:r>
            <a:endParaRPr lang="en-US" altLang="zh-CN" dirty="0">
              <a:latin typeface="Consolas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局部作用域</a:t>
            </a:r>
            <a:r>
              <a:rPr lang="en-US" altLang="zh-CN" dirty="0">
                <a:latin typeface="Consolas" charset="0"/>
              </a:rPr>
              <a:t>(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块</a:t>
            </a:r>
            <a:r>
              <a:rPr lang="zh-CN" altLang="en-US" dirty="0">
                <a:latin typeface="Consolas" charset="0"/>
              </a:rPr>
              <a:t>作用域</a:t>
            </a:r>
            <a:r>
              <a:rPr lang="en-US" altLang="zh-CN" dirty="0">
                <a:latin typeface="Consolas" charset="0"/>
              </a:rPr>
              <a:t>),e.g.</a:t>
            </a:r>
            <a:r>
              <a:rPr lang="zh-CN" altLang="en-US" sz="2000" dirty="0">
                <a:latin typeface="Consolas" charset="0"/>
              </a:rPr>
              <a:t>函数体</a:t>
            </a:r>
            <a:endParaRPr lang="en-US" altLang="zh-CN" sz="2000" dirty="0">
              <a:latin typeface="Consolas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类</a:t>
            </a:r>
            <a:r>
              <a:rPr lang="zh-CN" altLang="en-US" dirty="0">
                <a:latin typeface="Consolas" charset="0"/>
              </a:rPr>
              <a:t>作用域</a:t>
            </a:r>
            <a:r>
              <a:rPr lang="en-US" altLang="zh-CN" dirty="0">
                <a:latin typeface="Consolas" charset="0"/>
              </a:rPr>
              <a:t>:e.g.</a:t>
            </a:r>
            <a:r>
              <a:rPr lang="zh-CN" altLang="en-US" sz="2000" dirty="0">
                <a:latin typeface="Consolas" charset="0"/>
              </a:rPr>
              <a:t>函数访问同类对象的</a:t>
            </a:r>
            <a:br>
              <a:rPr lang="en-US" altLang="zh-CN" sz="2000" dirty="0">
                <a:latin typeface="Consolas" charset="0"/>
              </a:rPr>
            </a:br>
            <a:r>
              <a:rPr lang="en-US" altLang="zh-CN" sz="2000" dirty="0">
                <a:latin typeface="Consolas" charset="0"/>
              </a:rPr>
              <a:t>               </a:t>
            </a:r>
            <a:r>
              <a:rPr lang="zh-CN" altLang="en-US" sz="2000" dirty="0">
                <a:latin typeface="Consolas" charset="0"/>
              </a:rPr>
              <a:t>私有成员</a:t>
            </a:r>
            <a:endParaRPr lang="en-US" altLang="zh-CN" sz="2000" dirty="0">
              <a:latin typeface="Consolas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文件</a:t>
            </a:r>
            <a:r>
              <a:rPr lang="zh-CN" altLang="en-US" dirty="0">
                <a:latin typeface="Consolas" charset="0"/>
              </a:rPr>
              <a:t>作用域</a:t>
            </a:r>
            <a:endParaRPr lang="en-US" altLang="zh-CN" dirty="0">
              <a:latin typeface="Consolas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命名空间</a:t>
            </a:r>
            <a:r>
              <a:rPr lang="zh-CN" altLang="en-US" dirty="0">
                <a:latin typeface="Consolas" charset="0"/>
              </a:rPr>
              <a:t>作用域 </a:t>
            </a:r>
            <a:r>
              <a:rPr lang="en-US" altLang="zh-CN" dirty="0">
                <a:latin typeface="Consolas" charset="0"/>
              </a:rPr>
              <a:t>namespace</a:t>
            </a: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FEC4C2D-A6BF-AE48-98E1-5A0AD45A8418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685800" y="795164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1.1 </a:t>
            </a:r>
            <a:r>
              <a:rPr lang="zh-CN" altLang="en-US" dirty="0"/>
              <a:t>作用域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F923114-801F-5882-2105-CCE2BB92451C}"/>
              </a:ext>
            </a:extLst>
          </p:cNvPr>
          <p:cNvGrpSpPr/>
          <p:nvPr/>
        </p:nvGrpSpPr>
        <p:grpSpPr>
          <a:xfrm>
            <a:off x="6367838" y="2894484"/>
            <a:ext cx="2090362" cy="2903935"/>
            <a:chOff x="5724128" y="2780928"/>
            <a:chExt cx="2520280" cy="3096344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CEB2D4D-EDA6-8B48-7D95-E0D73F43ED72}"/>
                </a:ext>
              </a:extLst>
            </p:cNvPr>
            <p:cNvSpPr/>
            <p:nvPr/>
          </p:nvSpPr>
          <p:spPr>
            <a:xfrm>
              <a:off x="5724128" y="2780928"/>
              <a:ext cx="2520280" cy="3096344"/>
            </a:xfrm>
            <a:prstGeom prst="roundRect">
              <a:avLst/>
            </a:prstGeom>
            <a:solidFill>
              <a:srgbClr val="2DA2BF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0EBB112-8BDA-BB61-CEE9-B9FAADE4AB71}"/>
                </a:ext>
              </a:extLst>
            </p:cNvPr>
            <p:cNvSpPr/>
            <p:nvPr/>
          </p:nvSpPr>
          <p:spPr>
            <a:xfrm>
              <a:off x="6012160" y="3068960"/>
              <a:ext cx="1944216" cy="2520280"/>
            </a:xfrm>
            <a:prstGeom prst="roundRect">
              <a:avLst/>
            </a:prstGeom>
            <a:solidFill>
              <a:srgbClr val="DEF5FA">
                <a:lumMod val="90000"/>
              </a:srgbClr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7495F6D-1199-99E8-E630-0E227B5BAAA3}"/>
                </a:ext>
              </a:extLst>
            </p:cNvPr>
            <p:cNvSpPr/>
            <p:nvPr/>
          </p:nvSpPr>
          <p:spPr>
            <a:xfrm>
              <a:off x="6385493" y="3436304"/>
              <a:ext cx="1224136" cy="648072"/>
            </a:xfrm>
            <a:prstGeom prst="roundRect">
              <a:avLst/>
            </a:prstGeom>
            <a:solidFill>
              <a:srgbClr val="7D3C4A">
                <a:lumMod val="20000"/>
                <a:lumOff val="80000"/>
              </a:srgbClr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CDCD316-B985-ADC7-8CAD-8465B29217AC}"/>
                </a:ext>
              </a:extLst>
            </p:cNvPr>
            <p:cNvSpPr/>
            <p:nvPr/>
          </p:nvSpPr>
          <p:spPr>
            <a:xfrm>
              <a:off x="6440805" y="4504258"/>
              <a:ext cx="1224136" cy="648072"/>
            </a:xfrm>
            <a:prstGeom prst="roundRect">
              <a:avLst/>
            </a:prstGeom>
            <a:solidFill>
              <a:srgbClr val="7D3C4A">
                <a:lumMod val="20000"/>
                <a:lumOff val="80000"/>
              </a:srgbClr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934871" y="692696"/>
            <a:ext cx="4643450" cy="1007414"/>
            <a:chOff x="4099255" y="702970"/>
            <a:chExt cx="4643450" cy="1007414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265F454-12D6-6E03-E69A-591E5121A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9255" y="943147"/>
              <a:ext cx="4643450" cy="767237"/>
            </a:xfrm>
            <a:prstGeom prst="rect">
              <a:avLst/>
            </a:prstGeom>
          </p:spPr>
        </p:pic>
        <p:sp>
          <p:nvSpPr>
            <p:cNvPr id="11" name="箭头: 左 24">
              <a:extLst>
                <a:ext uri="{FF2B5EF4-FFF2-40B4-BE49-F238E27FC236}">
                  <a16:creationId xmlns:a16="http://schemas.microsoft.com/office/drawing/2014/main" id="{B6F89990-5C93-4841-93B3-4961A19F5F2E}"/>
                </a:ext>
              </a:extLst>
            </p:cNvPr>
            <p:cNvSpPr/>
            <p:nvPr/>
          </p:nvSpPr>
          <p:spPr>
            <a:xfrm rot="16200000">
              <a:off x="7611556" y="863541"/>
              <a:ext cx="471165" cy="170571"/>
            </a:xfrm>
            <a:prstGeom prst="lef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箭头: 左 33">
              <a:extLst>
                <a:ext uri="{FF2B5EF4-FFF2-40B4-BE49-F238E27FC236}">
                  <a16:creationId xmlns:a16="http://schemas.microsoft.com/office/drawing/2014/main" id="{0C84E9DA-722B-4734-B71A-48AB3F5EE601}"/>
                </a:ext>
              </a:extLst>
            </p:cNvPr>
            <p:cNvSpPr/>
            <p:nvPr/>
          </p:nvSpPr>
          <p:spPr>
            <a:xfrm rot="16200000">
              <a:off x="7387259" y="841591"/>
              <a:ext cx="481439" cy="204198"/>
            </a:xfrm>
            <a:prstGeom prst="leftArrow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611560" y="1426502"/>
            <a:ext cx="7499176" cy="45259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函数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原型声明中的参数</a:t>
            </a:r>
            <a:r>
              <a:rPr lang="zh-CN" altLang="en-US" dirty="0">
                <a:latin typeface="Consolas" charset="0"/>
              </a:rPr>
              <a:t>，</a:t>
            </a:r>
            <a:r>
              <a:rPr lang="zh-CN" altLang="en-US" sz="2400" dirty="0">
                <a:latin typeface="Consolas" charset="0"/>
              </a:rPr>
              <a:t>其作用域始于</a:t>
            </a:r>
            <a:r>
              <a:rPr lang="en-US" altLang="zh-CN" sz="2400" dirty="0">
                <a:latin typeface="Consolas" charset="0"/>
              </a:rPr>
              <a:t>"</a:t>
            </a:r>
            <a:r>
              <a:rPr lang="en-US" altLang="zh-CN" sz="2400" dirty="0">
                <a:solidFill>
                  <a:srgbClr val="C00000"/>
                </a:solidFill>
                <a:latin typeface="Consolas" charset="0"/>
              </a:rPr>
              <a:t>(</a:t>
            </a:r>
            <a:r>
              <a:rPr lang="en-US" altLang="zh-CN" sz="2400" dirty="0">
                <a:latin typeface="Consolas" charset="0"/>
              </a:rPr>
              <a:t>"</a:t>
            </a:r>
            <a:r>
              <a:rPr lang="zh-CN" altLang="en-US" sz="2400" dirty="0">
                <a:latin typeface="Consolas" charset="0"/>
              </a:rPr>
              <a:t>，结束于</a:t>
            </a:r>
            <a:r>
              <a:rPr lang="en-US" altLang="zh-CN" sz="2400" dirty="0">
                <a:latin typeface="Consolas" charset="0"/>
              </a:rPr>
              <a:t>"</a:t>
            </a:r>
            <a:r>
              <a:rPr lang="en-US" altLang="zh-CN" sz="2400" dirty="0">
                <a:solidFill>
                  <a:srgbClr val="C00000"/>
                </a:solidFill>
                <a:latin typeface="Consolas" charset="0"/>
              </a:rPr>
              <a:t>)</a:t>
            </a:r>
            <a:r>
              <a:rPr lang="en-US" altLang="zh-CN" sz="2400" dirty="0">
                <a:latin typeface="Consolas" charset="0"/>
              </a:rPr>
              <a:t>"</a:t>
            </a:r>
            <a:r>
              <a:rPr lang="zh-CN" altLang="en-US" sz="2400" dirty="0">
                <a:latin typeface="Consolas" charset="0"/>
              </a:rPr>
              <a:t>。</a:t>
            </a:r>
            <a:endParaRPr lang="en-US" altLang="zh-CN" dirty="0">
              <a:latin typeface="Consolas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例如，设有下列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原型声明</a:t>
            </a:r>
            <a:r>
              <a:rPr lang="zh-CN" altLang="en-US" dirty="0">
                <a:latin typeface="Consolas" charset="0"/>
              </a:rPr>
              <a:t>：</a:t>
            </a:r>
          </a:p>
          <a:p>
            <a:pPr lvl="1" eaLnBrk="1" hangingPunct="1">
              <a:lnSpc>
                <a:spcPct val="150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double area</a:t>
            </a:r>
            <a:r>
              <a:rPr lang="en-US" altLang="zh-CN" dirty="0">
                <a:solidFill>
                  <a:srgbClr val="C00000"/>
                </a:solidFill>
                <a:latin typeface="Consolas" charset="0"/>
              </a:rPr>
              <a:t>(</a:t>
            </a:r>
            <a:r>
              <a:rPr lang="en-US" altLang="zh-CN" dirty="0">
                <a:latin typeface="Consolas" charset="0"/>
              </a:rPr>
              <a:t>double </a:t>
            </a:r>
            <a:r>
              <a:rPr lang="en-US" altLang="zh-CN" dirty="0">
                <a:solidFill>
                  <a:srgbClr val="0070C0"/>
                </a:solidFill>
                <a:latin typeface="Consolas" charset="0"/>
              </a:rPr>
              <a:t>radius</a:t>
            </a:r>
            <a:r>
              <a:rPr lang="en-US" altLang="zh-CN" dirty="0">
                <a:solidFill>
                  <a:srgbClr val="C00000"/>
                </a:solidFill>
                <a:latin typeface="Consolas" charset="0"/>
              </a:rPr>
              <a:t>)</a:t>
            </a:r>
            <a:r>
              <a:rPr lang="en-US" altLang="zh-CN" dirty="0">
                <a:latin typeface="Consolas" charset="0"/>
              </a:rPr>
              <a:t>;</a:t>
            </a: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F082664-1B35-AA4A-91EA-F888068C7A2E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586503" y="488802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latin typeface="Consolas" pitchFamily="49" charset="0"/>
              </a:rPr>
              <a:t>函数原形的作用域</a:t>
            </a:r>
            <a:endParaRPr lang="zh-CN" altLang="en-US" dirty="0"/>
          </a:p>
        </p:txBody>
      </p:sp>
      <p:sp>
        <p:nvSpPr>
          <p:cNvPr id="17413" name="AutoShape 4"/>
          <p:cNvSpPr>
            <a:spLocks/>
          </p:cNvSpPr>
          <p:nvPr/>
        </p:nvSpPr>
        <p:spPr bwMode="auto">
          <a:xfrm rot="-5400000">
            <a:off x="4305501" y="3021540"/>
            <a:ext cx="258762" cy="2174035"/>
          </a:xfrm>
          <a:prstGeom prst="leftBrace">
            <a:avLst>
              <a:gd name="adj1" fmla="val 72711"/>
              <a:gd name="adj2" fmla="val 50000"/>
            </a:avLst>
          </a:prstGeom>
          <a:solidFill>
            <a:srgbClr val="66FFFF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charset="0"/>
              <a:ea typeface="隶书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flipV="1">
            <a:off x="4456561" y="4440150"/>
            <a:ext cx="3733800" cy="1219200"/>
          </a:xfrm>
          <a:prstGeom prst="wedgeRoundRectCallout">
            <a:avLst>
              <a:gd name="adj1" fmla="val -32951"/>
              <a:gd name="adj2" fmla="val 68033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9pPr>
          </a:lstStyle>
          <a:p>
            <a:pPr eaLnBrk="1" hangingPunct="1"/>
            <a:r>
              <a:rPr lang="en-US" altLang="zh-CN" sz="2200" dirty="0">
                <a:latin typeface="Consolas" charset="0"/>
                <a:ea typeface="黑体" charset="-122"/>
              </a:rPr>
              <a:t>radius </a:t>
            </a:r>
            <a:r>
              <a:rPr lang="zh-CN" altLang="zh-CN" sz="2200" dirty="0">
                <a:latin typeface="Consolas" charset="0"/>
                <a:ea typeface="黑体" charset="-122"/>
              </a:rPr>
              <a:t>的作用域仅在于此，不能用于程序正文其</a:t>
            </a:r>
            <a:r>
              <a:rPr lang="zh-CN" altLang="en-US" sz="2200" dirty="0">
                <a:latin typeface="Consolas" charset="0"/>
                <a:ea typeface="黑体" charset="-122"/>
              </a:rPr>
              <a:t>它</a:t>
            </a:r>
            <a:r>
              <a:rPr lang="zh-CN" altLang="zh-CN" sz="2200" dirty="0">
                <a:latin typeface="Consolas" charset="0"/>
                <a:ea typeface="黑体" charset="-122"/>
              </a:rPr>
              <a:t>地方，因而可有可无。</a:t>
            </a:r>
            <a:endParaRPr lang="zh-CN" altLang="en-US" sz="2200" dirty="0">
              <a:latin typeface="Consolas" charset="0"/>
              <a:ea typeface="黑体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C58DD9-C21D-5745-9C44-B52C5A1229A7}"/>
              </a:ext>
            </a:extLst>
          </p:cNvPr>
          <p:cNvSpPr txBox="1"/>
          <p:nvPr/>
        </p:nvSpPr>
        <p:spPr>
          <a:xfrm>
            <a:off x="1115616" y="5714506"/>
            <a:ext cx="4339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注意： 这是声明，不是实现。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67544" y="1437510"/>
            <a:ext cx="7772400" cy="4367753"/>
          </a:xfrm>
        </p:spPr>
        <p:txBody>
          <a:bodyPr>
            <a:normAutofit lnSpcReduction="10000"/>
          </a:bodyPr>
          <a:lstStyle/>
          <a:p>
            <a:pPr eaLnBrk="1" hangingPunct="1">
              <a:spcAft>
                <a:spcPct val="25000"/>
              </a:spcAft>
            </a:pP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函数的形参</a:t>
            </a:r>
            <a:r>
              <a:rPr lang="zh-CN" altLang="en-US" dirty="0">
                <a:latin typeface="Consolas" charset="0"/>
              </a:rPr>
              <a:t>，在块中声明的标识符，其作用域自声明处起，限于块中。</a:t>
            </a:r>
            <a:endParaRPr lang="en-US" altLang="zh-CN" dirty="0">
              <a:latin typeface="Consolas" charset="0"/>
            </a:endParaRPr>
          </a:p>
          <a:p>
            <a:pPr marL="109537" indent="0" eaLnBrk="1" hangingPunct="1">
              <a:spcAft>
                <a:spcPct val="25000"/>
              </a:spcAft>
              <a:buNone/>
            </a:pPr>
            <a:r>
              <a:rPr lang="en-US" altLang="zh-CN" dirty="0">
                <a:latin typeface="Consolas" charset="0"/>
              </a:rPr>
              <a:t> </a:t>
            </a:r>
            <a:r>
              <a:rPr lang="zh-CN" altLang="en-US" dirty="0">
                <a:latin typeface="Consolas" charset="0"/>
              </a:rPr>
              <a:t>例如：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void fun(</a:t>
            </a:r>
            <a:r>
              <a:rPr lang="en-US" altLang="zh-CN" dirty="0">
                <a:solidFill>
                  <a:srgbClr val="FF0000"/>
                </a:solidFill>
                <a:latin typeface="Consolas" charset="0"/>
              </a:rPr>
              <a:t>int</a:t>
            </a:r>
            <a:r>
              <a:rPr lang="en-US" altLang="zh-CN" dirty="0">
                <a:solidFill>
                  <a:schemeClr val="accent6"/>
                </a:solidFill>
                <a:latin typeface="Consolas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charset="0"/>
              </a:rPr>
              <a:t>a</a:t>
            </a:r>
            <a:r>
              <a:rPr lang="en-US" altLang="zh-CN" dirty="0">
                <a:latin typeface="Consolas" charset="0"/>
              </a:rPr>
              <a:t>) {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   </a:t>
            </a:r>
            <a:r>
              <a:rPr lang="en-US" altLang="zh-CN" b="1" dirty="0" err="1">
                <a:solidFill>
                  <a:srgbClr val="0070C0"/>
                </a:solidFill>
                <a:latin typeface="Consolas" charset="0"/>
              </a:rPr>
              <a:t>int</a:t>
            </a:r>
            <a:r>
              <a:rPr lang="en-US" altLang="zh-CN" b="1" dirty="0">
                <a:solidFill>
                  <a:srgbClr val="0070C0"/>
                </a:solidFill>
                <a:latin typeface="Consolas" charset="0"/>
              </a:rPr>
              <a:t> b </a:t>
            </a:r>
            <a:r>
              <a:rPr lang="en-US" altLang="zh-CN" dirty="0">
                <a:latin typeface="Consolas" charset="0"/>
              </a:rPr>
              <a:t>= a;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   </a:t>
            </a:r>
            <a:r>
              <a:rPr lang="en-US" altLang="zh-CN" dirty="0" err="1">
                <a:latin typeface="Consolas" charset="0"/>
              </a:rPr>
              <a:t>cin</a:t>
            </a:r>
            <a:r>
              <a:rPr lang="en-US" altLang="zh-CN" dirty="0">
                <a:latin typeface="Consolas" charset="0"/>
              </a:rPr>
              <a:t> &gt;&gt; b;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   if (b &gt; 0)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   </a:t>
            </a:r>
            <a:r>
              <a:rPr lang="en-US" altLang="zh-CN" b="1" dirty="0">
                <a:solidFill>
                  <a:srgbClr val="00B050"/>
                </a:solidFill>
                <a:latin typeface="Consolas" charset="0"/>
              </a:rPr>
              <a:t>{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     </a:t>
            </a:r>
            <a:r>
              <a:rPr lang="en-US" altLang="zh-CN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charset="0"/>
              </a:rPr>
              <a:t>int c;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endParaRPr lang="en-US" altLang="zh-CN" dirty="0">
              <a:latin typeface="Consolas" charset="0"/>
            </a:endParaRP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     ......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   </a:t>
            </a:r>
            <a:r>
              <a:rPr lang="en-US" altLang="zh-CN" b="1" dirty="0">
                <a:solidFill>
                  <a:srgbClr val="00B050"/>
                </a:solidFill>
                <a:latin typeface="Consolas" charset="0"/>
              </a:rPr>
              <a:t>}</a:t>
            </a: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endParaRPr lang="en-US" altLang="zh-CN" b="1" dirty="0">
              <a:solidFill>
                <a:srgbClr val="009999"/>
              </a:solidFill>
              <a:latin typeface="Consolas" charset="0"/>
            </a:endParaRPr>
          </a:p>
          <a:p>
            <a:pPr lvl="1" eaLnBrk="1" hangingPunct="1">
              <a:lnSpc>
                <a:spcPct val="65000"/>
              </a:lnSpc>
              <a:buFont typeface="Georgia" charset="0"/>
              <a:buNone/>
            </a:pPr>
            <a:r>
              <a:rPr lang="en-US" altLang="zh-CN" dirty="0">
                <a:latin typeface="Consolas" charset="0"/>
              </a:rPr>
              <a:t>}</a:t>
            </a:r>
            <a:endParaRPr lang="zh-CN" altLang="en-US" dirty="0">
              <a:latin typeface="Consolas" charset="0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B5169EF-F4F1-984F-9D58-3A126F30E125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000" dirty="0">
              <a:latin typeface="Times New Roman" charset="0"/>
              <a:ea typeface="隶书" charset="0"/>
            </a:endParaRPr>
          </a:p>
        </p:txBody>
      </p:sp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局部作用域</a:t>
            </a:r>
          </a:p>
        </p:txBody>
      </p:sp>
      <p:grpSp>
        <p:nvGrpSpPr>
          <p:cNvPr id="18438" name="Group 7"/>
          <p:cNvGrpSpPr>
            <a:grpSpLocks/>
          </p:cNvGrpSpPr>
          <p:nvPr/>
        </p:nvGrpSpPr>
        <p:grpSpPr bwMode="auto">
          <a:xfrm>
            <a:off x="3254337" y="4665106"/>
            <a:ext cx="2273300" cy="905006"/>
            <a:chOff x="2440" y="3168"/>
            <a:chExt cx="1432" cy="528"/>
          </a:xfrm>
        </p:grpSpPr>
        <p:sp>
          <p:nvSpPr>
            <p:cNvPr id="18444" name="AutoShape 5"/>
            <p:cNvSpPr>
              <a:spLocks noChangeArrowheads="1"/>
            </p:cNvSpPr>
            <p:nvPr/>
          </p:nvSpPr>
          <p:spPr bwMode="auto">
            <a:xfrm>
              <a:off x="2576" y="3168"/>
              <a:ext cx="1296" cy="384"/>
            </a:xfrm>
            <a:prstGeom prst="cloudCallout">
              <a:avLst>
                <a:gd name="adj1" fmla="val -47493"/>
                <a:gd name="adj2" fmla="val 49790"/>
              </a:avLst>
            </a:prstGeom>
            <a:solidFill>
              <a:srgbClr val="00B050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宋体" charset="-122"/>
                  <a:ea typeface="隶书" charset="0"/>
                </a:rPr>
                <a:t>c</a:t>
              </a:r>
              <a:r>
                <a:rPr lang="zh-CN" altLang="en-US" sz="2400" dirty="0">
                  <a:latin typeface="宋体" charset="-122"/>
                  <a:ea typeface="隶书" charset="0"/>
                </a:rPr>
                <a:t>的作用域</a:t>
              </a:r>
            </a:p>
          </p:txBody>
        </p:sp>
        <p:sp>
          <p:nvSpPr>
            <p:cNvPr id="18445" name="AutoShape 6"/>
            <p:cNvSpPr>
              <a:spLocks/>
            </p:cNvSpPr>
            <p:nvPr/>
          </p:nvSpPr>
          <p:spPr bwMode="auto">
            <a:xfrm>
              <a:off x="2440" y="3168"/>
              <a:ext cx="48" cy="528"/>
            </a:xfrm>
            <a:prstGeom prst="rightBracket">
              <a:avLst>
                <a:gd name="adj" fmla="val 91667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charset="0"/>
                <a:ea typeface="隶书" charset="0"/>
              </a:endParaRPr>
            </a:p>
          </p:txBody>
        </p:sp>
      </p:grpSp>
      <p:sp>
        <p:nvSpPr>
          <p:cNvPr id="18439" name="Freeform 8"/>
          <p:cNvSpPr>
            <a:spLocks/>
          </p:cNvSpPr>
          <p:nvPr/>
        </p:nvSpPr>
        <p:spPr bwMode="auto">
          <a:xfrm>
            <a:off x="1403648" y="3151282"/>
            <a:ext cx="4283968" cy="3158038"/>
          </a:xfrm>
          <a:custGeom>
            <a:avLst/>
            <a:gdLst>
              <a:gd name="T0" fmla="*/ 2147483647 w 2928"/>
              <a:gd name="T1" fmla="*/ 0 h 1632"/>
              <a:gd name="T2" fmla="*/ 2147483647 w 2928"/>
              <a:gd name="T3" fmla="*/ 0 h 1632"/>
              <a:gd name="T4" fmla="*/ 2147483647 w 2928"/>
              <a:gd name="T5" fmla="*/ 2147483647 h 1632"/>
              <a:gd name="T6" fmla="*/ 0 w 2928"/>
              <a:gd name="T7" fmla="*/ 2147483647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950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28575">
            <a:solidFill>
              <a:schemeClr val="accent6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AutoShape 9"/>
          <p:cNvSpPr>
            <a:spLocks noChangeArrowheads="1"/>
          </p:cNvSpPr>
          <p:nvPr/>
        </p:nvSpPr>
        <p:spPr bwMode="auto">
          <a:xfrm>
            <a:off x="6228184" y="2370232"/>
            <a:ext cx="2133600" cy="781050"/>
          </a:xfrm>
          <a:prstGeom prst="cloudCallout">
            <a:avLst>
              <a:gd name="adj1" fmla="val -68005"/>
              <a:gd name="adj2" fmla="val 58796"/>
            </a:avLst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宋体" charset="-122"/>
                <a:ea typeface="隶书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宋体" charset="-122"/>
                <a:ea typeface="隶书" charset="0"/>
              </a:rPr>
              <a:t>的作用域</a:t>
            </a:r>
          </a:p>
        </p:txBody>
      </p:sp>
      <p:grpSp>
        <p:nvGrpSpPr>
          <p:cNvPr id="18441" name="Group 10"/>
          <p:cNvGrpSpPr>
            <a:grpSpLocks/>
          </p:cNvGrpSpPr>
          <p:nvPr/>
        </p:nvGrpSpPr>
        <p:grpSpPr bwMode="auto">
          <a:xfrm>
            <a:off x="1403648" y="3573014"/>
            <a:ext cx="6596836" cy="2736305"/>
            <a:chOff x="960" y="2256"/>
            <a:chExt cx="4329" cy="1632"/>
          </a:xfrm>
        </p:grpSpPr>
        <p:sp>
          <p:nvSpPr>
            <p:cNvPr id="18442" name="Freeform 8"/>
            <p:cNvSpPr>
              <a:spLocks/>
            </p:cNvSpPr>
            <p:nvPr/>
          </p:nvSpPr>
          <p:spPr bwMode="auto">
            <a:xfrm>
              <a:off x="960" y="2256"/>
              <a:ext cx="2715" cy="1632"/>
            </a:xfrm>
            <a:custGeom>
              <a:avLst/>
              <a:gdLst>
                <a:gd name="T0" fmla="*/ 223 w 2928"/>
                <a:gd name="T1" fmla="*/ 0 h 1632"/>
                <a:gd name="T2" fmla="*/ 410 w 2928"/>
                <a:gd name="T3" fmla="*/ 0 h 1632"/>
                <a:gd name="T4" fmla="*/ 410 w 2928"/>
                <a:gd name="T5" fmla="*/ 1632 h 1632"/>
                <a:gd name="T6" fmla="*/ 0 w 2928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8"/>
                <a:gd name="T13" fmla="*/ 0 h 1632"/>
                <a:gd name="T14" fmla="*/ 2928 w 2928"/>
                <a:gd name="T15" fmla="*/ 1632 h 1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8" h="1632">
                  <a:moveTo>
                    <a:pt x="1584" y="0"/>
                  </a:moveTo>
                  <a:lnTo>
                    <a:pt x="2928" y="0"/>
                  </a:lnTo>
                  <a:lnTo>
                    <a:pt x="2928" y="1632"/>
                  </a:lnTo>
                  <a:lnTo>
                    <a:pt x="0" y="1632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AutoShape 9"/>
            <p:cNvSpPr>
              <a:spLocks noChangeArrowheads="1"/>
            </p:cNvSpPr>
            <p:nvPr/>
          </p:nvSpPr>
          <p:spPr bwMode="auto">
            <a:xfrm>
              <a:off x="3945" y="2983"/>
              <a:ext cx="1344" cy="432"/>
            </a:xfrm>
            <a:prstGeom prst="cloudCallout">
              <a:avLst>
                <a:gd name="adj1" fmla="val -76057"/>
                <a:gd name="adj2" fmla="val 87351"/>
              </a:avLst>
            </a:prstGeom>
            <a:solidFill>
              <a:srgbClr val="0070C0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宋体" charset="-122"/>
                  <a:ea typeface="隶书" charset="0"/>
                </a:rPr>
                <a:t>b</a:t>
              </a:r>
              <a:r>
                <a:rPr lang="zh-CN" altLang="en-US" sz="2400" dirty="0">
                  <a:solidFill>
                    <a:schemeClr val="bg1"/>
                  </a:solidFill>
                  <a:latin typeface="宋体" charset="-122"/>
                  <a:ea typeface="隶书" charset="0"/>
                </a:rPr>
                <a:t>的作用域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546747" y="1420192"/>
            <a:ext cx="4546206" cy="496113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Consolas" charset="0"/>
              </a:rPr>
              <a:t>类的成员具有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类作用域</a:t>
            </a:r>
            <a:r>
              <a:rPr lang="zh-CN" altLang="en-US" dirty="0">
                <a:latin typeface="Consolas" charset="0"/>
              </a:rPr>
              <a:t>，其范围包括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类体</a:t>
            </a:r>
            <a:r>
              <a:rPr lang="zh-CN" altLang="en-US" dirty="0">
                <a:latin typeface="Consolas" charset="0"/>
              </a:rPr>
              <a:t>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非内联成员函数</a:t>
            </a:r>
            <a:r>
              <a:rPr lang="zh-CN" altLang="en-US" dirty="0">
                <a:latin typeface="Consolas" charset="0"/>
              </a:rPr>
              <a:t>的函数体。</a:t>
            </a:r>
          </a:p>
          <a:p>
            <a:pPr eaLnBrk="1" hangingPunct="1">
              <a:lnSpc>
                <a:spcPct val="120000"/>
              </a:lnSpc>
              <a:spcBef>
                <a:spcPts val="1800"/>
              </a:spcBef>
            </a:pPr>
            <a:r>
              <a:rPr lang="zh-CN" altLang="en-US" dirty="0">
                <a:latin typeface="Consolas" charset="0"/>
              </a:rPr>
              <a:t>如果在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类作用域以外</a:t>
            </a:r>
            <a:r>
              <a:rPr lang="zh-CN" altLang="en-US" dirty="0">
                <a:latin typeface="Consolas" charset="0"/>
              </a:rPr>
              <a:t>访问类的成员，要通过</a:t>
            </a:r>
            <a:r>
              <a:rPr lang="zh-CN" altLang="en-US" dirty="0">
                <a:highlight>
                  <a:srgbClr val="FFFF00"/>
                </a:highlight>
                <a:latin typeface="Consolas" charset="0"/>
              </a:rPr>
              <a:t>类名</a:t>
            </a:r>
            <a:r>
              <a:rPr lang="zh-CN" altLang="en-US" dirty="0">
                <a:latin typeface="Consolas" charset="0"/>
              </a:rPr>
              <a:t>（访问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静态成员</a:t>
            </a:r>
            <a:r>
              <a:rPr lang="zh-CN" altLang="en-US" dirty="0">
                <a:latin typeface="Consolas" charset="0"/>
              </a:rPr>
              <a:t>），或者该类的</a:t>
            </a:r>
            <a:r>
              <a:rPr lang="zh-CN" altLang="en-US" dirty="0">
                <a:highlight>
                  <a:srgbClr val="FFFF00"/>
                </a:highlight>
                <a:latin typeface="Consolas" charset="0"/>
              </a:rPr>
              <a:t>对象名</a:t>
            </a:r>
            <a:r>
              <a:rPr lang="zh-CN" altLang="en-US" dirty="0">
                <a:latin typeface="Consolas" charset="0"/>
              </a:rPr>
              <a:t>、对象</a:t>
            </a:r>
            <a:r>
              <a:rPr lang="zh-CN" altLang="en-US" dirty="0">
                <a:highlight>
                  <a:srgbClr val="FFFF00"/>
                </a:highlight>
                <a:latin typeface="Consolas" charset="0"/>
              </a:rPr>
              <a:t>引用</a:t>
            </a:r>
            <a:r>
              <a:rPr lang="zh-CN" altLang="en-US" dirty="0">
                <a:latin typeface="Consolas" charset="0"/>
              </a:rPr>
              <a:t>、对象</a:t>
            </a:r>
            <a:r>
              <a:rPr lang="zh-CN" altLang="en-US" dirty="0">
                <a:highlight>
                  <a:srgbClr val="FFFF00"/>
                </a:highlight>
                <a:latin typeface="Consolas" charset="0"/>
              </a:rPr>
              <a:t>指针</a:t>
            </a:r>
            <a:r>
              <a:rPr lang="zh-CN" altLang="en-US" dirty="0">
                <a:latin typeface="Consolas" charset="0"/>
              </a:rPr>
              <a:t>（访问 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非静态成员</a:t>
            </a:r>
            <a:r>
              <a:rPr lang="zh-CN" altLang="en-US" dirty="0">
                <a:latin typeface="Consolas" charset="0"/>
              </a:rPr>
              <a:t>）。</a:t>
            </a:r>
            <a:endParaRPr lang="en-US" altLang="zh-CN" dirty="0">
              <a:latin typeface="Consolas" charset="0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E1DF81-4C43-FE43-B535-2C2A85AD9655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517450" y="435909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highlight>
                  <a:srgbClr val="FFFF00"/>
                </a:highlight>
              </a:rPr>
              <a:t>类</a:t>
            </a:r>
            <a:r>
              <a:rPr lang="zh-CN" altLang="en-US" dirty="0"/>
              <a:t>作用域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CB6658-6029-451D-84A5-511C9B216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9" y="495071"/>
            <a:ext cx="2525530" cy="28118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6F14C3E-0F23-499C-89A1-4F103B045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819044"/>
            <a:ext cx="2601631" cy="2850316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5B10FC8-3001-4920-8824-C391EC73D113}"/>
              </a:ext>
            </a:extLst>
          </p:cNvPr>
          <p:cNvCxnSpPr>
            <a:cxnSpLocks/>
          </p:cNvCxnSpPr>
          <p:nvPr/>
        </p:nvCxnSpPr>
        <p:spPr>
          <a:xfrm flipV="1">
            <a:off x="3131840" y="4653136"/>
            <a:ext cx="2880320" cy="216024"/>
          </a:xfrm>
          <a:prstGeom prst="straightConnector1">
            <a:avLst/>
          </a:prstGeom>
          <a:ln w="28575">
            <a:solidFill>
              <a:srgbClr val="1A9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9592217-B38D-4BB3-A21F-EE2C03E765B3}"/>
              </a:ext>
            </a:extLst>
          </p:cNvPr>
          <p:cNvCxnSpPr>
            <a:cxnSpLocks/>
          </p:cNvCxnSpPr>
          <p:nvPr/>
        </p:nvCxnSpPr>
        <p:spPr>
          <a:xfrm>
            <a:off x="5048250" y="5038725"/>
            <a:ext cx="1000125" cy="952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5852763-21E7-45E0-87A5-34A56CFAF118}"/>
              </a:ext>
            </a:extLst>
          </p:cNvPr>
          <p:cNvCxnSpPr>
            <a:cxnSpLocks/>
          </p:cNvCxnSpPr>
          <p:nvPr/>
        </p:nvCxnSpPr>
        <p:spPr>
          <a:xfrm>
            <a:off x="2555776" y="5571703"/>
            <a:ext cx="3456384" cy="8954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915" y="277193"/>
            <a:ext cx="2601804" cy="3466132"/>
          </a:xfrm>
          <a:prstGeom prst="rect">
            <a:avLst/>
          </a:prstGeom>
        </p:spPr>
      </p:pic>
      <p:sp>
        <p:nvSpPr>
          <p:cNvPr id="14" name="右大括号 13">
            <a:extLst>
              <a:ext uri="{FF2B5EF4-FFF2-40B4-BE49-F238E27FC236}">
                <a16:creationId xmlns:a16="http://schemas.microsoft.com/office/drawing/2014/main" id="{3D6C5023-1558-4DF8-A3B8-16F4BB66F244}"/>
              </a:ext>
            </a:extLst>
          </p:cNvPr>
          <p:cNvSpPr/>
          <p:nvPr/>
        </p:nvSpPr>
        <p:spPr>
          <a:xfrm>
            <a:off x="7871390" y="365611"/>
            <a:ext cx="365291" cy="936104"/>
          </a:xfrm>
          <a:prstGeom prst="rightBrace">
            <a:avLst>
              <a:gd name="adj1" fmla="val 268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394ED0-CC8C-4105-BDD5-5006ED7F329A}"/>
              </a:ext>
            </a:extLst>
          </p:cNvPr>
          <p:cNvSpPr txBox="1"/>
          <p:nvPr/>
        </p:nvSpPr>
        <p:spPr>
          <a:xfrm>
            <a:off x="8316726" y="391372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zh-CN" altLang="en-US" sz="2000" dirty="0"/>
              <a:t>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F2ABD5-078F-4F13-AD5A-0F79BED36E03}"/>
              </a:ext>
            </a:extLst>
          </p:cNvPr>
          <p:cNvSpPr txBox="1"/>
          <p:nvPr/>
        </p:nvSpPr>
        <p:spPr>
          <a:xfrm>
            <a:off x="8316726" y="2594476"/>
            <a:ext cx="4411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函</a:t>
            </a:r>
            <a:endParaRPr lang="en-US" altLang="zh-CN" sz="2000" dirty="0"/>
          </a:p>
          <a:p>
            <a:r>
              <a:rPr lang="zh-CN" altLang="en-US" sz="2000" dirty="0"/>
              <a:t>数</a:t>
            </a:r>
            <a:endParaRPr lang="en-US" altLang="zh-CN" sz="2000" dirty="0"/>
          </a:p>
          <a:p>
            <a:r>
              <a:rPr lang="zh-CN" altLang="en-US" sz="2000" dirty="0"/>
              <a:t>体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3D6C5023-1558-4DF8-A3B8-16F4BB66F244}"/>
              </a:ext>
            </a:extLst>
          </p:cNvPr>
          <p:cNvSpPr/>
          <p:nvPr/>
        </p:nvSpPr>
        <p:spPr>
          <a:xfrm>
            <a:off x="7881005" y="1476528"/>
            <a:ext cx="365291" cy="936104"/>
          </a:xfrm>
          <a:prstGeom prst="rightBrace">
            <a:avLst>
              <a:gd name="adj1" fmla="val 32048"/>
              <a:gd name="adj2" fmla="val 50000"/>
            </a:avLst>
          </a:prstGeom>
          <a:ln w="38100">
            <a:solidFill>
              <a:srgbClr val="1A9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9394ED0-CC8C-4105-BDD5-5006ED7F329A}"/>
              </a:ext>
            </a:extLst>
          </p:cNvPr>
          <p:cNvSpPr txBox="1"/>
          <p:nvPr/>
        </p:nvSpPr>
        <p:spPr>
          <a:xfrm>
            <a:off x="8316726" y="1603231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zh-CN" altLang="en-US" sz="2000" dirty="0"/>
              <a:t>体</a:t>
            </a:r>
          </a:p>
        </p:txBody>
      </p:sp>
      <p:sp>
        <p:nvSpPr>
          <p:cNvPr id="7" name="左箭头 6"/>
          <p:cNvSpPr/>
          <p:nvPr/>
        </p:nvSpPr>
        <p:spPr>
          <a:xfrm>
            <a:off x="7452320" y="2689826"/>
            <a:ext cx="437299" cy="235118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左箭头 18"/>
          <p:cNvSpPr/>
          <p:nvPr/>
        </p:nvSpPr>
        <p:spPr>
          <a:xfrm>
            <a:off x="7454873" y="3265890"/>
            <a:ext cx="437299" cy="235118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633537" y="1844824"/>
            <a:ext cx="3578423" cy="2392166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不在前述各个作用域中出现的声明，就具有（代码）</a:t>
            </a:r>
            <a:r>
              <a:rPr lang="zh-CN" altLang="en-US" sz="2400" dirty="0">
                <a:solidFill>
                  <a:srgbClr val="C00000"/>
                </a:solidFill>
              </a:rPr>
              <a:t>文件作用域</a:t>
            </a:r>
            <a:r>
              <a:rPr lang="zh-CN" altLang="en-US" sz="2400" dirty="0"/>
              <a:t>，这样声明的标识符其作用域开始于声明点，结束于文件尾。</a:t>
            </a:r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C7C11-1216-F24B-A982-EAF2C1987B33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685800" y="754348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70C0"/>
                </a:solidFill>
              </a:rPr>
              <a:t>文件</a:t>
            </a:r>
            <a:r>
              <a:rPr lang="zh-CN" altLang="en-US" dirty="0"/>
              <a:t>作用域</a:t>
            </a:r>
          </a:p>
        </p:txBody>
      </p:sp>
      <p:sp>
        <p:nvSpPr>
          <p:cNvPr id="20487" name="TextBox 6"/>
          <p:cNvSpPr txBox="1">
            <a:spLocks noChangeArrowheads="1"/>
          </p:cNvSpPr>
          <p:nvPr/>
        </p:nvSpPr>
        <p:spPr bwMode="auto">
          <a:xfrm>
            <a:off x="1925390" y="4826648"/>
            <a:ext cx="2214562" cy="1200150"/>
          </a:xfrm>
          <a:prstGeom prst="rect">
            <a:avLst/>
          </a:prstGeom>
          <a:solidFill>
            <a:srgbClr val="017694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Times New Roman" charset="0"/>
                <a:ea typeface="隶书" charset="0"/>
              </a:rPr>
              <a:t>运行结果：</a:t>
            </a:r>
            <a:endParaRPr lang="en-US" altLang="zh-CN" sz="2400">
              <a:solidFill>
                <a:schemeClr val="bg1"/>
              </a:solidFill>
              <a:latin typeface="Times New Roman" charset="0"/>
              <a:ea typeface="隶书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charset="0"/>
                <a:ea typeface="隶书" charset="0"/>
              </a:rPr>
              <a:t>i = 7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charset="0"/>
                <a:ea typeface="隶书" charset="0"/>
              </a:rPr>
              <a:t>i = 5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CFCDA2-130A-4300-9FD9-B40CC60AC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994206"/>
            <a:ext cx="4402832" cy="5014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457200" y="1785938"/>
            <a:ext cx="8507288" cy="2786062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</a:rPr>
              <a:t>可见性</a:t>
            </a:r>
            <a:r>
              <a:rPr lang="zh-CN" altLang="en-US" dirty="0"/>
              <a:t>是从对</a:t>
            </a:r>
            <a:r>
              <a:rPr lang="zh-CN" altLang="en-US" sz="36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标识符的使用</a:t>
            </a:r>
            <a:r>
              <a:rPr lang="zh-CN" altLang="en-US" dirty="0"/>
              <a:t>的角度来谈的概念。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可见性表示</a:t>
            </a:r>
            <a:r>
              <a:rPr lang="zh-CN" altLang="en-US" dirty="0">
                <a:solidFill>
                  <a:srgbClr val="C00000"/>
                </a:solidFill>
              </a:rPr>
              <a:t>从</a:t>
            </a:r>
            <a:r>
              <a:rPr lang="zh-CN" altLang="en-US" dirty="0">
                <a:solidFill>
                  <a:srgbClr val="0070C0"/>
                </a:solidFill>
              </a:rPr>
              <a:t>内层</a:t>
            </a:r>
            <a:r>
              <a:rPr lang="zh-CN" altLang="en-US" dirty="0"/>
              <a:t>作用域</a:t>
            </a:r>
            <a:r>
              <a:rPr lang="zh-CN" altLang="en-US" dirty="0">
                <a:solidFill>
                  <a:srgbClr val="C00000"/>
                </a:solidFill>
              </a:rPr>
              <a:t>向</a:t>
            </a:r>
            <a:r>
              <a:rPr lang="zh-CN" altLang="en-US" dirty="0">
                <a:solidFill>
                  <a:srgbClr val="0070C0"/>
                </a:solidFill>
              </a:rPr>
              <a:t>外层</a:t>
            </a:r>
            <a:r>
              <a:rPr lang="zh-CN" altLang="en-US" dirty="0"/>
              <a:t>作用域“看”时，能看见什么。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如果标识在某处</a:t>
            </a:r>
            <a:r>
              <a:rPr lang="zh-CN" altLang="en-US" b="1" dirty="0">
                <a:solidFill>
                  <a:srgbClr val="C00000"/>
                </a:solidFill>
              </a:rPr>
              <a:t>可见</a:t>
            </a:r>
            <a:r>
              <a:rPr lang="zh-CN" altLang="en-US" dirty="0"/>
              <a:t>，则可以在该处使用此标识符。</a:t>
            </a:r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876256" y="630932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7D4EE8-5697-5049-BE5B-EA05862B05F3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445342" y="735914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1.2 </a:t>
            </a:r>
            <a:r>
              <a:rPr lang="zh-CN" altLang="en-US" dirty="0"/>
              <a:t>可见性</a:t>
            </a:r>
          </a:p>
        </p:txBody>
      </p:sp>
      <p:grpSp>
        <p:nvGrpSpPr>
          <p:cNvPr id="21510" name="Group 10"/>
          <p:cNvGrpSpPr>
            <a:grpSpLocks/>
          </p:cNvGrpSpPr>
          <p:nvPr/>
        </p:nvGrpSpPr>
        <p:grpSpPr bwMode="auto">
          <a:xfrm>
            <a:off x="3059832" y="4365104"/>
            <a:ext cx="3581400" cy="1824038"/>
            <a:chOff x="1776" y="2883"/>
            <a:chExt cx="2256" cy="1149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1776" y="40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112" y="3216"/>
              <a:ext cx="1536" cy="816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2448" y="3504"/>
              <a:ext cx="864" cy="528"/>
            </a:xfrm>
            <a:custGeom>
              <a:avLst/>
              <a:gdLst>
                <a:gd name="T0" fmla="*/ 0 w 864"/>
                <a:gd name="T1" fmla="*/ 528 h 528"/>
                <a:gd name="T2" fmla="*/ 0 w 864"/>
                <a:gd name="T3" fmla="*/ 0 h 528"/>
                <a:gd name="T4" fmla="*/ 864 w 864"/>
                <a:gd name="T5" fmla="*/ 0 h 528"/>
                <a:gd name="T6" fmla="*/ 864 w 864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528"/>
                <a:gd name="T14" fmla="*/ 864 w 864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528">
                  <a:moveTo>
                    <a:pt x="0" y="528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528"/>
                  </a:lnTo>
                </a:path>
              </a:pathLst>
            </a:cu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496" y="364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charset="-122"/>
                  <a:ea typeface="黑体" charset="-122"/>
                </a:rPr>
                <a:t>块作用域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496" y="3244"/>
              <a:ext cx="9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charset="-122"/>
                  <a:ea typeface="黑体" charset="-122"/>
                </a:rPr>
                <a:t>类作用域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250" y="2911"/>
              <a:ext cx="126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charset="-122"/>
                  <a:ea typeface="黑体" charset="-122"/>
                </a:rPr>
                <a:t>命名空间作用域</a:t>
              </a: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547535A-7112-4581-90D4-AD055A3F8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2883"/>
              <a:ext cx="2256" cy="1149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D174C968-6106-4BD9-97C5-4B5C20DDF078}"/>
              </a:ext>
            </a:extLst>
          </p:cNvPr>
          <p:cNvSpPr txBox="1"/>
          <p:nvPr/>
        </p:nvSpPr>
        <p:spPr>
          <a:xfrm>
            <a:off x="1230141" y="524742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“封装”</a:t>
            </a:r>
          </a:p>
        </p:txBody>
      </p:sp>
      <p:pic>
        <p:nvPicPr>
          <p:cNvPr id="13" name="图形 12" descr="眼镜">
            <a:extLst>
              <a:ext uri="{FF2B5EF4-FFF2-40B4-BE49-F238E27FC236}">
                <a16:creationId xmlns:a16="http://schemas.microsoft.com/office/drawing/2014/main" id="{01C67DF0-3A2F-4BFC-A4C9-BA6C3FF6745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0827" y="4466164"/>
            <a:ext cx="914400" cy="9144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1812805-73F6-1BD2-E11E-7F880486D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732" y="3034036"/>
            <a:ext cx="3623918" cy="598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457200" y="1688033"/>
            <a:ext cx="8229600" cy="4429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标识符应声明在</a:t>
            </a:r>
            <a:r>
              <a:rPr lang="zh-CN" altLang="en-US" dirty="0">
                <a:solidFill>
                  <a:srgbClr val="0070C0"/>
                </a:solidFill>
              </a:rPr>
              <a:t>先</a:t>
            </a:r>
            <a:r>
              <a:rPr lang="zh-CN" altLang="en-US" dirty="0"/>
              <a:t>，引</a:t>
            </a:r>
            <a:r>
              <a:rPr lang="en-US" altLang="zh-CN" dirty="0"/>
              <a:t>(</a:t>
            </a:r>
            <a:r>
              <a:rPr lang="zh-CN" altLang="en-US" dirty="0"/>
              <a:t>使</a:t>
            </a:r>
            <a:r>
              <a:rPr lang="en-US" altLang="zh-CN" dirty="0"/>
              <a:t>)</a:t>
            </a:r>
            <a:r>
              <a:rPr lang="zh-CN" altLang="en-US" dirty="0"/>
              <a:t>用在</a:t>
            </a:r>
            <a:r>
              <a:rPr lang="zh-CN" altLang="en-US" dirty="0">
                <a:solidFill>
                  <a:srgbClr val="0070C0"/>
                </a:solidFill>
              </a:rPr>
              <a:t>后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如果某个标识符</a:t>
            </a:r>
            <a:r>
              <a:rPr lang="zh-CN" altLang="en-US" dirty="0">
                <a:solidFill>
                  <a:srgbClr val="0070C0"/>
                </a:solidFill>
              </a:rPr>
              <a:t>在外层中声明</a:t>
            </a:r>
            <a:r>
              <a:rPr lang="zh-CN" altLang="en-US" dirty="0"/>
              <a:t>，且在内层中没有同一标识符的声明，则该标识符</a:t>
            </a:r>
            <a:r>
              <a:rPr lang="zh-CN" altLang="en-US" dirty="0">
                <a:solidFill>
                  <a:srgbClr val="0070C0"/>
                </a:solidFill>
              </a:rPr>
              <a:t>在内层可见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对于两个</a:t>
            </a:r>
            <a:r>
              <a:rPr lang="zh-CN" altLang="en-US" dirty="0">
                <a:solidFill>
                  <a:srgbClr val="0070C0"/>
                </a:solidFill>
              </a:rPr>
              <a:t>嵌套作用域</a:t>
            </a:r>
            <a:r>
              <a:rPr lang="zh-CN" altLang="en-US" dirty="0"/>
              <a:t>，如果在内层作用域内</a:t>
            </a:r>
            <a:r>
              <a:rPr lang="zh-CN" altLang="en-US" dirty="0">
                <a:solidFill>
                  <a:srgbClr val="C00000"/>
                </a:solidFill>
              </a:rPr>
              <a:t>声明</a:t>
            </a:r>
            <a:r>
              <a:rPr lang="zh-CN" altLang="en-US" dirty="0"/>
              <a:t>了与外层作用域中</a:t>
            </a:r>
            <a:r>
              <a:rPr lang="zh-CN" altLang="en-US" dirty="0">
                <a:solidFill>
                  <a:srgbClr val="C00000"/>
                </a:solidFill>
              </a:rPr>
              <a:t>同名</a:t>
            </a:r>
            <a:r>
              <a:rPr lang="zh-CN" altLang="en-US" dirty="0"/>
              <a:t>的标识符，则外层作用域的标识符在内层不可见（有</a:t>
            </a:r>
            <a:r>
              <a:rPr lang="zh-CN" altLang="en-US" dirty="0">
                <a:solidFill>
                  <a:srgbClr val="0070C0"/>
                </a:solidFill>
              </a:rPr>
              <a:t>优先</a:t>
            </a:r>
            <a:r>
              <a:rPr lang="zh-CN" altLang="en-US" dirty="0"/>
              <a:t>级）。</a:t>
            </a: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27BE7A-593C-5540-8383-0515849910C0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685800" y="735532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1.2 </a:t>
            </a:r>
            <a:r>
              <a:rPr lang="zh-CN" altLang="en-US" dirty="0"/>
              <a:t>可见性（续）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860032" y="588632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“单向，就近”原则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/>
              <a:t>同</a:t>
            </a:r>
            <a:r>
              <a:rPr lang="zh-CN" altLang="en-US" sz="2400" dirty="0"/>
              <a:t>一作用域内的</a:t>
            </a:r>
            <a:r>
              <a:rPr lang="zh-CN" altLang="en-US" sz="2400" dirty="0">
                <a:solidFill>
                  <a:srgbClr val="0070C0"/>
                </a:solidFill>
              </a:rPr>
              <a:t>对象</a:t>
            </a:r>
            <a:r>
              <a:rPr lang="en-US" altLang="zh-CN" sz="2400" dirty="0">
                <a:solidFill>
                  <a:srgbClr val="0070C0"/>
                </a:solidFill>
              </a:rPr>
              <a:t>/</a:t>
            </a:r>
            <a:r>
              <a:rPr lang="zh-CN" altLang="en-US" sz="2400" dirty="0">
                <a:solidFill>
                  <a:srgbClr val="0070C0"/>
                </a:solidFill>
              </a:rPr>
              <a:t>变量名、函数名、枚举常量名</a:t>
            </a:r>
            <a:r>
              <a:rPr lang="zh-CN" altLang="en-US" dirty="0"/>
              <a:t>会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000080"/>
                </a:highlight>
              </a:rPr>
              <a:t>隐藏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遮盖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zh-CN" altLang="en-US" dirty="0"/>
              <a:t>同名的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000080"/>
                </a:highlight>
              </a:rPr>
              <a:t>类名</a:t>
            </a:r>
            <a:r>
              <a:rPr lang="zh-CN" altLang="en-US" dirty="0"/>
              <a:t>或枚举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000080"/>
                </a:highlight>
              </a:rPr>
              <a:t>类型名</a:t>
            </a:r>
            <a:r>
              <a:rPr lang="zh-CN" altLang="en-US" dirty="0"/>
              <a:t>。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dirty="0">
                <a:solidFill>
                  <a:srgbClr val="0070C0"/>
                </a:solidFill>
              </a:rPr>
              <a:t>重载</a:t>
            </a:r>
            <a:r>
              <a:rPr lang="zh-CN" altLang="en-US" dirty="0"/>
              <a:t>的函数：</a:t>
            </a:r>
            <a:br>
              <a:rPr lang="en-US" altLang="zh-CN" dirty="0"/>
            </a:br>
            <a:r>
              <a:rPr lang="en-US" altLang="zh-CN" dirty="0"/>
              <a:t>                   </a:t>
            </a:r>
            <a:br>
              <a:rPr lang="en-US" altLang="zh-CN" dirty="0"/>
            </a:br>
            <a:r>
              <a:rPr lang="en-US" altLang="zh-CN" dirty="0"/>
              <a:t>             </a:t>
            </a:r>
            <a:r>
              <a:rPr lang="zh-CN" altLang="en-US" sz="3600" dirty="0"/>
              <a:t>有相同</a:t>
            </a:r>
            <a:br>
              <a:rPr lang="en-US" altLang="zh-CN" dirty="0"/>
            </a:br>
            <a:r>
              <a:rPr lang="en-US" altLang="zh-CN" dirty="0"/>
              <a:t>             </a:t>
            </a:r>
            <a:r>
              <a:rPr lang="zh-CN" altLang="en-US" sz="3600" dirty="0">
                <a:solidFill>
                  <a:srgbClr val="FD0000"/>
                </a:solidFill>
              </a:rPr>
              <a:t>函</a:t>
            </a:r>
            <a:r>
              <a:rPr lang="zh-CN" altLang="en-US" sz="3600" dirty="0">
                <a:solidFill>
                  <a:srgbClr val="013DFD"/>
                </a:solidFill>
              </a:rPr>
              <a:t>数</a:t>
            </a:r>
            <a:r>
              <a:rPr lang="zh-CN" altLang="en-US" sz="3600" dirty="0"/>
              <a:t>名</a:t>
            </a:r>
            <a:endParaRPr lang="zh-CN" altLang="en-US" dirty="0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A3FF0E9-F03F-B146-A878-8A2BEF817417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000" dirty="0">
              <a:latin typeface="Times New Roman" charset="0"/>
              <a:ea typeface="隶书" charset="0"/>
            </a:endParaRPr>
          </a:p>
        </p:txBody>
      </p:sp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652457" y="764704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同一作用域中的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同名</a:t>
            </a:r>
            <a:r>
              <a:rPr lang="zh-CN" altLang="en-US" dirty="0">
                <a:solidFill>
                  <a:srgbClr val="0070C0"/>
                </a:solidFill>
              </a:rPr>
              <a:t>标识符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53C8437-3300-4259-9092-CA62CC336B6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3968" y="3955917"/>
            <a:ext cx="2065412" cy="2065412"/>
          </a:xfrm>
          <a:prstGeom prst="rect">
            <a:avLst/>
          </a:prstGeom>
        </p:spPr>
      </p:pic>
      <p:sp>
        <p:nvSpPr>
          <p:cNvPr id="3" name="左大括号 2">
            <a:extLst>
              <a:ext uri="{FF2B5EF4-FFF2-40B4-BE49-F238E27FC236}">
                <a16:creationId xmlns:a16="http://schemas.microsoft.com/office/drawing/2014/main" id="{F87FA1AB-344A-49AD-B8B2-D33C5CEA011C}"/>
              </a:ext>
            </a:extLst>
          </p:cNvPr>
          <p:cNvSpPr/>
          <p:nvPr/>
        </p:nvSpPr>
        <p:spPr>
          <a:xfrm>
            <a:off x="6660232" y="4221088"/>
            <a:ext cx="432048" cy="1800200"/>
          </a:xfrm>
          <a:prstGeom prst="leftBrace">
            <a:avLst>
              <a:gd name="adj1" fmla="val 27429"/>
              <a:gd name="adj2" fmla="val 50000"/>
            </a:avLst>
          </a:prstGeom>
          <a:ln w="38100">
            <a:solidFill>
              <a:srgbClr val="F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DC4C6DB6-99CD-4DF4-BFA2-F3BEB7AD4D84}"/>
              </a:ext>
            </a:extLst>
          </p:cNvPr>
          <p:cNvSpPr/>
          <p:nvPr/>
        </p:nvSpPr>
        <p:spPr>
          <a:xfrm>
            <a:off x="7547148" y="4221088"/>
            <a:ext cx="432048" cy="1800200"/>
          </a:xfrm>
          <a:prstGeom prst="rightBrace">
            <a:avLst>
              <a:gd name="adj1" fmla="val 32839"/>
              <a:gd name="adj2" fmla="val 50000"/>
            </a:avLst>
          </a:prstGeom>
          <a:ln w="38100">
            <a:solidFill>
              <a:srgbClr val="013D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3347864" y="1790428"/>
            <a:ext cx="4752528" cy="850676"/>
            <a:chOff x="3347864" y="1790428"/>
            <a:chExt cx="4752528" cy="850676"/>
          </a:xfrm>
        </p:grpSpPr>
        <p:sp>
          <p:nvSpPr>
            <p:cNvPr id="5" name="圆角矩形 4"/>
            <p:cNvSpPr/>
            <p:nvPr/>
          </p:nvSpPr>
          <p:spPr bwMode="auto">
            <a:xfrm>
              <a:off x="3347864" y="2137048"/>
              <a:ext cx="4752528" cy="504056"/>
            </a:xfrm>
            <a:prstGeom prst="roundRect">
              <a:avLst>
                <a:gd name="adj" fmla="val 24016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951702" y="1790428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实体名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0C463-7CFD-7248-A298-B256C0D9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  <a:pPr/>
              <a:t>11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6F5A71-E4E3-4745-A44C-5F74F475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692696"/>
            <a:ext cx="4536504" cy="573482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EA697B49-9C74-B7C8-A563-D2ABD22251FE}"/>
              </a:ext>
            </a:extLst>
          </p:cNvPr>
          <p:cNvSpPr/>
          <p:nvPr/>
        </p:nvSpPr>
        <p:spPr bwMode="auto">
          <a:xfrm>
            <a:off x="2208092" y="4118190"/>
            <a:ext cx="504056" cy="216024"/>
          </a:xfrm>
          <a:prstGeom prst="rightArrow">
            <a:avLst/>
          </a:prstGeom>
          <a:solidFill>
            <a:srgbClr val="1A92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690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2337-1020-4524-86E4-EEB7C364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作用域与可见性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对象生存周期</a:t>
            </a:r>
          </a:p>
          <a:p>
            <a:r>
              <a:rPr lang="zh-CN" altLang="en-US" dirty="0"/>
              <a:t>类的静态成员</a:t>
            </a:r>
          </a:p>
          <a:p>
            <a:r>
              <a:rPr lang="zh-CN" altLang="en-US" dirty="0"/>
              <a:t>共享与保护</a:t>
            </a:r>
          </a:p>
          <a:p>
            <a:r>
              <a:rPr lang="en-US" altLang="zh-CN" dirty="0"/>
              <a:t>string </a:t>
            </a:r>
            <a:r>
              <a:rPr lang="zh-CN" altLang="en-US" dirty="0"/>
              <a:t>类（自习）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843-A20C-4AB5-AAD9-ADFBD68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145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447040" y="1651000"/>
            <a:ext cx="8229600" cy="4525962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Georgia" charset="0"/>
              <a:buNone/>
            </a:pPr>
            <a:r>
              <a:rPr lang="zh-CN" altLang="en-US" sz="3200" dirty="0">
                <a:latin typeface="Times New Roman" charset="0"/>
              </a:rPr>
              <a:t>          对象从产生到结束的这段时间就是它的</a:t>
            </a:r>
            <a:r>
              <a:rPr lang="zh-CN" altLang="en-US" sz="3200" dirty="0">
                <a:solidFill>
                  <a:srgbClr val="C00000"/>
                </a:solidFill>
                <a:latin typeface="Times New Roman" charset="0"/>
              </a:rPr>
              <a:t>生存期</a:t>
            </a:r>
            <a:r>
              <a:rPr lang="zh-CN" altLang="en-US" sz="3200" dirty="0">
                <a:latin typeface="Times New Roman" charset="0"/>
              </a:rPr>
              <a:t>。</a:t>
            </a:r>
            <a:r>
              <a:rPr lang="zh-CN" altLang="en-US" sz="3200" dirty="0"/>
              <a:t>在对象生存期内，对象将保持它的值，直到被更新为止。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846E419-368D-4A45-8225-01A97F92F583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000" dirty="0">
              <a:latin typeface="Times New Roman" charset="0"/>
              <a:ea typeface="隶书" charset="0"/>
            </a:endParaRPr>
          </a:p>
        </p:txBody>
      </p:sp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417513" y="508000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 </a:t>
            </a:r>
            <a:r>
              <a:rPr lang="zh-CN" altLang="en-US" dirty="0"/>
              <a:t>对象的</a:t>
            </a:r>
            <a:r>
              <a:rPr lang="zh-CN" altLang="en-US" dirty="0">
                <a:highlight>
                  <a:srgbClr val="FFFF00"/>
                </a:highlight>
              </a:rPr>
              <a:t>生存期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AA52A9-598F-4D00-AF17-0F6D8C282789}"/>
              </a:ext>
            </a:extLst>
          </p:cNvPr>
          <p:cNvSpPr txBox="1"/>
          <p:nvPr/>
        </p:nvSpPr>
        <p:spPr>
          <a:xfrm>
            <a:off x="2004101" y="4791501"/>
            <a:ext cx="1415772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静态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2BB86C-BF10-4FC5-AC40-5447F1C81BF7}"/>
              </a:ext>
            </a:extLst>
          </p:cNvPr>
          <p:cNvSpPr txBox="1"/>
          <p:nvPr/>
        </p:nvSpPr>
        <p:spPr>
          <a:xfrm>
            <a:off x="5724128" y="4791501"/>
            <a:ext cx="1415772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动态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233A614-BAD4-4AA9-90AC-6BC4FA8E560D}"/>
              </a:ext>
            </a:extLst>
          </p:cNvPr>
          <p:cNvSpPr/>
          <p:nvPr/>
        </p:nvSpPr>
        <p:spPr>
          <a:xfrm>
            <a:off x="889228" y="2968077"/>
            <a:ext cx="1296144" cy="576064"/>
          </a:xfrm>
          <a:prstGeom prst="roundRect">
            <a:avLst>
              <a:gd name="adj" fmla="val 20008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DBB82888-6ED3-46EC-B03A-CE8622DAC231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rot="16200000" flipH="1">
            <a:off x="1500963" y="3580477"/>
            <a:ext cx="1247360" cy="1174687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9BAB108A-84FA-4E62-8068-E9C1AD0FA8D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3360977" y="1720464"/>
            <a:ext cx="1247360" cy="4894714"/>
          </a:xfrm>
          <a:prstGeom prst="curvedConnector3">
            <a:avLst>
              <a:gd name="adj1" fmla="val 20348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457200" y="1650207"/>
            <a:ext cx="8229600" cy="45259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这种生存期与程序的运行期相同。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在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文件作用域</a:t>
            </a:r>
            <a:r>
              <a:rPr lang="zh-CN" altLang="en-US" dirty="0">
                <a:latin typeface="Consolas" charset="0"/>
              </a:rPr>
              <a:t>中声明的对象具有这种生存期。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在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函数内部</a:t>
            </a:r>
            <a:r>
              <a:rPr lang="zh-CN" altLang="en-US" dirty="0">
                <a:latin typeface="Consolas" charset="0"/>
              </a:rPr>
              <a:t>声明静态生存期对象，要冠以关键字</a:t>
            </a:r>
            <a:r>
              <a:rPr lang="en-US" altLang="zh-CN" b="1" dirty="0">
                <a:solidFill>
                  <a:srgbClr val="C00000"/>
                </a:solidFill>
                <a:latin typeface="Consolas" charset="0"/>
              </a:rPr>
              <a:t>static</a:t>
            </a:r>
            <a:endParaRPr lang="zh-CN" altLang="en-US" dirty="0">
              <a:latin typeface="Consolas" charset="0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83EC5-6F69-9D43-97AF-C2BAE8DBF10F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457200" y="776833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2.1 </a:t>
            </a:r>
            <a:r>
              <a:rPr lang="zh-CN" altLang="en-US" dirty="0">
                <a:highlight>
                  <a:srgbClr val="FFFF00"/>
                </a:highlight>
              </a:rPr>
              <a:t>静态</a:t>
            </a:r>
            <a:r>
              <a:rPr lang="zh-CN" altLang="en-US" dirty="0"/>
              <a:t>生存期</a:t>
            </a:r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0FB6D672-C1A8-4845-86A1-75CF8874D6B2}"/>
              </a:ext>
            </a:extLst>
          </p:cNvPr>
          <p:cNvGrpSpPr>
            <a:grpSpLocks/>
          </p:cNvGrpSpPr>
          <p:nvPr/>
        </p:nvGrpSpPr>
        <p:grpSpPr bwMode="auto">
          <a:xfrm>
            <a:off x="4499992" y="4077072"/>
            <a:ext cx="3581400" cy="1824038"/>
            <a:chOff x="1776" y="2883"/>
            <a:chExt cx="2256" cy="1149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DEADD7F2-5782-4B4E-AF48-56EA48A5E7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40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AF1CBF4-15BC-4516-B1C9-2F1EB01B2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216"/>
              <a:ext cx="1536" cy="816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ED1092-B470-4B9C-907D-85D670034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504"/>
              <a:ext cx="864" cy="528"/>
            </a:xfrm>
            <a:custGeom>
              <a:avLst/>
              <a:gdLst>
                <a:gd name="T0" fmla="*/ 0 w 864"/>
                <a:gd name="T1" fmla="*/ 528 h 528"/>
                <a:gd name="T2" fmla="*/ 0 w 864"/>
                <a:gd name="T3" fmla="*/ 0 h 528"/>
                <a:gd name="T4" fmla="*/ 864 w 864"/>
                <a:gd name="T5" fmla="*/ 0 h 528"/>
                <a:gd name="T6" fmla="*/ 864 w 864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528"/>
                <a:gd name="T14" fmla="*/ 864 w 864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528">
                  <a:moveTo>
                    <a:pt x="0" y="528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528"/>
                  </a:lnTo>
                </a:path>
              </a:pathLst>
            </a:cu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7B537117-2A73-4B14-8535-CC28C3092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64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charset="-122"/>
                  <a:ea typeface="黑体" charset="-122"/>
                </a:rPr>
                <a:t>块作用域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86264B29-4E03-43D8-B08D-10D5B2EC3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244"/>
              <a:ext cx="9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charset="-122"/>
                  <a:ea typeface="黑体" charset="-122"/>
                </a:rPr>
                <a:t>类作用域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356FDD36-D716-4D84-A452-8754161E3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0" y="2911"/>
              <a:ext cx="126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隶书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charset="-122"/>
                  <a:ea typeface="黑体" charset="-122"/>
                </a:rPr>
                <a:t>命名空间作用域</a:t>
              </a: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704932F6-92F4-4901-B885-0E76CEEFF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2883"/>
              <a:ext cx="2256" cy="1149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3D9C14-2D7F-4E6E-9058-7A85DECA684F}"/>
              </a:ext>
            </a:extLst>
          </p:cNvPr>
          <p:cNvSpPr/>
          <p:nvPr/>
        </p:nvSpPr>
        <p:spPr>
          <a:xfrm>
            <a:off x="899592" y="3855425"/>
            <a:ext cx="1296144" cy="576064"/>
          </a:xfrm>
          <a:prstGeom prst="roundRect">
            <a:avLst>
              <a:gd name="adj" fmla="val 20008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2E8C6955-6110-4D6C-AF83-E3C5A4383B78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195736" y="4143457"/>
            <a:ext cx="3672408" cy="1487896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367240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latin typeface="Consolas" charset="0"/>
              </a:rPr>
              <a:t>块作用域中声明的，没有用</a:t>
            </a:r>
            <a:r>
              <a:rPr lang="en-US" altLang="zh-CN" dirty="0">
                <a:latin typeface="Consolas" charset="0"/>
              </a:rPr>
              <a:t>static</a:t>
            </a:r>
            <a:r>
              <a:rPr lang="zh-CN" altLang="en-US" dirty="0">
                <a:latin typeface="Consolas" charset="0"/>
              </a:rPr>
              <a:t>修饰的对象是</a:t>
            </a:r>
            <a:br>
              <a:rPr lang="en-US" altLang="zh-CN" dirty="0">
                <a:latin typeface="Consolas" charset="0"/>
              </a:rPr>
            </a:b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动态生存期</a:t>
            </a:r>
            <a:r>
              <a:rPr lang="zh-CN" altLang="en-US" dirty="0">
                <a:latin typeface="Consolas" charset="0"/>
              </a:rPr>
              <a:t>的对象（习惯称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局部</a:t>
            </a:r>
            <a:r>
              <a:rPr lang="zh-CN" altLang="en-US" dirty="0">
                <a:latin typeface="Consolas" charset="0"/>
              </a:rPr>
              <a:t>生存期对象）。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开始于</a:t>
            </a:r>
            <a:r>
              <a:rPr lang="zh-CN" altLang="en-US" dirty="0">
                <a:latin typeface="Consolas" charset="0"/>
              </a:rPr>
              <a:t>程序执行到声明点时，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结束于</a:t>
            </a:r>
            <a:r>
              <a:rPr lang="zh-CN" altLang="en-US" dirty="0">
                <a:latin typeface="Consolas" charset="0"/>
              </a:rPr>
              <a:t>命名该标识符的作用域结束处。</a:t>
            </a: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EA38C9E-CC2A-9E45-8139-AAF104D464F8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2.2 </a:t>
            </a:r>
            <a:r>
              <a:rPr lang="zh-CN" altLang="en-US" dirty="0">
                <a:highlight>
                  <a:srgbClr val="FFFF00"/>
                </a:highlight>
              </a:rPr>
              <a:t>动态</a:t>
            </a:r>
            <a:r>
              <a:rPr lang="zh-CN" altLang="en-US" dirty="0"/>
              <a:t>生存期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4ABC7D-8FF6-1149-B49B-2FBBE967DB5E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000" dirty="0">
              <a:latin typeface="Times New Roman" charset="0"/>
              <a:ea typeface="隶书" charset="0"/>
            </a:endParaRPr>
          </a:p>
        </p:txBody>
      </p: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 例</a:t>
            </a:r>
            <a:r>
              <a:rPr lang="en-US" altLang="zh-CN" dirty="0">
                <a:highlight>
                  <a:srgbClr val="000080"/>
                </a:highlight>
              </a:rPr>
              <a:t> </a:t>
            </a:r>
            <a:r>
              <a:rPr lang="zh-CN" altLang="en-US" dirty="0"/>
              <a:t>变量的生存期与可见性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122723-135A-443F-A61F-D98D2841F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" y="1573035"/>
            <a:ext cx="7573435" cy="439613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22848" y="1700808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C/C++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B9F999-A932-9B40-A673-8A12441531A8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811919-B738-4BC8-B729-E5BBAEB0B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4" y="2132856"/>
            <a:ext cx="8027762" cy="3476162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EFF4E2EC-FCC1-BDE1-4312-D58E6584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74" y="105273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 例</a:t>
            </a:r>
            <a:r>
              <a:rPr lang="en-US" altLang="zh-CN" dirty="0">
                <a:highlight>
                  <a:srgbClr val="000080"/>
                </a:highlight>
              </a:rPr>
              <a:t> </a:t>
            </a:r>
            <a:r>
              <a:rPr lang="zh-CN" altLang="en-US" dirty="0"/>
              <a:t>变量的生存期与可见性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0752A1-3D7F-E837-26B4-4514B7EE8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903418"/>
            <a:ext cx="6624736" cy="4318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2337-1020-4524-86E4-EEB7C364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作用域与可见性</a:t>
            </a:r>
          </a:p>
          <a:p>
            <a:r>
              <a:rPr lang="zh-CN" altLang="en-US" dirty="0"/>
              <a:t>对象生存周期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类的静态成员</a:t>
            </a:r>
          </a:p>
          <a:p>
            <a:r>
              <a:rPr lang="zh-CN" altLang="en-US" dirty="0"/>
              <a:t>共享与保护</a:t>
            </a:r>
          </a:p>
          <a:p>
            <a:r>
              <a:rPr lang="en-US" altLang="zh-CN" dirty="0"/>
              <a:t>string </a:t>
            </a:r>
            <a:r>
              <a:rPr lang="zh-CN" altLang="en-US" dirty="0"/>
              <a:t>类（自习）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843-A20C-4AB5-AAD9-ADFBD68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764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611560" y="1988840"/>
            <a:ext cx="7920880" cy="367240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0070C0"/>
                </a:solidFill>
                <a:latin typeface="Consolas" charset="0"/>
              </a:rPr>
              <a:t>静态数据</a:t>
            </a:r>
            <a:r>
              <a:rPr lang="zh-CN" altLang="en-US" dirty="0">
                <a:latin typeface="Consolas" charset="0"/>
              </a:rPr>
              <a:t>成员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用关键字</a:t>
            </a:r>
            <a:r>
              <a:rPr lang="en-US" altLang="zh-CN" sz="3200" dirty="0">
                <a:solidFill>
                  <a:srgbClr val="C00000"/>
                </a:solidFill>
                <a:latin typeface="Consolas" charset="0"/>
              </a:rPr>
              <a:t>static</a:t>
            </a:r>
            <a:r>
              <a:rPr lang="zh-CN" altLang="en-US" dirty="0">
                <a:latin typeface="Consolas" charset="0"/>
              </a:rPr>
              <a:t>声明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为该类的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所有对象共享</a:t>
            </a:r>
            <a:r>
              <a:rPr lang="zh-CN" altLang="en-US" dirty="0">
                <a:latin typeface="Consolas" charset="0"/>
              </a:rPr>
              <a:t>，静态数据成员具有静态生存期。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charset="0"/>
              </a:rPr>
              <a:t>必须在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类外</a:t>
            </a:r>
            <a:r>
              <a:rPr lang="zh-CN" altLang="en-US" dirty="0">
                <a:latin typeface="Consolas" charset="0"/>
              </a:rPr>
              <a:t>定义和初始化，用</a:t>
            </a:r>
            <a:r>
              <a:rPr lang="en-US" altLang="zh-CN" dirty="0">
                <a:latin typeface="Consolas" charset="0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Consolas" charset="0"/>
              </a:rPr>
              <a:t>::</a:t>
            </a:r>
            <a:r>
              <a:rPr lang="en-US" altLang="zh-CN" dirty="0">
                <a:latin typeface="Consolas" charset="0"/>
              </a:rPr>
              <a:t>)</a:t>
            </a:r>
            <a:r>
              <a:rPr lang="zh-CN" altLang="en-US" dirty="0">
                <a:latin typeface="Consolas" charset="0"/>
              </a:rPr>
              <a:t>来指明所属的类。</a:t>
            </a:r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B46919-B43D-ED4A-953F-86532848D92B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611560" y="855327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3.1 </a:t>
            </a:r>
            <a:r>
              <a:rPr lang="zh-CN" altLang="en-US" dirty="0"/>
              <a:t>静态</a:t>
            </a:r>
            <a:r>
              <a:rPr lang="zh-CN" altLang="en-US" dirty="0">
                <a:highlight>
                  <a:srgbClr val="FFFF00"/>
                </a:highlight>
              </a:rPr>
              <a:t>数据</a:t>
            </a:r>
            <a:r>
              <a:rPr lang="zh-CN" altLang="en-US" dirty="0"/>
              <a:t>成员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9482FE-0EE4-454A-A034-E9F2EDC5D4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09" b="71739"/>
          <a:stretch/>
        </p:blipFill>
        <p:spPr>
          <a:xfrm>
            <a:off x="4497760" y="3047228"/>
            <a:ext cx="4265240" cy="576064"/>
          </a:xfrm>
          <a:prstGeom prst="roundRect">
            <a:avLst>
              <a:gd name="adj" fmla="val 3421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C15E89B-F524-49C5-A883-91D6CDD066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2340" r="15936"/>
          <a:stretch/>
        </p:blipFill>
        <p:spPr>
          <a:xfrm>
            <a:off x="4632092" y="1570404"/>
            <a:ext cx="3751868" cy="1299776"/>
          </a:xfrm>
          <a:prstGeom prst="roundRect">
            <a:avLst>
              <a:gd name="adj" fmla="val 3421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sp>
        <p:nvSpPr>
          <p:cNvPr id="2" name="右箭头 1"/>
          <p:cNvSpPr/>
          <p:nvPr/>
        </p:nvSpPr>
        <p:spPr bwMode="auto">
          <a:xfrm>
            <a:off x="5138539" y="1898153"/>
            <a:ext cx="288032" cy="216024"/>
          </a:xfrm>
          <a:prstGeom prst="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cxnSp>
        <p:nvCxnSpPr>
          <p:cNvPr id="4" name="肘形连接符 3"/>
          <p:cNvCxnSpPr>
            <a:stCxn id="6" idx="2"/>
            <a:endCxn id="5" idx="0"/>
          </p:cNvCxnSpPr>
          <p:nvPr/>
        </p:nvCxnSpPr>
        <p:spPr bwMode="auto">
          <a:xfrm rot="16200000" flipH="1">
            <a:off x="6480679" y="2897527"/>
            <a:ext cx="177048" cy="122354"/>
          </a:xfrm>
          <a:prstGeom prst="bentConnector3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左大括号 8">
            <a:extLst>
              <a:ext uri="{FF2B5EF4-FFF2-40B4-BE49-F238E27FC236}">
                <a16:creationId xmlns:a16="http://schemas.microsoft.com/office/drawing/2014/main" id="{33D83806-4CC8-47FD-8182-7D4C0675BBB1}"/>
              </a:ext>
            </a:extLst>
          </p:cNvPr>
          <p:cNvSpPr/>
          <p:nvPr/>
        </p:nvSpPr>
        <p:spPr bwMode="auto">
          <a:xfrm rot="16200000">
            <a:off x="3116775" y="3502558"/>
            <a:ext cx="240273" cy="2303456"/>
          </a:xfrm>
          <a:prstGeom prst="leftBrace">
            <a:avLst>
              <a:gd name="adj1" fmla="val 8503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242EC-CC34-4DED-90AD-D124AC87A8DE}"/>
              </a:ext>
            </a:extLst>
          </p:cNvPr>
          <p:cNvSpPr txBox="1"/>
          <p:nvPr/>
        </p:nvSpPr>
        <p:spPr>
          <a:xfrm>
            <a:off x="2523823" y="4865110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Q: </a:t>
            </a:r>
            <a:r>
              <a:rPr lang="zh-CN" altLang="en-US" dirty="0"/>
              <a:t>此话怎讲？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17BA8B-C448-EF46-9AF8-98DB5062DBF9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657217" y="757556"/>
            <a:ext cx="7772400" cy="947192"/>
          </a:xfrm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highlight>
                  <a:srgbClr val="000080"/>
                </a:highlight>
              </a:rPr>
              <a:t>例</a:t>
            </a:r>
            <a:r>
              <a:rPr lang="en-US" altLang="zh-CN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zh-CN" altLang="en-US" dirty="0"/>
              <a:t>具有静态数据成员的</a:t>
            </a:r>
            <a:r>
              <a:rPr lang="en-US" altLang="zh-CN" dirty="0"/>
              <a:t>Point</a:t>
            </a:r>
            <a:r>
              <a:rPr lang="zh-CN" altLang="en-US" dirty="0"/>
              <a:t>类</a:t>
            </a:r>
          </a:p>
        </p:txBody>
      </p:sp>
      <p:sp>
        <p:nvSpPr>
          <p:cNvPr id="3174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charset="0"/>
              <a:ea typeface="隶书" charset="0"/>
            </a:endParaRPr>
          </a:p>
        </p:txBody>
      </p:sp>
      <p:grpSp>
        <p:nvGrpSpPr>
          <p:cNvPr id="31750" name="Group 3"/>
          <p:cNvGrpSpPr>
            <a:grpSpLocks noChangeAspect="1"/>
          </p:cNvGrpSpPr>
          <p:nvPr/>
        </p:nvGrpSpPr>
        <p:grpSpPr bwMode="auto">
          <a:xfrm>
            <a:off x="1409299" y="1648902"/>
            <a:ext cx="6256338" cy="4800600"/>
            <a:chOff x="0" y="0"/>
            <a:chExt cx="3681" cy="2826"/>
          </a:xfrm>
        </p:grpSpPr>
        <p:sp>
          <p:nvSpPr>
            <p:cNvPr id="31751" name="AutoShape 16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17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charset="0"/>
                <a:ea typeface="隶书" charset="0"/>
              </a:endParaRPr>
            </a:p>
          </p:txBody>
        </p:sp>
        <p:sp>
          <p:nvSpPr>
            <p:cNvPr id="31753" name="Rectangle 14"/>
            <p:cNvSpPr>
              <a:spLocks noChangeArrowheads="1"/>
            </p:cNvSpPr>
            <p:nvPr/>
          </p:nvSpPr>
          <p:spPr bwMode="auto">
            <a:xfrm>
              <a:off x="1344" y="183"/>
              <a:ext cx="5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Point</a:t>
              </a:r>
              <a:endParaRPr kumimoji="0" lang="en-US" altLang="zh-CN" sz="18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1754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17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charset="0"/>
                <a:ea typeface="隶书" charset="0"/>
              </a:endParaRPr>
            </a:p>
          </p:txBody>
        </p:sp>
        <p:sp>
          <p:nvSpPr>
            <p:cNvPr id="31755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17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charset="0"/>
                <a:ea typeface="隶书" charset="0"/>
              </a:endParaRPr>
            </a:p>
          </p:txBody>
        </p:sp>
        <p:sp>
          <p:nvSpPr>
            <p:cNvPr id="31756" name="Rectangle 11"/>
            <p:cNvSpPr>
              <a:spLocks noChangeArrowheads="1"/>
            </p:cNvSpPr>
            <p:nvPr/>
          </p:nvSpPr>
          <p:spPr bwMode="auto">
            <a:xfrm>
              <a:off x="182" y="476"/>
              <a:ext cx="81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-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x : int</a:t>
              </a:r>
              <a:endParaRPr kumimoji="0" lang="en-US" altLang="zh-CN" sz="4800" dirty="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1757" name="Rectangle 10"/>
            <p:cNvSpPr>
              <a:spLocks noChangeArrowheads="1"/>
            </p:cNvSpPr>
            <p:nvPr/>
          </p:nvSpPr>
          <p:spPr bwMode="auto">
            <a:xfrm>
              <a:off x="182" y="716"/>
              <a:ext cx="8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-</a:t>
              </a:r>
              <a:r>
                <a:rPr lang="en-US" altLang="zh-CN" sz="1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y : int</a:t>
              </a:r>
              <a:endParaRPr kumimoji="0" lang="en-US" altLang="zh-CN" sz="4800" dirty="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1759" name="Rectangle 8"/>
            <p:cNvSpPr>
              <a:spLocks noChangeArrowheads="1"/>
            </p:cNvSpPr>
            <p:nvPr/>
          </p:nvSpPr>
          <p:spPr bwMode="auto">
            <a:xfrm>
              <a:off x="182" y="1436"/>
              <a:ext cx="34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Point(xx : int = 0, yy : int = 0)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1760" name="Rectangle 7"/>
            <p:cNvSpPr>
              <a:spLocks noChangeArrowheads="1"/>
            </p:cNvSpPr>
            <p:nvPr/>
          </p:nvSpPr>
          <p:spPr bwMode="auto">
            <a:xfrm>
              <a:off x="182" y="167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getX() : int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1761" name="Rectangle 6"/>
            <p:cNvSpPr>
              <a:spLocks noChangeArrowheads="1"/>
            </p:cNvSpPr>
            <p:nvPr/>
          </p:nvSpPr>
          <p:spPr bwMode="auto">
            <a:xfrm>
              <a:off x="182" y="191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</a:t>
              </a:r>
              <a:r>
                <a:rPr kumimoji="0" lang="en-US" altLang="zh-CN" sz="2400" dirty="0" err="1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getY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() : int</a:t>
              </a:r>
              <a:endParaRPr kumimoji="0" lang="en-US" altLang="zh-CN" sz="2400" dirty="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1762" name="Rectangle 5"/>
            <p:cNvSpPr>
              <a:spLocks noChangeArrowheads="1"/>
            </p:cNvSpPr>
            <p:nvPr/>
          </p:nvSpPr>
          <p:spPr bwMode="auto">
            <a:xfrm>
              <a:off x="182" y="215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Point(p : Point &amp;)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1763" name="Rectangle 4"/>
            <p:cNvSpPr>
              <a:spLocks noChangeArrowheads="1"/>
            </p:cNvSpPr>
            <p:nvPr/>
          </p:nvSpPr>
          <p:spPr bwMode="auto">
            <a:xfrm>
              <a:off x="182" y="239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showCount() : void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AFE5FC8-E19C-7AE1-31E8-6AF8B44D93D1}"/>
              </a:ext>
            </a:extLst>
          </p:cNvPr>
          <p:cNvSpPr txBox="1"/>
          <p:nvPr/>
        </p:nvSpPr>
        <p:spPr>
          <a:xfrm>
            <a:off x="902253" y="3163821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类</a:t>
            </a:r>
            <a:endParaRPr lang="en-US" altLang="zh-CN" dirty="0"/>
          </a:p>
          <a:p>
            <a:r>
              <a:rPr lang="zh-CN" altLang="en-US" dirty="0">
                <a:highlight>
                  <a:srgbClr val="FFFF00"/>
                </a:highlight>
              </a:rPr>
              <a:t>设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计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图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11814610-5715-80E6-E0D7-564AC7301644}"/>
              </a:ext>
            </a:extLst>
          </p:cNvPr>
          <p:cNvSpPr/>
          <p:nvPr/>
        </p:nvSpPr>
        <p:spPr bwMode="auto">
          <a:xfrm>
            <a:off x="1379399" y="1861243"/>
            <a:ext cx="240273" cy="4295047"/>
          </a:xfrm>
          <a:prstGeom prst="leftBrace">
            <a:avLst>
              <a:gd name="adj1" fmla="val 8503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1724362" y="3328685"/>
            <a:ext cx="4382530" cy="3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u="sng" dirty="0">
                <a:solidFill>
                  <a:srgbClr val="000000"/>
                </a:solidFill>
                <a:latin typeface="Consolas" charset="0"/>
                <a:ea typeface="宋体" charset="-122"/>
                <a:cs typeface="Arial" charset="0"/>
              </a:rPr>
              <a:t>&lt;&lt;</a:t>
            </a:r>
            <a:r>
              <a:rPr kumimoji="0" lang="en-US" altLang="zh-CN" sz="2000" b="1" u="sng" dirty="0">
                <a:solidFill>
                  <a:srgbClr val="0070C0"/>
                </a:solidFill>
                <a:latin typeface="Consolas" charset="0"/>
                <a:ea typeface="宋体" charset="-122"/>
                <a:cs typeface="Arial" charset="0"/>
              </a:rPr>
              <a:t>static</a:t>
            </a:r>
            <a:r>
              <a:rPr kumimoji="0" lang="en-US" altLang="zh-CN" sz="2000" u="sng" dirty="0">
                <a:solidFill>
                  <a:srgbClr val="000000"/>
                </a:solidFill>
                <a:latin typeface="Consolas" charset="0"/>
                <a:ea typeface="宋体" charset="-122"/>
                <a:cs typeface="Arial" charset="0"/>
              </a:rPr>
              <a:t>&gt;&gt;-</a:t>
            </a:r>
            <a:r>
              <a:rPr kumimoji="0" lang="en-US" altLang="zh-CN" sz="2400" u="sng" dirty="0">
                <a:solidFill>
                  <a:srgbClr val="000000"/>
                </a:solidFill>
                <a:latin typeface="Consolas" charset="0"/>
                <a:ea typeface="宋体" charset="-122"/>
                <a:cs typeface="Arial" charset="0"/>
              </a:rPr>
              <a:t> count : int = 0</a:t>
            </a:r>
            <a:endParaRPr kumimoji="0" lang="en-US" altLang="zh-CN" sz="2000" dirty="0">
              <a:latin typeface="Consolas" charset="0"/>
              <a:ea typeface="宋体" charset="-122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19256" cy="45259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静态函数成员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类外代码</a:t>
            </a:r>
            <a:r>
              <a:rPr lang="zh-CN" altLang="en-US" dirty="0"/>
              <a:t>可以使用类名和</a:t>
            </a:r>
            <a:r>
              <a:rPr lang="zh-CN" altLang="en-US" dirty="0">
                <a:solidFill>
                  <a:srgbClr val="013DFD"/>
                </a:solidFill>
              </a:rPr>
              <a:t>作用域</a:t>
            </a:r>
            <a:r>
              <a:rPr lang="zh-CN" altLang="en-US" dirty="0"/>
              <a:t>操作符来</a:t>
            </a:r>
            <a:r>
              <a:rPr lang="zh-CN" altLang="en-US" sz="2800" dirty="0">
                <a:solidFill>
                  <a:srgbClr val="0070C0"/>
                </a:solidFill>
              </a:rPr>
              <a:t>调用静态成员函数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静态成员函数</a:t>
            </a:r>
            <a:r>
              <a:rPr lang="zh-CN" altLang="en-US" sz="2800" dirty="0">
                <a:solidFill>
                  <a:srgbClr val="0070C0"/>
                </a:solidFill>
              </a:rPr>
              <a:t>只能直接引用</a:t>
            </a:r>
            <a:r>
              <a:rPr lang="zh-CN" altLang="en-US" dirty="0"/>
              <a:t>属于该类的静态数据成员或静态成员函数。</a:t>
            </a: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EF3B3F8-CA30-304D-8044-928D4B8F1912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3.2 </a:t>
            </a:r>
            <a:r>
              <a:rPr lang="zh-CN" altLang="en-US" dirty="0"/>
              <a:t>静态</a:t>
            </a:r>
            <a:r>
              <a:rPr lang="zh-CN" altLang="en-US" dirty="0">
                <a:highlight>
                  <a:srgbClr val="FFFF00"/>
                </a:highlight>
              </a:rPr>
              <a:t>函数</a:t>
            </a:r>
            <a:r>
              <a:rPr lang="zh-CN" altLang="en-US" dirty="0"/>
              <a:t>成员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256020-3A07-459E-90D2-15A381C2E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067" y="4477230"/>
            <a:ext cx="4399707" cy="1328034"/>
          </a:xfrm>
          <a:prstGeom prst="roundRect">
            <a:avLst>
              <a:gd name="adj" fmla="val 81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3CD9837-F02D-457F-8495-318779F32695}"/>
              </a:ext>
            </a:extLst>
          </p:cNvPr>
          <p:cNvSpPr txBox="1"/>
          <p:nvPr/>
        </p:nvSpPr>
        <p:spPr>
          <a:xfrm>
            <a:off x="1763688" y="5141247"/>
            <a:ext cx="1511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Q: Why ??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89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784D44-5E49-5246-804C-41C61F228FCB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685800" y="666117"/>
            <a:ext cx="7772400" cy="947192"/>
          </a:xfrm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000" dirty="0">
                <a:solidFill>
                  <a:schemeClr val="bg1"/>
                </a:solidFill>
                <a:highlight>
                  <a:srgbClr val="000080"/>
                </a:highlight>
              </a:rPr>
              <a:t> 例 </a:t>
            </a:r>
            <a:r>
              <a:rPr lang="zh-CN" altLang="en-US" sz="3500" dirty="0"/>
              <a:t>具有静态数据、函数成员的</a:t>
            </a:r>
            <a:r>
              <a:rPr lang="en-US" sz="3500" dirty="0">
                <a:ea typeface="方正姚体" pitchFamily="2" charset="-122"/>
              </a:rPr>
              <a:t> </a:t>
            </a:r>
            <a:r>
              <a:rPr lang="en-US" altLang="zh-CN" sz="3500" dirty="0"/>
              <a:t>Point</a:t>
            </a:r>
            <a:r>
              <a:rPr lang="zh-CN" altLang="en-US" sz="3500" dirty="0"/>
              <a:t>类</a:t>
            </a:r>
          </a:p>
        </p:txBody>
      </p:sp>
      <p:sp>
        <p:nvSpPr>
          <p:cNvPr id="3686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charset="0"/>
              <a:ea typeface="隶书" charset="0"/>
            </a:endParaRPr>
          </a:p>
        </p:txBody>
      </p:sp>
      <p:grpSp>
        <p:nvGrpSpPr>
          <p:cNvPr id="36870" name="Group 3"/>
          <p:cNvGrpSpPr>
            <a:grpSpLocks noChangeAspect="1"/>
          </p:cNvGrpSpPr>
          <p:nvPr/>
        </p:nvGrpSpPr>
        <p:grpSpPr bwMode="auto">
          <a:xfrm>
            <a:off x="1115616" y="1458433"/>
            <a:ext cx="6529596" cy="4800600"/>
            <a:chOff x="-143" y="-9"/>
            <a:chExt cx="3841" cy="2826"/>
          </a:xfrm>
        </p:grpSpPr>
        <p:sp>
          <p:nvSpPr>
            <p:cNvPr id="36871" name="AutoShape 16"/>
            <p:cNvSpPr>
              <a:spLocks noChangeAspect="1" noChangeArrowheads="1" noTextEdit="1"/>
            </p:cNvSpPr>
            <p:nvPr/>
          </p:nvSpPr>
          <p:spPr bwMode="auto">
            <a:xfrm>
              <a:off x="-143" y="-9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59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charset="0"/>
                <a:ea typeface="隶书" charset="0"/>
              </a:endParaRPr>
            </a:p>
          </p:txBody>
        </p:sp>
        <p:sp>
          <p:nvSpPr>
            <p:cNvPr id="36873" name="Rectangle 14"/>
            <p:cNvSpPr>
              <a:spLocks noChangeArrowheads="1"/>
            </p:cNvSpPr>
            <p:nvPr/>
          </p:nvSpPr>
          <p:spPr bwMode="auto">
            <a:xfrm>
              <a:off x="1344" y="183"/>
              <a:ext cx="5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Point</a:t>
              </a:r>
              <a:endParaRPr kumimoji="0" lang="en-US" altLang="zh-CN" sz="18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74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59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charset="0"/>
                <a:ea typeface="隶书" charset="0"/>
              </a:endParaRPr>
            </a:p>
          </p:txBody>
        </p:sp>
        <p:sp>
          <p:nvSpPr>
            <p:cNvPr id="36875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59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charset="0"/>
                <a:ea typeface="隶书" charset="0"/>
              </a:endParaRPr>
            </a:p>
          </p:txBody>
        </p:sp>
        <p:sp>
          <p:nvSpPr>
            <p:cNvPr id="36876" name="Rectangle 11"/>
            <p:cNvSpPr>
              <a:spLocks noChangeArrowheads="1"/>
            </p:cNvSpPr>
            <p:nvPr/>
          </p:nvSpPr>
          <p:spPr bwMode="auto">
            <a:xfrm>
              <a:off x="182" y="476"/>
              <a:ext cx="8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-</a:t>
              </a:r>
              <a:r>
                <a:rPr kumimoji="0" lang="en-US" altLang="zh-CN" sz="1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x : </a:t>
              </a:r>
              <a:r>
                <a:rPr kumimoji="0" lang="en-US" altLang="zh-CN" sz="2400" dirty="0" err="1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int</a:t>
              </a:r>
              <a:endParaRPr kumimoji="0" lang="en-US" altLang="zh-CN" sz="4800" dirty="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77" name="Rectangle 10"/>
            <p:cNvSpPr>
              <a:spLocks noChangeArrowheads="1"/>
            </p:cNvSpPr>
            <p:nvPr/>
          </p:nvSpPr>
          <p:spPr bwMode="auto">
            <a:xfrm>
              <a:off x="182" y="716"/>
              <a:ext cx="8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-</a:t>
              </a:r>
              <a:r>
                <a:rPr lang="en-US" altLang="zh-CN" sz="1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y : int</a:t>
              </a:r>
              <a:endParaRPr kumimoji="0" lang="en-US" altLang="zh-CN" sz="4800" dirty="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78" name="Rectangle 9"/>
            <p:cNvSpPr>
              <a:spLocks noChangeArrowheads="1"/>
            </p:cNvSpPr>
            <p:nvPr/>
          </p:nvSpPr>
          <p:spPr bwMode="auto">
            <a:xfrm>
              <a:off x="182" y="978"/>
              <a:ext cx="257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&lt;&lt;</a:t>
              </a:r>
              <a:r>
                <a:rPr kumimoji="0" lang="en-US" altLang="zh-CN" sz="2000" b="1" u="sng" dirty="0">
                  <a:solidFill>
                    <a:srgbClr val="0070C0"/>
                  </a:solidFill>
                  <a:latin typeface="Consolas" charset="0"/>
                  <a:ea typeface="宋体" charset="-122"/>
                  <a:cs typeface="Arial" charset="0"/>
                </a:rPr>
                <a:t>static</a:t>
              </a:r>
              <a:r>
                <a:rPr kumimoji="0" lang="en-US" altLang="zh-CN" sz="2000" u="sng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&gt;&gt;-</a:t>
              </a:r>
              <a:r>
                <a:rPr kumimoji="0" lang="en-US" altLang="zh-CN" sz="2400" u="sng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 count : int = 0</a:t>
              </a:r>
              <a:endParaRPr kumimoji="0" lang="en-US" altLang="zh-CN" sz="2000" dirty="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79" name="Rectangle 8"/>
            <p:cNvSpPr>
              <a:spLocks noChangeArrowheads="1"/>
            </p:cNvSpPr>
            <p:nvPr/>
          </p:nvSpPr>
          <p:spPr bwMode="auto">
            <a:xfrm>
              <a:off x="182" y="1436"/>
              <a:ext cx="34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Point(xx : int = 0, yy : int = 0)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80" name="Rectangle 7"/>
            <p:cNvSpPr>
              <a:spLocks noChangeArrowheads="1"/>
            </p:cNvSpPr>
            <p:nvPr/>
          </p:nvSpPr>
          <p:spPr bwMode="auto">
            <a:xfrm>
              <a:off x="182" y="167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getX() : int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81" name="Rectangle 6"/>
            <p:cNvSpPr>
              <a:spLocks noChangeArrowheads="1"/>
            </p:cNvSpPr>
            <p:nvPr/>
          </p:nvSpPr>
          <p:spPr bwMode="auto">
            <a:xfrm>
              <a:off x="182" y="191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getY() : int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82" name="Rectangle 5"/>
            <p:cNvSpPr>
              <a:spLocks noChangeArrowheads="1"/>
            </p:cNvSpPr>
            <p:nvPr/>
          </p:nvSpPr>
          <p:spPr bwMode="auto">
            <a:xfrm>
              <a:off x="182" y="215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+ Point(p : Point &amp;)</a:t>
              </a:r>
              <a:endParaRPr kumimoji="0" lang="en-US" altLang="zh-CN" sz="2400">
                <a:latin typeface="Consolas" charset="0"/>
                <a:ea typeface="宋体" charset="-122"/>
                <a:cs typeface="Arial" charset="0"/>
              </a:endParaRPr>
            </a:p>
          </p:txBody>
        </p:sp>
        <p:sp>
          <p:nvSpPr>
            <p:cNvPr id="36883" name="Rectangle 4"/>
            <p:cNvSpPr>
              <a:spLocks noChangeArrowheads="1"/>
            </p:cNvSpPr>
            <p:nvPr/>
          </p:nvSpPr>
          <p:spPr bwMode="auto">
            <a:xfrm>
              <a:off x="182" y="2397"/>
              <a:ext cx="2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charset="2"/>
                <a:buChar char=""/>
                <a:defRPr sz="27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charset="0"/>
                <a:buChar char="◦"/>
                <a:defRPr sz="23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charset="2"/>
                <a:buChar char=""/>
                <a:defRPr sz="21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 sz="1900"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charset="2"/>
                <a:buChar char=""/>
                <a:defRPr>
                  <a:solidFill>
                    <a:schemeClr val="tx1"/>
                  </a:solidFill>
                  <a:latin typeface="Lucida Sans Unicode" charset="0"/>
                  <a:ea typeface="黑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&lt;&lt;</a:t>
              </a:r>
              <a:r>
                <a:rPr kumimoji="0" lang="en-US" altLang="zh-CN" sz="2400" b="1" dirty="0">
                  <a:solidFill>
                    <a:srgbClr val="0070C0"/>
                  </a:solidFill>
                  <a:latin typeface="Consolas" charset="0"/>
                  <a:ea typeface="宋体" charset="-122"/>
                  <a:cs typeface="Arial" charset="0"/>
                </a:rPr>
                <a:t>static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&gt;&gt;+ </a:t>
              </a:r>
              <a:r>
                <a:rPr kumimoji="0" lang="en-US" altLang="zh-CN" sz="2400" dirty="0" err="1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showCount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charset="0"/>
                  <a:ea typeface="宋体" charset="-122"/>
                  <a:cs typeface="Arial" charset="0"/>
                </a:rPr>
                <a:t>() : void</a:t>
              </a:r>
              <a:endParaRPr kumimoji="0" lang="en-US" altLang="zh-CN" sz="2400" dirty="0">
                <a:latin typeface="Consolas" charset="0"/>
                <a:ea typeface="宋体" charset="-122"/>
                <a:cs typeface="Arial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E1E47B1-6B78-B2FF-E4D7-10DAAAF53E6F}"/>
              </a:ext>
            </a:extLst>
          </p:cNvPr>
          <p:cNvSpPr txBox="1"/>
          <p:nvPr/>
        </p:nvSpPr>
        <p:spPr>
          <a:xfrm>
            <a:off x="873901" y="2973906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类</a:t>
            </a:r>
            <a:endParaRPr lang="en-US" altLang="zh-CN" dirty="0"/>
          </a:p>
          <a:p>
            <a:r>
              <a:rPr lang="zh-CN" altLang="en-US" dirty="0"/>
              <a:t>设</a:t>
            </a:r>
            <a:endParaRPr lang="en-US" altLang="zh-CN" dirty="0"/>
          </a:p>
          <a:p>
            <a:r>
              <a:rPr lang="zh-CN" altLang="en-US" dirty="0"/>
              <a:t>计</a:t>
            </a:r>
            <a:endParaRPr lang="en-US" altLang="zh-CN" dirty="0"/>
          </a:p>
          <a:p>
            <a:r>
              <a:rPr lang="zh-CN" altLang="en-US" dirty="0"/>
              <a:t>图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DF3D9260-3739-3047-9B71-0C719380950E}"/>
              </a:ext>
            </a:extLst>
          </p:cNvPr>
          <p:cNvSpPr/>
          <p:nvPr/>
        </p:nvSpPr>
        <p:spPr bwMode="auto">
          <a:xfrm>
            <a:off x="1351047" y="1671328"/>
            <a:ext cx="240273" cy="4363473"/>
          </a:xfrm>
          <a:prstGeom prst="leftBrace">
            <a:avLst>
              <a:gd name="adj1" fmla="val 8503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7803051-84D9-49D9-A293-E273B00C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634" y="260648"/>
            <a:ext cx="5779870" cy="6268169"/>
          </a:xfrm>
          <a:prstGeom prst="roundRect">
            <a:avLst>
              <a:gd name="adj" fmla="val 3421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sp>
        <p:nvSpPr>
          <p:cNvPr id="37891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EA5B72-E28C-7E48-B826-1DF62FE6F71D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36869" name="标题 1"/>
          <p:cNvSpPr>
            <a:spLocks noGrp="1"/>
          </p:cNvSpPr>
          <p:nvPr>
            <p:ph type="title" idx="4294967295"/>
          </p:nvPr>
        </p:nvSpPr>
        <p:spPr>
          <a:xfrm>
            <a:off x="5148064" y="2780928"/>
            <a:ext cx="3453779" cy="792163"/>
          </a:xfr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900" dirty="0">
                <a:solidFill>
                  <a:srgbClr val="FFFF00"/>
                </a:solidFill>
              </a:rPr>
              <a:t>例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sz="3200" dirty="0">
                <a:solidFill>
                  <a:schemeClr val="bg1"/>
                </a:solidFill>
              </a:rPr>
              <a:t>静态成员举例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7FC58526-0441-4B94-80F6-1FB8F4C4AFC8}"/>
              </a:ext>
            </a:extLst>
          </p:cNvPr>
          <p:cNvSpPr/>
          <p:nvPr/>
        </p:nvSpPr>
        <p:spPr>
          <a:xfrm>
            <a:off x="2071972" y="5753508"/>
            <a:ext cx="504056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71FBDA3-147A-47A7-8D1B-1404E6B85DF1}"/>
              </a:ext>
            </a:extLst>
          </p:cNvPr>
          <p:cNvSpPr/>
          <p:nvPr/>
        </p:nvSpPr>
        <p:spPr>
          <a:xfrm>
            <a:off x="2046094" y="4440642"/>
            <a:ext cx="504056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1E3255-EB64-E444-BEEF-7AFB1CD69702}" type="slidenum">
              <a:rPr lang="en-US" altLang="zh-CN" sz="100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000">
              <a:latin typeface="Times New Roman" charset="0"/>
              <a:ea typeface="隶书" charset="0"/>
            </a:endParaRPr>
          </a:p>
        </p:txBody>
      </p:sp>
      <p:sp>
        <p:nvSpPr>
          <p:cNvPr id="37893" name="标题 1"/>
          <p:cNvSpPr>
            <a:spLocks noGrp="1"/>
          </p:cNvSpPr>
          <p:nvPr>
            <p:ph type="title"/>
          </p:nvPr>
        </p:nvSpPr>
        <p:spPr>
          <a:xfrm>
            <a:off x="1070347" y="5229036"/>
            <a:ext cx="2088232" cy="1066800"/>
          </a:xfrm>
          <a:solidFill>
            <a:schemeClr val="bg1"/>
          </a:solidFill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 (</a:t>
            </a:r>
            <a:r>
              <a:rPr lang="zh-CN" altLang="en-US" dirty="0"/>
              <a:t>续）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3098AF-59FE-47B4-848E-7C588C883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23" y="1286246"/>
            <a:ext cx="7899814" cy="4086970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C27D2FD3-C3B9-48CD-981C-BA08F5FA8F05}"/>
              </a:ext>
            </a:extLst>
          </p:cNvPr>
          <p:cNvSpPr/>
          <p:nvPr/>
        </p:nvSpPr>
        <p:spPr>
          <a:xfrm>
            <a:off x="1838747" y="986280"/>
            <a:ext cx="216024" cy="428625"/>
          </a:xfrm>
          <a:prstGeom prst="down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E16F45-E9C5-43A2-9BB7-7A50D7547746}"/>
              </a:ext>
            </a:extLst>
          </p:cNvPr>
          <p:cNvSpPr txBox="1"/>
          <p:nvPr/>
        </p:nvSpPr>
        <p:spPr>
          <a:xfrm>
            <a:off x="1043608" y="540089"/>
            <a:ext cx="5652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无论是</a:t>
            </a:r>
            <a:r>
              <a:rPr lang="en-US" altLang="zh-CN" dirty="0"/>
              <a:t>private </a:t>
            </a:r>
            <a:r>
              <a:rPr lang="zh-CN" altLang="en-US" dirty="0"/>
              <a:t>还是</a:t>
            </a:r>
            <a:r>
              <a:rPr lang="en-US" altLang="zh-CN" dirty="0"/>
              <a:t>public </a:t>
            </a:r>
            <a:r>
              <a:rPr lang="zh-CN" altLang="en-US" dirty="0"/>
              <a:t>的静态成员数据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5EF84BB3-2482-413C-80AB-36B46999D77A}"/>
              </a:ext>
            </a:extLst>
          </p:cNvPr>
          <p:cNvSpPr/>
          <p:nvPr/>
        </p:nvSpPr>
        <p:spPr>
          <a:xfrm>
            <a:off x="2555776" y="976711"/>
            <a:ext cx="216024" cy="428625"/>
          </a:xfrm>
          <a:prstGeom prst="down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450DBAD1-D2E6-4DC9-80FB-89844513BBB0}"/>
              </a:ext>
            </a:extLst>
          </p:cNvPr>
          <p:cNvSpPr/>
          <p:nvPr/>
        </p:nvSpPr>
        <p:spPr>
          <a:xfrm>
            <a:off x="1151620" y="986280"/>
            <a:ext cx="216024" cy="428625"/>
          </a:xfrm>
          <a:prstGeom prst="down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5EECA0E-8D11-44CF-870B-F1C800EAA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906" y="4437112"/>
            <a:ext cx="4272134" cy="1677971"/>
          </a:xfrm>
          <a:prstGeom prst="roundRect">
            <a:avLst>
              <a:gd name="adj" fmla="val 6506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sp>
        <p:nvSpPr>
          <p:cNvPr id="3" name="圆角矩形标注 2"/>
          <p:cNvSpPr/>
          <p:nvPr/>
        </p:nvSpPr>
        <p:spPr bwMode="auto">
          <a:xfrm>
            <a:off x="539552" y="2867370"/>
            <a:ext cx="936104" cy="1191312"/>
          </a:xfrm>
          <a:prstGeom prst="wedgeRoundRectCallout">
            <a:avLst>
              <a:gd name="adj1" fmla="val 62524"/>
              <a:gd name="adj2" fmla="val -31142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2" name="圆角矩形标注 11"/>
          <p:cNvSpPr/>
          <p:nvPr/>
        </p:nvSpPr>
        <p:spPr bwMode="auto">
          <a:xfrm>
            <a:off x="539552" y="3151862"/>
            <a:ext cx="936104" cy="1080120"/>
          </a:xfrm>
          <a:prstGeom prst="wedgeRoundRectCallout">
            <a:avLst>
              <a:gd name="adj1" fmla="val 61506"/>
              <a:gd name="adj2" fmla="val 34091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dirty="0">
                <a:latin typeface="Times" panose="02020603050405020304" pitchFamily="18" charset="0"/>
              </a:rPr>
              <a:t>使用类名和域操作符来调用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5D2836-4683-416B-A3D6-31CCDD863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061" y="2371070"/>
            <a:ext cx="6189219" cy="3473025"/>
          </a:xfrm>
        </p:spPr>
        <p:txBody>
          <a:bodyPr/>
          <a:lstStyle/>
          <a:p>
            <a:pPr lvl="1"/>
            <a:r>
              <a:rPr lang="zh-CN" altLang="en-US" dirty="0"/>
              <a:t>静态函</a:t>
            </a:r>
            <a:br>
              <a:rPr lang="en-US" altLang="zh-CN" dirty="0"/>
            </a:br>
            <a:r>
              <a:rPr lang="zh-CN" altLang="en-US" dirty="0"/>
              <a:t>数成员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98F83E-8B16-4DE2-A6A8-1095080D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  <a:pPr/>
              <a:t>25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31F5EF-9566-4FD9-8E1B-9A773485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350422"/>
            <a:ext cx="4876800" cy="46958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994C427-6FC1-4C56-965C-E0F86AFF2F58}"/>
              </a:ext>
            </a:extLst>
          </p:cNvPr>
          <p:cNvSpPr txBox="1"/>
          <p:nvPr/>
        </p:nvSpPr>
        <p:spPr>
          <a:xfrm>
            <a:off x="1835696" y="776579"/>
            <a:ext cx="5812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Stool, </a:t>
            </a:r>
            <a:r>
              <a:rPr lang="zh-CN" altLang="en-US" sz="3200" dirty="0">
                <a:solidFill>
                  <a:srgbClr val="0070C0"/>
                </a:solidFill>
                <a:highlight>
                  <a:srgbClr val="FFFF00"/>
                </a:highlight>
              </a:rPr>
              <a:t>工具</a:t>
            </a:r>
            <a:r>
              <a:rPr lang="zh-CN" altLang="en-US" sz="3200" dirty="0"/>
              <a:t>类</a:t>
            </a:r>
            <a:r>
              <a:rPr lang="en-US" altLang="zh-CN" sz="3200" dirty="0"/>
              <a:t>: </a:t>
            </a:r>
            <a:r>
              <a:rPr lang="zh-CN" altLang="en-US" sz="3200" dirty="0"/>
              <a:t>无需创建对象</a:t>
            </a:r>
            <a:r>
              <a:rPr lang="zh-CN" altLang="en-US" sz="3200" dirty="0">
                <a:solidFill>
                  <a:srgbClr val="C00000"/>
                </a:solidFill>
              </a:rPr>
              <a:t>实例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" name="右箭头 2"/>
          <p:cNvSpPr/>
          <p:nvPr/>
        </p:nvSpPr>
        <p:spPr bwMode="auto">
          <a:xfrm>
            <a:off x="2843808" y="3717032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7" name="右箭头 6"/>
          <p:cNvSpPr/>
          <p:nvPr/>
        </p:nvSpPr>
        <p:spPr bwMode="auto">
          <a:xfrm>
            <a:off x="2843808" y="4290106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9" name="右箭头 8"/>
          <p:cNvSpPr/>
          <p:nvPr/>
        </p:nvSpPr>
        <p:spPr bwMode="auto">
          <a:xfrm>
            <a:off x="2843808" y="5376827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21523" y="3982619"/>
            <a:ext cx="492443" cy="83099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全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是</a:t>
            </a:r>
          </a:p>
        </p:txBody>
      </p:sp>
    </p:spTree>
    <p:extLst>
      <p:ext uri="{BB962C8B-B14F-4D97-AF65-F5344CB8AC3E}">
        <p14:creationId xmlns:p14="http://schemas.microsoft.com/office/powerpoint/2010/main" val="4192501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5D2836-4683-416B-A3D6-31CCDD863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64" y="901862"/>
            <a:ext cx="8229600" cy="4525962"/>
          </a:xfrm>
        </p:spPr>
        <p:txBody>
          <a:bodyPr/>
          <a:lstStyle/>
          <a:p>
            <a:pPr lvl="1"/>
            <a:r>
              <a:rPr lang="zh-CN" altLang="en-US" dirty="0"/>
              <a:t>静态函数成员</a:t>
            </a:r>
            <a:r>
              <a:rPr lang="zh-CN" altLang="en-US" dirty="0">
                <a:highlight>
                  <a:srgbClr val="FFFF00"/>
                </a:highlight>
              </a:rPr>
              <a:t>实现</a:t>
            </a:r>
            <a:endParaRPr lang="en-US" altLang="zh-CN" dirty="0">
              <a:highlight>
                <a:srgbClr val="FFFF00"/>
              </a:highligh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98F83E-8B16-4DE2-A6A8-1095080D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  <a:pPr/>
              <a:t>26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7A210D-47B0-41CA-81E1-F4270960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5" y="1508729"/>
            <a:ext cx="5646149" cy="4512559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64DB1496-EEA2-4403-B84C-2CBC8AC0A397}"/>
              </a:ext>
            </a:extLst>
          </p:cNvPr>
          <p:cNvSpPr/>
          <p:nvPr/>
        </p:nvSpPr>
        <p:spPr>
          <a:xfrm>
            <a:off x="2186146" y="2219053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4E6B7C3-914F-4817-9201-3823D3E50636}"/>
              </a:ext>
            </a:extLst>
          </p:cNvPr>
          <p:cNvSpPr/>
          <p:nvPr/>
        </p:nvSpPr>
        <p:spPr>
          <a:xfrm>
            <a:off x="2214915" y="5531421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29F3D6-2D7D-4EDA-BB51-A4110949135D}"/>
              </a:ext>
            </a:extLst>
          </p:cNvPr>
          <p:cNvSpPr txBox="1"/>
          <p:nvPr/>
        </p:nvSpPr>
        <p:spPr>
          <a:xfrm>
            <a:off x="899592" y="3041944"/>
            <a:ext cx="2016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中函数的</a:t>
            </a:r>
            <a:br>
              <a:rPr lang="en-US" altLang="zh-CN" dirty="0"/>
            </a:br>
            <a:r>
              <a:rPr lang="zh-CN" altLang="en-US" dirty="0"/>
              <a:t>实现代码前，</a:t>
            </a:r>
            <a:endParaRPr lang="en-US" altLang="zh-CN" dirty="0"/>
          </a:p>
          <a:p>
            <a:pPr algn="dist"/>
            <a:r>
              <a:rPr lang="zh-CN" altLang="en-US" dirty="0">
                <a:solidFill>
                  <a:srgbClr val="C00000"/>
                </a:solidFill>
              </a:rPr>
              <a:t>不需写</a:t>
            </a:r>
            <a:r>
              <a:rPr lang="en-US" altLang="zh-CN" dirty="0">
                <a:solidFill>
                  <a:srgbClr val="C00000"/>
                </a:solidFill>
              </a:rPr>
              <a:t>static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224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5D2836-4683-416B-A3D6-31CCDD863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48140"/>
            <a:ext cx="8229600" cy="2368088"/>
          </a:xfrm>
        </p:spPr>
        <p:txBody>
          <a:bodyPr/>
          <a:lstStyle/>
          <a:p>
            <a:pPr lvl="1"/>
            <a:r>
              <a:rPr lang="zh-CN" altLang="en-US" sz="2600" dirty="0"/>
              <a:t>静态函数成员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98F83E-8B16-4DE2-A6A8-1095080D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  <a:pPr/>
              <a:t>27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EFE9F6-D188-43CF-9712-BBF43EFDE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422" y="1481138"/>
            <a:ext cx="4931698" cy="39640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B332E6D-6241-49DD-BA76-A81DD79B377F}"/>
              </a:ext>
            </a:extLst>
          </p:cNvPr>
          <p:cNvSpPr txBox="1"/>
          <p:nvPr/>
        </p:nvSpPr>
        <p:spPr>
          <a:xfrm>
            <a:off x="768569" y="2632184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C00000"/>
                </a:solidFill>
              </a:rPr>
              <a:t>无需实例化对象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70C0"/>
                </a:solidFill>
              </a:rPr>
              <a:t>类名</a:t>
            </a:r>
            <a:r>
              <a:rPr lang="en-US" altLang="zh-CN" dirty="0">
                <a:solidFill>
                  <a:srgbClr val="C00000"/>
                </a:solidFill>
              </a:rPr>
              <a:t>::</a:t>
            </a:r>
            <a:r>
              <a:rPr lang="zh-CN" altLang="en-US" i="1" dirty="0"/>
              <a:t>静态成员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2274187-8830-18AD-82FC-06539F2940C9}"/>
              </a:ext>
            </a:extLst>
          </p:cNvPr>
          <p:cNvCxnSpPr/>
          <p:nvPr/>
        </p:nvCxnSpPr>
        <p:spPr bwMode="auto">
          <a:xfrm>
            <a:off x="4413518" y="2238772"/>
            <a:ext cx="15841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28919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2337-1020-4524-86E4-EEB7C364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作用域与可见性</a:t>
            </a:r>
          </a:p>
          <a:p>
            <a:r>
              <a:rPr lang="zh-CN" altLang="en-US" dirty="0"/>
              <a:t>对象生存周期</a:t>
            </a:r>
          </a:p>
          <a:p>
            <a:r>
              <a:rPr lang="zh-CN" altLang="en-US" dirty="0"/>
              <a:t>类的静态成员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共享与保护</a:t>
            </a:r>
          </a:p>
          <a:p>
            <a:r>
              <a:rPr lang="en-US" altLang="zh-CN" dirty="0"/>
              <a:t>string </a:t>
            </a:r>
            <a:r>
              <a:rPr lang="zh-CN" altLang="en-US" dirty="0"/>
              <a:t>类（自习）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843-A20C-4AB5-AAD9-ADFBD68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598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共享数据的保护</a:t>
            </a: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3B2977-1370-2A40-9F32-0FC0384B6880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47106" name="内容占位符 2"/>
          <p:cNvSpPr>
            <a:spLocks noGrp="1"/>
          </p:cNvSpPr>
          <p:nvPr>
            <p:ph idx="4294967295"/>
          </p:nvPr>
        </p:nvSpPr>
        <p:spPr>
          <a:xfrm>
            <a:off x="652610" y="1426371"/>
            <a:ext cx="8095853" cy="5079118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对于既需要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共享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、又需要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防止改变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的数据应该声明为</a:t>
            </a: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常类型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（用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const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进行修饰）。对于不改变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对象状态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的成员函数应该声明为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常函数</a:t>
            </a:r>
            <a:r>
              <a:rPr lang="zh-CN" altLang="en-US" dirty="0">
                <a:latin typeface="Consolas" charset="0"/>
              </a:rPr>
              <a:t>。</a:t>
            </a:r>
            <a:endParaRPr lang="zh-CN" altLang="en-US" dirty="0">
              <a:solidFill>
                <a:srgbClr val="0070C0"/>
              </a:solidFill>
              <a:latin typeface="Consolas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b="1" dirty="0">
                <a:solidFill>
                  <a:srgbClr val="0070C0"/>
                </a:solidFill>
                <a:latin typeface="Consolas" charset="0"/>
              </a:rPr>
              <a:t>常对象</a:t>
            </a:r>
            <a:r>
              <a:rPr lang="zh-CN" altLang="en-US" dirty="0">
                <a:latin typeface="Consolas" charset="0"/>
              </a:rPr>
              <a:t>：必须进行初始化</a:t>
            </a:r>
            <a:r>
              <a:rPr lang="en-US" altLang="zh-CN" dirty="0">
                <a:latin typeface="Consolas" charset="0"/>
              </a:rPr>
              <a:t>,</a:t>
            </a:r>
            <a:r>
              <a:rPr lang="zh-CN" altLang="en-US" dirty="0">
                <a:latin typeface="Consolas" charset="0"/>
              </a:rPr>
              <a:t>不能被更新。</a:t>
            </a:r>
          </a:p>
          <a:p>
            <a:pPr lvl="2" eaLnBrk="1" hangingPunct="1">
              <a:buFont typeface="Georgia" charset="0"/>
              <a:buNone/>
            </a:pPr>
            <a:r>
              <a:rPr lang="en-US" altLang="zh-CN" sz="1650" dirty="0" err="1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en-US" altLang="zh-CN" sz="1650" dirty="0">
                <a:solidFill>
                  <a:srgbClr val="C00000"/>
                </a:solidFill>
                <a:latin typeface="Consolas" charset="0"/>
              </a:rPr>
              <a:t> </a:t>
            </a:r>
            <a:r>
              <a:rPr lang="zh-CN" altLang="en-US" sz="1650" b="1" dirty="0">
                <a:latin typeface="Consolas" charset="0"/>
              </a:rPr>
              <a:t>类名</a:t>
            </a:r>
            <a:r>
              <a:rPr lang="en-US" altLang="zh-CN" sz="1650" dirty="0">
                <a:latin typeface="Consolas" charset="0"/>
              </a:rPr>
              <a:t> </a:t>
            </a:r>
            <a:r>
              <a:rPr lang="zh-CN" altLang="en-US" sz="1650" dirty="0">
                <a:latin typeface="Consolas" charset="0"/>
              </a:rPr>
              <a:t>对象名，或</a:t>
            </a:r>
            <a:r>
              <a:rPr lang="en-US" altLang="zh-CN" sz="1650" dirty="0">
                <a:latin typeface="Consolas" charset="0"/>
              </a:rPr>
              <a:t> </a:t>
            </a:r>
            <a:r>
              <a:rPr lang="zh-CN" altLang="en-US" sz="1650" b="1" dirty="0">
                <a:latin typeface="Consolas" charset="0"/>
              </a:rPr>
              <a:t>类名</a:t>
            </a:r>
            <a:r>
              <a:rPr lang="en-US" altLang="zh-CN" sz="1650" dirty="0">
                <a:latin typeface="Consolas" charset="0"/>
              </a:rPr>
              <a:t> </a:t>
            </a:r>
            <a:r>
              <a:rPr lang="en-US" altLang="zh-CN" sz="1650" dirty="0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en-US" altLang="zh-CN" sz="1650" dirty="0">
                <a:solidFill>
                  <a:srgbClr val="C00000"/>
                </a:solidFill>
                <a:latin typeface="Consolas" charset="0"/>
              </a:rPr>
              <a:t> </a:t>
            </a:r>
            <a:r>
              <a:rPr lang="zh-CN" altLang="en-US" sz="1650" dirty="0">
                <a:latin typeface="Consolas" charset="0"/>
              </a:rPr>
              <a:t>对象名</a:t>
            </a:r>
            <a:endParaRPr lang="en-US" altLang="zh-CN" sz="1650" dirty="0">
              <a:latin typeface="Consolas" charset="0"/>
            </a:endParaRPr>
          </a:p>
          <a:p>
            <a:pPr lvl="1" eaLnBrk="1" hangingPunct="1"/>
            <a:r>
              <a:rPr lang="zh-CN" altLang="en-US" b="1" dirty="0">
                <a:solidFill>
                  <a:srgbClr val="0070C0"/>
                </a:solidFill>
                <a:latin typeface="Consolas" charset="0"/>
              </a:rPr>
              <a:t>常成员</a:t>
            </a:r>
            <a:r>
              <a:rPr lang="zh-CN" altLang="en-US" b="1" dirty="0">
                <a:latin typeface="Consolas" charset="0"/>
              </a:rPr>
              <a:t>：</a:t>
            </a:r>
            <a:r>
              <a:rPr lang="zh-CN" altLang="en-US" dirty="0">
                <a:latin typeface="Consolas" charset="0"/>
              </a:rPr>
              <a:t>用</a:t>
            </a:r>
            <a:r>
              <a:rPr lang="en-US" altLang="zh-CN" dirty="0" err="1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zh-CN" altLang="en-US" dirty="0">
                <a:latin typeface="Consolas" charset="0"/>
              </a:rPr>
              <a:t>进行修饰的类成员：</a:t>
            </a:r>
            <a:br>
              <a:rPr lang="en-US" altLang="zh-CN" dirty="0">
                <a:latin typeface="Consolas" charset="0"/>
              </a:rPr>
            </a:b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常数据成员</a:t>
            </a:r>
            <a:r>
              <a:rPr lang="zh-CN" altLang="en-US" dirty="0">
                <a:latin typeface="Consolas" charset="0"/>
              </a:rPr>
              <a:t>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常函数成员</a:t>
            </a:r>
          </a:p>
          <a:p>
            <a:pPr lvl="1" eaLnBrk="1" hangingPunct="1"/>
            <a:r>
              <a:rPr lang="zh-CN" altLang="en-US" b="1" dirty="0">
                <a:solidFill>
                  <a:srgbClr val="C00000"/>
                </a:solidFill>
                <a:latin typeface="Consolas" charset="0"/>
              </a:rPr>
              <a:t>常引用</a:t>
            </a:r>
            <a:r>
              <a:rPr lang="zh-CN" altLang="en-US" dirty="0">
                <a:latin typeface="Consolas" charset="0"/>
              </a:rPr>
              <a:t>：被引用的对象不能被更新。</a:t>
            </a:r>
          </a:p>
          <a:p>
            <a:pPr lvl="2" eaLnBrk="1" hangingPunct="1">
              <a:buFont typeface="Georgia" charset="0"/>
              <a:buNone/>
            </a:pPr>
            <a:r>
              <a:rPr lang="en-US" altLang="zh-CN" sz="1650" dirty="0" err="1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en-US" altLang="zh-CN" sz="1650" dirty="0">
                <a:latin typeface="Consolas" charset="0"/>
              </a:rPr>
              <a:t> </a:t>
            </a:r>
            <a:r>
              <a:rPr lang="zh-CN" altLang="en-US" sz="1650" dirty="0">
                <a:latin typeface="Consolas" charset="0"/>
              </a:rPr>
              <a:t>类型说明符 </a:t>
            </a:r>
            <a:r>
              <a:rPr lang="en-US" altLang="zh-CN" sz="1650" dirty="0">
                <a:latin typeface="Consolas" charset="0"/>
              </a:rPr>
              <a:t>&amp;</a:t>
            </a:r>
            <a:r>
              <a:rPr lang="zh-CN" altLang="en-US" sz="1650" dirty="0">
                <a:latin typeface="Consolas" charset="0"/>
              </a:rPr>
              <a:t>引用名</a:t>
            </a:r>
            <a:endParaRPr lang="en-US" altLang="zh-CN" sz="1650" dirty="0">
              <a:latin typeface="Consolas" charset="0"/>
            </a:endParaRPr>
          </a:p>
          <a:p>
            <a:pPr lvl="1" eaLnBrk="1" hangingPunct="1"/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常数组</a:t>
            </a:r>
            <a:r>
              <a:rPr lang="zh-CN" altLang="en-US" i="1" dirty="0">
                <a:latin typeface="Consolas" charset="0"/>
              </a:rPr>
              <a:t>：数组元素不能被更新。</a:t>
            </a:r>
          </a:p>
          <a:p>
            <a:pPr lvl="2" eaLnBrk="1" hangingPunct="1">
              <a:buFont typeface="Georgia" charset="0"/>
              <a:buNone/>
            </a:pPr>
            <a:r>
              <a:rPr lang="zh-CN" altLang="en-US" sz="1650" dirty="0">
                <a:latin typeface="Consolas" charset="0"/>
              </a:rPr>
              <a:t>类型说明符 </a:t>
            </a:r>
            <a:r>
              <a:rPr lang="en-US" altLang="zh-CN" sz="1650" dirty="0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en-US" altLang="zh-CN" sz="1650" dirty="0">
                <a:latin typeface="Consolas" charset="0"/>
              </a:rPr>
              <a:t> </a:t>
            </a:r>
            <a:r>
              <a:rPr lang="zh-CN" altLang="en-US" sz="1650" dirty="0">
                <a:latin typeface="Consolas" charset="0"/>
              </a:rPr>
              <a:t>数组名</a:t>
            </a:r>
            <a:r>
              <a:rPr lang="en-US" altLang="zh-CN" sz="1650" dirty="0">
                <a:latin typeface="Consolas" charset="0"/>
              </a:rPr>
              <a:t>[</a:t>
            </a:r>
            <a:r>
              <a:rPr lang="zh-CN" altLang="en-US" sz="1650" dirty="0">
                <a:latin typeface="Consolas" charset="0"/>
              </a:rPr>
              <a:t>大小</a:t>
            </a:r>
            <a:r>
              <a:rPr lang="en-US" altLang="zh-CN" sz="1650" dirty="0">
                <a:latin typeface="Consolas" charset="0"/>
              </a:rPr>
              <a:t>]...</a:t>
            </a:r>
          </a:p>
          <a:p>
            <a:pPr lvl="1" eaLnBrk="1" hangingPunct="1"/>
            <a:r>
              <a:rPr lang="zh-CN" altLang="en-US" b="1" i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常指针</a:t>
            </a:r>
            <a:r>
              <a:rPr lang="zh-CN" altLang="en-US" i="1" dirty="0">
                <a:latin typeface="Consolas" charset="0"/>
              </a:rPr>
              <a:t>：指向常量的指针。</a:t>
            </a:r>
            <a:endParaRPr lang="zh-CN" altLang="en-US" dirty="0">
              <a:latin typeface="Consolas" charset="0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303736" y="857251"/>
            <a:ext cx="5411390" cy="321469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/>
          <a:p>
            <a:pPr>
              <a:defRPr/>
            </a:pPr>
            <a:endParaRPr lang="zh-CN" altLang="en-US" sz="21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F45437-94F3-49D8-9256-44C9C0C4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920" y="3967756"/>
            <a:ext cx="1537543" cy="216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66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4.1 </a:t>
            </a:r>
            <a:r>
              <a:rPr lang="zh-CN" altLang="en-US" dirty="0">
                <a:solidFill>
                  <a:schemeClr val="tx1"/>
                </a:solidFill>
              </a:rPr>
              <a:t>常对象</a:t>
            </a: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3583B2-20E7-4244-BE2F-17EC3380D0E3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750" dirty="0">
              <a:latin typeface="Times New Roman" charset="0"/>
              <a:ea typeface="隶书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8029" y="1360275"/>
            <a:ext cx="20162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9pPr>
          </a:lstStyle>
          <a:p>
            <a:pPr eaLnBrk="1" hangingPunct="1"/>
            <a:r>
              <a:rPr lang="zh-CN" altLang="en-US" sz="2100" dirty="0">
                <a:latin typeface="黑体" charset="-122"/>
                <a:ea typeface="黑体" charset="-122"/>
              </a:rPr>
              <a:t>常对象举例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335" y="5847658"/>
            <a:ext cx="6155531" cy="41549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隶书" charset="0"/>
              </a:defRPr>
            </a:lvl9pPr>
          </a:lstStyle>
          <a:p>
            <a:pPr eaLnBrk="1" hangingPunct="1"/>
            <a:r>
              <a:rPr lang="zh-CN" altLang="en-US" sz="2100" dirty="0">
                <a:solidFill>
                  <a:schemeClr val="bg1"/>
                </a:solidFill>
                <a:latin typeface="黑体" charset="-122"/>
                <a:ea typeface="黑体" charset="-122"/>
              </a:rPr>
              <a:t>思考：哪些操作有试图改变常对象状态的危险？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F49E1D-1762-43EB-8F5D-F93703CA9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67" y="1906566"/>
            <a:ext cx="3660425" cy="368504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716016" y="2444181"/>
            <a:ext cx="39604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err="1"/>
              <a:t>const</a:t>
            </a:r>
            <a:r>
              <a:rPr lang="en-US" altLang="zh-CN" sz="1800" dirty="0"/>
              <a:t> string *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 = @“</a:t>
            </a:r>
            <a:r>
              <a:rPr lang="zh-CN" altLang="en-US" sz="1800" dirty="0"/>
              <a:t>注意*</a:t>
            </a:r>
            <a:r>
              <a:rPr lang="en-US" altLang="zh-CN" sz="1800" dirty="0"/>
              <a:t>”;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r>
              <a:rPr lang="en-US" altLang="zh-CN" sz="1800" dirty="0">
                <a:solidFill>
                  <a:srgbClr val="0070C0"/>
                </a:solidFill>
              </a:rPr>
              <a:t>//</a:t>
            </a:r>
            <a:r>
              <a:rPr lang="zh-CN" altLang="en-US" sz="1800" dirty="0">
                <a:solidFill>
                  <a:srgbClr val="0070C0"/>
                </a:solidFill>
              </a:rPr>
              <a:t> ↑ ↑</a:t>
            </a:r>
            <a:r>
              <a:rPr lang="en-US" altLang="zh-CN" sz="1800" dirty="0">
                <a:solidFill>
                  <a:srgbClr val="0070C0"/>
                </a:solidFill>
              </a:rPr>
              <a:t> "*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不能被修改， 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能被修改 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en-US" altLang="zh-CN" sz="1800" dirty="0"/>
              <a:t>string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 = @"</a:t>
            </a:r>
            <a:r>
              <a:rPr lang="zh-CN" altLang="en-US" sz="1800" dirty="0"/>
              <a:t>注意*</a:t>
            </a:r>
            <a:r>
              <a:rPr lang="en-US" altLang="zh-CN" sz="1800" dirty="0"/>
              <a:t>";</a:t>
            </a:r>
          </a:p>
          <a:p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070C0"/>
                </a:solidFill>
              </a:rPr>
              <a:t>//</a:t>
            </a:r>
            <a:r>
              <a:rPr lang="zh-CN" altLang="en-US" sz="1800" dirty="0">
                <a:solidFill>
                  <a:srgbClr val="0070C0"/>
                </a:solidFill>
              </a:rPr>
              <a:t> ↑ ↑ </a:t>
            </a:r>
            <a:r>
              <a:rPr lang="en-US" altLang="zh-CN" sz="1800" dirty="0">
                <a:solidFill>
                  <a:srgbClr val="0070C0"/>
                </a:solidFill>
              </a:rPr>
              <a:t>"*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不能被修改， 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能被修改 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en-US" altLang="zh-CN" sz="1800" dirty="0"/>
              <a:t>string *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= @"</a:t>
            </a:r>
            <a:r>
              <a:rPr lang="zh-CN" altLang="en-US" sz="1800" dirty="0"/>
              <a:t>注意*</a:t>
            </a:r>
            <a:r>
              <a:rPr lang="en-US" altLang="zh-CN" sz="1800" dirty="0"/>
              <a:t>"; 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//</a:t>
            </a:r>
            <a:r>
              <a:rPr lang="zh-CN" altLang="en-US" sz="1800" dirty="0">
                <a:solidFill>
                  <a:srgbClr val="0070C0"/>
                </a:solidFill>
              </a:rPr>
              <a:t> ↑ ↑  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 </a:t>
            </a:r>
            <a:r>
              <a:rPr lang="zh-CN" altLang="en-US" sz="1800" dirty="0">
                <a:solidFill>
                  <a:srgbClr val="0070C0"/>
                </a:solidFill>
              </a:rPr>
              <a:t>不能被修改，</a:t>
            </a:r>
            <a:r>
              <a:rPr lang="en-US" altLang="zh-CN" sz="1800" dirty="0">
                <a:solidFill>
                  <a:srgbClr val="0070C0"/>
                </a:solidFill>
              </a:rPr>
              <a:t>"*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能被修改 </a:t>
            </a:r>
            <a:endParaRPr lang="en-US" altLang="zh-CN" sz="1800" dirty="0">
              <a:solidFill>
                <a:srgbClr val="0070C0"/>
              </a:solidFill>
            </a:endParaRPr>
          </a:p>
          <a:p>
            <a:endParaRPr lang="en-US" altLang="zh-CN" sz="1800" dirty="0"/>
          </a:p>
          <a:p>
            <a:r>
              <a:rPr lang="en-US" altLang="zh-CN" sz="1800" dirty="0"/>
              <a:t>//</a:t>
            </a:r>
            <a:r>
              <a:rPr lang="zh-CN" altLang="en-US" sz="1800" dirty="0"/>
              <a:t>注意：</a:t>
            </a:r>
            <a:r>
              <a:rPr lang="en-US" altLang="zh-CN" sz="1800" dirty="0"/>
              <a:t>1</a:t>
            </a:r>
            <a:r>
              <a:rPr lang="zh-CN" altLang="en-US" sz="1800" dirty="0"/>
              <a:t>和</a:t>
            </a:r>
            <a:r>
              <a:rPr lang="en-US" altLang="zh-CN" sz="1800" dirty="0"/>
              <a:t>2</a:t>
            </a:r>
            <a:r>
              <a:rPr lang="zh-CN" altLang="en-US" sz="1800" dirty="0"/>
              <a:t>其实没什么区别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ss</a:t>
            </a:r>
            <a:r>
              <a:rPr lang="zh-CN" altLang="en-US" sz="1800" dirty="0"/>
              <a:t>为指针地址。*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 </a:t>
            </a:r>
            <a:r>
              <a:rPr lang="zh-CN" altLang="en-US" sz="1800" dirty="0"/>
              <a:t>为指针所指对象。</a:t>
            </a:r>
          </a:p>
        </p:txBody>
      </p:sp>
      <p:sp>
        <p:nvSpPr>
          <p:cNvPr id="3" name="矩形 2"/>
          <p:cNvSpPr/>
          <p:nvPr/>
        </p:nvSpPr>
        <p:spPr>
          <a:xfrm>
            <a:off x="2536054" y="4140805"/>
            <a:ext cx="19892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FF00"/>
                </a:solidFill>
              </a:rPr>
              <a:t>A  </a:t>
            </a:r>
            <a:r>
              <a:rPr lang="en-US" altLang="zh-CN" sz="1400" b="1" dirty="0" err="1">
                <a:solidFill>
                  <a:srgbClr val="FFC000"/>
                </a:solidFill>
              </a:rPr>
              <a:t>const</a:t>
            </a:r>
            <a:r>
              <a:rPr lang="en-US" altLang="zh-CN" sz="1400" dirty="0">
                <a:solidFill>
                  <a:srgbClr val="FFFF00"/>
                </a:solidFill>
              </a:rPr>
              <a:t> a(3,4)</a:t>
            </a:r>
          </a:p>
          <a:p>
            <a:r>
              <a:rPr lang="en-US" altLang="zh-CN" sz="1400" b="1" dirty="0" err="1">
                <a:solidFill>
                  <a:srgbClr val="FFC000"/>
                </a:solidFill>
              </a:rPr>
              <a:t>const</a:t>
            </a:r>
            <a:r>
              <a:rPr lang="en-US" altLang="zh-CN" sz="1400" dirty="0">
                <a:solidFill>
                  <a:srgbClr val="FFFF00"/>
                </a:solidFill>
              </a:rPr>
              <a:t> A a(3,4) </a:t>
            </a:r>
            <a:r>
              <a:rPr lang="zh-CN" altLang="en-US" sz="1400" dirty="0">
                <a:solidFill>
                  <a:srgbClr val="FFFF00"/>
                </a:solidFill>
              </a:rPr>
              <a:t>是等价的 </a:t>
            </a:r>
            <a:endParaRPr lang="en-US" altLang="zh-CN" sz="1400" dirty="0">
              <a:solidFill>
                <a:srgbClr val="FFFF00"/>
              </a:solidFill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4608004" y="2276872"/>
            <a:ext cx="4176464" cy="2952328"/>
          </a:xfrm>
          <a:prstGeom prst="roundRect">
            <a:avLst>
              <a:gd name="adj" fmla="val 1311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指针内容先略过</a:t>
            </a:r>
          </a:p>
        </p:txBody>
      </p:sp>
      <p:sp>
        <p:nvSpPr>
          <p:cNvPr id="8" name="右箭头 7"/>
          <p:cNvSpPr/>
          <p:nvPr/>
        </p:nvSpPr>
        <p:spPr bwMode="auto">
          <a:xfrm>
            <a:off x="551535" y="5102138"/>
            <a:ext cx="360040" cy="216024"/>
          </a:xfrm>
          <a:prstGeom prst="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74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如何保障常对象的值不被改变</a:t>
            </a:r>
          </a:p>
        </p:txBody>
      </p:sp>
      <p:sp>
        <p:nvSpPr>
          <p:cNvPr id="49154" name="内容占位符 1"/>
          <p:cNvSpPr>
            <a:spLocks noGrp="1"/>
          </p:cNvSpPr>
          <p:nvPr>
            <p:ph idx="1"/>
          </p:nvPr>
        </p:nvSpPr>
        <p:spPr>
          <a:xfrm>
            <a:off x="685800" y="1661220"/>
            <a:ext cx="7772400" cy="4176464"/>
          </a:xfrm>
        </p:spPr>
        <p:txBody>
          <a:bodyPr/>
          <a:lstStyle/>
          <a:p>
            <a:r>
              <a:rPr lang="zh-CN" altLang="en-US" sz="2400" dirty="0">
                <a:solidFill>
                  <a:srgbClr val="0070C0"/>
                </a:solidFill>
              </a:rPr>
              <a:t>常对象</a:t>
            </a:r>
            <a:r>
              <a:rPr lang="zh-CN" altLang="en-US" sz="2400" dirty="0"/>
              <a:t>的数据成员都被视为</a:t>
            </a:r>
            <a:r>
              <a:rPr lang="zh-CN" altLang="en-US" sz="2400" dirty="0">
                <a:solidFill>
                  <a:srgbClr val="0070C0"/>
                </a:solidFill>
              </a:rPr>
              <a:t>常量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C00000"/>
                </a:solidFill>
              </a:rPr>
              <a:t>不能被赋值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Bef>
                <a:spcPts val="120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不能</a:t>
            </a:r>
            <a:r>
              <a:rPr lang="zh-CN" altLang="en-US" sz="2400" dirty="0"/>
              <a:t>通过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常对象</a:t>
            </a:r>
            <a:r>
              <a:rPr lang="zh-CN" altLang="en-US" sz="2400" dirty="0">
                <a:solidFill>
                  <a:srgbClr val="C00000"/>
                </a:solidFill>
              </a:rPr>
              <a:t>调用</a:t>
            </a:r>
            <a:r>
              <a:rPr lang="zh-CN" altLang="en-US" sz="2400" dirty="0"/>
              <a:t>普通的成员函数。</a:t>
            </a:r>
            <a:endParaRPr lang="en-US" altLang="zh-CN" sz="2400" dirty="0"/>
          </a:p>
          <a:p>
            <a:pPr lvl="1"/>
            <a:r>
              <a:rPr lang="zh-CN" altLang="en-US" sz="2100" dirty="0">
                <a:solidFill>
                  <a:srgbClr val="C00000"/>
                </a:solidFill>
              </a:rPr>
              <a:t>只能</a:t>
            </a:r>
            <a:r>
              <a:rPr lang="zh-CN" altLang="en-US" sz="2100" dirty="0"/>
              <a:t>调用其常成员函数。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1pPr>
            <a:lvl2pPr marL="557213" indent="-214313" eaLnBrk="0" hangingPunct="0"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2pPr>
            <a:lvl3pPr marL="857250" indent="-171450" eaLnBrk="0" hangingPunct="0"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3pPr>
            <a:lvl4pPr marL="1200150" indent="-171450" eaLnBrk="0" hangingPunct="0"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4pPr>
            <a:lvl5pPr marL="1543050" indent="-171450" eaLnBrk="0" hangingPunct="0"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charset="0"/>
                <a:ea typeface="隶书" charset="0"/>
              </a:defRPr>
            </a:lvl9pPr>
          </a:lstStyle>
          <a:p>
            <a:pPr eaLnBrk="1" hangingPunct="1"/>
            <a:fld id="{386C4886-4C08-4F43-930D-660DCF9A3469}" type="slidenum">
              <a:rPr kumimoji="0" lang="en-US" altLang="zh-CN" sz="750"/>
              <a:pPr eaLnBrk="1" hangingPunct="1"/>
              <a:t>31</a:t>
            </a:fld>
            <a:endParaRPr kumimoji="0" lang="en-US" altLang="zh-CN" sz="750"/>
          </a:p>
        </p:txBody>
      </p:sp>
      <p:sp>
        <p:nvSpPr>
          <p:cNvPr id="2" name="文本框 1"/>
          <p:cNvSpPr txBox="1"/>
          <p:nvPr/>
        </p:nvSpPr>
        <p:spPr>
          <a:xfrm>
            <a:off x="1259632" y="2996952"/>
            <a:ext cx="54168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需搞清楚什么是</a:t>
            </a:r>
            <a:r>
              <a:rPr lang="zh-CN" altLang="en-US" dirty="0">
                <a:solidFill>
                  <a:srgbClr val="C00000"/>
                </a:solidFill>
              </a:rPr>
              <a:t>初始化</a:t>
            </a:r>
            <a:r>
              <a:rPr lang="zh-CN" altLang="en-US" dirty="0"/>
              <a:t>，什么是赋值？</a:t>
            </a:r>
            <a:endParaRPr lang="en-US" altLang="zh-CN" dirty="0"/>
          </a:p>
          <a:p>
            <a:r>
              <a:rPr kumimoji="1" lang="zh-CN" altLang="en-US" dirty="0"/>
              <a:t>   </a:t>
            </a:r>
            <a:r>
              <a:rPr kumimoji="1" lang="en-US" altLang="zh-CN" b="1" dirty="0" err="1">
                <a:solidFill>
                  <a:srgbClr val="0070C0"/>
                </a:solidFill>
              </a:rPr>
              <a:t>const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n = 10; </a:t>
            </a:r>
          </a:p>
          <a:p>
            <a:r>
              <a:rPr lang="en-US" altLang="zh-CN" dirty="0"/>
              <a:t>   n = 10;  </a:t>
            </a:r>
            <a:r>
              <a:rPr lang="en-US" altLang="zh-CN" sz="2800" b="1" dirty="0">
                <a:solidFill>
                  <a:srgbClr val="C00000"/>
                </a:solidFill>
              </a:rPr>
              <a:t>//×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kumimoji="1" lang="en-US" altLang="zh-CN" dirty="0"/>
          </a:p>
          <a:p>
            <a:r>
              <a:rPr lang="en-US" altLang="zh-CN" dirty="0"/>
              <a:t>   </a:t>
            </a:r>
            <a:r>
              <a:rPr lang="en-US" altLang="zh-CN" b="1" dirty="0" err="1">
                <a:solidFill>
                  <a:srgbClr val="0070C0"/>
                </a:solidFill>
              </a:rPr>
              <a:t>const</a:t>
            </a:r>
            <a:r>
              <a:rPr lang="en-US" altLang="zh-CN" dirty="0"/>
              <a:t>  A a0(10, 10);</a:t>
            </a:r>
          </a:p>
          <a:p>
            <a:r>
              <a:rPr kumimoji="1" lang="en-US" altLang="zh-CN" dirty="0"/>
              <a:t>   </a:t>
            </a:r>
            <a:r>
              <a:rPr kumimoji="1" lang="en-US" altLang="zh-CN" b="1" dirty="0">
                <a:solidFill>
                  <a:srgbClr val="0070C0"/>
                </a:solidFill>
              </a:rPr>
              <a:t>const</a:t>
            </a:r>
            <a:r>
              <a:rPr kumimoji="1" lang="en-US" altLang="zh-CN" dirty="0"/>
              <a:t>  A a1;</a:t>
            </a:r>
          </a:p>
          <a:p>
            <a:endParaRPr kumimoji="1" lang="en-US" altLang="zh-CN" dirty="0"/>
          </a:p>
          <a:p>
            <a:r>
              <a:rPr lang="en-US" altLang="zh-CN" dirty="0"/>
              <a:t>   a1 = a;   </a:t>
            </a:r>
            <a:r>
              <a:rPr lang="en-US" altLang="zh-CN" sz="2800" b="1" dirty="0">
                <a:solidFill>
                  <a:srgbClr val="C00000"/>
                </a:solidFill>
              </a:rPr>
              <a:t>//×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138" y="4672555"/>
            <a:ext cx="2822123" cy="17638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30ED56-E42A-41AC-BA3A-6551318C8C98}"/>
              </a:ext>
            </a:extLst>
          </p:cNvPr>
          <p:cNvSpPr txBox="1"/>
          <p:nvPr/>
        </p:nvSpPr>
        <p:spPr>
          <a:xfrm>
            <a:off x="5383648" y="3800883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数据：赋值限制</a:t>
            </a:r>
            <a:endParaRPr lang="en-US" altLang="zh-CN" dirty="0"/>
          </a:p>
          <a:p>
            <a:r>
              <a:rPr lang="zh-CN" altLang="en-US" dirty="0"/>
              <a:t>函数：调用限制</a:t>
            </a:r>
          </a:p>
        </p:txBody>
      </p:sp>
    </p:spTree>
    <p:extLst>
      <p:ext uri="{BB962C8B-B14F-4D97-AF65-F5344CB8AC3E}">
        <p14:creationId xmlns:p14="http://schemas.microsoft.com/office/powerpoint/2010/main" val="510478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latin typeface="+mj-lt"/>
              </a:rPr>
              <a:t>4.2</a:t>
            </a:r>
            <a:r>
              <a:rPr lang="en-US" altLang="zh-CN" dirty="0"/>
              <a:t> </a:t>
            </a:r>
            <a:r>
              <a:rPr lang="zh-CN" altLang="en-US" dirty="0"/>
              <a:t>用</a:t>
            </a:r>
            <a:r>
              <a:rPr lang="en-US" altLang="zh-CN" dirty="0" err="1">
                <a:solidFill>
                  <a:srgbClr val="C00000"/>
                </a:solidFill>
              </a:rPr>
              <a:t>const</a:t>
            </a:r>
            <a:r>
              <a:rPr lang="zh-CN" altLang="en-US" dirty="0">
                <a:solidFill>
                  <a:srgbClr val="C00000"/>
                </a:solidFill>
              </a:rPr>
              <a:t>修饰</a:t>
            </a:r>
            <a:r>
              <a:rPr lang="zh-CN" altLang="en-US" dirty="0"/>
              <a:t>的对象成员</a:t>
            </a:r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常成员函数</a:t>
            </a: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charset="0"/>
              </a:rPr>
              <a:t>使用</a:t>
            </a:r>
            <a:r>
              <a:rPr lang="en-US" altLang="zh-CN" sz="2400" dirty="0" err="1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zh-CN" altLang="en-US" sz="2400" dirty="0">
                <a:latin typeface="Consolas" charset="0"/>
              </a:rPr>
              <a:t>关键字说明的函数。</a:t>
            </a: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charset="0"/>
              </a:rPr>
              <a:t>常成员函数不更新对象的数据成员。</a:t>
            </a:r>
          </a:p>
          <a:p>
            <a:pPr lvl="1" eaLnBrk="1" hangingPunct="1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dirty="0">
                <a:latin typeface="Consolas" charset="0"/>
              </a:rPr>
              <a:t>常成员函数说明格式：</a:t>
            </a:r>
            <a:br>
              <a:rPr lang="zh-CN" altLang="en-US" sz="2400" dirty="0">
                <a:latin typeface="Consolas" charset="0"/>
              </a:rPr>
            </a:br>
            <a:r>
              <a:rPr lang="zh-CN" altLang="en-US" sz="2400" dirty="0">
                <a:solidFill>
                  <a:srgbClr val="C00000"/>
                </a:solidFill>
                <a:latin typeface="Consolas" charset="0"/>
              </a:rPr>
              <a:t>类型说明符 函数名</a:t>
            </a:r>
            <a:r>
              <a:rPr lang="en-US" altLang="zh-CN" sz="2400" dirty="0">
                <a:solidFill>
                  <a:srgbClr val="C00000"/>
                </a:solidFill>
                <a:latin typeface="Consolas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Consolas" charset="0"/>
              </a:rPr>
              <a:t>参数表</a:t>
            </a:r>
            <a:r>
              <a:rPr lang="en-US" altLang="zh-CN" sz="2400" dirty="0">
                <a:solidFill>
                  <a:srgbClr val="C00000"/>
                </a:solidFill>
                <a:latin typeface="Consolas" charset="0"/>
              </a:rPr>
              <a:t>) </a:t>
            </a:r>
            <a:r>
              <a:rPr lang="en-US" altLang="zh-CN" sz="2400" dirty="0" err="1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Consolas" charset="0"/>
              </a:rPr>
              <a:t>;</a:t>
            </a:r>
            <a:br>
              <a:rPr lang="en-US" altLang="zh-CN" sz="2400" dirty="0">
                <a:solidFill>
                  <a:srgbClr val="FF0000"/>
                </a:solidFill>
                <a:latin typeface="Consolas" charset="0"/>
              </a:rPr>
            </a:br>
            <a:br>
              <a:rPr lang="en-US" altLang="zh-CN" sz="2400" dirty="0">
                <a:latin typeface="Consolas" charset="0"/>
              </a:rPr>
            </a:br>
            <a:r>
              <a:rPr lang="zh-CN" altLang="en-US" sz="2400" dirty="0">
                <a:latin typeface="Rockwell" panose="02060603020205020403" pitchFamily="18" charset="0"/>
              </a:rPr>
              <a:t>这里，</a:t>
            </a:r>
            <a:r>
              <a:rPr lang="en-US" altLang="zh-CN" sz="2400" dirty="0" err="1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zh-CN" altLang="en-US" sz="2400" dirty="0">
                <a:latin typeface="Rockwell" panose="02060603020205020403" pitchFamily="18" charset="0"/>
              </a:rPr>
              <a:t>是函数类型的一个组成部分，因此</a:t>
            </a:r>
            <a:r>
              <a:rPr lang="zh-CN" altLang="en-US" sz="2400" dirty="0">
                <a:solidFill>
                  <a:srgbClr val="0070C0"/>
                </a:solidFill>
                <a:latin typeface="Rockwell" panose="02060603020205020403" pitchFamily="18" charset="0"/>
              </a:rPr>
              <a:t>在实现部分</a:t>
            </a:r>
            <a:r>
              <a:rPr lang="zh-CN" altLang="en-US" sz="2400" dirty="0">
                <a:latin typeface="Rockwell" panose="02060603020205020403" pitchFamily="18" charset="0"/>
              </a:rPr>
              <a:t>也要带</a:t>
            </a:r>
            <a:r>
              <a:rPr lang="en-US" altLang="zh-CN" sz="2400" dirty="0" err="1">
                <a:latin typeface="Rockwell" panose="02060603020205020403" pitchFamily="18" charset="0"/>
              </a:rPr>
              <a:t>const</a:t>
            </a:r>
            <a:r>
              <a:rPr lang="zh-CN" altLang="en-US" sz="2400" dirty="0">
                <a:latin typeface="Rockwell" panose="02060603020205020403" pitchFamily="18" charset="0"/>
              </a:rPr>
              <a:t>关键字</a:t>
            </a:r>
            <a:r>
              <a:rPr lang="zh-CN" altLang="en-US" sz="2400" dirty="0">
                <a:latin typeface="Consolas" charset="0"/>
              </a:rPr>
              <a:t>。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zh-CN" sz="2400" dirty="0" err="1">
                <a:latin typeface="Consolas" charset="0"/>
              </a:rPr>
              <a:t>const</a:t>
            </a:r>
            <a:r>
              <a:rPr lang="zh-CN" altLang="en-US" sz="2400" dirty="0">
                <a:latin typeface="Consolas" charset="0"/>
              </a:rPr>
              <a:t>关键字可以被用于</a:t>
            </a:r>
            <a:r>
              <a:rPr lang="zh-CN" altLang="en-US" sz="2400" dirty="0">
                <a:solidFill>
                  <a:srgbClr val="0070C0"/>
                </a:solidFill>
                <a:latin typeface="Consolas" charset="0"/>
              </a:rPr>
              <a:t>区分</a:t>
            </a:r>
            <a:r>
              <a:rPr lang="zh-CN" altLang="en-US" sz="2400" dirty="0">
                <a:latin typeface="Consolas" charset="0"/>
              </a:rPr>
              <a:t>是否重载函数</a:t>
            </a:r>
            <a:endParaRPr lang="zh-CN" altLang="en-US" sz="3200" dirty="0">
              <a:latin typeface="Consolas" charset="0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C10615-B2DE-6643-B276-37A972C302C1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5A0BD2AC-F691-4731-B23A-73BF01264219}"/>
              </a:ext>
            </a:extLst>
          </p:cNvPr>
          <p:cNvSpPr/>
          <p:nvPr/>
        </p:nvSpPr>
        <p:spPr>
          <a:xfrm>
            <a:off x="899592" y="4725144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82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A2D8E3B-3976-7247-86A5-AAE793560DAF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49154" name="标题 1"/>
          <p:cNvSpPr>
            <a:spLocks noGrp="1"/>
          </p:cNvSpPr>
          <p:nvPr>
            <p:ph type="title" idx="4294967295"/>
          </p:nvPr>
        </p:nvSpPr>
        <p:spPr>
          <a:xfrm>
            <a:off x="1365250" y="646516"/>
            <a:ext cx="5976664" cy="768028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zh-CN" altLang="en-US" dirty="0"/>
              <a:t>：</a:t>
            </a:r>
            <a:r>
              <a:rPr lang="zh-CN" altLang="en-US" sz="2800" dirty="0"/>
              <a:t>常成员函数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323095C-7C25-4651-B3E2-3ADE0610960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365250" y="1446999"/>
            <a:ext cx="5499100" cy="4321175"/>
          </a:xfrm>
          <a:prstGeom prst="rect">
            <a:avLst/>
          </a:prstGeom>
        </p:spPr>
      </p:pic>
      <p:sp>
        <p:nvSpPr>
          <p:cNvPr id="2" name="上箭头 1"/>
          <p:cNvSpPr/>
          <p:nvPr/>
        </p:nvSpPr>
        <p:spPr>
          <a:xfrm>
            <a:off x="4283968" y="4509120"/>
            <a:ext cx="216024" cy="360040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83874" y="4509120"/>
            <a:ext cx="1436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注意位置</a:t>
            </a:r>
          </a:p>
        </p:txBody>
      </p:sp>
    </p:spTree>
    <p:extLst>
      <p:ext uri="{BB962C8B-B14F-4D97-AF65-F5344CB8AC3E}">
        <p14:creationId xmlns:p14="http://schemas.microsoft.com/office/powerpoint/2010/main" val="707726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91EB51-4A78-0742-A348-A4F04364385A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1451917" y="617277"/>
            <a:ext cx="6707187" cy="794138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Comic Sans MS"/>
              </a:rPr>
              <a:t>例</a:t>
            </a:r>
            <a:r>
              <a:rPr lang="zh-CN" altLang="en-US" sz="3200" b="0" dirty="0">
                <a:solidFill>
                  <a:srgbClr val="000000"/>
                </a:solidFill>
                <a:effectLst/>
                <a:latin typeface="Comic Sans MS"/>
              </a:rPr>
              <a:t>：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Comic Sans MS"/>
              </a:rPr>
              <a:t>常成员函数</a:t>
            </a:r>
            <a:endParaRPr lang="zh-CN" altLang="en-US" sz="3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30D984-59D2-4C8F-9489-7257289F0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61" y="1321089"/>
            <a:ext cx="5920059" cy="491622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935617" y="4996133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charset="0"/>
              </a:rPr>
              <a:t>//</a:t>
            </a:r>
            <a:r>
              <a:rPr lang="zh-CN" altLang="zh-CN" sz="2000" dirty="0">
                <a:solidFill>
                  <a:schemeClr val="bg1"/>
                </a:solidFill>
                <a:latin typeface="Consolas" charset="0"/>
              </a:rPr>
              <a:t>调用</a:t>
            </a:r>
            <a:r>
              <a:rPr lang="en-US" altLang="zh-CN" sz="2000" dirty="0">
                <a:solidFill>
                  <a:schemeClr val="bg1"/>
                </a:solidFill>
                <a:latin typeface="Consolas" charset="0"/>
              </a:rPr>
              <a:t>void print() </a:t>
            </a:r>
            <a:r>
              <a:rPr lang="en-US" altLang="zh-CN" sz="2000" dirty="0" err="1">
                <a:solidFill>
                  <a:schemeClr val="bg1"/>
                </a:solidFill>
                <a:latin typeface="Consolas" charset="0"/>
              </a:rPr>
              <a:t>const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96934" y="4345425"/>
            <a:ext cx="2672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Clr>
                <a:srgbClr val="EB641B"/>
              </a:buClr>
              <a:buFont typeface="Georgia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Consolas" charset="0"/>
              </a:rPr>
              <a:t>//</a:t>
            </a:r>
            <a:r>
              <a:rPr lang="zh-CN" altLang="zh-CN" sz="2000" dirty="0">
                <a:solidFill>
                  <a:schemeClr val="bg1"/>
                </a:solidFill>
                <a:latin typeface="Consolas" charset="0"/>
              </a:rPr>
              <a:t>调用</a:t>
            </a:r>
            <a:r>
              <a:rPr lang="en-US" altLang="zh-CN" sz="2000" dirty="0">
                <a:solidFill>
                  <a:schemeClr val="bg1"/>
                </a:solidFill>
                <a:latin typeface="Consolas" charset="0"/>
              </a:rPr>
              <a:t>void print()</a:t>
            </a: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7569745" y="1321089"/>
            <a:ext cx="1178719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charset="0"/>
                <a:ea typeface="隶书" charset="0"/>
              </a:rPr>
              <a:t>运行结果：</a:t>
            </a:r>
            <a:endParaRPr lang="en-US" altLang="zh-CN" sz="1800" dirty="0">
              <a:solidFill>
                <a:schemeClr val="bg1"/>
              </a:solidFill>
              <a:latin typeface="Consolas" charset="0"/>
              <a:ea typeface="隶书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charset="0"/>
                <a:ea typeface="隶书" charset="0"/>
              </a:rPr>
              <a:t>5:4</a:t>
            </a:r>
            <a:endParaRPr lang="zh-CN" altLang="en-US" sz="1800" dirty="0">
              <a:solidFill>
                <a:schemeClr val="bg1"/>
              </a:solidFill>
              <a:latin typeface="Consolas" charset="0"/>
              <a:ea typeface="隶书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charset="0"/>
                <a:ea typeface="隶书" charset="0"/>
              </a:rPr>
              <a:t>20;52</a:t>
            </a:r>
            <a:endParaRPr lang="zh-CN" altLang="en-US" sz="1800" dirty="0">
              <a:solidFill>
                <a:schemeClr val="bg1"/>
              </a:solidFill>
              <a:latin typeface="Consolas" charset="0"/>
              <a:ea typeface="隶书" charset="0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4510186" y="2435080"/>
            <a:ext cx="162408" cy="297160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8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685800" y="670520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常成员函数的声明原则</a:t>
            </a:r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dirty="0"/>
              <a:t>适当地将成员函数声明为常成员函数，能够</a:t>
            </a:r>
            <a:r>
              <a:rPr lang="zh-CN" altLang="en-US" dirty="0">
                <a:solidFill>
                  <a:srgbClr val="0070C0"/>
                </a:solidFill>
              </a:rPr>
              <a:t>提高代码质量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凡是不会改变对象状态的函数，都应当声明为常成员函数。</a:t>
            </a:r>
            <a:endParaRPr lang="en-US" altLang="zh-CN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highlight>
                  <a:srgbClr val="FFFF00"/>
                </a:highlight>
              </a:rPr>
              <a:t>准确地说</a:t>
            </a:r>
            <a:r>
              <a:rPr lang="zh-CN" altLang="en-US" dirty="0"/>
              <a:t>：什么是</a:t>
            </a:r>
            <a:r>
              <a:rPr lang="zh-CN" altLang="en-US" sz="2800" dirty="0">
                <a:solidFill>
                  <a:srgbClr val="C00000"/>
                </a:solidFill>
              </a:rPr>
              <a:t>改变对象状态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改变对象状态，不简单地等同于</a:t>
            </a:r>
            <a:r>
              <a:rPr lang="zh-CN" altLang="en-US" dirty="0">
                <a:solidFill>
                  <a:srgbClr val="0070C0"/>
                </a:solidFill>
              </a:rPr>
              <a:t>改变成员数据的值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只要一个成员函数执行与否，不会影响以后接口函数的调用结果，都可以认为它不会改变对象状态。</a:t>
            </a: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3CD3A3C-5B70-6F40-ACF5-285355B11C4D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478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064" y="908720"/>
            <a:ext cx="5040560" cy="5289600"/>
          </a:xfrm>
          <a:prstGeom prst="rect">
            <a:avLst/>
          </a:prstGeom>
        </p:spPr>
      </p:pic>
      <p:sp>
        <p:nvSpPr>
          <p:cNvPr id="7680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9C1375-1377-0041-ADA3-049E5CA2B173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64514" name="标题 1"/>
          <p:cNvSpPr>
            <a:spLocks noGrp="1"/>
          </p:cNvSpPr>
          <p:nvPr>
            <p:ph type="title" idx="4294967295"/>
          </p:nvPr>
        </p:nvSpPr>
        <p:spPr>
          <a:xfrm>
            <a:off x="6948264" y="1084387"/>
            <a:ext cx="1440160" cy="2799184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常成员函数的声明原则</a:t>
            </a:r>
          </a:p>
        </p:txBody>
      </p:sp>
      <p:sp>
        <p:nvSpPr>
          <p:cNvPr id="76805" name="AutoShape 5"/>
          <p:cNvSpPr>
            <a:spLocks noChangeArrowheads="1"/>
          </p:cNvSpPr>
          <p:nvPr/>
        </p:nvSpPr>
        <p:spPr bwMode="auto">
          <a:xfrm flipV="1">
            <a:off x="6121710" y="4797152"/>
            <a:ext cx="1653108" cy="926978"/>
          </a:xfrm>
          <a:prstGeom prst="wedgeRoundRectCallout">
            <a:avLst>
              <a:gd name="adj1" fmla="val -61518"/>
              <a:gd name="adj2" fmla="val -25503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50" dirty="0">
                <a:latin typeface="宋体" charset="-122"/>
                <a:ea typeface="隶书" charset="0"/>
              </a:rPr>
              <a:t>改变数据成员，但不改变对象状态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FE901E-3ACD-40A0-B74B-42A67D6C2B35}"/>
              </a:ext>
            </a:extLst>
          </p:cNvPr>
          <p:cNvSpPr txBox="1"/>
          <p:nvPr/>
        </p:nvSpPr>
        <p:spPr>
          <a:xfrm>
            <a:off x="8172400" y="401528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9776023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>
          <a:xfrm>
            <a:off x="715913" y="703312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常成员函数的声明原则</a:t>
            </a:r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在原则上，应当将</a:t>
            </a:r>
            <a:r>
              <a:rPr lang="en-US" altLang="zh-CN" dirty="0" err="1"/>
              <a:t>getLen</a:t>
            </a:r>
            <a:r>
              <a:rPr lang="zh-CN" altLang="en-US" dirty="0"/>
              <a:t>声明为常成员函数，但由于修改了数据成员的值，语言规则不允许</a:t>
            </a:r>
            <a:endParaRPr lang="en-US" altLang="zh-CN" dirty="0"/>
          </a:p>
          <a:p>
            <a:pPr eaLnBrk="1" hangingPunct="1"/>
            <a:r>
              <a:rPr lang="zh-CN" altLang="en-US" dirty="0"/>
              <a:t>怎么办？使用</a:t>
            </a:r>
            <a:r>
              <a:rPr lang="en-US" altLang="zh-CN" dirty="0">
                <a:solidFill>
                  <a:schemeClr val="bg1"/>
                </a:solidFill>
                <a:highlight>
                  <a:srgbClr val="0000FF"/>
                </a:highlight>
              </a:rPr>
              <a:t>mutable</a:t>
            </a:r>
            <a:r>
              <a:rPr lang="zh-CN" altLang="en-US" dirty="0"/>
              <a:t>关键字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solidFill>
                  <a:srgbClr val="0070C0"/>
                </a:solidFill>
              </a:rPr>
              <a:t>mutable </a:t>
            </a:r>
            <a:r>
              <a:rPr lang="zh-CN" altLang="en-US" dirty="0">
                <a:solidFill>
                  <a:srgbClr val="0070C0"/>
                </a:solidFill>
              </a:rPr>
              <a:t>关键字</a:t>
            </a:r>
            <a:r>
              <a:rPr lang="zh-CN" altLang="en-US" dirty="0"/>
              <a:t>使得被修饰的成员对象无视“常对象的成员对象被视为常对象”这一语言原则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mutable </a:t>
            </a:r>
            <a:r>
              <a:rPr lang="zh-CN" altLang="en-US" dirty="0"/>
              <a:t>须</a:t>
            </a:r>
            <a:r>
              <a:rPr lang="zh-CN" altLang="en-US" dirty="0">
                <a:solidFill>
                  <a:srgbClr val="C00000"/>
                </a:solidFill>
              </a:rPr>
              <a:t>慎用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D3F845-42C9-CF49-AB68-02C91640FFD7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56176" y="2780928"/>
            <a:ext cx="1107996" cy="461665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可变的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6C5ED9-8D3C-4A3E-8ACD-BA9A704310CF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14524156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55041D-3B3A-344C-9F5D-67CC7BA481E8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66562" name="标题 1"/>
          <p:cNvSpPr>
            <a:spLocks noGrp="1"/>
          </p:cNvSpPr>
          <p:nvPr>
            <p:ph type="title" idx="4294967295"/>
          </p:nvPr>
        </p:nvSpPr>
        <p:spPr>
          <a:xfrm>
            <a:off x="1043608" y="520735"/>
            <a:ext cx="7140575" cy="896903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修改后的程序代码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417638"/>
            <a:ext cx="4584936" cy="4603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063" y="2032903"/>
            <a:ext cx="2686050" cy="3419475"/>
          </a:xfrm>
          <a:prstGeom prst="rect">
            <a:avLst/>
          </a:prstGeom>
        </p:spPr>
      </p:pic>
      <p:sp>
        <p:nvSpPr>
          <p:cNvPr id="4" name="上箭头 3"/>
          <p:cNvSpPr/>
          <p:nvPr/>
        </p:nvSpPr>
        <p:spPr>
          <a:xfrm>
            <a:off x="3707904" y="4221088"/>
            <a:ext cx="216024" cy="288032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上箭头 7"/>
          <p:cNvSpPr/>
          <p:nvPr/>
        </p:nvSpPr>
        <p:spPr>
          <a:xfrm rot="5400000">
            <a:off x="1527988" y="3490613"/>
            <a:ext cx="216024" cy="288032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上箭头 9"/>
          <p:cNvSpPr/>
          <p:nvPr/>
        </p:nvSpPr>
        <p:spPr>
          <a:xfrm rot="20091836">
            <a:off x="5121061" y="5239158"/>
            <a:ext cx="164980" cy="404264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A1A136-F63A-410F-813A-19C21C7A779E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2353268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685800" y="78407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/>
              <a:t>4.2 </a:t>
            </a:r>
            <a:r>
              <a:rPr lang="zh-CN" altLang="en-US" dirty="0"/>
              <a:t>用</a:t>
            </a:r>
            <a:r>
              <a:rPr lang="en-US" altLang="zh-CN" dirty="0"/>
              <a:t>const</a:t>
            </a:r>
            <a:r>
              <a:rPr lang="zh-CN" altLang="en-US" dirty="0"/>
              <a:t>修饰的对象成员</a:t>
            </a:r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常数据成员</a:t>
            </a: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charset="0"/>
              </a:rPr>
              <a:t>使用</a:t>
            </a:r>
            <a:r>
              <a:rPr lang="en-US" altLang="zh-CN" sz="2400" dirty="0" err="1">
                <a:latin typeface="Consolas" charset="0"/>
              </a:rPr>
              <a:t>const</a:t>
            </a:r>
            <a:r>
              <a:rPr lang="zh-CN" altLang="en-US" sz="2400" dirty="0">
                <a:latin typeface="Consolas" charset="0"/>
              </a:rPr>
              <a:t>说明的数据成员。</a:t>
            </a:r>
            <a:endParaRPr lang="en-US" altLang="zh-CN" sz="2400" dirty="0">
              <a:latin typeface="Consolas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charset="0"/>
              </a:rPr>
              <a:t>任何函数中都不能对该成员赋值。</a:t>
            </a:r>
            <a:endParaRPr lang="en-US" altLang="zh-CN" sz="2400" dirty="0">
              <a:latin typeface="Consolas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charset="0"/>
              </a:rPr>
              <a:t>构造函数</a:t>
            </a:r>
            <a:r>
              <a:rPr lang="zh-CN" altLang="en-US" sz="2400" dirty="0">
                <a:solidFill>
                  <a:schemeClr val="bg1"/>
                </a:solidFill>
                <a:highlight>
                  <a:srgbClr val="0000FF"/>
                </a:highlight>
                <a:latin typeface="Consolas" charset="0"/>
              </a:rPr>
              <a:t>只能通过初始化列表</a:t>
            </a:r>
            <a:r>
              <a:rPr lang="zh-CN" altLang="en-US" sz="2400" dirty="0">
                <a:latin typeface="Consolas" charset="0"/>
              </a:rPr>
              <a:t>对该数据成员进行初始化。</a:t>
            </a:r>
            <a:endParaRPr lang="zh-CN" altLang="en-US" sz="3200" dirty="0">
              <a:latin typeface="Consolas" charset="0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C10615-B2DE-6643-B276-37A972C302C1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1532" y="5075966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在创建此类成员的同时，就须确定其值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843E2A-2E05-4C52-91EA-D1E5665FCD88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2101427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643722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D0C8F1-BABF-A141-9160-18850C9AFF7D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 idx="4294967295"/>
          </p:nvPr>
        </p:nvSpPr>
        <p:spPr>
          <a:xfrm>
            <a:off x="611560" y="580592"/>
            <a:ext cx="8229600" cy="895063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例：常数据成员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F5A9343-6F0B-47C6-BB28-663A43F8A0F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666779" y="1526820"/>
            <a:ext cx="4465638" cy="40624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DDB8158-5E3B-4F6C-89E2-9055CBAD3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410" y="2411760"/>
            <a:ext cx="5166062" cy="37535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B5D74E-1333-403A-8EF9-F20B528A2620}"/>
              </a:ext>
            </a:extLst>
          </p:cNvPr>
          <p:cNvSpPr txBox="1"/>
          <p:nvPr/>
        </p:nvSpPr>
        <p:spPr>
          <a:xfrm>
            <a:off x="1187623" y="378904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静态常数据成员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EAC61F08-1767-4154-9B8F-EC90F89F9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5408" y="5127567"/>
            <a:ext cx="1178719" cy="92333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7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charset="0"/>
              <a:buChar char="◦"/>
              <a:defRPr sz="23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21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 sz="1900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Consolas" charset="0"/>
                <a:ea typeface="隶书" charset="0"/>
              </a:rPr>
              <a:t>运行结果：</a:t>
            </a:r>
            <a:endParaRPr lang="en-US" altLang="zh-CN" sz="1800">
              <a:latin typeface="Consolas" charset="0"/>
              <a:ea typeface="隶书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charset="0"/>
                <a:ea typeface="隶书" charset="0"/>
              </a:rPr>
              <a:t>100:10</a:t>
            </a:r>
            <a:endParaRPr lang="zh-CN" altLang="en-US" sz="1800">
              <a:latin typeface="Times New Roman" charset="0"/>
              <a:ea typeface="隶书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charset="0"/>
                <a:ea typeface="隶书" charset="0"/>
              </a:rPr>
              <a:t>0:10</a:t>
            </a:r>
            <a:endParaRPr lang="zh-CN" altLang="en-US" sz="1800">
              <a:latin typeface="Times New Roman" charset="0"/>
              <a:ea typeface="隶书" charset="0"/>
            </a:endParaRPr>
          </a:p>
        </p:txBody>
      </p:sp>
      <p:sp>
        <p:nvSpPr>
          <p:cNvPr id="2" name="圆角矩形标注 1"/>
          <p:cNvSpPr/>
          <p:nvPr/>
        </p:nvSpPr>
        <p:spPr bwMode="auto">
          <a:xfrm>
            <a:off x="1348102" y="5264620"/>
            <a:ext cx="1728413" cy="612648"/>
          </a:xfrm>
          <a:prstGeom prst="wedgeRoundRectCallout">
            <a:avLst>
              <a:gd name="adj1" fmla="val 17088"/>
              <a:gd name="adj2" fmla="val -7742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zh-CN" altLang="en-US" sz="1600" dirty="0"/>
              <a:t>初始化列表初始化常成员变量</a:t>
            </a:r>
            <a:r>
              <a:rPr lang="en-US" altLang="zh-CN" sz="16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42923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663352" y="867172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latin typeface="+mj-lt"/>
              </a:rPr>
              <a:t>4.3  </a:t>
            </a:r>
            <a:r>
              <a:rPr lang="zh-CN" altLang="en-US" dirty="0">
                <a:highlight>
                  <a:srgbClr val="FFFF00"/>
                </a:highlight>
              </a:rPr>
              <a:t>常引用</a:t>
            </a:r>
          </a:p>
        </p:txBody>
      </p:sp>
      <p:sp>
        <p:nvSpPr>
          <p:cNvPr id="55298" name="内容占位符 2"/>
          <p:cNvSpPr>
            <a:spLocks noGrp="1"/>
          </p:cNvSpPr>
          <p:nvPr>
            <p:ph idx="1"/>
          </p:nvPr>
        </p:nvSpPr>
        <p:spPr>
          <a:xfrm>
            <a:off x="685800" y="1814364"/>
            <a:ext cx="7772400" cy="4176464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dirty="0">
                <a:latin typeface="Consolas" charset="0"/>
              </a:rPr>
              <a:t>如果在</a:t>
            </a:r>
            <a:r>
              <a:rPr lang="zh-CN" altLang="en-US" dirty="0">
                <a:solidFill>
                  <a:srgbClr val="0070C0"/>
                </a:solidFill>
                <a:latin typeface="Consolas" charset="0"/>
              </a:rPr>
              <a:t>声明引用时</a:t>
            </a:r>
            <a:r>
              <a:rPr lang="zh-CN" altLang="en-US" dirty="0">
                <a:latin typeface="Consolas" charset="0"/>
              </a:rPr>
              <a:t>用</a:t>
            </a:r>
            <a:r>
              <a:rPr lang="en-US" altLang="zh-CN" b="1" dirty="0" err="1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zh-CN" altLang="en-US" dirty="0">
                <a:latin typeface="Consolas" charset="0"/>
              </a:rPr>
              <a:t>修饰，被声明的引用就是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常引用</a:t>
            </a:r>
            <a:r>
              <a:rPr lang="zh-CN" altLang="en-US" dirty="0">
                <a:latin typeface="Consolas" charset="0"/>
              </a:rPr>
              <a:t>。</a:t>
            </a:r>
            <a:endParaRPr lang="en-US" altLang="zh-CN" dirty="0">
              <a:latin typeface="Consolas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latin typeface="Consolas" charset="0"/>
              </a:rPr>
              <a:t>常引用所引用的对象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不能被更新</a:t>
            </a:r>
            <a:r>
              <a:rPr lang="zh-CN" altLang="en-US" dirty="0">
                <a:latin typeface="Consolas" charset="0"/>
              </a:rPr>
              <a:t>。</a:t>
            </a:r>
            <a:endParaRPr lang="en-US" altLang="zh-CN" dirty="0">
              <a:latin typeface="Consolas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latin typeface="Consolas" charset="0"/>
              </a:rPr>
              <a:t>用常引用做形参，便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不会对实参进行更改</a:t>
            </a:r>
            <a:r>
              <a:rPr lang="zh-CN" altLang="en-US" dirty="0">
                <a:latin typeface="Consolas" charset="0"/>
              </a:rPr>
              <a:t>。常引用的声明形式如下：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zh-CN" dirty="0">
                <a:solidFill>
                  <a:srgbClr val="0070C0"/>
                </a:solidFill>
                <a:latin typeface="Consolas" charset="0"/>
              </a:rPr>
              <a:t>const</a:t>
            </a:r>
            <a:r>
              <a:rPr lang="en-US" altLang="zh-CN" dirty="0">
                <a:solidFill>
                  <a:srgbClr val="FF0000"/>
                </a:solidFill>
                <a:latin typeface="Consolas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类型说明符</a:t>
            </a:r>
            <a:r>
              <a:rPr lang="en-US" altLang="zh-CN" dirty="0">
                <a:solidFill>
                  <a:srgbClr val="FF0000"/>
                </a:solidFill>
                <a:latin typeface="Consolas" charset="0"/>
                <a:ea typeface="宋体" charset="-122"/>
              </a:rPr>
              <a:t>  </a:t>
            </a:r>
            <a:r>
              <a:rPr lang="en-US" altLang="zh-CN" dirty="0">
                <a:solidFill>
                  <a:srgbClr val="0070C0"/>
                </a:solidFill>
                <a:latin typeface="Consolas" charset="0"/>
              </a:rPr>
              <a:t>&amp;</a:t>
            </a:r>
            <a:r>
              <a:rPr lang="zh-CN" altLang="en-US" dirty="0">
                <a:solidFill>
                  <a:srgbClr val="C00000"/>
                </a:solidFill>
                <a:latin typeface="Consolas" charset="0"/>
              </a:rPr>
              <a:t>引用名</a:t>
            </a:r>
            <a:r>
              <a:rPr lang="en-US" altLang="zh-CN" dirty="0">
                <a:solidFill>
                  <a:srgbClr val="C00000"/>
                </a:solidFill>
                <a:latin typeface="Consolas" charset="0"/>
              </a:rPr>
              <a:t>;</a:t>
            </a:r>
            <a:endParaRPr lang="zh-CN" altLang="en-US" dirty="0">
              <a:solidFill>
                <a:srgbClr val="C00000"/>
              </a:solidFill>
              <a:latin typeface="Consolas" charset="0"/>
            </a:endParaRP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5EB27A-1C30-034D-AF9E-70A3B7823CF8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122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B0C611-9797-A447-880E-3F30B18857E1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>
          <a:xfrm>
            <a:off x="1814488" y="388635"/>
            <a:ext cx="5688632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例：</a:t>
            </a:r>
            <a:r>
              <a:rPr lang="zh-CN" altLang="en-US" sz="2800" dirty="0"/>
              <a:t>常引用作</a:t>
            </a:r>
            <a:r>
              <a:rPr lang="zh-CN" altLang="en-US" sz="2800" b="1" dirty="0">
                <a:solidFill>
                  <a:srgbClr val="C00000"/>
                </a:solidFill>
              </a:rPr>
              <a:t>形参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17EA86B-0D79-49B2-9AFC-E4EBC9121C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835696" y="1348430"/>
            <a:ext cx="5951538" cy="496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59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charset="2"/>
              <a:buChar char=""/>
              <a:defRPr sz="20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1pPr>
            <a:lvl2pPr marL="557213" indent="-214313" eaLnBrk="0" hangingPunct="0">
              <a:spcBef>
                <a:spcPts val="244"/>
              </a:spcBef>
              <a:buClr>
                <a:schemeClr val="accent1"/>
              </a:buClr>
              <a:buFont typeface="Verdana" charset="0"/>
              <a:buChar char="◦"/>
              <a:defRPr sz="17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2pPr>
            <a:lvl3pPr marL="857250" indent="-171450" eaLnBrk="0" hangingPunct="0">
              <a:spcBef>
                <a:spcPts val="263"/>
              </a:spcBef>
              <a:buClr>
                <a:schemeClr val="accent2"/>
              </a:buClr>
              <a:buSzPct val="100000"/>
              <a:buFont typeface="Wingdings 2" charset="2"/>
              <a:buChar char=""/>
              <a:defRPr sz="157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3pPr>
            <a:lvl4pPr marL="12001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 sz="1425">
                <a:solidFill>
                  <a:schemeClr val="tx1"/>
                </a:solidFill>
                <a:latin typeface="Lucida Sans Unicode" charset="0"/>
                <a:ea typeface="黑体" charset="-122"/>
              </a:defRPr>
            </a:lvl4pPr>
            <a:lvl5pPr marL="1543050" indent="-171450" eaLnBrk="0" hangingPunct="0">
              <a:spcBef>
                <a:spcPts val="263"/>
              </a:spcBef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5pPr>
            <a:lvl6pPr marL="18859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6pPr>
            <a:lvl7pPr marL="22288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7pPr>
            <a:lvl8pPr marL="25717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8pPr>
            <a:lvl9pPr marL="2914650" indent="-171450" eaLnBrk="0" fontAlgn="base" hangingPunct="0">
              <a:spcBef>
                <a:spcPts val="263"/>
              </a:spcBef>
              <a:spcAft>
                <a:spcPct val="0"/>
              </a:spcAft>
              <a:buClr>
                <a:schemeClr val="accent2"/>
              </a:buClr>
              <a:buFont typeface="Wingdings 2" charset="2"/>
              <a:buChar char=""/>
              <a:defRPr>
                <a:solidFill>
                  <a:schemeClr val="tx1"/>
                </a:solidFill>
                <a:latin typeface="Lucida Sans Unicode" charset="0"/>
                <a:ea typeface="黑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75D4B5-2D61-004B-B3BE-86FBCE8D3A4E}" type="slidenum">
              <a:rPr lang="en-US" altLang="zh-CN" sz="750">
                <a:latin typeface="Times New Roman" charset="0"/>
                <a:ea typeface="隶书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CN" sz="750">
              <a:latin typeface="Times New Roman" charset="0"/>
              <a:ea typeface="隶书" charset="0"/>
            </a:endParaRP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4D977BE-69C7-4D70-9051-6B2D7F0FBD1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95341" y="1430338"/>
            <a:ext cx="7654925" cy="4392612"/>
          </a:xfrm>
          <a:prstGeom prst="rect">
            <a:avLst/>
          </a:prstGeom>
        </p:spPr>
      </p:pic>
      <p:sp>
        <p:nvSpPr>
          <p:cNvPr id="55298" name="标题 1"/>
          <p:cNvSpPr>
            <a:spLocks noGrp="1"/>
          </p:cNvSpPr>
          <p:nvPr>
            <p:ph type="title" idx="4294967295"/>
          </p:nvPr>
        </p:nvSpPr>
        <p:spPr>
          <a:xfrm>
            <a:off x="811216" y="675537"/>
            <a:ext cx="7639050" cy="809625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例：常引用作</a:t>
            </a:r>
            <a:r>
              <a:rPr lang="zh-CN" altLang="en-US" b="1" dirty="0">
                <a:solidFill>
                  <a:srgbClr val="C00000"/>
                </a:solidFill>
              </a:rPr>
              <a:t>形参</a:t>
            </a:r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48B64A42-562E-49B9-B4A4-0254B8446132}"/>
              </a:ext>
            </a:extLst>
          </p:cNvPr>
          <p:cNvSpPr/>
          <p:nvPr/>
        </p:nvSpPr>
        <p:spPr>
          <a:xfrm>
            <a:off x="1187624" y="2852936"/>
            <a:ext cx="442392" cy="144016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A3DDA0-9E70-4317-9FFB-177E88B98AEB}"/>
              </a:ext>
            </a:extLst>
          </p:cNvPr>
          <p:cNvSpPr txBox="1"/>
          <p:nvPr/>
        </p:nvSpPr>
        <p:spPr>
          <a:xfrm>
            <a:off x="1763688" y="3473371"/>
            <a:ext cx="571823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// </a:t>
            </a:r>
            <a:r>
              <a:rPr lang="en-US" altLang="zh-CN" sz="1800" dirty="0">
                <a:solidFill>
                  <a:srgbClr val="C00000"/>
                </a:solidFill>
              </a:rPr>
              <a:t>error</a:t>
            </a:r>
            <a:r>
              <a:rPr lang="en-US" altLang="zh-CN" sz="1800" dirty="0"/>
              <a:t>: assignment of member 'Point::x' in </a:t>
            </a:r>
            <a:r>
              <a:rPr lang="en-US" altLang="zh-CN" sz="1800" dirty="0">
                <a:solidFill>
                  <a:srgbClr val="C00000"/>
                </a:solidFill>
              </a:rPr>
              <a:t>read-only object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846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ACC19A4-7BB5-DE43-BA05-A366862F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84076"/>
            <a:ext cx="7772400" cy="947192"/>
          </a:xfrm>
        </p:spPr>
        <p:txBody>
          <a:bodyPr/>
          <a:lstStyle/>
          <a:p>
            <a:r>
              <a:rPr kumimoji="1" lang="zh-CN" altLang="en-US" dirty="0"/>
              <a:t>共享与保护</a:t>
            </a:r>
            <a:r>
              <a:rPr kumimoji="1" lang="zh-CN" altLang="en-US" dirty="0">
                <a:highlight>
                  <a:srgbClr val="FFFF00"/>
                </a:highlight>
              </a:rPr>
              <a:t>小结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C10CF93-ACD2-EE42-BED2-49F3426AE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31268"/>
            <a:ext cx="7772400" cy="4176464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常</a:t>
            </a:r>
            <a:r>
              <a:rPr lang="zh-CN" altLang="en-US" dirty="0"/>
              <a:t>对象</a:t>
            </a:r>
          </a:p>
          <a:p>
            <a:pPr lvl="1"/>
            <a:r>
              <a:rPr lang="zh-CN" altLang="en-US" dirty="0"/>
              <a:t>只能初始化，不能赋值</a:t>
            </a:r>
          </a:p>
          <a:p>
            <a:pPr lvl="1"/>
            <a:r>
              <a:rPr lang="zh-CN" altLang="en-US" dirty="0"/>
              <a:t>只能调用常成员函数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常</a:t>
            </a:r>
            <a:r>
              <a:rPr lang="zh-CN" altLang="en-US" dirty="0"/>
              <a:t>数据成员</a:t>
            </a:r>
          </a:p>
          <a:p>
            <a:pPr lvl="1"/>
            <a:r>
              <a:rPr lang="zh-CN" altLang="en-US" dirty="0"/>
              <a:t>只能通过初始化列表获得初值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常</a:t>
            </a:r>
            <a:r>
              <a:rPr lang="zh-CN" altLang="en-US" dirty="0"/>
              <a:t>成员函数</a:t>
            </a:r>
          </a:p>
          <a:p>
            <a:pPr lvl="1"/>
            <a:r>
              <a:rPr lang="zh-CN" altLang="en-US" dirty="0"/>
              <a:t>常对象唯一的对外接口，不能更新数据成员</a:t>
            </a:r>
          </a:p>
          <a:p>
            <a:pPr lvl="1"/>
            <a:r>
              <a:rPr lang="zh-CN" altLang="en-US" dirty="0"/>
              <a:t>调用时，目的对象视为常对象，函数内不能针对目的对象调用该类中没有 </a:t>
            </a:r>
            <a:r>
              <a:rPr lang="en-US" altLang="zh-CN" b="1" dirty="0" err="1">
                <a:solidFill>
                  <a:srgbClr val="0070C0"/>
                </a:solidFill>
              </a:rPr>
              <a:t>const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zh-CN" altLang="en-US" dirty="0"/>
              <a:t>修饰的成员函数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0632A5-3FAE-CD43-932F-2C5C5A86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7975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2337-1020-4524-86E4-EEB7C364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作用域与可见性</a:t>
            </a:r>
          </a:p>
          <a:p>
            <a:r>
              <a:rPr lang="zh-CN" altLang="en-US" dirty="0"/>
              <a:t>对象生存周期</a:t>
            </a:r>
          </a:p>
          <a:p>
            <a:r>
              <a:rPr lang="zh-CN" altLang="en-US" dirty="0"/>
              <a:t>类的静态成员</a:t>
            </a:r>
          </a:p>
          <a:p>
            <a:r>
              <a:rPr lang="zh-CN" altLang="en-US" dirty="0"/>
              <a:t>共享与保护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string </a:t>
            </a:r>
            <a:r>
              <a:rPr lang="zh-CN" altLang="en-US" dirty="0">
                <a:solidFill>
                  <a:srgbClr val="C00000"/>
                </a:solidFill>
              </a:rPr>
              <a:t>类（自习）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843-A20C-4AB5-AAD9-ADFBD68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21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内容占位符 2">
            <a:extLst>
              <a:ext uri="{FF2B5EF4-FFF2-40B4-BE49-F238E27FC236}">
                <a16:creationId xmlns:a16="http://schemas.microsoft.com/office/drawing/2014/main" id="{9BD13804-C38A-4673-BF5D-64FE81DC7DA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6287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rgbClr val="0070C0"/>
                </a:solidFill>
              </a:rPr>
              <a:t>字符串常量</a:t>
            </a:r>
            <a:r>
              <a:rPr lang="zh-CN" altLang="en-US" sz="2400" dirty="0"/>
              <a:t>（例：</a:t>
            </a:r>
            <a:r>
              <a:rPr lang="en-US" altLang="zh-CN" sz="2400" dirty="0"/>
              <a:t>"</a:t>
            </a:r>
            <a:r>
              <a:rPr lang="en-US" altLang="zh-CN" sz="2400" dirty="0">
                <a:latin typeface="Times New Roman" panose="02020603050405020304" pitchFamily="18" charset="0"/>
              </a:rPr>
              <a:t>program</a:t>
            </a:r>
            <a:r>
              <a:rPr lang="en-US" altLang="zh-CN" sz="2400" dirty="0"/>
              <a:t>"</a:t>
            </a:r>
            <a:r>
              <a:rPr lang="zh-CN" altLang="en-US" sz="2400" dirty="0"/>
              <a:t>）</a:t>
            </a:r>
          </a:p>
          <a:p>
            <a:pPr lvl="1" eaLnBrk="1" hangingPunct="1"/>
            <a:r>
              <a:rPr lang="zh-CN" altLang="en-US" sz="2000" dirty="0"/>
              <a:t>各字符连续、顺序存放，每个字符占一个字节，以</a:t>
            </a:r>
            <a:r>
              <a:rPr lang="zh-CN" altLang="en-US" sz="2000" dirty="0">
                <a:latin typeface="Times New Roman" panose="02020603050405020304" pitchFamily="18" charset="0"/>
              </a:rPr>
              <a:t>‘</a:t>
            </a:r>
            <a:r>
              <a:rPr lang="en-US" altLang="zh-CN" sz="2000" dirty="0">
                <a:latin typeface="Times New Roman" panose="02020603050405020304" pitchFamily="18" charset="0"/>
              </a:rPr>
              <a:t>\0’</a:t>
            </a:r>
            <a:r>
              <a:rPr lang="zh-CN" altLang="en-US" sz="2000" dirty="0"/>
              <a:t>结尾，相当于一个隐含创建的字符常量数组</a:t>
            </a:r>
          </a:p>
          <a:p>
            <a:pPr lvl="1" eaLnBrk="1" hangingPunct="1"/>
            <a:r>
              <a:rPr lang="zh-CN" altLang="en-US" sz="2000" dirty="0"/>
              <a:t>“</a:t>
            </a:r>
            <a:r>
              <a:rPr lang="en-US" altLang="zh-CN" sz="2000" dirty="0">
                <a:latin typeface="Times New Roman" panose="02020603050405020304" pitchFamily="18" charset="0"/>
              </a:rPr>
              <a:t>program</a:t>
            </a:r>
            <a:r>
              <a:rPr lang="en-US" altLang="zh-CN" sz="2000" dirty="0"/>
              <a:t>”</a:t>
            </a:r>
            <a:r>
              <a:rPr lang="zh-CN" altLang="en-US" sz="2000" dirty="0"/>
              <a:t>出现在表达式中，表示这一</a:t>
            </a:r>
            <a:r>
              <a:rPr lang="en-US" altLang="zh-CN" sz="2000" dirty="0"/>
              <a:t>char</a:t>
            </a:r>
            <a:r>
              <a:rPr lang="zh-CN" altLang="en-US" sz="2000" dirty="0"/>
              <a:t>数组的首地址</a:t>
            </a:r>
          </a:p>
          <a:p>
            <a:pPr lvl="1" eaLnBrk="1" hangingPunct="1"/>
            <a:r>
              <a:rPr lang="zh-CN" altLang="en-US" sz="2000" dirty="0">
                <a:solidFill>
                  <a:srgbClr val="C00000"/>
                </a:solidFill>
              </a:rPr>
              <a:t>首地址</a:t>
            </a:r>
            <a:r>
              <a:rPr lang="zh-CN" altLang="en-US" sz="2000" dirty="0"/>
              <a:t>可以赋给</a:t>
            </a:r>
            <a:r>
              <a:rPr lang="en-US" altLang="zh-CN" sz="2000" dirty="0"/>
              <a:t>char</a:t>
            </a:r>
            <a:r>
              <a:rPr lang="zh-CN" altLang="en-US" sz="2000" dirty="0"/>
              <a:t>常量指针：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const char *STRING1 = "program";</a:t>
            </a:r>
          </a:p>
          <a:p>
            <a:pPr eaLnBrk="1" hangingPunct="1"/>
            <a:r>
              <a:rPr lang="zh-CN" altLang="en-US" sz="2400" dirty="0">
                <a:solidFill>
                  <a:srgbClr val="0070C0"/>
                </a:solidFill>
              </a:rPr>
              <a:t>字符串变量</a:t>
            </a:r>
          </a:p>
          <a:p>
            <a:pPr lvl="1" eaLnBrk="1" hangingPunct="1"/>
            <a:r>
              <a:rPr lang="zh-CN" altLang="en-US" sz="2000" dirty="0"/>
              <a:t>可以显式创建</a:t>
            </a:r>
            <a:r>
              <a:rPr lang="zh-CN" altLang="en-US" sz="2000" dirty="0">
                <a:solidFill>
                  <a:srgbClr val="0070C0"/>
                </a:solidFill>
              </a:rPr>
              <a:t>字符数组</a:t>
            </a:r>
            <a:r>
              <a:rPr lang="zh-CN" altLang="en-US" sz="2000" dirty="0"/>
              <a:t>来表示字符串变量，例如，以下三条语句具有等价的作用：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char str[8] = { 'p', 'r', 'o', 'g', 'r', 'a', 'm', '\0' };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char str[8] = "program";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char str[] = "program";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46" name="灯片编号占位符 3">
            <a:extLst>
              <a:ext uri="{FF2B5EF4-FFF2-40B4-BE49-F238E27FC236}">
                <a16:creationId xmlns:a16="http://schemas.microsoft.com/office/drawing/2014/main" id="{AECAEF83-FF82-4AE3-8EC7-23E7C08C254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18" charset="2"/>
              <a:buNone/>
            </a:pPr>
            <a:fld id="{119E3C73-CFE2-41DF-93E1-FC8CE17393AF}" type="slidenum">
              <a:rPr lang="en-US" altLang="zh-CN" sz="1000"/>
              <a:pPr algn="r" eaLnBrk="1" hangingPunct="1">
                <a:buSzPct val="100000"/>
                <a:buFont typeface="Wingdings 3" panose="05040102010807070707" pitchFamily="18" charset="2"/>
                <a:buNone/>
              </a:pPr>
              <a:t>46</a:t>
            </a:fld>
            <a:endParaRPr lang="en-US" altLang="zh-CN" sz="1000"/>
          </a:p>
        </p:txBody>
      </p:sp>
      <p:graphicFrame>
        <p:nvGraphicFramePr>
          <p:cNvPr id="13317" name="表格 13316">
            <a:extLst>
              <a:ext uri="{FF2B5EF4-FFF2-40B4-BE49-F238E27FC236}">
                <a16:creationId xmlns:a16="http://schemas.microsoft.com/office/drawing/2014/main" id="{35DA234D-336D-E144-9A6A-2A8183B940F7}"/>
              </a:ext>
            </a:extLst>
          </p:cNvPr>
          <p:cNvGraphicFramePr/>
          <p:nvPr>
            <p:extLst/>
          </p:nvPr>
        </p:nvGraphicFramePr>
        <p:xfrm>
          <a:off x="4572000" y="5536786"/>
          <a:ext cx="4024313" cy="503832"/>
        </p:xfrm>
        <a:graphic>
          <a:graphicData uri="http://schemas.openxmlformats.org/drawingml/2006/table">
            <a:tbl>
              <a:tblPr/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3832"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p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r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o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g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r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a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m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2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2" charset="0"/>
                          <a:ea typeface="黑体" panose="02010609060101010101" pitchFamily="1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1" charset="-122"/>
                          <a:ea typeface="黑体" panose="02010609060101010101" pitchFamily="1" charset="-122"/>
                        </a:rPr>
                        <a:t>\0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1" charset="-122"/>
                        <a:ea typeface="黑体" panose="02010609060101010101" pitchFamily="1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968" name="矩形 13336">
            <a:extLst>
              <a:ext uri="{FF2B5EF4-FFF2-40B4-BE49-F238E27FC236}">
                <a16:creationId xmlns:a16="http://schemas.microsoft.com/office/drawing/2014/main" id="{20E00BAB-D8F0-49B2-97ED-A901BF43FD0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51520" y="54868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C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中采用</a:t>
            </a:r>
            <a:r>
              <a:rPr lang="zh-CN" altLang="en-US" sz="4100" b="1" dirty="0">
                <a:solidFill>
                  <a:srgbClr val="0070C0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字符数组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来处理字符串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839EC4-8F79-4E41-A579-B1630DD74825}"/>
              </a:ext>
            </a:extLst>
          </p:cNvPr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标题 14337">
            <a:extLst>
              <a:ext uri="{FF2B5EF4-FFF2-40B4-BE49-F238E27FC236}">
                <a16:creationId xmlns:a16="http://schemas.microsoft.com/office/drawing/2014/main" id="{D5B14814-3A42-4FBC-B497-CAFB9C024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烫人的字符串</a:t>
            </a:r>
          </a:p>
        </p:txBody>
      </p:sp>
      <p:pic>
        <p:nvPicPr>
          <p:cNvPr id="83970" name="内容占位符 14338" descr="54fbb2fb43166d22934b7779432309f79052d21b">
            <a:extLst>
              <a:ext uri="{FF2B5EF4-FFF2-40B4-BE49-F238E27FC236}">
                <a16:creationId xmlns:a16="http://schemas.microsoft.com/office/drawing/2014/main" id="{18F7938B-004B-4AC2-8613-E9A225F208A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0337" y="1549504"/>
            <a:ext cx="7726363" cy="4537075"/>
          </a:xfr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5" name="标题 1">
            <a:extLst>
              <a:ext uri="{FF2B5EF4-FFF2-40B4-BE49-F238E27FC236}">
                <a16:creationId xmlns:a16="http://schemas.microsoft.com/office/drawing/2014/main" id="{2F9BF24C-ED34-44AD-BDCA-BB05F6766F44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795" y="431800"/>
            <a:ext cx="6400409" cy="887413"/>
          </a:xfrm>
        </p:spPr>
      </p:pic>
      <p:sp>
        <p:nvSpPr>
          <p:cNvPr id="84993" name="内容占位符 2">
            <a:extLst>
              <a:ext uri="{FF2B5EF4-FFF2-40B4-BE49-F238E27FC236}">
                <a16:creationId xmlns:a16="http://schemas.microsoft.com/office/drawing/2014/main" id="{AD1140E2-1695-4087-8767-FE0712036CE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57199" y="14049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用字符数组表示字符串的</a:t>
            </a:r>
            <a:r>
              <a:rPr lang="zh-CN" altLang="en-US" sz="2800" b="1" dirty="0">
                <a:solidFill>
                  <a:srgbClr val="0070C0"/>
                </a:solidFill>
              </a:rPr>
              <a:t>缺点</a:t>
            </a:r>
            <a:endParaRPr lang="zh-CN" altLang="en-US" sz="2400" b="1" dirty="0">
              <a:solidFill>
                <a:srgbClr val="0070C0"/>
              </a:solidFill>
            </a:endParaRPr>
          </a:p>
          <a:p>
            <a:pPr lvl="1" eaLnBrk="1" hangingPunct="1"/>
            <a:r>
              <a:rPr lang="zh-CN" altLang="en-US" sz="2400" dirty="0"/>
              <a:t>执行连接、拷贝、比较等操作，都需要显式</a:t>
            </a:r>
            <a:r>
              <a:rPr lang="zh-CN" altLang="en-US" sz="2400" dirty="0">
                <a:solidFill>
                  <a:srgbClr val="0070C0"/>
                </a:solidFill>
              </a:rPr>
              <a:t>调用库函数</a:t>
            </a:r>
            <a:r>
              <a:rPr lang="zh-CN" altLang="en-US" sz="2400" dirty="0"/>
              <a:t>，很麻烦</a:t>
            </a:r>
          </a:p>
          <a:p>
            <a:pPr lvl="1" eaLnBrk="1" hangingPunct="1"/>
            <a:r>
              <a:rPr lang="zh-CN" altLang="en-US" sz="2400" dirty="0"/>
              <a:t>当字符串</a:t>
            </a:r>
            <a:r>
              <a:rPr lang="zh-CN" altLang="en-US" sz="2400" dirty="0">
                <a:solidFill>
                  <a:srgbClr val="0070C0"/>
                </a:solidFill>
              </a:rPr>
              <a:t>长度很不确定</a:t>
            </a:r>
            <a:r>
              <a:rPr lang="zh-CN" altLang="en-US" sz="2400" dirty="0"/>
              <a:t>时，需要用</a:t>
            </a:r>
            <a:r>
              <a:rPr lang="en-US" altLang="zh-CN" sz="2400" dirty="0">
                <a:latin typeface="Times New Roman" panose="02020603050405020304" pitchFamily="18" charset="0"/>
              </a:rPr>
              <a:t>new</a:t>
            </a:r>
            <a:r>
              <a:rPr lang="zh-CN" altLang="en-US" sz="2400" dirty="0"/>
              <a:t>动态创建字符数组，最后要用</a:t>
            </a:r>
            <a:r>
              <a:rPr lang="en-US" altLang="zh-CN" sz="2400" dirty="0">
                <a:latin typeface="Times New Roman" panose="02020603050405020304" pitchFamily="18" charset="0"/>
              </a:rPr>
              <a:t>delete</a:t>
            </a:r>
            <a:r>
              <a:rPr lang="zh-CN" altLang="en-US" sz="2400" dirty="0"/>
              <a:t>释放，很繁琐</a:t>
            </a:r>
          </a:p>
          <a:p>
            <a:pPr lvl="1" eaLnBrk="1" hangingPunct="1"/>
            <a:r>
              <a:rPr lang="zh-CN" altLang="en-US" sz="2400" dirty="0"/>
              <a:t>字符串实际长度大于为它分配的空间时，会产生数组下标</a:t>
            </a:r>
            <a:r>
              <a:rPr lang="zh-CN" altLang="en-US" sz="2400" dirty="0">
                <a:solidFill>
                  <a:srgbClr val="0070C0"/>
                </a:solidFill>
              </a:rPr>
              <a:t>越界的错误</a:t>
            </a:r>
          </a:p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解决方法</a:t>
            </a:r>
          </a:p>
          <a:p>
            <a:pPr lvl="1" eaLnBrk="1" hangingPunct="1"/>
            <a:r>
              <a:rPr lang="zh-CN" altLang="en-US" sz="2400" dirty="0"/>
              <a:t>使用字符串类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string</a:t>
            </a:r>
            <a:r>
              <a:rPr lang="zh-CN" altLang="en-US" sz="2400" dirty="0"/>
              <a:t>表示字符串</a:t>
            </a:r>
          </a:p>
          <a:p>
            <a:pPr lvl="1"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string</a:t>
            </a:r>
            <a:r>
              <a:rPr lang="zh-CN" altLang="en-US" sz="2400" dirty="0"/>
              <a:t>实际上是对字符数组操作的</a:t>
            </a:r>
            <a:r>
              <a:rPr lang="zh-CN" altLang="en-US" sz="2800" b="1" dirty="0">
                <a:solidFill>
                  <a:srgbClr val="0070C0"/>
                </a:solidFill>
              </a:rPr>
              <a:t>封装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84994" name="灯片编号占位符 3">
            <a:extLst>
              <a:ext uri="{FF2B5EF4-FFF2-40B4-BE49-F238E27FC236}">
                <a16:creationId xmlns:a16="http://schemas.microsoft.com/office/drawing/2014/main" id="{770B9D00-5543-48C9-9FE9-7BF2953D726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18" charset="2"/>
              <a:buNone/>
            </a:pPr>
            <a:fld id="{D8117BFC-EFD0-4F1B-B71F-A4AF5D7B74C4}" type="slidenum">
              <a:rPr lang="en-US" altLang="zh-CN" sz="1000"/>
              <a:pPr algn="r" eaLnBrk="1" hangingPunct="1">
                <a:buSzPct val="100000"/>
                <a:buFont typeface="Wingdings 3" panose="05040102010807070707" pitchFamily="18" charset="2"/>
                <a:buNone/>
              </a:pPr>
              <a:t>48</a:t>
            </a:fld>
            <a:endParaRPr lang="en-US" altLang="zh-CN" sz="100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内容占位符 2">
            <a:extLst>
              <a:ext uri="{FF2B5EF4-FFF2-40B4-BE49-F238E27FC236}">
                <a16:creationId xmlns:a16="http://schemas.microsoft.com/office/drawing/2014/main" id="{B04F84DD-7EA5-436D-88AC-D5F7D5F0CE4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50825" y="1908175"/>
            <a:ext cx="8893175" cy="3514725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常用构造函数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string(); </a:t>
            </a:r>
            <a:r>
              <a:rPr lang="en-US" altLang="zh-CN" sz="2000" dirty="0"/>
              <a:t>//</a:t>
            </a:r>
            <a:r>
              <a:rPr lang="zh-CN" altLang="en-US" sz="2000" dirty="0"/>
              <a:t>缺省构造函数，建立一个</a:t>
            </a:r>
            <a:r>
              <a:rPr lang="zh-CN" altLang="en-US" sz="2000" dirty="0">
                <a:solidFill>
                  <a:srgbClr val="0070C0"/>
                </a:solidFill>
              </a:rPr>
              <a:t>长度为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70C0"/>
                </a:solidFill>
              </a:rPr>
              <a:t>的串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string(const char *s);  </a:t>
            </a:r>
            <a:r>
              <a:rPr lang="en-US" altLang="zh-CN" sz="2000" dirty="0"/>
              <a:t>//</a:t>
            </a:r>
            <a:r>
              <a:rPr lang="zh-CN" altLang="en-US" sz="2000" dirty="0"/>
              <a:t>用指针</a:t>
            </a:r>
            <a:r>
              <a:rPr lang="en-US" altLang="zh-CN" sz="2000" dirty="0">
                <a:latin typeface="Times New Roman" panose="02020603050405020304" pitchFamily="18" charset="0"/>
              </a:rPr>
              <a:t>s</a:t>
            </a:r>
            <a:r>
              <a:rPr lang="zh-CN" altLang="en-US" sz="2000" dirty="0"/>
              <a:t>所指向的字符串常量</a:t>
            </a:r>
            <a:r>
              <a:rPr lang="zh-CN" altLang="en-US" sz="2000" dirty="0">
                <a:solidFill>
                  <a:srgbClr val="0070C0"/>
                </a:solidFill>
              </a:rPr>
              <a:t>初始化</a:t>
            </a:r>
            <a:r>
              <a:rPr lang="en-US" altLang="zh-CN" sz="2000" dirty="0">
                <a:latin typeface="Times New Roman" panose="02020603050405020304" pitchFamily="18" charset="0"/>
              </a:rPr>
              <a:t>string</a:t>
            </a:r>
            <a:r>
              <a:rPr lang="zh-CN" altLang="en-US" sz="2000" dirty="0"/>
              <a:t>类的对象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string(const string&amp; </a:t>
            </a:r>
            <a:r>
              <a:rPr lang="en-US" altLang="zh-CN" sz="2000" dirty="0" err="1">
                <a:latin typeface="Times New Roman" panose="02020603050405020304" pitchFamily="18" charset="0"/>
              </a:rPr>
              <a:t>rhs</a:t>
            </a:r>
            <a:r>
              <a:rPr lang="en-US" altLang="zh-CN" sz="2000" dirty="0">
                <a:latin typeface="Times New Roman" panose="02020603050405020304" pitchFamily="18" charset="0"/>
              </a:rPr>
              <a:t>);  </a:t>
            </a:r>
            <a:r>
              <a:rPr lang="en-US" altLang="zh-CN" sz="2000" dirty="0"/>
              <a:t>//</a:t>
            </a:r>
            <a:r>
              <a:rPr lang="zh-CN" altLang="en-US" sz="2000" dirty="0"/>
              <a:t>拷贝构造函数</a:t>
            </a:r>
          </a:p>
          <a:p>
            <a:pPr eaLnBrk="1" hangingPunct="1"/>
            <a:r>
              <a:rPr lang="zh-CN" altLang="en-US" sz="2400" dirty="0"/>
              <a:t>例：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 s1;</a:t>
            </a:r>
            <a:r>
              <a:rPr lang="en-US" altLang="zh-CN" sz="2000" dirty="0"/>
              <a:t>	 	  //</a:t>
            </a:r>
            <a:r>
              <a:rPr lang="zh-CN" altLang="en-US" sz="2000" dirty="0"/>
              <a:t>建立一个空字符串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 s2 = “</a:t>
            </a:r>
            <a:r>
              <a:rPr lang="en-US" altLang="zh-CN" sz="2000" dirty="0" err="1">
                <a:latin typeface="Times New Roman" panose="02020603050405020304" pitchFamily="18" charset="0"/>
              </a:rPr>
              <a:t>abc</a:t>
            </a:r>
            <a:r>
              <a:rPr lang="en-US" altLang="zh-CN" sz="2000" dirty="0">
                <a:latin typeface="Times New Roman" panose="02020603050405020304" pitchFamily="18" charset="0"/>
              </a:rPr>
              <a:t>”;     </a:t>
            </a:r>
            <a:r>
              <a:rPr lang="en-US" altLang="zh-CN" sz="2000" dirty="0"/>
              <a:t>//</a:t>
            </a:r>
            <a:r>
              <a:rPr lang="zh-CN" altLang="en-US" sz="2000" dirty="0"/>
              <a:t>用常量建立一个初值为</a:t>
            </a:r>
            <a:r>
              <a:rPr lang="zh-CN" altLang="en-US" sz="2000" dirty="0">
                <a:latin typeface="Times New Roman" panose="02020603050405020304" pitchFamily="18" charset="0"/>
              </a:rPr>
              <a:t>”</a:t>
            </a:r>
            <a:r>
              <a:rPr lang="en-US" altLang="zh-CN" sz="2000" dirty="0" err="1">
                <a:latin typeface="Times New Roman" panose="02020603050405020304" pitchFamily="18" charset="0"/>
              </a:rPr>
              <a:t>abc</a:t>
            </a:r>
            <a:r>
              <a:rPr lang="en-US" altLang="zh-CN" sz="2000" dirty="0">
                <a:latin typeface="Times New Roman" panose="02020603050405020304" pitchFamily="18" charset="0"/>
              </a:rPr>
              <a:t>”</a:t>
            </a:r>
            <a:r>
              <a:rPr lang="zh-CN" altLang="en-US" sz="2000" dirty="0"/>
              <a:t>的字符串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 s3 = s2;          </a:t>
            </a:r>
            <a:r>
              <a:rPr lang="en-US" altLang="zh-CN" sz="2000" dirty="0"/>
              <a:t>//</a:t>
            </a:r>
            <a:r>
              <a:rPr lang="zh-CN" altLang="en-US" sz="2000" dirty="0"/>
              <a:t>执行拷贝构造函数，用</a:t>
            </a:r>
            <a:r>
              <a:rPr lang="en-US" altLang="zh-CN" sz="2000" dirty="0">
                <a:latin typeface="Times New Roman" panose="02020603050405020304" pitchFamily="18" charset="0"/>
              </a:rPr>
              <a:t>s2</a:t>
            </a:r>
            <a:r>
              <a:rPr lang="zh-CN" altLang="en-US" sz="2000" dirty="0"/>
              <a:t>的值作为</a:t>
            </a:r>
            <a:r>
              <a:rPr lang="en-US" altLang="zh-CN" sz="2000" dirty="0">
                <a:latin typeface="Times New Roman" panose="02020603050405020304" pitchFamily="18" charset="0"/>
              </a:rPr>
              <a:t>s3</a:t>
            </a:r>
            <a:r>
              <a:rPr lang="zh-CN" altLang="en-US" sz="2000" dirty="0"/>
              <a:t>的初值</a:t>
            </a:r>
          </a:p>
        </p:txBody>
      </p:sp>
      <p:sp>
        <p:nvSpPr>
          <p:cNvPr id="86018" name="灯片编号占位符 3">
            <a:extLst>
              <a:ext uri="{FF2B5EF4-FFF2-40B4-BE49-F238E27FC236}">
                <a16:creationId xmlns:a16="http://schemas.microsoft.com/office/drawing/2014/main" id="{D9649126-A252-43A7-B270-3326E1358E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18" charset="2"/>
              <a:buNone/>
            </a:pPr>
            <a:fld id="{3D68C5D8-0FC9-4FA2-8203-BD6A76A3B32D}" type="slidenum">
              <a:rPr lang="en-US" altLang="zh-CN" sz="1000"/>
              <a:pPr algn="r" eaLnBrk="1" hangingPunct="1">
                <a:buSzPct val="100000"/>
                <a:buFont typeface="Wingdings 3" panose="05040102010807070707" pitchFamily="18" charset="2"/>
                <a:buNone/>
              </a:pPr>
              <a:t>49</a:t>
            </a:fld>
            <a:endParaRPr lang="en-US" altLang="zh-CN" sz="1000"/>
          </a:p>
        </p:txBody>
      </p:sp>
      <p:sp>
        <p:nvSpPr>
          <p:cNvPr id="86020" name="矩形 16388">
            <a:extLst>
              <a:ext uri="{FF2B5EF4-FFF2-40B4-BE49-F238E27FC236}">
                <a16:creationId xmlns:a16="http://schemas.microsoft.com/office/drawing/2014/main" id="{AE61B7EF-01E4-4598-AB15-A721ECD30C6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23528" y="76470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内容占位符 2">
            <a:extLst>
              <a:ext uri="{FF2B5EF4-FFF2-40B4-BE49-F238E27FC236}">
                <a16:creationId xmlns:a16="http://schemas.microsoft.com/office/drawing/2014/main" id="{60486798-1DA4-4ABC-BF18-C5BCDB53212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14400" y="981075"/>
            <a:ext cx="8229600" cy="5116513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</a:rPr>
              <a:t>常用操作符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+ t	</a:t>
            </a:r>
            <a:r>
              <a:rPr lang="zh-CN" altLang="en-US" sz="1800" dirty="0"/>
              <a:t>将串</a:t>
            </a:r>
            <a:r>
              <a:rPr lang="en-US" altLang="zh-CN" sz="1800" dirty="0"/>
              <a:t>s</a:t>
            </a:r>
            <a:r>
              <a:rPr lang="zh-CN" altLang="en-US" sz="1800" dirty="0"/>
              <a:t>和</a:t>
            </a:r>
            <a:r>
              <a:rPr lang="en-US" altLang="zh-CN" sz="1800" dirty="0"/>
              <a:t>t</a:t>
            </a:r>
            <a:r>
              <a:rPr lang="zh-CN" altLang="en-US" sz="1800" dirty="0"/>
              <a:t>连接成一个新串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= t	</a:t>
            </a:r>
            <a:r>
              <a:rPr lang="zh-CN" altLang="en-US" sz="1800" dirty="0"/>
              <a:t>用</a:t>
            </a:r>
            <a:r>
              <a:rPr lang="en-US" altLang="zh-CN" sz="1800" dirty="0"/>
              <a:t>t</a:t>
            </a:r>
            <a:r>
              <a:rPr lang="zh-CN" altLang="en-US" sz="1800" dirty="0"/>
              <a:t>更新</a:t>
            </a:r>
            <a:r>
              <a:rPr lang="en-US" altLang="zh-CN" sz="1800" dirty="0"/>
              <a:t>s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==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与</a:t>
            </a:r>
            <a:r>
              <a:rPr lang="en-US" altLang="zh-CN" sz="1800" dirty="0"/>
              <a:t>t</a:t>
            </a:r>
            <a:r>
              <a:rPr lang="zh-CN" altLang="en-US" sz="1800" dirty="0"/>
              <a:t>是否相等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!=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与</a:t>
            </a:r>
            <a:r>
              <a:rPr lang="en-US" altLang="zh-CN" sz="1800" dirty="0"/>
              <a:t>t</a:t>
            </a:r>
            <a:r>
              <a:rPr lang="zh-CN" altLang="en-US" sz="1800" dirty="0"/>
              <a:t>是否不等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&lt;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是否小于</a:t>
            </a:r>
            <a:r>
              <a:rPr lang="en-US" altLang="zh-CN" sz="1800" dirty="0"/>
              <a:t>t</a:t>
            </a:r>
            <a:r>
              <a:rPr lang="zh-CN" altLang="en-US" sz="1800" dirty="0"/>
              <a:t>（按字典顺序比较）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&lt;=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是否小于或等于</a:t>
            </a:r>
            <a:r>
              <a:rPr lang="en-US" altLang="zh-CN" sz="1800" dirty="0"/>
              <a:t>t </a:t>
            </a:r>
            <a:r>
              <a:rPr lang="zh-CN" altLang="en-US" sz="1800" dirty="0"/>
              <a:t>（按字典顺序比较）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&gt;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是否大于</a:t>
            </a:r>
            <a:r>
              <a:rPr lang="en-US" altLang="zh-CN" sz="1800" dirty="0"/>
              <a:t>t </a:t>
            </a:r>
            <a:r>
              <a:rPr lang="zh-CN" altLang="en-US" sz="1800" dirty="0"/>
              <a:t>（按字典顺序比较）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&gt;=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是否大于或等于</a:t>
            </a:r>
            <a:r>
              <a:rPr lang="en-US" altLang="zh-CN" sz="1800" dirty="0"/>
              <a:t>t </a:t>
            </a:r>
            <a:r>
              <a:rPr lang="zh-CN" altLang="en-US" sz="1800" dirty="0"/>
              <a:t>（按字典顺序比较）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	</a:t>
            </a:r>
            <a:r>
              <a:rPr lang="zh-CN" altLang="en-US" sz="1800" dirty="0"/>
              <a:t>访问串中下标为</a:t>
            </a:r>
            <a:r>
              <a:rPr lang="en-US" altLang="zh-CN" sz="1800" dirty="0" err="1"/>
              <a:t>i</a:t>
            </a:r>
            <a:r>
              <a:rPr lang="zh-CN" altLang="en-US" sz="1800" dirty="0"/>
              <a:t>的字符</a:t>
            </a:r>
          </a:p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000" dirty="0"/>
              <a:t>例：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string s1 = "</a:t>
            </a:r>
            <a:r>
              <a:rPr lang="en-US" altLang="zh-CN" sz="1800" dirty="0" err="1">
                <a:latin typeface="Times New Roman" panose="02020603050405020304" pitchFamily="18" charset="0"/>
              </a:rPr>
              <a:t>abc</a:t>
            </a:r>
            <a:r>
              <a:rPr lang="en-US" altLang="zh-CN" sz="1800" dirty="0">
                <a:latin typeface="Times New Roman" panose="02020603050405020304" pitchFamily="18" charset="0"/>
              </a:rPr>
              <a:t>", s2 = "def";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string s3 = s1 + s2;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anose="02020603050405020304" pitchFamily="18" charset="0"/>
              </a:rPr>
              <a:t>"</a:t>
            </a:r>
            <a:r>
              <a:rPr lang="en-US" altLang="zh-CN" sz="1800" dirty="0" err="1">
                <a:latin typeface="Times New Roman" panose="02020603050405020304" pitchFamily="18" charset="0"/>
              </a:rPr>
              <a:t>abcdef</a:t>
            </a:r>
            <a:r>
              <a:rPr lang="en-US" altLang="zh-CN" sz="1800" dirty="0">
                <a:latin typeface="Times New Roman" panose="02020603050405020304" pitchFamily="18" charset="0"/>
              </a:rPr>
              <a:t>"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bool s4 = (s1 &lt; s2);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anose="02020603050405020304" pitchFamily="18" charset="0"/>
              </a:rPr>
              <a:t>true</a:t>
            </a:r>
          </a:p>
          <a:p>
            <a:pPr marL="657225" lvl="1" indent="-246063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char s5 = s2[1];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anose="02020603050405020304" pitchFamily="18" charset="0"/>
              </a:rPr>
              <a:t>'e'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042" name="灯片编号占位符 3">
            <a:extLst>
              <a:ext uri="{FF2B5EF4-FFF2-40B4-BE49-F238E27FC236}">
                <a16:creationId xmlns:a16="http://schemas.microsoft.com/office/drawing/2014/main" id="{914DED92-EF3B-4B47-BB1C-36B062B68E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18" charset="2"/>
              <a:buNone/>
            </a:pPr>
            <a:fld id="{01A4C465-8496-40E2-8A61-11469D06F0BD}" type="slidenum">
              <a:rPr lang="en-US" altLang="zh-CN" sz="1000"/>
              <a:pPr algn="r" eaLnBrk="1" hangingPunct="1">
                <a:buSzPct val="100000"/>
                <a:buFont typeface="Wingdings 3" panose="05040102010807070707" pitchFamily="18" charset="2"/>
                <a:buNone/>
              </a:pPr>
              <a:t>50</a:t>
            </a:fld>
            <a:endParaRPr lang="en-US" altLang="zh-CN" sz="100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3">
            <a:extLst>
              <a:ext uri="{FF2B5EF4-FFF2-40B4-BE49-F238E27FC236}">
                <a16:creationId xmlns:a16="http://schemas.microsoft.com/office/drawing/2014/main" id="{497FF2F9-0A26-4462-8D82-E8F1F800C08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18" charset="2"/>
              <a:buNone/>
            </a:pPr>
            <a:fld id="{DC7CE28D-488E-4991-B54A-FD223B199A20}" type="slidenum">
              <a:rPr lang="en-US" altLang="zh-CN" sz="1000"/>
              <a:pPr algn="r" eaLnBrk="1" hangingPunct="1">
                <a:buSzPct val="100000"/>
                <a:buFont typeface="Wingdings 3" panose="05040102010807070707" pitchFamily="18" charset="2"/>
                <a:buNone/>
              </a:pPr>
              <a:t>51</a:t>
            </a:fld>
            <a:endParaRPr lang="en-US" altLang="zh-CN" sz="1000"/>
          </a:p>
        </p:txBody>
      </p:sp>
      <p:sp>
        <p:nvSpPr>
          <p:cNvPr id="88068" name="矩形 18436">
            <a:extLst>
              <a:ext uri="{FF2B5EF4-FFF2-40B4-BE49-F238E27FC236}">
                <a16:creationId xmlns:a16="http://schemas.microsoft.com/office/drawing/2014/main" id="{214B9FAF-CA17-4E88-B81B-5AE7F935A50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91178" y="98072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</a:t>
            </a:r>
            <a:endParaRPr lang="en-US" altLang="zh-CN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应用举例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EA54161-2E45-4591-9795-571E40E6D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515" y="762668"/>
            <a:ext cx="5176901" cy="576498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标题 20481">
            <a:extLst>
              <a:ext uri="{FF2B5EF4-FFF2-40B4-BE49-F238E27FC236}">
                <a16:creationId xmlns:a16="http://schemas.microsoft.com/office/drawing/2014/main" id="{61006731-C1E4-4D9A-83AC-24DD06321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r>
              <a:rPr lang="zh-CN" altLang="en-US" dirty="0"/>
              <a:t>类</a:t>
            </a:r>
            <a:r>
              <a:rPr lang="zh-CN" altLang="en-US" dirty="0">
                <a:solidFill>
                  <a:srgbClr val="0070C0"/>
                </a:solidFill>
              </a:rPr>
              <a:t>重载</a:t>
            </a:r>
            <a:r>
              <a:rPr lang="zh-CN" altLang="en-US" dirty="0"/>
              <a:t>的操作符</a:t>
            </a:r>
          </a:p>
        </p:txBody>
      </p:sp>
      <p:sp>
        <p:nvSpPr>
          <p:cNvPr id="90114" name="文本占位符 20482">
            <a:extLst>
              <a:ext uri="{FF2B5EF4-FFF2-40B4-BE49-F238E27FC236}">
                <a16:creationId xmlns:a16="http://schemas.microsoft.com/office/drawing/2014/main" id="{967B1C07-2AA1-4138-882E-161F105A64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=</a:t>
            </a:r>
            <a:r>
              <a:rPr lang="en-US" altLang="zh-CN" dirty="0"/>
              <a:t>   </a:t>
            </a:r>
            <a:r>
              <a:rPr lang="zh-CN" altLang="en-US" dirty="0"/>
              <a:t>将一个字符串赋值给另一个字符串</a:t>
            </a:r>
          </a:p>
          <a:p>
            <a:pPr lvl="1"/>
            <a:r>
              <a:rPr lang="en-US" altLang="zh-CN" dirty="0"/>
              <a:t>string s1("Hello");</a:t>
            </a:r>
          </a:p>
          <a:p>
            <a:pPr lvl="1"/>
            <a:r>
              <a:rPr lang="en-US" altLang="zh-CN" dirty="0"/>
              <a:t>string s2; </a:t>
            </a:r>
          </a:p>
          <a:p>
            <a:pPr lvl="1"/>
            <a:r>
              <a:rPr lang="en-US" altLang="zh-CN" dirty="0"/>
              <a:t>s2 = s1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+=</a:t>
            </a:r>
            <a:r>
              <a:rPr lang="en-US" altLang="zh-CN" dirty="0"/>
              <a:t>   </a:t>
            </a:r>
            <a:r>
              <a:rPr lang="zh-CN" altLang="en-US" dirty="0"/>
              <a:t>将一个字符串附加到另一个字符串后面</a:t>
            </a:r>
          </a:p>
          <a:p>
            <a:pPr lvl="1"/>
            <a:r>
              <a:rPr lang="en-US" altLang="zh-CN" dirty="0"/>
              <a:t>s1 += " World!"; </a:t>
            </a:r>
          </a:p>
          <a:p>
            <a:r>
              <a:rPr lang="en-US" altLang="zh-CN" dirty="0"/>
              <a:t>[]    </a:t>
            </a:r>
            <a:r>
              <a:rPr lang="zh-CN" altLang="en-US" dirty="0"/>
              <a:t>访问字符串中各个字符</a:t>
            </a:r>
          </a:p>
          <a:p>
            <a:pPr lvl="1"/>
            <a:r>
              <a:rPr lang="en-US" altLang="zh-CN" dirty="0"/>
              <a:t>s1[1] = 'h';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文本占位符 21505">
            <a:extLst>
              <a:ext uri="{FF2B5EF4-FFF2-40B4-BE49-F238E27FC236}">
                <a16:creationId xmlns:a16="http://schemas.microsoft.com/office/drawing/2014/main" id="{37562A73-4BEC-408D-9EA6-809EFAEB62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==</a:t>
            </a:r>
          </a:p>
          <a:p>
            <a:pPr lvl="1"/>
            <a:r>
              <a:rPr lang="en-US" altLang="zh-CN"/>
              <a:t>string s1("Hello");</a:t>
            </a:r>
          </a:p>
          <a:p>
            <a:pPr lvl="1"/>
            <a:r>
              <a:rPr lang="en-US" altLang="zh-CN"/>
              <a:t>string s2("hello");</a:t>
            </a:r>
          </a:p>
          <a:p>
            <a:pPr lvl="1"/>
            <a:r>
              <a:rPr lang="en-US" altLang="zh-CN"/>
              <a:t>if (s1==s2) ...</a:t>
            </a:r>
          </a:p>
          <a:p>
            <a:r>
              <a:rPr lang="en-US" altLang="zh-CN"/>
              <a:t>!=</a:t>
            </a:r>
          </a:p>
          <a:p>
            <a:pPr lvl="1"/>
            <a:r>
              <a:rPr lang="en-US" altLang="zh-CN"/>
              <a:t>if(s1!=s2) ...</a:t>
            </a:r>
          </a:p>
          <a:p>
            <a:r>
              <a:rPr lang="en-US" altLang="zh-CN"/>
              <a:t>&lt;</a:t>
            </a:r>
          </a:p>
          <a:p>
            <a:pPr lvl="1"/>
            <a:r>
              <a:rPr lang="zh-CN" altLang="en-US"/>
              <a:t>按</a:t>
            </a:r>
            <a:r>
              <a:rPr lang="en-US" altLang="zh-CN"/>
              <a:t>ASCII</a:t>
            </a:r>
            <a:r>
              <a:rPr lang="zh-CN" altLang="en-US"/>
              <a:t>码顺序进行比较</a:t>
            </a:r>
          </a:p>
        </p:txBody>
      </p:sp>
      <p:sp>
        <p:nvSpPr>
          <p:cNvPr id="91138" name="矩形 21506">
            <a:extLst>
              <a:ext uri="{FF2B5EF4-FFF2-40B4-BE49-F238E27FC236}">
                <a16:creationId xmlns:a16="http://schemas.microsoft.com/office/drawing/2014/main" id="{EB0F9746-A7D5-4216-9A71-1349542759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39552" y="7018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类重载的操作符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22529">
            <a:extLst>
              <a:ext uri="{FF2B5EF4-FFF2-40B4-BE49-F238E27FC236}">
                <a16:creationId xmlns:a16="http://schemas.microsoft.com/office/drawing/2014/main" id="{33F04AD6-AB41-4951-B8E1-4D7CB5AAE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r>
              <a:rPr lang="zh-CN" altLang="en-US" dirty="0"/>
              <a:t>类的部分</a:t>
            </a:r>
            <a:r>
              <a:rPr lang="zh-CN" altLang="en-US" dirty="0">
                <a:solidFill>
                  <a:srgbClr val="0070C0"/>
                </a:solidFill>
              </a:rPr>
              <a:t>常用成员函数</a:t>
            </a:r>
          </a:p>
        </p:txBody>
      </p:sp>
      <p:sp>
        <p:nvSpPr>
          <p:cNvPr id="92162" name="文本占位符 22530">
            <a:extLst>
              <a:ext uri="{FF2B5EF4-FFF2-40B4-BE49-F238E27FC236}">
                <a16:creationId xmlns:a16="http://schemas.microsoft.com/office/drawing/2014/main" id="{43BDF29A-E777-4137-8A1D-7E7777BC8F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82725"/>
            <a:ext cx="7427913" cy="4524375"/>
          </a:xfrm>
        </p:spPr>
        <p:txBody>
          <a:bodyPr/>
          <a:lstStyle/>
          <a:p>
            <a:r>
              <a:rPr lang="en-US" altLang="zh-CN" sz="2300" dirty="0"/>
              <a:t>length</a:t>
            </a:r>
            <a:r>
              <a:rPr lang="zh-CN" altLang="en-US" sz="2300" dirty="0"/>
              <a:t>，</a:t>
            </a:r>
            <a:r>
              <a:rPr lang="en-US" altLang="zh-CN" sz="2300" dirty="0"/>
              <a:t>size</a:t>
            </a:r>
          </a:p>
          <a:p>
            <a:pPr lvl="1"/>
            <a:r>
              <a:rPr lang="zh-CN" altLang="en-US" dirty="0"/>
              <a:t>作用一样，返回字符串中的字符数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en-US" altLang="zh-CN" sz="2300" b="1" dirty="0">
                <a:solidFill>
                  <a:srgbClr val="C00000"/>
                </a:solidFill>
              </a:rPr>
              <a:t>find</a:t>
            </a:r>
          </a:p>
          <a:p>
            <a:pPr lvl="1"/>
            <a:endParaRPr lang="en-US" altLang="zh-CN" sz="2100" dirty="0"/>
          </a:p>
          <a:p>
            <a:endParaRPr lang="en-US" altLang="zh-CN" sz="2300" dirty="0"/>
          </a:p>
          <a:p>
            <a:pPr lvl="1"/>
            <a:endParaRPr lang="en-US" altLang="zh-CN" sz="2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6F0FAE-7A42-4460-800E-73586F8E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33" y="3284984"/>
            <a:ext cx="7327534" cy="259228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文本占位符 23553">
            <a:extLst>
              <a:ext uri="{FF2B5EF4-FFF2-40B4-BE49-F238E27FC236}">
                <a16:creationId xmlns:a16="http://schemas.microsoft.com/office/drawing/2014/main" id="{8EF9EE09-7D2E-4DE0-8B05-977D6B0DB3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628800"/>
            <a:ext cx="7772400" cy="4176464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insert</a:t>
            </a:r>
          </a:p>
          <a:p>
            <a:pPr lvl="1"/>
            <a:r>
              <a:rPr lang="zh-CN" altLang="en-US" sz="2000" dirty="0"/>
              <a:t>将字符串对象、字符串数组或几个字符插入到</a:t>
            </a:r>
            <a:r>
              <a:rPr lang="en-US" altLang="zh-CN" sz="2000" dirty="0"/>
              <a:t>string</a:t>
            </a:r>
            <a:r>
              <a:rPr lang="zh-CN" altLang="en-US" sz="2000" dirty="0"/>
              <a:t>对象中</a:t>
            </a:r>
          </a:p>
          <a:p>
            <a:r>
              <a:rPr lang="en-US" altLang="zh-CN" sz="2400" dirty="0"/>
              <a:t>compare</a:t>
            </a:r>
          </a:p>
          <a:p>
            <a:pPr lvl="1"/>
            <a:r>
              <a:rPr lang="zh-CN" altLang="en-US" sz="2000" dirty="0"/>
              <a:t>比较两个字符串内容</a:t>
            </a:r>
          </a:p>
          <a:p>
            <a:r>
              <a:rPr lang="en-US" altLang="zh-CN" sz="2400" dirty="0"/>
              <a:t>copy</a:t>
            </a:r>
          </a:p>
          <a:p>
            <a:pPr lvl="1"/>
            <a:r>
              <a:rPr lang="zh-CN" altLang="en-US" sz="2000" dirty="0"/>
              <a:t>将一个字符串对象的一部分拷贝到指定的字符数组中</a:t>
            </a:r>
          </a:p>
          <a:p>
            <a:r>
              <a:rPr lang="en-US" altLang="zh-CN" sz="2400" dirty="0"/>
              <a:t>erase</a:t>
            </a:r>
          </a:p>
          <a:p>
            <a:pPr lvl="1"/>
            <a:r>
              <a:rPr lang="zh-CN" altLang="en-US" sz="2000" dirty="0"/>
              <a:t>删除字符串的部分或全部内容</a:t>
            </a:r>
          </a:p>
          <a:p>
            <a:r>
              <a:rPr lang="en-US" altLang="zh-CN" sz="2400" dirty="0"/>
              <a:t>replace</a:t>
            </a:r>
          </a:p>
          <a:p>
            <a:pPr lvl="1"/>
            <a:r>
              <a:rPr lang="zh-CN" altLang="en-US" sz="2000" dirty="0"/>
              <a:t>替换一个字符串的部分或全部内容</a:t>
            </a:r>
          </a:p>
        </p:txBody>
      </p:sp>
      <p:sp>
        <p:nvSpPr>
          <p:cNvPr id="93186" name="矩形 23554">
            <a:extLst>
              <a:ext uri="{FF2B5EF4-FFF2-40B4-BE49-F238E27FC236}">
                <a16:creationId xmlns:a16="http://schemas.microsoft.com/office/drawing/2014/main" id="{1913999A-99CF-42DE-8313-A44890B375B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84200" y="401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类的部分成员函数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1" name="标题 1">
            <a:extLst>
              <a:ext uri="{FF2B5EF4-FFF2-40B4-BE49-F238E27FC236}">
                <a16:creationId xmlns:a16="http://schemas.microsoft.com/office/drawing/2014/main" id="{DAEA6269-3C72-40A7-8265-F98FB81C15C8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431800"/>
            <a:ext cx="5938840" cy="887413"/>
          </a:xfrm>
        </p:spPr>
      </p:pic>
      <p:sp>
        <p:nvSpPr>
          <p:cNvPr id="94209" name="内容占位符 1">
            <a:extLst>
              <a:ext uri="{FF2B5EF4-FFF2-40B4-BE49-F238E27FC236}">
                <a16:creationId xmlns:a16="http://schemas.microsoft.com/office/drawing/2014/main" id="{F2A58E6F-565C-4F60-B378-6D38DE0C540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00869" y="1591530"/>
            <a:ext cx="8229600" cy="4684712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输入整行字符串</a:t>
            </a:r>
          </a:p>
          <a:p>
            <a:pPr lvl="1" eaLnBrk="1" hangingPunct="1"/>
            <a:r>
              <a:rPr lang="zh-CN" altLang="en-US" sz="2400" dirty="0"/>
              <a:t>用</a:t>
            </a:r>
            <a:r>
              <a:rPr lang="en-US" altLang="zh-CN" sz="2400" dirty="0" err="1">
                <a:latin typeface="Times New Roman" panose="02020603050405020304" pitchFamily="18" charset="0"/>
              </a:rPr>
              <a:t>cin</a:t>
            </a:r>
            <a:r>
              <a:rPr lang="zh-CN" altLang="en-US" sz="2400" dirty="0"/>
              <a:t>的</a:t>
            </a:r>
            <a:r>
              <a:rPr lang="en-US" altLang="zh-CN" sz="2400" dirty="0"/>
              <a:t>&gt;&gt;</a:t>
            </a:r>
            <a:r>
              <a:rPr lang="zh-CN" altLang="en-US" sz="2400" dirty="0"/>
              <a:t>操作符输入字符串，会以</a:t>
            </a:r>
            <a:r>
              <a:rPr lang="zh-CN" altLang="en-US" sz="2400" dirty="0">
                <a:solidFill>
                  <a:srgbClr val="0070C0"/>
                </a:solidFill>
              </a:rPr>
              <a:t>空格</a:t>
            </a:r>
            <a:r>
              <a:rPr lang="zh-CN" altLang="en-US" sz="2400" dirty="0"/>
              <a:t>作为分隔符，空格后的内容会在下一回输入时被读取</a:t>
            </a:r>
          </a:p>
          <a:p>
            <a:pPr lvl="1" eaLnBrk="1" hangingPunct="1"/>
            <a:r>
              <a:rPr lang="zh-CN" altLang="en-US" sz="2400" dirty="0"/>
              <a:t>用</a:t>
            </a:r>
            <a:r>
              <a:rPr lang="en-US" altLang="zh-CN" sz="2400" dirty="0">
                <a:latin typeface="Times New Roman" panose="02020603050405020304" pitchFamily="18" charset="0"/>
              </a:rPr>
              <a:t>string</a:t>
            </a:r>
            <a:r>
              <a:rPr lang="zh-CN" altLang="en-US" sz="2400" dirty="0"/>
              <a:t>头文件中的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getline</a:t>
            </a:r>
            <a:r>
              <a:rPr lang="zh-CN" altLang="en-US" sz="2400" b="1" dirty="0">
                <a:solidFill>
                  <a:srgbClr val="0070C0"/>
                </a:solidFill>
              </a:rPr>
              <a:t>可以输入整行字符串</a:t>
            </a:r>
            <a:r>
              <a:rPr lang="zh-CN" altLang="en-US" sz="2400" dirty="0"/>
              <a:t>，例如：</a:t>
            </a:r>
          </a:p>
          <a:p>
            <a:pPr lvl="2" eaLnBrk="1" hangingPunct="1"/>
            <a:r>
              <a:rPr lang="en-US" altLang="zh-CN" sz="2000" b="1" dirty="0" err="1">
                <a:latin typeface="Times New Roman" panose="02020603050405020304" pitchFamily="18" charset="0"/>
              </a:rPr>
              <a:t>getline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cin</a:t>
            </a:r>
            <a:r>
              <a:rPr lang="en-US" altLang="zh-CN" sz="2000" b="1" dirty="0">
                <a:latin typeface="Times New Roman" panose="02020603050405020304" pitchFamily="18" charset="0"/>
              </a:rPr>
              <a:t>, s2);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400" b="1" dirty="0">
                <a:solidFill>
                  <a:srgbClr val="0070C0"/>
                </a:solidFill>
              </a:rPr>
              <a:t>指定分隔符输入字符串</a:t>
            </a:r>
          </a:p>
          <a:p>
            <a:pPr lvl="1" eaLnBrk="1" hangingPunct="1"/>
            <a:r>
              <a:rPr lang="zh-CN" altLang="en-US" sz="2400" dirty="0"/>
              <a:t>输入字符串时，可以使用其它分隔符作为字符串结束的标志（例如逗号、分号）</a:t>
            </a:r>
          </a:p>
          <a:p>
            <a:pPr lvl="1" eaLnBrk="1" hangingPunct="1"/>
            <a:r>
              <a:rPr lang="zh-CN" altLang="en-US" sz="2400" dirty="0"/>
              <a:t>把分隔符作为</a:t>
            </a:r>
            <a:r>
              <a:rPr lang="en-US" altLang="zh-CN" sz="2400" dirty="0" err="1">
                <a:latin typeface="Times New Roman" panose="02020603050405020304" pitchFamily="18" charset="0"/>
              </a:rPr>
              <a:t>getline</a:t>
            </a:r>
            <a:r>
              <a:rPr lang="zh-CN" altLang="en-US" sz="2400" dirty="0"/>
              <a:t>的第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/>
              <a:t>个参数即可，例如：</a:t>
            </a:r>
          </a:p>
          <a:p>
            <a:pPr lvl="2" eaLnBrk="1" hangingPunct="1"/>
            <a:r>
              <a:rPr lang="en-US" altLang="zh-CN" sz="2000" b="1" dirty="0" err="1">
                <a:latin typeface="Times New Roman" panose="02020603050405020304" pitchFamily="18" charset="0"/>
              </a:rPr>
              <a:t>getline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cin</a:t>
            </a:r>
            <a:r>
              <a:rPr lang="en-US" altLang="zh-CN" sz="2000" b="1" dirty="0">
                <a:latin typeface="Times New Roman" panose="02020603050405020304" pitchFamily="18" charset="0"/>
              </a:rPr>
              <a:t>, s2, ',');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10" name="灯片编号占位符 3">
            <a:extLst>
              <a:ext uri="{FF2B5EF4-FFF2-40B4-BE49-F238E27FC236}">
                <a16:creationId xmlns:a16="http://schemas.microsoft.com/office/drawing/2014/main" id="{B72BD60C-B2C1-4EC6-AEA8-4980729C6AC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18" charset="2"/>
              <a:buNone/>
            </a:pPr>
            <a:fld id="{3C3E66D6-90FA-4828-B44C-C1E9666E9334}" type="slidenum">
              <a:rPr lang="en-US" altLang="zh-CN" sz="1000"/>
              <a:pPr algn="r" eaLnBrk="1" hangingPunct="1">
                <a:buSzPct val="100000"/>
                <a:buFont typeface="Wingdings 3" panose="05040102010807070707" pitchFamily="18" charset="2"/>
                <a:buNone/>
              </a:pPr>
              <a:t>56</a:t>
            </a:fld>
            <a:endParaRPr lang="en-US" altLang="zh-CN"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3">
            <a:extLst>
              <a:ext uri="{FF2B5EF4-FFF2-40B4-BE49-F238E27FC236}">
                <a16:creationId xmlns:a16="http://schemas.microsoft.com/office/drawing/2014/main" id="{0A5BE6EC-FDE5-4373-9501-0D1A09B2185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291311" y="6182253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18" charset="2"/>
              <a:buNone/>
            </a:pPr>
            <a:fld id="{A411AB59-1064-4DD1-9E00-6EB9FEB38553}" type="slidenum">
              <a:rPr lang="en-US" altLang="zh-CN" sz="1000"/>
              <a:pPr algn="r" eaLnBrk="1" hangingPunct="1">
                <a:buSzPct val="100000"/>
                <a:buFont typeface="Wingdings 3" panose="05040102010807070707" pitchFamily="18" charset="2"/>
                <a:buNone/>
              </a:pPr>
              <a:t>57</a:t>
            </a:fld>
            <a:endParaRPr lang="en-US" altLang="zh-CN" sz="1000" dirty="0"/>
          </a:p>
        </p:txBody>
      </p:sp>
      <p:sp>
        <p:nvSpPr>
          <p:cNvPr id="95236" name="TextBox 5">
            <a:extLst>
              <a:ext uri="{FF2B5EF4-FFF2-40B4-BE49-F238E27FC236}">
                <a16:creationId xmlns:a16="http://schemas.microsoft.com/office/drawing/2014/main" id="{D0F760DC-C5FE-4475-A95A-D87F6243A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466" y="4397812"/>
            <a:ext cx="4787900" cy="16319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运行结果：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 err="1">
                <a:solidFill>
                  <a:schemeClr val="bg1"/>
                </a:solidFill>
              </a:rPr>
              <a:t>Beijing,China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City: Beijing   State: China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San </a:t>
            </a:r>
            <a:r>
              <a:rPr lang="en-US" altLang="zh-CN" sz="2000" dirty="0" err="1">
                <a:solidFill>
                  <a:schemeClr val="bg1"/>
                </a:solidFill>
              </a:rPr>
              <a:t>Francisco,the</a:t>
            </a:r>
            <a:r>
              <a:rPr lang="en-US" altLang="zh-CN" sz="2000" dirty="0">
                <a:solidFill>
                  <a:schemeClr val="bg1"/>
                </a:solidFill>
              </a:rPr>
              <a:t> United States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City: San Francisco   State: the United States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7F34BA-F27B-471F-993E-EA448728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04962"/>
            <a:ext cx="8242814" cy="32403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7CE691C1-BBC7-4303-A259-0B1D6905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</a:t>
            </a:r>
          </a:p>
        </p:txBody>
      </p:sp>
      <p:sp>
        <p:nvSpPr>
          <p:cNvPr id="25601" name="内容占位符 2">
            <a:extLst>
              <a:ext uri="{FF2B5EF4-FFF2-40B4-BE49-F238E27FC236}">
                <a16:creationId xmlns:a16="http://schemas.microsoft.com/office/drawing/2014/main" id="{5DCE2DCC-1E22-8441-87BC-B1F195C2C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161" y="1700808"/>
            <a:ext cx="7772400" cy="4176464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Q</a:t>
            </a:r>
            <a:r>
              <a:rPr lang="zh-CN" altLang="en-US" dirty="0"/>
              <a:t>：用“</a:t>
            </a:r>
            <a:r>
              <a:rPr lang="en-US" altLang="zh-CN" dirty="0"/>
              <a:t>+”</a:t>
            </a:r>
            <a:r>
              <a:rPr lang="zh-CN" altLang="en-US" dirty="0"/>
              <a:t>、“</a:t>
            </a:r>
            <a:r>
              <a:rPr lang="en-US" altLang="zh-CN" dirty="0"/>
              <a:t>-”</a:t>
            </a:r>
            <a:r>
              <a:rPr lang="zh-CN" altLang="en-US" dirty="0"/>
              <a:t>能够实现复数类的加减运算吗？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实现复数加减运算的方法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chemeClr val="tx2"/>
                </a:solidFill>
              </a:rPr>
              <a:t>重载</a:t>
            </a:r>
            <a:r>
              <a:rPr lang="zh-CN" altLang="en-US" dirty="0"/>
              <a:t>“</a:t>
            </a:r>
            <a:r>
              <a:rPr lang="en-US" altLang="zh-CN" b="1" dirty="0">
                <a:solidFill>
                  <a:srgbClr val="C00000"/>
                </a:solidFill>
              </a:rPr>
              <a:t>+</a:t>
            </a:r>
            <a:r>
              <a:rPr lang="en-US" altLang="zh-CN" dirty="0"/>
              <a:t>”</a:t>
            </a:r>
            <a:r>
              <a:rPr lang="zh-CN" altLang="en-US" dirty="0"/>
              <a:t>、“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en-US" altLang="zh-CN" dirty="0"/>
              <a:t>”</a:t>
            </a:r>
            <a:r>
              <a:rPr lang="zh-CN" altLang="en-US" dirty="0"/>
              <a:t>运算符</a:t>
            </a:r>
            <a:endParaRPr lang="en-US" altLang="zh-CN" dirty="0"/>
          </a:p>
          <a:p>
            <a:pPr eaLnBrk="1" hangingPunct="1">
              <a:lnSpc>
                <a:spcPct val="130000"/>
              </a:lnSpc>
            </a:pPr>
            <a:endParaRPr lang="en-US" altLang="zh-CN" dirty="0"/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运算符重载是对</a:t>
            </a:r>
            <a:r>
              <a:rPr lang="zh-CN" altLang="en-US" dirty="0">
                <a:solidFill>
                  <a:srgbClr val="0070C0"/>
                </a:solidFill>
              </a:rPr>
              <a:t>已有</a:t>
            </a:r>
            <a:r>
              <a:rPr lang="zh-CN" altLang="en-US" dirty="0"/>
              <a:t>运算符赋予</a:t>
            </a:r>
            <a:r>
              <a:rPr lang="zh-CN" altLang="en-US" dirty="0">
                <a:solidFill>
                  <a:srgbClr val="0070C0"/>
                </a:solidFill>
              </a:rPr>
              <a:t>多重</a:t>
            </a:r>
            <a:r>
              <a:rPr lang="zh-CN" altLang="en-US" dirty="0"/>
              <a:t>含义，使同一个运算符作用于不同类型的数据时导致不同的行为。</a:t>
            </a:r>
            <a:endParaRPr lang="en-US" altLang="zh-CN" dirty="0"/>
          </a:p>
        </p:txBody>
      </p:sp>
      <p:sp>
        <p:nvSpPr>
          <p:cNvPr id="25602" name="灯片编号占位符 3">
            <a:extLst>
              <a:ext uri="{FF2B5EF4-FFF2-40B4-BE49-F238E27FC236}">
                <a16:creationId xmlns:a16="http://schemas.microsoft.com/office/drawing/2014/main" id="{56576E6C-4E61-6349-9EF5-9287439C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6357AC-8801-2547-BA97-2338B1C001FC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38D4442E-978B-4740-9EAD-801AF3E4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运算符重载的规则</a:t>
            </a:r>
          </a:p>
        </p:txBody>
      </p:sp>
      <p:sp>
        <p:nvSpPr>
          <p:cNvPr id="26625" name="内容占位符 2">
            <a:extLst>
              <a:ext uri="{FF2B5EF4-FFF2-40B4-BE49-F238E27FC236}">
                <a16:creationId xmlns:a16="http://schemas.microsoft.com/office/drawing/2014/main" id="{BD3BEFAD-5657-E146-9D18-1E5252A18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793" y="1564106"/>
            <a:ext cx="7772400" cy="4684293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dirty="0"/>
              <a:t>C++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0070C0"/>
                </a:solidFill>
              </a:rPr>
              <a:t>几乎</a:t>
            </a:r>
            <a:r>
              <a:rPr lang="zh-CN" altLang="en-US" sz="2400" dirty="0"/>
              <a:t>可以重载全部的运算符，但只能够重载</a:t>
            </a:r>
            <a:r>
              <a:rPr lang="en-US" altLang="zh-CN" sz="2400" dirty="0"/>
              <a:t>C++</a:t>
            </a:r>
            <a:r>
              <a:rPr lang="zh-CN" altLang="en-US" sz="2400" dirty="0"/>
              <a:t>中已经有的。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不能重载的运算符举例：</a:t>
            </a:r>
            <a:r>
              <a:rPr lang="en-US" altLang="zh-CN" sz="2000" dirty="0">
                <a:solidFill>
                  <a:srgbClr val="C00000"/>
                </a:solidFill>
                <a:latin typeface="21"/>
                <a:ea typeface="宋体" panose="02010600030101010101" pitchFamily="2" charset="-122"/>
              </a:rPr>
              <a:t>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.”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、“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.</a:t>
            </a:r>
            <a:r>
              <a:rPr lang="en-US" altLang="zh-CN" sz="2000" dirty="0">
                <a:solidFill>
                  <a:srgbClr val="0070C0"/>
                </a:solidFill>
                <a:latin typeface="21"/>
              </a:rPr>
              <a:t>*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”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、“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::”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、“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? :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”、</a:t>
            </a:r>
            <a:r>
              <a:rPr lang="en-US" altLang="zh-CN" sz="2000" dirty="0" err="1">
                <a:solidFill>
                  <a:srgbClr val="C00000"/>
                </a:solidFill>
                <a:latin typeface="21"/>
              </a:rPr>
              <a:t>sizeof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()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重载之后运算符的</a:t>
            </a:r>
            <a:r>
              <a:rPr lang="zh-CN" altLang="en-US" sz="2400" dirty="0">
                <a:solidFill>
                  <a:srgbClr val="0070C0"/>
                </a:solidFill>
              </a:rPr>
              <a:t>优先级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70C0"/>
                </a:solidFill>
              </a:rPr>
              <a:t>结合性</a:t>
            </a:r>
            <a:r>
              <a:rPr lang="zh-CN" altLang="en-US" sz="2400" dirty="0"/>
              <a:t>都</a:t>
            </a:r>
            <a:r>
              <a:rPr lang="zh-CN" altLang="en-US" sz="2400" dirty="0">
                <a:solidFill>
                  <a:srgbClr val="C00000"/>
                </a:solidFill>
              </a:rPr>
              <a:t>不会改变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运算符重载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是针对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新类型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数据的实际需要，对原有运算符进行适当的改造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两种重载方式：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重载为类的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非静态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重载为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非成员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函数（略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626" name="灯片编号占位符 3">
            <a:extLst>
              <a:ext uri="{FF2B5EF4-FFF2-40B4-BE49-F238E27FC236}">
                <a16:creationId xmlns:a16="http://schemas.microsoft.com/office/drawing/2014/main" id="{FE42A9E6-8758-BE47-B95A-F3B99C62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334C9F-1CA2-BC4A-A307-3564895BB304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内容占位符 2">
            <a:extLst>
              <a:ext uri="{FF2B5EF4-FFF2-40B4-BE49-F238E27FC236}">
                <a16:creationId xmlns:a16="http://schemas.microsoft.com/office/drawing/2014/main" id="{7FAE867E-7574-E54F-A10A-8BDDD7BA6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477221"/>
            <a:ext cx="8280000" cy="47641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/>
              <a:t>声明形式</a:t>
            </a:r>
          </a:p>
          <a:p>
            <a:pPr marL="657225" lvl="1" indent="-246063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zh-CN" altLang="en-US" dirty="0">
                <a:solidFill>
                  <a:srgbClr val="FF0000"/>
                </a:solidFill>
              </a:rPr>
              <a:t>函数类型  </a:t>
            </a:r>
            <a:r>
              <a:rPr lang="en-US" altLang="zh-CN" dirty="0">
                <a:solidFill>
                  <a:srgbClr val="0070C0"/>
                </a:solidFill>
              </a:rPr>
              <a:t>operator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0070C0"/>
                </a:solidFill>
              </a:rPr>
              <a:t>运算符</a:t>
            </a:r>
            <a:r>
              <a:rPr lang="zh-CN" altLang="en-US" dirty="0">
                <a:solidFill>
                  <a:srgbClr val="FF0000"/>
                </a:solidFill>
              </a:rPr>
              <a:t>（形参）</a:t>
            </a:r>
          </a:p>
          <a:p>
            <a:pPr marL="657225" lvl="1" indent="-246063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{</a:t>
            </a:r>
          </a:p>
          <a:p>
            <a:pPr marL="657225" lvl="1" indent="-246063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</a:t>
            </a:r>
            <a:r>
              <a:rPr lang="en-US" altLang="zh-CN" dirty="0"/>
              <a:t>......</a:t>
            </a:r>
          </a:p>
          <a:p>
            <a:pPr marL="657225" lvl="1" indent="-246063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}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/>
              <a:t>重载为类</a:t>
            </a:r>
            <a:r>
              <a:rPr lang="zh-CN" altLang="en-US" sz="2400" dirty="0">
                <a:solidFill>
                  <a:srgbClr val="0070C0"/>
                </a:solidFill>
              </a:rPr>
              <a:t>成员函数</a:t>
            </a:r>
            <a:r>
              <a:rPr lang="zh-CN" altLang="en-US" sz="2400" dirty="0"/>
              <a:t>时</a:t>
            </a:r>
            <a:endParaRPr lang="en-US" altLang="zh-CN" sz="2400" dirty="0"/>
          </a:p>
          <a:p>
            <a:pPr lvl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b="1" dirty="0"/>
              <a:t>参数个数 </a:t>
            </a:r>
            <a:r>
              <a:rPr lang="en-US" altLang="zh-CN" b="1" dirty="0"/>
              <a:t>= </a:t>
            </a:r>
            <a:r>
              <a:rPr lang="zh-CN" altLang="en-US" b="1" dirty="0"/>
              <a:t>原操作数个数</a:t>
            </a:r>
            <a:r>
              <a:rPr lang="en-US" altLang="zh-CN" b="1" dirty="0"/>
              <a:t>-1</a:t>
            </a:r>
            <a:r>
              <a:rPr lang="zh-CN" altLang="en-US" dirty="0"/>
              <a:t>（后置</a:t>
            </a:r>
            <a:r>
              <a:rPr lang="en-US" altLang="zh-CN" dirty="0"/>
              <a:t>++</a:t>
            </a:r>
            <a:r>
              <a:rPr lang="zh-CN" altLang="en-US" dirty="0"/>
              <a:t>、</a:t>
            </a:r>
            <a:r>
              <a:rPr lang="en-US" altLang="zh-CN" dirty="0"/>
              <a:t>--</a:t>
            </a:r>
            <a:r>
              <a:rPr lang="zh-CN" altLang="en-US" dirty="0"/>
              <a:t>除外）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/>
              <a:t>重载为</a:t>
            </a:r>
            <a:r>
              <a:rPr lang="zh-CN" altLang="en-US" sz="2400" dirty="0">
                <a:solidFill>
                  <a:srgbClr val="C00000"/>
                </a:solidFill>
              </a:rPr>
              <a:t>非</a:t>
            </a:r>
            <a:r>
              <a:rPr lang="zh-CN" altLang="en-US" sz="2400" dirty="0">
                <a:solidFill>
                  <a:srgbClr val="0070C0"/>
                </a:solidFill>
              </a:rPr>
              <a:t>成员函数</a:t>
            </a:r>
            <a:r>
              <a:rPr lang="zh-CN" altLang="en-US" sz="2400" dirty="0"/>
              <a:t>时  </a:t>
            </a:r>
            <a:endParaRPr lang="en-US" altLang="zh-CN" sz="2400" dirty="0"/>
          </a:p>
          <a:p>
            <a:pPr lvl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b="1" dirty="0"/>
              <a:t>参数个数</a:t>
            </a:r>
            <a:r>
              <a:rPr lang="en-US" altLang="zh-CN" b="1" dirty="0"/>
              <a:t>=</a:t>
            </a:r>
            <a:r>
              <a:rPr lang="zh-CN" altLang="en-US" b="1" dirty="0"/>
              <a:t>原操作数个数</a:t>
            </a:r>
            <a:r>
              <a:rPr lang="zh-CN" altLang="en-US" dirty="0"/>
              <a:t>，且至少应该有一个自定义类型的形参。</a:t>
            </a:r>
          </a:p>
        </p:txBody>
      </p:sp>
      <p:sp>
        <p:nvSpPr>
          <p:cNvPr id="23554" name="标题 1">
            <a:extLst>
              <a:ext uri="{FF2B5EF4-FFF2-40B4-BE49-F238E27FC236}">
                <a16:creationId xmlns:a16="http://schemas.microsoft.com/office/drawing/2014/main" id="{D775A13A-F69F-4166-96DA-88581F14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8674" name="灯片编号占位符 3">
            <a:extLst>
              <a:ext uri="{FF2B5EF4-FFF2-40B4-BE49-F238E27FC236}">
                <a16:creationId xmlns:a16="http://schemas.microsoft.com/office/drawing/2014/main" id="{26EBE0D7-778C-C044-9F12-664EF141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C3262E-C41B-9949-BCE5-4F67427BCA59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17762-E1DC-4DE8-8530-21B2A08C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4" y="1293447"/>
            <a:ext cx="8280000" cy="886662"/>
          </a:xfrm>
        </p:spPr>
        <p:txBody>
          <a:bodyPr>
            <a:no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b="1" dirty="0">
                <a:highlight>
                  <a:srgbClr val="000080"/>
                </a:highlight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000080"/>
                </a:highlight>
              </a:rPr>
              <a:t>例</a:t>
            </a:r>
            <a:r>
              <a:rPr lang="en-US" altLang="zh-CN" sz="2400" dirty="0">
                <a:highlight>
                  <a:srgbClr val="000080"/>
                </a:highlight>
              </a:rPr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复数类</a:t>
            </a:r>
            <a:r>
              <a:rPr lang="zh-CN" altLang="en-US" sz="2400" dirty="0"/>
              <a:t>加减法运算重载</a:t>
            </a:r>
            <a:r>
              <a:rPr lang="en-US" sz="2400" dirty="0"/>
              <a:t>—</a:t>
            </a:r>
            <a:r>
              <a:rPr lang="zh-CN" altLang="en-US" sz="2400" dirty="0"/>
              <a:t>成员函数形式</a:t>
            </a:r>
          </a:p>
        </p:txBody>
      </p:sp>
      <p:sp>
        <p:nvSpPr>
          <p:cNvPr id="31746" name="灯片编号占位符 3">
            <a:extLst>
              <a:ext uri="{FF2B5EF4-FFF2-40B4-BE49-F238E27FC236}">
                <a16:creationId xmlns:a16="http://schemas.microsoft.com/office/drawing/2014/main" id="{E061E97B-8B6B-794F-B0FC-7B2D26D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2F85D1-5393-1C43-AAFE-8D3304394694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31745" name="内容占位符 2">
            <a:extLst>
              <a:ext uri="{FF2B5EF4-FFF2-40B4-BE49-F238E27FC236}">
                <a16:creationId xmlns:a16="http://schemas.microsoft.com/office/drawing/2014/main" id="{91EE42EC-D27E-7A47-8010-D14B67628BF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599" y="2253028"/>
            <a:ext cx="7655170" cy="3311525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0" indent="0"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None/>
            </a:pPr>
            <a:r>
              <a:rPr lang="zh-CN" altLang="en-US" dirty="0">
                <a:solidFill>
                  <a:schemeClr val="bg1"/>
                </a:solidFill>
              </a:rPr>
              <a:t>将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+”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、“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-”</a:t>
            </a:r>
            <a:r>
              <a:rPr lang="zh-CN" altLang="en-US" dirty="0">
                <a:solidFill>
                  <a:schemeClr val="bg1"/>
                </a:solidFill>
              </a:rPr>
              <a:t>运算重载为复数类的成员函数。</a:t>
            </a:r>
          </a:p>
          <a:p>
            <a:pPr marL="0" indent="0"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  规则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</a:p>
          <a:p>
            <a:pPr marL="657225" lvl="1" indent="-246063" eaLnBrk="1" hangingPunct="1">
              <a:lnSpc>
                <a:spcPct val="120000"/>
              </a:lnSpc>
              <a:buFont typeface="Georgia" panose="02040502050405020303" pitchFamily="18" charset="0"/>
              <a:buChar char="▫"/>
            </a:pPr>
            <a:r>
              <a:rPr lang="zh-CN" altLang="en-US" b="1" dirty="0">
                <a:solidFill>
                  <a:schemeClr val="bg1"/>
                </a:solidFill>
              </a:rPr>
              <a:t>实部和虚部</a:t>
            </a:r>
            <a:r>
              <a:rPr lang="zh-CN" altLang="en-US" b="1" dirty="0">
                <a:solidFill>
                  <a:srgbClr val="FFFF00"/>
                </a:solidFill>
              </a:rPr>
              <a:t>分别相加减</a:t>
            </a:r>
            <a:r>
              <a:rPr lang="zh-CN" altLang="en-US" b="1" dirty="0">
                <a:solidFill>
                  <a:schemeClr val="bg1"/>
                </a:solidFill>
              </a:rPr>
              <a:t>。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  操作数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</a:p>
          <a:p>
            <a:pPr marL="657225" lvl="1" indent="-246063" eaLnBrk="1" hangingPunct="1">
              <a:lnSpc>
                <a:spcPct val="120000"/>
              </a:lnSpc>
              <a:buFont typeface="Georgia" panose="02040502050405020303" pitchFamily="18" charset="0"/>
              <a:buChar char="▫"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两个操作数都是复数类的对象。</a:t>
            </a:r>
          </a:p>
          <a:p>
            <a:pPr marL="0" indent="0"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3336495-959E-4EDB-A500-0B4EB9981E1B}"/>
              </a:ext>
            </a:extLst>
          </p:cNvPr>
          <p:cNvSpPr txBox="1">
            <a:spLocks/>
          </p:cNvSpPr>
          <p:nvPr/>
        </p:nvSpPr>
        <p:spPr>
          <a:xfrm>
            <a:off x="432000" y="322143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sof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dirty="0"/>
              <a:t>运算符重载为成员函数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8DAD49A0-0E2F-4986-B488-85EBE04E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92" y="94066"/>
            <a:ext cx="8280000" cy="886662"/>
          </a:xfrm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C00000"/>
                </a:solidFill>
              </a:rPr>
              <a:t>例（续）</a:t>
            </a:r>
          </a:p>
        </p:txBody>
      </p:sp>
      <p:sp>
        <p:nvSpPr>
          <p:cNvPr id="32770" name="灯片编号占位符 3">
            <a:extLst>
              <a:ext uri="{FF2B5EF4-FFF2-40B4-BE49-F238E27FC236}">
                <a16:creationId xmlns:a16="http://schemas.microsoft.com/office/drawing/2014/main" id="{726C5097-9405-5B48-B550-7A35C546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D56EF0-72A0-2940-A6E0-F3D640762CBB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3EAC61-63D7-473C-BF3B-1508A8555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980728"/>
            <a:ext cx="6124872" cy="521363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8DAD49A0-0E2F-4986-B488-85EBE04E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</a:p>
        </p:txBody>
      </p:sp>
      <p:sp>
        <p:nvSpPr>
          <p:cNvPr id="32770" name="灯片编号占位符 3">
            <a:extLst>
              <a:ext uri="{FF2B5EF4-FFF2-40B4-BE49-F238E27FC236}">
                <a16:creationId xmlns:a16="http://schemas.microsoft.com/office/drawing/2014/main" id="{726C5097-9405-5B48-B550-7A35C546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D56EF0-72A0-2940-A6E0-F3D640762CBB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CCD698C-94BE-4561-9A75-605F34156F6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87109" y="3912477"/>
            <a:ext cx="2848706" cy="2235536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程序</a:t>
            </a:r>
            <a:r>
              <a:rPr lang="zh-CN" alt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输出结果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为：</a:t>
            </a: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c1 = (5, 4)</a:t>
            </a: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c2 = (2, 10)</a:t>
            </a: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c3 = c1 - c2 = (3, -6)</a:t>
            </a: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c3 = c1 + c2 = (7, 14)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54240E-C601-4A3B-87DF-EDA55D715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443" y="552195"/>
            <a:ext cx="6277999" cy="32098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B0A7BF-BA12-41F3-BEE9-B449E1CEB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46" y="3882270"/>
            <a:ext cx="3643738" cy="2287258"/>
          </a:xfrm>
          <a:prstGeom prst="rect">
            <a:avLst/>
          </a:prstGeom>
        </p:spPr>
      </p:pic>
      <p:sp>
        <p:nvSpPr>
          <p:cNvPr id="9" name="箭头: 下 8">
            <a:extLst>
              <a:ext uri="{FF2B5EF4-FFF2-40B4-BE49-F238E27FC236}">
                <a16:creationId xmlns:a16="http://schemas.microsoft.com/office/drawing/2014/main" id="{58620D31-A89B-4BBF-8A06-71EB9FF8DB66}"/>
              </a:ext>
            </a:extLst>
          </p:cNvPr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1635D8-404D-40D8-9B1D-87F56FA4557D}"/>
              </a:ext>
            </a:extLst>
          </p:cNvPr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代码备注</a:t>
            </a:r>
          </a:p>
        </p:txBody>
      </p:sp>
    </p:spTree>
    <p:extLst>
      <p:ext uri="{BB962C8B-B14F-4D97-AF65-F5344CB8AC3E}">
        <p14:creationId xmlns:p14="http://schemas.microsoft.com/office/powerpoint/2010/main" val="29077577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B14232A4-B2D9-4D49-BD83-9518711D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600" y="78407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单目运算符</a:t>
            </a:r>
            <a:r>
              <a:rPr lang="zh-CN" altLang="en-US" dirty="0">
                <a:solidFill>
                  <a:srgbClr val="0070C0"/>
                </a:solidFill>
              </a:rPr>
              <a:t>成员函数</a:t>
            </a:r>
            <a:r>
              <a:rPr lang="zh-CN" altLang="en-US" dirty="0"/>
              <a:t>的设计</a:t>
            </a:r>
          </a:p>
        </p:txBody>
      </p:sp>
      <p:sp>
        <p:nvSpPr>
          <p:cNvPr id="36865" name="内容占位符 2">
            <a:extLst>
              <a:ext uri="{FF2B5EF4-FFF2-40B4-BE49-F238E27FC236}">
                <a16:creationId xmlns:a16="http://schemas.microsoft.com/office/drawing/2014/main" id="{C2E7173C-02A4-624C-8FF7-4BBE30D87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C00000"/>
                </a:solidFill>
              </a:rPr>
              <a:t>前置</a:t>
            </a:r>
            <a:r>
              <a:rPr lang="zh-CN" altLang="en-US" sz="2800" dirty="0">
                <a:solidFill>
                  <a:srgbClr val="0070C0"/>
                </a:solidFill>
              </a:rPr>
              <a:t>单目</a:t>
            </a:r>
            <a:r>
              <a:rPr lang="zh-CN" altLang="en-US" dirty="0"/>
              <a:t>运算符 </a:t>
            </a:r>
            <a:r>
              <a:rPr lang="en-US" altLang="zh-CN" dirty="0">
                <a:solidFill>
                  <a:srgbClr val="C00000"/>
                </a:solidFill>
              </a:rPr>
              <a:t>U, </a:t>
            </a:r>
            <a:r>
              <a:rPr lang="zh-CN" altLang="en-US" dirty="0"/>
              <a:t>如 </a:t>
            </a:r>
            <a:r>
              <a:rPr lang="en-US" altLang="zh-CN" dirty="0">
                <a:solidFill>
                  <a:srgbClr val="C00000"/>
                </a:solidFill>
              </a:rPr>
              <a:t>++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--</a:t>
            </a:r>
            <a:r>
              <a:rPr lang="en-US" altLang="zh-CN" dirty="0" err="1"/>
              <a:t>i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如果要重载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/>
              <a:t> </a:t>
            </a:r>
            <a:r>
              <a:rPr lang="zh-CN" altLang="en-US" dirty="0"/>
              <a:t>为类成员函数，使之能够实现表达式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zh-CN" altLang="en-US" dirty="0"/>
              <a:t>，其中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类对象，则 </a:t>
            </a:r>
            <a:r>
              <a:rPr lang="en-US" altLang="zh-CN" dirty="0"/>
              <a:t>U </a:t>
            </a:r>
            <a:r>
              <a:rPr lang="zh-CN" altLang="en-US" dirty="0"/>
              <a:t>应被重载为 </a:t>
            </a:r>
            <a:r>
              <a:rPr lang="en-US" altLang="zh-CN" dirty="0"/>
              <a:t>A </a:t>
            </a:r>
            <a:r>
              <a:rPr lang="zh-CN" altLang="en-US" dirty="0"/>
              <a:t>类的成员函数，</a:t>
            </a:r>
            <a:r>
              <a:rPr lang="zh-CN" altLang="en-US" dirty="0">
                <a:solidFill>
                  <a:srgbClr val="C00000"/>
                </a:solidFill>
              </a:rPr>
              <a:t>无形参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经重载后，</a:t>
            </a:r>
            <a:br>
              <a:rPr lang="zh-CN" altLang="en-US" dirty="0"/>
            </a:br>
            <a:r>
              <a:rPr lang="zh-CN" altLang="en-US" dirty="0"/>
              <a:t>表达式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oprd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相当于 </a:t>
            </a:r>
            <a:r>
              <a:rPr lang="en-US" altLang="zh-CN" dirty="0" err="1">
                <a:solidFill>
                  <a:srgbClr val="0070C0"/>
                </a:solidFill>
              </a:rPr>
              <a:t>oprd.</a:t>
            </a:r>
            <a:r>
              <a:rPr lang="en-US" altLang="zh-CN" dirty="0" err="1">
                <a:solidFill>
                  <a:srgbClr val="C00000"/>
                </a:solidFill>
              </a:rPr>
              <a:t>operator</a:t>
            </a:r>
            <a:r>
              <a:rPr lang="en-US" altLang="zh-CN" dirty="0">
                <a:solidFill>
                  <a:srgbClr val="C00000"/>
                </a:solidFill>
              </a:rPr>
              <a:t> U()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36866" name="灯片编号占位符 3">
            <a:extLst>
              <a:ext uri="{FF2B5EF4-FFF2-40B4-BE49-F238E27FC236}">
                <a16:creationId xmlns:a16="http://schemas.microsoft.com/office/drawing/2014/main" id="{068D86DF-918C-9A4E-96E9-ED404426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952C5-7586-1347-AFF8-CF45403E2AB4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2736B2-7FC1-4E1A-BA3F-DA2B2F60324D}"/>
              </a:ext>
            </a:extLst>
          </p:cNvPr>
          <p:cNvSpPr txBox="1"/>
          <p:nvPr/>
        </p:nvSpPr>
        <p:spPr>
          <a:xfrm>
            <a:off x="6581000" y="4922053"/>
            <a:ext cx="1449308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自学了解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3793D614-C521-4740-9B3D-7A4D657F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8407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单目运算符成员函数的设计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7889" name="内容占位符 2">
            <a:extLst>
              <a:ext uri="{FF2B5EF4-FFF2-40B4-BE49-F238E27FC236}">
                <a16:creationId xmlns:a16="http://schemas.microsoft.com/office/drawing/2014/main" id="{9450511A-FFAB-514F-A51A-99005DD96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后置</a:t>
            </a:r>
            <a:r>
              <a:rPr lang="zh-CN" altLang="en-US" dirty="0">
                <a:solidFill>
                  <a:srgbClr val="0070C0"/>
                </a:solidFill>
              </a:rPr>
              <a:t>单目</a:t>
            </a:r>
            <a:r>
              <a:rPr lang="zh-CN" altLang="en-US" dirty="0"/>
              <a:t>运算符</a:t>
            </a:r>
            <a:r>
              <a:rPr lang="en-US" altLang="zh-CN" dirty="0"/>
              <a:t>U, </a:t>
            </a:r>
            <a:r>
              <a:rPr lang="zh-CN" altLang="en-US" dirty="0"/>
              <a:t>如 </a:t>
            </a:r>
            <a:r>
              <a:rPr lang="en-US" altLang="zh-CN" dirty="0" err="1"/>
              <a:t>i</a:t>
            </a:r>
            <a:r>
              <a:rPr lang="en-US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++</a:t>
            </a:r>
            <a:r>
              <a:rPr lang="zh-CN" altLang="en-US" dirty="0"/>
              <a:t>和 </a:t>
            </a:r>
            <a:r>
              <a:rPr lang="en-US" altLang="zh-CN" dirty="0" err="1"/>
              <a:t>i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--</a:t>
            </a:r>
            <a:endParaRPr lang="en-US" altLang="en-US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如果要重载 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为类成员函数，使之能够实现表达式 </a:t>
            </a:r>
            <a:r>
              <a:rPr lang="en-US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oprd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oprd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，其中</a:t>
            </a:r>
            <a:r>
              <a:rPr lang="en-US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oprd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类对象，则 </a:t>
            </a:r>
            <a:r>
              <a:rPr lang="en-US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应被重载为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类成员函数，且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具有一个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类型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形参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经重载后，表达式 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C00000"/>
                </a:solidFill>
              </a:rPr>
              <a:t>++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相当于</a:t>
            </a:r>
            <a:r>
              <a:rPr lang="en-US" altLang="zh-CN" dirty="0"/>
              <a:t>:</a:t>
            </a:r>
            <a:r>
              <a:rPr lang="zh-CN" altLang="en-US" dirty="0"/>
              <a:t> 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 err="1">
                <a:solidFill>
                  <a:srgbClr val="C00000"/>
                </a:solidFill>
              </a:rPr>
              <a:t>.operator</a:t>
            </a:r>
            <a:r>
              <a:rPr lang="en-US" altLang="zh-CN" dirty="0">
                <a:solidFill>
                  <a:srgbClr val="C00000"/>
                </a:solidFill>
              </a:rPr>
              <a:t>++(0)</a:t>
            </a:r>
          </a:p>
        </p:txBody>
      </p:sp>
      <p:sp>
        <p:nvSpPr>
          <p:cNvPr id="37890" name="灯片编号占位符 3">
            <a:extLst>
              <a:ext uri="{FF2B5EF4-FFF2-40B4-BE49-F238E27FC236}">
                <a16:creationId xmlns:a16="http://schemas.microsoft.com/office/drawing/2014/main" id="{7C36BEAC-62B8-3F44-A81E-BDD83C21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4B90C4-6A93-B74B-81E2-939821999CBA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335E6886-97C4-4A66-8648-CC693E74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例</a:t>
            </a:r>
          </a:p>
        </p:txBody>
      </p:sp>
      <p:sp>
        <p:nvSpPr>
          <p:cNvPr id="39937" name="内容占位符 2">
            <a:extLst>
              <a:ext uri="{FF2B5EF4-FFF2-40B4-BE49-F238E27FC236}">
                <a16:creationId xmlns:a16="http://schemas.microsoft.com/office/drawing/2014/main" id="{BB762187-1374-5C48-B1E3-BDFAAAE5F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329680"/>
            <a:ext cx="7772400" cy="4176464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运算符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前置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后置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 sz="2400" dirty="0">
                <a:latin typeface="Times New Roman" panose="02020603050405020304" pitchFamily="18" charset="0"/>
              </a:rPr>
              <a:t>重载为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时钟类</a:t>
            </a:r>
            <a:r>
              <a:rPr lang="zh-CN" altLang="en-US" sz="2400" dirty="0">
                <a:latin typeface="Times New Roman" panose="02020603050405020304" pitchFamily="18" charset="0"/>
              </a:rPr>
              <a:t>的成员函数。</a:t>
            </a:r>
          </a:p>
          <a:p>
            <a:pPr lvl="1"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前置</a:t>
            </a:r>
            <a:r>
              <a:rPr lang="zh-CN" altLang="en-US" sz="2000" dirty="0">
                <a:latin typeface="Times New Roman" panose="02020603050405020304" pitchFamily="18" charset="0"/>
              </a:rPr>
              <a:t>单目运算符，重载函数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没有</a:t>
            </a:r>
            <a:r>
              <a:rPr lang="zh-CN" altLang="en-US" sz="2000" dirty="0">
                <a:latin typeface="Times New Roman" panose="02020603050405020304" pitchFamily="18" charset="0"/>
              </a:rPr>
              <a:t>形参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pPr lvl="1"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后置</a:t>
            </a:r>
            <a:r>
              <a:rPr lang="zh-CN" altLang="en-US" sz="2000" dirty="0">
                <a:latin typeface="Times New Roman" panose="02020603050405020304" pitchFamily="18" charset="0"/>
              </a:rPr>
              <a:t>单目运算符，重载函数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需有</a:t>
            </a:r>
            <a:r>
              <a:rPr lang="zh-CN" altLang="en-US" sz="2000" dirty="0">
                <a:latin typeface="Times New Roman" panose="02020603050405020304" pitchFamily="18" charset="0"/>
              </a:rPr>
              <a:t>一个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整型形参</a:t>
            </a:r>
            <a:r>
              <a:rPr lang="zh-CN" altLang="en-US" sz="2000" dirty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操作数是时钟类的对象。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实现时间增加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秒钟。</a:t>
            </a:r>
            <a:endParaRPr lang="zh-CN" altLang="en-US" sz="2400" dirty="0"/>
          </a:p>
        </p:txBody>
      </p:sp>
      <p:sp>
        <p:nvSpPr>
          <p:cNvPr id="39938" name="灯片编号占位符 3">
            <a:extLst>
              <a:ext uri="{FF2B5EF4-FFF2-40B4-BE49-F238E27FC236}">
                <a16:creationId xmlns:a16="http://schemas.microsoft.com/office/drawing/2014/main" id="{0255110F-709B-734C-BA38-318E7E44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EFE37D-B47D-5E48-9278-87D9420C00B8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3" name="图形 2" descr="时钟">
            <a:extLst>
              <a:ext uri="{FF2B5EF4-FFF2-40B4-BE49-F238E27FC236}">
                <a16:creationId xmlns:a16="http://schemas.microsoft.com/office/drawing/2014/main" id="{AF3940C2-0156-4106-B033-ABA1236FA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3200" y="3789040"/>
            <a:ext cx="1512168" cy="151216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标题 1">
            <a:extLst>
              <a:ext uri="{FF2B5EF4-FFF2-40B4-BE49-F238E27FC236}">
                <a16:creationId xmlns:a16="http://schemas.microsoft.com/office/drawing/2014/main" id="{F8906E82-0BF2-4D0C-AA81-0C9CD3AF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692696"/>
            <a:ext cx="943684" cy="1104511"/>
          </a:xfrm>
          <a:solidFill>
            <a:schemeClr val="bg1"/>
          </a:solidFill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/>
              <a:t>例</a:t>
            </a:r>
            <a:br>
              <a:rPr lang="en-US" altLang="zh-CN" sz="3200" dirty="0"/>
            </a:br>
            <a:r>
              <a:rPr lang="zh-CN" altLang="en-US" sz="2000" dirty="0"/>
              <a:t>（续）</a:t>
            </a:r>
            <a:endParaRPr lang="zh-CN" altLang="en-US" sz="3200" dirty="0"/>
          </a:p>
        </p:txBody>
      </p:sp>
      <p:sp>
        <p:nvSpPr>
          <p:cNvPr id="40962" name="灯片编号占位符 3">
            <a:extLst>
              <a:ext uri="{FF2B5EF4-FFF2-40B4-BE49-F238E27FC236}">
                <a16:creationId xmlns:a16="http://schemas.microsoft.com/office/drawing/2014/main" id="{4AF28A3C-69C2-4044-B4A6-E132F529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EC1C46-9959-CD41-9229-61602DFC8A0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E0A8BC-7D9E-4255-904A-D5076169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692696"/>
            <a:ext cx="586740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标题 1">
            <a:extLst>
              <a:ext uri="{FF2B5EF4-FFF2-40B4-BE49-F238E27FC236}">
                <a16:creationId xmlns:a16="http://schemas.microsoft.com/office/drawing/2014/main" id="{F8906E82-0BF2-4D0C-AA81-0C9CD3AF6AA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000" b="1" dirty="0"/>
              <a:t>例</a:t>
            </a:r>
            <a:r>
              <a:rPr lang="zh-CN" altLang="en-US" sz="2000" dirty="0"/>
              <a:t>（续）</a:t>
            </a:r>
            <a:endParaRPr lang="zh-CN" altLang="en-US" dirty="0"/>
          </a:p>
        </p:txBody>
      </p:sp>
      <p:sp>
        <p:nvSpPr>
          <p:cNvPr id="40962" name="灯片编号占位符 3">
            <a:extLst>
              <a:ext uri="{FF2B5EF4-FFF2-40B4-BE49-F238E27FC236}">
                <a16:creationId xmlns:a16="http://schemas.microsoft.com/office/drawing/2014/main" id="{4AF28A3C-69C2-4044-B4A6-E132F529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EC1C46-9959-CD41-9229-61602DFC8A0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DEB7191-A0B5-4FF7-93F9-B6ECE296E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996" y="692696"/>
            <a:ext cx="6219825" cy="4914900"/>
          </a:xfrm>
          <a:prstGeom prst="rect">
            <a:avLst/>
          </a:prstGeom>
        </p:spPr>
      </p:pic>
      <p:sp>
        <p:nvSpPr>
          <p:cNvPr id="3" name="箭头: 左 2">
            <a:extLst>
              <a:ext uri="{FF2B5EF4-FFF2-40B4-BE49-F238E27FC236}">
                <a16:creationId xmlns:a16="http://schemas.microsoft.com/office/drawing/2014/main" id="{33625795-59B3-49F4-818D-4E0744E877F4}"/>
              </a:ext>
            </a:extLst>
          </p:cNvPr>
          <p:cNvSpPr/>
          <p:nvPr/>
        </p:nvSpPr>
        <p:spPr>
          <a:xfrm>
            <a:off x="4355976" y="3501008"/>
            <a:ext cx="432048" cy="144016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8ADE5F-4FE7-4FC3-94C6-A89721E69F86}"/>
              </a:ext>
            </a:extLst>
          </p:cNvPr>
          <p:cNvSpPr txBox="1"/>
          <p:nvPr/>
        </p:nvSpPr>
        <p:spPr>
          <a:xfrm>
            <a:off x="912866" y="2365316"/>
            <a:ext cx="800219" cy="1569660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注意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函数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返回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类型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4E7E32-02A8-497B-8500-AFFD4A4A2083}"/>
              </a:ext>
            </a:extLst>
          </p:cNvPr>
          <p:cNvSpPr>
            <a:spLocks noChangeAspect="1"/>
          </p:cNvSpPr>
          <p:nvPr/>
        </p:nvSpPr>
        <p:spPr>
          <a:xfrm>
            <a:off x="2107889" y="4365104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68A8C22-88B3-49C9-99B6-C439F0342470}"/>
              </a:ext>
            </a:extLst>
          </p:cNvPr>
          <p:cNvSpPr>
            <a:spLocks noChangeAspect="1"/>
          </p:cNvSpPr>
          <p:nvPr/>
        </p:nvSpPr>
        <p:spPr>
          <a:xfrm>
            <a:off x="2116996" y="1655638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B1A03224-CD0A-475B-BF1F-6745BDB67110}"/>
              </a:ext>
            </a:extLst>
          </p:cNvPr>
          <p:cNvCxnSpPr>
            <a:stCxn id="4" idx="3"/>
            <a:endCxn id="8" idx="2"/>
          </p:cNvCxnSpPr>
          <p:nvPr/>
        </p:nvCxnSpPr>
        <p:spPr>
          <a:xfrm flipV="1">
            <a:off x="1713085" y="1709638"/>
            <a:ext cx="403911" cy="1440508"/>
          </a:xfrm>
          <a:prstGeom prst="curvedConnector3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A26CC853-C693-49FA-BF3E-D18C514B9A06}"/>
              </a:ext>
            </a:extLst>
          </p:cNvPr>
          <p:cNvCxnSpPr>
            <a:stCxn id="4" idx="3"/>
            <a:endCxn id="5" idx="2"/>
          </p:cNvCxnSpPr>
          <p:nvPr/>
        </p:nvCxnSpPr>
        <p:spPr>
          <a:xfrm>
            <a:off x="1713085" y="3150146"/>
            <a:ext cx="394804" cy="1268958"/>
          </a:xfrm>
          <a:prstGeom prst="curvedConnector3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883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标题 1">
            <a:extLst>
              <a:ext uri="{FF2B5EF4-FFF2-40B4-BE49-F238E27FC236}">
                <a16:creationId xmlns:a16="http://schemas.microsoft.com/office/drawing/2014/main" id="{F8906E82-0BF2-4D0C-AA81-0C9CD3AF6AA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例</a:t>
            </a:r>
          </a:p>
        </p:txBody>
      </p:sp>
      <p:sp>
        <p:nvSpPr>
          <p:cNvPr id="40962" name="灯片编号占位符 3">
            <a:extLst>
              <a:ext uri="{FF2B5EF4-FFF2-40B4-BE49-F238E27FC236}">
                <a16:creationId xmlns:a16="http://schemas.microsoft.com/office/drawing/2014/main" id="{4AF28A3C-69C2-4044-B4A6-E132F529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EC1C46-9959-CD41-9229-61602DFC8A0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1A94F1-85C1-47E5-96D3-6AD09CDBC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88" y="692696"/>
            <a:ext cx="5258462" cy="2736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CBBBE3-FE26-455A-B361-735670AD8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888" y="3582955"/>
            <a:ext cx="5258462" cy="15700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运行结果：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First time output: 23:59:59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Show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myClock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++:    23:59:59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Show ++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myClock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: 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0:0:1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48E4D98D-B279-4923-8D5D-8D035668405A}"/>
              </a:ext>
            </a:extLst>
          </p:cNvPr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21F9F1-9BE6-4792-9CCD-70AD39834770}"/>
              </a:ext>
            </a:extLst>
          </p:cNvPr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代码备注</a:t>
            </a:r>
          </a:p>
        </p:txBody>
      </p:sp>
    </p:spTree>
    <p:extLst>
      <p:ext uri="{BB962C8B-B14F-4D97-AF65-F5344CB8AC3E}">
        <p14:creationId xmlns:p14="http://schemas.microsoft.com/office/powerpoint/2010/main" val="10203191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82476C9-5361-4A79-99B6-04FE13EB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rgbClr val="C00000"/>
                </a:solidFill>
              </a:rPr>
              <a:t>类型</a:t>
            </a:r>
            <a:r>
              <a:rPr lang="zh-CN" altLang="en-US" dirty="0">
                <a:solidFill>
                  <a:srgbClr val="0070C0"/>
                </a:solidFill>
              </a:rPr>
              <a:t>强制转换</a:t>
            </a:r>
            <a:r>
              <a:rPr lang="zh-CN" altLang="en-US" dirty="0">
                <a:solidFill>
                  <a:schemeClr val="tx1"/>
                </a:solidFill>
              </a:rPr>
              <a:t>运算符重载</a:t>
            </a:r>
          </a:p>
        </p:txBody>
      </p:sp>
      <p:sp>
        <p:nvSpPr>
          <p:cNvPr id="45059" name="灯片编号占位符 3">
            <a:extLst>
              <a:ext uri="{FF2B5EF4-FFF2-40B4-BE49-F238E27FC236}">
                <a16:creationId xmlns:a16="http://schemas.microsoft.com/office/drawing/2014/main" id="{0F5D7759-E98F-A645-81D8-DD630161EB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E44E50-C1C3-4F4E-A548-F199E2E32371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45057" name="内容占位符 1">
            <a:extLst>
              <a:ext uri="{FF2B5EF4-FFF2-40B4-BE49-F238E27FC236}">
                <a16:creationId xmlns:a16="http://schemas.microsoft.com/office/drawing/2014/main" id="{1928E1E7-D5FE-C14E-9954-F50C089AD05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7584" y="1525640"/>
            <a:ext cx="7786688" cy="4525962"/>
          </a:xfrm>
        </p:spPr>
        <p:txBody>
          <a:bodyPr/>
          <a:lstStyle/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CDemo</a:t>
            </a:r>
            <a:r>
              <a:rPr lang="en-US" altLang="zh-CN" dirty="0"/>
              <a:t>{</a:t>
            </a:r>
          </a:p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    int n;</a:t>
            </a:r>
          </a:p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public:</a:t>
            </a:r>
          </a:p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CDemo</a:t>
            </a:r>
            <a:r>
              <a:rPr lang="en-US" altLang="zh-CN" dirty="0"/>
              <a:t>(int I = 0):n(</a:t>
            </a:r>
            <a:r>
              <a:rPr lang="en-US" altLang="zh-CN" dirty="0" err="1"/>
              <a:t>i</a:t>
            </a:r>
            <a:r>
              <a:rPr lang="en-US" altLang="zh-CN" dirty="0"/>
              <a:t>) { }</a:t>
            </a:r>
          </a:p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CDemo</a:t>
            </a:r>
            <a:r>
              <a:rPr lang="en-US" altLang="zh-CN" b="1" dirty="0">
                <a:solidFill>
                  <a:srgbClr val="C00000"/>
                </a:solidFill>
              </a:rPr>
              <a:t>&amp;</a:t>
            </a:r>
            <a:r>
              <a:rPr lang="en-US" altLang="zh-CN" dirty="0"/>
              <a:t> operator++();   </a:t>
            </a:r>
            <a:r>
              <a:rPr lang="en-US" altLang="zh-CN" sz="2000" dirty="0"/>
              <a:t>//</a:t>
            </a:r>
            <a:r>
              <a:rPr lang="zh-CN" altLang="en-US" sz="2000" dirty="0"/>
              <a:t>用于前置</a:t>
            </a:r>
            <a:r>
              <a:rPr lang="en-US" altLang="zh-CN" sz="2000" dirty="0"/>
              <a:t>++</a:t>
            </a:r>
            <a:r>
              <a:rPr lang="zh-CN" altLang="en-US" sz="2000" dirty="0"/>
              <a:t>形式</a:t>
            </a:r>
            <a:endParaRPr lang="zh-CN" altLang="en-US" dirty="0"/>
          </a:p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CDemo</a:t>
            </a:r>
            <a:r>
              <a:rPr lang="zh-CN" altLang="en-US" dirty="0"/>
              <a:t> </a:t>
            </a:r>
            <a:r>
              <a:rPr lang="en-US" altLang="zh-CN" dirty="0"/>
              <a:t>operator++(int); </a:t>
            </a:r>
            <a:r>
              <a:rPr lang="en-US" altLang="zh-CN" sz="2000" dirty="0"/>
              <a:t>//</a:t>
            </a:r>
            <a:r>
              <a:rPr lang="zh-CN" altLang="en-US" sz="2000" dirty="0"/>
              <a:t>用于后置</a:t>
            </a:r>
            <a:r>
              <a:rPr lang="en-US" altLang="zh-CN" sz="2000" dirty="0"/>
              <a:t>++</a:t>
            </a:r>
            <a:r>
              <a:rPr lang="zh-CN" altLang="en-US" sz="2000" dirty="0"/>
              <a:t>形式</a:t>
            </a:r>
            <a:endParaRPr lang="zh-CN" altLang="en-US" dirty="0"/>
          </a:p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70C0"/>
                </a:solidFill>
              </a:rPr>
              <a:t>operator </a:t>
            </a:r>
            <a:r>
              <a:rPr lang="en-US" altLang="zh-CN" b="1" dirty="0">
                <a:solidFill>
                  <a:srgbClr val="C00000"/>
                </a:solidFill>
              </a:rPr>
              <a:t>int</a:t>
            </a:r>
            <a:r>
              <a:rPr lang="en-US" altLang="zh-CN" b="1" dirty="0">
                <a:solidFill>
                  <a:srgbClr val="0070C0"/>
                </a:solidFill>
              </a:rPr>
              <a:t>( ) </a:t>
            </a:r>
            <a:r>
              <a:rPr lang="en-US" altLang="zh-CN" dirty="0"/>
              <a:t>{ return n; }</a:t>
            </a:r>
          </a:p>
          <a:p>
            <a:pPr marL="107950" indent="0">
              <a:buFont typeface="Wingdings 3" pitchFamily="2" charset="2"/>
              <a:buNone/>
            </a:pPr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C15490-E549-4F21-AC5C-46CD8A265899}"/>
              </a:ext>
            </a:extLst>
          </p:cNvPr>
          <p:cNvSpPr txBox="1"/>
          <p:nvPr/>
        </p:nvSpPr>
        <p:spPr>
          <a:xfrm>
            <a:off x="7026477" y="606343"/>
            <a:ext cx="1449308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自学了解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82476C9-5361-4A79-99B6-04FE13EB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类型</a:t>
            </a:r>
            <a:r>
              <a:rPr lang="zh-CN" altLang="en-US" dirty="0">
                <a:solidFill>
                  <a:srgbClr val="0070C0"/>
                </a:solidFill>
              </a:rPr>
              <a:t>强制转换</a:t>
            </a:r>
            <a:r>
              <a:rPr lang="zh-CN" altLang="en-US" dirty="0">
                <a:solidFill>
                  <a:schemeClr val="tx1"/>
                </a:solidFill>
              </a:rPr>
              <a:t>运算符重载</a:t>
            </a:r>
          </a:p>
        </p:txBody>
      </p:sp>
      <p:sp>
        <p:nvSpPr>
          <p:cNvPr id="46083" name="灯片编号占位符 3">
            <a:extLst>
              <a:ext uri="{FF2B5EF4-FFF2-40B4-BE49-F238E27FC236}">
                <a16:creationId xmlns:a16="http://schemas.microsoft.com/office/drawing/2014/main" id="{BEBE322B-6FE6-FB46-8F0E-4317320393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06FD2B-CB35-C343-9E4D-B2EBDE83FB55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46081" name="内容占位符 1">
            <a:extLst>
              <a:ext uri="{FF2B5EF4-FFF2-40B4-BE49-F238E27FC236}">
                <a16:creationId xmlns:a16="http://schemas.microsoft.com/office/drawing/2014/main" id="{1B804A11-A8E6-A34D-A3C4-C96A77738C2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560" y="1513000"/>
            <a:ext cx="8229600" cy="4525962"/>
          </a:xfrm>
        </p:spPr>
        <p:txBody>
          <a:bodyPr/>
          <a:lstStyle/>
          <a:p>
            <a:pPr marL="107950" indent="0">
              <a:spcBef>
                <a:spcPts val="0"/>
              </a:spcBef>
              <a:spcAft>
                <a:spcPts val="600"/>
              </a:spcAft>
              <a:buFont typeface="Wingdings 3" pitchFamily="2" charset="2"/>
              <a:buNone/>
            </a:pPr>
            <a:r>
              <a:rPr lang="en-US" altLang="zh-CN" dirty="0">
                <a:solidFill>
                  <a:srgbClr val="0070C0"/>
                </a:solidFill>
              </a:rPr>
              <a:t>operator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( )</a:t>
            </a:r>
            <a:r>
              <a:rPr lang="en-US" altLang="zh-CN" dirty="0"/>
              <a:t> { return </a:t>
            </a:r>
            <a:r>
              <a:rPr lang="en-US" altLang="zh-CN" dirty="0">
                <a:solidFill>
                  <a:srgbClr val="0070C0"/>
                </a:solidFill>
              </a:rPr>
              <a:t>n</a:t>
            </a:r>
            <a:r>
              <a:rPr lang="en-US" altLang="zh-CN" dirty="0"/>
              <a:t>; }</a:t>
            </a:r>
          </a:p>
          <a:p>
            <a:pPr marL="107950" indent="0">
              <a:spcBef>
                <a:spcPts val="0"/>
              </a:spcBef>
              <a:spcAft>
                <a:spcPts val="600"/>
              </a:spcAft>
              <a:buFont typeface="Wingdings 3" pitchFamily="2" charset="2"/>
              <a:buNone/>
            </a:pPr>
            <a:endParaRPr lang="en-US" altLang="zh-CN" dirty="0"/>
          </a:p>
          <a:p>
            <a:pPr marL="107950" indent="0">
              <a:spcBef>
                <a:spcPts val="0"/>
              </a:spcBef>
              <a:spcAft>
                <a:spcPts val="600"/>
              </a:spcAft>
            </a:pPr>
            <a:r>
              <a:rPr lang="en-US" altLang="zh-CN" dirty="0" err="1"/>
              <a:t>int</a:t>
            </a:r>
            <a:r>
              <a:rPr lang="zh-CN" altLang="en-US" dirty="0"/>
              <a:t>作为一个类型强制转换运算符被重载</a:t>
            </a:r>
            <a:r>
              <a:rPr lang="en-US" altLang="zh-CN" dirty="0"/>
              <a:t>,</a:t>
            </a:r>
          </a:p>
          <a:p>
            <a:pPr marL="365125" lvl="1" indent="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 err="1">
                <a:solidFill>
                  <a:srgbClr val="002060"/>
                </a:solidFill>
              </a:rPr>
              <a:t>CDemo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s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</a:p>
          <a:p>
            <a:pPr marL="365125" lvl="1" indent="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) s </a:t>
            </a:r>
            <a:r>
              <a:rPr lang="en-US" altLang="zh-CN" dirty="0">
                <a:solidFill>
                  <a:srgbClr val="002060"/>
                </a:solidFill>
              </a:rPr>
              <a:t>; //</a:t>
            </a:r>
            <a:r>
              <a:rPr lang="zh-CN" altLang="en-US" dirty="0">
                <a:solidFill>
                  <a:srgbClr val="0070C0"/>
                </a:solidFill>
              </a:rPr>
              <a:t>等效</a:t>
            </a:r>
            <a:r>
              <a:rPr lang="zh-CN" altLang="en-US" dirty="0">
                <a:solidFill>
                  <a:srgbClr val="002060"/>
                </a:solidFill>
              </a:rPr>
              <a:t>于</a:t>
            </a:r>
            <a:r>
              <a:rPr lang="en-US" altLang="zh-CN" dirty="0">
                <a:solidFill>
                  <a:srgbClr val="0070C0"/>
                </a:solidFill>
              </a:rPr>
              <a:t>s</a:t>
            </a:r>
            <a:r>
              <a:rPr lang="en-US" altLang="zh-CN" dirty="0">
                <a:solidFill>
                  <a:srgbClr val="C00000"/>
                </a:solidFill>
              </a:rPr>
              <a:t>.int();</a:t>
            </a:r>
          </a:p>
          <a:p>
            <a:pPr marL="365125" lvl="1" indent="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107950" indent="0"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类型强制转换运算符重载时</a:t>
            </a:r>
            <a:r>
              <a:rPr lang="en-US" altLang="zh-CN" dirty="0"/>
              <a:t>,</a:t>
            </a:r>
          </a:p>
          <a:p>
            <a:pPr marL="365125" lvl="1" indent="0"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写返回值类型</a:t>
            </a:r>
          </a:p>
          <a:p>
            <a:pPr marL="365125" lvl="1" indent="0"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实际上其返回值类型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类型强制转换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运算符代表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的类型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15A8C6B-7231-451D-9CFC-3FAB1E39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rgbClr val="0070C0"/>
                </a:solidFill>
                <a:effectLst/>
              </a:rPr>
              <a:t>赋值运算符  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=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  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重载</a:t>
            </a:r>
          </a:p>
        </p:txBody>
      </p:sp>
      <p:sp>
        <p:nvSpPr>
          <p:cNvPr id="47107" name="灯片编号占位符 3">
            <a:extLst>
              <a:ext uri="{FF2B5EF4-FFF2-40B4-BE49-F238E27FC236}">
                <a16:creationId xmlns:a16="http://schemas.microsoft.com/office/drawing/2014/main" id="{A386B34F-86B4-E14B-80D7-84B61F0997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2334B8-F1A8-3042-928D-6671EDF2D3BA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47105" name="内容占位符 1">
            <a:extLst>
              <a:ext uri="{FF2B5EF4-FFF2-40B4-BE49-F238E27FC236}">
                <a16:creationId xmlns:a16="http://schemas.microsoft.com/office/drawing/2014/main" id="{3105BB4F-72ED-B841-8608-332494889A7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560" y="1568080"/>
            <a:ext cx="8229600" cy="452596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赋值运算符两边的类型</a:t>
            </a:r>
            <a:r>
              <a:rPr lang="zh-CN" altLang="en-US" sz="3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</a:t>
            </a:r>
            <a:r>
              <a:rPr lang="zh-CN" altLang="en-US" sz="3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匹配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把一个</a:t>
            </a:r>
            <a:r>
              <a:rPr lang="en-US" altLang="zh-CN" sz="2800" dirty="0" err="1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类型变量赋值给一个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Complex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对象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把一个</a:t>
            </a:r>
            <a:r>
              <a:rPr lang="en-US" altLang="zh-CN" sz="28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char *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类型的字符串赋值给一个字符串对象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92113" lvl="1" indent="0">
              <a:spcBef>
                <a:spcPts val="0"/>
              </a:spcBef>
              <a:spcAft>
                <a:spcPts val="600"/>
              </a:spcAft>
              <a:buNone/>
            </a:pP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需要重载赋值运算符‘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=’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赋值运算符“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=” 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重载为</a:t>
            </a:r>
            <a:r>
              <a:rPr lang="zh-CN" altLang="en-US" sz="3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成员函数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03FAC4-4F11-43CC-AB00-98A0604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750078"/>
            <a:ext cx="5110336" cy="91604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effectLst/>
              </a:rPr>
              <a:t>重载赋值运算符</a:t>
            </a:r>
          </a:p>
        </p:txBody>
      </p:sp>
      <p:sp>
        <p:nvSpPr>
          <p:cNvPr id="53250" name="灯片编号占位符 3">
            <a:extLst>
              <a:ext uri="{FF2B5EF4-FFF2-40B4-BE49-F238E27FC236}">
                <a16:creationId xmlns:a16="http://schemas.microsoft.com/office/drawing/2014/main" id="{21A09821-9D26-E443-A2BB-654D88C7B1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8A50C1-5E4E-CC49-B48B-7B0CA45A9A8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A08A09-202B-4911-80BB-79B2F9EB3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665916"/>
            <a:ext cx="6959997" cy="4248472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4689DEA7-07CF-48EC-AAA6-7769FBABFCB9}"/>
              </a:ext>
            </a:extLst>
          </p:cNvPr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38E9D1-658D-4370-826E-65617212DD11}"/>
              </a:ext>
            </a:extLst>
          </p:cNvPr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代码备注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8CD4442-2B36-4C47-BEC4-B01882FA3E97}"/>
              </a:ext>
            </a:extLst>
          </p:cNvPr>
          <p:cNvSpPr/>
          <p:nvPr/>
        </p:nvSpPr>
        <p:spPr>
          <a:xfrm>
            <a:off x="539552" y="2058088"/>
            <a:ext cx="504056" cy="216024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流程图: 可选过程 9">
            <a:extLst>
              <a:ext uri="{FF2B5EF4-FFF2-40B4-BE49-F238E27FC236}">
                <a16:creationId xmlns:a16="http://schemas.microsoft.com/office/drawing/2014/main" id="{AF2B1938-7F5C-4EBE-9520-A455E88E4FBA}"/>
              </a:ext>
            </a:extLst>
          </p:cNvPr>
          <p:cNvSpPr/>
          <p:nvPr/>
        </p:nvSpPr>
        <p:spPr>
          <a:xfrm>
            <a:off x="1467332" y="2004082"/>
            <a:ext cx="1304467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FBE02FD-2DAD-4B00-A892-781489A757A6}"/>
              </a:ext>
            </a:extLst>
          </p:cNvPr>
          <p:cNvSpPr/>
          <p:nvPr/>
        </p:nvSpPr>
        <p:spPr bwMode="auto">
          <a:xfrm>
            <a:off x="1835696" y="2492896"/>
            <a:ext cx="5256584" cy="2448272"/>
          </a:xfrm>
          <a:prstGeom prst="roundRect">
            <a:avLst>
              <a:gd name="adj" fmla="val 510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4000" dirty="0">
                <a:latin typeface="Times" panose="02020603050405020304" pitchFamily="18" charset="0"/>
              </a:rPr>
              <a:t>复制拷贝操作</a:t>
            </a:r>
            <a:r>
              <a:rPr lang="en-US" altLang="zh-CN" sz="4000" dirty="0">
                <a:latin typeface="Times" panose="02020603050405020304" pitchFamily="18" charset="0"/>
              </a:rPr>
              <a:t>….</a:t>
            </a:r>
            <a:endParaRPr kumimoji="0" lang="zh-CN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1714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6DF65F4-843D-4CC9-A0FE-23A41B59E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赋值运算符</a:t>
            </a:r>
            <a:r>
              <a:rPr lang="zh-CN" altLang="en-US" dirty="0">
                <a:solidFill>
                  <a:srgbClr val="C00000"/>
                </a:solidFill>
              </a:rPr>
              <a:t>返回值</a:t>
            </a:r>
            <a:r>
              <a:rPr lang="zh-CN" altLang="en-US" dirty="0"/>
              <a:t>的类型</a:t>
            </a:r>
          </a:p>
        </p:txBody>
      </p:sp>
      <p:sp>
        <p:nvSpPr>
          <p:cNvPr id="54273" name="内容占位符 1">
            <a:extLst>
              <a:ext uri="{FF2B5EF4-FFF2-40B4-BE49-F238E27FC236}">
                <a16:creationId xmlns:a16="http://schemas.microsoft.com/office/drawing/2014/main" id="{3B329224-B8E7-2A4A-A48F-1C8D7A78C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576" y="1700808"/>
            <a:ext cx="7772400" cy="4176464"/>
          </a:xfrm>
        </p:spPr>
        <p:txBody>
          <a:bodyPr/>
          <a:lstStyle/>
          <a:p>
            <a:r>
              <a:rPr lang="en-US" altLang="zh-CN" sz="2400" dirty="0">
                <a:solidFill>
                  <a:srgbClr val="C00000"/>
                </a:solidFill>
              </a:rPr>
              <a:t>Q: void</a:t>
            </a:r>
            <a:r>
              <a:rPr lang="en-US" altLang="zh-CN" sz="2400" dirty="0"/>
              <a:t> </a:t>
            </a:r>
            <a:r>
              <a:rPr lang="zh-CN" altLang="en-US" sz="2400" dirty="0"/>
              <a:t>好不好</a:t>
            </a:r>
            <a:r>
              <a:rPr lang="en-US" altLang="zh-CN" sz="2400" dirty="0"/>
              <a:t>?</a:t>
            </a:r>
          </a:p>
          <a:p>
            <a:pPr marL="365125" lvl="1" indent="0">
              <a:buFont typeface="Verdana" panose="020B0604030504040204" pitchFamily="34" charset="0"/>
              <a:buNone/>
            </a:pPr>
            <a:r>
              <a:rPr lang="zh-CN" altLang="en-US" sz="2000" dirty="0"/>
              <a:t>考虑</a:t>
            </a:r>
            <a:r>
              <a:rPr lang="en-US" altLang="zh-CN" sz="2000" dirty="0"/>
              <a:t>: a = b = c; </a:t>
            </a:r>
            <a:r>
              <a:rPr lang="en-US" altLang="zh-CN" sz="1800" dirty="0"/>
              <a:t>//</a:t>
            </a:r>
            <a:r>
              <a:rPr lang="zh-CN" altLang="en-US" sz="1800" dirty="0"/>
              <a:t>等价于 </a:t>
            </a:r>
            <a:r>
              <a:rPr lang="en-US" altLang="zh-CN" sz="1800" dirty="0" err="1"/>
              <a:t>a.operator</a:t>
            </a:r>
            <a:r>
              <a:rPr lang="en-US" altLang="zh-CN" sz="1800" dirty="0"/>
              <a:t>=(</a:t>
            </a:r>
            <a:r>
              <a:rPr lang="en-US" altLang="zh-CN" sz="1800" dirty="0" err="1">
                <a:solidFill>
                  <a:srgbClr val="0070C0"/>
                </a:solidFill>
              </a:rPr>
              <a:t>b.operator</a:t>
            </a:r>
            <a:r>
              <a:rPr lang="en-US" altLang="zh-CN" sz="1800" dirty="0">
                <a:solidFill>
                  <a:srgbClr val="0070C0"/>
                </a:solidFill>
              </a:rPr>
              <a:t>=(c)</a:t>
            </a:r>
            <a:r>
              <a:rPr lang="en-US" altLang="zh-CN" sz="1800" dirty="0"/>
              <a:t>);</a:t>
            </a:r>
          </a:p>
          <a:p>
            <a:pPr marL="365125" lvl="1" indent="0">
              <a:buFont typeface="Verdana" panose="020B0604030504040204" pitchFamily="34" charset="0"/>
              <a:buNone/>
            </a:pPr>
            <a:endParaRPr lang="en-US" altLang="zh-CN" sz="2000" dirty="0"/>
          </a:p>
          <a:p>
            <a:r>
              <a:rPr lang="en-US" altLang="zh-CN" sz="2400" dirty="0">
                <a:solidFill>
                  <a:srgbClr val="C00000"/>
                </a:solidFill>
              </a:rPr>
              <a:t>Q: </a:t>
            </a:r>
            <a:r>
              <a:rPr lang="en-US" altLang="zh-CN" sz="2400" dirty="0"/>
              <a:t>String </a:t>
            </a:r>
            <a:r>
              <a:rPr lang="zh-CN" altLang="en-US" sz="2400" dirty="0"/>
              <a:t>好不好</a:t>
            </a:r>
            <a:r>
              <a:rPr lang="en-US" altLang="zh-CN" sz="2400" dirty="0"/>
              <a:t>?     //</a:t>
            </a:r>
            <a:r>
              <a:rPr lang="en-US" altLang="zh-CN" sz="2400" dirty="0">
                <a:solidFill>
                  <a:srgbClr val="C00000"/>
                </a:solidFill>
              </a:rPr>
              <a:t>A: </a:t>
            </a:r>
            <a:r>
              <a:rPr lang="zh-CN" altLang="en-US" sz="2400" dirty="0"/>
              <a:t>产生新对象</a:t>
            </a:r>
            <a:endParaRPr lang="en-US" altLang="zh-CN" sz="2400" dirty="0"/>
          </a:p>
          <a:p>
            <a:r>
              <a:rPr lang="zh-CN" altLang="en-US" sz="2400" dirty="0"/>
              <a:t>为什么是</a:t>
            </a:r>
            <a:r>
              <a:rPr lang="en-US" altLang="zh-CN" sz="2400" dirty="0">
                <a:solidFill>
                  <a:srgbClr val="0070C0"/>
                </a:solidFill>
              </a:rPr>
              <a:t>String </a:t>
            </a:r>
            <a:r>
              <a:rPr lang="en-US" altLang="zh-CN" sz="2400" dirty="0">
                <a:solidFill>
                  <a:srgbClr val="C00000"/>
                </a:solidFill>
              </a:rPr>
              <a:t>&amp;</a:t>
            </a:r>
            <a:r>
              <a:rPr lang="zh-CN" altLang="en-US" sz="2400" dirty="0"/>
              <a:t>？   </a:t>
            </a:r>
            <a:r>
              <a:rPr lang="en-US" altLang="zh-CN" sz="2400" dirty="0"/>
              <a:t>//</a:t>
            </a:r>
            <a:r>
              <a:rPr lang="zh-CN" altLang="en-US" sz="2400" dirty="0">
                <a:solidFill>
                  <a:srgbClr val="0070C0"/>
                </a:solidFill>
              </a:rPr>
              <a:t>第</a:t>
            </a:r>
            <a:r>
              <a:rPr lang="en-US" altLang="zh-CN" sz="2400" dirty="0">
                <a:solidFill>
                  <a:srgbClr val="0070C0"/>
                </a:solidFill>
              </a:rPr>
              <a:t>2</a:t>
            </a:r>
            <a:r>
              <a:rPr lang="zh-CN" altLang="en-US" sz="2400" dirty="0">
                <a:solidFill>
                  <a:srgbClr val="0070C0"/>
                </a:solidFill>
              </a:rPr>
              <a:t>个重载的类型</a:t>
            </a:r>
            <a:endParaRPr lang="en-US" altLang="zh-CN" sz="2400" dirty="0">
              <a:solidFill>
                <a:srgbClr val="0070C0"/>
              </a:solidFill>
            </a:endParaRPr>
          </a:p>
          <a:p>
            <a:endParaRPr lang="en-US" altLang="zh-CN" sz="2400" dirty="0"/>
          </a:p>
          <a:p>
            <a:r>
              <a:rPr lang="zh-CN" altLang="en-US" sz="2400" dirty="0"/>
              <a:t>运算符重载时</a:t>
            </a:r>
            <a:r>
              <a:rPr lang="en-US" altLang="zh-CN" sz="2400" dirty="0"/>
              <a:t>, </a:t>
            </a:r>
            <a:r>
              <a:rPr lang="zh-CN" altLang="en-US" sz="2400" dirty="0"/>
              <a:t>好的风格</a:t>
            </a:r>
            <a:r>
              <a:rPr lang="en-US" altLang="zh-CN" sz="2400" dirty="0"/>
              <a:t>--</a:t>
            </a:r>
            <a:r>
              <a:rPr lang="zh-CN" altLang="en-US" sz="2400" dirty="0"/>
              <a:t>尽量保留运算符原本的特性</a:t>
            </a:r>
          </a:p>
          <a:p>
            <a:pPr marL="365125" lvl="1" indent="0">
              <a:buFont typeface="Verdana" panose="020B0604030504040204" pitchFamily="34" charset="0"/>
              <a:buNone/>
            </a:pPr>
            <a:r>
              <a:rPr lang="zh-CN" altLang="en-US" sz="2000" dirty="0"/>
              <a:t>考虑</a:t>
            </a:r>
            <a:r>
              <a:rPr lang="en-US" altLang="zh-CN" sz="2000" dirty="0"/>
              <a:t>: (a=</a:t>
            </a:r>
            <a:r>
              <a:rPr lang="en-US" altLang="zh-CN" sz="2000" dirty="0">
                <a:solidFill>
                  <a:srgbClr val="C00000"/>
                </a:solidFill>
              </a:rPr>
              <a:t>b</a:t>
            </a:r>
            <a:r>
              <a:rPr lang="en-US" altLang="zh-CN" sz="2000" dirty="0"/>
              <a:t>)=c; //</a:t>
            </a:r>
            <a:r>
              <a:rPr lang="zh-CN" altLang="en-US" sz="2000" dirty="0"/>
              <a:t>会修改</a:t>
            </a:r>
            <a:r>
              <a:rPr lang="en-US" altLang="zh-CN" sz="2000" dirty="0"/>
              <a:t>a</a:t>
            </a:r>
            <a:r>
              <a:rPr lang="zh-CN" altLang="en-US" sz="2000" dirty="0"/>
              <a:t>的值</a:t>
            </a:r>
          </a:p>
          <a:p>
            <a:pPr marL="365125" lvl="1" indent="0">
              <a:buFont typeface="Verdana" panose="020B0604030504040204" pitchFamily="34" charset="0"/>
              <a:buNone/>
            </a:pPr>
            <a:r>
              <a:rPr lang="zh-CN" altLang="en-US" sz="2000" dirty="0"/>
              <a:t>分别等价于</a:t>
            </a:r>
            <a:r>
              <a:rPr lang="en-US" altLang="zh-CN" sz="2000" dirty="0"/>
              <a:t>: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a.operator</a:t>
            </a:r>
            <a:r>
              <a:rPr lang="en-US" altLang="zh-CN" sz="1800" dirty="0"/>
              <a:t>=(</a:t>
            </a:r>
            <a:r>
              <a:rPr lang="en-US" altLang="zh-CN" sz="1800" dirty="0">
                <a:solidFill>
                  <a:srgbClr val="C00000"/>
                </a:solidFill>
              </a:rPr>
              <a:t>b</a:t>
            </a:r>
            <a:r>
              <a:rPr lang="en-US" altLang="zh-CN" sz="1800" dirty="0"/>
              <a:t>)).operator=(c);</a:t>
            </a:r>
            <a:endParaRPr lang="zh-CN" altLang="en-US" sz="2000" dirty="0"/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B90253B2-72AD-F14F-ABC3-8E6D9CCD4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D233E6-2289-F34D-B313-21CDF934416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185B9D-67C8-49D8-A89E-460210F4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404604"/>
            <a:ext cx="3861222" cy="67550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B056242-B887-49AB-91D9-903016A4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运算符重载为</a:t>
            </a:r>
            <a:r>
              <a:rPr lang="zh-CN" altLang="en-US" dirty="0">
                <a:solidFill>
                  <a:srgbClr val="0070C0"/>
                </a:solidFill>
              </a:rPr>
              <a:t>非成员函数</a:t>
            </a:r>
          </a:p>
        </p:txBody>
      </p:sp>
      <p:sp>
        <p:nvSpPr>
          <p:cNvPr id="55297" name="内容占位符 1">
            <a:extLst>
              <a:ext uri="{FF2B5EF4-FFF2-40B4-BE49-F238E27FC236}">
                <a16:creationId xmlns:a16="http://schemas.microsoft.com/office/drawing/2014/main" id="{0D98761C-B5EE-8C4D-B2E0-4EF252206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556792"/>
            <a:ext cx="7772400" cy="50405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70C0"/>
                </a:solidFill>
              </a:rPr>
              <a:t>通常</a:t>
            </a:r>
            <a:r>
              <a:rPr lang="zh-CN" altLang="en-US" dirty="0"/>
              <a:t>将运算符重载为成员函数</a:t>
            </a:r>
            <a:endParaRPr lang="en-US" altLang="zh-C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但</a:t>
            </a:r>
            <a:r>
              <a:rPr lang="zh-CN" altLang="en-US" dirty="0">
                <a:solidFill>
                  <a:srgbClr val="0070C0"/>
                </a:solidFill>
              </a:rPr>
              <a:t>有时需要</a:t>
            </a:r>
            <a:r>
              <a:rPr lang="zh-CN" altLang="en-US" dirty="0"/>
              <a:t>重载为</a:t>
            </a:r>
            <a:r>
              <a:rPr lang="zh-CN" altLang="en-US" dirty="0">
                <a:solidFill>
                  <a:srgbClr val="0070C0"/>
                </a:solidFill>
              </a:rPr>
              <a:t>非成员函数</a:t>
            </a:r>
            <a:r>
              <a:rPr lang="zh-CN" altLang="en-US" dirty="0"/>
              <a:t>：</a:t>
            </a:r>
            <a:endParaRPr lang="en-US" altLang="zh-CN" dirty="0"/>
          </a:p>
          <a:p>
            <a:pPr marL="849313" lvl="1" indent="-457200">
              <a:spcBef>
                <a:spcPts val="0"/>
              </a:spcBef>
              <a:spcAft>
                <a:spcPts val="600"/>
              </a:spcAft>
              <a:buFont typeface="Lucida Sans Unicode" panose="020B0602030504020204" pitchFamily="34" charset="0"/>
              <a:buAutoNum type="arabicPeriod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要重载的操作符的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第一个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操作数的类型是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无法更改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的类型，如“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&lt;&lt;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”第一个操作数的类型是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ostream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标准库的类型，无法添加新的成员函数。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49313" lvl="1" indent="-457200">
              <a:spcBef>
                <a:spcPts val="0"/>
              </a:spcBef>
              <a:spcAft>
                <a:spcPts val="600"/>
              </a:spcAft>
              <a:buFont typeface="Lucida Sans Unicode" panose="020B0602030504020204" pitchFamily="34" charset="0"/>
              <a:buAutoNum type="arabicPeriod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以非成员函数重载时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支持更灵活的类型转换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第一个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操作数可以被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隐含转换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为指定类型，不一定必须是指定类型的对象。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49313" lvl="1" indent="-45720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例如：</a:t>
            </a:r>
            <a:r>
              <a:rPr lang="en-US" altLang="zh-CN" dirty="0"/>
              <a:t>Complex c;    //Complex</a:t>
            </a:r>
            <a:r>
              <a:rPr lang="zh-CN" altLang="en-US" dirty="0"/>
              <a:t>类重载了“</a:t>
            </a:r>
            <a:r>
              <a:rPr lang="en-US" altLang="zh-CN" dirty="0"/>
              <a:t>+</a:t>
            </a:r>
            <a:r>
              <a:rPr lang="zh-CN" altLang="en-US" dirty="0"/>
              <a:t>”</a:t>
            </a:r>
            <a:endParaRPr lang="en-US" altLang="zh-CN" dirty="0"/>
          </a:p>
          <a:p>
            <a:pPr marL="849313" lvl="1" indent="-45720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/>
              <a:t>               c = c + 5.0;   //</a:t>
            </a:r>
            <a:r>
              <a:rPr lang="zh-CN" altLang="en-US" dirty="0"/>
              <a:t>正确！</a:t>
            </a:r>
            <a:endParaRPr lang="en-US" altLang="zh-CN" dirty="0"/>
          </a:p>
          <a:p>
            <a:pPr marL="849313" lvl="1" indent="-45720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/>
              <a:t>               c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FF00"/>
                </a:highlight>
              </a:rPr>
              <a:t>5.0</a:t>
            </a:r>
            <a:r>
              <a:rPr lang="zh-CN" altLang="en-US" dirty="0"/>
              <a:t> </a:t>
            </a:r>
            <a:r>
              <a:rPr lang="en-US" altLang="zh-CN" dirty="0"/>
              <a:t>+ c;   </a:t>
            </a:r>
            <a:r>
              <a:rPr lang="en-US" altLang="zh-CN" dirty="0">
                <a:solidFill>
                  <a:srgbClr val="C00000"/>
                </a:solidFill>
              </a:rPr>
              <a:t>//</a:t>
            </a:r>
            <a:r>
              <a:rPr lang="zh-CN" altLang="en-US" dirty="0">
                <a:solidFill>
                  <a:srgbClr val="C00000"/>
                </a:solidFill>
              </a:rPr>
              <a:t>错误！</a:t>
            </a:r>
          </a:p>
        </p:txBody>
      </p:sp>
      <p:sp>
        <p:nvSpPr>
          <p:cNvPr id="55299" name="灯片编号占位符 3">
            <a:extLst>
              <a:ext uri="{FF2B5EF4-FFF2-40B4-BE49-F238E27FC236}">
                <a16:creationId xmlns:a16="http://schemas.microsoft.com/office/drawing/2014/main" id="{A802CA6B-C546-9546-8E2D-98B4CC9475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79DCB6-6196-9548-A328-8A7FE6D8C62F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D9ECCD-7C9C-4BC5-8DD2-047B45184CF9}"/>
              </a:ext>
            </a:extLst>
          </p:cNvPr>
          <p:cNvSpPr txBox="1"/>
          <p:nvPr/>
        </p:nvSpPr>
        <p:spPr>
          <a:xfrm>
            <a:off x="6803739" y="837562"/>
            <a:ext cx="1449308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自学了解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3EF0CA93-EFCD-4DD3-B6C7-C355B970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20688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运算符重载为</a:t>
            </a:r>
            <a:r>
              <a:rPr lang="zh-CN" altLang="en-US" dirty="0">
                <a:solidFill>
                  <a:srgbClr val="C00000"/>
                </a:solidFill>
              </a:rPr>
              <a:t>非</a:t>
            </a:r>
            <a:r>
              <a:rPr lang="zh-CN" altLang="en-US" dirty="0">
                <a:solidFill>
                  <a:srgbClr val="0070C0"/>
                </a:solidFill>
              </a:rPr>
              <a:t>成员函数</a:t>
            </a:r>
          </a:p>
        </p:txBody>
      </p:sp>
      <p:sp>
        <p:nvSpPr>
          <p:cNvPr id="57345" name="内容占位符 2">
            <a:extLst>
              <a:ext uri="{FF2B5EF4-FFF2-40B4-BE49-F238E27FC236}">
                <a16:creationId xmlns:a16="http://schemas.microsoft.com/office/drawing/2014/main" id="{3BC4D079-A9F2-564C-AD25-86B301455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68" y="1700808"/>
            <a:ext cx="8350696" cy="4176464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函数的形参列表依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的次序排列各操作数。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后置单目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运算符</a:t>
            </a: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++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的重载函数，形参列表中要增加一个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，但不必写形参名。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如果在运算符的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重载函数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中需要操作某类对象的私有成员，可以将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声明为该类的</a:t>
            </a:r>
            <a:r>
              <a:rPr lang="zh-CN" altLang="en-US" sz="2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友元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7346" name="灯片编号占位符 3">
            <a:extLst>
              <a:ext uri="{FF2B5EF4-FFF2-40B4-BE49-F238E27FC236}">
                <a16:creationId xmlns:a16="http://schemas.microsoft.com/office/drawing/2014/main" id="{36599DE7-4F5F-A844-B45E-1D48D9A1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221AF1-027B-5A49-8BB3-3D4024536F91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FC441F82-8C78-4CC1-B82D-9C6B3BF6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运算符重载为非成员函数（续）</a:t>
            </a:r>
          </a:p>
        </p:txBody>
      </p:sp>
      <p:sp>
        <p:nvSpPr>
          <p:cNvPr id="59393" name="内容占位符 2">
            <a:extLst>
              <a:ext uri="{FF2B5EF4-FFF2-40B4-BE49-F238E27FC236}">
                <a16:creationId xmlns:a16="http://schemas.microsoft.com/office/drawing/2014/main" id="{C3483812-463D-0A48-880F-4AE52D2F5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609120"/>
            <a:ext cx="7772400" cy="4176464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双目运算符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/>
              <a:t>重载后，</a:t>
            </a:r>
            <a:br>
              <a:rPr lang="zh-CN" altLang="en-US" dirty="0"/>
            </a:br>
            <a:r>
              <a:rPr lang="zh-CN" altLang="en-US" dirty="0"/>
              <a:t>表达式 </a:t>
            </a:r>
            <a:r>
              <a:rPr lang="en-US" altLang="zh-CN" dirty="0">
                <a:solidFill>
                  <a:srgbClr val="0070C0"/>
                </a:solidFill>
              </a:rPr>
              <a:t>oprd1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0070C0"/>
                </a:solidFill>
              </a:rPr>
              <a:t> oprd2 </a:t>
            </a:r>
            <a:br>
              <a:rPr lang="en-US" altLang="zh-CN" dirty="0"/>
            </a:br>
            <a:r>
              <a:rPr lang="zh-CN" altLang="en-US" dirty="0"/>
              <a:t>等同于</a:t>
            </a:r>
            <a:r>
              <a:rPr lang="en-US" altLang="zh-CN" dirty="0">
                <a:solidFill>
                  <a:srgbClr val="C00000"/>
                </a:solidFill>
              </a:rPr>
              <a:t>operator 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0070C0"/>
                </a:solidFill>
              </a:rPr>
              <a:t>oprd1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>
                <a:solidFill>
                  <a:srgbClr val="0070C0"/>
                </a:solidFill>
              </a:rPr>
              <a:t>oprd2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前置单目运算符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/>
              <a:t>重载后，</a:t>
            </a:r>
            <a:br>
              <a:rPr lang="zh-CN" altLang="en-US" dirty="0"/>
            </a:br>
            <a:r>
              <a:rPr lang="zh-CN" altLang="zh-CN" dirty="0"/>
              <a:t>表达式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br>
              <a:rPr lang="en-US" altLang="zh-CN" dirty="0"/>
            </a:br>
            <a:r>
              <a:rPr lang="zh-CN" altLang="zh-CN" dirty="0"/>
              <a:t>等同于</a:t>
            </a:r>
            <a:r>
              <a:rPr lang="en-US" altLang="zh-CN" dirty="0">
                <a:solidFill>
                  <a:srgbClr val="C00000"/>
                </a:solidFill>
              </a:rPr>
              <a:t>operator 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后置</a:t>
            </a:r>
            <a:r>
              <a:rPr lang="zh-CN" altLang="en-US" dirty="0"/>
              <a:t>单目运算符 </a:t>
            </a:r>
            <a:r>
              <a:rPr lang="en-US" altLang="en-US" dirty="0">
                <a:ea typeface="宋体" panose="02010600030101010101" pitchFamily="2" charset="-122"/>
              </a:rPr>
              <a:t>++</a:t>
            </a:r>
            <a:r>
              <a:rPr lang="zh-CN" altLang="en-US" dirty="0"/>
              <a:t>和</a:t>
            </a:r>
            <a:r>
              <a:rPr lang="en-US" altLang="zh-CN" dirty="0"/>
              <a:t>--</a:t>
            </a:r>
            <a:r>
              <a:rPr lang="zh-CN" altLang="en-US" dirty="0"/>
              <a:t>重载后，</a:t>
            </a:r>
            <a:br>
              <a:rPr lang="zh-CN" altLang="en-US" dirty="0"/>
            </a:br>
            <a:r>
              <a:rPr lang="zh-CN" altLang="zh-CN" dirty="0"/>
              <a:t>表达式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B </a:t>
            </a:r>
            <a:br>
              <a:rPr lang="en-US" altLang="zh-CN" dirty="0"/>
            </a:br>
            <a:r>
              <a:rPr lang="zh-CN" altLang="zh-CN" dirty="0"/>
              <a:t>等同于</a:t>
            </a:r>
            <a:r>
              <a:rPr lang="en-US" altLang="zh-CN" dirty="0">
                <a:solidFill>
                  <a:srgbClr val="C00000"/>
                </a:solidFill>
              </a:rPr>
              <a:t>operator B (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</a:rPr>
              <a:t>0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59394" name="灯片编号占位符 3">
            <a:extLst>
              <a:ext uri="{FF2B5EF4-FFF2-40B4-BE49-F238E27FC236}">
                <a16:creationId xmlns:a16="http://schemas.microsoft.com/office/drawing/2014/main" id="{60AA4071-EDF6-2441-B9D7-FFD501E1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8CCF76-BE7E-9F41-952B-B81CAAA294CA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2" name="箭头: 上 1">
            <a:extLst>
              <a:ext uri="{FF2B5EF4-FFF2-40B4-BE49-F238E27FC236}">
                <a16:creationId xmlns:a16="http://schemas.microsoft.com/office/drawing/2014/main" id="{CB48EAE3-9B7A-4C44-B718-265473322570}"/>
              </a:ext>
            </a:extLst>
          </p:cNvPr>
          <p:cNvSpPr/>
          <p:nvPr/>
        </p:nvSpPr>
        <p:spPr>
          <a:xfrm>
            <a:off x="4823193" y="5569560"/>
            <a:ext cx="216024" cy="432048"/>
          </a:xfrm>
          <a:prstGeom prst="upArrow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7D842-84D5-4715-A9F3-004BF670B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812115"/>
            <a:ext cx="7772400" cy="916040"/>
          </a:xfrm>
        </p:spPr>
        <p:txBody>
          <a:bodyPr>
            <a:no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highlight>
                  <a:srgbClr val="000080"/>
                </a:highlight>
              </a:rPr>
              <a:t>例</a:t>
            </a:r>
            <a:r>
              <a:rPr lang="zh-CN" altLang="en-US" sz="2800" dirty="0"/>
              <a:t>以非成员函数形式重载</a:t>
            </a:r>
            <a:r>
              <a:rPr lang="en-US" sz="2800" dirty="0"/>
              <a:t>Complex</a:t>
            </a:r>
            <a:r>
              <a:rPr lang="zh-CN" altLang="en-US" sz="2800" dirty="0"/>
              <a:t>的加减法运算和“</a:t>
            </a:r>
            <a:r>
              <a:rPr lang="en-US" sz="2800" dirty="0"/>
              <a:t>&lt;&lt;</a:t>
            </a:r>
            <a:r>
              <a:rPr lang="zh-CN" altLang="en-US" sz="2800" dirty="0"/>
              <a:t>”运算符</a:t>
            </a:r>
            <a:endParaRPr lang="zh-CN" altLang="en-US" sz="3200" dirty="0"/>
          </a:p>
        </p:txBody>
      </p:sp>
      <p:sp>
        <p:nvSpPr>
          <p:cNvPr id="60418" name="灯片编号占位符 3">
            <a:extLst>
              <a:ext uri="{FF2B5EF4-FFF2-40B4-BE49-F238E27FC236}">
                <a16:creationId xmlns:a16="http://schemas.microsoft.com/office/drawing/2014/main" id="{230ACED4-05A5-DA4E-8972-C3AA137A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B4E4CF-52A9-0941-A7FE-4DFA54EEBEA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60417" name="内容占位符 2">
            <a:extLst>
              <a:ext uri="{FF2B5EF4-FFF2-40B4-BE49-F238E27FC236}">
                <a16:creationId xmlns:a16="http://schemas.microsoft.com/office/drawing/2014/main" id="{A61FA59E-DEA9-AC46-B52D-E1FD38576A8C}"/>
              </a:ext>
            </a:extLst>
          </p:cNvPr>
          <p:cNvSpPr>
            <a:spLocks noGrp="1"/>
          </p:cNvSpPr>
          <p:nvPr>
            <p:ph type="body" orient="vert" idx="4294967295"/>
          </p:nvPr>
        </p:nvSpPr>
        <p:spPr>
          <a:xfrm>
            <a:off x="503424" y="1772816"/>
            <a:ext cx="8137152" cy="43862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>
                <a:latin typeface="Consolas" panose="020B0609020204030204" pitchFamily="49" charset="0"/>
              </a:rPr>
              <a:t>将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-</a:t>
            </a:r>
            <a:r>
              <a:rPr lang="zh-CN" altLang="en-US" sz="2400" dirty="0">
                <a:latin typeface="Consolas" panose="020B0609020204030204" pitchFamily="49" charset="0"/>
              </a:rPr>
              <a:t>（双目）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重载为非成员函数，并将其声明为复数类的友元，两个操作数都是复数类的常引用。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将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&lt;&lt;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（双目）重载为非成员函数，并将其声明为复数类的友元，它的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左操作数是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std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::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ostream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，右操作数为复数类的常引用，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std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::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ostream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，用以支持下面形式的输出</a:t>
            </a:r>
            <a:r>
              <a:rPr lang="zh-CN" altLang="en-US" sz="2400" dirty="0">
                <a:latin typeface="Consolas" panose="020B0609020204030204" pitchFamily="49" charset="0"/>
              </a:rPr>
              <a:t>：</a:t>
            </a:r>
            <a:br>
              <a:rPr lang="en-US" altLang="zh-CN" sz="2400" dirty="0">
                <a:latin typeface="Consolas" panose="020B0609020204030204" pitchFamily="49" charset="0"/>
              </a:rPr>
            </a:b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a &lt;&lt; b;</a:t>
            </a:r>
            <a:br>
              <a:rPr lang="en-US" altLang="zh-CN" sz="2400" dirty="0">
                <a:latin typeface="Consolas" panose="020B0609020204030204" pitchFamily="49" charset="0"/>
              </a:rPr>
            </a:b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该输出调用的是</a:t>
            </a:r>
            <a:r>
              <a:rPr lang="zh-CN" altLang="en-US" sz="2400" dirty="0">
                <a:latin typeface="Consolas" panose="020B0609020204030204" pitchFamily="49" charset="0"/>
              </a:rPr>
              <a:t>：</a:t>
            </a:r>
            <a:br>
              <a:rPr lang="en-US" altLang="zh-CN" sz="2400" dirty="0">
                <a:latin typeface="Consolas" panose="020B0609020204030204" pitchFamily="49" charset="0"/>
              </a:rPr>
            </a:br>
            <a:r>
              <a:rPr lang="en-US" altLang="zh-CN" sz="2400" dirty="0">
                <a:latin typeface="Consolas" panose="020B0609020204030204" pitchFamily="49" charset="0"/>
              </a:rPr>
              <a:t>operator &lt;&lt; (operator &lt;&lt; (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, a), b);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标题 1">
            <a:extLst>
              <a:ext uri="{FF2B5EF4-FFF2-40B4-BE49-F238E27FC236}">
                <a16:creationId xmlns:a16="http://schemas.microsoft.com/office/drawing/2014/main" id="{BAB7D601-2C9B-486E-99F4-5D96C945EBA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例</a:t>
            </a:r>
          </a:p>
        </p:txBody>
      </p:sp>
      <p:sp>
        <p:nvSpPr>
          <p:cNvPr id="61442" name="灯片编号占位符 3">
            <a:extLst>
              <a:ext uri="{FF2B5EF4-FFF2-40B4-BE49-F238E27FC236}">
                <a16:creationId xmlns:a16="http://schemas.microsoft.com/office/drawing/2014/main" id="{51593EAC-88EC-444C-B701-63116221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A31C7C-AF77-BC46-BD42-1C9301779B28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8F9192-57AE-4F13-B5D1-D525A471B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56" y="1320760"/>
            <a:ext cx="7575887" cy="410445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标题 1">
            <a:extLst>
              <a:ext uri="{FF2B5EF4-FFF2-40B4-BE49-F238E27FC236}">
                <a16:creationId xmlns:a16="http://schemas.microsoft.com/office/drawing/2014/main" id="{BAB7D601-2C9B-486E-99F4-5D96C945EBA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800" b="1" dirty="0"/>
              <a:t>例</a:t>
            </a:r>
            <a:r>
              <a:rPr lang="zh-CN" altLang="en-US" sz="2400" dirty="0"/>
              <a:t>（续）</a:t>
            </a:r>
            <a:endParaRPr lang="zh-CN" altLang="en-US" dirty="0"/>
          </a:p>
        </p:txBody>
      </p:sp>
      <p:sp>
        <p:nvSpPr>
          <p:cNvPr id="61442" name="灯片编号占位符 3">
            <a:extLst>
              <a:ext uri="{FF2B5EF4-FFF2-40B4-BE49-F238E27FC236}">
                <a16:creationId xmlns:a16="http://schemas.microsoft.com/office/drawing/2014/main" id="{51593EAC-88EC-444C-B701-63116221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A31C7C-AF77-BC46-BD42-1C9301779B28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CFA38C-4BD2-4206-95B7-14DF68083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340768"/>
            <a:ext cx="7410007" cy="32635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9DF3EF1-7ED8-4797-A5FF-719C35176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813" y="3933056"/>
            <a:ext cx="4366770" cy="2607687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C54D333-B13E-4E4A-A5D8-F6C8F40F2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6" y="4683616"/>
            <a:ext cx="2971229" cy="1278422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6E345CBF-6DEA-4E11-8047-57FAD9BDF3E3}"/>
              </a:ext>
            </a:extLst>
          </p:cNvPr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6E880A-A266-4049-BFA0-403B08F60412}"/>
              </a:ext>
            </a:extLst>
          </p:cNvPr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代码备注</a:t>
            </a:r>
          </a:p>
        </p:txBody>
      </p:sp>
    </p:spTree>
    <p:extLst>
      <p:ext uri="{BB962C8B-B14F-4D97-AF65-F5344CB8AC3E}">
        <p14:creationId xmlns:p14="http://schemas.microsoft.com/office/powerpoint/2010/main" val="1434487471"/>
      </p:ext>
    </p:extLst>
  </p:cSld>
  <p:clrMapOvr>
    <a:masterClrMapping/>
  </p:clrMapOvr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课程PPT模板" id="{351F00F9-9781-4493-A8BE-AE75F947CCD5}" vid="{D9AAA92C-2A04-455B-AC88-7D4E4CA3D87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40373</TotalTime>
  <Words>7036</Words>
  <Application>Microsoft Office PowerPoint</Application>
  <PresentationFormat>全屏显示(4:3)</PresentationFormat>
  <Paragraphs>1021</Paragraphs>
  <Slides>80</Slides>
  <Notes>49</Notes>
  <HiddenSlides>10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103" baseType="lpstr">
      <vt:lpstr>21</vt:lpstr>
      <vt:lpstr>等线</vt:lpstr>
      <vt:lpstr>方正姚体</vt:lpstr>
      <vt:lpstr>黑体</vt:lpstr>
      <vt:lpstr>楷体</vt:lpstr>
      <vt:lpstr>隶书</vt:lpstr>
      <vt:lpstr>宋体</vt:lpstr>
      <vt:lpstr>微软雅黑</vt:lpstr>
      <vt:lpstr>微软雅黑 Light</vt:lpstr>
      <vt:lpstr>Arial</vt:lpstr>
      <vt:lpstr>Calibri</vt:lpstr>
      <vt:lpstr>Calibri Light</vt:lpstr>
      <vt:lpstr>Comic Sans MS</vt:lpstr>
      <vt:lpstr>Consolas</vt:lpstr>
      <vt:lpstr>Georgia</vt:lpstr>
      <vt:lpstr>Lucida Sans Unicode</vt:lpstr>
      <vt:lpstr>Rockwell</vt:lpstr>
      <vt:lpstr>Times</vt:lpstr>
      <vt:lpstr>Times New Roman</vt:lpstr>
      <vt:lpstr>Verdana</vt:lpstr>
      <vt:lpstr>Wingdings</vt:lpstr>
      <vt:lpstr>Wingdings 3</vt:lpstr>
      <vt:lpstr>课程PPT模板</vt:lpstr>
      <vt:lpstr>13. 面向对象程序设计(2)  </vt:lpstr>
      <vt:lpstr>内容</vt:lpstr>
      <vt:lpstr>1.1 作用域</vt:lpstr>
      <vt:lpstr>函数原形的作用域</vt:lpstr>
      <vt:lpstr>局部作用域</vt:lpstr>
      <vt:lpstr>类作用域</vt:lpstr>
      <vt:lpstr>文件作用域</vt:lpstr>
      <vt:lpstr>1.2 可见性</vt:lpstr>
      <vt:lpstr>1.2 可见性（续）</vt:lpstr>
      <vt:lpstr>同一作用域中的同名标识符</vt:lpstr>
      <vt:lpstr>PowerPoint 演示文稿</vt:lpstr>
      <vt:lpstr>内容</vt:lpstr>
      <vt:lpstr>2 对象的生存期</vt:lpstr>
      <vt:lpstr>2.1 静态生存期</vt:lpstr>
      <vt:lpstr>2.2 动态生存期</vt:lpstr>
      <vt:lpstr> 例 变量的生存期与可见性</vt:lpstr>
      <vt:lpstr> 例 变量的生存期与可见性(续)</vt:lpstr>
      <vt:lpstr>内容</vt:lpstr>
      <vt:lpstr>3.1 静态数据成员</vt:lpstr>
      <vt:lpstr> 例 具有静态数据成员的Point类</vt:lpstr>
      <vt:lpstr>3.2 静态函数成员</vt:lpstr>
      <vt:lpstr> 例 具有静态数据、函数成员的 Point类</vt:lpstr>
      <vt:lpstr>例 静态成员举例</vt:lpstr>
      <vt:lpstr>例 (续）</vt:lpstr>
      <vt:lpstr>PowerPoint 演示文稿</vt:lpstr>
      <vt:lpstr>PowerPoint 演示文稿</vt:lpstr>
      <vt:lpstr>PowerPoint 演示文稿</vt:lpstr>
      <vt:lpstr>内容</vt:lpstr>
      <vt:lpstr>4 共享数据的保护</vt:lpstr>
      <vt:lpstr>4.1 常对象</vt:lpstr>
      <vt:lpstr>如何保障常对象的值不被改变</vt:lpstr>
      <vt:lpstr>4.2 用const修饰的对象成员</vt:lpstr>
      <vt:lpstr>例：常成员函数</vt:lpstr>
      <vt:lpstr>例：常成员函数</vt:lpstr>
      <vt:lpstr>常成员函数的声明原则</vt:lpstr>
      <vt:lpstr>常成员函数的声明原则</vt:lpstr>
      <vt:lpstr>常成员函数的声明原则</vt:lpstr>
      <vt:lpstr>修改后的程序代码</vt:lpstr>
      <vt:lpstr>4.2 用const修饰的对象成员</vt:lpstr>
      <vt:lpstr>例：常数据成员</vt:lpstr>
      <vt:lpstr>4.3  常引用</vt:lpstr>
      <vt:lpstr>例：常引用作形参</vt:lpstr>
      <vt:lpstr>例：常引用作形参</vt:lpstr>
      <vt:lpstr>共享与保护小结</vt:lpstr>
      <vt:lpstr>内容</vt:lpstr>
      <vt:lpstr>PowerPoint 演示文稿</vt:lpstr>
      <vt:lpstr>烫人的字符串</vt:lpstr>
      <vt:lpstr>PowerPoint 演示文稿</vt:lpstr>
      <vt:lpstr>PowerPoint 演示文稿</vt:lpstr>
      <vt:lpstr>PowerPoint 演示文稿</vt:lpstr>
      <vt:lpstr>PowerPoint 演示文稿</vt:lpstr>
      <vt:lpstr>string类重载的操作符</vt:lpstr>
      <vt:lpstr>PowerPoint 演示文稿</vt:lpstr>
      <vt:lpstr>string类的部分常用成员函数</vt:lpstr>
      <vt:lpstr>PowerPoint 演示文稿</vt:lpstr>
      <vt:lpstr>PowerPoint 演示文稿</vt:lpstr>
      <vt:lpstr>PowerPoint 演示文稿</vt:lpstr>
      <vt:lpstr>运算符重载</vt:lpstr>
      <vt:lpstr>运算符重载的规则</vt:lpstr>
      <vt:lpstr>运算符重载</vt:lpstr>
      <vt:lpstr> 例 复数类加减法运算重载—成员函数形式</vt:lpstr>
      <vt:lpstr>例（续）</vt:lpstr>
      <vt:lpstr>例</vt:lpstr>
      <vt:lpstr>单目运算符成员函数的设计</vt:lpstr>
      <vt:lpstr>单目运算符成员函数的设计(续)</vt:lpstr>
      <vt:lpstr>例</vt:lpstr>
      <vt:lpstr>例 （续）</vt:lpstr>
      <vt:lpstr>例（续）</vt:lpstr>
      <vt:lpstr>例</vt:lpstr>
      <vt:lpstr>类型强制转换运算符重载</vt:lpstr>
      <vt:lpstr>类型强制转换运算符重载</vt:lpstr>
      <vt:lpstr>赋值运算符  =  重载</vt:lpstr>
      <vt:lpstr>重载赋值运算符</vt:lpstr>
      <vt:lpstr>赋值运算符返回值的类型</vt:lpstr>
      <vt:lpstr>运算符重载为非成员函数</vt:lpstr>
      <vt:lpstr>运算符重载为非成员函数</vt:lpstr>
      <vt:lpstr>运算符重载为非成员函数（续）</vt:lpstr>
      <vt:lpstr>例以非成员函数形式重载Complex的加减法运算和“&lt;&lt;”运算符</vt:lpstr>
      <vt:lpstr>例</vt:lpstr>
      <vt:lpstr>例（续）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Hui Sun</cp:lastModifiedBy>
  <cp:revision>1342</cp:revision>
  <dcterms:created xsi:type="dcterms:W3CDTF">2020-10-14T02:47:39Z</dcterms:created>
  <dcterms:modified xsi:type="dcterms:W3CDTF">2024-12-23T13:21:52Z</dcterms:modified>
</cp:coreProperties>
</file>