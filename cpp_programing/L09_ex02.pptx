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45"/>
  </p:notesMasterIdLst>
  <p:handoutMasterIdLst>
    <p:handoutMasterId r:id="rId46"/>
  </p:handoutMasterIdLst>
  <p:sldIdLst>
    <p:sldId id="1092" r:id="rId2"/>
    <p:sldId id="1223" r:id="rId3"/>
    <p:sldId id="1221" r:id="rId4"/>
    <p:sldId id="1222" r:id="rId5"/>
    <p:sldId id="673" r:id="rId6"/>
    <p:sldId id="675" r:id="rId7"/>
    <p:sldId id="713" r:id="rId8"/>
    <p:sldId id="677" r:id="rId9"/>
    <p:sldId id="1134" r:id="rId10"/>
    <p:sldId id="1135" r:id="rId11"/>
    <p:sldId id="1136" r:id="rId12"/>
    <p:sldId id="1217" r:id="rId13"/>
    <p:sldId id="1174" r:id="rId14"/>
    <p:sldId id="1183" r:id="rId15"/>
    <p:sldId id="1184" r:id="rId16"/>
    <p:sldId id="1185" r:id="rId17"/>
    <p:sldId id="1186" r:id="rId18"/>
    <p:sldId id="1187" r:id="rId19"/>
    <p:sldId id="1188" r:id="rId20"/>
    <p:sldId id="1189" r:id="rId21"/>
    <p:sldId id="1198" r:id="rId22"/>
    <p:sldId id="1190" r:id="rId23"/>
    <p:sldId id="1201" r:id="rId24"/>
    <p:sldId id="1202" r:id="rId25"/>
    <p:sldId id="1191" r:id="rId26"/>
    <p:sldId id="1192" r:id="rId27"/>
    <p:sldId id="1193" r:id="rId28"/>
    <p:sldId id="1194" r:id="rId29"/>
    <p:sldId id="1195" r:id="rId30"/>
    <p:sldId id="1196" r:id="rId31"/>
    <p:sldId id="1197" r:id="rId32"/>
    <p:sldId id="1204" r:id="rId33"/>
    <p:sldId id="1113" r:id="rId34"/>
    <p:sldId id="1114" r:id="rId35"/>
    <p:sldId id="1115" r:id="rId36"/>
    <p:sldId id="1116" r:id="rId37"/>
    <p:sldId id="1117" r:id="rId38"/>
    <p:sldId id="1118" r:id="rId39"/>
    <p:sldId id="1205" r:id="rId40"/>
    <p:sldId id="1206" r:id="rId41"/>
    <p:sldId id="1207" r:id="rId42"/>
    <p:sldId id="1208" r:id="rId43"/>
    <p:sldId id="1209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1552" autoAdjust="0"/>
  </p:normalViewPr>
  <p:slideViewPr>
    <p:cSldViewPr snapToGrid="0">
      <p:cViewPr varScale="1">
        <p:scale>
          <a:sx n="83" d="100"/>
          <a:sy n="83" d="100"/>
        </p:scale>
        <p:origin x="84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MyWork\MyTeach\Programming\2025\programming25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Sheet3!$E$2:$E$64</cx:f>
        <cx:lvl ptCount="63" formatCode="G/通用格式">
          <cx:pt idx="0">96</cx:pt>
          <cx:pt idx="1">100</cx:pt>
          <cx:pt idx="2">100</cx:pt>
          <cx:pt idx="3">98</cx:pt>
          <cx:pt idx="4">100</cx:pt>
          <cx:pt idx="5">100</cx:pt>
          <cx:pt idx="6">60</cx:pt>
          <cx:pt idx="7">90</cx:pt>
          <cx:pt idx="8">89</cx:pt>
          <cx:pt idx="9">90</cx:pt>
          <cx:pt idx="10">90</cx:pt>
          <cx:pt idx="11">90</cx:pt>
          <cx:pt idx="12">100</cx:pt>
          <cx:pt idx="13">90</cx:pt>
          <cx:pt idx="14">97</cx:pt>
          <cx:pt idx="15">90</cx:pt>
          <cx:pt idx="16">90</cx:pt>
          <cx:pt idx="17">0</cx:pt>
          <cx:pt idx="18">90</cx:pt>
          <cx:pt idx="19">90</cx:pt>
          <cx:pt idx="20">69</cx:pt>
          <cx:pt idx="21">90</cx:pt>
          <cx:pt idx="22">90</cx:pt>
          <cx:pt idx="23">60</cx:pt>
          <cx:pt idx="24">87</cx:pt>
          <cx:pt idx="25">84</cx:pt>
          <cx:pt idx="26">90</cx:pt>
          <cx:pt idx="27">90</cx:pt>
          <cx:pt idx="28">90</cx:pt>
          <cx:pt idx="29">87</cx:pt>
          <cx:pt idx="30">66</cx:pt>
          <cx:pt idx="31">85</cx:pt>
          <cx:pt idx="32">63</cx:pt>
          <cx:pt idx="33">60</cx:pt>
          <cx:pt idx="34">63</cx:pt>
          <cx:pt idx="35">63</cx:pt>
          <cx:pt idx="36">90</cx:pt>
          <cx:pt idx="37">90</cx:pt>
          <cx:pt idx="38">60</cx:pt>
          <cx:pt idx="39">66</cx:pt>
          <cx:pt idx="40">90</cx:pt>
          <cx:pt idx="41">63</cx:pt>
          <cx:pt idx="42">63</cx:pt>
          <cx:pt idx="43">66</cx:pt>
          <cx:pt idx="44">60</cx:pt>
          <cx:pt idx="45">60</cx:pt>
          <cx:pt idx="46">0</cx:pt>
          <cx:pt idx="47">90</cx:pt>
          <cx:pt idx="48">60</cx:pt>
          <cx:pt idx="49">63</cx:pt>
          <cx:pt idx="50">63</cx:pt>
          <cx:pt idx="51">63</cx:pt>
          <cx:pt idx="52">87</cx:pt>
          <cx:pt idx="53">90</cx:pt>
          <cx:pt idx="54">90</cx:pt>
          <cx:pt idx="55">90</cx:pt>
          <cx:pt idx="56">87</cx:pt>
          <cx:pt idx="57">60</cx:pt>
          <cx:pt idx="58">90</cx:pt>
          <cx:pt idx="59">60</cx:pt>
          <cx:pt idx="60">87</cx:pt>
          <cx:pt idx="61">66</cx:pt>
          <cx:pt idx="62">69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altLang="zh-CN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  <a:ea typeface="等线" panose="02010600030101010101" pitchFamily="2" charset="-122"/>
              </a:rPr>
              <a:t>test02</a:t>
            </a:r>
          </a:p>
          <a:p>
            <a:pPr algn="ctr" rtl="0">
              <a:defRPr/>
            </a:pPr>
            <a:endParaRPr lang="zh-CN" alt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  <a:ea typeface="等线" panose="02010600030101010101" pitchFamily="2" charset="-122"/>
            </a:endParaRPr>
          </a:p>
        </cx:rich>
      </cx:tx>
    </cx:title>
    <cx:plotArea>
      <cx:plotAreaRegion>
        <cx:series layoutId="clusteredColumn" uniqueId="{05B29E15-445D-45DA-9B2F-F2D2781B401D}">
          <cx:dataLabels/>
          <cx:dataId val="0"/>
          <cx:layoutPr>
            <cx:binning intervalClosed="r" underflow="60" overflow="100">
              <cx:binSize val="5"/>
            </cx:binning>
          </cx:layoutPr>
        </cx:series>
      </cx:plotAreaRegion>
      <cx:axis id="0">
        <cx:catScaling gapWidth="0.400000006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32C656-B4F5-496D-8363-88252277A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DD45AE-3D94-4FB0-AA1E-B100A0A7EC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71C8D-3D58-472B-A2FE-61A2020D09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A5F050-4848-4F76-95CF-FC4B8004A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2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10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9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7F2607A3-F1BE-4A25-B299-97AFEB1FFB62}"/>
              </a:ext>
            </a:extLst>
          </p:cNvPr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F04BF-0727-495F-A094-608DA21B68DA}"/>
              </a:ext>
            </a:extLst>
          </p:cNvPr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4515F67-C18F-4CB9-B75C-1ECF0FA29872}"/>
              </a:ext>
            </a:extLst>
          </p:cNvPr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02941345-94C4-47EE-8B6E-05F86F564B00}"/>
              </a:ext>
            </a:extLst>
          </p:cNvPr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098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9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30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8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834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700" indent="-342900">
              <a:buFont typeface="Wingdings" panose="05000000000000000000" pitchFamily="2" charset="2"/>
              <a:buChar char="§"/>
              <a:defRPr sz="2000"/>
            </a:lvl2pPr>
            <a:lvl3pPr marL="1198350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4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911216-E732-4C6D-8C7E-F389B9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617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711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9828-BCC3-4A72-91C7-FC94E006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8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134B0723-877F-4CEB-B3F0-9557CA8C7B76}"/>
              </a:ext>
            </a:extLst>
          </p:cNvPr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AC5154D5-11EE-423D-9CB9-FE44E555273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2EFB004E-FFA4-4999-88DD-E0F997AE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D064A42-05FC-484D-98E8-9F09568243FA}" type="datetime1">
              <a:rPr lang="en-US" altLang="zh-CN" smtClean="0"/>
              <a:t>11/6/2025</a:t>
            </a:fld>
            <a:endParaRPr lang="zh-CN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D099190-8FB3-415D-AF42-45E5EC4D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35DA594-928A-4B93-BFF1-D1D99811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28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8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802" r:id="rId11"/>
    <p:sldLayoutId id="214748380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4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23152DE5-977F-4BB9-82A6-4228C3DCD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873" y="4852219"/>
            <a:ext cx="5429250" cy="44954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授课教师：孙 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6DE7729-5D2F-46D3-930B-9C449DB6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3" y="1773237"/>
            <a:ext cx="7875127" cy="1655763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习题课</a:t>
            </a:r>
            <a:r>
              <a:rPr lang="en-US" altLang="zh-CN" sz="4800" dirty="0"/>
              <a:t>02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449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8401D15-4308-4EC7-BBC2-45A0CEE4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随堂测试</a:t>
            </a:r>
            <a:r>
              <a:rPr lang="en-US" altLang="zh-CN" dirty="0"/>
              <a:t>02</a:t>
            </a:r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图表 2">
                <a:extLst>
                  <a:ext uri="{FF2B5EF4-FFF2-40B4-BE49-F238E27FC236}">
                    <a16:creationId xmlns:a16="http://schemas.microsoft.com/office/drawing/2014/main" id="{F0CBC28E-0C52-4254-9B57-5C73B67F405E}"/>
                  </a:ext>
                </a:extLst>
              </p:cNvPr>
              <p:cNvGraphicFramePr/>
              <p:nvPr/>
            </p:nvGraphicFramePr>
            <p:xfrm>
              <a:off x="2286000" y="20574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图表 2">
                <a:extLst>
                  <a:ext uri="{FF2B5EF4-FFF2-40B4-BE49-F238E27FC236}">
                    <a16:creationId xmlns:a16="http://schemas.microsoft.com/office/drawing/2014/main" id="{F0CBC28E-0C52-4254-9B57-5C73B67F40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00" y="2057400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530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35A92-5F2C-4F82-8FCB-C8257DD9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质因数分解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262F11-B383-4375-8131-373CA15D0C23}"/>
              </a:ext>
            </a:extLst>
          </p:cNvPr>
          <p:cNvSpPr/>
          <p:nvPr/>
        </p:nvSpPr>
        <p:spPr>
          <a:xfrm>
            <a:off x="555585" y="1409242"/>
            <a:ext cx="834534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39370"/>
            <a:r>
              <a:rPr lang="zh-CN" altLang="en-US" sz="1600" dirty="0">
                <a:latin typeface="Open Sans"/>
              </a:rPr>
              <a:t>给定一个整数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，请给出它的质因数分解。</a:t>
            </a:r>
          </a:p>
          <a:p>
            <a:pPr marL="266700" indent="39370"/>
            <a:r>
              <a:rPr lang="zh-CN" altLang="en-US" sz="1600" dirty="0">
                <a:latin typeface="Open Sans"/>
              </a:rPr>
              <a:t>如</a:t>
            </a:r>
            <a:r>
              <a:rPr lang="en-US" altLang="zh-CN" sz="1600" dirty="0">
                <a:latin typeface="Open Sans"/>
              </a:rPr>
              <a:t>28</a:t>
            </a:r>
            <a:r>
              <a:rPr lang="zh-CN" altLang="en-US" sz="1600" dirty="0">
                <a:latin typeface="Open Sans"/>
              </a:rPr>
              <a:t>可以如下分解：</a:t>
            </a:r>
            <a:r>
              <a:rPr lang="en-US" altLang="zh-CN" sz="1100" dirty="0">
                <a:latin typeface="Open Sans"/>
              </a:rPr>
              <a:t>28=</a:t>
            </a:r>
            <a:r>
              <a:rPr lang="en-US" altLang="zh-CN" sz="1100" i="1" dirty="0">
                <a:latin typeface="Open Sans"/>
              </a:rPr>
              <a:t>2^2×7</a:t>
            </a:r>
            <a:endParaRPr lang="zh-CN" altLang="en-US" sz="1600" dirty="0">
              <a:latin typeface="Open Sans"/>
            </a:endParaRPr>
          </a:p>
          <a:p>
            <a:pPr marL="266700" indent="39370"/>
            <a:r>
              <a:rPr lang="zh-CN" altLang="en-US" sz="1600" dirty="0">
                <a:latin typeface="Open Sans"/>
              </a:rPr>
              <a:t>请你输出的每个质因数以及该质因数的指数。</a:t>
            </a:r>
          </a:p>
          <a:p>
            <a:endParaRPr lang="en-US" altLang="zh-CN" sz="1600" b="1" dirty="0">
              <a:latin typeface="Lato"/>
            </a:endParaRPr>
          </a:p>
          <a:p>
            <a:r>
              <a:rPr lang="zh-CN" altLang="en-US" sz="1600" b="1" dirty="0">
                <a:latin typeface="Lato"/>
              </a:rPr>
              <a:t>输入格式</a:t>
            </a:r>
          </a:p>
          <a:p>
            <a:r>
              <a:rPr lang="zh-CN" altLang="en-US" sz="1600" dirty="0">
                <a:latin typeface="Open Sans"/>
              </a:rPr>
              <a:t>一行，包含一个整数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（</a:t>
            </a:r>
            <a:r>
              <a:rPr lang="en-US" altLang="zh-CN" sz="1600" dirty="0">
                <a:latin typeface="Open Sans"/>
              </a:rPr>
              <a:t>2≤n≤10000</a:t>
            </a:r>
            <a:r>
              <a:rPr lang="zh-CN" altLang="en-US" sz="1600" dirty="0">
                <a:latin typeface="Open Sans"/>
              </a:rPr>
              <a:t>）。</a:t>
            </a:r>
          </a:p>
          <a:p>
            <a:r>
              <a:rPr lang="zh-CN" altLang="en-US" sz="1600" b="1" dirty="0">
                <a:latin typeface="Lato"/>
              </a:rPr>
              <a:t>输出格式</a:t>
            </a:r>
          </a:p>
          <a:p>
            <a:r>
              <a:rPr lang="zh-CN" altLang="en-US" sz="1600" dirty="0">
                <a:latin typeface="Open Sans"/>
              </a:rPr>
              <a:t>若干行，每行输出整数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的一个质因数，以及该质因数的指数，之间用一个冒号：隔开，且按质因数从小到大的顺序输出。</a:t>
            </a:r>
          </a:p>
          <a:p>
            <a:r>
              <a:rPr lang="zh-CN" altLang="en-US" sz="1600" b="1" dirty="0">
                <a:latin typeface="Lato"/>
              </a:rPr>
              <a:t>输入样例</a:t>
            </a:r>
          </a:p>
          <a:p>
            <a:r>
              <a:rPr lang="en-US" altLang="zh-CN" sz="1600" dirty="0">
                <a:latin typeface="Open Sans"/>
              </a:rPr>
              <a:t>28</a:t>
            </a:r>
          </a:p>
          <a:p>
            <a:r>
              <a:rPr lang="zh-CN" altLang="en-US" sz="1600" b="1" dirty="0">
                <a:latin typeface="Lato"/>
              </a:rPr>
              <a:t>输出样例</a:t>
            </a:r>
          </a:p>
          <a:p>
            <a:r>
              <a:rPr lang="en-US" altLang="zh-CN" sz="1600" dirty="0">
                <a:latin typeface="Open Sans"/>
              </a:rPr>
              <a:t>2:2</a:t>
            </a:r>
          </a:p>
          <a:p>
            <a:r>
              <a:rPr lang="en-US" altLang="zh-CN" sz="1600" dirty="0">
                <a:latin typeface="Open Sans"/>
              </a:rPr>
              <a:t>7:1</a:t>
            </a:r>
          </a:p>
          <a:p>
            <a:r>
              <a:rPr lang="zh-CN" altLang="en-US" sz="1600" b="1" dirty="0">
                <a:latin typeface="Lato"/>
              </a:rPr>
              <a:t>特殊提示</a:t>
            </a:r>
          </a:p>
          <a:p>
            <a:r>
              <a:rPr lang="zh-CN" altLang="en-US" sz="1600" dirty="0">
                <a:latin typeface="Open Sans"/>
              </a:rPr>
              <a:t>输入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Open Sans"/>
              </a:rPr>
              <a:t>： </a:t>
            </a:r>
          </a:p>
          <a:p>
            <a:r>
              <a:rPr lang="en-US" altLang="zh-CN" sz="1600" dirty="0">
                <a:latin typeface="Open Sans"/>
              </a:rPr>
              <a:t>2 </a:t>
            </a:r>
          </a:p>
          <a:p>
            <a:r>
              <a:rPr lang="zh-CN" altLang="en-US" sz="1600" dirty="0">
                <a:latin typeface="Open Sans"/>
              </a:rPr>
              <a:t>输出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Open Sans"/>
              </a:rPr>
              <a:t>： </a:t>
            </a:r>
          </a:p>
          <a:p>
            <a:r>
              <a:rPr lang="en-US" altLang="zh-CN" sz="1600" dirty="0">
                <a:latin typeface="Open Sans"/>
              </a:rPr>
              <a:t>2:1</a:t>
            </a:r>
            <a:endParaRPr lang="en-US" altLang="zh-CN" sz="1600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3354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CFC13-7B29-449D-BC39-768FFC47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考点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40FF0-363F-49FD-A566-67CD71F0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6521956" cy="4764163"/>
          </a:xfrm>
        </p:spPr>
        <p:txBody>
          <a:bodyPr/>
          <a:lstStyle/>
          <a:p>
            <a:r>
              <a:rPr lang="zh-CN" altLang="en-US" dirty="0"/>
              <a:t>素数</a:t>
            </a:r>
            <a:endParaRPr lang="en-US" altLang="zh-CN" dirty="0"/>
          </a:p>
          <a:p>
            <a:pPr lvl="1"/>
            <a:r>
              <a:rPr lang="zh-CN" altLang="en-US" dirty="0"/>
              <a:t>可以提前将可能用到的素数保存为数组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15334DE-9203-429F-9490-FC91E64F74A5}"/>
              </a:ext>
            </a:extLst>
          </p:cNvPr>
          <p:cNvGrpSpPr/>
          <p:nvPr/>
        </p:nvGrpSpPr>
        <p:grpSpPr>
          <a:xfrm>
            <a:off x="826953" y="2879215"/>
            <a:ext cx="8054971" cy="3754874"/>
            <a:chOff x="826953" y="2879215"/>
            <a:chExt cx="8054971" cy="375487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D56781-E0F3-4427-B218-042B196624C5}"/>
                </a:ext>
              </a:extLst>
            </p:cNvPr>
            <p:cNvSpPr/>
            <p:nvPr/>
          </p:nvSpPr>
          <p:spPr>
            <a:xfrm>
              <a:off x="826953" y="3059668"/>
              <a:ext cx="33025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方法</a:t>
              </a:r>
              <a:r>
                <a:rPr lang="en-US" altLang="zh-CN" dirty="0"/>
                <a:t>2</a:t>
              </a:r>
              <a:r>
                <a:rPr lang="zh-CN" altLang="en-US" dirty="0"/>
                <a:t>：不用考虑素数，直接求</a:t>
              </a:r>
              <a:endParaRPr lang="en-US" altLang="zh-CN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43E9F8-3E2D-4E78-AF75-E86DC609E16A}"/>
                </a:ext>
              </a:extLst>
            </p:cNvPr>
            <p:cNvSpPr/>
            <p:nvPr/>
          </p:nvSpPr>
          <p:spPr>
            <a:xfrm>
              <a:off x="4309924" y="2879215"/>
              <a:ext cx="4572000" cy="375487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n, k, divisor,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scanf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&amp;n);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(k 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k &lt;= n; k++)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while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 n % k ==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++;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n /= k;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&gt;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"%d:%d\n"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k,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9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>
            <a:extLst>
              <a:ext uri="{FF2B5EF4-FFF2-40B4-BE49-F238E27FC236}">
                <a16:creationId xmlns:a16="http://schemas.microsoft.com/office/drawing/2014/main" id="{B0EDBCD9-D463-4C8E-B81E-F7BA6BE0C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算法举例：</a:t>
            </a:r>
            <a:r>
              <a:rPr lang="zh-CN" altLang="en-US" sz="3200" dirty="0">
                <a:solidFill>
                  <a:srgbClr val="00B0F0"/>
                </a:solidFill>
              </a:rPr>
              <a:t>筛法</a:t>
            </a:r>
            <a:r>
              <a:rPr lang="zh-CN" altLang="en-US" sz="3200" dirty="0"/>
              <a:t>求素数</a:t>
            </a:r>
          </a:p>
        </p:txBody>
      </p:sp>
      <p:sp>
        <p:nvSpPr>
          <p:cNvPr id="607235" name="Rectangle 3">
            <a:extLst>
              <a:ext uri="{FF2B5EF4-FFF2-40B4-BE49-F238E27FC236}">
                <a16:creationId xmlns:a16="http://schemas.microsoft.com/office/drawing/2014/main" id="{819BBA49-9548-44F4-A936-7B2537368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想象将</a:t>
            </a:r>
            <a:r>
              <a:rPr lang="en-US" altLang="zh-CN" dirty="0"/>
              <a:t>100</a:t>
            </a:r>
            <a:r>
              <a:rPr lang="zh-CN" altLang="en-US" dirty="0"/>
              <a:t>个数看作</a:t>
            </a:r>
            <a:r>
              <a:rPr lang="zh-CN" altLang="en-US" dirty="0">
                <a:solidFill>
                  <a:srgbClr val="00B050"/>
                </a:solidFill>
              </a:rPr>
              <a:t>沙子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小石头</a:t>
            </a:r>
            <a:r>
              <a:rPr lang="zh-CN" altLang="en-US" dirty="0">
                <a:solidFill>
                  <a:srgbClr val="002060"/>
                </a:solidFill>
              </a:rPr>
              <a:t>子</a:t>
            </a:r>
            <a:r>
              <a:rPr lang="zh-CN" altLang="en-US" dirty="0"/>
              <a:t>，让小石头子权称素数；让沙子当作非素数。弄一个筛子，只要将沙子筛走，剩下的就是素数了。</a:t>
            </a:r>
          </a:p>
          <a:p>
            <a:r>
              <a:rPr lang="zh-CN" altLang="en-US" dirty="0"/>
              <a:t>非素数一定是 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 …… </a:t>
            </a:r>
            <a:r>
              <a:rPr lang="zh-CN" altLang="en-US" dirty="0"/>
              <a:t>的倍数。</a:t>
            </a:r>
          </a:p>
          <a:p>
            <a:r>
              <a:rPr lang="zh-CN" altLang="en-US" dirty="0"/>
              <a:t>使用数组，数组下标表示</a:t>
            </a:r>
            <a:r>
              <a:rPr lang="en-US" altLang="zh-CN" dirty="0"/>
              <a:t>100</a:t>
            </a:r>
            <a:r>
              <a:rPr lang="zh-CN" altLang="en-US" dirty="0"/>
              <a:t>以内的数字，数组元素的值作为筛去与否的标志。比如筛去以后让元素值为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endParaRPr lang="en-US" altLang="zh-CN" b="1" i="1" dirty="0"/>
          </a:p>
        </p:txBody>
      </p:sp>
    </p:spTree>
    <p:extLst>
      <p:ext uri="{BB962C8B-B14F-4D97-AF65-F5344CB8AC3E}">
        <p14:creationId xmlns:p14="http://schemas.microsoft.com/office/powerpoint/2010/main" val="298526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>
            <a:extLst>
              <a:ext uri="{FF2B5EF4-FFF2-40B4-BE49-F238E27FC236}">
                <a16:creationId xmlns:a16="http://schemas.microsoft.com/office/drawing/2014/main" id="{AA2E8132-DC37-459E-BDF1-5CF3FF38A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方法的依据</a:t>
            </a:r>
          </a:p>
        </p:txBody>
      </p:sp>
      <p:sp>
        <p:nvSpPr>
          <p:cNvPr id="608259" name="Rectangle 3">
            <a:extLst>
              <a:ext uri="{FF2B5EF4-FFF2-40B4-BE49-F238E27FC236}">
                <a16:creationId xmlns:a16="http://schemas.microsoft.com/office/drawing/2014/main" id="{34A661D0-D90E-4F2E-A7BC-84F7244AC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100</a:t>
            </a:r>
            <a:r>
              <a:rPr lang="zh-CN" altLang="en-US" dirty="0"/>
              <a:t>这些自然数可以分为三类：</a:t>
            </a:r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单位数</a:t>
            </a:r>
            <a:r>
              <a:rPr lang="zh-CN" altLang="en-US" dirty="0"/>
              <a:t>：仅有一个数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素数</a:t>
            </a:r>
            <a:r>
              <a:rPr lang="zh-CN" altLang="en-US" dirty="0"/>
              <a:t>：是这样一个数，它大于</a:t>
            </a:r>
            <a:r>
              <a:rPr lang="en-US" altLang="zh-CN" dirty="0"/>
              <a:t>1</a:t>
            </a:r>
            <a:r>
              <a:rPr lang="zh-CN" altLang="en-US" dirty="0"/>
              <a:t>，且只有</a:t>
            </a:r>
            <a:r>
              <a:rPr lang="en-US" altLang="zh-CN" dirty="0"/>
              <a:t>1         </a:t>
            </a:r>
            <a:r>
              <a:rPr lang="zh-CN" altLang="en-US" dirty="0"/>
              <a:t>和它自身这样两个正因数。</a:t>
            </a:r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合数</a:t>
            </a:r>
            <a:r>
              <a:rPr lang="zh-CN" altLang="en-US" dirty="0"/>
              <a:t>：除了</a:t>
            </a:r>
            <a:r>
              <a:rPr lang="en-US" altLang="zh-CN" dirty="0"/>
              <a:t>1</a:t>
            </a:r>
            <a:r>
              <a:rPr lang="zh-CN" altLang="en-US" dirty="0"/>
              <a:t>和自身以外，还有其他正因数。</a:t>
            </a:r>
          </a:p>
        </p:txBody>
      </p:sp>
      <p:sp>
        <p:nvSpPr>
          <p:cNvPr id="608260" name="Rectangle 4">
            <a:extLst>
              <a:ext uri="{FF2B5EF4-FFF2-40B4-BE49-F238E27FC236}">
                <a16:creationId xmlns:a16="http://schemas.microsoft.com/office/drawing/2014/main" id="{5743B04C-D27E-4682-9477-97AF0743F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76788"/>
            <a:ext cx="77057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58825" indent="-282575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589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780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3971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8543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3115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7687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259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10199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600" b="1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1不是素数，除1以外的自然数，当然只有素数与合数。筛法实际上是筛去合数，留下素数。</a:t>
            </a:r>
            <a:r>
              <a:rPr kumimoji="1" lang="zh-CN" altLang="en-US" sz="2600" b="1" dirty="0">
                <a:effectLst>
                  <a:outerShdw blurRad="38100" dist="38100" dir="2700000" algn="tl">
                    <a:srgbClr val="010199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927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B9F-CCC0-4A8A-8219-77AD95DA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效率的考虑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6FEE4-791A-4F11-B888-B0896474B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zh-CN" altLang="en-US" dirty="0"/>
                  <a:t>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为合数，</a:t>
                </a:r>
                <a:r>
                  <a:rPr lang="en-US" altLang="zh-CN" dirty="0"/>
                  <a:t>c(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rad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为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的最小正因数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只要找到 </a:t>
                </a:r>
                <a:r>
                  <a:rPr lang="en-US" altLang="zh-CN" dirty="0"/>
                  <a:t>c </a:t>
                </a:r>
                <a:r>
                  <a:rPr lang="zh-CN" altLang="en-US" dirty="0"/>
                  <a:t>就可以确认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为合数，将其筛去</a:t>
                </a:r>
                <a:endParaRPr lang="en-US" altLang="zh-CN" dirty="0"/>
              </a:p>
              <a:p>
                <a:r>
                  <a:rPr kumimoji="1" lang="zh-CN" altLang="en-US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注意：要进行“筛”的1—100的数字是与数组</a:t>
                </a:r>
                <a:r>
                  <a:rPr kumimoji="1" lang="en-US" altLang="zh-CN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prime[101]</a:t>
                </a:r>
                <a:r>
                  <a:rPr kumimoji="1" lang="zh-CN" altLang="en-US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的下标相对应的，而每个数组元素的取值只有2个：是0或1，分别代表（标志）与下标相对应的数字是素数或不是素数</a:t>
                </a:r>
              </a:p>
              <a:p>
                <a:endParaRPr lang="zh-CN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6FEE4-791A-4F11-B888-B0896474B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90" t="-4662" r="-1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794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155" name="Object 3">
            <a:extLst>
              <a:ext uri="{FF2B5EF4-FFF2-40B4-BE49-F238E27FC236}">
                <a16:creationId xmlns:a16="http://schemas.microsoft.com/office/drawing/2014/main" id="{6AA9B762-EE20-4A68-A267-9B8C513F64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43702" y="429582"/>
          <a:ext cx="6121400" cy="609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Picture" r:id="rId3" imgW="3800520" imgH="4076640" progId="Word.Picture.8">
                  <p:embed/>
                </p:oleObj>
              </mc:Choice>
              <mc:Fallback>
                <p:oleObj name="Picture" r:id="rId3" imgW="3800520" imgH="4076640" progId="Word.Picture.8">
                  <p:embed/>
                  <p:pic>
                    <p:nvPicPr>
                      <p:cNvPr id="561155" name="Object 3">
                        <a:extLst>
                          <a:ext uri="{FF2B5EF4-FFF2-40B4-BE49-F238E27FC236}">
                            <a16:creationId xmlns:a16="http://schemas.microsoft.com/office/drawing/2014/main" id="{6AA9B762-EE20-4A68-A267-9B8C513F6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702" y="429582"/>
                        <a:ext cx="6121400" cy="609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7" name="Text Box 5">
            <a:extLst>
              <a:ext uri="{FF2B5EF4-FFF2-40B4-BE49-F238E27FC236}">
                <a16:creationId xmlns:a16="http://schemas.microsoft.com/office/drawing/2014/main" id="{804B2260-EF93-4040-B6CE-C30089023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5888"/>
            <a:ext cx="2808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C</a:t>
            </a:r>
            <a:r>
              <a:rPr lang="zh-CN" altLang="en-US">
                <a:solidFill>
                  <a:srgbClr val="FF3300"/>
                </a:solidFill>
              </a:rPr>
              <a:t>是合数，</a:t>
            </a:r>
            <a:r>
              <a:rPr lang="en-US" altLang="zh-CN">
                <a:solidFill>
                  <a:srgbClr val="FF3300"/>
                </a:solidFill>
              </a:rPr>
              <a:t>d</a:t>
            </a:r>
            <a:r>
              <a:rPr lang="zh-CN" altLang="en-US">
                <a:solidFill>
                  <a:srgbClr val="FF3300"/>
                </a:solidFill>
              </a:rPr>
              <a:t>是正因数</a:t>
            </a:r>
          </a:p>
        </p:txBody>
      </p:sp>
      <p:sp>
        <p:nvSpPr>
          <p:cNvPr id="2" name="Rectangle 1"/>
          <p:cNvSpPr/>
          <p:nvPr/>
        </p:nvSpPr>
        <p:spPr>
          <a:xfrm>
            <a:off x="323528" y="168935"/>
            <a:ext cx="1811714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程序框图如下：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41482D-44BE-4468-BCB7-B8A9E74FF262}"/>
              </a:ext>
            </a:extLst>
          </p:cNvPr>
          <p:cNvSpPr/>
          <p:nvPr/>
        </p:nvSpPr>
        <p:spPr>
          <a:xfrm>
            <a:off x="4117856" y="6564074"/>
            <a:ext cx="3262432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课后任务：完成筛法求素数的代码</a:t>
            </a:r>
          </a:p>
        </p:txBody>
      </p:sp>
    </p:spTree>
    <p:extLst>
      <p:ext uri="{BB962C8B-B14F-4D97-AF65-F5344CB8AC3E}">
        <p14:creationId xmlns:p14="http://schemas.microsoft.com/office/powerpoint/2010/main" val="34374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7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0AE74-036F-4F2A-A3C6-52C75AA4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习题讲解：博饼游戏</a:t>
            </a:r>
            <a:r>
              <a:rPr lang="en-US" altLang="zh-CN" dirty="0"/>
              <a:t>(636)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6BE55-9AE6-4E1E-9316-C3830012E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4103886" cy="4764163"/>
          </a:xfrm>
        </p:spPr>
        <p:txBody>
          <a:bodyPr>
            <a:normAutofit lnSpcReduction="10000"/>
          </a:bodyPr>
          <a:lstStyle/>
          <a:p>
            <a:r>
              <a:rPr lang="zh-CN" altLang="en-US" sz="1400" dirty="0"/>
              <a:t>博饼是闽南地区盛行的中秋传统民俗活动。游戏时，需要</a:t>
            </a:r>
            <a:r>
              <a:rPr lang="en-US" altLang="zh-CN" sz="1400" dirty="0"/>
              <a:t>6</a:t>
            </a:r>
            <a:r>
              <a:rPr lang="zh-CN" altLang="en-US" sz="1400" dirty="0"/>
              <a:t>个骰子和一个大瓷碗。一般会进行多轮投掷，根据每轮投掷的骰子点数特征累计积分。如果某一轮投掷，出现规定特征以外的点数，那么游戏结束，否则继续进行。多轮投掷结束后，根据累计积分判定奖次。具体的点数特征和积分见图。</a:t>
            </a:r>
          </a:p>
          <a:p>
            <a:r>
              <a:rPr lang="zh-CN" altLang="en-US" sz="1400" dirty="0"/>
              <a:t>任务：编写程序，进行博饼游戏的积分统计。</a:t>
            </a:r>
          </a:p>
          <a:p>
            <a:r>
              <a:rPr lang="en-US" altLang="zh-CN" sz="1400" dirty="0"/>
              <a:t>【</a:t>
            </a:r>
            <a:r>
              <a:rPr lang="zh-CN" altLang="en-US" sz="1400" dirty="0"/>
              <a:t>输入格式</a:t>
            </a:r>
            <a:r>
              <a:rPr lang="en-US" altLang="zh-CN" sz="1400" dirty="0"/>
              <a:t>】</a:t>
            </a:r>
            <a:r>
              <a:rPr lang="zh-CN" altLang="en-US" sz="1400" dirty="0"/>
              <a:t>第一行是一个正整数</a:t>
            </a:r>
            <a:r>
              <a:rPr lang="en-US" altLang="zh-CN" sz="1400" dirty="0"/>
              <a:t>n(1 ≤ n &lt; 256)</a:t>
            </a:r>
            <a:r>
              <a:rPr lang="zh-CN" altLang="en-US" sz="1400" dirty="0"/>
              <a:t>，代表最多进行</a:t>
            </a:r>
            <a:r>
              <a:rPr lang="en-US" altLang="zh-CN" sz="1400" dirty="0"/>
              <a:t>n</a:t>
            </a:r>
            <a:r>
              <a:rPr lang="zh-CN" altLang="en-US" sz="1400" dirty="0"/>
              <a:t>轮投掷；往后至多</a:t>
            </a:r>
            <a:r>
              <a:rPr lang="en-US" altLang="zh-CN" sz="1400" dirty="0"/>
              <a:t>n</a:t>
            </a:r>
            <a:r>
              <a:rPr lang="zh-CN" altLang="en-US" sz="1400" dirty="0"/>
              <a:t>行，每行</a:t>
            </a:r>
            <a:r>
              <a:rPr lang="en-US" altLang="zh-CN" sz="1400" dirty="0"/>
              <a:t>6</a:t>
            </a:r>
            <a:r>
              <a:rPr lang="zh-CN" altLang="en-US" sz="1400" dirty="0"/>
              <a:t>个正整数，代表每个骰子的点数</a:t>
            </a:r>
          </a:p>
          <a:p>
            <a:r>
              <a:rPr lang="en-US" altLang="zh-CN" sz="1400" dirty="0"/>
              <a:t>【</a:t>
            </a:r>
            <a:r>
              <a:rPr lang="zh-CN" altLang="en-US" sz="1400" dirty="0"/>
              <a:t>输出格式</a:t>
            </a:r>
            <a:r>
              <a:rPr lang="en-US" altLang="zh-CN" sz="1400" dirty="0"/>
              <a:t>】</a:t>
            </a:r>
            <a:r>
              <a:rPr lang="zh-CN" altLang="en-US" sz="1400" dirty="0"/>
              <a:t>一个正整数，代表最终累计分（十六进制格式输出，字母小写）</a:t>
            </a:r>
            <a:br>
              <a:rPr lang="zh-CN" altLang="en-US" sz="1400" dirty="0"/>
            </a:b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【</a:t>
            </a:r>
            <a:r>
              <a:rPr lang="zh-CN" altLang="en-US" sz="1400" dirty="0"/>
              <a:t>输入样例</a:t>
            </a:r>
            <a:r>
              <a:rPr lang="en-US" altLang="zh-CN" sz="1400" dirty="0"/>
              <a:t>】</a:t>
            </a:r>
          </a:p>
          <a:p>
            <a:pPr marL="0" indent="0">
              <a:buNone/>
            </a:pPr>
            <a:r>
              <a:rPr lang="en-US" altLang="zh-CN" sz="1400" dirty="0"/>
              <a:t>6</a:t>
            </a:r>
          </a:p>
          <a:p>
            <a:pPr marL="0" indent="0">
              <a:buNone/>
            </a:pPr>
            <a:r>
              <a:rPr lang="en-US" altLang="zh-CN" sz="1400" dirty="0"/>
              <a:t>4 1 4 4 5 4</a:t>
            </a:r>
          </a:p>
          <a:p>
            <a:pPr marL="0" indent="0">
              <a:buNone/>
            </a:pPr>
            <a:r>
              <a:rPr lang="en-US" altLang="zh-CN" sz="1400" dirty="0"/>
              <a:t>5 5 5 6 6 6</a:t>
            </a:r>
            <a:endParaRPr 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E8F53F-A838-4E6E-90C7-9ED93B95D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35837"/>
            <a:ext cx="4103886" cy="442322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F640C78-A566-420E-B181-FC763F69D062}"/>
              </a:ext>
            </a:extLst>
          </p:cNvPr>
          <p:cNvSpPr/>
          <p:nvPr/>
        </p:nvSpPr>
        <p:spPr>
          <a:xfrm>
            <a:off x="2060294" y="4710896"/>
            <a:ext cx="23496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+mj-ea"/>
                <a:ea typeface="+mj-ea"/>
              </a:rPr>
              <a:t>【</a:t>
            </a:r>
            <a:r>
              <a:rPr lang="zh-CN" altLang="en-US" sz="1400" dirty="0">
                <a:latin typeface="+mj-ea"/>
                <a:ea typeface="+mj-ea"/>
              </a:rPr>
              <a:t>输出样例</a:t>
            </a:r>
            <a:r>
              <a:rPr lang="en-US" altLang="zh-CN" sz="1400" dirty="0">
                <a:latin typeface="+mj-ea"/>
                <a:ea typeface="+mj-ea"/>
              </a:rPr>
              <a:t>】</a:t>
            </a:r>
          </a:p>
          <a:p>
            <a:r>
              <a:rPr lang="en-US" altLang="zh-CN" sz="1200" dirty="0">
                <a:latin typeface="Open Sans"/>
              </a:rPr>
              <a:t>20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221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1B94C-A98D-4414-BCEC-B81A434E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CF047-C529-4B7F-9040-3F0FFD24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本质：分情况讨论</a:t>
            </a:r>
            <a:endParaRPr lang="en-US" altLang="zh-CN" dirty="0"/>
          </a:p>
          <a:p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实现难度高</a:t>
            </a:r>
            <a:endParaRPr lang="en-US" altLang="zh-CN" dirty="0"/>
          </a:p>
          <a:p>
            <a:pPr lvl="1"/>
            <a:r>
              <a:rPr lang="zh-CN" altLang="en-US" sz="1600" dirty="0"/>
              <a:t>如何简化？</a:t>
            </a:r>
            <a:endParaRPr lang="en-US" altLang="zh-CN" sz="1600" dirty="0"/>
          </a:p>
          <a:p>
            <a:pPr lvl="1"/>
            <a:r>
              <a:rPr lang="zh-CN" altLang="en-US" sz="1600" dirty="0"/>
              <a:t>有没有做过类似的题目？</a:t>
            </a:r>
            <a:endParaRPr 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59D7F1-40EF-42FD-A5DF-2B00C959A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55" y="835228"/>
            <a:ext cx="5334140" cy="546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01D54-98A4-4B14-8609-950FC142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55BE15-62BE-490C-ADC4-9F03F5CC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55044E-EFED-4E43-8592-DE87FC713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467" y="1009312"/>
            <a:ext cx="4086795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1935BFE-696F-40D5-B6C4-75045EC5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期中模拟测试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859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450BC3F-8C70-4556-9C1E-4A43D202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题目列表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14AF23-7A98-47E5-955C-ABC5474D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双</a:t>
            </a:r>
            <a:r>
              <a:rPr lang="en-US" altLang="zh-CN" dirty="0"/>
              <a:t>11</a:t>
            </a:r>
            <a:r>
              <a:rPr lang="zh-CN" altLang="en-US" dirty="0"/>
              <a:t>购物</a:t>
            </a:r>
            <a:endParaRPr lang="en-US" altLang="zh-CN" dirty="0"/>
          </a:p>
          <a:p>
            <a:r>
              <a:rPr lang="zh-CN" altLang="en-US" dirty="0"/>
              <a:t>数学游戏</a:t>
            </a:r>
            <a:endParaRPr lang="en-US" altLang="zh-CN" dirty="0"/>
          </a:p>
          <a:p>
            <a:r>
              <a:rPr lang="zh-CN" altLang="en-US" dirty="0"/>
              <a:t>上升序列</a:t>
            </a:r>
            <a:endParaRPr lang="en-US" altLang="zh-CN" dirty="0"/>
          </a:p>
          <a:p>
            <a:r>
              <a:rPr lang="zh-CN" altLang="en-US" dirty="0"/>
              <a:t>矩阵元素</a:t>
            </a:r>
            <a:r>
              <a:rPr lang="en-US" altLang="zh-CN" dirty="0"/>
              <a:t>X</a:t>
            </a:r>
            <a:r>
              <a:rPr lang="zh-CN" altLang="en-US" dirty="0"/>
              <a:t>近邻</a:t>
            </a:r>
            <a:endParaRPr lang="en-US" altLang="zh-CN" dirty="0"/>
          </a:p>
          <a:p>
            <a:r>
              <a:rPr lang="zh-CN" altLang="en-US" dirty="0"/>
              <a:t>空间位置搜索</a:t>
            </a:r>
            <a:endParaRPr lang="en-US" altLang="zh-CN" dirty="0"/>
          </a:p>
          <a:p>
            <a:r>
              <a:rPr lang="zh-CN" altLang="en-US" dirty="0"/>
              <a:t>碱基串排序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98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7D026-8F85-41AA-8F76-A8EFD7A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</a:t>
            </a:r>
            <a:r>
              <a:rPr lang="en-US" altLang="zh-CN" dirty="0"/>
              <a:t>11</a:t>
            </a:r>
            <a:r>
              <a:rPr lang="zh-CN" altLang="en-US" dirty="0"/>
              <a:t>购物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305A7C-CEEF-45DF-A3F8-127A03033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直接模拟即可。分以下四类：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不打折；</a:t>
            </a:r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打⼋折；</a:t>
            </a:r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打七折；</a:t>
            </a:r>
          </a:p>
          <a:p>
            <a:pPr lvl="1"/>
            <a:r>
              <a:rPr lang="en-US" altLang="zh-CN" dirty="0"/>
              <a:t>4. </a:t>
            </a:r>
            <a:r>
              <a:rPr lang="zh-CN" altLang="en-US" dirty="0"/>
              <a:t>价格提升； </a:t>
            </a:r>
            <a:br>
              <a:rPr lang="zh-CN" altLang="en-US" dirty="0"/>
            </a:br>
            <a:endParaRPr lang="en-US" altLang="zh-CN" dirty="0"/>
          </a:p>
          <a:p>
            <a:pPr lvl="1"/>
            <a:r>
              <a:rPr lang="zh-CN" altLang="en-US" dirty="0"/>
              <a:t>注意</a:t>
            </a:r>
            <a:r>
              <a:rPr lang="en-US" altLang="zh-CN" dirty="0"/>
              <a:t>: </a:t>
            </a:r>
            <a:r>
              <a:rPr lang="zh-CN" altLang="en-US" dirty="0"/>
              <a:t>输出时要保留两位⼩数（否则会得到 </a:t>
            </a:r>
            <a:r>
              <a:rPr lang="en-US" altLang="zh-CN" dirty="0"/>
              <a:t>0 </a:t>
            </a:r>
            <a:r>
              <a:rPr lang="zh-CN" altLang="en-US" dirty="0"/>
              <a:t>分） </a:t>
            </a:r>
            <a:br>
              <a:rPr lang="zh-CN" altLang="en-US" dirty="0"/>
            </a:b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F21C0F-D90F-452B-AB42-C3BCE98A7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43" y="720324"/>
            <a:ext cx="5614632" cy="189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53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AC025-9012-4D7A-A4CB-46EFE1DC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9D7BF4-D6EC-47EF-9FDE-12840F20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19" y="1436446"/>
            <a:ext cx="6423907" cy="508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57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7316A-6F5F-4534-95B3-4A146B31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数学游戏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152AC-3A5E-4094-9A29-E758D8B4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76" y="1481453"/>
            <a:ext cx="7704165" cy="26775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C5158C-0C43-4D25-993A-4D53D7BBF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76" y="4159045"/>
            <a:ext cx="2248172" cy="14895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D10CCD-46CF-414E-90AD-182D63E02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8" y="5376547"/>
            <a:ext cx="3270437" cy="9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7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81C5B-8DD9-464E-A2D3-6EB5272C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08C94-4B85-4D92-AB3F-B6C4A8596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求多项式的值 </a:t>
            </a:r>
            <a:endParaRPr lang="en-US" altLang="zh-CN" dirty="0"/>
          </a:p>
          <a:p>
            <a:pPr lvl="1"/>
            <a:r>
              <a:rPr lang="zh-CN" altLang="en-US" dirty="0"/>
              <a:t>直接计算即可。注意四次项 </a:t>
            </a:r>
            <a:r>
              <a:rPr lang="en-US" dirty="0"/>
              <a:t>ax</a:t>
            </a:r>
            <a:r>
              <a:rPr lang="en-US" baseline="30000" dirty="0"/>
              <a:t>4</a:t>
            </a:r>
            <a:r>
              <a:rPr lang="en-US" dirty="0"/>
              <a:t> ≤ 10</a:t>
            </a:r>
            <a:r>
              <a:rPr lang="en-US" baseline="30000" dirty="0"/>
              <a:t>10 </a:t>
            </a:r>
            <a:r>
              <a:rPr lang="zh-CN" altLang="en-US" dirty="0"/>
              <a:t>会导致 </a:t>
            </a:r>
            <a:r>
              <a:rPr lang="en-US" dirty="0"/>
              <a:t>int </a:t>
            </a:r>
            <a:r>
              <a:rPr lang="zh-CN" altLang="en-US" dirty="0"/>
              <a:t>类型溢出，应当使⽤ </a:t>
            </a:r>
            <a:r>
              <a:rPr lang="en-US" dirty="0"/>
              <a:t>long </a:t>
            </a:r>
            <a:r>
              <a:rPr lang="en-US" dirty="0" err="1"/>
              <a:t>long</a:t>
            </a:r>
            <a:r>
              <a:rPr lang="en-US" dirty="0"/>
              <a:t> 。 </a:t>
            </a:r>
            <a:br>
              <a:rPr lang="en-US" dirty="0"/>
            </a:br>
            <a:endParaRPr lang="en-US" altLang="zh-CN" dirty="0"/>
          </a:p>
          <a:p>
            <a:r>
              <a:rPr lang="zh-CN" altLang="en-US" dirty="0"/>
              <a:t>累计得分</a:t>
            </a:r>
            <a:endParaRPr lang="en-US" altLang="zh-CN" dirty="0"/>
          </a:p>
          <a:p>
            <a:pPr lvl="1"/>
            <a:r>
              <a:rPr lang="zh-CN" altLang="en-US" dirty="0"/>
              <a:t>额外⽤⼀个变量记录连续正确次数。如果本次回答正确，且连续正确次数 </a:t>
            </a:r>
            <a:r>
              <a:rPr lang="en-US" altLang="zh-CN" dirty="0"/>
              <a:t>&gt; k</a:t>
            </a:r>
            <a:r>
              <a:rPr lang="zh-CN" altLang="en-US" dirty="0"/>
              <a:t>，则让分数加上对应值；反之清空连续正确次数。 </a:t>
            </a:r>
            <a:br>
              <a:rPr lang="zh-CN" altLang="en-US" dirty="0"/>
            </a:b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46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CD724-687C-4BFE-8761-7871188F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F93FF6-36A3-4AF3-90DC-692E38FE91E2}"/>
              </a:ext>
            </a:extLst>
          </p:cNvPr>
          <p:cNvGrpSpPr/>
          <p:nvPr/>
        </p:nvGrpSpPr>
        <p:grpSpPr>
          <a:xfrm>
            <a:off x="3065484" y="193874"/>
            <a:ext cx="4370395" cy="6664126"/>
            <a:chOff x="3994632" y="0"/>
            <a:chExt cx="4370395" cy="666412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C15683F-38B7-4A08-B26C-7C565326D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4632" y="0"/>
              <a:ext cx="4370395" cy="64260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13A882A-33AD-46CB-A1BF-267C419C6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4632" y="6397389"/>
              <a:ext cx="333422" cy="2667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0073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4C9D2-224E-48CD-B482-C3DE084A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上升序列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FD27F0-F46A-4FEC-8B6B-1B9F849FF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654918"/>
            <a:ext cx="8062259" cy="266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60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0BC42-CBDE-4658-81A0-E6180D77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考点</a:t>
            </a:r>
            <a:r>
              <a:rPr lang="en-US" altLang="zh-CN" dirty="0"/>
              <a:t>&amp;</a:t>
            </a:r>
            <a:r>
              <a:rPr lang="zh-CN" altLang="en-US" dirty="0"/>
              <a:t>解题思路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BF282-59BB-4CD8-A066-E7669632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一维数组</a:t>
            </a:r>
            <a:endParaRPr lang="en-US" altLang="zh-CN" dirty="0"/>
          </a:p>
          <a:p>
            <a:r>
              <a:rPr lang="zh-CN" altLang="en-US" dirty="0"/>
              <a:t>思路：</a:t>
            </a:r>
            <a:endParaRPr lang="en-US" altLang="zh-CN" dirty="0"/>
          </a:p>
          <a:p>
            <a:pPr lvl="1"/>
            <a:r>
              <a:rPr lang="zh-CN" altLang="en-US" dirty="0"/>
              <a:t>遍历 </a:t>
            </a:r>
            <a:r>
              <a:rPr lang="en-US" altLang="zh-CN" dirty="0"/>
              <a:t>a2, a3, ⋯ , an</a:t>
            </a:r>
            <a:r>
              <a:rPr lang="zh-CN" altLang="en-US" dirty="0"/>
              <a:t>：</a:t>
            </a:r>
          </a:p>
          <a:p>
            <a:pPr lvl="2"/>
            <a:r>
              <a:rPr lang="zh-CN" altLang="en-US" dirty="0"/>
              <a:t>如果当前的数⼤于前⼀个数，则继续；</a:t>
            </a:r>
          </a:p>
          <a:p>
            <a:pPr lvl="2"/>
            <a:r>
              <a:rPr lang="zh-CN" altLang="en-US" dirty="0"/>
              <a:t>反之，代表原序列不是严格递增的。直接输出 </a:t>
            </a:r>
            <a:r>
              <a:rPr lang="en-US" altLang="zh-CN" dirty="0"/>
              <a:t>a1 </a:t>
            </a:r>
            <a:r>
              <a:rPr lang="zh-CN" altLang="en-US" dirty="0"/>
              <a:t>到前⼀个数并退出。</a:t>
            </a:r>
          </a:p>
          <a:p>
            <a:pPr lvl="1"/>
            <a:r>
              <a:rPr lang="zh-CN" altLang="en-US" dirty="0"/>
              <a:t>如果程序仍未结束，则代表原序列是严格递增的。输出 </a:t>
            </a:r>
            <a:r>
              <a:rPr lang="en-US" altLang="zh-CN" dirty="0"/>
              <a:t>YES </a:t>
            </a:r>
            <a:r>
              <a:rPr lang="zh-CN" altLang="en-US" dirty="0"/>
              <a:t>，注意⼤⼩写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对每个数组的处理过程是重复的，可以⽤函数包装。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47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85F13-3D8A-4F76-9DAE-7AADBA9F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A9614E-7590-45C5-92F5-EEBC83B0B1C3}"/>
              </a:ext>
            </a:extLst>
          </p:cNvPr>
          <p:cNvSpPr/>
          <p:nvPr/>
        </p:nvSpPr>
        <p:spPr>
          <a:xfrm>
            <a:off x="3961910" y="117693"/>
            <a:ext cx="544756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959A8"/>
                </a:solidFill>
                <a:latin typeface="Fira Mono"/>
              </a:rPr>
              <a:t>#include</a:t>
            </a:r>
            <a:r>
              <a:rPr lang="en-US" dirty="0">
                <a:solidFill>
                  <a:srgbClr val="666969"/>
                </a:solidFill>
                <a:latin typeface="Fira Mono"/>
              </a:rPr>
              <a:t> &lt;bits/</a:t>
            </a:r>
            <a:r>
              <a:rPr lang="en-US" dirty="0" err="1">
                <a:solidFill>
                  <a:srgbClr val="666969"/>
                </a:solidFill>
                <a:latin typeface="Fira Mono"/>
              </a:rPr>
              <a:t>stdc</a:t>
            </a:r>
            <a:r>
              <a:rPr lang="en-US" dirty="0">
                <a:solidFill>
                  <a:srgbClr val="666969"/>
                </a:solidFill>
                <a:latin typeface="Fira Mono"/>
              </a:rPr>
              <a:t>++.h&gt;</a:t>
            </a:r>
            <a:endParaRPr lang="en-US" dirty="0">
              <a:solidFill>
                <a:srgbClr val="000000"/>
              </a:solidFill>
              <a:latin typeface="Fira Mono"/>
            </a:endParaRP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8959A8"/>
                </a:solidFill>
                <a:latin typeface="Fira Mono"/>
              </a:rPr>
              <a:t>void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solve()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cin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000000"/>
                </a:solidFill>
                <a:latin typeface="Fira Mono"/>
              </a:rPr>
              <a:t>    std::vector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a(n);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for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0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cin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a[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}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for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1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if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(a[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a[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-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1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continue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} 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else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for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j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0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j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++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j)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cout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a[j]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\n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[j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-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1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cout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"YES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\n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A62640-A238-4325-A72C-8F35877B9593}"/>
              </a:ext>
            </a:extLst>
          </p:cNvPr>
          <p:cNvSpPr/>
          <p:nvPr/>
        </p:nvSpPr>
        <p:spPr>
          <a:xfrm>
            <a:off x="619433" y="2241493"/>
            <a:ext cx="30234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m;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cin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m;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(m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--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solve();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0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45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A1108-19F6-4BD3-82ED-5A5DC522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矩阵元素</a:t>
            </a:r>
            <a:r>
              <a:rPr lang="en-US" altLang="zh-CN" dirty="0"/>
              <a:t>X</a:t>
            </a:r>
            <a:r>
              <a:rPr lang="zh-CN" altLang="en-US" dirty="0"/>
              <a:t>近邻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553042-7884-4364-9F94-B9239C189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93" y="1771040"/>
            <a:ext cx="8030894" cy="37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86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E7BD8-F46A-463A-A078-664D00F6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5B268-7BE6-4980-BA7B-CC616ECA1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二维数组操作</a:t>
            </a:r>
            <a:endParaRPr lang="en-US" altLang="zh-CN" dirty="0"/>
          </a:p>
          <a:p>
            <a:pPr lvl="1"/>
            <a:r>
              <a:rPr lang="zh-CN" altLang="en-US" dirty="0"/>
              <a:t>计算每个位置的</a:t>
            </a:r>
            <a:r>
              <a:rPr lang="zh-CN" altLang="en-US" b="1" dirty="0"/>
              <a:t>数字与其</a:t>
            </a:r>
            <a:r>
              <a:rPr lang="en-US" altLang="zh-CN" b="1" dirty="0"/>
              <a:t>X</a:t>
            </a:r>
            <a:r>
              <a:rPr lang="zh-CN" altLang="en-US" b="1" dirty="0"/>
              <a:t>近邻数字和</a:t>
            </a:r>
            <a:endParaRPr lang="en-US" altLang="zh-CN" b="1" dirty="0"/>
          </a:p>
          <a:p>
            <a:pPr lvl="1"/>
            <a:r>
              <a:rPr lang="zh-CN" altLang="en-US" dirty="0"/>
              <a:t>找最小值</a:t>
            </a:r>
            <a:endParaRPr lang="en-US" altLang="zh-CN" dirty="0"/>
          </a:p>
          <a:p>
            <a:pPr lvl="1"/>
            <a:r>
              <a:rPr lang="zh-CN" altLang="en-US" dirty="0"/>
              <a:t>逆序输出</a:t>
            </a:r>
            <a:r>
              <a:rPr lang="en-US" altLang="zh-CN" dirty="0"/>
              <a:t>——</a:t>
            </a:r>
            <a:r>
              <a:rPr lang="zh-CN" altLang="en-US" dirty="0"/>
              <a:t>遍历顺序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6E62E3-35DE-4939-AF6F-30018ED3DF82}"/>
              </a:ext>
            </a:extLst>
          </p:cNvPr>
          <p:cNvSpPr/>
          <p:nvPr/>
        </p:nvSpPr>
        <p:spPr>
          <a:xfrm>
            <a:off x="2257804" y="3728686"/>
            <a:ext cx="31854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近邻数 分情况讨论？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技巧：二维数组外围加上一圈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21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5715A-DF5E-4717-94CB-D99716F0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8D89A8-D7F6-4527-8683-A5C845A5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473" y="483563"/>
            <a:ext cx="5788500" cy="593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3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31BC9-E284-4A17-8E6C-F58270A5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217. </a:t>
            </a:r>
            <a:r>
              <a:rPr lang="zh-CN" altLang="en-US" dirty="0"/>
              <a:t>空间位置搜索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BB8D60-16E8-4746-BC91-F1FFBECF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457985"/>
            <a:ext cx="8131730" cy="48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50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07D97-8FD0-4A23-95C0-C0ACB91C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9B5D-AFE3-45FF-AF19-D1AAFAB5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</a:t>
            </a:r>
            <a:endParaRPr lang="en-US" altLang="zh-CN" dirty="0"/>
          </a:p>
          <a:p>
            <a:pPr lvl="1"/>
            <a:r>
              <a:rPr lang="zh-CN" altLang="en-US" dirty="0"/>
              <a:t>特定长方体范围内的坐标为整数的点</a:t>
            </a:r>
            <a:endParaRPr lang="en-US" altLang="zh-CN" dirty="0"/>
          </a:p>
          <a:p>
            <a:pPr lvl="1"/>
            <a:r>
              <a:rPr lang="zh-CN" altLang="en-US" dirty="0"/>
              <a:t>求其到</a:t>
            </a:r>
            <a:r>
              <a:rPr lang="en-US" altLang="zh-CN" dirty="0"/>
              <a:t>4</a:t>
            </a:r>
            <a:r>
              <a:rPr lang="zh-CN" altLang="en-US" dirty="0"/>
              <a:t>个顶点的距离和</a:t>
            </a:r>
            <a:endParaRPr lang="en-US" altLang="zh-CN" dirty="0"/>
          </a:p>
          <a:p>
            <a:pPr lvl="1"/>
            <a:r>
              <a:rPr lang="zh-CN" altLang="en-US" dirty="0"/>
              <a:t>找最小</a:t>
            </a:r>
            <a:r>
              <a:rPr lang="en-US" altLang="zh-CN" dirty="0"/>
              <a:t>——</a:t>
            </a:r>
            <a:r>
              <a:rPr lang="zh-CN" altLang="en-US" dirty="0"/>
              <a:t>最小值可能有多个（均需保存）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75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C281C-F114-4F5C-AB08-0C4E2136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CB3D40-B294-4D8A-A6DD-F1AF82FE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621" y="881825"/>
            <a:ext cx="6057186" cy="527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62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B1F41-9704-4AED-8605-AD171648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碱基串排序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566B2-3DC1-4E43-9D1B-DCF8FA1EB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5" y="1570881"/>
            <a:ext cx="7901498" cy="4404201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80808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564935C-A347-4935-8299-672500030745}"/>
              </a:ext>
            </a:extLst>
          </p:cNvPr>
          <p:cNvSpPr/>
          <p:nvPr/>
        </p:nvSpPr>
        <p:spPr>
          <a:xfrm>
            <a:off x="5594466" y="259221"/>
            <a:ext cx="165423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【</a:t>
            </a:r>
            <a:r>
              <a:rPr lang="zh-CN" altLang="en-US" sz="1200" dirty="0"/>
              <a:t>样例输入</a:t>
            </a:r>
            <a:r>
              <a:rPr lang="en-US" altLang="zh-CN" sz="1200" dirty="0"/>
              <a:t>2】</a:t>
            </a:r>
          </a:p>
          <a:p>
            <a:r>
              <a:rPr lang="en-US" altLang="zh-CN" sz="1200" dirty="0"/>
              <a:t>5</a:t>
            </a:r>
          </a:p>
          <a:p>
            <a:r>
              <a:rPr lang="en-US" sz="1200" dirty="0"/>
              <a:t>TGCA</a:t>
            </a:r>
          </a:p>
          <a:p>
            <a:r>
              <a:rPr lang="en-US" sz="1200" dirty="0"/>
              <a:t>AAT</a:t>
            </a:r>
          </a:p>
          <a:p>
            <a:r>
              <a:rPr lang="en-US" sz="1200" dirty="0"/>
              <a:t>CAA</a:t>
            </a:r>
          </a:p>
          <a:p>
            <a:r>
              <a:rPr lang="en-US" sz="1200" dirty="0"/>
              <a:t>AGT</a:t>
            </a:r>
          </a:p>
          <a:p>
            <a:r>
              <a:rPr lang="en-US" sz="1200" dirty="0"/>
              <a:t>AGG</a:t>
            </a:r>
          </a:p>
          <a:p>
            <a:r>
              <a:rPr lang="en-US" sz="1200" dirty="0"/>
              <a:t>ACA</a:t>
            </a:r>
          </a:p>
          <a:p>
            <a:endParaRPr lang="en-US" sz="1400" b="0" i="0" dirty="0">
              <a:effectLst/>
              <a:latin typeface="Open San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82273F-CE92-44BA-BB75-10001E1A78D4}"/>
              </a:ext>
            </a:extLst>
          </p:cNvPr>
          <p:cNvSpPr/>
          <p:nvPr/>
        </p:nvSpPr>
        <p:spPr>
          <a:xfrm>
            <a:off x="6880168" y="282753"/>
            <a:ext cx="17923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【</a:t>
            </a:r>
            <a:r>
              <a:rPr lang="zh-CN" altLang="en-US" sz="1200" dirty="0"/>
              <a:t>样例输出</a:t>
            </a:r>
            <a:r>
              <a:rPr lang="en-US" altLang="zh-CN" sz="1200" dirty="0"/>
              <a:t>2】</a:t>
            </a:r>
          </a:p>
          <a:p>
            <a:r>
              <a:rPr lang="en-US" sz="1200" dirty="0"/>
              <a:t>CAA</a:t>
            </a:r>
          </a:p>
          <a:p>
            <a:r>
              <a:rPr lang="en-US" sz="1200" dirty="0"/>
              <a:t>AGT</a:t>
            </a:r>
          </a:p>
          <a:p>
            <a:r>
              <a:rPr lang="en-US" sz="1200" dirty="0"/>
              <a:t>AGG</a:t>
            </a:r>
          </a:p>
          <a:p>
            <a:r>
              <a:rPr lang="en-US" sz="1200" dirty="0"/>
              <a:t>ACA</a:t>
            </a:r>
          </a:p>
          <a:p>
            <a:r>
              <a:rPr lang="en-US" sz="1200" dirty="0"/>
              <a:t>AAT</a:t>
            </a:r>
          </a:p>
        </p:txBody>
      </p:sp>
    </p:spTree>
    <p:extLst>
      <p:ext uri="{BB962C8B-B14F-4D97-AF65-F5344CB8AC3E}">
        <p14:creationId xmlns:p14="http://schemas.microsoft.com/office/powerpoint/2010/main" val="1054555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1A187-53DD-4B37-8C6B-49BFCFAD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A6F95-6CF8-4385-9A1F-FF8D8C0AB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与传统排序相比，变了比较规则！</a:t>
            </a:r>
            <a:endParaRPr lang="en-US" altLang="zh-CN" dirty="0"/>
          </a:p>
          <a:p>
            <a:pPr lvl="1"/>
            <a:r>
              <a:rPr lang="zh-CN" altLang="en-US" dirty="0"/>
              <a:t>传统排序：数值大小进行比较</a:t>
            </a:r>
            <a:endParaRPr lang="en-US" altLang="zh-CN" dirty="0"/>
          </a:p>
          <a:p>
            <a:pPr lvl="1"/>
            <a:r>
              <a:rPr lang="zh-CN" altLang="en-US" dirty="0"/>
              <a:t>学生排序：先比较年龄，再比较学号</a:t>
            </a:r>
            <a:endParaRPr lang="en-US" altLang="zh-CN" dirty="0"/>
          </a:p>
          <a:p>
            <a:pPr lvl="1"/>
            <a:r>
              <a:rPr lang="zh-CN" altLang="en-US" dirty="0"/>
              <a:t>基因排序：排序规则由人输入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与传统排序相比，变了数组元素</a:t>
            </a:r>
            <a:endParaRPr lang="en-US" altLang="zh-CN" dirty="0"/>
          </a:p>
          <a:p>
            <a:pPr lvl="1"/>
            <a:r>
              <a:rPr lang="zh-CN" altLang="en-US" dirty="0"/>
              <a:t>传统排序：数组元素为基本数据类型</a:t>
            </a:r>
            <a:endParaRPr lang="en-US" altLang="zh-CN" dirty="0"/>
          </a:p>
          <a:p>
            <a:pPr lvl="1"/>
            <a:r>
              <a:rPr lang="zh-CN" altLang="en-US" dirty="0"/>
              <a:t>基因排序：数组元素为一个字符数组</a:t>
            </a:r>
            <a:endParaRPr lang="en-US" altLang="en-US" dirty="0">
              <a:ea typeface="华文中宋" panose="02010600040101010101" pitchFamily="2" charset="-122"/>
            </a:endParaRP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30B037-13A6-4389-ABE9-42DCF0783EB4}"/>
              </a:ext>
            </a:extLst>
          </p:cNvPr>
          <p:cNvSpPr/>
          <p:nvPr/>
        </p:nvSpPr>
        <p:spPr>
          <a:xfrm>
            <a:off x="5355747" y="55800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透过现象看本质！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5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17DBB-BBCE-4AC3-83E7-9E79C7DB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《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碱基串排序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排序</a:t>
            </a:r>
            <a:r>
              <a:rPr lang="zh-CN" altLang="en-US" dirty="0"/>
              <a:t>部分核心代码参考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FA459B-7047-4B79-8622-E329C1C50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07" y="3287512"/>
            <a:ext cx="8230386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g1[], 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g2[], 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p[]) {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= 0; i &lt; MAX_LEN; i ++) {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(g1[i] == </a:t>
            </a:r>
            <a:r>
              <a:rPr lang="mr-IN" altLang="en-US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(g1[i] == g2[i])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 = 0; j &lt; 4; j ++) {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(p[j] == g1[i])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(p[j] == g2[i])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5C5DBF-BF18-4BC0-897A-8968AE5300C0}"/>
              </a:ext>
            </a:extLst>
          </p:cNvPr>
          <p:cNvSpPr txBox="1"/>
          <p:nvPr/>
        </p:nvSpPr>
        <p:spPr>
          <a:xfrm>
            <a:off x="629587" y="1514007"/>
            <a:ext cx="82303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//</a:t>
            </a:r>
            <a:r>
              <a:rPr lang="zh-CN" altLang="en-US" sz="1600" dirty="0"/>
              <a:t> </a:t>
            </a:r>
            <a:r>
              <a:rPr lang="en-US" altLang="zh-CN" sz="1600" dirty="0"/>
              <a:t>g1, g2</a:t>
            </a:r>
            <a:r>
              <a:rPr lang="zh-CN" altLang="en-US" sz="1600" dirty="0"/>
              <a:t>是两个待比较的字符数组</a:t>
            </a:r>
            <a:r>
              <a:rPr lang="en-US" altLang="zh-CN" sz="1600" dirty="0"/>
              <a:t>, g1</a:t>
            </a:r>
            <a:r>
              <a:rPr lang="zh-CN" altLang="en-US" sz="1600" dirty="0"/>
              <a:t>、</a:t>
            </a:r>
            <a:r>
              <a:rPr lang="en-US" altLang="zh-CN" sz="1600" dirty="0"/>
              <a:t>g2</a:t>
            </a:r>
            <a:r>
              <a:rPr lang="zh-CN" altLang="en-US" sz="1600" dirty="0"/>
              <a:t>长度相同</a:t>
            </a:r>
            <a:r>
              <a:rPr lang="en-US" altLang="zh-CN" sz="1600" dirty="0"/>
              <a:t>, p</a:t>
            </a:r>
            <a:r>
              <a:rPr lang="zh-CN" altLang="en-US" sz="1600" dirty="0"/>
              <a:t>是输入的优先规则</a:t>
            </a:r>
            <a:endParaRPr lang="en-US" altLang="zh-CN" sz="1600" dirty="0"/>
          </a:p>
          <a:p>
            <a:r>
              <a:rPr lang="en-US" sz="1600" dirty="0"/>
              <a:t>// </a:t>
            </a:r>
            <a:r>
              <a:rPr lang="zh-CN" altLang="en-US" sz="1600" dirty="0"/>
              <a:t>比较思路：比较</a:t>
            </a:r>
            <a:r>
              <a:rPr lang="en-US" altLang="zh-CN" sz="1600" dirty="0"/>
              <a:t>g1/g2</a:t>
            </a:r>
            <a:r>
              <a:rPr lang="zh-CN" altLang="en-US" sz="1600" dirty="0"/>
              <a:t>数组下标</a:t>
            </a:r>
            <a:r>
              <a:rPr lang="en-US" altLang="zh-CN" sz="1600" dirty="0" err="1"/>
              <a:t>i</a:t>
            </a:r>
            <a:r>
              <a:rPr lang="zh-CN" altLang="en-US" sz="1600" dirty="0"/>
              <a:t>的位置（</a:t>
            </a:r>
            <a:r>
              <a:rPr lang="en-US" altLang="zh-CN" sz="1600" dirty="0" err="1"/>
              <a:t>i</a:t>
            </a:r>
            <a:r>
              <a:rPr lang="zh-CN" altLang="en-US" sz="1600" dirty="0"/>
              <a:t>从</a:t>
            </a:r>
            <a:r>
              <a:rPr lang="en-US" altLang="zh-CN" sz="1600" dirty="0"/>
              <a:t>0</a:t>
            </a:r>
            <a:r>
              <a:rPr lang="zh-CN" altLang="en-US" sz="1600" dirty="0"/>
              <a:t>到遇到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]==‘\0’</a:t>
            </a:r>
            <a:r>
              <a:rPr lang="zh-CN" altLang="en-US" sz="1600" dirty="0"/>
              <a:t>退出，返回</a:t>
            </a:r>
            <a:r>
              <a:rPr lang="en-US" altLang="zh-CN" sz="1600" dirty="0"/>
              <a:t>0</a:t>
            </a:r>
            <a:r>
              <a:rPr lang="zh-CN" altLang="en-US" sz="1600" dirty="0"/>
              <a:t>说明相等）</a:t>
            </a:r>
            <a:endParaRPr lang="en-US" altLang="zh-CN" sz="1600" dirty="0"/>
          </a:p>
          <a:p>
            <a:r>
              <a:rPr lang="en-US" sz="1600" dirty="0"/>
              <a:t>// 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== 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说明该位置两者相同，继续让</a:t>
            </a:r>
            <a:r>
              <a:rPr lang="en-US" altLang="zh-CN" sz="1600" dirty="0" err="1"/>
              <a:t>i</a:t>
            </a:r>
            <a:r>
              <a:rPr lang="zh-CN" altLang="en-US" sz="1600" dirty="0"/>
              <a:t>加</a:t>
            </a:r>
            <a:r>
              <a:rPr lang="en-US" altLang="zh-CN" sz="1600" dirty="0"/>
              <a:t>1</a:t>
            </a:r>
          </a:p>
          <a:p>
            <a:r>
              <a:rPr lang="en-US" sz="1600" dirty="0"/>
              <a:t>// </a:t>
            </a:r>
            <a:r>
              <a:rPr lang="zh-CN" altLang="en-US" sz="1600" dirty="0"/>
              <a:t>当两者不相等时，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和</a:t>
            </a:r>
            <a:r>
              <a:rPr lang="en-US" altLang="zh-CN" sz="1600" dirty="0"/>
              <a:t>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去与</a:t>
            </a:r>
            <a:r>
              <a:rPr lang="en-US" altLang="zh-CN" sz="1600" dirty="0"/>
              <a:t>p[j]</a:t>
            </a:r>
            <a:r>
              <a:rPr lang="zh-CN" altLang="en-US" sz="1600" dirty="0"/>
              <a:t> 匹配（</a:t>
            </a:r>
            <a:r>
              <a:rPr lang="en-US" altLang="zh-CN" sz="1600" dirty="0"/>
              <a:t>j</a:t>
            </a:r>
            <a:r>
              <a:rPr lang="zh-CN" altLang="en-US" sz="1600" dirty="0"/>
              <a:t>从</a:t>
            </a:r>
            <a:r>
              <a:rPr lang="en-US" altLang="zh-CN" sz="1600" dirty="0"/>
              <a:t>0~3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先用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跟</a:t>
            </a:r>
            <a:r>
              <a:rPr lang="en-US" altLang="zh-CN" sz="1600" dirty="0"/>
              <a:t>p[j]</a:t>
            </a:r>
            <a:r>
              <a:rPr lang="zh-CN" altLang="en-US" sz="1600" dirty="0"/>
              <a:t>匹配，如果</a:t>
            </a:r>
            <a:r>
              <a:rPr lang="en-US" altLang="zh-CN" sz="1600" dirty="0"/>
              <a:t>ok</a:t>
            </a:r>
            <a:r>
              <a:rPr lang="zh-CN" altLang="en-US" sz="1600" dirty="0"/>
              <a:t>，则说明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的优先级高，所以</a:t>
            </a:r>
            <a:r>
              <a:rPr lang="en-US" altLang="zh-CN" sz="1600" dirty="0"/>
              <a:t>g1 &gt; g2</a:t>
            </a:r>
            <a:r>
              <a:rPr lang="zh-CN" altLang="en-US" sz="1600" dirty="0"/>
              <a:t>，返回 </a:t>
            </a:r>
            <a:r>
              <a:rPr lang="en-US" altLang="zh-CN" sz="1600" dirty="0"/>
              <a:t>1</a:t>
            </a:r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如果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跟</a:t>
            </a:r>
            <a:r>
              <a:rPr lang="en-US" altLang="zh-CN" sz="1600" dirty="0"/>
              <a:t>p[j]</a:t>
            </a:r>
            <a:r>
              <a:rPr lang="zh-CN" altLang="en-US" sz="1600" dirty="0"/>
              <a:t>不匹配，而</a:t>
            </a:r>
            <a:r>
              <a:rPr lang="en-US" altLang="zh-CN" sz="1600" dirty="0"/>
              <a:t>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与</a:t>
            </a:r>
            <a:r>
              <a:rPr lang="en-US" altLang="zh-CN" sz="1600" dirty="0"/>
              <a:t>p[j]</a:t>
            </a:r>
            <a:r>
              <a:rPr lang="zh-CN" altLang="en-US" sz="1600" dirty="0"/>
              <a:t>匹配成功，说明</a:t>
            </a:r>
            <a:r>
              <a:rPr lang="en-US" altLang="zh-CN" sz="1600" dirty="0"/>
              <a:t>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的优先级高，即</a:t>
            </a:r>
            <a:r>
              <a:rPr lang="en-US" altLang="zh-CN" sz="1600" dirty="0"/>
              <a:t>g1 &lt; g2</a:t>
            </a:r>
            <a:r>
              <a:rPr lang="zh-CN" altLang="en-US" sz="1600" dirty="0"/>
              <a:t>返回 </a:t>
            </a:r>
            <a:r>
              <a:rPr lang="en-US" altLang="zh-CN" sz="160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885903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BEF14EB-8C89-4F80-9E10-478A21F41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2301773" cy="57666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参考代码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2E3428-57D1-49AA-8147-59918389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68" y="615202"/>
            <a:ext cx="5320285" cy="592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85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4FB04A-980D-443E-A05A-0005D2EE44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期中练习卷</a:t>
            </a:r>
            <a:r>
              <a:rPr lang="en-US" altLang="zh-CN" dirty="0"/>
              <a:t>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310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AF587AD-3D1A-4D3F-A916-E47745C9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题目列表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A923-A3AF-4538-847C-5C346B575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购物陷阱	</a:t>
            </a:r>
          </a:p>
          <a:p>
            <a:r>
              <a:rPr lang="zh-CN" altLang="en-US" sz="2800" dirty="0"/>
              <a:t>最小生成元	</a:t>
            </a:r>
          </a:p>
          <a:p>
            <a:r>
              <a:rPr lang="zh-CN" altLang="en-US" sz="2800" dirty="0"/>
              <a:t>迭代回文	</a:t>
            </a:r>
          </a:p>
          <a:p>
            <a:r>
              <a:rPr lang="zh-CN" altLang="en-US" sz="2800" dirty="0"/>
              <a:t>鹏博士爱数学	</a:t>
            </a:r>
          </a:p>
          <a:p>
            <a:r>
              <a:rPr lang="zh-CN" altLang="en-US" sz="2800" dirty="0"/>
              <a:t>外星成绩单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59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1F015-426F-40C3-807F-A568D7C6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购物陷阱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E54190-6C7B-4442-8289-08359D3A8D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98"/>
          <a:stretch/>
        </p:blipFill>
        <p:spPr>
          <a:xfrm>
            <a:off x="481613" y="1331650"/>
            <a:ext cx="7645430" cy="1424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1154C5-EF8E-434A-988B-383B5F46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13" y="2947782"/>
            <a:ext cx="6317094" cy="32371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69EEB3-0F15-4F44-94A9-46315193714E}"/>
              </a:ext>
            </a:extLst>
          </p:cNvPr>
          <p:cNvSpPr/>
          <p:nvPr/>
        </p:nvSpPr>
        <p:spPr>
          <a:xfrm>
            <a:off x="7019047" y="57208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送分题！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35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7750B-24B0-40C1-A3AD-B2A5DFFA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送分题要求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805C4-54FC-4768-B05C-ED2BE3737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注意细节、用最短的时间完成</a:t>
            </a:r>
            <a:endParaRPr lang="en-US" altLang="zh-CN" dirty="0"/>
          </a:p>
          <a:p>
            <a:pPr lvl="1"/>
            <a:r>
              <a:rPr lang="zh-CN" altLang="en-US" dirty="0"/>
              <a:t>写代码前的思考一定不能少！</a:t>
            </a:r>
            <a:endParaRPr lang="en-US" altLang="zh-CN" dirty="0"/>
          </a:p>
          <a:p>
            <a:r>
              <a:rPr lang="zh-CN" altLang="en-US" dirty="0"/>
              <a:t>本题细节：</a:t>
            </a:r>
            <a:endParaRPr lang="en-US" altLang="zh-CN" dirty="0"/>
          </a:p>
          <a:p>
            <a:pPr marL="855000" lvl="1" indent="-457200">
              <a:buFont typeface="+mj-lt"/>
              <a:buAutoNum type="arabicPeriod"/>
            </a:pPr>
            <a:r>
              <a:rPr lang="zh-CN" altLang="en-US" dirty="0"/>
              <a:t>涉及浮点数</a:t>
            </a:r>
            <a:endParaRPr lang="en-US" altLang="zh-CN" dirty="0"/>
          </a:p>
          <a:p>
            <a:pPr marL="855000" lvl="1" indent="-457200">
              <a:buFont typeface="+mj-lt"/>
              <a:buAutoNum type="arabicPeriod"/>
            </a:pPr>
            <a:r>
              <a:rPr lang="en-US" dirty="0"/>
              <a:t>80%</a:t>
            </a:r>
            <a:r>
              <a:rPr lang="zh-CN" altLang="en-US" dirty="0"/>
              <a:t>不超过</a:t>
            </a:r>
            <a:r>
              <a:rPr lang="en-US" altLang="zh-CN" dirty="0"/>
              <a:t>100</a:t>
            </a:r>
            <a:r>
              <a:rPr lang="zh-CN" altLang="en-US" dirty="0"/>
              <a:t>种产品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85A219-3E12-429A-9853-3D4EDDB77AAB}"/>
              </a:ext>
            </a:extLst>
          </p:cNvPr>
          <p:cNvSpPr/>
          <p:nvPr/>
        </p:nvSpPr>
        <p:spPr>
          <a:xfrm>
            <a:off x="3244467" y="269362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97800" lvl="1"/>
            <a:r>
              <a:rPr lang="en-US" altLang="zh-CN" sz="2400" dirty="0">
                <a:solidFill>
                  <a:srgbClr val="0000FF"/>
                </a:solidFill>
              </a:rPr>
              <a:t>—double</a:t>
            </a:r>
          </a:p>
          <a:p>
            <a:pPr marL="397800" lvl="1"/>
            <a:r>
              <a:rPr lang="en-US" altLang="zh-CN" sz="2400" dirty="0">
                <a:solidFill>
                  <a:srgbClr val="0000FF"/>
                </a:solidFill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</a:rPr>
              <a:t>数组开多大？其他方法？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0526A3-C8D1-4730-BCE5-895257B7F422}"/>
              </a:ext>
            </a:extLst>
          </p:cNvPr>
          <p:cNvSpPr/>
          <p:nvPr/>
        </p:nvSpPr>
        <p:spPr>
          <a:xfrm>
            <a:off x="5802734" y="342900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此题可以不用数组！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15D1976-4D6E-42D1-BC7F-F818DF924F20}"/>
              </a:ext>
            </a:extLst>
          </p:cNvPr>
          <p:cNvGrpSpPr/>
          <p:nvPr/>
        </p:nvGrpSpPr>
        <p:grpSpPr>
          <a:xfrm>
            <a:off x="1543394" y="3798332"/>
            <a:ext cx="5107639" cy="2955024"/>
            <a:chOff x="1543394" y="3798332"/>
            <a:chExt cx="5107639" cy="295502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F3BF71D-8488-4E5A-92EB-0D22B2B22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7253" y="3798332"/>
              <a:ext cx="3693780" cy="295502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F9FD5B-7606-437C-AE79-46E538C7E100}"/>
                </a:ext>
              </a:extLst>
            </p:cNvPr>
            <p:cNvSpPr/>
            <p:nvPr/>
          </p:nvSpPr>
          <p:spPr>
            <a:xfrm>
              <a:off x="1543394" y="391791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参考代码：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2691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AAEA471-B5CD-4615-8667-F13263D7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出错代码分析</a:t>
            </a:r>
            <a:endParaRPr 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57DADDA-F130-49CF-8DD7-B2457F584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24820"/>
            <a:ext cx="8280000" cy="4764163"/>
          </a:xfrm>
        </p:spPr>
        <p:txBody>
          <a:bodyPr/>
          <a:lstStyle/>
          <a:p>
            <a:r>
              <a:rPr lang="en-US" altLang="zh-CN" dirty="0"/>
              <a:t>80</a:t>
            </a:r>
            <a:r>
              <a:rPr lang="zh-CN" altLang="en-US" dirty="0"/>
              <a:t>分代码</a:t>
            </a:r>
            <a:r>
              <a:rPr lang="en-US" altLang="zh-CN" dirty="0"/>
              <a:t>——</a:t>
            </a:r>
            <a:r>
              <a:rPr lang="zh-CN" altLang="en-US" dirty="0"/>
              <a:t>使用</a:t>
            </a:r>
            <a:r>
              <a:rPr lang="en-US" altLang="zh-CN" dirty="0"/>
              <a:t>float</a:t>
            </a:r>
            <a:r>
              <a:rPr lang="zh-CN" altLang="en-US" dirty="0"/>
              <a:t>导致精度不够，</a:t>
            </a:r>
            <a:r>
              <a:rPr lang="en-US" altLang="zh-CN" dirty="0"/>
              <a:t>2</a:t>
            </a:r>
            <a:r>
              <a:rPr lang="zh-CN" altLang="en-US" dirty="0"/>
              <a:t>点不过</a:t>
            </a:r>
            <a:endParaRPr lang="en-US" altLang="zh-CN" dirty="0"/>
          </a:p>
          <a:p>
            <a:r>
              <a:rPr lang="en-US" altLang="zh-CN" dirty="0"/>
              <a:t>60</a:t>
            </a:r>
            <a:r>
              <a:rPr lang="zh-CN" altLang="en-US" dirty="0"/>
              <a:t>分代码</a:t>
            </a:r>
            <a:endParaRPr lang="en-US" altLang="zh-CN" dirty="0"/>
          </a:p>
          <a:p>
            <a:pPr lvl="1"/>
            <a:r>
              <a:rPr lang="zh-CN" altLang="en-US" dirty="0"/>
              <a:t>保存差值用</a:t>
            </a:r>
            <a:r>
              <a:rPr lang="en-US" altLang="zh-CN" dirty="0"/>
              <a:t>double</a:t>
            </a:r>
          </a:p>
          <a:p>
            <a:pPr lvl="1"/>
            <a:r>
              <a:rPr lang="zh-CN" altLang="en-US" dirty="0"/>
              <a:t>读入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用</a:t>
            </a:r>
            <a:r>
              <a:rPr lang="en-US" altLang="zh-CN" dirty="0"/>
              <a:t>float</a:t>
            </a:r>
          </a:p>
          <a:p>
            <a:pPr lvl="1"/>
            <a:r>
              <a:rPr lang="zh-CN" altLang="en-US" dirty="0"/>
              <a:t>数组开的不够大，</a:t>
            </a:r>
            <a:r>
              <a:rPr lang="en-US" altLang="zh-CN" dirty="0"/>
              <a:t>20%</a:t>
            </a:r>
            <a:r>
              <a:rPr lang="zh-CN" altLang="en-US" dirty="0"/>
              <a:t>的数据是超过</a:t>
            </a:r>
            <a:r>
              <a:rPr lang="en-US" altLang="zh-CN" dirty="0"/>
              <a:t>100</a:t>
            </a:r>
            <a:r>
              <a:rPr lang="zh-CN" altLang="en-US" dirty="0"/>
              <a:t>种商品的</a:t>
            </a:r>
            <a:endParaRPr lang="en-US" altLang="zh-CN" dirty="0"/>
          </a:p>
          <a:p>
            <a:r>
              <a:rPr lang="en-US" altLang="zh-CN" dirty="0"/>
              <a:t>20</a:t>
            </a:r>
            <a:r>
              <a:rPr lang="zh-CN" altLang="en-US" dirty="0"/>
              <a:t>分代码</a:t>
            </a:r>
            <a:r>
              <a:rPr lang="en-US" altLang="zh-CN" dirty="0"/>
              <a:t>——</a:t>
            </a:r>
            <a:r>
              <a:rPr lang="zh-CN" altLang="en-US" dirty="0"/>
              <a:t>百分比计算有问题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0</a:t>
            </a:r>
            <a:r>
              <a:rPr lang="zh-CN" altLang="en-US" dirty="0"/>
              <a:t>分代码</a:t>
            </a:r>
            <a:r>
              <a:rPr lang="en-US" altLang="zh-CN" dirty="0"/>
              <a:t>——</a:t>
            </a:r>
            <a:r>
              <a:rPr lang="zh-CN" altLang="en-US" dirty="0"/>
              <a:t>没有提交记录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10CDE28-B032-4538-9D11-936FD947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28" y="4224127"/>
            <a:ext cx="454405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038DD-6273-4D63-96FB-69AEF0D7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最小生成元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908F30-8912-4139-9556-75B17243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27" y="1409837"/>
            <a:ext cx="7459969" cy="27789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FDBE6C-F770-46C0-8256-A771C1DA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27" y="4279974"/>
            <a:ext cx="6964118" cy="161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7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646475-79B4-4329-B3AB-5F81534A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2269D9-8FB3-4600-B1CC-965364BC1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r>
              <a:rPr lang="en-US" altLang="zh-CN" dirty="0"/>
              <a:t>——</a:t>
            </a:r>
            <a:r>
              <a:rPr lang="zh-CN" altLang="en-US" dirty="0"/>
              <a:t>枚举</a:t>
            </a:r>
            <a:endParaRPr lang="en-US" altLang="zh-CN" dirty="0"/>
          </a:p>
          <a:p>
            <a:r>
              <a:rPr lang="zh-CN" altLang="en-US" dirty="0"/>
              <a:t>数位分离</a:t>
            </a:r>
            <a:endParaRPr lang="en-US" altLang="zh-CN" dirty="0"/>
          </a:p>
          <a:p>
            <a:r>
              <a:rPr lang="zh-CN" altLang="en-US" dirty="0"/>
              <a:t>实现细节：</a:t>
            </a:r>
            <a:endParaRPr lang="en-US" altLang="zh-CN" dirty="0"/>
          </a:p>
          <a:p>
            <a:pPr lvl="1"/>
            <a:r>
              <a:rPr lang="zh-CN" altLang="en-US" dirty="0"/>
              <a:t>数字个数不确定？数组开多大？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9D2F6B8-545F-41B3-8D3D-6A815FF2E1DD}"/>
              </a:ext>
            </a:extLst>
          </p:cNvPr>
          <p:cNvGrpSpPr/>
          <p:nvPr/>
        </p:nvGrpSpPr>
        <p:grpSpPr>
          <a:xfrm>
            <a:off x="1825735" y="3760311"/>
            <a:ext cx="2746265" cy="2818689"/>
            <a:chOff x="432000" y="3685498"/>
            <a:chExt cx="2746265" cy="28186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F8D445-9FDF-4977-98BD-827BCDB39D74}"/>
                </a:ext>
              </a:extLst>
            </p:cNvPr>
            <p:cNvSpPr/>
            <p:nvPr/>
          </p:nvSpPr>
          <p:spPr>
            <a:xfrm>
              <a:off x="432000" y="3685498"/>
              <a:ext cx="274626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参考代码</a:t>
              </a:r>
              <a:r>
                <a:rPr lang="en-US" altLang="zh-CN" dirty="0"/>
                <a:t>:</a:t>
              </a:r>
            </a:p>
            <a:p>
              <a:r>
                <a:rPr lang="zh-CN" altLang="en-US" dirty="0"/>
                <a:t>求</a:t>
              </a:r>
              <a:r>
                <a:rPr lang="en-US" dirty="0"/>
                <a:t>x</a:t>
              </a:r>
              <a:r>
                <a:rPr lang="zh-CN" altLang="en-US" dirty="0"/>
                <a:t>加上</a:t>
              </a:r>
              <a:r>
                <a:rPr lang="en-US" dirty="0"/>
                <a:t>x</a:t>
              </a:r>
              <a:r>
                <a:rPr lang="zh-CN" altLang="en-US" dirty="0"/>
                <a:t>的各个数字之和</a:t>
              </a:r>
              <a:endParaRPr lang="en-US" dirty="0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B0C0A44-CB6D-4698-839B-2820F8D22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007" y="4398868"/>
              <a:ext cx="2400635" cy="2105319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DBD513AA-A699-49EB-B6A2-34460D2FA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75" y="128954"/>
            <a:ext cx="3254649" cy="66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5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EEE43-6FFD-4133-B994-A29546AE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关于数位分离相关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D5DDF4-244E-49DB-8825-6AEEDF831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得到整数每一位上数字</a:t>
            </a:r>
            <a:endParaRPr lang="en-US" altLang="zh-CN" dirty="0"/>
          </a:p>
          <a:p>
            <a:pPr lvl="1"/>
            <a:r>
              <a:rPr lang="zh-CN" altLang="en-US" dirty="0"/>
              <a:t>回文数</a:t>
            </a:r>
            <a:endParaRPr lang="en-US" altLang="zh-CN" dirty="0"/>
          </a:p>
          <a:p>
            <a:pPr lvl="1"/>
            <a:r>
              <a:rPr lang="zh-CN" altLang="en-US" dirty="0"/>
              <a:t>数位和</a:t>
            </a:r>
            <a:endParaRPr lang="en-US" altLang="zh-CN" dirty="0"/>
          </a:p>
          <a:p>
            <a:pPr lvl="1"/>
            <a:r>
              <a:rPr lang="zh-CN" altLang="en-US" dirty="0"/>
              <a:t>求数字位数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74146B-1F84-4636-B817-771134F3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29" y="3555051"/>
            <a:ext cx="4461657" cy="30996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1F8C058B-2575-430B-B125-40A29C785EA4}"/>
              </a:ext>
            </a:extLst>
          </p:cNvPr>
          <p:cNvGrpSpPr/>
          <p:nvPr/>
        </p:nvGrpSpPr>
        <p:grpSpPr>
          <a:xfrm>
            <a:off x="4032591" y="2135299"/>
            <a:ext cx="4629796" cy="973862"/>
            <a:chOff x="4032591" y="1886568"/>
            <a:chExt cx="4629796" cy="97386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D6DDAC1-B1B7-4B5A-BF5B-5EEA67376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2591" y="2241219"/>
              <a:ext cx="4629796" cy="61921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77501FE-E3E4-43A6-A27D-50BC5376324B}"/>
                </a:ext>
              </a:extLst>
            </p:cNvPr>
            <p:cNvSpPr/>
            <p:nvPr/>
          </p:nvSpPr>
          <p:spPr>
            <a:xfrm>
              <a:off x="4572000" y="1886568"/>
              <a:ext cx="215704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使用 </a:t>
              </a:r>
              <a:r>
                <a:rPr lang="en-US" altLang="zh-CN" dirty="0" err="1"/>
                <a:t>sprintf</a:t>
              </a:r>
              <a:r>
                <a:rPr lang="en-US" altLang="zh-CN" dirty="0"/>
                <a:t> :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631733E-AF3F-4274-9FFA-08F55EF73CF0}"/>
              </a:ext>
            </a:extLst>
          </p:cNvPr>
          <p:cNvGrpSpPr/>
          <p:nvPr/>
        </p:nvGrpSpPr>
        <p:grpSpPr>
          <a:xfrm>
            <a:off x="4790078" y="3755685"/>
            <a:ext cx="3403477" cy="1633409"/>
            <a:chOff x="4930755" y="3708623"/>
            <a:chExt cx="3403477" cy="163340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A98520D-31CD-4A37-80E6-742B60C80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3859" y="4170293"/>
              <a:ext cx="3210373" cy="1171739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6CD01BE-3F10-4EA3-A4DE-5BA4808C9B4E}"/>
                </a:ext>
              </a:extLst>
            </p:cNvPr>
            <p:cNvSpPr/>
            <p:nvPr/>
          </p:nvSpPr>
          <p:spPr>
            <a:xfrm>
              <a:off x="4930755" y="3708623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直接得到回文数：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54020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87D25-4C55-46B6-88D5-26500EAB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部分分数代码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A3299-B54E-4696-B0AB-DD72AB14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超时错误</a:t>
            </a:r>
            <a:endParaRPr lang="en-US" altLang="zh-CN" dirty="0"/>
          </a:p>
          <a:p>
            <a:pPr lvl="1"/>
            <a:r>
              <a:rPr lang="zh-CN" altLang="en-US" dirty="0"/>
              <a:t>过多的枚举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普遍问题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pow</a:t>
            </a:r>
            <a:r>
              <a:rPr lang="zh-CN" altLang="en-US" dirty="0"/>
              <a:t>或者自己写的</a:t>
            </a:r>
            <a:r>
              <a:rPr lang="en-US" altLang="zh-CN" dirty="0"/>
              <a:t>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8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49900-A178-457F-B60C-03777E8C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迭代回文数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635283-0BEB-49F3-9D67-C4F7B2B80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5" y="1577834"/>
            <a:ext cx="8945915" cy="3967181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51FD1CB-9680-4434-AAC8-3AAA13FAFA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14352" y="4231440"/>
          <a:ext cx="4056184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2203937">
                  <a:extLst>
                    <a:ext uri="{9D8B030D-6E8A-4147-A177-3AD203B41FA5}">
                      <a16:colId xmlns:a16="http://schemas.microsoft.com/office/drawing/2014/main" val="564268727"/>
                    </a:ext>
                  </a:extLst>
                </a:gridCol>
                <a:gridCol w="1852247">
                  <a:extLst>
                    <a:ext uri="{9D8B030D-6E8A-4147-A177-3AD203B41FA5}">
                      <a16:colId xmlns:a16="http://schemas.microsoft.com/office/drawing/2014/main" val="1639835315"/>
                    </a:ext>
                  </a:extLst>
                </a:gridCol>
              </a:tblGrid>
              <a:tr h="18596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【输入样例】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121 21 12 8 18 28 38 68 78 88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6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【输出样例】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78 4 4884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68 3 1111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28 2 121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12 1 33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21 1 33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18 1 99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38 1 121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8 0 8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88 0 88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121 0 121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4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506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BBAD9-D7A9-4BE4-AB86-EBAD2666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F576E-7E80-45E2-84E1-B2F5F8749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模拟</a:t>
            </a:r>
            <a:r>
              <a:rPr lang="en-US" altLang="zh-CN" dirty="0"/>
              <a:t>+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模拟</a:t>
            </a:r>
            <a:r>
              <a:rPr lang="zh-CN" altLang="en-US" dirty="0"/>
              <a:t>迭代过程，记录迭代次数</a:t>
            </a:r>
            <a:endParaRPr lang="en-US" altLang="zh-CN" dirty="0"/>
          </a:p>
          <a:p>
            <a:pPr lvl="1"/>
            <a:r>
              <a:rPr lang="zh-CN" altLang="en-US" dirty="0"/>
              <a:t>迭代回文数</a:t>
            </a:r>
            <a:endParaRPr lang="en-US" altLang="zh-CN" dirty="0"/>
          </a:p>
          <a:p>
            <a:r>
              <a:rPr lang="zh-CN" altLang="en-US" dirty="0"/>
              <a:t>结果排序</a:t>
            </a:r>
            <a:endParaRPr lang="en-US" altLang="zh-CN" dirty="0"/>
          </a:p>
          <a:p>
            <a:pPr lvl="1"/>
            <a:r>
              <a:rPr lang="zh-CN" altLang="en-US" dirty="0"/>
              <a:t>按照迭代次数从大到小</a:t>
            </a:r>
            <a:endParaRPr lang="en-US" altLang="zh-CN" dirty="0"/>
          </a:p>
          <a:p>
            <a:pPr lvl="1"/>
            <a:r>
              <a:rPr lang="zh-CN" altLang="en-US" dirty="0"/>
              <a:t>迭代回文数从小到大</a:t>
            </a:r>
            <a:endParaRPr lang="en-US" altLang="zh-CN" dirty="0"/>
          </a:p>
          <a:p>
            <a:pPr lvl="1"/>
            <a:r>
              <a:rPr lang="zh-CN" altLang="en-US" dirty="0"/>
              <a:t>原始数据从小到大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31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3BABA-D0BE-4562-AF12-8CA380A0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D151C7-7208-4B27-A8DF-4B65AA4B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224" y="2930642"/>
            <a:ext cx="3315163" cy="23720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64E0667-D7B5-4E5C-94B8-CA4189F68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586" y="359293"/>
            <a:ext cx="2832763" cy="1944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4DC519-0B2E-4016-ACF9-1C668CCAA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51" y="1556127"/>
            <a:ext cx="3529967" cy="512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40939"/>
      </p:ext>
    </p:extLst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课程PPT模板" id="{351F00F9-9781-4493-A8BE-AE75F947CCD5}" vid="{D9AAA92C-2A04-455B-AC88-7D4E4CA3D8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33292</TotalTime>
  <Words>2198</Words>
  <Application>Microsoft Office PowerPoint</Application>
  <PresentationFormat>全屏显示(4:3)</PresentationFormat>
  <Paragraphs>290</Paragraphs>
  <Slides>43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2" baseType="lpstr">
      <vt:lpstr>Fira Mono</vt:lpstr>
      <vt:lpstr>Lato</vt:lpstr>
      <vt:lpstr>Open Sans</vt:lpstr>
      <vt:lpstr>等线</vt:lpstr>
      <vt:lpstr>黑体</vt:lpstr>
      <vt:lpstr>华文中宋</vt:lpstr>
      <vt:lpstr>宋体</vt:lpstr>
      <vt:lpstr>微软雅黑</vt:lpstr>
      <vt:lpstr>微软雅黑 Light</vt:lpstr>
      <vt:lpstr>Arial</vt:lpstr>
      <vt:lpstr>Calibri</vt:lpstr>
      <vt:lpstr>Calibri Light</vt:lpstr>
      <vt:lpstr>Cambria Math</vt:lpstr>
      <vt:lpstr>Consolas</vt:lpstr>
      <vt:lpstr>Courier New</vt:lpstr>
      <vt:lpstr>Times New Roman</vt:lpstr>
      <vt:lpstr>Wingdings</vt:lpstr>
      <vt:lpstr>课程PPT模板</vt:lpstr>
      <vt:lpstr>Picture</vt:lpstr>
      <vt:lpstr>习题课02</vt:lpstr>
      <vt:lpstr>随堂测试02</vt:lpstr>
      <vt:lpstr>质因数分解</vt:lpstr>
      <vt:lpstr>考点</vt:lpstr>
      <vt:lpstr>算法举例：筛法求素数</vt:lpstr>
      <vt:lpstr>方法的依据</vt:lpstr>
      <vt:lpstr>效率的考虑</vt:lpstr>
      <vt:lpstr>PowerPoint 演示文稿</vt:lpstr>
      <vt:lpstr>习题讲解：博饼游戏(636)</vt:lpstr>
      <vt:lpstr>题目分析</vt:lpstr>
      <vt:lpstr>PowerPoint 演示文稿</vt:lpstr>
      <vt:lpstr>期中模拟测试</vt:lpstr>
      <vt:lpstr>题目列表</vt:lpstr>
      <vt:lpstr>双11购物</vt:lpstr>
      <vt:lpstr>参考代码</vt:lpstr>
      <vt:lpstr>数学游戏</vt:lpstr>
      <vt:lpstr>解题思路</vt:lpstr>
      <vt:lpstr>参考代码</vt:lpstr>
      <vt:lpstr>上升序列</vt:lpstr>
      <vt:lpstr>考点&amp;解题思路</vt:lpstr>
      <vt:lpstr>参考代码</vt:lpstr>
      <vt:lpstr>矩阵元素X近邻</vt:lpstr>
      <vt:lpstr>题目分析</vt:lpstr>
      <vt:lpstr>参考代码</vt:lpstr>
      <vt:lpstr>217. 空间位置搜索</vt:lpstr>
      <vt:lpstr>题目分析</vt:lpstr>
      <vt:lpstr>参考</vt:lpstr>
      <vt:lpstr>碱基串排序</vt:lpstr>
      <vt:lpstr>思路</vt:lpstr>
      <vt:lpstr>《碱基串排序》排序部分核心代码参考</vt:lpstr>
      <vt:lpstr>参考代码</vt:lpstr>
      <vt:lpstr>期中练习卷05</vt:lpstr>
      <vt:lpstr>题目列表</vt:lpstr>
      <vt:lpstr>购物陷阱</vt:lpstr>
      <vt:lpstr>送分题要求</vt:lpstr>
      <vt:lpstr>出错代码分析</vt:lpstr>
      <vt:lpstr>最小生成元</vt:lpstr>
      <vt:lpstr>题目分析</vt:lpstr>
      <vt:lpstr>关于数位分离相关</vt:lpstr>
      <vt:lpstr>部分分数代码</vt:lpstr>
      <vt:lpstr>迭代回文数</vt:lpstr>
      <vt:lpstr>题目分析</vt:lpstr>
      <vt:lpstr>核心代码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Hui Sun</cp:lastModifiedBy>
  <cp:revision>1089</cp:revision>
  <dcterms:created xsi:type="dcterms:W3CDTF">2020-10-14T02:47:39Z</dcterms:created>
  <dcterms:modified xsi:type="dcterms:W3CDTF">2025-11-06T10:27:23Z</dcterms:modified>
</cp:coreProperties>
</file>